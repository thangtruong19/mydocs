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770" r:id="rId1"/>
  </p:sldMasterIdLst>
  <p:notesMasterIdLst>
    <p:notesMasterId r:id="rId11"/>
  </p:notesMasterIdLst>
  <p:handoutMasterIdLst>
    <p:handoutMasterId r:id="rId12"/>
  </p:handoutMasterIdLst>
  <p:sldIdLst>
    <p:sldId id="1015" r:id="rId2"/>
    <p:sldId id="1009" r:id="rId3"/>
    <p:sldId id="1010" r:id="rId4"/>
    <p:sldId id="1011" r:id="rId5"/>
    <p:sldId id="1016" r:id="rId6"/>
    <p:sldId id="1017" r:id="rId7"/>
    <p:sldId id="1012" r:id="rId8"/>
    <p:sldId id="1013" r:id="rId9"/>
    <p:sldId id="101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DEDDA"/>
    <a:srgbClr val="FAF2D4"/>
    <a:srgbClr val="9A3B5D"/>
    <a:srgbClr val="F2F2F2"/>
    <a:srgbClr val="0000FF"/>
    <a:srgbClr val="EDEDED"/>
    <a:srgbClr val="4B4B4B"/>
    <a:srgbClr val="323232"/>
    <a:srgbClr val="7878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54"/>
  </p:normalViewPr>
  <p:slideViewPr>
    <p:cSldViewPr snapToGrid="0" snapToObjects="1">
      <p:cViewPr varScale="1">
        <p:scale>
          <a:sx n="109" d="100"/>
          <a:sy n="109" d="100"/>
        </p:scale>
        <p:origin x="6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313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8B81E3-04FF-4B3A-91A3-0B9D6F284D31}" type="datetimeFigureOut">
              <a:rPr kumimoji="1" lang="ja-JP" altLang="en-US" smtClean="0"/>
              <a:t>2022/4/5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A281C-6E67-4E22-BEFF-238CFBDEFD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2695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224887-F90F-3047-8721-5156A8E1A469}" type="datetimeFigureOut">
              <a:rPr kumimoji="1" lang="ja-JP" altLang="en-US" smtClean="0"/>
              <a:t>2022/4/5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57080C-E8FE-C146-B769-6100616B65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283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1pPr>
    <a:lvl2pPr marL="609537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2pPr>
    <a:lvl3pPr marL="1219075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3pPr>
    <a:lvl4pPr marL="1828612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4pPr>
    <a:lvl5pPr marL="2438148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5pPr>
    <a:lvl6pPr marL="3047686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6pPr>
    <a:lvl7pPr marL="3657223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7pPr>
    <a:lvl8pPr marL="4266761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8pPr>
    <a:lvl9pPr marL="4876298" algn="l" defTabSz="1219075" rtl="0" eaLnBrk="1" latinLnBrk="0" hangingPunct="1">
      <a:defRPr kumimoji="1"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0453C54-7F3F-5842-8AEE-825191D5B6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1" y="0"/>
            <a:ext cx="12189739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8" name="Rectangle 116">
            <a:extLst>
              <a:ext uri="{FF2B5EF4-FFF2-40B4-BE49-F238E27FC236}">
                <a16:creationId xmlns:a16="http://schemas.microsoft.com/office/drawing/2014/main" id="{63CB7166-763A-834A-BD8F-32568DB92384}"/>
              </a:ext>
            </a:extLst>
          </p:cNvPr>
          <p:cNvSpPr/>
          <p:nvPr userDrawn="1"/>
        </p:nvSpPr>
        <p:spPr bwMode="auto">
          <a:xfrm>
            <a:off x="0" y="2403368"/>
            <a:ext cx="12192000" cy="2051264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6000" y="3312000"/>
            <a:ext cx="8640000" cy="76800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400" b="1">
                <a:solidFill>
                  <a:srgbClr val="9A3B5D"/>
                </a:solidFill>
                <a:latin typeface="游明朝" panose="02020400000000000000" pitchFamily="18" charset="-128"/>
                <a:ea typeface="游明朝" panose="02020400000000000000" pitchFamily="18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6000" y="2784000"/>
            <a:ext cx="8640000" cy="480000"/>
          </a:xfrm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9A3B5D"/>
                </a:solidFill>
                <a:latin typeface="游明朝" panose="02020400000000000000" pitchFamily="18" charset="-128"/>
                <a:ea typeface="游明朝" panose="02020400000000000000" pitchFamily="18" charset="-128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49B378A5-FEEF-5D48-AD7F-5344F238A1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8710" y="3024001"/>
            <a:ext cx="1646580" cy="428111"/>
          </a:xfrm>
          <a:prstGeom prst="rect">
            <a:avLst/>
          </a:prstGeom>
        </p:spPr>
      </p:pic>
      <p:sp>
        <p:nvSpPr>
          <p:cNvPr id="11" name="テキスト プレースホルダー 10"/>
          <p:cNvSpPr>
            <a:spLocks noGrp="1"/>
          </p:cNvSpPr>
          <p:nvPr>
            <p:ph type="body" sz="quarter" idx="13" hasCustomPrompt="1"/>
          </p:nvPr>
        </p:nvSpPr>
        <p:spPr>
          <a:xfrm>
            <a:off x="9407999" y="3552000"/>
            <a:ext cx="2688000" cy="2880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67">
                <a:latin typeface="游明朝" panose="02020400000000000000" pitchFamily="18" charset="-128"/>
                <a:ea typeface="游明朝" panose="02020400000000000000" pitchFamily="18" charset="-128"/>
              </a:defRPr>
            </a:lvl1pPr>
          </a:lstStyle>
          <a:p>
            <a:pPr lvl="0"/>
            <a:r>
              <a:rPr kumimoji="1" lang="ja-JP" altLang="en-US" dirty="0"/>
              <a:t>○○本部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791999" y="3840000"/>
            <a:ext cx="1920000" cy="288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323232"/>
                </a:solidFill>
              </a:defRPr>
            </a:lvl1pPr>
          </a:lstStyle>
          <a:p>
            <a:fld id="{47CE263C-B4E9-4AA0-986B-C9A7FB36C901}" type="datetime1">
              <a:rPr lang="ja-JP" altLang="en-US" smtClean="0"/>
              <a:t>2022/4/5</a:t>
            </a:fld>
            <a:endParaRPr lang="en-US" dirty="0"/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576000" y="384000"/>
            <a:ext cx="3072000" cy="336000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bg1"/>
                </a:solidFill>
                <a:latin typeface="游明朝" panose="02020400000000000000" pitchFamily="18" charset="-128"/>
                <a:ea typeface="游明朝" panose="02020400000000000000" pitchFamily="18" charset="-128"/>
              </a:defRPr>
            </a:lvl1pPr>
            <a:lvl2pPr>
              <a:defRPr b="1">
                <a:solidFill>
                  <a:schemeClr val="bg1"/>
                </a:solidFill>
              </a:defRPr>
            </a:lvl2pPr>
            <a:lvl3pPr>
              <a:defRPr b="1">
                <a:solidFill>
                  <a:schemeClr val="bg1"/>
                </a:solidFill>
              </a:defRPr>
            </a:lvl3pPr>
            <a:lvl4pPr>
              <a:defRPr b="1">
                <a:solidFill>
                  <a:schemeClr val="bg1"/>
                </a:solidFill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 dirty="0"/>
              <a:t>○○株式会社 御中</a:t>
            </a:r>
          </a:p>
        </p:txBody>
      </p:sp>
    </p:spTree>
    <p:extLst>
      <p:ext uri="{BB962C8B-B14F-4D97-AF65-F5344CB8AC3E}">
        <p14:creationId xmlns:p14="http://schemas.microsoft.com/office/powerpoint/2010/main" val="4256518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BC11A7E-29EC-0147-8188-ACEEB4EB432E}"/>
              </a:ext>
            </a:extLst>
          </p:cNvPr>
          <p:cNvCxnSpPr>
            <a:cxnSpLocks/>
          </p:cNvCxnSpPr>
          <p:nvPr userDrawn="1"/>
        </p:nvCxnSpPr>
        <p:spPr>
          <a:xfrm>
            <a:off x="576000" y="709643"/>
            <a:ext cx="11040000" cy="0"/>
          </a:xfrm>
          <a:prstGeom prst="line">
            <a:avLst/>
          </a:prstGeom>
          <a:ln w="19050">
            <a:solidFill>
              <a:srgbClr val="9A3B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E583FF8A-E87D-4283-8A63-91BC318560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00" y="936000"/>
            <a:ext cx="11040000" cy="5350500"/>
          </a:xfrm>
        </p:spPr>
        <p:txBody>
          <a:bodyPr>
            <a:normAutofit/>
          </a:bodyPr>
          <a:lstStyle>
            <a:lvl1pPr marL="273050" indent="-273050">
              <a:buFont typeface="Wingdings" panose="05000000000000000000" pitchFamily="2" charset="2"/>
              <a:buChar char="n"/>
              <a:defRPr sz="1800" b="1" u="sng">
                <a:latin typeface="+mn-ea"/>
                <a:ea typeface="+mn-ea"/>
              </a:defRPr>
            </a:lvl1pPr>
            <a:lvl2pPr marL="360363" indent="-184150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2pPr>
            <a:lvl3pPr marL="536575" indent="-176213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3pPr>
            <a:lvl4pPr marL="720725" indent="-184150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4pPr>
            <a:lvl5pPr marL="896938" indent="-176213"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492455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FBC11A7E-29EC-0147-8188-ACEEB4EB432E}"/>
              </a:ext>
            </a:extLst>
          </p:cNvPr>
          <p:cNvCxnSpPr>
            <a:cxnSpLocks/>
          </p:cNvCxnSpPr>
          <p:nvPr userDrawn="1"/>
        </p:nvCxnSpPr>
        <p:spPr>
          <a:xfrm>
            <a:off x="576000" y="709643"/>
            <a:ext cx="11040000" cy="0"/>
          </a:xfrm>
          <a:prstGeom prst="line">
            <a:avLst/>
          </a:prstGeom>
          <a:ln w="19050">
            <a:solidFill>
              <a:srgbClr val="9A3B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7788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23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F46E3783-8969-F042-AEFB-E6C22717CB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58467"/>
            <a:ext cx="3517901" cy="23410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321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055D30C4-CAC8-2E43-8AC9-139C13DA26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2258466"/>
            <a:ext cx="3810001" cy="23410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4066285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EFCF8B92-5079-A849-A76B-B3D7BB9532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2258466"/>
            <a:ext cx="3790951" cy="23410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4056154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77D795D9-D515-7943-A185-DDAE04C1D3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2258464"/>
            <a:ext cx="3759201" cy="23410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3246036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6EDF2FC6-1D05-234D-BFDB-6C1848F0C4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58466"/>
            <a:ext cx="3829051" cy="23410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243148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A88F7372-C6AD-A745-ADD5-0755C27AAF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58464"/>
            <a:ext cx="3822701" cy="23410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242832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5B467C42-11F0-014D-BB0B-3726E4832A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2258466"/>
            <a:ext cx="3810001" cy="23410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974318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62F1E800-89BC-AC4A-B7B7-9C3612421E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58464"/>
            <a:ext cx="3778251" cy="23410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10130264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123C138A-4F38-464A-8513-3908AEB3E0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58464"/>
            <a:ext cx="3822701" cy="23410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3375405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70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47CFD8F-41C1-B34F-A95D-C79A4721EB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1" y="1"/>
            <a:ext cx="12189739" cy="6481232"/>
          </a:xfrm>
          <a:prstGeom prst="rect">
            <a:avLst/>
          </a:prstGeom>
        </p:spPr>
      </p:pic>
      <p:sp>
        <p:nvSpPr>
          <p:cNvPr id="18" name="Rectangle 116">
            <a:extLst>
              <a:ext uri="{FF2B5EF4-FFF2-40B4-BE49-F238E27FC236}">
                <a16:creationId xmlns:a16="http://schemas.microsoft.com/office/drawing/2014/main" id="{9B54F006-B62B-7742-AB41-8DBFC72A714E}"/>
              </a:ext>
            </a:extLst>
          </p:cNvPr>
          <p:cNvSpPr/>
          <p:nvPr userDrawn="1"/>
        </p:nvSpPr>
        <p:spPr bwMode="auto">
          <a:xfrm>
            <a:off x="0" y="2258467"/>
            <a:ext cx="12190869" cy="23410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5" algn="dist"/>
            <a:endParaRPr lang="fr-FR" sz="2600" dirty="0"/>
          </a:p>
        </p:txBody>
      </p:sp>
      <p:pic>
        <p:nvPicPr>
          <p:cNvPr id="19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3D95DB8F-9E30-264C-A8BD-6797DA2CB8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52719" y="4138239"/>
            <a:ext cx="1286564" cy="225867"/>
          </a:xfrm>
          <a:prstGeom prst="rect">
            <a:avLst/>
          </a:prstGeom>
          <a:noFill/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7372B925-BE4F-654A-B108-6CD7680708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58466"/>
            <a:ext cx="3517901" cy="23410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000" y="3072000"/>
            <a:ext cx="10560000" cy="480000"/>
          </a:xfrm>
        </p:spPr>
        <p:txBody>
          <a:bodyPr anchor="ctr">
            <a:noAutofit/>
          </a:bodyPr>
          <a:lstStyle>
            <a:lvl1pPr algn="ctr">
              <a:defRPr sz="32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D6C8D86-E20C-A240-9396-8E30C8216DE6}"/>
              </a:ext>
            </a:extLst>
          </p:cNvPr>
          <p:cNvSpPr/>
          <p:nvPr userDrawn="1"/>
        </p:nvSpPr>
        <p:spPr>
          <a:xfrm>
            <a:off x="287999" y="0"/>
            <a:ext cx="1512000" cy="234627"/>
          </a:xfrm>
          <a:prstGeom prst="rect">
            <a:avLst/>
          </a:prstGeom>
          <a:solidFill>
            <a:srgbClr val="9A3B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endParaRPr lang="ja-JP" altLang="en-US" sz="1000" b="1">
              <a:solidFill>
                <a:srgbClr val="FFFFFF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49550CD1-3A35-3342-AEDB-A7253311FB78}"/>
              </a:ext>
            </a:extLst>
          </p:cNvPr>
          <p:cNvSpPr txBox="1">
            <a:spLocks/>
          </p:cNvSpPr>
          <p:nvPr userDrawn="1"/>
        </p:nvSpPr>
        <p:spPr>
          <a:xfrm>
            <a:off x="323999" y="22034"/>
            <a:ext cx="1440000" cy="190559"/>
          </a:xfrm>
          <a:prstGeom prst="rect">
            <a:avLst/>
          </a:prstGeom>
        </p:spPr>
        <p:txBody>
          <a:bodyPr wrap="non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altLang="ja-JP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IT</a:t>
            </a:r>
            <a:r>
              <a:rPr lang="ja-JP" altLang="en-US" sz="10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で豊かな未来を創る</a:t>
            </a:r>
          </a:p>
        </p:txBody>
      </p:sp>
    </p:spTree>
    <p:extLst>
      <p:ext uri="{BB962C8B-B14F-4D97-AF65-F5344CB8AC3E}">
        <p14:creationId xmlns:p14="http://schemas.microsoft.com/office/powerpoint/2010/main" val="3009772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6000" y="180000"/>
            <a:ext cx="11041200" cy="5040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000" y="936000"/>
            <a:ext cx="11041200" cy="532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hape 20">
            <a:extLst>
              <a:ext uri="{FF2B5EF4-FFF2-40B4-BE49-F238E27FC236}">
                <a16:creationId xmlns:a16="http://schemas.microsoft.com/office/drawing/2014/main" id="{31B2DB08-A49E-1A4A-90DB-D7A431943820}"/>
              </a:ext>
            </a:extLst>
          </p:cNvPr>
          <p:cNvSpPr/>
          <p:nvPr userDrawn="1"/>
        </p:nvSpPr>
        <p:spPr>
          <a:xfrm>
            <a:off x="0" y="6493898"/>
            <a:ext cx="12193200" cy="360000"/>
          </a:xfrm>
          <a:prstGeom prst="rect">
            <a:avLst/>
          </a:prstGeom>
          <a:solidFill>
            <a:srgbClr val="4B4B4B"/>
          </a:solidFill>
          <a:ln w="12700">
            <a:noFill/>
            <a:miter lim="400000"/>
          </a:ln>
          <a:effectLst>
            <a:outerShdw sx="1000" sy="1000" algn="ctr" rotWithShape="0">
              <a:prstClr val="black"/>
            </a:outerShdw>
          </a:effectLst>
        </p:spPr>
        <p:txBody>
          <a:bodyPr lIns="0" tIns="0" rIns="0" bIns="0"/>
          <a:lstStyle>
            <a:lvl1pPr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1088448"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2176894"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3265342"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4353788"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5442237"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6530682"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7619128"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8707577" defTabSz="2177277">
              <a:spcBef>
                <a:spcPts val="4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 algn="ctr" defTabSz="884127">
              <a:spcBef>
                <a:spcPts val="0"/>
              </a:spcBef>
              <a:defRPr sz="4300">
                <a:solidFill>
                  <a:srgbClr val="000000"/>
                </a:solidFill>
              </a:defRPr>
            </a:pPr>
            <a:endParaRPr sz="1747" dirty="0">
              <a:solidFill>
                <a:schemeClr val="bg1"/>
              </a:solidFill>
            </a:endParaRP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7D91C2AF-B556-A24B-9BE1-1CF44516E0D0}"/>
              </a:ext>
            </a:extLst>
          </p:cNvPr>
          <p:cNvCxnSpPr>
            <a:cxnSpLocks/>
          </p:cNvCxnSpPr>
          <p:nvPr userDrawn="1"/>
        </p:nvCxnSpPr>
        <p:spPr>
          <a:xfrm>
            <a:off x="0" y="6498000"/>
            <a:ext cx="12192000" cy="0"/>
          </a:xfrm>
          <a:prstGeom prst="line">
            <a:avLst/>
          </a:prstGeom>
          <a:ln w="34925">
            <a:solidFill>
              <a:srgbClr val="9A3B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E320A192-F81A-DE46-BFE4-F9AFCC5612A5}"/>
              </a:ext>
            </a:extLst>
          </p:cNvPr>
          <p:cNvCxnSpPr>
            <a:cxnSpLocks/>
          </p:cNvCxnSpPr>
          <p:nvPr userDrawn="1"/>
        </p:nvCxnSpPr>
        <p:spPr>
          <a:xfrm>
            <a:off x="0" y="0"/>
            <a:ext cx="12192000" cy="0"/>
          </a:xfrm>
          <a:prstGeom prst="line">
            <a:avLst/>
          </a:prstGeom>
          <a:ln w="25400">
            <a:solidFill>
              <a:srgbClr val="9A3B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17" descr="C:\Documents and Settings\sysexe\デスクトップ\SystemEXEロゴ_120329\SystemEXEロゴ_印刷用.png">
            <a:extLst>
              <a:ext uri="{FF2B5EF4-FFF2-40B4-BE49-F238E27FC236}">
                <a16:creationId xmlns:a16="http://schemas.microsoft.com/office/drawing/2014/main" id="{1919A988-D9C7-F241-86D5-3FF4C05E34A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5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1812450" y="99099"/>
            <a:ext cx="355685" cy="196135"/>
          </a:xfrm>
          <a:prstGeom prst="rect">
            <a:avLst/>
          </a:prstGeom>
          <a:noFill/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552000"/>
            <a:ext cx="14400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fld id="{12D8B19D-B70E-40EC-821A-447BB2DB0704}" type="datetime1">
              <a:rPr lang="ja-JP" altLang="en-US" smtClean="0"/>
              <a:t>2022/4/5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36000" y="6552000"/>
            <a:ext cx="61200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2000" y="6552000"/>
            <a:ext cx="14400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fld id="{26CA5134-5AAC-D342-B763-43605FECB385}" type="slidenum">
              <a:rPr kumimoji="1" lang="ja-JP" altLang="en-US" smtClean="0"/>
              <a:pPr/>
              <a:t>‹#›</a:t>
            </a:fld>
            <a:endParaRPr kumimoji="1" lang="ja-JP" altLang="en-US" sz="533" dirty="0"/>
          </a:p>
        </p:txBody>
      </p:sp>
    </p:spTree>
    <p:extLst>
      <p:ext uri="{BB962C8B-B14F-4D97-AF65-F5344CB8AC3E}">
        <p14:creationId xmlns:p14="http://schemas.microsoft.com/office/powerpoint/2010/main" val="428617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72" r:id="rId2"/>
    <p:sldLayoutId id="214748377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756" r:id="rId1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kumimoji="1" sz="2400" b="0" kern="1200">
          <a:solidFill>
            <a:srgbClr val="9A3B5D"/>
          </a:solidFill>
          <a:latin typeface="游ゴシック" panose="020B0400000000000000" pitchFamily="50" charset="-128"/>
          <a:ea typeface="游ゴシック" panose="020B0400000000000000" pitchFamily="50" charset="-128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1pPr>
      <a:lvl2pPr marL="360362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ea"/>
          <a:ea typeface="+mn-ea"/>
          <a:cs typeface="+mn-cs"/>
        </a:defRPr>
      </a:lvl2pPr>
      <a:lvl3pPr marL="720725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ea"/>
          <a:ea typeface="+mn-ea"/>
          <a:cs typeface="+mn-cs"/>
        </a:defRPr>
      </a:lvl3pPr>
      <a:lvl4pPr marL="107315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B0226820-D42F-434F-A96A-10AA48B6E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0DA55AE-83AD-428F-B0F5-652396FD4F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>
                <a:latin typeface="+mn-ea"/>
                <a:ea typeface="+mn-ea"/>
              </a:rPr>
              <a:t>定例会</a:t>
            </a:r>
          </a:p>
        </p:txBody>
      </p:sp>
      <p:sp>
        <p:nvSpPr>
          <p:cNvPr id="4" name="字幕 3">
            <a:extLst>
              <a:ext uri="{FF2B5EF4-FFF2-40B4-BE49-F238E27FC236}">
                <a16:creationId xmlns:a16="http://schemas.microsoft.com/office/drawing/2014/main" id="{6B5316FC-BC3F-4413-A3D5-79054102DA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>
                <a:latin typeface="+mn-ea"/>
                <a:ea typeface="+mn-ea"/>
              </a:rPr>
              <a:t>次世代</a:t>
            </a:r>
            <a:r>
              <a:rPr kumimoji="1" lang="en-US" altLang="ja-JP" dirty="0">
                <a:latin typeface="+mn-ea"/>
                <a:ea typeface="+mn-ea"/>
              </a:rPr>
              <a:t>KOMTRAX R1.2 </a:t>
            </a:r>
            <a:r>
              <a:rPr kumimoji="1" lang="ja-JP" altLang="en-US" dirty="0">
                <a:latin typeface="+mn-ea"/>
                <a:ea typeface="+mn-ea"/>
              </a:rPr>
              <a:t>ビジネスアプリ対応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C4D3CE1-E0E2-4407-A25B-1641973069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07999" y="3552000"/>
            <a:ext cx="2688000" cy="401164"/>
          </a:xfrm>
        </p:spPr>
        <p:txBody>
          <a:bodyPr/>
          <a:lstStyle/>
          <a:p>
            <a:r>
              <a:rPr kumimoji="1" lang="en-US" altLang="ja-JP" sz="1400" dirty="0">
                <a:latin typeface="+mn-ea"/>
                <a:ea typeface="+mn-ea"/>
              </a:rPr>
              <a:t>2022/</a:t>
            </a:r>
            <a:r>
              <a:rPr lang="en-US" altLang="ja-JP" sz="1400" dirty="0">
                <a:latin typeface="+mn-ea"/>
                <a:ea typeface="+mn-ea"/>
              </a:rPr>
              <a:t>4/05</a:t>
            </a:r>
            <a:endParaRPr kumimoji="1" lang="ja-JP" altLang="en-US" sz="1400" dirty="0">
              <a:latin typeface="+mn-ea"/>
              <a:ea typeface="+mn-ea"/>
            </a:endParaRP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3F277973-68CE-4467-A97A-B565309973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 dirty="0">
                <a:latin typeface="+mn-ea"/>
                <a:ea typeface="+mn-ea"/>
              </a:rPr>
              <a:t>株式会社小松製作所 御中</a:t>
            </a:r>
          </a:p>
        </p:txBody>
      </p:sp>
    </p:spTree>
    <p:extLst>
      <p:ext uri="{BB962C8B-B14F-4D97-AF65-F5344CB8AC3E}">
        <p14:creationId xmlns:p14="http://schemas.microsoft.com/office/powerpoint/2010/main" val="2897191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6B0F6B-6C3A-4D56-8446-740470E15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目次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B7AE831-A6FF-4609-B0FD-67067954C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ADB89EF-4D96-4BCA-AC64-BE7B40A31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1</a:t>
            </a:fld>
            <a:endParaRPr kumimoji="1" lang="ja-JP" altLang="en-US" sz="70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BEC382F-3374-42B7-9F26-F2688BCF92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kumimoji="1" lang="ja-JP" altLang="en-US" b="0" u="none" dirty="0"/>
              <a:t>進捗状況報告</a:t>
            </a:r>
            <a:r>
              <a:rPr kumimoji="1" lang="en-US" altLang="ja-JP" b="0" u="none" dirty="0"/>
              <a:t>(</a:t>
            </a:r>
            <a:r>
              <a:rPr kumimoji="1" lang="ja-JP" altLang="en-US" b="0" u="none" dirty="0"/>
              <a:t>全体</a:t>
            </a:r>
            <a:r>
              <a:rPr kumimoji="1" lang="en-US" altLang="ja-JP" b="0" u="none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b="0" u="none" dirty="0"/>
              <a:t>進捗状況報告</a:t>
            </a:r>
            <a:r>
              <a:rPr kumimoji="1" lang="en-US" altLang="ja-JP" b="0" u="none" dirty="0"/>
              <a:t>(</a:t>
            </a:r>
            <a:r>
              <a:rPr kumimoji="1" lang="ja-JP" altLang="en-US" b="0" u="none" dirty="0"/>
              <a:t>工程別</a:t>
            </a:r>
            <a:r>
              <a:rPr kumimoji="1" lang="en-US" altLang="ja-JP" b="0" u="none" dirty="0"/>
              <a:t>)</a:t>
            </a:r>
          </a:p>
          <a:p>
            <a:pPr marL="519113" lvl="1" indent="-342900">
              <a:buFont typeface="+mj-lt"/>
              <a:buAutoNum type="arabicPeriod"/>
            </a:pPr>
            <a:r>
              <a:rPr kumimoji="1" lang="ja-JP" altLang="en-US" dirty="0"/>
              <a:t>基本設計</a:t>
            </a:r>
            <a:endParaRPr kumimoji="1" lang="en-US" altLang="ja-JP" dirty="0"/>
          </a:p>
          <a:p>
            <a:pPr marL="519113" lvl="1" indent="-342900">
              <a:buFont typeface="+mj-lt"/>
              <a:buAutoNum type="arabicPeriod"/>
            </a:pPr>
            <a:r>
              <a:rPr lang="ja-JP" altLang="en-US" dirty="0"/>
              <a:t>詳細設計</a:t>
            </a:r>
            <a:endParaRPr lang="en-US" altLang="ja-JP" dirty="0"/>
          </a:p>
          <a:p>
            <a:pPr marL="519113" lvl="1" indent="-342900">
              <a:buFont typeface="+mj-lt"/>
              <a:buAutoNum type="arabicPeriod"/>
            </a:pPr>
            <a:r>
              <a:rPr kumimoji="1" lang="ja-JP" altLang="en-US" dirty="0"/>
              <a:t>製造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b="0" u="none" dirty="0"/>
              <a:t>チケット状況共有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b="0" u="none" dirty="0"/>
              <a:t>ご相談事項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b="0" u="none" dirty="0"/>
              <a:t>次回予定</a:t>
            </a:r>
          </a:p>
          <a:p>
            <a:pPr marL="342900" indent="-342900">
              <a:buFont typeface="+mj-lt"/>
              <a:buAutoNum type="arabicPeriod"/>
            </a:pPr>
            <a:endParaRPr kumimoji="1" lang="ja-JP" altLang="en-US" b="0" u="none" dirty="0"/>
          </a:p>
          <a:p>
            <a:pPr marL="342900" indent="-342900">
              <a:buFont typeface="+mj-lt"/>
              <a:buAutoNum type="arabicPeriod"/>
            </a:pPr>
            <a:endParaRPr kumimoji="1" lang="ja-JP" altLang="en-US" b="0" u="none" dirty="0"/>
          </a:p>
        </p:txBody>
      </p:sp>
    </p:spTree>
    <p:extLst>
      <p:ext uri="{BB962C8B-B14F-4D97-AF65-F5344CB8AC3E}">
        <p14:creationId xmlns:p14="http://schemas.microsoft.com/office/powerpoint/2010/main" val="2421281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575B8C-B2A8-4FD6-9B3C-3361E70A4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1.</a:t>
            </a:r>
            <a:r>
              <a:rPr kumimoji="1" lang="ja-JP" altLang="en-US" dirty="0"/>
              <a:t> </a:t>
            </a:r>
            <a:r>
              <a:rPr kumimoji="1" lang="zh-TW" altLang="en-US" dirty="0"/>
              <a:t>進捗状況報告</a:t>
            </a:r>
            <a:r>
              <a:rPr kumimoji="1" lang="en-US" altLang="zh-TW" dirty="0"/>
              <a:t>(</a:t>
            </a:r>
            <a:r>
              <a:rPr kumimoji="1" lang="zh-TW" altLang="en-US" dirty="0"/>
              <a:t>全体</a:t>
            </a:r>
            <a:r>
              <a:rPr kumimoji="1" lang="en-US" altLang="zh-TW" dirty="0"/>
              <a:t>)</a:t>
            </a:r>
            <a:endParaRPr kumimoji="1"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B4649F2-F69C-4E84-A3CD-AAC5DF012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49BB5CC-EF8E-4959-88E5-F05931DF4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2</a:t>
            </a:fld>
            <a:endParaRPr kumimoji="1" lang="ja-JP" altLang="en-US" sz="700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2383CE49-5FA9-430C-BBA6-B29B7FAA3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885013"/>
              </p:ext>
            </p:extLst>
          </p:nvPr>
        </p:nvGraphicFramePr>
        <p:xfrm>
          <a:off x="540000" y="827070"/>
          <a:ext cx="11042406" cy="480846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18828">
                  <a:extLst>
                    <a:ext uri="{9D8B030D-6E8A-4147-A177-3AD203B41FA5}">
                      <a16:colId xmlns:a16="http://schemas.microsoft.com/office/drawing/2014/main" val="299762358"/>
                    </a:ext>
                  </a:extLst>
                </a:gridCol>
                <a:gridCol w="2941064">
                  <a:extLst>
                    <a:ext uri="{9D8B030D-6E8A-4147-A177-3AD203B41FA5}">
                      <a16:colId xmlns:a16="http://schemas.microsoft.com/office/drawing/2014/main" val="1955541415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1223022939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1925268540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707051986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3798537124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2417254186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1471669787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2898357741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3927034935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3221669589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1012284930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3408002077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2244707780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1396898731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2162745279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1163377196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227675129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3235474700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1148893593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3002943050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3297881760"/>
                    </a:ext>
                  </a:extLst>
                </a:gridCol>
                <a:gridCol w="365834">
                  <a:extLst>
                    <a:ext uri="{9D8B030D-6E8A-4147-A177-3AD203B41FA5}">
                      <a16:colId xmlns:a16="http://schemas.microsoft.com/office/drawing/2014/main" val="3440636033"/>
                    </a:ext>
                  </a:extLst>
                </a:gridCol>
              </a:tblGrid>
              <a:tr h="291981"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No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　項目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gridSpan="2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2022</a:t>
                      </a:r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年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2022</a:t>
                      </a:r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年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741277"/>
                  </a:ext>
                </a:extLst>
              </a:tr>
              <a:tr h="291981">
                <a:tc v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altLang="ja-JP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3</a:t>
                      </a:r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altLang="ja-JP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4</a:t>
                      </a:r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altLang="ja-JP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5</a:t>
                      </a:r>
                      <a:r>
                        <a:rPr lang="ja-JP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altLang="ja-JP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6</a:t>
                      </a:r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rgbClr val="A5A5A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altLang="ja-JP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7</a:t>
                      </a:r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rgbClr val="A5A5A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altLang="ja-JP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8</a:t>
                      </a:r>
                      <a:r>
                        <a:rPr lang="ja-JP" alt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rgbClr val="A5A5A5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altLang="ja-JP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9</a:t>
                      </a:r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月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426870"/>
                  </a:ext>
                </a:extLst>
              </a:tr>
              <a:tr h="291981">
                <a:tc vMerge="1">
                  <a:txBody>
                    <a:bodyPr/>
                    <a:lstStyle/>
                    <a:p>
                      <a:pPr algn="ctr" fontAlgn="b"/>
                      <a:endParaRPr 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solidFill>
                      <a:schemeClr val="accent5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ja-JP" altLang="en-US" sz="900" b="0" i="0" u="none" strike="noStrike" dirty="0">
                        <a:solidFill>
                          <a:schemeClr val="bg1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5324" marR="5324" marT="5324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上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中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下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上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中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下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上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中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下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上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中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下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上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中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下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上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中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下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上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中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下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423593"/>
                  </a:ext>
                </a:extLst>
              </a:tr>
              <a:tr h="772189">
                <a:tc>
                  <a:txBody>
                    <a:bodyPr/>
                    <a:lstStyle/>
                    <a:p>
                      <a:pPr algn="ctr" fontAlgn="b"/>
                      <a:endParaRPr lang="en-US" altLang="ja-JP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1600" u="none" strike="noStrike" dirty="0"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マイルストーン</a:t>
                      </a:r>
                      <a:endParaRPr lang="en-US" altLang="ja-JP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373167707"/>
                  </a:ext>
                </a:extLst>
              </a:tr>
              <a:tr h="77218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基本設計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145181180"/>
                  </a:ext>
                </a:extLst>
              </a:tr>
              <a:tr h="77218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詳細設計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940839836"/>
                  </a:ext>
                </a:extLst>
              </a:tr>
              <a:tr h="77218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製造・単体テスト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503168459"/>
                  </a:ext>
                </a:extLst>
              </a:tr>
              <a:tr h="77218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結合テスト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ja-JP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494387319"/>
                  </a:ext>
                </a:extLst>
              </a:tr>
            </a:tbl>
          </a:graphicData>
        </a:graphic>
      </p:graphicFrame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FCEAAA2-0FB3-460F-A776-827E9EA80DEF}"/>
              </a:ext>
            </a:extLst>
          </p:cNvPr>
          <p:cNvSpPr/>
          <p:nvPr/>
        </p:nvSpPr>
        <p:spPr>
          <a:xfrm>
            <a:off x="4631913" y="2769803"/>
            <a:ext cx="955221" cy="36000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E356D5F0-4E7B-4EA3-99D2-1BEE89E16869}"/>
              </a:ext>
            </a:extLst>
          </p:cNvPr>
          <p:cNvGrpSpPr/>
          <p:nvPr/>
        </p:nvGrpSpPr>
        <p:grpSpPr>
          <a:xfrm>
            <a:off x="4365769" y="1946771"/>
            <a:ext cx="955221" cy="471612"/>
            <a:chOff x="5215514" y="1440892"/>
            <a:chExt cx="955221" cy="471612"/>
          </a:xfrm>
        </p:grpSpPr>
        <p:sp>
          <p:nvSpPr>
            <p:cNvPr id="8" name="二等辺三角形 7">
              <a:extLst>
                <a:ext uri="{FF2B5EF4-FFF2-40B4-BE49-F238E27FC236}">
                  <a16:creationId xmlns:a16="http://schemas.microsoft.com/office/drawing/2014/main" id="{8E44405E-F3A8-4677-B3B7-FE95C9ED0E99}"/>
                </a:ext>
              </a:extLst>
            </p:cNvPr>
            <p:cNvSpPr/>
            <p:nvPr/>
          </p:nvSpPr>
          <p:spPr bwMode="auto">
            <a:xfrm rot="10800000">
              <a:off x="5219702" y="1691512"/>
              <a:ext cx="288272" cy="220992"/>
            </a:xfrm>
            <a:prstGeom prst="triangl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0" lang="ja-JP" altLang="en-US" sz="12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EFBC31EC-6CF4-4744-BF1A-A4D1EF2321B2}"/>
                </a:ext>
              </a:extLst>
            </p:cNvPr>
            <p:cNvSpPr txBox="1"/>
            <p:nvPr/>
          </p:nvSpPr>
          <p:spPr>
            <a:xfrm>
              <a:off x="5215514" y="1440892"/>
              <a:ext cx="955221" cy="25736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lIns="36000" tIns="36000" rIns="36000" bIns="36000" rtlCol="0" anchor="ctr" anchorCtr="0">
              <a:spAutoFit/>
            </a:bodyPr>
            <a:lstStyle/>
            <a:p>
              <a:pPr algn="ctr"/>
              <a:r>
                <a:rPr lang="ja-JP" altLang="en-US" sz="1200" dirty="0">
                  <a:latin typeface="游ゴシック" panose="020B0400000000000000" pitchFamily="50" charset="-128"/>
                  <a:ea typeface="游ゴシック" panose="020B0400000000000000" pitchFamily="50" charset="-128"/>
                  <a:cs typeface="Meiryo UI" panose="020B0604030504040204" pitchFamily="50" charset="-128"/>
                </a:rPr>
                <a:t>キックオフ</a:t>
              </a:r>
              <a:endParaRPr lang="en-US" altLang="ja-JP" sz="1200" dirty="0">
                <a:latin typeface="游ゴシック" panose="020B0400000000000000" pitchFamily="50" charset="-128"/>
                <a:ea typeface="游ゴシック" panose="020B0400000000000000" pitchFamily="50" charset="-128"/>
                <a:cs typeface="Meiryo UI" panose="020B0604030504040204" pitchFamily="50" charset="-128"/>
              </a:endParaRPr>
            </a:p>
          </p:txBody>
        </p: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78620B4D-9D40-4F46-B89D-BEEFFEA684FC}"/>
              </a:ext>
            </a:extLst>
          </p:cNvPr>
          <p:cNvGrpSpPr/>
          <p:nvPr/>
        </p:nvGrpSpPr>
        <p:grpSpPr>
          <a:xfrm>
            <a:off x="7997341" y="1946771"/>
            <a:ext cx="584921" cy="471612"/>
            <a:chOff x="5215514" y="1440892"/>
            <a:chExt cx="584921" cy="471612"/>
          </a:xfrm>
        </p:grpSpPr>
        <p:sp>
          <p:nvSpPr>
            <p:cNvPr id="11" name="二等辺三角形 10">
              <a:extLst>
                <a:ext uri="{FF2B5EF4-FFF2-40B4-BE49-F238E27FC236}">
                  <a16:creationId xmlns:a16="http://schemas.microsoft.com/office/drawing/2014/main" id="{1A29D922-1DA9-4972-A93C-4360E988D3D9}"/>
                </a:ext>
              </a:extLst>
            </p:cNvPr>
            <p:cNvSpPr/>
            <p:nvPr/>
          </p:nvSpPr>
          <p:spPr bwMode="auto">
            <a:xfrm rot="10800000">
              <a:off x="5219702" y="1691512"/>
              <a:ext cx="288272" cy="220992"/>
            </a:xfrm>
            <a:prstGeom prst="triangl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0" lang="ja-JP" altLang="en-US" sz="12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17D0BAA3-EDDA-4771-BA5C-36410F7AD540}"/>
                </a:ext>
              </a:extLst>
            </p:cNvPr>
            <p:cNvSpPr txBox="1"/>
            <p:nvPr/>
          </p:nvSpPr>
          <p:spPr>
            <a:xfrm>
              <a:off x="5215514" y="1440892"/>
              <a:ext cx="584921" cy="25736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lIns="36000" tIns="36000" rIns="36000" bIns="36000" rtlCol="0" anchor="ctr" anchorCtr="0">
              <a:spAutoFit/>
            </a:bodyPr>
            <a:lstStyle/>
            <a:p>
              <a:pPr algn="ctr"/>
              <a:r>
                <a:rPr lang="ja-JP" altLang="en-US" sz="1200" dirty="0">
                  <a:latin typeface="游ゴシック" panose="020B0400000000000000" pitchFamily="50" charset="-128"/>
                  <a:ea typeface="游ゴシック" panose="020B0400000000000000" pitchFamily="50" charset="-128"/>
                  <a:cs typeface="Meiryo UI" panose="020B0604030504040204" pitchFamily="50" charset="-128"/>
                </a:rPr>
                <a:t>納品</a:t>
              </a:r>
              <a:endParaRPr lang="en-US" altLang="ja-JP" sz="1200" dirty="0">
                <a:latin typeface="游ゴシック" panose="020B0400000000000000" pitchFamily="50" charset="-128"/>
                <a:ea typeface="游ゴシック" panose="020B0400000000000000" pitchFamily="50" charset="-128"/>
                <a:cs typeface="Meiryo UI" panose="020B0604030504040204" pitchFamily="50" charset="-128"/>
              </a:endParaRPr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C94C31F5-F5BB-464A-A24D-ECE3F51AC8C6}"/>
              </a:ext>
            </a:extLst>
          </p:cNvPr>
          <p:cNvGrpSpPr/>
          <p:nvPr/>
        </p:nvGrpSpPr>
        <p:grpSpPr>
          <a:xfrm>
            <a:off x="8876472" y="1946771"/>
            <a:ext cx="584921" cy="471612"/>
            <a:chOff x="5215514" y="1440892"/>
            <a:chExt cx="584921" cy="471612"/>
          </a:xfrm>
        </p:grpSpPr>
        <p:sp>
          <p:nvSpPr>
            <p:cNvPr id="14" name="二等辺三角形 13">
              <a:extLst>
                <a:ext uri="{FF2B5EF4-FFF2-40B4-BE49-F238E27FC236}">
                  <a16:creationId xmlns:a16="http://schemas.microsoft.com/office/drawing/2014/main" id="{F5484CFF-CDF9-4B92-A86B-E622E41A5F7A}"/>
                </a:ext>
              </a:extLst>
            </p:cNvPr>
            <p:cNvSpPr/>
            <p:nvPr/>
          </p:nvSpPr>
          <p:spPr bwMode="auto">
            <a:xfrm rot="10800000">
              <a:off x="5219702" y="1691512"/>
              <a:ext cx="288272" cy="220992"/>
            </a:xfrm>
            <a:prstGeom prst="triangle">
              <a:avLst/>
            </a:prstGeom>
            <a:ln>
              <a:solidFill>
                <a:schemeClr val="accent1"/>
              </a:solidFill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0" lang="ja-JP" altLang="en-US" sz="12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DB2CC987-37FE-479A-B89A-46874A4CF307}"/>
                </a:ext>
              </a:extLst>
            </p:cNvPr>
            <p:cNvSpPr txBox="1"/>
            <p:nvPr/>
          </p:nvSpPr>
          <p:spPr>
            <a:xfrm>
              <a:off x="5215514" y="1440892"/>
              <a:ext cx="584921" cy="25736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lIns="36000" tIns="36000" rIns="36000" bIns="36000" rtlCol="0" anchor="ctr" anchorCtr="0">
              <a:spAutoFit/>
            </a:bodyPr>
            <a:lstStyle/>
            <a:p>
              <a:pPr algn="ctr"/>
              <a:r>
                <a:rPr lang="ja-JP" altLang="en-US" sz="1200" dirty="0">
                  <a:latin typeface="游ゴシック" panose="020B0400000000000000" pitchFamily="50" charset="-128"/>
                  <a:ea typeface="游ゴシック" panose="020B0400000000000000" pitchFamily="50" charset="-128"/>
                  <a:cs typeface="Meiryo UI" panose="020B0604030504040204" pitchFamily="50" charset="-128"/>
                </a:rPr>
                <a:t>検収</a:t>
              </a:r>
              <a:endParaRPr lang="en-US" altLang="ja-JP" sz="1200" dirty="0">
                <a:latin typeface="游ゴシック" panose="020B0400000000000000" pitchFamily="50" charset="-128"/>
                <a:ea typeface="游ゴシック" panose="020B0400000000000000" pitchFamily="50" charset="-128"/>
                <a:cs typeface="Meiryo UI" panose="020B0604030504040204" pitchFamily="50" charset="-128"/>
              </a:endParaRPr>
            </a:p>
          </p:txBody>
        </p:sp>
      </p:grp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7699B7B-02DC-4526-8DDB-0F21CEEABEAF}"/>
              </a:ext>
            </a:extLst>
          </p:cNvPr>
          <p:cNvSpPr/>
          <p:nvPr/>
        </p:nvSpPr>
        <p:spPr>
          <a:xfrm>
            <a:off x="6787862" y="4994342"/>
            <a:ext cx="75874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26479706-D802-412A-B8FA-46E1EC2309B5}"/>
              </a:ext>
            </a:extLst>
          </p:cNvPr>
          <p:cNvSpPr/>
          <p:nvPr/>
        </p:nvSpPr>
        <p:spPr>
          <a:xfrm>
            <a:off x="10213053" y="1897131"/>
            <a:ext cx="1316629" cy="1232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dirty="0">
              <a:solidFill>
                <a:srgbClr val="32323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25FF163-3623-4AFE-B6DF-4819283285ED}"/>
              </a:ext>
            </a:extLst>
          </p:cNvPr>
          <p:cNvSpPr txBox="1"/>
          <p:nvPr/>
        </p:nvSpPr>
        <p:spPr>
          <a:xfrm>
            <a:off x="10517476" y="267478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600" dirty="0">
                <a:solidFill>
                  <a:srgbClr val="32323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作業完了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CA79B1F-C557-4226-99E5-6F8D7AD5ED17}"/>
              </a:ext>
            </a:extLst>
          </p:cNvPr>
          <p:cNvSpPr txBox="1"/>
          <p:nvPr/>
        </p:nvSpPr>
        <p:spPr>
          <a:xfrm>
            <a:off x="10510146" y="2365669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600" dirty="0">
                <a:solidFill>
                  <a:srgbClr val="32323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着手中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28FE937-CE3A-4BA8-B636-B0ED9F88B316}"/>
              </a:ext>
            </a:extLst>
          </p:cNvPr>
          <p:cNvSpPr txBox="1"/>
          <p:nvPr/>
        </p:nvSpPr>
        <p:spPr>
          <a:xfrm>
            <a:off x="10505514" y="2016462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600" dirty="0">
                <a:solidFill>
                  <a:srgbClr val="32323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未着手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946A6C05-F991-47AA-A85E-1EEC35473BEF}"/>
              </a:ext>
            </a:extLst>
          </p:cNvPr>
          <p:cNvSpPr/>
          <p:nvPr/>
        </p:nvSpPr>
        <p:spPr>
          <a:xfrm>
            <a:off x="10409476" y="2364986"/>
            <a:ext cx="108000" cy="25200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BA427BBA-1534-43F8-B48F-2B052BB748AB}"/>
              </a:ext>
            </a:extLst>
          </p:cNvPr>
          <p:cNvSpPr/>
          <p:nvPr/>
        </p:nvSpPr>
        <p:spPr>
          <a:xfrm>
            <a:off x="10409476" y="2022309"/>
            <a:ext cx="108000" cy="252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CA6A636A-FBFE-47AB-9062-4AA1B5E3A4C5}"/>
              </a:ext>
            </a:extLst>
          </p:cNvPr>
          <p:cNvSpPr/>
          <p:nvPr/>
        </p:nvSpPr>
        <p:spPr>
          <a:xfrm>
            <a:off x="10409476" y="2684756"/>
            <a:ext cx="108000" cy="252000"/>
          </a:xfrm>
          <a:prstGeom prst="rect">
            <a:avLst/>
          </a:prstGeom>
          <a:solidFill>
            <a:schemeClr val="accent6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598290DE-CE6E-4A00-AF03-A5D5A5D4B542}"/>
              </a:ext>
            </a:extLst>
          </p:cNvPr>
          <p:cNvSpPr/>
          <p:nvPr/>
        </p:nvSpPr>
        <p:spPr>
          <a:xfrm>
            <a:off x="7968766" y="4994342"/>
            <a:ext cx="75874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71D03276-4FBD-4500-A053-86774D03DE97}"/>
              </a:ext>
            </a:extLst>
          </p:cNvPr>
          <p:cNvSpPr/>
          <p:nvPr/>
        </p:nvSpPr>
        <p:spPr>
          <a:xfrm>
            <a:off x="5005986" y="3544963"/>
            <a:ext cx="1090012" cy="36000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895A31BC-2E7F-4BBA-9E3D-A3A5319946CD}"/>
              </a:ext>
            </a:extLst>
          </p:cNvPr>
          <p:cNvSpPr/>
          <p:nvPr/>
        </p:nvSpPr>
        <p:spPr>
          <a:xfrm>
            <a:off x="5361585" y="4287652"/>
            <a:ext cx="1804139" cy="36000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8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BC4B24B7-4F67-45CE-8D89-44F293660B35}"/>
              </a:ext>
            </a:extLst>
          </p:cNvPr>
          <p:cNvCxnSpPr>
            <a:cxnSpLocks/>
          </p:cNvCxnSpPr>
          <p:nvPr/>
        </p:nvCxnSpPr>
        <p:spPr>
          <a:xfrm>
            <a:off x="5166402" y="2536300"/>
            <a:ext cx="0" cy="309600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452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96A8E8-B19B-43C0-B57D-8BC4CDB24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</a:t>
            </a:r>
            <a:r>
              <a:rPr kumimoji="1" lang="en-US" altLang="ja-JP" dirty="0"/>
              <a:t>.</a:t>
            </a:r>
            <a:r>
              <a:rPr kumimoji="1" lang="ja-JP" altLang="en-US" dirty="0"/>
              <a:t> 進捗状況報告（工程別）</a:t>
            </a:r>
            <a:r>
              <a:rPr kumimoji="1" lang="en-US" altLang="ja-JP" dirty="0"/>
              <a:t>- </a:t>
            </a:r>
            <a:r>
              <a:rPr kumimoji="1" lang="ja-JP" altLang="en-US" dirty="0"/>
              <a:t>基本設計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BB06972-D618-47EE-8C65-52A0B443D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8A571EA-BC5D-4D52-BB0E-3ECDAE699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3</a:t>
            </a:fld>
            <a:endParaRPr kumimoji="1" lang="ja-JP" altLang="en-US" sz="70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5CA91B4-C880-4AF5-919E-CB75468D1F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00" y="4010024"/>
            <a:ext cx="11040000" cy="2276475"/>
          </a:xfrm>
        </p:spPr>
        <p:txBody>
          <a:bodyPr/>
          <a:lstStyle/>
          <a:p>
            <a:r>
              <a:rPr kumimoji="1" lang="ja-JP" altLang="en-US" dirty="0"/>
              <a:t>注記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一部課題などは残った状態でのレビュー依頼となっている。</a:t>
            </a:r>
          </a:p>
        </p:txBody>
      </p:sp>
      <p:graphicFrame>
        <p:nvGraphicFramePr>
          <p:cNvPr id="6" name="表 6">
            <a:extLst>
              <a:ext uri="{FF2B5EF4-FFF2-40B4-BE49-F238E27FC236}">
                <a16:creationId xmlns:a16="http://schemas.microsoft.com/office/drawing/2014/main" id="{D32027F8-F20C-4602-A773-40D7350B3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16150"/>
              </p:ext>
            </p:extLst>
          </p:nvPr>
        </p:nvGraphicFramePr>
        <p:xfrm>
          <a:off x="540000" y="828000"/>
          <a:ext cx="11052000" cy="2966720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2088000">
                  <a:extLst>
                    <a:ext uri="{9D8B030D-6E8A-4147-A177-3AD203B41FA5}">
                      <a16:colId xmlns:a16="http://schemas.microsoft.com/office/drawing/2014/main" val="3644109181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991700005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793848442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3124962398"/>
                    </a:ext>
                  </a:extLst>
                </a:gridCol>
                <a:gridCol w="4212000">
                  <a:extLst>
                    <a:ext uri="{9D8B030D-6E8A-4147-A177-3AD203B41FA5}">
                      <a16:colId xmlns:a16="http://schemas.microsoft.com/office/drawing/2014/main" val="15460544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ステータス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画面（タブ）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モーダル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備考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8884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210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着手中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142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社内レビュー</a:t>
                      </a:r>
                      <a:endParaRPr kumimoji="1" lang="en-US" altLang="ja-JP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862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コマツ様レビュー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9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12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358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レビュー指摘反映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#8522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184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完了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92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資料数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11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13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-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645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0771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96A8E8-B19B-43C0-B57D-8BC4CDB24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</a:t>
            </a:r>
            <a:r>
              <a:rPr kumimoji="1" lang="en-US" altLang="ja-JP" dirty="0"/>
              <a:t>.</a:t>
            </a:r>
            <a:r>
              <a:rPr kumimoji="1" lang="ja-JP" altLang="en-US" dirty="0"/>
              <a:t> 進捗状況報告（工程別）</a:t>
            </a:r>
            <a:r>
              <a:rPr kumimoji="1" lang="en-US" altLang="ja-JP" dirty="0"/>
              <a:t>- </a:t>
            </a:r>
            <a:r>
              <a:rPr kumimoji="1" lang="ja-JP" altLang="en-US" dirty="0"/>
              <a:t>詳細設計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BB06972-D618-47EE-8C65-52A0B443D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8A571EA-BC5D-4D52-BB0E-3ECDAE699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4</a:t>
            </a:fld>
            <a:endParaRPr kumimoji="1" lang="ja-JP" altLang="en-US" sz="70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5CA91B4-C880-4AF5-919E-CB75468D1F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00" y="4010024"/>
            <a:ext cx="11040000" cy="2276475"/>
          </a:xfrm>
        </p:spPr>
        <p:txBody>
          <a:bodyPr/>
          <a:lstStyle/>
          <a:p>
            <a:r>
              <a:rPr kumimoji="1" lang="ja-JP" altLang="en-US" dirty="0"/>
              <a:t>注記</a:t>
            </a:r>
          </a:p>
          <a:p>
            <a:pPr lvl="1"/>
            <a:r>
              <a:rPr kumimoji="1" lang="ja-JP" altLang="en-US" dirty="0"/>
              <a:t>個別</a:t>
            </a:r>
            <a:r>
              <a:rPr kumimoji="1" lang="en-US" altLang="ja-JP" dirty="0"/>
              <a:t>API</a:t>
            </a:r>
            <a:r>
              <a:rPr kumimoji="1" lang="ja-JP" altLang="en-US" dirty="0"/>
              <a:t>は</a:t>
            </a:r>
            <a:r>
              <a:rPr kumimoji="1" lang="en-US" altLang="ja-JP" dirty="0"/>
              <a:t>Swagger</a:t>
            </a:r>
            <a:r>
              <a:rPr lang="ja-JP" altLang="en-US" dirty="0"/>
              <a:t> </a:t>
            </a:r>
            <a:r>
              <a:rPr lang="en-US" altLang="ja-JP" dirty="0"/>
              <a:t>UI</a:t>
            </a:r>
            <a:r>
              <a:rPr lang="ja-JP" altLang="en-US" dirty="0"/>
              <a:t>提供待ちとなっている。</a:t>
            </a:r>
            <a:endParaRPr lang="en-US" altLang="ja-JP" dirty="0"/>
          </a:p>
        </p:txBody>
      </p:sp>
      <p:graphicFrame>
        <p:nvGraphicFramePr>
          <p:cNvPr id="6" name="表 6">
            <a:extLst>
              <a:ext uri="{FF2B5EF4-FFF2-40B4-BE49-F238E27FC236}">
                <a16:creationId xmlns:a16="http://schemas.microsoft.com/office/drawing/2014/main" id="{D32027F8-F20C-4602-A773-40D7350B3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773994"/>
              </p:ext>
            </p:extLst>
          </p:nvPr>
        </p:nvGraphicFramePr>
        <p:xfrm>
          <a:off x="540000" y="828000"/>
          <a:ext cx="11052000" cy="2966720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2088000">
                  <a:extLst>
                    <a:ext uri="{9D8B030D-6E8A-4147-A177-3AD203B41FA5}">
                      <a16:colId xmlns:a16="http://schemas.microsoft.com/office/drawing/2014/main" val="3644109181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991700005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793848442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3124962398"/>
                    </a:ext>
                  </a:extLst>
                </a:gridCol>
                <a:gridCol w="4212000">
                  <a:extLst>
                    <a:ext uri="{9D8B030D-6E8A-4147-A177-3AD203B41FA5}">
                      <a16:colId xmlns:a16="http://schemas.microsoft.com/office/drawing/2014/main" val="15460544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ステータス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画面（タブ）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モーダル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備考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8884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8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12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210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着手中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142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社内レビュー</a:t>
                      </a:r>
                      <a:endParaRPr kumimoji="1" lang="en-US" altLang="ja-JP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3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862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コマツ様レビュー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358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レビュー指摘反映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184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完了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92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資料数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11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13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-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645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7679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96A8E8-B19B-43C0-B57D-8BC4CDB24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</a:t>
            </a:r>
            <a:r>
              <a:rPr kumimoji="1" lang="en-US" altLang="ja-JP" dirty="0"/>
              <a:t>.</a:t>
            </a:r>
            <a:r>
              <a:rPr kumimoji="1" lang="ja-JP" altLang="en-US" dirty="0"/>
              <a:t> 進捗状況報告（工程別）</a:t>
            </a:r>
            <a:r>
              <a:rPr kumimoji="1" lang="en-US" altLang="ja-JP" dirty="0"/>
              <a:t>- </a:t>
            </a:r>
            <a:r>
              <a:rPr kumimoji="1" lang="ja-JP" altLang="en-US" dirty="0"/>
              <a:t>製造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BB06972-D618-47EE-8C65-52A0B443D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8A571EA-BC5D-4D52-BB0E-3ECDAE699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5</a:t>
            </a:fld>
            <a:endParaRPr kumimoji="1" lang="ja-JP" altLang="en-US" sz="70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5CA91B4-C880-4AF5-919E-CB75468D1F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00" y="2826200"/>
            <a:ext cx="11040000" cy="3460299"/>
          </a:xfrm>
        </p:spPr>
        <p:txBody>
          <a:bodyPr/>
          <a:lstStyle/>
          <a:p>
            <a:r>
              <a:rPr kumimoji="1" lang="ja-JP" altLang="en-US" dirty="0"/>
              <a:t>注記</a:t>
            </a:r>
            <a:endParaRPr kumimoji="1" lang="en-US" altLang="ja-JP" dirty="0"/>
          </a:p>
        </p:txBody>
      </p:sp>
      <p:graphicFrame>
        <p:nvGraphicFramePr>
          <p:cNvPr id="6" name="表 6">
            <a:extLst>
              <a:ext uri="{FF2B5EF4-FFF2-40B4-BE49-F238E27FC236}">
                <a16:creationId xmlns:a16="http://schemas.microsoft.com/office/drawing/2014/main" id="{D32027F8-F20C-4602-A773-40D7350B3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167334"/>
              </p:ext>
            </p:extLst>
          </p:nvPr>
        </p:nvGraphicFramePr>
        <p:xfrm>
          <a:off x="540000" y="828000"/>
          <a:ext cx="11052000" cy="1854200"/>
        </p:xfrm>
        <a:graphic>
          <a:graphicData uri="http://schemas.openxmlformats.org/drawingml/2006/table">
            <a:tbl>
              <a:tblPr firstRow="1" lastRow="1" bandRow="1">
                <a:tableStyleId>{5C22544A-7EE6-4342-B048-85BDC9FD1C3A}</a:tableStyleId>
              </a:tblPr>
              <a:tblGrid>
                <a:gridCol w="2088000">
                  <a:extLst>
                    <a:ext uri="{9D8B030D-6E8A-4147-A177-3AD203B41FA5}">
                      <a16:colId xmlns:a16="http://schemas.microsoft.com/office/drawing/2014/main" val="3644109181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991700005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793848442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3124962398"/>
                    </a:ext>
                  </a:extLst>
                </a:gridCol>
                <a:gridCol w="4212000">
                  <a:extLst>
                    <a:ext uri="{9D8B030D-6E8A-4147-A177-3AD203B41FA5}">
                      <a16:colId xmlns:a16="http://schemas.microsoft.com/office/drawing/2014/main" val="15460544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ステータス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画面（タブ）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モーダル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備考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8884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11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13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210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着手中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4/6</a:t>
                      </a: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より着手予定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142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完了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0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92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資料数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11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13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1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-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645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2871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129594-6F96-418D-8287-12060DB10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3. </a:t>
            </a:r>
            <a:r>
              <a:rPr kumimoji="1" lang="ja-JP" altLang="en-US" dirty="0"/>
              <a:t>チケット状況共有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1153AB8-AB5A-4D64-A7E2-75297CDAC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A3CB4F8-8B5F-4066-B5A9-A0C1289CE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6</a:t>
            </a:fld>
            <a:endParaRPr kumimoji="1" lang="ja-JP" altLang="en-US" sz="700"/>
          </a:p>
        </p:txBody>
      </p:sp>
      <p:graphicFrame>
        <p:nvGraphicFramePr>
          <p:cNvPr id="6" name="表 6">
            <a:extLst>
              <a:ext uri="{FF2B5EF4-FFF2-40B4-BE49-F238E27FC236}">
                <a16:creationId xmlns:a16="http://schemas.microsoft.com/office/drawing/2014/main" id="{6F71E577-536E-4628-968F-1C3C829EA8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788935"/>
              </p:ext>
            </p:extLst>
          </p:nvPr>
        </p:nvGraphicFramePr>
        <p:xfrm>
          <a:off x="540000" y="828000"/>
          <a:ext cx="11041199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07">
                  <a:extLst>
                    <a:ext uri="{9D8B030D-6E8A-4147-A177-3AD203B41FA5}">
                      <a16:colId xmlns:a16="http://schemas.microsoft.com/office/drawing/2014/main" val="875238259"/>
                    </a:ext>
                  </a:extLst>
                </a:gridCol>
                <a:gridCol w="4397652">
                  <a:extLst>
                    <a:ext uri="{9D8B030D-6E8A-4147-A177-3AD203B41FA5}">
                      <a16:colId xmlns:a16="http://schemas.microsoft.com/office/drawing/2014/main" val="2261425630"/>
                    </a:ext>
                  </a:extLst>
                </a:gridCol>
                <a:gridCol w="1730188">
                  <a:extLst>
                    <a:ext uri="{9D8B030D-6E8A-4147-A177-3AD203B41FA5}">
                      <a16:colId xmlns:a16="http://schemas.microsoft.com/office/drawing/2014/main" val="727812906"/>
                    </a:ext>
                  </a:extLst>
                </a:gridCol>
                <a:gridCol w="4212352">
                  <a:extLst>
                    <a:ext uri="{9D8B030D-6E8A-4147-A177-3AD203B41FA5}">
                      <a16:colId xmlns:a16="http://schemas.microsoft.com/office/drawing/2014/main" val="22800005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#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題名</a:t>
                      </a:r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(</a:t>
                      </a: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プリフィックス除く</a:t>
                      </a:r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)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担当者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備考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144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trike="sngStrike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8393</a:t>
                      </a:r>
                      <a:endParaRPr kumimoji="1" lang="ja-JP" altLang="en-US" strike="sngStrike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trike="sngStrike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システム名について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trike="sngStrike" dirty="0">
                          <a:latin typeface="游ゴシック" panose="020B0400000000000000" pitchFamily="50" charset="-128"/>
                          <a:ea typeface="+mn-ea"/>
                        </a:rPr>
                        <a:t>エグゼ 松下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rgbClr val="FF0000"/>
                          </a:solidFill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クローズ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487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trike="noStrike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8394</a:t>
                      </a:r>
                      <a:endParaRPr kumimoji="1" lang="ja-JP" altLang="en-US" strike="noStrike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trike="noStrike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画面名称について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+mn-ea"/>
                        </a:rPr>
                        <a:t>コマツ 塚原様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rgbClr val="FF0000"/>
                          </a:solidFill>
                          <a:latin typeface="游ゴシック" panose="020B0400000000000000" pitchFamily="50" charset="-128"/>
                          <a:ea typeface="+mn-ea"/>
                        </a:rPr>
                        <a:t>追加での確認発生</a:t>
                      </a:r>
                      <a:endParaRPr kumimoji="1" lang="ja-JP" altLang="en-US" dirty="0">
                        <a:solidFill>
                          <a:srgbClr val="FF0000"/>
                        </a:solidFill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500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8395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DevOps</a:t>
                      </a: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に設定する置換定義資料作成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エグゼ 松下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DevOps</a:t>
                      </a: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への設定依頼用チケット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17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trike="sngStrike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8444</a:t>
                      </a:r>
                      <a:endParaRPr kumimoji="1" lang="ja-JP" altLang="en-US" strike="sngStrike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trike="sngStrike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車両検索の検索結果に表示する項目について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trike="sngStrike" dirty="0">
                          <a:latin typeface="游ゴシック" panose="020B0400000000000000" pitchFamily="50" charset="-128"/>
                          <a:ea typeface="+mn-ea"/>
                        </a:rPr>
                        <a:t>エグゼ 松下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rgbClr val="FF0000"/>
                          </a:solidFill>
                          <a:latin typeface="游ゴシック" panose="020B0400000000000000" pitchFamily="50" charset="-128"/>
                          <a:ea typeface="+mn-ea"/>
                        </a:rPr>
                        <a:t>クローズ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800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+mn-ea"/>
                        </a:rPr>
                        <a:t>8451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+mn-ea"/>
                        </a:rPr>
                        <a:t>アプリコードについて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+mn-ea"/>
                        </a:rPr>
                        <a:t>コマツ 塚原様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242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+mn-ea"/>
                        </a:rPr>
                        <a:t>8452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+mn-ea"/>
                        </a:rPr>
                        <a:t>管理メニューの</a:t>
                      </a:r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+mn-ea"/>
                        </a:rPr>
                        <a:t>KOMTRAX NEWS</a:t>
                      </a: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+mn-ea"/>
                        </a:rPr>
                        <a:t>について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+mn-ea"/>
                        </a:rPr>
                        <a:t>コマツ 塚原様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108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+mn-ea"/>
                        </a:rPr>
                        <a:t>8506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+mn-ea"/>
                        </a:rPr>
                        <a:t>デートピッカーについて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+mn-ea"/>
                        </a:rPr>
                        <a:t>コマツ 塚原様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079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latin typeface="游ゴシック" panose="020B0400000000000000" pitchFamily="50" charset="-128"/>
                          <a:ea typeface="+mn-ea"/>
                        </a:rPr>
                        <a:t>8514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+mn-ea"/>
                        </a:rPr>
                        <a:t>カスタマイズ用途定義一括設定のモーダルについて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>
                          <a:latin typeface="游ゴシック" panose="020B0400000000000000" pitchFamily="50" charset="-128"/>
                          <a:ea typeface="+mn-ea"/>
                        </a:rPr>
                        <a:t>コマツ 塚原様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521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7428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835E8C-4267-4ABD-9EDB-D777B325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4.</a:t>
            </a:r>
            <a:r>
              <a:rPr lang="ja-JP" altLang="en-US" dirty="0"/>
              <a:t> ご相談事項</a:t>
            </a:r>
            <a:endParaRPr kumimoji="1"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D2A56E1-BF51-4918-8773-90D53D18D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80A5A61-D4B0-43C5-87E8-99777643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7</a:t>
            </a:fld>
            <a:endParaRPr kumimoji="1" lang="ja-JP" altLang="en-US" sz="70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778D189-8638-4A3B-8E2A-B77935A3C4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1" lang="ja-JP" altLang="en-US" dirty="0"/>
              <a:t>業務</a:t>
            </a:r>
            <a:r>
              <a:rPr kumimoji="1" lang="en-US" altLang="ja-JP" dirty="0"/>
              <a:t>API</a:t>
            </a:r>
            <a:r>
              <a:rPr kumimoji="1" lang="ja-JP" altLang="en-US" dirty="0"/>
              <a:t>の</a:t>
            </a:r>
            <a:r>
              <a:rPr kumimoji="1" lang="en-US" altLang="ja-JP" dirty="0"/>
              <a:t>Swagger</a:t>
            </a:r>
            <a:r>
              <a:rPr kumimoji="1" lang="ja-JP" altLang="en-US" dirty="0"/>
              <a:t>提供時期について</a:t>
            </a:r>
            <a:endParaRPr kumimoji="1" lang="en-US" altLang="ja-JP" dirty="0"/>
          </a:p>
          <a:p>
            <a:pPr marL="176213" lvl="1" indent="0">
              <a:buNone/>
            </a:pPr>
            <a:r>
              <a:rPr kumimoji="1" lang="ja-JP" altLang="en-US" dirty="0"/>
              <a:t>今週</a:t>
            </a:r>
            <a:r>
              <a:rPr kumimoji="1" lang="en-US" altLang="ja-JP" dirty="0"/>
              <a:t>(3/21</a:t>
            </a:r>
            <a:r>
              <a:rPr kumimoji="1" lang="ja-JP" altLang="en-US" dirty="0"/>
              <a:t>週</a:t>
            </a:r>
            <a:r>
              <a:rPr kumimoji="1" lang="en-US" altLang="ja-JP" dirty="0"/>
              <a:t>)</a:t>
            </a:r>
            <a:r>
              <a:rPr kumimoji="1" lang="ja-JP" altLang="en-US" dirty="0"/>
              <a:t>より詳細設計に着手していくことを想定しております。</a:t>
            </a:r>
            <a:endParaRPr lang="en-US" altLang="ja-JP" dirty="0"/>
          </a:p>
          <a:p>
            <a:pPr marL="176213" lvl="1" indent="0">
              <a:buNone/>
            </a:pPr>
            <a:r>
              <a:rPr kumimoji="1" lang="ja-JP" altLang="en-US" dirty="0"/>
              <a:t>詳細設計では業務</a:t>
            </a:r>
            <a:r>
              <a:rPr kumimoji="1" lang="en-US" altLang="ja-JP" dirty="0"/>
              <a:t>API</a:t>
            </a:r>
            <a:r>
              <a:rPr kumimoji="1" lang="ja-JP" altLang="en-US" dirty="0"/>
              <a:t>のリクエスト／レスポンス情報が必要となるため</a:t>
            </a:r>
            <a:endParaRPr lang="en-US" altLang="ja-JP" dirty="0"/>
          </a:p>
          <a:p>
            <a:pPr marL="176213" lvl="1" indent="0">
              <a:buNone/>
            </a:pPr>
            <a:r>
              <a:rPr kumimoji="1" lang="en-US" altLang="ja-JP" dirty="0"/>
              <a:t>Swagger</a:t>
            </a:r>
            <a:r>
              <a:rPr kumimoji="1" lang="ja-JP" altLang="en-US" dirty="0"/>
              <a:t>の提供時期のご提示をお願いいたします。</a:t>
            </a:r>
            <a:endParaRPr kumimoji="1" lang="en-US" altLang="ja-JP" dirty="0"/>
          </a:p>
          <a:p>
            <a:pPr marL="176213" lvl="1" indent="0">
              <a:buNone/>
            </a:pPr>
            <a:r>
              <a:rPr lang="ja-JP" altLang="en-US" dirty="0"/>
              <a:t>　→</a:t>
            </a:r>
            <a:r>
              <a:rPr lang="en-US" altLang="ja-JP" dirty="0"/>
              <a:t>3/29(</a:t>
            </a:r>
            <a:r>
              <a:rPr lang="ja-JP" altLang="en-US" dirty="0"/>
              <a:t>火</a:t>
            </a:r>
            <a:r>
              <a:rPr lang="en-US" altLang="ja-JP" dirty="0"/>
              <a:t>) </a:t>
            </a:r>
            <a:r>
              <a:rPr lang="ja-JP" altLang="en-US" dirty="0"/>
              <a:t>コマツ</a:t>
            </a:r>
            <a:r>
              <a:rPr lang="en-US" altLang="ja-JP" dirty="0"/>
              <a:t>-NTCS-EXE</a:t>
            </a:r>
            <a:r>
              <a:rPr lang="ja-JP" altLang="en-US" dirty="0"/>
              <a:t>定例で共有</a:t>
            </a:r>
            <a:endParaRPr lang="en-US" altLang="ja-JP" dirty="0"/>
          </a:p>
          <a:p>
            <a:pPr marL="176213" lvl="1" indent="0">
              <a:buNone/>
            </a:pPr>
            <a:r>
              <a:rPr lang="ja-JP" altLang="en-US" dirty="0">
                <a:solidFill>
                  <a:srgbClr val="FF0000"/>
                </a:solidFill>
              </a:rPr>
              <a:t>　→</a:t>
            </a:r>
            <a:r>
              <a:rPr lang="en-US" altLang="ja-JP" dirty="0">
                <a:solidFill>
                  <a:srgbClr val="FF0000"/>
                </a:solidFill>
              </a:rPr>
              <a:t>Swagger UI</a:t>
            </a:r>
            <a:r>
              <a:rPr lang="ja-JP" altLang="en-US" dirty="0">
                <a:solidFill>
                  <a:srgbClr val="FF0000"/>
                </a:solidFill>
              </a:rPr>
              <a:t>の提供ルールについて</a:t>
            </a:r>
            <a:endParaRPr lang="en-US" altLang="ja-JP" dirty="0">
              <a:solidFill>
                <a:srgbClr val="FF0000"/>
              </a:solidFill>
            </a:endParaRPr>
          </a:p>
          <a:p>
            <a:pPr marL="176213" lvl="1" indent="0">
              <a:buNone/>
            </a:pPr>
            <a:r>
              <a:rPr lang="ja-JP" altLang="en-US" dirty="0">
                <a:solidFill>
                  <a:srgbClr val="FF0000"/>
                </a:solidFill>
              </a:rPr>
              <a:t>　　案１）</a:t>
            </a:r>
            <a:r>
              <a:rPr lang="en-US" altLang="ja-JP" dirty="0">
                <a:solidFill>
                  <a:srgbClr val="FF0000"/>
                </a:solidFill>
              </a:rPr>
              <a:t>BOX</a:t>
            </a:r>
            <a:r>
              <a:rPr lang="ja-JP" altLang="en-US" dirty="0">
                <a:solidFill>
                  <a:srgbClr val="FF0000"/>
                </a:solidFill>
              </a:rPr>
              <a:t>経由　案２）</a:t>
            </a:r>
            <a:r>
              <a:rPr lang="en-US" altLang="ja-JP" dirty="0">
                <a:solidFill>
                  <a:srgbClr val="FF0000"/>
                </a:solidFill>
              </a:rPr>
              <a:t>NTCS</a:t>
            </a:r>
            <a:r>
              <a:rPr lang="ja-JP" altLang="en-US" dirty="0">
                <a:solidFill>
                  <a:srgbClr val="FF0000"/>
                </a:solidFill>
              </a:rPr>
              <a:t>社にて作成していただいたチケットを参照</a:t>
            </a:r>
            <a:endParaRPr lang="en-US" altLang="ja-JP" dirty="0">
              <a:solidFill>
                <a:srgbClr val="FF0000"/>
              </a:solidFill>
            </a:endParaRPr>
          </a:p>
          <a:p>
            <a:pPr marL="176213" lvl="1" indent="0">
              <a:buNone/>
            </a:pPr>
            <a:r>
              <a:rPr lang="ja-JP" altLang="en-US" dirty="0">
                <a:solidFill>
                  <a:srgbClr val="FF0000"/>
                </a:solidFill>
              </a:rPr>
              <a:t>　　参照してもよい</a:t>
            </a:r>
            <a:r>
              <a:rPr lang="en-US" altLang="ja-JP" dirty="0">
                <a:solidFill>
                  <a:srgbClr val="FF0000"/>
                </a:solidFill>
              </a:rPr>
              <a:t>Swagger</a:t>
            </a:r>
            <a:r>
              <a:rPr lang="ja-JP" altLang="en-US" dirty="0">
                <a:solidFill>
                  <a:srgbClr val="FF0000"/>
                </a:solidFill>
              </a:rPr>
              <a:t> </a:t>
            </a:r>
            <a:r>
              <a:rPr lang="en-US" altLang="ja-JP" dirty="0">
                <a:solidFill>
                  <a:srgbClr val="FF0000"/>
                </a:solidFill>
              </a:rPr>
              <a:t>UI</a:t>
            </a:r>
            <a:r>
              <a:rPr lang="ja-JP" altLang="en-US" dirty="0">
                <a:solidFill>
                  <a:srgbClr val="FF0000"/>
                </a:solidFill>
              </a:rPr>
              <a:t>はコマツ様より連携いただきたい。</a:t>
            </a:r>
            <a:endParaRPr lang="en-US" altLang="ja-JP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kumimoji="1" lang="ja-JP" altLang="en-US" dirty="0"/>
          </a:p>
          <a:p>
            <a:r>
              <a:rPr kumimoji="1" lang="ja-JP" altLang="en-US" dirty="0"/>
              <a:t>納品、検収について</a:t>
            </a:r>
            <a:endParaRPr kumimoji="1" lang="en-US" altLang="ja-JP" dirty="0"/>
          </a:p>
          <a:p>
            <a:pPr marL="176213" lvl="1" indent="0">
              <a:buNone/>
            </a:pPr>
            <a:r>
              <a:rPr kumimoji="1" lang="ja-JP" altLang="en-US" dirty="0"/>
              <a:t>キックオフ</a:t>
            </a:r>
            <a:r>
              <a:rPr kumimoji="1" lang="en-US" altLang="ja-JP" dirty="0"/>
              <a:t>MTG</a:t>
            </a:r>
            <a:r>
              <a:rPr kumimoji="1" lang="ja-JP" altLang="en-US" dirty="0"/>
              <a:t>の中で結合試験の開始が</a:t>
            </a:r>
            <a:r>
              <a:rPr kumimoji="1" lang="en-US" altLang="ja-JP" dirty="0"/>
              <a:t>6/20</a:t>
            </a:r>
            <a:r>
              <a:rPr kumimoji="1" lang="ja-JP" altLang="en-US" dirty="0"/>
              <a:t>以降ということをお伺いいたしました。</a:t>
            </a:r>
            <a:endParaRPr lang="en-US" altLang="ja-JP" dirty="0"/>
          </a:p>
          <a:p>
            <a:pPr marL="176213" lvl="1" indent="0">
              <a:buNone/>
            </a:pPr>
            <a:r>
              <a:rPr kumimoji="1" lang="ja-JP" altLang="en-US" dirty="0"/>
              <a:t>結合試験の完了が遅れることにより納品から検収完了</a:t>
            </a:r>
            <a:r>
              <a:rPr kumimoji="1" lang="en-US" altLang="ja-JP" dirty="0"/>
              <a:t>(7/20)</a:t>
            </a:r>
            <a:r>
              <a:rPr kumimoji="1" lang="ja-JP" altLang="en-US" dirty="0"/>
              <a:t>までの期間が短くなることが想定されます</a:t>
            </a:r>
            <a:r>
              <a:rPr lang="ja-JP" altLang="en-US" dirty="0"/>
              <a:t>。</a:t>
            </a:r>
            <a:endParaRPr kumimoji="1" lang="en-US" altLang="ja-JP" dirty="0"/>
          </a:p>
          <a:p>
            <a:pPr marL="176213" lvl="1" indent="0">
              <a:buNone/>
            </a:pPr>
            <a:r>
              <a:rPr kumimoji="1" lang="ja-JP" altLang="en-US" dirty="0"/>
              <a:t>開始できる機能から結合試験を実施できるよう</a:t>
            </a:r>
            <a:r>
              <a:rPr kumimoji="1" lang="en-US" altLang="ja-JP" dirty="0"/>
              <a:t>NTCS</a:t>
            </a:r>
            <a:r>
              <a:rPr kumimoji="1" lang="ja-JP" altLang="en-US" dirty="0"/>
              <a:t>様含めて調整をお願いいたします。</a:t>
            </a:r>
            <a:endParaRPr kumimoji="1" lang="en-US" altLang="ja-JP" dirty="0"/>
          </a:p>
          <a:p>
            <a:pPr marL="176213" lvl="1" indent="0">
              <a:buNone/>
            </a:pPr>
            <a:r>
              <a:rPr lang="ja-JP" altLang="en-US" dirty="0"/>
              <a:t>　→</a:t>
            </a:r>
            <a:r>
              <a:rPr lang="en-US" altLang="ja-JP" dirty="0"/>
              <a:t>3/29(</a:t>
            </a:r>
            <a:r>
              <a:rPr lang="ja-JP" altLang="en-US" dirty="0"/>
              <a:t>火</a:t>
            </a:r>
            <a:r>
              <a:rPr lang="en-US" altLang="ja-JP" dirty="0"/>
              <a:t>) </a:t>
            </a:r>
            <a:r>
              <a:rPr lang="ja-JP" altLang="en-US" dirty="0"/>
              <a:t>コマツ</a:t>
            </a:r>
            <a:r>
              <a:rPr lang="en-US" altLang="ja-JP" dirty="0"/>
              <a:t>-NTCS-EXE</a:t>
            </a:r>
            <a:r>
              <a:rPr lang="ja-JP" altLang="en-US" dirty="0"/>
              <a:t>定例で共有</a:t>
            </a:r>
            <a:endParaRPr lang="en-US" altLang="ja-JP" dirty="0">
              <a:solidFill>
                <a:srgbClr val="FF0000"/>
              </a:solidFill>
            </a:endParaRPr>
          </a:p>
          <a:p>
            <a:pPr marL="176213" lvl="1" indent="0">
              <a:buNone/>
            </a:pPr>
            <a:r>
              <a:rPr kumimoji="1" lang="ja-JP" altLang="en-US" dirty="0">
                <a:solidFill>
                  <a:srgbClr val="FF0000"/>
                </a:solidFill>
              </a:rPr>
              <a:t>　→ </a:t>
            </a:r>
            <a:r>
              <a:rPr kumimoji="1" lang="en-US" altLang="ja-JP" dirty="0">
                <a:solidFill>
                  <a:srgbClr val="FF0000"/>
                </a:solidFill>
              </a:rPr>
              <a:t>NTCS</a:t>
            </a:r>
            <a:r>
              <a:rPr kumimoji="1" lang="ja-JP" altLang="en-US" dirty="0">
                <a:solidFill>
                  <a:srgbClr val="FF0000"/>
                </a:solidFill>
              </a:rPr>
              <a:t>社にて対応は難しいのか方法を検討</a:t>
            </a:r>
            <a:endParaRPr lang="en-US" altLang="ja-JP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kumimoji="1" lang="ja-JP" altLang="en-US" dirty="0"/>
          </a:p>
          <a:p>
            <a:r>
              <a:rPr kumimoji="1" lang="zh-CN" altLang="en-US" dirty="0"/>
              <a:t>送信要求（送信番号単位）</a:t>
            </a:r>
            <a:endParaRPr kumimoji="1" lang="en-US" altLang="zh-CN" dirty="0"/>
          </a:p>
          <a:p>
            <a:pPr marL="0" indent="0">
              <a:buNone/>
            </a:pPr>
            <a:r>
              <a:rPr lang="ja-JP" altLang="en-US" b="0" u="none" dirty="0"/>
              <a:t>　画面イメージの確認</a:t>
            </a:r>
            <a:endParaRPr lang="en-US" altLang="ja-JP" b="0" u="none" dirty="0"/>
          </a:p>
          <a:p>
            <a:pPr marL="0" indent="0">
              <a:buNone/>
            </a:pPr>
            <a:endParaRPr kumimoji="1" lang="ja-JP" altLang="en-US" dirty="0"/>
          </a:p>
          <a:p>
            <a:r>
              <a:rPr kumimoji="1" lang="ja-JP" altLang="en-US" dirty="0"/>
              <a:t>要件定義からの見積時からの機能増</a:t>
            </a:r>
            <a:endParaRPr kumimoji="1" lang="en-US" altLang="ja-JP" b="0" u="none" dirty="0"/>
          </a:p>
          <a:p>
            <a:pPr marL="0" indent="0">
              <a:buNone/>
            </a:pPr>
            <a:r>
              <a:rPr kumimoji="1" lang="ja-JP" altLang="en-US" b="0" u="none" dirty="0"/>
              <a:t>　モーダル</a:t>
            </a:r>
            <a:r>
              <a:rPr kumimoji="1" lang="en-US" altLang="ja-JP" b="0" u="none" dirty="0"/>
              <a:t>3</a:t>
            </a:r>
            <a:r>
              <a:rPr kumimoji="1" lang="ja-JP" altLang="en-US" b="0" u="none" dirty="0"/>
              <a:t>機能が追加となっている。</a:t>
            </a:r>
            <a:endParaRPr kumimoji="1" lang="en-US" altLang="ja-JP" b="0" u="none" dirty="0"/>
          </a:p>
        </p:txBody>
      </p:sp>
    </p:spTree>
    <p:extLst>
      <p:ext uri="{BB962C8B-B14F-4D97-AF65-F5344CB8AC3E}">
        <p14:creationId xmlns:p14="http://schemas.microsoft.com/office/powerpoint/2010/main" val="3763190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CB0514-BB95-4C88-8B6C-BA36E84E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5.</a:t>
            </a:r>
            <a:r>
              <a:rPr kumimoji="1" lang="ja-JP" altLang="en-US" dirty="0"/>
              <a:t> 次回予定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CE23303-12B1-44D8-93D1-D376659A0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2022 SystemEXE,Inc All Rights Reserved.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83978C-56AE-458A-BE12-A64B75F5F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A5134-5AAC-D342-B763-43605FECB385}" type="slidenum">
              <a:rPr kumimoji="1" lang="ja-JP" altLang="en-US" smtClean="0"/>
              <a:pPr/>
              <a:t>8</a:t>
            </a:fld>
            <a:endParaRPr kumimoji="1" lang="ja-JP" altLang="en-US" sz="70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2160E6F-B5FA-4B95-AEDE-5EAFD88665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042" y="936000"/>
            <a:ext cx="4805625" cy="5350500"/>
          </a:xfrm>
        </p:spPr>
        <p:txBody>
          <a:bodyPr/>
          <a:lstStyle/>
          <a:p>
            <a:r>
              <a:rPr kumimoji="1" lang="en-US" altLang="ja-JP" b="0" u="none" dirty="0">
                <a:solidFill>
                  <a:srgbClr val="FF0000"/>
                </a:solidFill>
              </a:rPr>
              <a:t>04/12(</a:t>
            </a:r>
            <a:r>
              <a:rPr kumimoji="1" lang="ja-JP" altLang="en-US" b="0" u="none" dirty="0">
                <a:solidFill>
                  <a:srgbClr val="FF0000"/>
                </a:solidFill>
              </a:rPr>
              <a:t>火</a:t>
            </a:r>
            <a:r>
              <a:rPr kumimoji="1" lang="en-US" altLang="ja-JP" b="0" u="none" dirty="0">
                <a:solidFill>
                  <a:srgbClr val="FF0000"/>
                </a:solidFill>
              </a:rPr>
              <a:t>) 11:00</a:t>
            </a:r>
            <a:r>
              <a:rPr kumimoji="1" lang="ja-JP" altLang="en-US" b="0" u="none" dirty="0">
                <a:solidFill>
                  <a:srgbClr val="FF0000"/>
                </a:solidFill>
              </a:rPr>
              <a:t>～</a:t>
            </a:r>
            <a:r>
              <a:rPr kumimoji="1" lang="en-US" altLang="ja-JP" b="0" u="none" dirty="0">
                <a:solidFill>
                  <a:srgbClr val="FF0000"/>
                </a:solidFill>
              </a:rPr>
              <a:t>11:30 </a:t>
            </a:r>
            <a:r>
              <a:rPr kumimoji="1" lang="ja-JP" altLang="en-US" b="0" u="none" dirty="0">
                <a:solidFill>
                  <a:srgbClr val="FF0000"/>
                </a:solidFill>
              </a:rPr>
              <a:t>定例会</a:t>
            </a:r>
          </a:p>
          <a:p>
            <a:r>
              <a:rPr kumimoji="1" lang="en-US" altLang="ja-JP" b="0" u="none" dirty="0"/>
              <a:t>04/19(</a:t>
            </a:r>
            <a:r>
              <a:rPr kumimoji="1" lang="ja-JP" altLang="en-US" b="0" u="none" dirty="0"/>
              <a:t>火</a:t>
            </a:r>
            <a:r>
              <a:rPr kumimoji="1" lang="en-US" altLang="ja-JP" b="0" u="none" dirty="0"/>
              <a:t>) 11:00</a:t>
            </a:r>
            <a:r>
              <a:rPr kumimoji="1" lang="ja-JP" altLang="en-US" b="0" u="none" dirty="0"/>
              <a:t>～</a:t>
            </a:r>
            <a:r>
              <a:rPr kumimoji="1" lang="en-US" altLang="ja-JP" b="0" u="none" dirty="0"/>
              <a:t>11:30 </a:t>
            </a:r>
            <a:r>
              <a:rPr kumimoji="1" lang="ja-JP" altLang="en-US" b="0" u="none" dirty="0"/>
              <a:t>定例会</a:t>
            </a:r>
          </a:p>
          <a:p>
            <a:r>
              <a:rPr kumimoji="1" lang="en-US" altLang="ja-JP" b="0" u="none" dirty="0"/>
              <a:t>04/26(</a:t>
            </a:r>
            <a:r>
              <a:rPr kumimoji="1" lang="ja-JP" altLang="en-US" b="0" u="none" dirty="0"/>
              <a:t>火</a:t>
            </a:r>
            <a:r>
              <a:rPr kumimoji="1" lang="en-US" altLang="ja-JP" b="0" u="none" dirty="0"/>
              <a:t>) 11:00</a:t>
            </a:r>
            <a:r>
              <a:rPr kumimoji="1" lang="ja-JP" altLang="en-US" b="0" u="none" dirty="0"/>
              <a:t>～</a:t>
            </a:r>
            <a:r>
              <a:rPr kumimoji="1" lang="en-US" altLang="ja-JP" b="0" u="none" dirty="0"/>
              <a:t>11:30 </a:t>
            </a:r>
            <a:r>
              <a:rPr kumimoji="1" lang="ja-JP" altLang="en-US" b="0" u="none" dirty="0"/>
              <a:t>定例会</a:t>
            </a:r>
          </a:p>
          <a:p>
            <a:r>
              <a:rPr kumimoji="1" lang="en-US" altLang="ja-JP" b="0" u="none" dirty="0"/>
              <a:t>05/03(</a:t>
            </a:r>
            <a:r>
              <a:rPr kumimoji="1" lang="ja-JP" altLang="en-US" b="0" u="none" dirty="0"/>
              <a:t>火</a:t>
            </a:r>
            <a:r>
              <a:rPr kumimoji="1" lang="en-US" altLang="ja-JP" b="0" u="none" dirty="0"/>
              <a:t>) GW</a:t>
            </a:r>
            <a:r>
              <a:rPr kumimoji="1" lang="ja-JP" altLang="en-US" b="0" u="none" dirty="0"/>
              <a:t>のためスキップ </a:t>
            </a:r>
          </a:p>
          <a:p>
            <a:r>
              <a:rPr kumimoji="1" lang="en-US" altLang="ja-JP" b="0" u="none" dirty="0"/>
              <a:t>05/10(</a:t>
            </a:r>
            <a:r>
              <a:rPr kumimoji="1" lang="ja-JP" altLang="en-US" b="0" u="none" dirty="0"/>
              <a:t>火</a:t>
            </a:r>
            <a:r>
              <a:rPr kumimoji="1" lang="en-US" altLang="ja-JP" b="0" u="none" dirty="0"/>
              <a:t>) 11:00</a:t>
            </a:r>
            <a:r>
              <a:rPr kumimoji="1" lang="ja-JP" altLang="en-US" b="0" u="none" dirty="0"/>
              <a:t>～</a:t>
            </a:r>
            <a:r>
              <a:rPr kumimoji="1" lang="en-US" altLang="ja-JP" b="0" u="none" dirty="0"/>
              <a:t>11:30 </a:t>
            </a:r>
            <a:r>
              <a:rPr kumimoji="1" lang="ja-JP" altLang="en-US" b="0" u="none" dirty="0"/>
              <a:t>定例会</a:t>
            </a:r>
          </a:p>
          <a:p>
            <a:r>
              <a:rPr kumimoji="1" lang="en-US" altLang="ja-JP" b="0" u="none" dirty="0"/>
              <a:t>05/17(</a:t>
            </a:r>
            <a:r>
              <a:rPr kumimoji="1" lang="ja-JP" altLang="en-US" b="0" u="none" dirty="0"/>
              <a:t>火</a:t>
            </a:r>
            <a:r>
              <a:rPr kumimoji="1" lang="en-US" altLang="ja-JP" b="0" u="none" dirty="0"/>
              <a:t>) 11:00</a:t>
            </a:r>
            <a:r>
              <a:rPr kumimoji="1" lang="ja-JP" altLang="en-US" b="0" u="none" dirty="0"/>
              <a:t>～</a:t>
            </a:r>
            <a:r>
              <a:rPr kumimoji="1" lang="en-US" altLang="ja-JP" b="0" u="none" dirty="0"/>
              <a:t>11:30 </a:t>
            </a:r>
            <a:r>
              <a:rPr kumimoji="1" lang="ja-JP" altLang="en-US" b="0" u="none" dirty="0"/>
              <a:t>定例会</a:t>
            </a:r>
          </a:p>
          <a:p>
            <a:r>
              <a:rPr kumimoji="1" lang="en-US" altLang="ja-JP" b="0" u="none" dirty="0"/>
              <a:t>05/24(</a:t>
            </a:r>
            <a:r>
              <a:rPr kumimoji="1" lang="ja-JP" altLang="en-US" b="0" u="none" dirty="0"/>
              <a:t>火</a:t>
            </a:r>
            <a:r>
              <a:rPr kumimoji="1" lang="en-US" altLang="ja-JP" b="0" u="none" dirty="0"/>
              <a:t>) 11:00</a:t>
            </a:r>
            <a:r>
              <a:rPr kumimoji="1" lang="ja-JP" altLang="en-US" b="0" u="none" dirty="0"/>
              <a:t>～</a:t>
            </a:r>
            <a:r>
              <a:rPr kumimoji="1" lang="en-US" altLang="ja-JP" b="0" u="none" dirty="0"/>
              <a:t>11:30 </a:t>
            </a:r>
            <a:r>
              <a:rPr kumimoji="1" lang="ja-JP" altLang="en-US" b="0" u="none" dirty="0"/>
              <a:t>定例会</a:t>
            </a:r>
          </a:p>
          <a:p>
            <a:r>
              <a:rPr kumimoji="1" lang="en-US" altLang="ja-JP" b="0" u="none" dirty="0"/>
              <a:t>05/31(</a:t>
            </a:r>
            <a:r>
              <a:rPr kumimoji="1" lang="ja-JP" altLang="en-US" b="0" u="none" dirty="0"/>
              <a:t>火</a:t>
            </a:r>
            <a:r>
              <a:rPr kumimoji="1" lang="en-US" altLang="ja-JP" b="0" u="none" dirty="0"/>
              <a:t>) 11:00</a:t>
            </a:r>
            <a:r>
              <a:rPr kumimoji="1" lang="ja-JP" altLang="en-US" b="0" u="none" dirty="0"/>
              <a:t>～</a:t>
            </a:r>
            <a:r>
              <a:rPr kumimoji="1" lang="en-US" altLang="ja-JP" b="0" u="none" dirty="0"/>
              <a:t>11:30 </a:t>
            </a:r>
            <a:r>
              <a:rPr kumimoji="1" lang="ja-JP" altLang="en-US" b="0" u="none" dirty="0"/>
              <a:t>定例会</a:t>
            </a:r>
          </a:p>
          <a:p>
            <a:r>
              <a:rPr kumimoji="1" lang="en-US" altLang="ja-JP" b="0" u="none" dirty="0"/>
              <a:t>06/07(</a:t>
            </a:r>
            <a:r>
              <a:rPr kumimoji="1" lang="ja-JP" altLang="en-US" b="0" u="none" dirty="0"/>
              <a:t>火</a:t>
            </a:r>
            <a:r>
              <a:rPr kumimoji="1" lang="en-US" altLang="ja-JP" b="0" u="none" dirty="0"/>
              <a:t>) 11:00</a:t>
            </a:r>
            <a:r>
              <a:rPr kumimoji="1" lang="ja-JP" altLang="en-US" b="0" u="none" dirty="0"/>
              <a:t>～</a:t>
            </a:r>
            <a:r>
              <a:rPr kumimoji="1" lang="en-US" altLang="ja-JP" b="0" u="none" dirty="0"/>
              <a:t>11:30 </a:t>
            </a:r>
            <a:r>
              <a:rPr kumimoji="1" lang="ja-JP" altLang="en-US" b="0" u="none" dirty="0"/>
              <a:t>定例会</a:t>
            </a:r>
          </a:p>
          <a:p>
            <a:r>
              <a:rPr kumimoji="1" lang="en-US" altLang="ja-JP" b="0" u="none" dirty="0"/>
              <a:t>06/14(</a:t>
            </a:r>
            <a:r>
              <a:rPr kumimoji="1" lang="ja-JP" altLang="en-US" b="0" u="none" dirty="0"/>
              <a:t>火</a:t>
            </a:r>
            <a:r>
              <a:rPr kumimoji="1" lang="en-US" altLang="ja-JP" b="0" u="none" dirty="0"/>
              <a:t>) 11:00</a:t>
            </a:r>
            <a:r>
              <a:rPr kumimoji="1" lang="ja-JP" altLang="en-US" b="0" u="none" dirty="0"/>
              <a:t>～</a:t>
            </a:r>
            <a:r>
              <a:rPr kumimoji="1" lang="en-US" altLang="ja-JP" b="0" u="none" dirty="0"/>
              <a:t>11:30 </a:t>
            </a:r>
            <a:r>
              <a:rPr kumimoji="1" lang="ja-JP" altLang="en-US" b="0" u="none" dirty="0"/>
              <a:t>定例会</a:t>
            </a:r>
          </a:p>
          <a:p>
            <a:r>
              <a:rPr kumimoji="1" lang="en-US" altLang="ja-JP" b="0" u="none" dirty="0"/>
              <a:t>06/21(</a:t>
            </a:r>
            <a:r>
              <a:rPr kumimoji="1" lang="ja-JP" altLang="en-US" b="0" u="none" dirty="0"/>
              <a:t>火</a:t>
            </a:r>
            <a:r>
              <a:rPr kumimoji="1" lang="en-US" altLang="ja-JP" b="0" u="none" dirty="0"/>
              <a:t>) 11:00</a:t>
            </a:r>
            <a:r>
              <a:rPr kumimoji="1" lang="ja-JP" altLang="en-US" b="0" u="none" dirty="0"/>
              <a:t>～</a:t>
            </a:r>
            <a:r>
              <a:rPr kumimoji="1" lang="en-US" altLang="ja-JP" b="0" u="none" dirty="0"/>
              <a:t>11:30 </a:t>
            </a:r>
            <a:r>
              <a:rPr kumimoji="1" lang="ja-JP" altLang="en-US" b="0" u="none" dirty="0"/>
              <a:t>定例会</a:t>
            </a:r>
          </a:p>
          <a:p>
            <a:r>
              <a:rPr kumimoji="1" lang="en-US" altLang="ja-JP" b="0" u="none" dirty="0"/>
              <a:t>06/28(</a:t>
            </a:r>
            <a:r>
              <a:rPr kumimoji="1" lang="ja-JP" altLang="en-US" b="0" u="none" dirty="0"/>
              <a:t>火</a:t>
            </a:r>
            <a:r>
              <a:rPr kumimoji="1" lang="en-US" altLang="ja-JP" b="0" u="none" dirty="0"/>
              <a:t>) 11:00</a:t>
            </a:r>
            <a:r>
              <a:rPr kumimoji="1" lang="ja-JP" altLang="en-US" b="0" u="none" dirty="0"/>
              <a:t>～</a:t>
            </a:r>
            <a:r>
              <a:rPr kumimoji="1" lang="en-US" altLang="ja-JP" b="0" u="none" dirty="0"/>
              <a:t>11:30 </a:t>
            </a:r>
            <a:r>
              <a:rPr kumimoji="1" lang="ja-JP" altLang="en-US" b="0" u="none" dirty="0"/>
              <a:t>定例会</a:t>
            </a:r>
            <a:endParaRPr kumimoji="1" lang="en-US" altLang="ja-JP" b="0" u="none" dirty="0"/>
          </a:p>
          <a:p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07/05(</a:t>
            </a:r>
            <a:r>
              <a:rPr lang="ja-JP" altLang="en-US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火</a:t>
            </a:r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) 11:</a:t>
            </a:r>
            <a:r>
              <a:rPr kumimoji="1" lang="en-US" altLang="ja-JP" b="0" u="none" dirty="0"/>
              <a:t>0</a:t>
            </a:r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0</a:t>
            </a:r>
            <a:r>
              <a:rPr lang="zh-TW" altLang="en-US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～</a:t>
            </a:r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11:30 </a:t>
            </a:r>
            <a:r>
              <a:rPr lang="zh-TW" altLang="en-US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定例会</a:t>
            </a:r>
          </a:p>
          <a:p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07/12(</a:t>
            </a:r>
            <a:r>
              <a:rPr lang="ja-JP" altLang="en-US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火</a:t>
            </a:r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) 11:</a:t>
            </a:r>
            <a:r>
              <a:rPr kumimoji="1" lang="en-US" altLang="ja-JP" b="0" u="none" dirty="0"/>
              <a:t>0</a:t>
            </a:r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0</a:t>
            </a:r>
            <a:r>
              <a:rPr lang="zh-TW" altLang="en-US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～</a:t>
            </a:r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11:30 </a:t>
            </a:r>
            <a:r>
              <a:rPr lang="zh-TW" altLang="en-US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定例会</a:t>
            </a:r>
          </a:p>
          <a:p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07/19(</a:t>
            </a:r>
            <a:r>
              <a:rPr lang="ja-JP" altLang="en-US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火</a:t>
            </a:r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) 11:</a:t>
            </a:r>
            <a:r>
              <a:rPr kumimoji="1" lang="en-US" altLang="ja-JP" b="0" u="none" dirty="0"/>
              <a:t>0</a:t>
            </a:r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0</a:t>
            </a:r>
            <a:r>
              <a:rPr lang="zh-TW" altLang="en-US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～</a:t>
            </a:r>
            <a:r>
              <a:rPr lang="en-US" altLang="zh-TW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11:30 </a:t>
            </a:r>
            <a:r>
              <a:rPr lang="zh-TW" altLang="en-US" sz="1800" b="0" u="none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定例会</a:t>
            </a:r>
            <a:endParaRPr kumimoji="1" lang="ja-JP" altLang="en-US" b="0" u="none" dirty="0"/>
          </a:p>
          <a:p>
            <a:endParaRPr kumimoji="1" lang="ja-JP" altLang="en-US" b="0" u="none" dirty="0"/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9E8AB82C-B825-4183-BBE6-A43528BB8F00}"/>
              </a:ext>
            </a:extLst>
          </p:cNvPr>
          <p:cNvSpPr txBox="1">
            <a:spLocks/>
          </p:cNvSpPr>
          <p:nvPr/>
        </p:nvSpPr>
        <p:spPr>
          <a:xfrm>
            <a:off x="5417212" y="936000"/>
            <a:ext cx="4805625" cy="5350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305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 kumimoji="1" sz="1800" b="1" u="sng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60363" indent="-1841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6575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720725" indent="-1841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896938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1800" b="0" u="none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35740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323232"/>
      </a:dk1>
      <a:lt1>
        <a:srgbClr val="FFFFFF"/>
      </a:lt1>
      <a:dk2>
        <a:srgbClr val="4B4B4B"/>
      </a:dk2>
      <a:lt2>
        <a:srgbClr val="A0A095"/>
      </a:lt2>
      <a:accent1>
        <a:srgbClr val="9A3B5D"/>
      </a:accent1>
      <a:accent2>
        <a:srgbClr val="86CEFA"/>
      </a:accent2>
      <a:accent3>
        <a:srgbClr val="3D9599"/>
      </a:accent3>
      <a:accent4>
        <a:srgbClr val="CC6600"/>
      </a:accent4>
      <a:accent5>
        <a:srgbClr val="6666FF"/>
      </a:accent5>
      <a:accent6>
        <a:srgbClr val="FFFFFF"/>
      </a:accent6>
      <a:hlink>
        <a:srgbClr val="0070C0"/>
      </a:hlink>
      <a:folHlink>
        <a:srgbClr val="0070C0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kumimoji="1" sz="1600" dirty="0" smtClean="0">
            <a:latin typeface="游ゴシック" panose="020B0400000000000000" pitchFamily="50" charset="-128"/>
            <a:ea typeface="游ゴシック" panose="020B0400000000000000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16113</TotalTime>
  <Words>848</Words>
  <Application>Microsoft Office PowerPoint</Application>
  <PresentationFormat>ワイド画面</PresentationFormat>
  <Paragraphs>248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7" baseType="lpstr">
      <vt:lpstr>等线</vt:lpstr>
      <vt:lpstr>游ゴシック</vt:lpstr>
      <vt:lpstr>游ゴシック</vt:lpstr>
      <vt:lpstr>游明朝</vt:lpstr>
      <vt:lpstr>Arial</vt:lpstr>
      <vt:lpstr>Calibri</vt:lpstr>
      <vt:lpstr>Wingdings</vt:lpstr>
      <vt:lpstr>Office テーマ</vt:lpstr>
      <vt:lpstr>定例会</vt:lpstr>
      <vt:lpstr>目次</vt:lpstr>
      <vt:lpstr>1. 進捗状況報告(全体)</vt:lpstr>
      <vt:lpstr>2. 進捗状況報告（工程別）- 基本設計</vt:lpstr>
      <vt:lpstr>2. 進捗状況報告（工程別）- 詳細設計</vt:lpstr>
      <vt:lpstr>2. 進捗状況報告（工程別）- 製造</vt:lpstr>
      <vt:lpstr>3. チケット状況共有</vt:lpstr>
      <vt:lpstr>4. ご相談事項</vt:lpstr>
      <vt:lpstr>5. 次回予定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田村 晃</dc:creator>
  <cp:lastModifiedBy>松下智一</cp:lastModifiedBy>
  <cp:revision>507</cp:revision>
  <dcterms:created xsi:type="dcterms:W3CDTF">2021-02-05T06:36:21Z</dcterms:created>
  <dcterms:modified xsi:type="dcterms:W3CDTF">2022-04-05T02:24:34Z</dcterms:modified>
</cp:coreProperties>
</file>