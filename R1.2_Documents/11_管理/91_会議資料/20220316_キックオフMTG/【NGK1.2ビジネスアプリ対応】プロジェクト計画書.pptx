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70" r:id="rId1"/>
  </p:sldMasterIdLst>
  <p:notesMasterIdLst>
    <p:notesMasterId r:id="rId9"/>
  </p:notesMasterIdLst>
  <p:handoutMasterIdLst>
    <p:handoutMasterId r:id="rId10"/>
  </p:handoutMasterIdLst>
  <p:sldIdLst>
    <p:sldId id="714" r:id="rId2"/>
    <p:sldId id="739" r:id="rId3"/>
    <p:sldId id="742" r:id="rId4"/>
    <p:sldId id="743" r:id="rId5"/>
    <p:sldId id="744" r:id="rId6"/>
    <p:sldId id="745" r:id="rId7"/>
    <p:sldId id="74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DEDDA"/>
    <a:srgbClr val="FAF2D4"/>
    <a:srgbClr val="9A3B5D"/>
    <a:srgbClr val="F2F2F2"/>
    <a:srgbClr val="0000FF"/>
    <a:srgbClr val="EDEDED"/>
    <a:srgbClr val="4B4B4B"/>
    <a:srgbClr val="323232"/>
    <a:srgbClr val="787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54"/>
  </p:normalViewPr>
  <p:slideViewPr>
    <p:cSldViewPr snapToGrid="0" snapToObjects="1">
      <p:cViewPr varScale="1">
        <p:scale>
          <a:sx n="104" d="100"/>
          <a:sy n="104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B81E3-04FF-4B3A-91A3-0B9D6F284D31}" type="datetimeFigureOut">
              <a:rPr kumimoji="1" lang="ja-JP" altLang="en-US" smtClean="0"/>
              <a:t>2022/3/14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A281C-6E67-4E22-BEFF-238CFBDEF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695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24887-F90F-3047-8721-5156A8E1A469}" type="datetimeFigureOut">
              <a:rPr kumimoji="1" lang="ja-JP" altLang="en-US" smtClean="0"/>
              <a:t>2022/3/14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7080C-E8FE-C146-B769-6100616B65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8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1pPr>
    <a:lvl2pPr marL="609537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2pPr>
    <a:lvl3pPr marL="1219075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3pPr>
    <a:lvl4pPr marL="1828612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4pPr>
    <a:lvl5pPr marL="2438148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5pPr>
    <a:lvl6pPr marL="3047686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6pPr>
    <a:lvl7pPr marL="3657223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7pPr>
    <a:lvl8pPr marL="4266761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8pPr>
    <a:lvl9pPr marL="4876298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0453C54-7F3F-5842-8AEE-825191D5B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" y="0"/>
            <a:ext cx="12189739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8" name="Rectangle 116">
            <a:extLst>
              <a:ext uri="{FF2B5EF4-FFF2-40B4-BE49-F238E27FC236}">
                <a16:creationId xmlns:a16="http://schemas.microsoft.com/office/drawing/2014/main" id="{63CB7166-763A-834A-BD8F-32568DB92384}"/>
              </a:ext>
            </a:extLst>
          </p:cNvPr>
          <p:cNvSpPr/>
          <p:nvPr userDrawn="1"/>
        </p:nvSpPr>
        <p:spPr bwMode="auto">
          <a:xfrm>
            <a:off x="0" y="2403368"/>
            <a:ext cx="12192000" cy="2051264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00" y="3312000"/>
            <a:ext cx="8640000" cy="7680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1">
                <a:solidFill>
                  <a:srgbClr val="9A3B5D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00" y="2784000"/>
            <a:ext cx="8640000" cy="4800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9A3B5D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9B378A5-FEEF-5D48-AD7F-5344F238A1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710" y="3024001"/>
            <a:ext cx="1646580" cy="428111"/>
          </a:xfrm>
          <a:prstGeom prst="rect">
            <a:avLst/>
          </a:prstGeom>
        </p:spPr>
      </p:pic>
      <p:sp>
        <p:nvSpPr>
          <p:cNvPr id="11" name="テキスト プレースホルダー 10"/>
          <p:cNvSpPr>
            <a:spLocks noGrp="1"/>
          </p:cNvSpPr>
          <p:nvPr>
            <p:ph type="body" sz="quarter" idx="13" hasCustomPrompt="1"/>
          </p:nvPr>
        </p:nvSpPr>
        <p:spPr>
          <a:xfrm>
            <a:off x="9407999" y="3552000"/>
            <a:ext cx="2688000" cy="288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67"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</a:lstStyle>
          <a:p>
            <a:pPr lvl="0"/>
            <a:r>
              <a:rPr kumimoji="1" lang="ja-JP" altLang="en-US" dirty="0"/>
              <a:t>○○本部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91999" y="3840000"/>
            <a:ext cx="1920000" cy="288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323232"/>
                </a:solidFill>
              </a:defRPr>
            </a:lvl1pPr>
          </a:lstStyle>
          <a:p>
            <a:fld id="{47CE263C-B4E9-4AA0-986B-C9A7FB36C901}" type="datetime1">
              <a:rPr lang="ja-JP" altLang="en-US" smtClean="0"/>
              <a:t>2022/3/14</a:t>
            </a:fld>
            <a:endParaRPr 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84000"/>
            <a:ext cx="3072000" cy="33600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dirty="0"/>
              <a:t>○○株式会社 御中</a:t>
            </a:r>
          </a:p>
        </p:txBody>
      </p:sp>
    </p:spTree>
    <p:extLst>
      <p:ext uri="{BB962C8B-B14F-4D97-AF65-F5344CB8AC3E}">
        <p14:creationId xmlns:p14="http://schemas.microsoft.com/office/powerpoint/2010/main" val="425651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BC11A7E-29EC-0147-8188-ACEEB4EB432E}"/>
              </a:ext>
            </a:extLst>
          </p:cNvPr>
          <p:cNvCxnSpPr>
            <a:cxnSpLocks/>
          </p:cNvCxnSpPr>
          <p:nvPr userDrawn="1"/>
        </p:nvCxnSpPr>
        <p:spPr>
          <a:xfrm>
            <a:off x="576000" y="709643"/>
            <a:ext cx="11040000" cy="0"/>
          </a:xfrm>
          <a:prstGeom prst="line">
            <a:avLst/>
          </a:prstGeom>
          <a:ln w="1905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E583FF8A-E87D-4283-8A63-91BC31856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936000"/>
            <a:ext cx="11040000" cy="5350500"/>
          </a:xfrm>
        </p:spPr>
        <p:txBody>
          <a:bodyPr>
            <a:normAutofit/>
          </a:bodyPr>
          <a:lstStyle>
            <a:lvl1pPr marL="273050" indent="-273050">
              <a:buFont typeface="Wingdings" panose="05000000000000000000" pitchFamily="2" charset="2"/>
              <a:buChar char="n"/>
              <a:defRPr sz="1800" b="1" u="sng">
                <a:latin typeface="+mn-ea"/>
                <a:ea typeface="+mn-ea"/>
              </a:defRPr>
            </a:lvl1pPr>
            <a:lvl2pPr marL="360363" indent="-184150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2pPr>
            <a:lvl3pPr marL="536575" indent="-176213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3pPr>
            <a:lvl4pPr marL="720725" indent="-184150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4pPr>
            <a:lvl5pPr marL="896938" indent="-176213"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245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BC11A7E-29EC-0147-8188-ACEEB4EB432E}"/>
              </a:ext>
            </a:extLst>
          </p:cNvPr>
          <p:cNvCxnSpPr>
            <a:cxnSpLocks/>
          </p:cNvCxnSpPr>
          <p:nvPr userDrawn="1"/>
        </p:nvCxnSpPr>
        <p:spPr>
          <a:xfrm>
            <a:off x="576000" y="709643"/>
            <a:ext cx="11040000" cy="0"/>
          </a:xfrm>
          <a:prstGeom prst="line">
            <a:avLst/>
          </a:prstGeom>
          <a:ln w="1905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78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46E3783-8969-F042-AEFB-E6C22717C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7"/>
            <a:ext cx="35179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32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55D30C4-CAC8-2E43-8AC9-139C13DA26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8100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406628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FCF8B92-5079-A849-A76B-B3D7BB9532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79095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405615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7D795D9-D515-7943-A185-DDAE04C1D3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4"/>
            <a:ext cx="37592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24603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EDF2FC6-1D05-234D-BFDB-6C1848F0C4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6"/>
            <a:ext cx="382905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243148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88F7372-C6AD-A745-ADD5-0755C27AAF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8227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242832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B467C42-11F0-014D-BB0B-3726E4832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8100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974318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2F1E800-89BC-AC4A-B7B7-9C3612421E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77825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1013026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23C138A-4F38-464A-8513-3908AEB3E0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8227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37540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372B925-BE4F-654A-B108-6CD7680708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6"/>
            <a:ext cx="35179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00977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180000"/>
            <a:ext cx="11041200" cy="504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936000"/>
            <a:ext cx="11041200" cy="532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31B2DB08-A49E-1A4A-90DB-D7A431943820}"/>
              </a:ext>
            </a:extLst>
          </p:cNvPr>
          <p:cNvSpPr/>
          <p:nvPr userDrawn="1"/>
        </p:nvSpPr>
        <p:spPr>
          <a:xfrm>
            <a:off x="0" y="6493898"/>
            <a:ext cx="12193200" cy="360000"/>
          </a:xfrm>
          <a:prstGeom prst="rect">
            <a:avLst/>
          </a:prstGeom>
          <a:solidFill>
            <a:srgbClr val="4B4B4B"/>
          </a:solidFill>
          <a:ln w="12700">
            <a:noFill/>
            <a:miter lim="400000"/>
          </a:ln>
          <a:effectLst>
            <a:outerShdw sx="1000" sy="1000" algn="ctr" rotWithShape="0">
              <a:prstClr val="black"/>
            </a:outerShdw>
          </a:effectLst>
        </p:spPr>
        <p:txBody>
          <a:bodyPr lIns="0" tIns="0" rIns="0" bIns="0"/>
          <a:lstStyle>
            <a:lvl1pPr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108844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2176894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3265342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435378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5442237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6530682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761912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8707577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 algn="ctr" defTabSz="884127">
              <a:spcBef>
                <a:spcPts val="0"/>
              </a:spcBef>
              <a:defRPr sz="4300">
                <a:solidFill>
                  <a:srgbClr val="000000"/>
                </a:solidFill>
              </a:defRPr>
            </a:pPr>
            <a:endParaRPr sz="1747" dirty="0">
              <a:solidFill>
                <a:schemeClr val="bg1"/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D91C2AF-B556-A24B-9BE1-1CF44516E0D0}"/>
              </a:ext>
            </a:extLst>
          </p:cNvPr>
          <p:cNvCxnSpPr>
            <a:cxnSpLocks/>
          </p:cNvCxnSpPr>
          <p:nvPr userDrawn="1"/>
        </p:nvCxnSpPr>
        <p:spPr>
          <a:xfrm>
            <a:off x="0" y="6498000"/>
            <a:ext cx="12192000" cy="0"/>
          </a:xfrm>
          <a:prstGeom prst="line">
            <a:avLst/>
          </a:prstGeom>
          <a:ln w="34925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320A192-F81A-DE46-BFE4-F9AFCC5612A5}"/>
              </a:ext>
            </a:extLst>
          </p:cNvPr>
          <p:cNvCxnSpPr>
            <a:cxnSpLocks/>
          </p:cNvCxnSpPr>
          <p:nvPr userDrawn="1"/>
        </p:nvCxnSpPr>
        <p:spPr>
          <a:xfrm>
            <a:off x="0" y="0"/>
            <a:ext cx="12192000" cy="0"/>
          </a:xfrm>
          <a:prstGeom prst="line">
            <a:avLst/>
          </a:prstGeom>
          <a:ln w="2540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1919A988-D9C7-F241-86D5-3FF4C05E34A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5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812450" y="99099"/>
            <a:ext cx="355685" cy="196135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12D8B19D-B70E-40EC-821A-447BB2DB0704}" type="datetime1">
              <a:rPr lang="ja-JP" altLang="en-US" smtClean="0"/>
              <a:t>2022/3/14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36000" y="6552000"/>
            <a:ext cx="612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552000"/>
            <a:ext cx="144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533" dirty="0"/>
          </a:p>
        </p:txBody>
      </p:sp>
    </p:spTree>
    <p:extLst>
      <p:ext uri="{BB962C8B-B14F-4D97-AF65-F5344CB8AC3E}">
        <p14:creationId xmlns:p14="http://schemas.microsoft.com/office/powerpoint/2010/main" val="42861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72" r:id="rId2"/>
    <p:sldLayoutId id="214748377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756" r:id="rId1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2400" b="0" kern="1200">
          <a:solidFill>
            <a:srgbClr val="9A3B5D"/>
          </a:solidFill>
          <a:latin typeface="游ゴシック" panose="020B0400000000000000" pitchFamily="50" charset="-128"/>
          <a:ea typeface="游ゴシック" panose="020B0400000000000000" pitchFamily="50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360362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720725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ea"/>
          <a:ea typeface="+mn-ea"/>
          <a:cs typeface="+mn-cs"/>
        </a:defRPr>
      </a:lvl3pPr>
      <a:lvl4pPr marL="107315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komatsu.app.box.com/folder/138795738196" TargetMode="External"/><Relationship Id="rId2" Type="http://schemas.openxmlformats.org/officeDocument/2006/relationships/hyperlink" Target="https://ngk-redmine.japaneast.cloudapp.azure.com/redmine/projects/ngk-r1-2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kumimoji="1" lang="ja-JP" altLang="en-US" sz="4400" dirty="0"/>
              <a:t>プロジェクト計画書</a:t>
            </a:r>
          </a:p>
        </p:txBody>
      </p:sp>
      <p:sp>
        <p:nvSpPr>
          <p:cNvPr id="4" name="サブタイトル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次世代</a:t>
            </a:r>
            <a:r>
              <a:rPr kumimoji="1" lang="en-US" altLang="ja-JP" dirty="0"/>
              <a:t>KOMTRAX </a:t>
            </a:r>
            <a:r>
              <a:rPr lang="en-US" altLang="ja-JP" dirty="0"/>
              <a:t>R1.2</a:t>
            </a:r>
            <a:r>
              <a:rPr lang="ja-JP" altLang="en-US" dirty="0"/>
              <a:t> ビジネスアプリ対応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xfrm>
            <a:off x="9407999" y="3551999"/>
            <a:ext cx="2688000" cy="447345"/>
          </a:xfrm>
        </p:spPr>
        <p:txBody>
          <a:bodyPr>
            <a:noAutofit/>
          </a:bodyPr>
          <a:lstStyle/>
          <a:p>
            <a:r>
              <a:rPr lang="en-US" altLang="ja-JP" sz="1400" dirty="0"/>
              <a:t>2022/3/16</a:t>
            </a:r>
            <a:endParaRPr kumimoji="1" lang="en-US" altLang="ja-JP" sz="1400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株式会社小松製作所 御中</a:t>
            </a:r>
          </a:p>
        </p:txBody>
      </p:sp>
    </p:spTree>
    <p:extLst>
      <p:ext uri="{BB962C8B-B14F-4D97-AF65-F5344CB8AC3E}">
        <p14:creationId xmlns:p14="http://schemas.microsoft.com/office/powerpoint/2010/main" val="320188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D23556-5574-43C4-959F-C7FF4F09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もくじ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1E09663-4B7C-4AC1-BB69-1247D59B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DB1A9C-CCB0-4E30-9D13-343DBF35E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1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3A9F616-8566-4DC9-8BE3-80C6A5CD27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開発概要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成果物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体制</a:t>
            </a:r>
            <a:endParaRPr kumimoji="1" lang="en-US" altLang="ja-JP" b="0" u="none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b="0" u="none" dirty="0"/>
              <a:t>コミュニケーション管理</a:t>
            </a:r>
            <a:endParaRPr kumimoji="1" lang="ja-JP" altLang="en-US" b="0" u="none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スケジュール</a:t>
            </a:r>
          </a:p>
        </p:txBody>
      </p:sp>
    </p:spTree>
    <p:extLst>
      <p:ext uri="{BB962C8B-B14F-4D97-AF65-F5344CB8AC3E}">
        <p14:creationId xmlns:p14="http://schemas.microsoft.com/office/powerpoint/2010/main" val="288668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BA1E83-5F8D-4D64-BCF9-7547BD70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</a:t>
            </a:r>
            <a:r>
              <a:rPr kumimoji="1" lang="ja-JP" altLang="en-US" dirty="0"/>
              <a:t>開発概要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6251D0-F8A4-4F8A-A0FC-18299489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73779D-11C3-434D-83C5-D0ACD9B59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2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C18DE40-2E16-4EFB-B81F-F103FC04FC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936000"/>
            <a:ext cx="11040000" cy="140080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画面開発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車体に対しデータ項目</a:t>
            </a:r>
            <a:r>
              <a:rPr kumimoji="1" lang="en-US" altLang="ja-JP" dirty="0"/>
              <a:t>/</a:t>
            </a:r>
            <a:r>
              <a:rPr kumimoji="1" lang="ja-JP" altLang="en-US" dirty="0"/>
              <a:t>粒度</a:t>
            </a:r>
            <a:r>
              <a:rPr kumimoji="1" lang="en-US" altLang="ja-JP" dirty="0"/>
              <a:t>/</a:t>
            </a:r>
            <a:r>
              <a:rPr kumimoji="1" lang="ja-JP" altLang="en-US" dirty="0"/>
              <a:t>送信頻度を設定し、</a:t>
            </a:r>
            <a:r>
              <a:rPr kumimoji="1" lang="en-US" altLang="ja-JP" dirty="0"/>
              <a:t>API</a:t>
            </a:r>
            <a:r>
              <a:rPr kumimoji="1" lang="ja-JP" altLang="en-US" dirty="0"/>
              <a:t>経由でのデータ公開するための画面</a:t>
            </a:r>
            <a:r>
              <a:rPr kumimoji="1" lang="en-US" altLang="ja-JP" dirty="0"/>
              <a:t>/API</a:t>
            </a:r>
            <a:r>
              <a:rPr kumimoji="1" lang="ja-JP" altLang="en-US" dirty="0"/>
              <a:t>を開発いたします。</a:t>
            </a:r>
          </a:p>
          <a:p>
            <a:pPr marL="176213" lvl="1" indent="0">
              <a:buNone/>
            </a:pPr>
            <a:r>
              <a:rPr kumimoji="1" lang="en-US" altLang="ja-JP" dirty="0"/>
              <a:t>【</a:t>
            </a:r>
            <a:r>
              <a:rPr kumimoji="1" lang="ja-JP" altLang="en-US" dirty="0"/>
              <a:t>開発画面</a:t>
            </a:r>
            <a:r>
              <a:rPr kumimoji="1" lang="en-US" altLang="ja-JP" dirty="0"/>
              <a:t>】</a:t>
            </a:r>
          </a:p>
          <a:p>
            <a:endParaRPr kumimoji="1" lang="ja-JP" altLang="en-US" dirty="0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D209722E-9D4D-4D90-904B-DFB26B4EC8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2671324"/>
              </p:ext>
            </p:extLst>
          </p:nvPr>
        </p:nvGraphicFramePr>
        <p:xfrm>
          <a:off x="1071871" y="2149456"/>
          <a:ext cx="9383694" cy="3182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1847">
                  <a:extLst>
                    <a:ext uri="{9D8B030D-6E8A-4147-A177-3AD203B41FA5}">
                      <a16:colId xmlns:a16="http://schemas.microsoft.com/office/drawing/2014/main" val="3898005513"/>
                    </a:ext>
                  </a:extLst>
                </a:gridCol>
                <a:gridCol w="4691847">
                  <a:extLst>
                    <a:ext uri="{9D8B030D-6E8A-4147-A177-3AD203B41FA5}">
                      <a16:colId xmlns:a16="http://schemas.microsoft.com/office/drawing/2014/main" val="1602287674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4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画面名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>
                      <a:lvl1pPr marL="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kumimoji="1"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kumimoji="1" lang="ja-JP" altLang="en-US" sz="1400" b="0" dirty="0">
                        <a:solidFill>
                          <a:schemeClr val="bg1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47503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管理メニュー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作業履歴画面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5579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車両検索画面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カスタマイズ要求ステータス確認画面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935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カスタマイズデータ送信要求画面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カスタマイズ用途定義一括設定画面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726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カスタマイズデータ送信要求（送信番号単位）画面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車両カスタマイズ用途定義詳細画面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4978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カスタマイズデータ送信要求（期間指定）画面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カスタマイズ用途定義設定編集ダイアログ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2780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カスタマイズデータ送信番号一覧要求画面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カスタマイズ用途定義設定追加ダイアログ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98842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データ送信要求確認ダイアログ（送信番号指定）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カスタマイズ用途定義設定取得要求確認ダイアログ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0751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データ送信要求確認ダイアログ（期間指定）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カスタマイズ用途定義設定更新要求確認ダイアログ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8420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現在カスタマイズ送信要求確認ダイアログ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カスタマイズ用途定義設定即時更新要求確認ダイアログ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32548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送信番号一覧送信要求確認ダイアログ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カスタマイズ用途定義設定更新要求再送確認ダイアログ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5516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カスタマイズデータ想定通信量ダイアログ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カスタマイズ用途定義想定通信量ダイアログ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8110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権限管理画面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2620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+mn-ea"/>
                        </a:rPr>
                        <a:t>権限設定ダイアログ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7506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81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8EABAD-B503-456B-A8B0-AECF7EED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</a:t>
            </a:r>
            <a:r>
              <a:rPr kumimoji="1" lang="ja-JP" altLang="en-US" dirty="0"/>
              <a:t>成果物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726E9C-47A9-49E5-B74A-F83968A1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8E0D10-7720-49B7-AB22-28A6158C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3</a:t>
            </a:fld>
            <a:endParaRPr kumimoji="1" lang="ja-JP" altLang="en-US" sz="70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A75C5B61-9473-4417-AE38-9F3D0147E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138500"/>
              </p:ext>
            </p:extLst>
          </p:nvPr>
        </p:nvGraphicFramePr>
        <p:xfrm>
          <a:off x="576000" y="824969"/>
          <a:ext cx="11041200" cy="422560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85220">
                  <a:extLst>
                    <a:ext uri="{9D8B030D-6E8A-4147-A177-3AD203B41FA5}">
                      <a16:colId xmlns:a16="http://schemas.microsoft.com/office/drawing/2014/main" val="3058293132"/>
                    </a:ext>
                  </a:extLst>
                </a:gridCol>
                <a:gridCol w="5717398">
                  <a:extLst>
                    <a:ext uri="{9D8B030D-6E8A-4147-A177-3AD203B41FA5}">
                      <a16:colId xmlns:a16="http://schemas.microsoft.com/office/drawing/2014/main" val="3445211722"/>
                    </a:ext>
                  </a:extLst>
                </a:gridCol>
                <a:gridCol w="3738582">
                  <a:extLst>
                    <a:ext uri="{9D8B030D-6E8A-4147-A177-3AD203B41FA5}">
                      <a16:colId xmlns:a16="http://schemas.microsoft.com/office/drawing/2014/main" val="4080116996"/>
                    </a:ext>
                  </a:extLst>
                </a:gridCol>
              </a:tblGrid>
              <a:tr h="195442"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400" b="1" u="none" strike="noStrike" dirty="0">
                          <a:solidFill>
                            <a:srgbClr val="FFFFFF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工程</a:t>
                      </a:r>
                      <a:endParaRPr lang="ja-JP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4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成果物</a:t>
                      </a:r>
                      <a:endParaRPr lang="ja-JP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400" b="1" u="none" strike="noStrike" dirty="0">
                          <a:solidFill>
                            <a:srgbClr val="FFFFFF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  <a:endParaRPr lang="ja-JP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31315465"/>
                  </a:ext>
                </a:extLst>
              </a:tr>
              <a:tr h="176164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設計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基本設計書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631866579"/>
                  </a:ext>
                </a:extLst>
              </a:tr>
              <a:tr h="17616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詳細設計書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192823054"/>
                  </a:ext>
                </a:extLst>
              </a:tr>
              <a:tr h="302565">
                <a:tc vMerge="1">
                  <a:txBody>
                    <a:bodyPr/>
                    <a:lstStyle/>
                    <a:p>
                      <a:pPr algn="l" rtl="0" fontAlgn="ctr"/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台帳（マスタデータ用台帳、エラーメッセージ一覧）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149735982"/>
                  </a:ext>
                </a:extLst>
              </a:tr>
              <a:tr h="176164">
                <a:tc vMerge="1">
                  <a:txBody>
                    <a:bodyPr/>
                    <a:lstStyle/>
                    <a:p>
                      <a:pPr algn="ctr" rtl="0" fontAlgn="ctr"/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設計書レビュー報告書（コマツ様レビュー）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961943777"/>
                  </a:ext>
                </a:extLst>
              </a:tr>
              <a:tr h="17616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開発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プログラムソース一式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889244547"/>
                  </a:ext>
                </a:extLst>
              </a:tr>
              <a:tr h="1761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ソースコード管理対象外の開発物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660330581"/>
                  </a:ext>
                </a:extLst>
              </a:tr>
              <a:tr h="1761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ソースコードレビュー報告書（弊社内レビュー）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82683673"/>
                  </a:ext>
                </a:extLst>
              </a:tr>
              <a:tr h="17616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単体テスト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試験項目書 兼 結果報告書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784309171"/>
                  </a:ext>
                </a:extLst>
              </a:tr>
              <a:tr h="17616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結合テスト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テスト計画書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04007509"/>
                  </a:ext>
                </a:extLst>
              </a:tr>
              <a:tr h="17616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試験項目書 兼 結果報告書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854892383"/>
                  </a:ext>
                </a:extLst>
              </a:tr>
              <a:tr h="1761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品質報告書（機能別バグ密度、指摘件数等の品質報告書）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813670091"/>
                  </a:ext>
                </a:extLst>
              </a:tr>
              <a:tr h="17616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その他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課題管理表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782628928"/>
                  </a:ext>
                </a:extLst>
              </a:tr>
              <a:tr h="302565"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ja-JP" sz="9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ja-JP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Web</a:t>
                      </a:r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アプリケーションのセキュリティ実装チェックリスト</a:t>
                      </a:r>
                      <a:endParaRPr lang="en-US" altLang="ja-JP" sz="1400" b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次世代</a:t>
                      </a:r>
                      <a:r>
                        <a:rPr lang="en-US" altLang="ja-JP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KOMTARX</a:t>
                      </a:r>
                      <a:r>
                        <a:rPr lang="ja-JP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開発チェックリスト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709824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064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51B6D1-7B02-40CC-A430-054AF56D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3.</a:t>
            </a:r>
            <a:r>
              <a:rPr kumimoji="1" lang="ja-JP" altLang="en-US" dirty="0"/>
              <a:t>体制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7558BF-28CF-47F4-B80E-238F8DFBA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746C24-5180-4EA0-AF3C-11910845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4</a:t>
            </a:fld>
            <a:endParaRPr kumimoji="1" lang="ja-JP" altLang="en-US" sz="700"/>
          </a:p>
        </p:txBody>
      </p:sp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72294395-88D3-4BAF-B987-2096423F8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920759"/>
              </p:ext>
            </p:extLst>
          </p:nvPr>
        </p:nvGraphicFramePr>
        <p:xfrm>
          <a:off x="576000" y="828000"/>
          <a:ext cx="11041201" cy="54007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49030">
                  <a:extLst>
                    <a:ext uri="{9D8B030D-6E8A-4147-A177-3AD203B41FA5}">
                      <a16:colId xmlns:a16="http://schemas.microsoft.com/office/drawing/2014/main" val="3445211722"/>
                    </a:ext>
                  </a:extLst>
                </a:gridCol>
                <a:gridCol w="5692171">
                  <a:extLst>
                    <a:ext uri="{9D8B030D-6E8A-4147-A177-3AD203B41FA5}">
                      <a16:colId xmlns:a16="http://schemas.microsoft.com/office/drawing/2014/main" val="4080116996"/>
                    </a:ext>
                  </a:extLst>
                </a:gridCol>
              </a:tblGrid>
              <a:tr h="105452"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小松製作所様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システムエグゼ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31315465"/>
                  </a:ext>
                </a:extLst>
              </a:tr>
              <a:tr h="5084897"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631866579"/>
                  </a:ext>
                </a:extLst>
              </a:tr>
            </a:tbl>
          </a:graphicData>
        </a:graphic>
      </p:graphicFrame>
      <p:sp>
        <p:nvSpPr>
          <p:cNvPr id="30" name="角丸四角形 11">
            <a:extLst>
              <a:ext uri="{FF2B5EF4-FFF2-40B4-BE49-F238E27FC236}">
                <a16:creationId xmlns:a16="http://schemas.microsoft.com/office/drawing/2014/main" id="{62C72B4F-FCCB-4FC8-AA46-0851349712BC}"/>
              </a:ext>
            </a:extLst>
          </p:cNvPr>
          <p:cNvSpPr/>
          <p:nvPr/>
        </p:nvSpPr>
        <p:spPr bwMode="auto">
          <a:xfrm>
            <a:off x="6365029" y="1847467"/>
            <a:ext cx="1226186" cy="900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【</a:t>
            </a: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担当営業</a:t>
            </a: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kern="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森拓也</a:t>
            </a:r>
            <a:endParaRPr kumimoji="1" lang="en-US" altLang="ja-JP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eiryo UI" pitchFamily="50" charset="-128"/>
            </a:endParaRPr>
          </a:p>
        </p:txBody>
      </p:sp>
      <p:sp>
        <p:nvSpPr>
          <p:cNvPr id="31" name="角丸四角形 31">
            <a:extLst>
              <a:ext uri="{FF2B5EF4-FFF2-40B4-BE49-F238E27FC236}">
                <a16:creationId xmlns:a16="http://schemas.microsoft.com/office/drawing/2014/main" id="{4FC1BA8B-1CB9-4EA9-B7E7-685619F66290}"/>
              </a:ext>
            </a:extLst>
          </p:cNvPr>
          <p:cNvSpPr/>
          <p:nvPr/>
        </p:nvSpPr>
        <p:spPr bwMode="auto">
          <a:xfrm>
            <a:off x="8491731" y="1542182"/>
            <a:ext cx="2160000" cy="900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【</a:t>
            </a: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責任者</a:t>
            </a: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新船幸広</a:t>
            </a:r>
            <a:endParaRPr kumimoji="1" lang="en-US" altLang="ja-JP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eiryo UI" pitchFamily="50" charset="-128"/>
            </a:endParaRPr>
          </a:p>
        </p:txBody>
      </p:sp>
      <p:cxnSp>
        <p:nvCxnSpPr>
          <p:cNvPr id="32" name="AutoShape 15">
            <a:extLst>
              <a:ext uri="{FF2B5EF4-FFF2-40B4-BE49-F238E27FC236}">
                <a16:creationId xmlns:a16="http://schemas.microsoft.com/office/drawing/2014/main" id="{9EDF03FD-98BA-4DA4-B063-EE8FB108D0A0}"/>
              </a:ext>
            </a:extLst>
          </p:cNvPr>
          <p:cNvCxnSpPr>
            <a:cxnSpLocks noChangeShapeType="1"/>
            <a:stCxn id="31" idx="2"/>
            <a:endCxn id="35" idx="0"/>
          </p:cNvCxnSpPr>
          <p:nvPr/>
        </p:nvCxnSpPr>
        <p:spPr bwMode="auto">
          <a:xfrm>
            <a:off x="9571731" y="2442182"/>
            <a:ext cx="0" cy="2618333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角丸四角形 19">
            <a:extLst>
              <a:ext uri="{FF2B5EF4-FFF2-40B4-BE49-F238E27FC236}">
                <a16:creationId xmlns:a16="http://schemas.microsoft.com/office/drawing/2014/main" id="{2F4D1022-76CF-40A8-A8CA-F2AD904F5A20}"/>
              </a:ext>
            </a:extLst>
          </p:cNvPr>
          <p:cNvSpPr/>
          <p:nvPr/>
        </p:nvSpPr>
        <p:spPr bwMode="auto">
          <a:xfrm>
            <a:off x="8491731" y="2714960"/>
            <a:ext cx="2160000" cy="900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【PM】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本吉史明</a:t>
            </a:r>
            <a:endParaRPr kumimoji="1" lang="en-US" altLang="ja-JP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eiryo UI" pitchFamily="50" charset="-128"/>
            </a:endParaRPr>
          </a:p>
        </p:txBody>
      </p:sp>
      <p:sp>
        <p:nvSpPr>
          <p:cNvPr id="34" name="角丸四角形 19">
            <a:extLst>
              <a:ext uri="{FF2B5EF4-FFF2-40B4-BE49-F238E27FC236}">
                <a16:creationId xmlns:a16="http://schemas.microsoft.com/office/drawing/2014/main" id="{3C274FD7-141F-42B3-A184-4265ECA29BE8}"/>
              </a:ext>
            </a:extLst>
          </p:cNvPr>
          <p:cNvSpPr/>
          <p:nvPr/>
        </p:nvSpPr>
        <p:spPr bwMode="auto">
          <a:xfrm>
            <a:off x="8491731" y="3887738"/>
            <a:ext cx="2160000" cy="900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【PL】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kern="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松下智一</a:t>
            </a:r>
            <a:endParaRPr kumimoji="1" lang="en-US" altLang="ja-JP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eiryo UI" pitchFamily="50" charset="-128"/>
            </a:endParaRPr>
          </a:p>
        </p:txBody>
      </p:sp>
      <p:sp>
        <p:nvSpPr>
          <p:cNvPr id="35" name="角丸四角形 19">
            <a:extLst>
              <a:ext uri="{FF2B5EF4-FFF2-40B4-BE49-F238E27FC236}">
                <a16:creationId xmlns:a16="http://schemas.microsoft.com/office/drawing/2014/main" id="{FB857642-C3BA-4720-8851-FB75654C526C}"/>
              </a:ext>
            </a:extLst>
          </p:cNvPr>
          <p:cNvSpPr/>
          <p:nvPr/>
        </p:nvSpPr>
        <p:spPr bwMode="auto">
          <a:xfrm>
            <a:off x="7951731" y="5060515"/>
            <a:ext cx="3240000" cy="900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【</a:t>
            </a:r>
            <a:r>
              <a:rPr kumimoji="1" lang="ja-JP" altLang="en-US" sz="1600" kern="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担当</a:t>
            </a: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kern="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澁谷、小原、見並、天川</a:t>
            </a:r>
            <a:endParaRPr kumimoji="1" lang="en-US" altLang="ja-JP" sz="1600" kern="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Meiryo UI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他</a:t>
            </a:r>
            <a:r>
              <a:rPr kumimoji="1" lang="en-US" altLang="ja-JP" sz="1600" kern="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7</a:t>
            </a: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名</a:t>
            </a:r>
            <a:endParaRPr kumimoji="1" lang="en-US" altLang="ja-JP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eiryo UI" pitchFamily="50" charset="-128"/>
            </a:endParaRPr>
          </a:p>
        </p:txBody>
      </p:sp>
      <p:sp>
        <p:nvSpPr>
          <p:cNvPr id="36" name="角丸四角形 31">
            <a:extLst>
              <a:ext uri="{FF2B5EF4-FFF2-40B4-BE49-F238E27FC236}">
                <a16:creationId xmlns:a16="http://schemas.microsoft.com/office/drawing/2014/main" id="{2F538746-C8A9-4790-9FFF-3FE6C6BCBDEB}"/>
              </a:ext>
            </a:extLst>
          </p:cNvPr>
          <p:cNvSpPr/>
          <p:nvPr/>
        </p:nvSpPr>
        <p:spPr bwMode="auto">
          <a:xfrm>
            <a:off x="1929170" y="1540965"/>
            <a:ext cx="2160000" cy="900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【</a:t>
            </a: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責任者</a:t>
            </a: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kern="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堀様</a:t>
            </a:r>
            <a:endParaRPr kumimoji="1" lang="en-US" altLang="ja-JP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eiryo UI" pitchFamily="50" charset="-128"/>
            </a:endParaRPr>
          </a:p>
        </p:txBody>
      </p:sp>
      <p:cxnSp>
        <p:nvCxnSpPr>
          <p:cNvPr id="37" name="AutoShape 15">
            <a:extLst>
              <a:ext uri="{FF2B5EF4-FFF2-40B4-BE49-F238E27FC236}">
                <a16:creationId xmlns:a16="http://schemas.microsoft.com/office/drawing/2014/main" id="{4DF58CA9-8648-464C-9AB8-7271165B0E00}"/>
              </a:ext>
            </a:extLst>
          </p:cNvPr>
          <p:cNvCxnSpPr>
            <a:cxnSpLocks noChangeShapeType="1"/>
            <a:stCxn id="36" idx="2"/>
            <a:endCxn id="39" idx="0"/>
          </p:cNvCxnSpPr>
          <p:nvPr/>
        </p:nvCxnSpPr>
        <p:spPr bwMode="auto">
          <a:xfrm>
            <a:off x="3009170" y="2440965"/>
            <a:ext cx="1176" cy="1446773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角丸四角形 19">
            <a:extLst>
              <a:ext uri="{FF2B5EF4-FFF2-40B4-BE49-F238E27FC236}">
                <a16:creationId xmlns:a16="http://schemas.microsoft.com/office/drawing/2014/main" id="{B2885553-191A-4889-9F7B-B17E0024AA39}"/>
              </a:ext>
            </a:extLst>
          </p:cNvPr>
          <p:cNvSpPr/>
          <p:nvPr/>
        </p:nvSpPr>
        <p:spPr bwMode="auto">
          <a:xfrm>
            <a:off x="1930346" y="2714960"/>
            <a:ext cx="2160000" cy="900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【PM】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日永様</a:t>
            </a:r>
            <a:endParaRPr kumimoji="1" lang="en-US" altLang="ja-JP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eiryo UI" pitchFamily="50" charset="-128"/>
            </a:endParaRPr>
          </a:p>
        </p:txBody>
      </p:sp>
      <p:sp>
        <p:nvSpPr>
          <p:cNvPr id="39" name="角丸四角形 19">
            <a:extLst>
              <a:ext uri="{FF2B5EF4-FFF2-40B4-BE49-F238E27FC236}">
                <a16:creationId xmlns:a16="http://schemas.microsoft.com/office/drawing/2014/main" id="{9305A641-EA98-49D1-8511-41A1147DB0C7}"/>
              </a:ext>
            </a:extLst>
          </p:cNvPr>
          <p:cNvSpPr/>
          <p:nvPr/>
        </p:nvSpPr>
        <p:spPr bwMode="auto">
          <a:xfrm>
            <a:off x="1930346" y="3887738"/>
            <a:ext cx="2160000" cy="900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【</a:t>
            </a:r>
            <a:r>
              <a:rPr kumimoji="1" lang="en-US" altLang="ja-JP" sz="1600" kern="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PL</a:t>
            </a: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kern="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 UI" pitchFamily="50" charset="-128"/>
              </a:rPr>
              <a:t>玉岡様、塚原様</a:t>
            </a:r>
            <a:endParaRPr kumimoji="1" lang="en-US" altLang="ja-JP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3219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997451-CDCF-45A8-B611-3072EB757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4.</a:t>
            </a:r>
            <a:r>
              <a:rPr kumimoji="1" lang="ja-JP" altLang="en-US" dirty="0"/>
              <a:t>コミュニケーション管理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FBE26C8-04DB-44A1-AEE7-8DB18E62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20010C-5D73-493E-B3A3-E3A12D719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5</a:t>
            </a:fld>
            <a:endParaRPr kumimoji="1" lang="ja-JP" altLang="en-US" sz="700"/>
          </a:p>
        </p:txBody>
      </p:sp>
      <p:graphicFrame>
        <p:nvGraphicFramePr>
          <p:cNvPr id="6" name="表 7">
            <a:extLst>
              <a:ext uri="{FF2B5EF4-FFF2-40B4-BE49-F238E27FC236}">
                <a16:creationId xmlns:a16="http://schemas.microsoft.com/office/drawing/2014/main" id="{F4696DB0-623C-455C-88FE-DEFED39E9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923535"/>
              </p:ext>
            </p:extLst>
          </p:nvPr>
        </p:nvGraphicFramePr>
        <p:xfrm>
          <a:off x="576000" y="828000"/>
          <a:ext cx="9842618" cy="192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709">
                  <a:extLst>
                    <a:ext uri="{9D8B030D-6E8A-4147-A177-3AD203B41FA5}">
                      <a16:colId xmlns:a16="http://schemas.microsoft.com/office/drawing/2014/main" val="89692981"/>
                    </a:ext>
                  </a:extLst>
                </a:gridCol>
                <a:gridCol w="1572316">
                  <a:extLst>
                    <a:ext uri="{9D8B030D-6E8A-4147-A177-3AD203B41FA5}">
                      <a16:colId xmlns:a16="http://schemas.microsoft.com/office/drawing/2014/main" val="3146906659"/>
                    </a:ext>
                  </a:extLst>
                </a:gridCol>
                <a:gridCol w="1572316">
                  <a:extLst>
                    <a:ext uri="{9D8B030D-6E8A-4147-A177-3AD203B41FA5}">
                      <a16:colId xmlns:a16="http://schemas.microsoft.com/office/drawing/2014/main" val="1613330323"/>
                    </a:ext>
                  </a:extLst>
                </a:gridCol>
                <a:gridCol w="3533259">
                  <a:extLst>
                    <a:ext uri="{9D8B030D-6E8A-4147-A177-3AD203B41FA5}">
                      <a16:colId xmlns:a16="http://schemas.microsoft.com/office/drawing/2014/main" val="2506532199"/>
                    </a:ext>
                  </a:extLst>
                </a:gridCol>
                <a:gridCol w="1348509">
                  <a:extLst>
                    <a:ext uri="{9D8B030D-6E8A-4147-A177-3AD203B41FA5}">
                      <a16:colId xmlns:a16="http://schemas.microsoft.com/office/drawing/2014/main" val="768952879"/>
                    </a:ext>
                  </a:extLst>
                </a:gridCol>
                <a:gridCol w="1348509">
                  <a:extLst>
                    <a:ext uri="{9D8B030D-6E8A-4147-A177-3AD203B41FA5}">
                      <a16:colId xmlns:a16="http://schemas.microsoft.com/office/drawing/2014/main" val="1148694421"/>
                    </a:ext>
                  </a:extLst>
                </a:gridCol>
              </a:tblGrid>
              <a:tr h="13959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No.</a:t>
                      </a:r>
                      <a:endParaRPr kumimoji="1" lang="ja-JP" altLang="en-US" sz="16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会議体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時期・回数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概要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弊社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貴社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79244014"/>
                  </a:ext>
                </a:extLst>
              </a:tr>
              <a:tr h="8035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進捗定例会議</a:t>
                      </a:r>
                      <a:endParaRPr lang="en-US" sz="1600" b="0" i="0" u="none" strike="noStrike" dirty="0"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週次</a:t>
                      </a:r>
                      <a:endParaRPr lang="en-US" altLang="ja-JP" sz="1600" u="none" strike="noStrike" dirty="0"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algn="l" fontAlgn="t"/>
                      <a:r>
                        <a:rPr lang="ja-JP" alt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（火曜</a:t>
                      </a:r>
                      <a:r>
                        <a:rPr lang="en-US" altLang="ja-JP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11:30</a:t>
                      </a:r>
                      <a:r>
                        <a:rPr lang="ja-JP" alt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）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ja-JP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進捗状況・作業予定の確認</a:t>
                      </a: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ja-JP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課題、およびリスクの把握</a:t>
                      </a:r>
                      <a:r>
                        <a:rPr kumimoji="1" lang="en-US" altLang="ja-JP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/</a:t>
                      </a:r>
                      <a:r>
                        <a:rPr kumimoji="1" lang="ja-JP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対応</a:t>
                      </a: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ja-JP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連絡事項の周知</a:t>
                      </a:r>
                      <a:endParaRPr kumimoji="1" lang="ja-JP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lang="zh-TW" altLang="en-US" sz="1600" b="0" i="0" u="none" strike="noStrike" dirty="0"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lang="zh-TW" altLang="en-US" sz="1600" b="0" i="0" u="none" strike="noStrike" dirty="0"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0186383"/>
                  </a:ext>
                </a:extLst>
              </a:tr>
              <a:tr h="8035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</a:t>
                      </a:r>
                      <a:endParaRPr lang="en-US" sz="1600" b="0" i="0" u="none" strike="noStrike" dirty="0"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内部進捗会議</a:t>
                      </a:r>
                      <a:endParaRPr lang="en-US" sz="1600" b="0" i="0" u="none" strike="noStrike" dirty="0"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日次</a:t>
                      </a:r>
                      <a:endParaRPr lang="ja-JP" altLang="en-US" sz="1600" b="0" i="0" u="none" strike="noStrike" dirty="0"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ja-JP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進捗状況・作業予定の確認</a:t>
                      </a: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ja-JP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課題、およびリスクの把握</a:t>
                      </a:r>
                      <a:r>
                        <a:rPr kumimoji="1" lang="en-US" altLang="ja-JP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/</a:t>
                      </a:r>
                      <a:r>
                        <a:rPr kumimoji="1" lang="ja-JP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対応</a:t>
                      </a: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lang="ja-JP" altLang="en-US" sz="1600" b="0" i="0" u="none" strike="noStrike" dirty="0"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－</a:t>
                      </a:r>
                      <a:endParaRPr lang="ja-JP" altLang="en-US" sz="1600" b="0" i="0" u="none" strike="noStrike" dirty="0"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560753026"/>
                  </a:ext>
                </a:extLst>
              </a:tr>
            </a:tbl>
          </a:graphicData>
        </a:graphic>
      </p:graphicFrame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9DC8802F-27AC-4C44-BCE2-EF686FD9D0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2894880"/>
            <a:ext cx="11040000" cy="3391620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 dirty="0"/>
              <a:t>連絡手段</a:t>
            </a:r>
            <a:endParaRPr kumimoji="1" lang="en-US" altLang="ja-JP" dirty="0"/>
          </a:p>
          <a:p>
            <a:pPr lvl="1"/>
            <a:r>
              <a:rPr lang="ja-JP" altLang="en-US" dirty="0"/>
              <a:t>コマツ様⇔エグゼ：</a:t>
            </a:r>
            <a:r>
              <a:rPr lang="en-US" altLang="ja-JP" dirty="0" err="1"/>
              <a:t>Chatwork</a:t>
            </a:r>
            <a:r>
              <a:rPr lang="ja-JP" altLang="en-US" dirty="0"/>
              <a:t> コマツ</a:t>
            </a:r>
            <a:r>
              <a:rPr lang="en-US" altLang="ja-JP" dirty="0"/>
              <a:t>-</a:t>
            </a:r>
            <a:r>
              <a:rPr lang="ja-JP" altLang="en-US" dirty="0"/>
              <a:t>エグゼ次世代</a:t>
            </a:r>
            <a:endParaRPr lang="en-US" altLang="ja-JP" dirty="0"/>
          </a:p>
          <a:p>
            <a:pPr lvl="1"/>
            <a:r>
              <a:rPr kumimoji="1" lang="ja-JP" altLang="en-US" dirty="0"/>
              <a:t>コマツ様⇔ベンダ共通：</a:t>
            </a:r>
            <a:r>
              <a:rPr kumimoji="1" lang="en-US" altLang="ja-JP" dirty="0" err="1"/>
              <a:t>Chatwork</a:t>
            </a:r>
            <a:r>
              <a:rPr kumimoji="1" lang="ja-JP" altLang="en-US" dirty="0"/>
              <a:t>コマツ</a:t>
            </a:r>
            <a:r>
              <a:rPr kumimoji="1" lang="en-US" altLang="ja-JP" dirty="0"/>
              <a:t>-NTCS-</a:t>
            </a:r>
            <a:r>
              <a:rPr kumimoji="1" lang="ja-JP" altLang="en-US" dirty="0"/>
              <a:t>エグゼ</a:t>
            </a:r>
            <a:r>
              <a:rPr kumimoji="1" lang="en-US" altLang="ja-JP" dirty="0"/>
              <a:t>-GS</a:t>
            </a:r>
            <a:r>
              <a:rPr kumimoji="1" lang="ja-JP" altLang="en-US" dirty="0"/>
              <a:t>ビジネスアプリ対応</a:t>
            </a:r>
            <a:r>
              <a:rPr kumimoji="1" lang="en-US" altLang="ja-JP" dirty="0"/>
              <a:t>R1.2</a:t>
            </a:r>
            <a:r>
              <a:rPr kumimoji="1" lang="ja-JP" altLang="en-US" dirty="0"/>
              <a:t>開発</a:t>
            </a:r>
            <a:endParaRPr kumimoji="1" lang="en-US" altLang="ja-JP" dirty="0"/>
          </a:p>
          <a:p>
            <a:r>
              <a:rPr lang="ja-JP" altLang="en-US" dirty="0"/>
              <a:t>課題管理方法</a:t>
            </a:r>
            <a:endParaRPr lang="en-US" altLang="ja-JP" dirty="0"/>
          </a:p>
          <a:p>
            <a:pPr lvl="1"/>
            <a:r>
              <a:rPr lang="en-US" altLang="ja-JP" dirty="0"/>
              <a:t>Box</a:t>
            </a:r>
            <a:r>
              <a:rPr lang="ja-JP" altLang="en-US" dirty="0"/>
              <a:t>格納課題管理表、または</a:t>
            </a:r>
            <a:r>
              <a:rPr lang="en-US" altLang="ja-JP" dirty="0"/>
              <a:t>Redmine</a:t>
            </a:r>
            <a:r>
              <a:rPr lang="ja-JP" altLang="en-US" dirty="0"/>
              <a:t>チケット</a:t>
            </a:r>
            <a:endParaRPr lang="en-US" altLang="ja-JP" dirty="0"/>
          </a:p>
          <a:p>
            <a:pPr lvl="1"/>
            <a:r>
              <a:rPr lang="ja-JP" altLang="en-US" dirty="0"/>
              <a:t>次世代</a:t>
            </a:r>
            <a:r>
              <a:rPr lang="en-US" altLang="ja-JP" dirty="0"/>
              <a:t>KOMTRAX R1.2</a:t>
            </a:r>
            <a:r>
              <a:rPr lang="ja-JP" altLang="en-US" dirty="0"/>
              <a:t>開発</a:t>
            </a:r>
            <a:r>
              <a:rPr lang="ja-JP" altLang="en-US" sz="1200" dirty="0"/>
              <a:t>（</a:t>
            </a:r>
            <a:r>
              <a:rPr lang="en-US" altLang="ja-JP" sz="1200" dirty="0">
                <a:hlinkClick r:id="rId2"/>
              </a:rPr>
              <a:t>https://ngk-redmine.japaneast.cloudapp.azure.com/redmine/projects/ngk-r1-2</a:t>
            </a:r>
            <a:r>
              <a:rPr lang="ja-JP" altLang="en-US" sz="1200" dirty="0"/>
              <a:t>）</a:t>
            </a:r>
            <a:endParaRPr lang="ja-JP" altLang="en-US" dirty="0"/>
          </a:p>
          <a:p>
            <a:r>
              <a:rPr lang="en-US" altLang="ja-JP" dirty="0"/>
              <a:t>Box</a:t>
            </a:r>
          </a:p>
          <a:p>
            <a:pPr lvl="1"/>
            <a:r>
              <a:rPr kumimoji="1" lang="ja-JP" altLang="en-US" dirty="0"/>
              <a:t>課題管理表、議事録 等</a:t>
            </a:r>
            <a:endParaRPr lang="en-US" altLang="ja-JP" dirty="0"/>
          </a:p>
          <a:p>
            <a:pPr lvl="1"/>
            <a:r>
              <a:rPr kumimoji="1" lang="ja-JP" altLang="en-US" dirty="0"/>
              <a:t>格納先</a:t>
            </a:r>
            <a:r>
              <a:rPr kumimoji="1" lang="en-US" altLang="ja-JP" sz="1200" dirty="0"/>
              <a:t>(</a:t>
            </a:r>
            <a:r>
              <a:rPr kumimoji="1" lang="en-US" altLang="ja-JP" sz="1200" dirty="0">
                <a:hlinkClick r:id="rId3"/>
              </a:rPr>
              <a:t>https://globalkomatsu.app.box.com/folder/138795738196</a:t>
            </a:r>
            <a:r>
              <a:rPr kumimoji="1" lang="en-US" altLang="ja-JP" sz="1200" dirty="0"/>
              <a:t>)</a:t>
            </a:r>
          </a:p>
          <a:p>
            <a:r>
              <a:rPr kumimoji="1" lang="en-US" altLang="ja-JP" dirty="0"/>
              <a:t>DevOps</a:t>
            </a:r>
            <a:r>
              <a:rPr kumimoji="1" lang="ja-JP" altLang="en-US" dirty="0"/>
              <a:t>リポジトリ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新規作成（コマツ様）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5785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03BA63-7E3E-4257-99B2-E3BFD24C7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</a:t>
            </a:r>
            <a:r>
              <a:rPr kumimoji="1" lang="ja-JP" altLang="en-US" dirty="0"/>
              <a:t>スケジュール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5ADC47A-53A9-4514-A2AE-C0DE69D0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30EC3E-5DD1-4D19-BEE5-22414507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6</a:t>
            </a:fld>
            <a:endParaRPr kumimoji="1" lang="ja-JP" altLang="en-US" sz="70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BEF12376-684F-49A8-A39F-0DB3D0A01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980751"/>
              </p:ext>
            </p:extLst>
          </p:nvPr>
        </p:nvGraphicFramePr>
        <p:xfrm>
          <a:off x="574799" y="827070"/>
          <a:ext cx="11042406" cy="48084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8828">
                  <a:extLst>
                    <a:ext uri="{9D8B030D-6E8A-4147-A177-3AD203B41FA5}">
                      <a16:colId xmlns:a16="http://schemas.microsoft.com/office/drawing/2014/main" val="299762358"/>
                    </a:ext>
                  </a:extLst>
                </a:gridCol>
                <a:gridCol w="2941064">
                  <a:extLst>
                    <a:ext uri="{9D8B030D-6E8A-4147-A177-3AD203B41FA5}">
                      <a16:colId xmlns:a16="http://schemas.microsoft.com/office/drawing/2014/main" val="1955541415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22302293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92526854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70705198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798537124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41725418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471669787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898357741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927034935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2166958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01228493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408002077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24470778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396898731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16274527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16337719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2767512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3547470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148893593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00294305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9788176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440636033"/>
                    </a:ext>
                  </a:extLst>
                </a:gridCol>
              </a:tblGrid>
              <a:tr h="291981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No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項目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2022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年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2022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年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741277"/>
                  </a:ext>
                </a:extLst>
              </a:tr>
              <a:tr h="291981">
                <a:tc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</a:t>
                      </a:r>
                      <a:r>
                        <a:rPr lang="ja-JP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</a:t>
                      </a:r>
                      <a:r>
                        <a:rPr lang="ja-JP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426870"/>
                  </a:ext>
                </a:extLst>
              </a:tr>
              <a:tr h="291981">
                <a:tc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23593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b"/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マイルストーン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73167707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基本設計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145181180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詳細設計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940839836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製造・単体テスト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03168459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結合テスト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94387319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E7D83F7-360E-441E-A8EC-3229FFA94A4C}"/>
              </a:ext>
            </a:extLst>
          </p:cNvPr>
          <p:cNvSpPr/>
          <p:nvPr/>
        </p:nvSpPr>
        <p:spPr>
          <a:xfrm>
            <a:off x="4660488" y="2769803"/>
            <a:ext cx="955221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2FD3BCA-727D-49D2-92E5-926BF0DB4C4C}"/>
              </a:ext>
            </a:extLst>
          </p:cNvPr>
          <p:cNvGrpSpPr/>
          <p:nvPr/>
        </p:nvGrpSpPr>
        <p:grpSpPr>
          <a:xfrm>
            <a:off x="4365769" y="1946771"/>
            <a:ext cx="955221" cy="471612"/>
            <a:chOff x="5215514" y="1440892"/>
            <a:chExt cx="955221" cy="471612"/>
          </a:xfrm>
        </p:grpSpPr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B458E879-7AD0-40C2-81D9-30EF505C8797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5AA12250-934F-45A2-A9E7-E6F8693D3842}"/>
                </a:ext>
              </a:extLst>
            </p:cNvPr>
            <p:cNvSpPr txBox="1"/>
            <p:nvPr/>
          </p:nvSpPr>
          <p:spPr>
            <a:xfrm>
              <a:off x="5215514" y="1440892"/>
              <a:ext cx="9552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キックオフ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5ADD6AF-348A-427B-BD05-099F678FAD90}"/>
              </a:ext>
            </a:extLst>
          </p:cNvPr>
          <p:cNvGrpSpPr/>
          <p:nvPr/>
        </p:nvGrpSpPr>
        <p:grpSpPr>
          <a:xfrm>
            <a:off x="7997341" y="1946771"/>
            <a:ext cx="584921" cy="471612"/>
            <a:chOff x="5215514" y="1440892"/>
            <a:chExt cx="584921" cy="471612"/>
          </a:xfrm>
        </p:grpSpPr>
        <p:sp>
          <p:nvSpPr>
            <p:cNvPr id="11" name="二等辺三角形 10">
              <a:extLst>
                <a:ext uri="{FF2B5EF4-FFF2-40B4-BE49-F238E27FC236}">
                  <a16:creationId xmlns:a16="http://schemas.microsoft.com/office/drawing/2014/main" id="{5785C518-9DE7-4261-8069-C9A7C2928B32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D9A45E2-CD3D-4030-866E-251A84ACE3DA}"/>
                </a:ext>
              </a:extLst>
            </p:cNvPr>
            <p:cNvSpPr txBox="1"/>
            <p:nvPr/>
          </p:nvSpPr>
          <p:spPr>
            <a:xfrm>
              <a:off x="5215514" y="1440892"/>
              <a:ext cx="5849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納品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3DD9128B-3211-44C6-BD72-6D561F45CF82}"/>
              </a:ext>
            </a:extLst>
          </p:cNvPr>
          <p:cNvGrpSpPr/>
          <p:nvPr/>
        </p:nvGrpSpPr>
        <p:grpSpPr>
          <a:xfrm>
            <a:off x="8876472" y="1946771"/>
            <a:ext cx="584921" cy="471612"/>
            <a:chOff x="5215514" y="1440892"/>
            <a:chExt cx="584921" cy="471612"/>
          </a:xfrm>
        </p:grpSpPr>
        <p:sp>
          <p:nvSpPr>
            <p:cNvPr id="14" name="二等辺三角形 13">
              <a:extLst>
                <a:ext uri="{FF2B5EF4-FFF2-40B4-BE49-F238E27FC236}">
                  <a16:creationId xmlns:a16="http://schemas.microsoft.com/office/drawing/2014/main" id="{AC8B4694-ABA7-45BA-93C0-D8B3096A49C5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0CF747E-2041-4E4B-BAD4-2BA2C6B43BC8}"/>
                </a:ext>
              </a:extLst>
            </p:cNvPr>
            <p:cNvSpPr txBox="1"/>
            <p:nvPr/>
          </p:nvSpPr>
          <p:spPr>
            <a:xfrm>
              <a:off x="5215514" y="1440892"/>
              <a:ext cx="5849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検収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CB8E5BB-85E9-4897-80A3-2AEF97FA3A74}"/>
              </a:ext>
            </a:extLst>
          </p:cNvPr>
          <p:cNvSpPr/>
          <p:nvPr/>
        </p:nvSpPr>
        <p:spPr>
          <a:xfrm>
            <a:off x="5034561" y="3548198"/>
            <a:ext cx="1061439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24FFBC3-1EF2-432A-82F4-061275410B78}"/>
              </a:ext>
            </a:extLst>
          </p:cNvPr>
          <p:cNvSpPr/>
          <p:nvPr/>
        </p:nvSpPr>
        <p:spPr>
          <a:xfrm>
            <a:off x="5390161" y="4300961"/>
            <a:ext cx="1814203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CD35A50-8930-4A39-B85F-FEB767DCB621}"/>
              </a:ext>
            </a:extLst>
          </p:cNvPr>
          <p:cNvSpPr/>
          <p:nvPr/>
        </p:nvSpPr>
        <p:spPr>
          <a:xfrm>
            <a:off x="6816436" y="4994342"/>
            <a:ext cx="786771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6842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323232"/>
      </a:dk1>
      <a:lt1>
        <a:srgbClr val="FFFFFF"/>
      </a:lt1>
      <a:dk2>
        <a:srgbClr val="4B4B4B"/>
      </a:dk2>
      <a:lt2>
        <a:srgbClr val="A0A095"/>
      </a:lt2>
      <a:accent1>
        <a:srgbClr val="9A3B5D"/>
      </a:accent1>
      <a:accent2>
        <a:srgbClr val="86CEFA"/>
      </a:accent2>
      <a:accent3>
        <a:srgbClr val="3D9599"/>
      </a:accent3>
      <a:accent4>
        <a:srgbClr val="CC6600"/>
      </a:accent4>
      <a:accent5>
        <a:srgbClr val="6666FF"/>
      </a:accent5>
      <a:accent6>
        <a:srgbClr val="FFFFFF"/>
      </a:accent6>
      <a:hlink>
        <a:srgbClr val="0070C0"/>
      </a:hlink>
      <a:folHlink>
        <a:srgbClr val="0070C0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kumimoji="1" sz="1600" dirty="0" smtClean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15795</TotalTime>
  <Words>653</Words>
  <Application>Microsoft Office PowerPoint</Application>
  <PresentationFormat>ワイド画面</PresentationFormat>
  <Paragraphs>173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5" baseType="lpstr">
      <vt:lpstr>Meiryo UI</vt:lpstr>
      <vt:lpstr>Yu Gothic</vt:lpstr>
      <vt:lpstr>Yu Gothic</vt:lpstr>
      <vt:lpstr>游明朝</vt:lpstr>
      <vt:lpstr>Arial</vt:lpstr>
      <vt:lpstr>Calibri</vt:lpstr>
      <vt:lpstr>Wingdings</vt:lpstr>
      <vt:lpstr>Office テーマ</vt:lpstr>
      <vt:lpstr>プロジェクト計画書</vt:lpstr>
      <vt:lpstr>もくじ</vt:lpstr>
      <vt:lpstr>1.開発概要</vt:lpstr>
      <vt:lpstr>2.成果物</vt:lpstr>
      <vt:lpstr>3.体制</vt:lpstr>
      <vt:lpstr>4.コミュニケーション管理</vt:lpstr>
      <vt:lpstr>5.スケジュール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田村 晃</dc:creator>
  <cp:lastModifiedBy>本吉史明</cp:lastModifiedBy>
  <cp:revision>489</cp:revision>
  <dcterms:created xsi:type="dcterms:W3CDTF">2021-02-05T06:36:21Z</dcterms:created>
  <dcterms:modified xsi:type="dcterms:W3CDTF">2022-03-14T03:58:22Z</dcterms:modified>
</cp:coreProperties>
</file>