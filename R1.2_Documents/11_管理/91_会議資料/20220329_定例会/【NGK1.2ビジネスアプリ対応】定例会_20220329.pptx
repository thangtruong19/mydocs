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70" r:id="rId1"/>
  </p:sldMasterIdLst>
  <p:notesMasterIdLst>
    <p:notesMasterId r:id="rId9"/>
  </p:notesMasterIdLst>
  <p:handoutMasterIdLst>
    <p:handoutMasterId r:id="rId10"/>
  </p:handoutMasterIdLst>
  <p:sldIdLst>
    <p:sldId id="1015" r:id="rId2"/>
    <p:sldId id="1009" r:id="rId3"/>
    <p:sldId id="1010" r:id="rId4"/>
    <p:sldId id="1011" r:id="rId5"/>
    <p:sldId id="1012" r:id="rId6"/>
    <p:sldId id="1013" r:id="rId7"/>
    <p:sldId id="101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EDDA"/>
    <a:srgbClr val="FAF2D4"/>
    <a:srgbClr val="9A3B5D"/>
    <a:srgbClr val="F2F2F2"/>
    <a:srgbClr val="0000FF"/>
    <a:srgbClr val="EDEDED"/>
    <a:srgbClr val="4B4B4B"/>
    <a:srgbClr val="323232"/>
    <a:srgbClr val="787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54"/>
  </p:normalViewPr>
  <p:slideViewPr>
    <p:cSldViewPr snapToGrid="0" snapToObjects="1">
      <p:cViewPr varScale="1">
        <p:scale>
          <a:sx n="109" d="100"/>
          <a:sy n="109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B81E3-04FF-4B3A-91A3-0B9D6F284D31}" type="datetimeFigureOut">
              <a:rPr kumimoji="1" lang="ja-JP" altLang="en-US" smtClean="0"/>
              <a:t>2022/3/29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A281C-6E67-4E22-BEFF-238CFBDEF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695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24887-F90F-3047-8721-5156A8E1A469}" type="datetimeFigureOut">
              <a:rPr kumimoji="1" lang="ja-JP" altLang="en-US" smtClean="0"/>
              <a:t>2022/3/29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080C-E8FE-C146-B769-6100616B65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8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1pPr>
    <a:lvl2pPr marL="609537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2pPr>
    <a:lvl3pPr marL="1219075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3pPr>
    <a:lvl4pPr marL="1828612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4pPr>
    <a:lvl5pPr marL="2438148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5pPr>
    <a:lvl6pPr marL="3047686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6pPr>
    <a:lvl7pPr marL="3657223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7pPr>
    <a:lvl8pPr marL="4266761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8pPr>
    <a:lvl9pPr marL="4876298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0453C54-7F3F-5842-8AEE-825191D5B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" y="0"/>
            <a:ext cx="12189739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8" name="Rectangle 116">
            <a:extLst>
              <a:ext uri="{FF2B5EF4-FFF2-40B4-BE49-F238E27FC236}">
                <a16:creationId xmlns:a16="http://schemas.microsoft.com/office/drawing/2014/main" id="{63CB7166-763A-834A-BD8F-32568DB92384}"/>
              </a:ext>
            </a:extLst>
          </p:cNvPr>
          <p:cNvSpPr/>
          <p:nvPr userDrawn="1"/>
        </p:nvSpPr>
        <p:spPr bwMode="auto">
          <a:xfrm>
            <a:off x="0" y="2403368"/>
            <a:ext cx="12192000" cy="205126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00" y="3312000"/>
            <a:ext cx="8640000" cy="7680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1">
                <a:solidFill>
                  <a:srgbClr val="9A3B5D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00" y="2784000"/>
            <a:ext cx="8640000" cy="4800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9A3B5D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9B378A5-FEEF-5D48-AD7F-5344F238A1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710" y="3024001"/>
            <a:ext cx="1646580" cy="428111"/>
          </a:xfrm>
          <a:prstGeom prst="rect">
            <a:avLst/>
          </a:prstGeom>
        </p:spPr>
      </p:pic>
      <p:sp>
        <p:nvSpPr>
          <p:cNvPr id="11" name="テキスト プレースホルダー 10"/>
          <p:cNvSpPr>
            <a:spLocks noGrp="1"/>
          </p:cNvSpPr>
          <p:nvPr>
            <p:ph type="body" sz="quarter" idx="13" hasCustomPrompt="1"/>
          </p:nvPr>
        </p:nvSpPr>
        <p:spPr>
          <a:xfrm>
            <a:off x="9407999" y="3552000"/>
            <a:ext cx="2688000" cy="288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67"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pPr lvl="0"/>
            <a:r>
              <a:rPr kumimoji="1" lang="ja-JP" altLang="en-US" dirty="0"/>
              <a:t>○○本部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1999" y="3840000"/>
            <a:ext cx="1920000" cy="288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323232"/>
                </a:solidFill>
              </a:defRPr>
            </a:lvl1pPr>
          </a:lstStyle>
          <a:p>
            <a:fld id="{47CE263C-B4E9-4AA0-986B-C9A7FB36C901}" type="datetime1">
              <a:rPr lang="ja-JP" altLang="en-US" smtClean="0"/>
              <a:t>2022/3/29</a:t>
            </a:fld>
            <a:endParaRPr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84000"/>
            <a:ext cx="3072000" cy="3360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dirty="0"/>
              <a:t>○○株式会社 御中</a:t>
            </a:r>
          </a:p>
        </p:txBody>
      </p:sp>
    </p:spTree>
    <p:extLst>
      <p:ext uri="{BB962C8B-B14F-4D97-AF65-F5344CB8AC3E}">
        <p14:creationId xmlns:p14="http://schemas.microsoft.com/office/powerpoint/2010/main" val="425651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BC11A7E-29EC-0147-8188-ACEEB4EB432E}"/>
              </a:ext>
            </a:extLst>
          </p:cNvPr>
          <p:cNvCxnSpPr>
            <a:cxnSpLocks/>
          </p:cNvCxnSpPr>
          <p:nvPr userDrawn="1"/>
        </p:nvCxnSpPr>
        <p:spPr>
          <a:xfrm>
            <a:off x="576000" y="709643"/>
            <a:ext cx="11040000" cy="0"/>
          </a:xfrm>
          <a:prstGeom prst="line">
            <a:avLst/>
          </a:prstGeom>
          <a:ln w="1905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E583FF8A-E87D-4283-8A63-91BC31856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936000"/>
            <a:ext cx="11040000" cy="5350500"/>
          </a:xfrm>
        </p:spPr>
        <p:txBody>
          <a:bodyPr>
            <a:normAutofit/>
          </a:bodyPr>
          <a:lstStyle>
            <a:lvl1pPr marL="273050" indent="-273050">
              <a:buFont typeface="Wingdings" panose="05000000000000000000" pitchFamily="2" charset="2"/>
              <a:buChar char="n"/>
              <a:defRPr sz="1800" b="1" u="sng">
                <a:latin typeface="+mn-ea"/>
                <a:ea typeface="+mn-ea"/>
              </a:defRPr>
            </a:lvl1pPr>
            <a:lvl2pPr marL="360363" indent="-184150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2pPr>
            <a:lvl3pPr marL="536575" indent="-176213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3pPr>
            <a:lvl4pPr marL="720725" indent="-184150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4pPr>
            <a:lvl5pPr marL="896938" indent="-176213"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245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BC11A7E-29EC-0147-8188-ACEEB4EB432E}"/>
              </a:ext>
            </a:extLst>
          </p:cNvPr>
          <p:cNvCxnSpPr>
            <a:cxnSpLocks/>
          </p:cNvCxnSpPr>
          <p:nvPr userDrawn="1"/>
        </p:nvCxnSpPr>
        <p:spPr>
          <a:xfrm>
            <a:off x="576000" y="709643"/>
            <a:ext cx="11040000" cy="0"/>
          </a:xfrm>
          <a:prstGeom prst="line">
            <a:avLst/>
          </a:prstGeom>
          <a:ln w="1905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78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46E3783-8969-F042-AEFB-E6C22717C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7"/>
            <a:ext cx="35179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2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55D30C4-CAC8-2E43-8AC9-139C13DA26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8100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406628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FCF8B92-5079-A849-A76B-B3D7BB9532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79095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405615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D795D9-D515-7943-A185-DDAE04C1D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4"/>
            <a:ext cx="37592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24603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EDF2FC6-1D05-234D-BFDB-6C1848F0C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6"/>
            <a:ext cx="382905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243148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88F7372-C6AD-A745-ADD5-0755C27AA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8227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242832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B467C42-11F0-014D-BB0B-3726E4832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8100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97431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2F1E800-89BC-AC4A-B7B7-9C3612421E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77825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1013026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23C138A-4F38-464A-8513-3908AEB3E0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8227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37540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372B925-BE4F-654A-B108-6CD7680708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6"/>
            <a:ext cx="35179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00977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180000"/>
            <a:ext cx="11041200" cy="504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936000"/>
            <a:ext cx="11041200" cy="53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31B2DB08-A49E-1A4A-90DB-D7A431943820}"/>
              </a:ext>
            </a:extLst>
          </p:cNvPr>
          <p:cNvSpPr/>
          <p:nvPr userDrawn="1"/>
        </p:nvSpPr>
        <p:spPr>
          <a:xfrm>
            <a:off x="0" y="6493898"/>
            <a:ext cx="12193200" cy="360000"/>
          </a:xfrm>
          <a:prstGeom prst="rect">
            <a:avLst/>
          </a:prstGeom>
          <a:solidFill>
            <a:srgbClr val="4B4B4B"/>
          </a:solidFill>
          <a:ln w="12700">
            <a:noFill/>
            <a:miter lim="400000"/>
          </a:ln>
          <a:effectLst>
            <a:outerShdw sx="1000" sy="1000" algn="ctr" rotWithShape="0">
              <a:prstClr val="black"/>
            </a:outerShdw>
          </a:effectLst>
        </p:spPr>
        <p:txBody>
          <a:bodyPr lIns="0" tIns="0" rIns="0" bIns="0"/>
          <a:lstStyle>
            <a:lvl1pPr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108844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2176894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3265342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435378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5442237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6530682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761912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8707577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 algn="ctr" defTabSz="884127">
              <a:spcBef>
                <a:spcPts val="0"/>
              </a:spcBef>
              <a:defRPr sz="4300">
                <a:solidFill>
                  <a:srgbClr val="000000"/>
                </a:solidFill>
              </a:defRPr>
            </a:pPr>
            <a:endParaRPr sz="1747" dirty="0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D91C2AF-B556-A24B-9BE1-1CF44516E0D0}"/>
              </a:ext>
            </a:extLst>
          </p:cNvPr>
          <p:cNvCxnSpPr>
            <a:cxnSpLocks/>
          </p:cNvCxnSpPr>
          <p:nvPr userDrawn="1"/>
        </p:nvCxnSpPr>
        <p:spPr>
          <a:xfrm>
            <a:off x="0" y="6498000"/>
            <a:ext cx="12192000" cy="0"/>
          </a:xfrm>
          <a:prstGeom prst="line">
            <a:avLst/>
          </a:prstGeom>
          <a:ln w="34925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320A192-F81A-DE46-BFE4-F9AFCC5612A5}"/>
              </a:ext>
            </a:extLst>
          </p:cNvPr>
          <p:cNvCxnSpPr>
            <a:cxnSpLocks/>
          </p:cNvCxnSpPr>
          <p:nvPr userDrawn="1"/>
        </p:nvCxnSpPr>
        <p:spPr>
          <a:xfrm>
            <a:off x="0" y="0"/>
            <a:ext cx="12192000" cy="0"/>
          </a:xfrm>
          <a:prstGeom prst="line">
            <a:avLst/>
          </a:prstGeom>
          <a:ln w="2540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1919A988-D9C7-F241-86D5-3FF4C05E34A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5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12450" y="99099"/>
            <a:ext cx="355685" cy="196135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12D8B19D-B70E-40EC-821A-447BB2DB0704}" type="datetime1">
              <a:rPr lang="ja-JP" altLang="en-US" smtClean="0"/>
              <a:t>2022/3/29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6000" y="6552000"/>
            <a:ext cx="612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552000"/>
            <a:ext cx="144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533" dirty="0"/>
          </a:p>
        </p:txBody>
      </p:sp>
    </p:spTree>
    <p:extLst>
      <p:ext uri="{BB962C8B-B14F-4D97-AF65-F5344CB8AC3E}">
        <p14:creationId xmlns:p14="http://schemas.microsoft.com/office/powerpoint/2010/main" val="42861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72" r:id="rId2"/>
    <p:sldLayoutId id="214748377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756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0" kern="1200">
          <a:solidFill>
            <a:srgbClr val="9A3B5D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360362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107315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0226820-D42F-434F-A96A-10AA48B6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0DA55AE-83AD-428F-B0F5-652396FD4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定例会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6B5316FC-BC3F-4413-A3D5-79054102DA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次世代</a:t>
            </a:r>
            <a:r>
              <a:rPr kumimoji="1" lang="en-US" altLang="ja-JP" dirty="0">
                <a:latin typeface="+mn-ea"/>
                <a:ea typeface="+mn-ea"/>
              </a:rPr>
              <a:t>KOMTRAX R1.2 </a:t>
            </a:r>
            <a:r>
              <a:rPr kumimoji="1" lang="ja-JP" altLang="en-US" dirty="0">
                <a:latin typeface="+mn-ea"/>
                <a:ea typeface="+mn-ea"/>
              </a:rPr>
              <a:t>ビジネスアプリ対応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4D3CE1-E0E2-4407-A25B-1641973069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07999" y="3552000"/>
            <a:ext cx="2688000" cy="401164"/>
          </a:xfrm>
        </p:spPr>
        <p:txBody>
          <a:bodyPr/>
          <a:lstStyle/>
          <a:p>
            <a:r>
              <a:rPr kumimoji="1" lang="en-US" altLang="ja-JP" sz="1400" dirty="0">
                <a:latin typeface="+mn-ea"/>
                <a:ea typeface="+mn-ea"/>
              </a:rPr>
              <a:t>2022/3/29</a:t>
            </a:r>
            <a:endParaRPr kumimoji="1" lang="ja-JP" altLang="en-US" sz="1400" dirty="0">
              <a:latin typeface="+mn-ea"/>
              <a:ea typeface="+mn-ea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F277973-68CE-4467-A97A-B565309973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株式会社小松製作所 御中</a:t>
            </a:r>
          </a:p>
        </p:txBody>
      </p:sp>
    </p:spTree>
    <p:extLst>
      <p:ext uri="{BB962C8B-B14F-4D97-AF65-F5344CB8AC3E}">
        <p14:creationId xmlns:p14="http://schemas.microsoft.com/office/powerpoint/2010/main" val="2897191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6B0F6B-6C3A-4D56-8446-740470E1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7AE831-A6FF-4609-B0FD-67067954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DB89EF-4D96-4BCA-AC64-BE7B40A3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1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EC382F-3374-42B7-9F26-F2688BCF92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進捗状況報告</a:t>
            </a:r>
            <a:r>
              <a:rPr kumimoji="1" lang="en-US" altLang="ja-JP" b="0" u="none" dirty="0"/>
              <a:t>(</a:t>
            </a:r>
            <a:r>
              <a:rPr kumimoji="1" lang="ja-JP" altLang="en-US" b="0" u="none" dirty="0"/>
              <a:t>全体</a:t>
            </a:r>
            <a:r>
              <a:rPr kumimoji="1" lang="en-US" altLang="ja-JP" b="0" u="none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進捗状況報告</a:t>
            </a:r>
            <a:r>
              <a:rPr kumimoji="1" lang="en-US" altLang="ja-JP" b="0" u="none" dirty="0"/>
              <a:t>(</a:t>
            </a:r>
            <a:r>
              <a:rPr kumimoji="1" lang="ja-JP" altLang="en-US" b="0" u="none" dirty="0"/>
              <a:t>工程別</a:t>
            </a:r>
            <a:r>
              <a:rPr kumimoji="1" lang="en-US" altLang="ja-JP" b="0" u="none" dirty="0"/>
              <a:t>)</a:t>
            </a:r>
          </a:p>
          <a:p>
            <a:pPr marL="519113" lvl="1" indent="-342900">
              <a:buFont typeface="+mj-lt"/>
              <a:buAutoNum type="arabicPeriod"/>
            </a:pPr>
            <a:r>
              <a:rPr kumimoji="1" lang="ja-JP" altLang="en-US" dirty="0"/>
              <a:t>基本設計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チケット状況共有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ご相談事項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次回予定</a:t>
            </a:r>
          </a:p>
          <a:p>
            <a:pPr marL="342900" indent="-342900">
              <a:buFont typeface="+mj-lt"/>
              <a:buAutoNum type="arabicPeriod"/>
            </a:pPr>
            <a:endParaRPr kumimoji="1" lang="ja-JP" altLang="en-US" b="0" u="none" dirty="0"/>
          </a:p>
          <a:p>
            <a:pPr marL="342900" indent="-342900">
              <a:buFont typeface="+mj-lt"/>
              <a:buAutoNum type="arabicPeriod"/>
            </a:pPr>
            <a:endParaRPr kumimoji="1" lang="ja-JP" altLang="en-US" b="0" u="none" dirty="0"/>
          </a:p>
        </p:txBody>
      </p:sp>
    </p:spTree>
    <p:extLst>
      <p:ext uri="{BB962C8B-B14F-4D97-AF65-F5344CB8AC3E}">
        <p14:creationId xmlns:p14="http://schemas.microsoft.com/office/powerpoint/2010/main" val="242128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75B8C-B2A8-4FD6-9B3C-3361E70A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1.</a:t>
            </a:r>
            <a:r>
              <a:rPr kumimoji="1" lang="ja-JP" altLang="en-US" dirty="0"/>
              <a:t> </a:t>
            </a:r>
            <a:r>
              <a:rPr kumimoji="1" lang="zh-TW" altLang="en-US" dirty="0"/>
              <a:t>進捗状況報告</a:t>
            </a:r>
            <a:r>
              <a:rPr kumimoji="1" lang="en-US" altLang="zh-TW" dirty="0"/>
              <a:t>(</a:t>
            </a:r>
            <a:r>
              <a:rPr kumimoji="1" lang="zh-TW" altLang="en-US" dirty="0"/>
              <a:t>全体</a:t>
            </a:r>
            <a:r>
              <a:rPr kumimoji="1" lang="en-US" altLang="zh-TW" dirty="0"/>
              <a:t>)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B4649F2-F69C-4E84-A3CD-AAC5DF012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9BB5CC-EF8E-4959-88E5-F05931DF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2</a:t>
            </a:fld>
            <a:endParaRPr kumimoji="1" lang="ja-JP" altLang="en-US" sz="70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383CE49-5FA9-430C-BBA6-B29B7FAA3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885013"/>
              </p:ext>
            </p:extLst>
          </p:nvPr>
        </p:nvGraphicFramePr>
        <p:xfrm>
          <a:off x="540000" y="827070"/>
          <a:ext cx="11042406" cy="48084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8828">
                  <a:extLst>
                    <a:ext uri="{9D8B030D-6E8A-4147-A177-3AD203B41FA5}">
                      <a16:colId xmlns:a16="http://schemas.microsoft.com/office/drawing/2014/main" val="299762358"/>
                    </a:ext>
                  </a:extLst>
                </a:gridCol>
                <a:gridCol w="2941064">
                  <a:extLst>
                    <a:ext uri="{9D8B030D-6E8A-4147-A177-3AD203B41FA5}">
                      <a16:colId xmlns:a16="http://schemas.microsoft.com/office/drawing/2014/main" val="1955541415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22302293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92526854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70705198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798537124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41725418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471669787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898357741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927034935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2166958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01228493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408002077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24470778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396898731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16274527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16337719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2767512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3547470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148893593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00294305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9788176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440636033"/>
                    </a:ext>
                  </a:extLst>
                </a:gridCol>
              </a:tblGrid>
              <a:tr h="291981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No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項目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2022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2022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741277"/>
                  </a:ext>
                </a:extLst>
              </a:tr>
              <a:tr h="291981">
                <a:tc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r>
                        <a:rPr lang="ja-JP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  <a:r>
                        <a:rPr lang="ja-JP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426870"/>
                  </a:ext>
                </a:extLst>
              </a:tr>
              <a:tr h="291981">
                <a:tc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23593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b"/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マイルストーン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73167707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基本設計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45181180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詳細設計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40839836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製造・単体テスト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03168459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結合テスト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94387319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CEAAA2-0FB3-460F-A776-827E9EA80DEF}"/>
              </a:ext>
            </a:extLst>
          </p:cNvPr>
          <p:cNvSpPr/>
          <p:nvPr/>
        </p:nvSpPr>
        <p:spPr>
          <a:xfrm>
            <a:off x="4631913" y="2769803"/>
            <a:ext cx="955221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356D5F0-4E7B-4EA3-99D2-1BEE89E16869}"/>
              </a:ext>
            </a:extLst>
          </p:cNvPr>
          <p:cNvGrpSpPr/>
          <p:nvPr/>
        </p:nvGrpSpPr>
        <p:grpSpPr>
          <a:xfrm>
            <a:off x="4365769" y="1946771"/>
            <a:ext cx="955221" cy="471612"/>
            <a:chOff x="5215514" y="1440892"/>
            <a:chExt cx="955221" cy="471612"/>
          </a:xfrm>
        </p:grpSpPr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8E44405E-F3A8-4677-B3B7-FE95C9ED0E99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EFBC31EC-6CF4-4744-BF1A-A4D1EF2321B2}"/>
                </a:ext>
              </a:extLst>
            </p:cNvPr>
            <p:cNvSpPr txBox="1"/>
            <p:nvPr/>
          </p:nvSpPr>
          <p:spPr>
            <a:xfrm>
              <a:off x="5215514" y="1440892"/>
              <a:ext cx="9552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キックオフ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8620B4D-9D40-4F46-B89D-BEEFFEA684FC}"/>
              </a:ext>
            </a:extLst>
          </p:cNvPr>
          <p:cNvGrpSpPr/>
          <p:nvPr/>
        </p:nvGrpSpPr>
        <p:grpSpPr>
          <a:xfrm>
            <a:off x="7997341" y="1946771"/>
            <a:ext cx="584921" cy="471612"/>
            <a:chOff x="5215514" y="1440892"/>
            <a:chExt cx="584921" cy="471612"/>
          </a:xfrm>
        </p:grpSpPr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1A29D922-1DA9-4972-A93C-4360E988D3D9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7D0BAA3-EDDA-4771-BA5C-36410F7AD540}"/>
                </a:ext>
              </a:extLst>
            </p:cNvPr>
            <p:cNvSpPr txBox="1"/>
            <p:nvPr/>
          </p:nvSpPr>
          <p:spPr>
            <a:xfrm>
              <a:off x="5215514" y="1440892"/>
              <a:ext cx="5849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納品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94C31F5-F5BB-464A-A24D-ECE3F51AC8C6}"/>
              </a:ext>
            </a:extLst>
          </p:cNvPr>
          <p:cNvGrpSpPr/>
          <p:nvPr/>
        </p:nvGrpSpPr>
        <p:grpSpPr>
          <a:xfrm>
            <a:off x="8876472" y="1946771"/>
            <a:ext cx="584921" cy="471612"/>
            <a:chOff x="5215514" y="1440892"/>
            <a:chExt cx="584921" cy="471612"/>
          </a:xfrm>
        </p:grpSpPr>
        <p:sp>
          <p:nvSpPr>
            <p:cNvPr id="14" name="二等辺三角形 13">
              <a:extLst>
                <a:ext uri="{FF2B5EF4-FFF2-40B4-BE49-F238E27FC236}">
                  <a16:creationId xmlns:a16="http://schemas.microsoft.com/office/drawing/2014/main" id="{F5484CFF-CDF9-4B92-A86B-E622E41A5F7A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DB2CC987-37FE-479A-B89A-46874A4CF307}"/>
                </a:ext>
              </a:extLst>
            </p:cNvPr>
            <p:cNvSpPr txBox="1"/>
            <p:nvPr/>
          </p:nvSpPr>
          <p:spPr>
            <a:xfrm>
              <a:off x="5215514" y="1440892"/>
              <a:ext cx="5849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検収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4AC0B4F-CBE8-43C2-9A0A-0294A4A28EF8}"/>
              </a:ext>
            </a:extLst>
          </p:cNvPr>
          <p:cNvSpPr/>
          <p:nvPr/>
        </p:nvSpPr>
        <p:spPr>
          <a:xfrm>
            <a:off x="5005986" y="3548198"/>
            <a:ext cx="1061439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CFA8DD4-4878-4332-8B13-3F71A02BC2A7}"/>
              </a:ext>
            </a:extLst>
          </p:cNvPr>
          <p:cNvSpPr/>
          <p:nvPr/>
        </p:nvSpPr>
        <p:spPr>
          <a:xfrm>
            <a:off x="5361586" y="4300961"/>
            <a:ext cx="1844357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7699B7B-02DC-4526-8DDB-0F21CEEABEAF}"/>
              </a:ext>
            </a:extLst>
          </p:cNvPr>
          <p:cNvSpPr/>
          <p:nvPr/>
        </p:nvSpPr>
        <p:spPr>
          <a:xfrm>
            <a:off x="6787862" y="4994342"/>
            <a:ext cx="75874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6479706-D802-412A-B8FA-46E1EC2309B5}"/>
              </a:ext>
            </a:extLst>
          </p:cNvPr>
          <p:cNvSpPr/>
          <p:nvPr/>
        </p:nvSpPr>
        <p:spPr>
          <a:xfrm>
            <a:off x="10213053" y="1897131"/>
            <a:ext cx="1316629" cy="1232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solidFill>
                <a:srgbClr val="32323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25FF163-3623-4AFE-B6DF-4819283285ED}"/>
              </a:ext>
            </a:extLst>
          </p:cNvPr>
          <p:cNvSpPr txBox="1"/>
          <p:nvPr/>
        </p:nvSpPr>
        <p:spPr>
          <a:xfrm>
            <a:off x="10517476" y="267478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作業完了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CA79B1F-C557-4226-99E5-6F8D7AD5ED17}"/>
              </a:ext>
            </a:extLst>
          </p:cNvPr>
          <p:cNvSpPr txBox="1"/>
          <p:nvPr/>
        </p:nvSpPr>
        <p:spPr>
          <a:xfrm>
            <a:off x="10510146" y="23656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着手中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28FE937-CE3A-4BA8-B636-B0ED9F88B316}"/>
              </a:ext>
            </a:extLst>
          </p:cNvPr>
          <p:cNvSpPr txBox="1"/>
          <p:nvPr/>
        </p:nvSpPr>
        <p:spPr>
          <a:xfrm>
            <a:off x="10505514" y="201646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未着手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46A6C05-F991-47AA-A85E-1EEC35473BEF}"/>
              </a:ext>
            </a:extLst>
          </p:cNvPr>
          <p:cNvSpPr/>
          <p:nvPr/>
        </p:nvSpPr>
        <p:spPr>
          <a:xfrm>
            <a:off x="10409476" y="2364986"/>
            <a:ext cx="108000" cy="252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A427BBA-1534-43F8-B48F-2B052BB748AB}"/>
              </a:ext>
            </a:extLst>
          </p:cNvPr>
          <p:cNvSpPr/>
          <p:nvPr/>
        </p:nvSpPr>
        <p:spPr>
          <a:xfrm>
            <a:off x="10409476" y="2022309"/>
            <a:ext cx="108000" cy="25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A6A636A-FBFE-47AB-9062-4AA1B5E3A4C5}"/>
              </a:ext>
            </a:extLst>
          </p:cNvPr>
          <p:cNvSpPr/>
          <p:nvPr/>
        </p:nvSpPr>
        <p:spPr>
          <a:xfrm>
            <a:off x="10409476" y="2684756"/>
            <a:ext cx="108000" cy="252000"/>
          </a:xfrm>
          <a:prstGeom prst="rect">
            <a:avLst/>
          </a:prstGeom>
          <a:solidFill>
            <a:schemeClr val="accent6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C4B24B7-4F67-45CE-8D89-44F293660B35}"/>
              </a:ext>
            </a:extLst>
          </p:cNvPr>
          <p:cNvCxnSpPr>
            <a:cxnSpLocks/>
          </p:cNvCxnSpPr>
          <p:nvPr/>
        </p:nvCxnSpPr>
        <p:spPr>
          <a:xfrm>
            <a:off x="4920217" y="2536300"/>
            <a:ext cx="0" cy="3096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98290DE-CE6E-4A00-AF03-A5D5A5D4B542}"/>
              </a:ext>
            </a:extLst>
          </p:cNvPr>
          <p:cNvSpPr/>
          <p:nvPr/>
        </p:nvSpPr>
        <p:spPr>
          <a:xfrm>
            <a:off x="7968766" y="4994342"/>
            <a:ext cx="75874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545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6A8E8-B19B-43C0-B57D-8BC4CDB2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kumimoji="1" lang="ja-JP" altLang="en-US" dirty="0"/>
              <a:t> 進捗状況報告（工程別）</a:t>
            </a:r>
            <a:r>
              <a:rPr kumimoji="1" lang="en-US" altLang="ja-JP" dirty="0"/>
              <a:t>- </a:t>
            </a:r>
            <a:r>
              <a:rPr kumimoji="1" lang="ja-JP" altLang="en-US" dirty="0"/>
              <a:t>基本設計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B06972-D618-47EE-8C65-52A0B44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A571EA-BC5D-4D52-BB0E-3ECDAE69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3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CA91B4-C880-4AF5-919E-CB75468D1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4010024"/>
            <a:ext cx="11040000" cy="2276475"/>
          </a:xfrm>
        </p:spPr>
        <p:txBody>
          <a:bodyPr/>
          <a:lstStyle/>
          <a:p>
            <a:r>
              <a:rPr kumimoji="1" lang="ja-JP" altLang="en-US" dirty="0"/>
              <a:t>注記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一部課題などは残った状態でのレビュー依頼となっている。</a:t>
            </a:r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D32027F8-F20C-4602-A773-40D7350B3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058669"/>
              </p:ext>
            </p:extLst>
          </p:nvPr>
        </p:nvGraphicFramePr>
        <p:xfrm>
          <a:off x="540000" y="828000"/>
          <a:ext cx="11052000" cy="296672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364410918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99170000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9384844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124962398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1546054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ステータス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画面（タブ）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モーダル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88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1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着手中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14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社内レビュー</a:t>
                      </a:r>
                      <a:endParaRPr kumimoji="1" lang="en-US" altLang="ja-JP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86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コマツ様レビュー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35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レビュー指摘反映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18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資料数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13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-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4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771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29594-6F96-418D-8287-12060DB1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 </a:t>
            </a:r>
            <a:r>
              <a:rPr kumimoji="1" lang="ja-JP" altLang="en-US" dirty="0"/>
              <a:t>チケット状況共有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153AB8-AB5A-4D64-A7E2-75297CDA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3CB4F8-8B5F-4066-B5A9-A0C1289C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4</a:t>
            </a:fld>
            <a:endParaRPr kumimoji="1" lang="ja-JP" altLang="en-US" sz="700"/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6F71E577-536E-4628-968F-1C3C829EA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499153"/>
              </p:ext>
            </p:extLst>
          </p:nvPr>
        </p:nvGraphicFramePr>
        <p:xfrm>
          <a:off x="540000" y="828000"/>
          <a:ext cx="11041199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07">
                  <a:extLst>
                    <a:ext uri="{9D8B030D-6E8A-4147-A177-3AD203B41FA5}">
                      <a16:colId xmlns:a16="http://schemas.microsoft.com/office/drawing/2014/main" val="875238259"/>
                    </a:ext>
                  </a:extLst>
                </a:gridCol>
                <a:gridCol w="4397652">
                  <a:extLst>
                    <a:ext uri="{9D8B030D-6E8A-4147-A177-3AD203B41FA5}">
                      <a16:colId xmlns:a16="http://schemas.microsoft.com/office/drawing/2014/main" val="2261425630"/>
                    </a:ext>
                  </a:extLst>
                </a:gridCol>
                <a:gridCol w="1730188">
                  <a:extLst>
                    <a:ext uri="{9D8B030D-6E8A-4147-A177-3AD203B41FA5}">
                      <a16:colId xmlns:a16="http://schemas.microsoft.com/office/drawing/2014/main" val="727812906"/>
                    </a:ext>
                  </a:extLst>
                </a:gridCol>
                <a:gridCol w="4212352">
                  <a:extLst>
                    <a:ext uri="{9D8B030D-6E8A-4147-A177-3AD203B41FA5}">
                      <a16:colId xmlns:a16="http://schemas.microsoft.com/office/drawing/2014/main" val="2280000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#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題名</a:t>
                      </a: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プリフィックス除く</a:t>
                      </a: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担当者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4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8393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システム名について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優先度：急いで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8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8394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画面名称について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  <a:latin typeface="游ゴシック" panose="020B0400000000000000" pitchFamily="50" charset="-128"/>
                          <a:ea typeface="+mn-ea"/>
                        </a:rPr>
                        <a:t>優先度：急いで</a:t>
                      </a:r>
                      <a:endParaRPr kumimoji="1" lang="ja-JP" altLang="en-US" dirty="0">
                        <a:solidFill>
                          <a:srgbClr val="FF0000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500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8395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DevOps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に設定する置換定義資料作成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エグゼ 松下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DevOps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への設定依頼用チケット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17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8444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車両検索の検索結果に表示する項目について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清水様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課題の解決を共有させていただいた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80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8451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アプリコードについて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24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8452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管理メニューの</a:t>
                      </a: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KOMTRAX NEWS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8506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デートピッカーについて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07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8514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カスタマイズ用途定義一括設定のモーダルについて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521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428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835E8C-4267-4ABD-9EDB-D777B325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4.</a:t>
            </a:r>
            <a:r>
              <a:rPr lang="ja-JP" altLang="en-US" dirty="0"/>
              <a:t> ご相談事項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D2A56E1-BF51-4918-8773-90D53D18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0A5A61-D4B0-43C5-87E8-99777643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5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778D189-8638-4A3B-8E2A-B77935A3C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業務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の</a:t>
            </a:r>
            <a:r>
              <a:rPr kumimoji="1" lang="en-US" altLang="ja-JP" dirty="0"/>
              <a:t>Swagger</a:t>
            </a:r>
            <a:r>
              <a:rPr kumimoji="1" lang="ja-JP" altLang="en-US" dirty="0"/>
              <a:t>提供時期について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今週</a:t>
            </a:r>
            <a:r>
              <a:rPr kumimoji="1" lang="en-US" altLang="ja-JP" dirty="0"/>
              <a:t>(3/21</a:t>
            </a:r>
            <a:r>
              <a:rPr kumimoji="1" lang="ja-JP" altLang="en-US" dirty="0"/>
              <a:t>週</a:t>
            </a:r>
            <a:r>
              <a:rPr kumimoji="1" lang="en-US" altLang="ja-JP" dirty="0"/>
              <a:t>)</a:t>
            </a:r>
            <a:r>
              <a:rPr kumimoji="1" lang="ja-JP" altLang="en-US" dirty="0"/>
              <a:t>より詳細設計に着手していくことを想定しております。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詳細設計では業務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のリクエスト／レスポンス情報が必要となるため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en-US" altLang="ja-JP" dirty="0"/>
              <a:t>Swagger</a:t>
            </a:r>
            <a:r>
              <a:rPr kumimoji="1" lang="ja-JP" altLang="en-US" dirty="0"/>
              <a:t>の提供時期のご提示をお願いいたします。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　→</a:t>
            </a:r>
            <a:r>
              <a:rPr lang="en-US" altLang="ja-JP" dirty="0">
                <a:solidFill>
                  <a:srgbClr val="FF0000"/>
                </a:solidFill>
              </a:rPr>
              <a:t>3/29(</a:t>
            </a:r>
            <a:r>
              <a:rPr lang="ja-JP" altLang="en-US" dirty="0">
                <a:solidFill>
                  <a:srgbClr val="FF0000"/>
                </a:solidFill>
              </a:rPr>
              <a:t>火</a:t>
            </a:r>
            <a:r>
              <a:rPr lang="en-US" altLang="ja-JP" dirty="0">
                <a:solidFill>
                  <a:srgbClr val="FF0000"/>
                </a:solidFill>
              </a:rPr>
              <a:t>) </a:t>
            </a:r>
            <a:r>
              <a:rPr lang="ja-JP" altLang="en-US" dirty="0">
                <a:solidFill>
                  <a:srgbClr val="FF0000"/>
                </a:solidFill>
              </a:rPr>
              <a:t>コマツ</a:t>
            </a:r>
            <a:r>
              <a:rPr lang="en-US" altLang="ja-JP" dirty="0">
                <a:solidFill>
                  <a:srgbClr val="FF0000"/>
                </a:solidFill>
              </a:rPr>
              <a:t>-NTCS-EXE</a:t>
            </a:r>
            <a:r>
              <a:rPr lang="ja-JP" altLang="en-US" dirty="0">
                <a:solidFill>
                  <a:srgbClr val="FF0000"/>
                </a:solidFill>
              </a:rPr>
              <a:t>定例で共有</a:t>
            </a:r>
            <a:endParaRPr kumimoji="1" lang="ja-JP" altLang="en-US" dirty="0">
              <a:solidFill>
                <a:srgbClr val="FF0000"/>
              </a:solidFill>
            </a:endParaRPr>
          </a:p>
          <a:p>
            <a:endParaRPr kumimoji="1" lang="ja-JP" altLang="en-US" dirty="0"/>
          </a:p>
          <a:p>
            <a:r>
              <a:rPr kumimoji="1" lang="ja-JP" altLang="en-US" dirty="0"/>
              <a:t>納品、検収について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キックオフ</a:t>
            </a:r>
            <a:r>
              <a:rPr kumimoji="1" lang="en-US" altLang="ja-JP" dirty="0"/>
              <a:t>MTG</a:t>
            </a:r>
            <a:r>
              <a:rPr kumimoji="1" lang="ja-JP" altLang="en-US" dirty="0"/>
              <a:t>の中で結合試験の開始が</a:t>
            </a:r>
            <a:r>
              <a:rPr kumimoji="1" lang="en-US" altLang="ja-JP" dirty="0"/>
              <a:t>6/20</a:t>
            </a:r>
            <a:r>
              <a:rPr kumimoji="1" lang="ja-JP" altLang="en-US" dirty="0"/>
              <a:t>以降ということをお伺いいたしました。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結合試験の完了が遅れることにより納品から検収完了</a:t>
            </a:r>
            <a:r>
              <a:rPr kumimoji="1" lang="en-US" altLang="ja-JP" dirty="0"/>
              <a:t>(7/20)</a:t>
            </a:r>
            <a:r>
              <a:rPr kumimoji="1" lang="ja-JP" altLang="en-US" dirty="0"/>
              <a:t>までの期間が短くなることが想定されます</a:t>
            </a:r>
            <a:r>
              <a:rPr lang="ja-JP" altLang="en-US" dirty="0"/>
              <a:t>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開始できる機能から結合試験を実施できるよう</a:t>
            </a:r>
            <a:r>
              <a:rPr kumimoji="1" lang="en-US" altLang="ja-JP" dirty="0"/>
              <a:t>NTCS</a:t>
            </a:r>
            <a:r>
              <a:rPr kumimoji="1" lang="ja-JP" altLang="en-US" dirty="0"/>
              <a:t>様含めて調整をお願いいたします。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　→</a:t>
            </a:r>
            <a:r>
              <a:rPr lang="en-US" altLang="ja-JP" dirty="0">
                <a:solidFill>
                  <a:srgbClr val="FF0000"/>
                </a:solidFill>
              </a:rPr>
              <a:t>3/29(</a:t>
            </a:r>
            <a:r>
              <a:rPr lang="ja-JP" altLang="en-US" dirty="0">
                <a:solidFill>
                  <a:srgbClr val="FF0000"/>
                </a:solidFill>
              </a:rPr>
              <a:t>火</a:t>
            </a:r>
            <a:r>
              <a:rPr lang="en-US" altLang="ja-JP" dirty="0">
                <a:solidFill>
                  <a:srgbClr val="FF0000"/>
                </a:solidFill>
              </a:rPr>
              <a:t>) </a:t>
            </a:r>
            <a:r>
              <a:rPr lang="ja-JP" altLang="en-US" dirty="0">
                <a:solidFill>
                  <a:srgbClr val="FF0000"/>
                </a:solidFill>
              </a:rPr>
              <a:t>コマツ</a:t>
            </a:r>
            <a:r>
              <a:rPr lang="en-US" altLang="ja-JP" dirty="0">
                <a:solidFill>
                  <a:srgbClr val="FF0000"/>
                </a:solidFill>
              </a:rPr>
              <a:t>-NTCS-EXE</a:t>
            </a:r>
            <a:r>
              <a:rPr lang="ja-JP" altLang="en-US" dirty="0">
                <a:solidFill>
                  <a:srgbClr val="FF0000"/>
                </a:solidFill>
              </a:rPr>
              <a:t>定例で共有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319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B0514-BB95-4C88-8B6C-BA36E84E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</a:t>
            </a:r>
            <a:r>
              <a:rPr kumimoji="1" lang="ja-JP" altLang="en-US" dirty="0"/>
              <a:t> 次回予定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CE23303-12B1-44D8-93D1-D376659A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83978C-56AE-458A-BE12-A64B75F5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6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160E6F-B5FA-4B95-AEDE-5EAFD88665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042" y="936000"/>
            <a:ext cx="4805625" cy="5350500"/>
          </a:xfrm>
        </p:spPr>
        <p:txBody>
          <a:bodyPr/>
          <a:lstStyle/>
          <a:p>
            <a:r>
              <a:rPr kumimoji="1" lang="en-US" altLang="ja-JP" b="0" u="none" dirty="0">
                <a:solidFill>
                  <a:srgbClr val="FF0000"/>
                </a:solidFill>
              </a:rPr>
              <a:t>04/05(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火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) 11:00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～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11:30 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定例会</a:t>
            </a:r>
            <a:endParaRPr kumimoji="1" lang="ja-JP" altLang="en-US" b="0" u="none" dirty="0"/>
          </a:p>
          <a:p>
            <a:r>
              <a:rPr kumimoji="1" lang="en-US" altLang="ja-JP" b="0" u="none" dirty="0"/>
              <a:t>04/12(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04/19(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04/26(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05/03(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GW</a:t>
            </a:r>
            <a:r>
              <a:rPr kumimoji="1" lang="ja-JP" altLang="en-US" b="0" u="none" dirty="0"/>
              <a:t>のためスキップ </a:t>
            </a:r>
          </a:p>
          <a:p>
            <a:r>
              <a:rPr kumimoji="1" lang="en-US" altLang="ja-JP" b="0" u="none" dirty="0"/>
              <a:t>05/10(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05/17(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05/24(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05/31(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06/07(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06/14(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06/21(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06/28(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endParaRPr kumimoji="1" lang="ja-JP" altLang="en-US" b="0" u="none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9E8AB82C-B825-4183-BBE6-A43528BB8F00}"/>
              </a:ext>
            </a:extLst>
          </p:cNvPr>
          <p:cNvSpPr txBox="1">
            <a:spLocks/>
          </p:cNvSpPr>
          <p:nvPr/>
        </p:nvSpPr>
        <p:spPr>
          <a:xfrm>
            <a:off x="5417212" y="936000"/>
            <a:ext cx="4805625" cy="535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kumimoji="1" sz="1800" b="1" u="sng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60363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6575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720725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896938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07/05(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</a:p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07/12(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</a:p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07/19(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  <a:endParaRPr lang="en-US" altLang="zh-TW" b="0" u="none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zh-TW" altLang="en-US" sz="1800" b="0" u="none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5740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23232"/>
      </a:dk1>
      <a:lt1>
        <a:srgbClr val="FFFFFF"/>
      </a:lt1>
      <a:dk2>
        <a:srgbClr val="4B4B4B"/>
      </a:dk2>
      <a:lt2>
        <a:srgbClr val="A0A095"/>
      </a:lt2>
      <a:accent1>
        <a:srgbClr val="9A3B5D"/>
      </a:accent1>
      <a:accent2>
        <a:srgbClr val="86CEFA"/>
      </a:accent2>
      <a:accent3>
        <a:srgbClr val="3D9599"/>
      </a:accent3>
      <a:accent4>
        <a:srgbClr val="CC6600"/>
      </a:accent4>
      <a:accent5>
        <a:srgbClr val="6666FF"/>
      </a:accent5>
      <a:accent6>
        <a:srgbClr val="FFFFFF"/>
      </a:accent6>
      <a:hlink>
        <a:srgbClr val="0070C0"/>
      </a:hlink>
      <a:folHlink>
        <a:srgbClr val="0070C0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kumimoji="1" sz="1600" dirty="0" smtClean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15937</TotalTime>
  <Words>643</Words>
  <Application>Microsoft Office PowerPoint</Application>
  <PresentationFormat>ワイド画面</PresentationFormat>
  <Paragraphs>170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游ゴシック</vt:lpstr>
      <vt:lpstr>游ゴシック</vt:lpstr>
      <vt:lpstr>游明朝</vt:lpstr>
      <vt:lpstr>Arial</vt:lpstr>
      <vt:lpstr>Calibri</vt:lpstr>
      <vt:lpstr>Wingdings</vt:lpstr>
      <vt:lpstr>Office テーマ</vt:lpstr>
      <vt:lpstr>定例会</vt:lpstr>
      <vt:lpstr>目次</vt:lpstr>
      <vt:lpstr>1. 進捗状況報告(全体)</vt:lpstr>
      <vt:lpstr>2. 進捗状況報告（工程別）- 基本設計</vt:lpstr>
      <vt:lpstr>3. チケット状況共有</vt:lpstr>
      <vt:lpstr>4. ご相談事項</vt:lpstr>
      <vt:lpstr>5. 次回予定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田村 晃</dc:creator>
  <cp:lastModifiedBy>松下智一</cp:lastModifiedBy>
  <cp:revision>501</cp:revision>
  <dcterms:created xsi:type="dcterms:W3CDTF">2021-02-05T06:36:21Z</dcterms:created>
  <dcterms:modified xsi:type="dcterms:W3CDTF">2022-03-29T02:52:30Z</dcterms:modified>
</cp:coreProperties>
</file>