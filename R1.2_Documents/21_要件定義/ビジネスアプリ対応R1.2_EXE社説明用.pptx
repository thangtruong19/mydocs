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4"/>
    <p:sldMasterId id="2147483717" r:id="rId5"/>
  </p:sldMasterIdLst>
  <p:notesMasterIdLst>
    <p:notesMasterId r:id="rId50"/>
  </p:notesMasterIdLst>
  <p:sldIdLst>
    <p:sldId id="256" r:id="rId6"/>
    <p:sldId id="2134805804" r:id="rId7"/>
    <p:sldId id="2076136428" r:id="rId8"/>
    <p:sldId id="6163" r:id="rId9"/>
    <p:sldId id="2076136454" r:id="rId10"/>
    <p:sldId id="2076136416" r:id="rId11"/>
    <p:sldId id="2076136455" r:id="rId12"/>
    <p:sldId id="2076136409" r:id="rId13"/>
    <p:sldId id="2076136472" r:id="rId14"/>
    <p:sldId id="2076136470" r:id="rId15"/>
    <p:sldId id="2076136439" r:id="rId16"/>
    <p:sldId id="2076136438" r:id="rId17"/>
    <p:sldId id="2076136440" r:id="rId18"/>
    <p:sldId id="2076136388" r:id="rId19"/>
    <p:sldId id="2076136442" r:id="rId20"/>
    <p:sldId id="2076136443" r:id="rId21"/>
    <p:sldId id="2076136444" r:id="rId22"/>
    <p:sldId id="2076136471" r:id="rId23"/>
    <p:sldId id="2076136446" r:id="rId24"/>
    <p:sldId id="2076136448" r:id="rId25"/>
    <p:sldId id="2076136447" r:id="rId26"/>
    <p:sldId id="2076136449" r:id="rId27"/>
    <p:sldId id="2076136445" r:id="rId28"/>
    <p:sldId id="2076136473" r:id="rId29"/>
    <p:sldId id="2076136474" r:id="rId30"/>
    <p:sldId id="2076136475" r:id="rId31"/>
    <p:sldId id="2076136476" r:id="rId32"/>
    <p:sldId id="2076136477" r:id="rId33"/>
    <p:sldId id="2076136478" r:id="rId34"/>
    <p:sldId id="2076136483" r:id="rId35"/>
    <p:sldId id="2076136389" r:id="rId36"/>
    <p:sldId id="2076136407" r:id="rId37"/>
    <p:sldId id="285" r:id="rId38"/>
    <p:sldId id="2076136386" r:id="rId39"/>
    <p:sldId id="2076136385" r:id="rId40"/>
    <p:sldId id="2076136408" r:id="rId41"/>
    <p:sldId id="6101" r:id="rId42"/>
    <p:sldId id="6102" r:id="rId43"/>
    <p:sldId id="6164" r:id="rId44"/>
    <p:sldId id="273" r:id="rId45"/>
    <p:sldId id="2076136379" r:id="rId46"/>
    <p:sldId id="2076136380" r:id="rId47"/>
    <p:sldId id="2076136381" r:id="rId48"/>
    <p:sldId id="2076136382" r:id="rId4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charset="0"/>
        <a:ea typeface="+mn-ea"/>
        <a:cs typeface="+mn-cs"/>
      </a:defRPr>
    </a:lvl1pPr>
    <a:lvl2pPr marL="457200" algn="l" rtl="0" fontAlgn="base">
      <a:spcBef>
        <a:spcPct val="0"/>
      </a:spcBef>
      <a:spcAft>
        <a:spcPct val="0"/>
      </a:spcAft>
      <a:defRPr kern="1200">
        <a:solidFill>
          <a:schemeClr val="tx1"/>
        </a:solidFill>
        <a:latin typeface="Calibri" charset="0"/>
        <a:ea typeface="+mn-ea"/>
        <a:cs typeface="+mn-cs"/>
      </a:defRPr>
    </a:lvl2pPr>
    <a:lvl3pPr marL="914400" algn="l" rtl="0" fontAlgn="base">
      <a:spcBef>
        <a:spcPct val="0"/>
      </a:spcBef>
      <a:spcAft>
        <a:spcPct val="0"/>
      </a:spcAft>
      <a:defRPr kern="1200">
        <a:solidFill>
          <a:schemeClr val="tx1"/>
        </a:solidFill>
        <a:latin typeface="Calibri" charset="0"/>
        <a:ea typeface="+mn-ea"/>
        <a:cs typeface="+mn-cs"/>
      </a:defRPr>
    </a:lvl3pPr>
    <a:lvl4pPr marL="1371600" algn="l" rtl="0" fontAlgn="base">
      <a:spcBef>
        <a:spcPct val="0"/>
      </a:spcBef>
      <a:spcAft>
        <a:spcPct val="0"/>
      </a:spcAft>
      <a:defRPr kern="1200">
        <a:solidFill>
          <a:schemeClr val="tx1"/>
        </a:solidFill>
        <a:latin typeface="Calibri" charset="0"/>
        <a:ea typeface="+mn-ea"/>
        <a:cs typeface="+mn-cs"/>
      </a:defRPr>
    </a:lvl4pPr>
    <a:lvl5pPr marL="1828800" algn="l" rtl="0" fontAlgn="base">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9EE"/>
    <a:srgbClr val="00792B"/>
    <a:srgbClr val="898D8F"/>
    <a:srgbClr val="A6A6A6"/>
    <a:srgbClr val="59FBEC"/>
    <a:srgbClr val="F2F2F2"/>
    <a:srgbClr val="140A9A"/>
    <a:srgbClr val="FFFFFF"/>
    <a:srgbClr val="CBF266"/>
    <a:srgbClr val="79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85246" autoAdjust="0"/>
  </p:normalViewPr>
  <p:slideViewPr>
    <p:cSldViewPr snapToGrid="0">
      <p:cViewPr varScale="1">
        <p:scale>
          <a:sx n="84" d="100"/>
          <a:sy n="84" d="100"/>
        </p:scale>
        <p:origin x="13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Sheet1!$A$1</c:f>
              <c:strCache>
                <c:ptCount val="1"/>
                <c:pt idx="0">
                  <c:v>リリーフ時間</c:v>
                </c:pt>
              </c:strCache>
            </c:strRef>
          </c:tx>
          <c:spPr>
            <a:ln w="28575" cap="rnd">
              <a:solidFill>
                <a:schemeClr val="accent1"/>
              </a:solidFill>
              <a:round/>
            </a:ln>
            <a:effectLst/>
          </c:spPr>
          <c:marker>
            <c:symbol val="none"/>
          </c:marker>
          <c: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val>
          <c:smooth val="0"/>
          <c:extLst>
            <c:ext xmlns:c16="http://schemas.microsoft.com/office/drawing/2014/chart" uri="{C3380CC4-5D6E-409C-BE32-E72D297353CC}">
              <c16:uniqueId val="{00000000-065D-490E-BBB5-73E5CE806EBE}"/>
            </c:ext>
          </c:extLst>
        </c:ser>
        <c:ser>
          <c:idx val="1"/>
          <c:order val="1"/>
          <c:tx>
            <c:strRef>
              <c:f>Sheet1!$B$1</c:f>
              <c:strCache>
                <c:ptCount val="1"/>
                <c:pt idx="0">
                  <c:v>水温</c:v>
                </c:pt>
              </c:strCache>
            </c:strRef>
          </c:tx>
          <c:spPr>
            <a:ln w="28575" cap="rnd">
              <a:solidFill>
                <a:schemeClr val="accent5"/>
              </a:solidFill>
              <a:round/>
            </a:ln>
            <a:effectLst/>
          </c:spPr>
          <c:marker>
            <c:symbol val="none"/>
          </c:marker>
          <c:val>
            <c:numRef>
              <c:f>Sheet1!$B$2:$B$102</c:f>
              <c:numCache>
                <c:formatCode>General</c:formatCode>
                <c:ptCount val="101"/>
                <c:pt idx="0">
                  <c:v>80.462246166881101</c:v>
                </c:pt>
                <c:pt idx="1">
                  <c:v>80.207660245618513</c:v>
                </c:pt>
                <c:pt idx="2">
                  <c:v>80.350669603397321</c:v>
                </c:pt>
                <c:pt idx="3">
                  <c:v>80.113083917906195</c:v>
                </c:pt>
                <c:pt idx="4">
                  <c:v>80.120027234879828</c:v>
                </c:pt>
                <c:pt idx="5">
                  <c:v>80.50704179486921</c:v>
                </c:pt>
                <c:pt idx="6">
                  <c:v>80.040199913886383</c:v>
                </c:pt>
                <c:pt idx="7">
                  <c:v>80.945085417479618</c:v>
                </c:pt>
                <c:pt idx="8">
                  <c:v>80.373114218746878</c:v>
                </c:pt>
                <c:pt idx="9">
                  <c:v>80.952973827620738</c:v>
                </c:pt>
                <c:pt idx="10">
                  <c:v>80.964242787007109</c:v>
                </c:pt>
                <c:pt idx="11">
                  <c:v>80.346566471430819</c:v>
                </c:pt>
                <c:pt idx="12">
                  <c:v>80.828146393103935</c:v>
                </c:pt>
                <c:pt idx="13">
                  <c:v>80.762772224399541</c:v>
                </c:pt>
                <c:pt idx="14">
                  <c:v>80.609152203334062</c:v>
                </c:pt>
                <c:pt idx="15">
                  <c:v>80.477396642645019</c:v>
                </c:pt>
                <c:pt idx="16">
                  <c:v>80.80267423066546</c:v>
                </c:pt>
                <c:pt idx="17">
                  <c:v>80.569354201206991</c:v>
                </c:pt>
                <c:pt idx="18">
                  <c:v>80.81369653852343</c:v>
                </c:pt>
                <c:pt idx="19">
                  <c:v>80.133051523151678</c:v>
                </c:pt>
                <c:pt idx="20">
                  <c:v>80.333748127289383</c:v>
                </c:pt>
                <c:pt idx="21">
                  <c:v>80.668745651788143</c:v>
                </c:pt>
                <c:pt idx="22">
                  <c:v>80.611037490064547</c:v>
                </c:pt>
                <c:pt idx="23">
                  <c:v>80.870101017503245</c:v>
                </c:pt>
                <c:pt idx="24">
                  <c:v>80.017020101282327</c:v>
                </c:pt>
                <c:pt idx="25">
                  <c:v>80.507294132443121</c:v>
                </c:pt>
                <c:pt idx="26">
                  <c:v>80.25319522451214</c:v>
                </c:pt>
                <c:pt idx="27">
                  <c:v>80.802919596295226</c:v>
                </c:pt>
                <c:pt idx="28">
                  <c:v>80.517022612571139</c:v>
                </c:pt>
                <c:pt idx="29">
                  <c:v>80.396053962625786</c:v>
                </c:pt>
                <c:pt idx="30">
                  <c:v>80.299347028690562</c:v>
                </c:pt>
                <c:pt idx="31">
                  <c:v>80.940113166445556</c:v>
                </c:pt>
                <c:pt idx="32">
                  <c:v>80.896232136900267</c:v>
                </c:pt>
                <c:pt idx="33">
                  <c:v>80.431492853679657</c:v>
                </c:pt>
                <c:pt idx="34">
                  <c:v>80.482106518277504</c:v>
                </c:pt>
                <c:pt idx="35">
                  <c:v>80.86862811160303</c:v>
                </c:pt>
                <c:pt idx="36">
                  <c:v>80.940588528378854</c:v>
                </c:pt>
                <c:pt idx="37">
                  <c:v>80.364165029460494</c:v>
                </c:pt>
                <c:pt idx="38">
                  <c:v>80.245674670235914</c:v>
                </c:pt>
                <c:pt idx="39">
                  <c:v>80.030578513958218</c:v>
                </c:pt>
                <c:pt idx="40">
                  <c:v>80.421438609708176</c:v>
                </c:pt>
                <c:pt idx="41">
                  <c:v>80.838727935241707</c:v>
                </c:pt>
                <c:pt idx="42">
                  <c:v>80.583222610122661</c:v>
                </c:pt>
                <c:pt idx="43">
                  <c:v>80.165179608167932</c:v>
                </c:pt>
                <c:pt idx="44">
                  <c:v>80.93268154346022</c:v>
                </c:pt>
                <c:pt idx="45">
                  <c:v>80.572927860123826</c:v>
                </c:pt>
                <c:pt idx="46">
                  <c:v>80.932063299961854</c:v>
                </c:pt>
                <c:pt idx="47">
                  <c:v>80.600125873187523</c:v>
                </c:pt>
                <c:pt idx="48">
                  <c:v>80.795179534829842</c:v>
                </c:pt>
                <c:pt idx="49">
                  <c:v>80.834804462842456</c:v>
                </c:pt>
                <c:pt idx="50">
                  <c:v>80.29476137074036</c:v>
                </c:pt>
                <c:pt idx="51">
                  <c:v>80.148528751466998</c:v>
                </c:pt>
                <c:pt idx="52">
                  <c:v>80.863201856677222</c:v>
                </c:pt>
                <c:pt idx="53">
                  <c:v>80.371565587072311</c:v>
                </c:pt>
                <c:pt idx="54">
                  <c:v>80.509019113606641</c:v>
                </c:pt>
                <c:pt idx="55">
                  <c:v>80.230413576908859</c:v>
                </c:pt>
                <c:pt idx="56">
                  <c:v>80.854600053374156</c:v>
                </c:pt>
                <c:pt idx="57">
                  <c:v>80.627416715059766</c:v>
                </c:pt>
                <c:pt idx="58">
                  <c:v>80.739253972117552</c:v>
                </c:pt>
                <c:pt idx="59">
                  <c:v>80.99088435974771</c:v>
                </c:pt>
                <c:pt idx="60">
                  <c:v>80.017361390352804</c:v>
                </c:pt>
                <c:pt idx="61">
                  <c:v>80.469530509749404</c:v>
                </c:pt>
                <c:pt idx="62">
                  <c:v>80.605475342831255</c:v>
                </c:pt>
                <c:pt idx="63">
                  <c:v>80.562422386491164</c:v>
                </c:pt>
                <c:pt idx="64">
                  <c:v>80.602032701404639</c:v>
                </c:pt>
                <c:pt idx="65">
                  <c:v>80.122211503315569</c:v>
                </c:pt>
                <c:pt idx="66">
                  <c:v>80.521885269099073</c:v>
                </c:pt>
                <c:pt idx="67">
                  <c:v>80.832207713684966</c:v>
                </c:pt>
                <c:pt idx="68">
                  <c:v>80.868215402592668</c:v>
                </c:pt>
                <c:pt idx="69">
                  <c:v>80.780719187127758</c:v>
                </c:pt>
                <c:pt idx="70">
                  <c:v>80.656673033130161</c:v>
                </c:pt>
                <c:pt idx="71">
                  <c:v>80.841938023336766</c:v>
                </c:pt>
                <c:pt idx="72">
                  <c:v>80.482674990771088</c:v>
                </c:pt>
                <c:pt idx="73">
                  <c:v>80.885562877615058</c:v>
                </c:pt>
                <c:pt idx="74">
                  <c:v>80.787085051978636</c:v>
                </c:pt>
                <c:pt idx="75">
                  <c:v>80.84513479944367</c:v>
                </c:pt>
                <c:pt idx="76">
                  <c:v>80.151122410348464</c:v>
                </c:pt>
                <c:pt idx="77">
                  <c:v>80.53155228358051</c:v>
                </c:pt>
                <c:pt idx="78">
                  <c:v>80.395895888968738</c:v>
                </c:pt>
                <c:pt idx="79">
                  <c:v>80.955949478334077</c:v>
                </c:pt>
                <c:pt idx="80">
                  <c:v>80.956374392569899</c:v>
                </c:pt>
                <c:pt idx="81">
                  <c:v>80.196092087872742</c:v>
                </c:pt>
                <c:pt idx="82">
                  <c:v>80.451693645660242</c:v>
                </c:pt>
                <c:pt idx="83">
                  <c:v>80.128236151411997</c:v>
                </c:pt>
                <c:pt idx="84">
                  <c:v>80.615315345443634</c:v>
                </c:pt>
                <c:pt idx="85">
                  <c:v>80.064671208221895</c:v>
                </c:pt>
                <c:pt idx="86">
                  <c:v>80.039259950033028</c:v>
                </c:pt>
                <c:pt idx="87">
                  <c:v>80.320843652111762</c:v>
                </c:pt>
                <c:pt idx="88">
                  <c:v>80.137999433603738</c:v>
                </c:pt>
                <c:pt idx="89">
                  <c:v>80.273343407663702</c:v>
                </c:pt>
                <c:pt idx="90">
                  <c:v>80.89186864807823</c:v>
                </c:pt>
                <c:pt idx="91">
                  <c:v>80.681690728931585</c:v>
                </c:pt>
                <c:pt idx="92">
                  <c:v>80.609575829353759</c:v>
                </c:pt>
                <c:pt idx="93">
                  <c:v>80.864045177953727</c:v>
                </c:pt>
                <c:pt idx="94">
                  <c:v>80.765203255732942</c:v>
                </c:pt>
                <c:pt idx="95">
                  <c:v>80.894871257074001</c:v>
                </c:pt>
                <c:pt idx="96">
                  <c:v>80.473187492967142</c:v>
                </c:pt>
                <c:pt idx="97">
                  <c:v>80.626791814113872</c:v>
                </c:pt>
                <c:pt idx="98">
                  <c:v>80.068052147126679</c:v>
                </c:pt>
                <c:pt idx="99">
                  <c:v>80.194958155252252</c:v>
                </c:pt>
                <c:pt idx="100">
                  <c:v>80.219698586644512</c:v>
                </c:pt>
              </c:numCache>
            </c:numRef>
          </c:val>
          <c:smooth val="0"/>
          <c:extLst>
            <c:ext xmlns:c16="http://schemas.microsoft.com/office/drawing/2014/chart" uri="{C3380CC4-5D6E-409C-BE32-E72D297353CC}">
              <c16:uniqueId val="{00000001-065D-490E-BBB5-73E5CE806EBE}"/>
            </c:ext>
          </c:extLst>
        </c:ser>
        <c:ser>
          <c:idx val="2"/>
          <c:order val="2"/>
          <c:tx>
            <c:strRef>
              <c:f>Sheet1!$C$1</c:f>
              <c:strCache>
                <c:ptCount val="1"/>
                <c:pt idx="0">
                  <c:v>油温</c:v>
                </c:pt>
              </c:strCache>
            </c:strRef>
          </c:tx>
          <c:spPr>
            <a:ln w="28575" cap="rnd">
              <a:solidFill>
                <a:schemeClr val="accent3"/>
              </a:solidFill>
              <a:round/>
            </a:ln>
            <a:effectLst/>
          </c:spPr>
          <c:marker>
            <c:symbol val="none"/>
          </c:marker>
          <c:val>
            <c:numRef>
              <c:f>Sheet1!$C$2:$C$102</c:f>
              <c:numCache>
                <c:formatCode>General</c:formatCode>
                <c:ptCount val="101"/>
                <c:pt idx="0">
                  <c:v>87.367379265841194</c:v>
                </c:pt>
                <c:pt idx="1">
                  <c:v>88.953202514171068</c:v>
                </c:pt>
                <c:pt idx="2">
                  <c:v>85.667713691971841</c:v>
                </c:pt>
                <c:pt idx="3">
                  <c:v>87.417794255870845</c:v>
                </c:pt>
                <c:pt idx="4">
                  <c:v>88.670641997743118</c:v>
                </c:pt>
                <c:pt idx="5">
                  <c:v>88.796296909660839</c:v>
                </c:pt>
                <c:pt idx="6">
                  <c:v>83.457348593735603</c:v>
                </c:pt>
                <c:pt idx="7">
                  <c:v>84.781129450409153</c:v>
                </c:pt>
                <c:pt idx="8">
                  <c:v>83.852155943852452</c:v>
                </c:pt>
                <c:pt idx="9">
                  <c:v>80.201020289761942</c:v>
                </c:pt>
                <c:pt idx="10">
                  <c:v>89.677774801992044</c:v>
                </c:pt>
                <c:pt idx="11">
                  <c:v>81.930809916676736</c:v>
                </c:pt>
                <c:pt idx="12">
                  <c:v>86.921705058464966</c:v>
                </c:pt>
                <c:pt idx="13">
                  <c:v>82.662628452798756</c:v>
                </c:pt>
                <c:pt idx="14">
                  <c:v>80.511410235234052</c:v>
                </c:pt>
                <c:pt idx="15">
                  <c:v>88.349415575396975</c:v>
                </c:pt>
                <c:pt idx="16">
                  <c:v>86.200376045032755</c:v>
                </c:pt>
                <c:pt idx="17">
                  <c:v>85.042338639911122</c:v>
                </c:pt>
                <c:pt idx="18">
                  <c:v>89.359323925524464</c:v>
                </c:pt>
                <c:pt idx="19">
                  <c:v>86.638358332040411</c:v>
                </c:pt>
                <c:pt idx="20">
                  <c:v>81.282849190030774</c:v>
                </c:pt>
                <c:pt idx="21">
                  <c:v>89.928670598505335</c:v>
                </c:pt>
                <c:pt idx="22">
                  <c:v>83.733060889162374</c:v>
                </c:pt>
                <c:pt idx="23">
                  <c:v>84.573989485175289</c:v>
                </c:pt>
                <c:pt idx="24">
                  <c:v>80.07903021416486</c:v>
                </c:pt>
                <c:pt idx="25">
                  <c:v>89.970865831446233</c:v>
                </c:pt>
                <c:pt idx="26">
                  <c:v>83.776591811761776</c:v>
                </c:pt>
                <c:pt idx="27">
                  <c:v>81.895003014182564</c:v>
                </c:pt>
                <c:pt idx="28">
                  <c:v>85.927733624526098</c:v>
                </c:pt>
                <c:pt idx="29">
                  <c:v>88.62755400497123</c:v>
                </c:pt>
                <c:pt idx="30">
                  <c:v>86.83312105761209</c:v>
                </c:pt>
                <c:pt idx="31">
                  <c:v>83.753163139767338</c:v>
                </c:pt>
                <c:pt idx="32">
                  <c:v>86.624942364681303</c:v>
                </c:pt>
                <c:pt idx="33">
                  <c:v>87.548634836395905</c:v>
                </c:pt>
                <c:pt idx="34">
                  <c:v>82.063041258325413</c:v>
                </c:pt>
                <c:pt idx="35">
                  <c:v>87.632930719897146</c:v>
                </c:pt>
                <c:pt idx="36">
                  <c:v>89.154237672145939</c:v>
                </c:pt>
                <c:pt idx="37">
                  <c:v>87.917912946001053</c:v>
                </c:pt>
                <c:pt idx="38">
                  <c:v>80.645276575051227</c:v>
                </c:pt>
                <c:pt idx="39">
                  <c:v>80.598050245203069</c:v>
                </c:pt>
                <c:pt idx="40">
                  <c:v>83.629876729510954</c:v>
                </c:pt>
                <c:pt idx="41">
                  <c:v>81.52511036539191</c:v>
                </c:pt>
                <c:pt idx="42">
                  <c:v>87.266583665976611</c:v>
                </c:pt>
                <c:pt idx="43">
                  <c:v>83.364690022610432</c:v>
                </c:pt>
                <c:pt idx="44">
                  <c:v>89.513009077773972</c:v>
                </c:pt>
                <c:pt idx="45">
                  <c:v>80.350481769779364</c:v>
                </c:pt>
                <c:pt idx="46">
                  <c:v>82.149698385743548</c:v>
                </c:pt>
                <c:pt idx="47">
                  <c:v>86.224142671571741</c:v>
                </c:pt>
                <c:pt idx="48">
                  <c:v>88.985108022127307</c:v>
                </c:pt>
                <c:pt idx="49">
                  <c:v>82.079412810335768</c:v>
                </c:pt>
                <c:pt idx="50">
                  <c:v>84.105976421040381</c:v>
                </c:pt>
                <c:pt idx="51">
                  <c:v>80.080907081596209</c:v>
                </c:pt>
                <c:pt idx="52">
                  <c:v>80.645385194731546</c:v>
                </c:pt>
                <c:pt idx="53">
                  <c:v>83.670041471920143</c:v>
                </c:pt>
                <c:pt idx="54">
                  <c:v>81.260770639345836</c:v>
                </c:pt>
                <c:pt idx="55">
                  <c:v>80.496619991221223</c:v>
                </c:pt>
                <c:pt idx="56">
                  <c:v>82.082895718263927</c:v>
                </c:pt>
                <c:pt idx="57">
                  <c:v>87.990157138407241</c:v>
                </c:pt>
                <c:pt idx="58">
                  <c:v>82.592908914362425</c:v>
                </c:pt>
                <c:pt idx="59">
                  <c:v>86.81045449552029</c:v>
                </c:pt>
                <c:pt idx="60">
                  <c:v>86.463648185780187</c:v>
                </c:pt>
                <c:pt idx="61">
                  <c:v>87.841789349856697</c:v>
                </c:pt>
                <c:pt idx="62">
                  <c:v>80.211308989025284</c:v>
                </c:pt>
                <c:pt idx="63">
                  <c:v>83.335065232400481</c:v>
                </c:pt>
                <c:pt idx="64">
                  <c:v>80.236851426199863</c:v>
                </c:pt>
                <c:pt idx="65">
                  <c:v>87.719357060972484</c:v>
                </c:pt>
                <c:pt idx="66">
                  <c:v>86.088775358375656</c:v>
                </c:pt>
                <c:pt idx="67">
                  <c:v>84.353055181800656</c:v>
                </c:pt>
                <c:pt idx="68">
                  <c:v>85.840735821188517</c:v>
                </c:pt>
                <c:pt idx="69">
                  <c:v>86.876566089344934</c:v>
                </c:pt>
                <c:pt idx="70">
                  <c:v>82.720222344383487</c:v>
                </c:pt>
                <c:pt idx="71">
                  <c:v>88.406177534862934</c:v>
                </c:pt>
                <c:pt idx="72">
                  <c:v>87.589989483528541</c:v>
                </c:pt>
                <c:pt idx="73">
                  <c:v>83.405422860566404</c:v>
                </c:pt>
                <c:pt idx="74">
                  <c:v>82.783973524926751</c:v>
                </c:pt>
                <c:pt idx="75">
                  <c:v>84.222013567965504</c:v>
                </c:pt>
                <c:pt idx="76">
                  <c:v>89.307675505298263</c:v>
                </c:pt>
                <c:pt idx="77">
                  <c:v>82.170704891955992</c:v>
                </c:pt>
                <c:pt idx="78">
                  <c:v>86.868270187823086</c:v>
                </c:pt>
                <c:pt idx="79">
                  <c:v>80.993322761040275</c:v>
                </c:pt>
                <c:pt idx="80">
                  <c:v>81.73519190076469</c:v>
                </c:pt>
                <c:pt idx="81">
                  <c:v>86.423013171562644</c:v>
                </c:pt>
                <c:pt idx="82">
                  <c:v>85.660494444854351</c:v>
                </c:pt>
                <c:pt idx="83">
                  <c:v>86.988089920096627</c:v>
                </c:pt>
                <c:pt idx="84">
                  <c:v>80.652007651411694</c:v>
                </c:pt>
                <c:pt idx="85">
                  <c:v>80.186265000194865</c:v>
                </c:pt>
                <c:pt idx="86">
                  <c:v>83.632693192169839</c:v>
                </c:pt>
                <c:pt idx="87">
                  <c:v>84.422830428577896</c:v>
                </c:pt>
                <c:pt idx="88">
                  <c:v>86.244538816786331</c:v>
                </c:pt>
                <c:pt idx="89">
                  <c:v>88.416984110742021</c:v>
                </c:pt>
                <c:pt idx="90">
                  <c:v>82.407131908537224</c:v>
                </c:pt>
                <c:pt idx="91">
                  <c:v>84.221222307581499</c:v>
                </c:pt>
                <c:pt idx="92">
                  <c:v>85.565412494345679</c:v>
                </c:pt>
                <c:pt idx="93">
                  <c:v>86.171154654971261</c:v>
                </c:pt>
                <c:pt idx="94">
                  <c:v>88.566308914502201</c:v>
                </c:pt>
                <c:pt idx="95">
                  <c:v>88.117000022274809</c:v>
                </c:pt>
                <c:pt idx="96">
                  <c:v>84.851565068115633</c:v>
                </c:pt>
                <c:pt idx="97">
                  <c:v>89.189291304698855</c:v>
                </c:pt>
                <c:pt idx="98">
                  <c:v>87.669881556487923</c:v>
                </c:pt>
                <c:pt idx="99">
                  <c:v>84.086660637581431</c:v>
                </c:pt>
                <c:pt idx="100">
                  <c:v>83.920913607765655</c:v>
                </c:pt>
              </c:numCache>
            </c:numRef>
          </c:val>
          <c:smooth val="0"/>
          <c:extLst>
            <c:ext xmlns:c16="http://schemas.microsoft.com/office/drawing/2014/chart" uri="{C3380CC4-5D6E-409C-BE32-E72D297353CC}">
              <c16:uniqueId val="{00000002-065D-490E-BBB5-73E5CE806EBE}"/>
            </c:ext>
          </c:extLst>
        </c:ser>
        <c:dLbls>
          <c:showLegendKey val="0"/>
          <c:showVal val="0"/>
          <c:showCatName val="0"/>
          <c:showSerName val="0"/>
          <c:showPercent val="0"/>
          <c:showBubbleSize val="0"/>
        </c:dLbls>
        <c:smooth val="0"/>
        <c:axId val="1049257824"/>
        <c:axId val="1057013472"/>
      </c:lineChart>
      <c:catAx>
        <c:axId val="104925782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7013472"/>
        <c:crosses val="autoZero"/>
        <c:auto val="1"/>
        <c:lblAlgn val="ctr"/>
        <c:lblOffset val="100"/>
        <c:noMultiLvlLbl val="0"/>
      </c:catAx>
      <c:valAx>
        <c:axId val="1057013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49257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A78CBD-1AE6-453F-8F9C-EE95E360052E}" type="datetimeFigureOut">
              <a:rPr kumimoji="1" lang="ja-JP" altLang="en-US" smtClean="0"/>
              <a:t>2022/2/3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95F2D1-B10A-4833-B066-487BC32B62D9}" type="slidenum">
              <a:rPr kumimoji="1" lang="ja-JP" altLang="en-US" smtClean="0"/>
              <a:t>‹#›</a:t>
            </a:fld>
            <a:endParaRPr kumimoji="1" lang="ja-JP" altLang="en-US"/>
          </a:p>
        </p:txBody>
      </p:sp>
    </p:spTree>
    <p:extLst>
      <p:ext uri="{BB962C8B-B14F-4D97-AF65-F5344CB8AC3E}">
        <p14:creationId xmlns:p14="http://schemas.microsoft.com/office/powerpoint/2010/main" val="36322089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5</a:t>
            </a:fld>
            <a:endParaRPr kumimoji="1" lang="ja-JP" altLang="en-US"/>
          </a:p>
        </p:txBody>
      </p:sp>
    </p:spTree>
    <p:extLst>
      <p:ext uri="{BB962C8B-B14F-4D97-AF65-F5344CB8AC3E}">
        <p14:creationId xmlns:p14="http://schemas.microsoft.com/office/powerpoint/2010/main" val="1656236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8</a:t>
            </a:fld>
            <a:endParaRPr kumimoji="1" lang="ja-JP" altLang="en-US"/>
          </a:p>
        </p:txBody>
      </p:sp>
    </p:spTree>
    <p:extLst>
      <p:ext uri="{BB962C8B-B14F-4D97-AF65-F5344CB8AC3E}">
        <p14:creationId xmlns:p14="http://schemas.microsoft.com/office/powerpoint/2010/main" val="3374392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補足</a:t>
            </a:r>
            <a:r>
              <a:rPr kumimoji="1" lang="en-US" altLang="ja-JP" dirty="0"/>
              <a:t>】</a:t>
            </a:r>
          </a:p>
          <a:p>
            <a:r>
              <a:rPr kumimoji="1" lang="ja-JP" altLang="en-US" dirty="0"/>
              <a:t>②車両とのデータのやりとりは送信番号単位で行われるので、まずは送信番号を取得する必要がある。</a:t>
            </a:r>
            <a:endParaRPr kumimoji="1" lang="en-US" altLang="ja-JP" dirty="0"/>
          </a:p>
          <a:p>
            <a:endParaRPr kumimoji="1" lang="en-US" altLang="ja-JP" dirty="0"/>
          </a:p>
          <a:p>
            <a:r>
              <a:rPr kumimoji="1" lang="ja-JP" altLang="en-US" dirty="0"/>
              <a:t>④無駄な通信量の発生を防ぐために、未受信のもののみを要求する。</a:t>
            </a:r>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9</a:t>
            </a:fld>
            <a:endParaRPr kumimoji="1" lang="ja-JP" altLang="en-US"/>
          </a:p>
        </p:txBody>
      </p:sp>
    </p:spTree>
    <p:extLst>
      <p:ext uri="{BB962C8B-B14F-4D97-AF65-F5344CB8AC3E}">
        <p14:creationId xmlns:p14="http://schemas.microsoft.com/office/powerpoint/2010/main" val="961896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具体的な操作内容を説明</a:t>
            </a:r>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19</a:t>
            </a:fld>
            <a:endParaRPr kumimoji="1" lang="ja-JP" altLang="en-US"/>
          </a:p>
        </p:txBody>
      </p:sp>
    </p:spTree>
    <p:extLst>
      <p:ext uri="{BB962C8B-B14F-4D97-AF65-F5344CB8AC3E}">
        <p14:creationId xmlns:p14="http://schemas.microsoft.com/office/powerpoint/2010/main" val="1095759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3</a:t>
            </a:r>
            <a:r>
              <a:rPr kumimoji="1" lang="ja-JP" altLang="en-US" dirty="0"/>
              <a:t>つタブがあることを説明する。</a:t>
            </a:r>
            <a:endParaRPr kumimoji="1" lang="en-US" altLang="ja-JP" dirty="0"/>
          </a:p>
          <a:p>
            <a:r>
              <a:rPr kumimoji="1" lang="ja-JP" altLang="en-US" dirty="0"/>
              <a:t>その後、期間指定要求の説明</a:t>
            </a:r>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20</a:t>
            </a:fld>
            <a:endParaRPr kumimoji="1" lang="ja-JP" altLang="en-US"/>
          </a:p>
        </p:txBody>
      </p:sp>
    </p:spTree>
    <p:extLst>
      <p:ext uri="{BB962C8B-B14F-4D97-AF65-F5344CB8AC3E}">
        <p14:creationId xmlns:p14="http://schemas.microsoft.com/office/powerpoint/2010/main" val="2755049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21</a:t>
            </a:fld>
            <a:endParaRPr kumimoji="1" lang="ja-JP" altLang="en-US"/>
          </a:p>
        </p:txBody>
      </p:sp>
    </p:spTree>
    <p:extLst>
      <p:ext uri="{BB962C8B-B14F-4D97-AF65-F5344CB8AC3E}">
        <p14:creationId xmlns:p14="http://schemas.microsoft.com/office/powerpoint/2010/main" val="1700472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要求の成功・失敗を確認可能</a:t>
            </a:r>
          </a:p>
        </p:txBody>
      </p:sp>
      <p:sp>
        <p:nvSpPr>
          <p:cNvPr id="4" name="スライド番号プレースホルダー 3"/>
          <p:cNvSpPr>
            <a:spLocks noGrp="1"/>
          </p:cNvSpPr>
          <p:nvPr>
            <p:ph type="sldNum" sz="quarter" idx="5"/>
          </p:nvPr>
        </p:nvSpPr>
        <p:spPr/>
        <p:txBody>
          <a:bodyPr/>
          <a:lstStyle/>
          <a:p>
            <a:fld id="{B695F2D1-B10A-4833-B066-487BC32B62D9}" type="slidenum">
              <a:rPr kumimoji="1" lang="ja-JP" altLang="en-US" smtClean="0"/>
              <a:t>23</a:t>
            </a:fld>
            <a:endParaRPr kumimoji="1" lang="ja-JP" altLang="en-US"/>
          </a:p>
        </p:txBody>
      </p:sp>
    </p:spTree>
    <p:extLst>
      <p:ext uri="{BB962C8B-B14F-4D97-AF65-F5344CB8AC3E}">
        <p14:creationId xmlns:p14="http://schemas.microsoft.com/office/powerpoint/2010/main" val="356466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15791E7-2957-468C-8F08-4A0BA4B85230}" type="slidenum">
              <a:rPr kumimoji="1" lang="ja-JP" altLang="en-US" smtClean="0"/>
              <a:t>30</a:t>
            </a:fld>
            <a:endParaRPr kumimoji="1" lang="ja-JP" altLang="en-US"/>
          </a:p>
        </p:txBody>
      </p:sp>
    </p:spTree>
    <p:extLst>
      <p:ext uri="{BB962C8B-B14F-4D97-AF65-F5344CB8AC3E}">
        <p14:creationId xmlns:p14="http://schemas.microsoft.com/office/powerpoint/2010/main" val="24013437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タイトルスライド">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black">
          <a:xfrm>
            <a:off x="2329838" y="2417481"/>
            <a:ext cx="6359947" cy="1869640"/>
          </a:xfrm>
        </p:spPr>
        <p:txBody>
          <a:bodyPr anchor="t" anchorCtr="0">
            <a:noAutofit/>
          </a:bodyPr>
          <a:lstStyle>
            <a:lvl1pPr algn="l">
              <a:defRPr sz="3200" b="0">
                <a:solidFill>
                  <a:schemeClr val="tx2"/>
                </a:solidFill>
              </a:defRPr>
            </a:lvl1pPr>
          </a:lstStyle>
          <a:p>
            <a:r>
              <a:rPr lang="en-US" dirty="0"/>
              <a:t>Click to edit Master title style</a:t>
            </a:r>
          </a:p>
        </p:txBody>
      </p:sp>
      <p:sp>
        <p:nvSpPr>
          <p:cNvPr id="3" name="Subtitle 2"/>
          <p:cNvSpPr>
            <a:spLocks noGrp="1"/>
          </p:cNvSpPr>
          <p:nvPr>
            <p:ph type="subTitle" idx="1"/>
          </p:nvPr>
        </p:nvSpPr>
        <p:spPr>
          <a:xfrm>
            <a:off x="2329839" y="4287122"/>
            <a:ext cx="6359948" cy="796863"/>
          </a:xfrm>
        </p:spPr>
        <p:txBody>
          <a:bodyPr lIns="0">
            <a:noAutofit/>
          </a:bodyPr>
          <a:lstStyle>
            <a:lvl1pPr marL="0" indent="0" algn="l">
              <a:spcBef>
                <a:spcPts val="0"/>
              </a:spcBef>
              <a:spcAft>
                <a:spcPts val="0"/>
              </a:spcAft>
              <a:buNone/>
              <a:defRPr sz="2400" b="1"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Text Placeholder 5">
            <a:extLst>
              <a:ext uri="{FF2B5EF4-FFF2-40B4-BE49-F238E27FC236}">
                <a16:creationId xmlns:a16="http://schemas.microsoft.com/office/drawing/2014/main" id="{8724766A-65AA-400C-8EF5-033BEAC2EF68}"/>
              </a:ext>
            </a:extLst>
          </p:cNvPr>
          <p:cNvSpPr>
            <a:spLocks noGrp="1"/>
          </p:cNvSpPr>
          <p:nvPr>
            <p:ph type="body" sz="quarter" idx="10"/>
          </p:nvPr>
        </p:nvSpPr>
        <p:spPr>
          <a:xfrm>
            <a:off x="2329839" y="5084233"/>
            <a:ext cx="5081614" cy="795867"/>
          </a:xfrm>
        </p:spPr>
        <p:txBody>
          <a:bodyPr lIns="36000"/>
          <a:lstStyle>
            <a:lvl1pPr marL="0" indent="0">
              <a:spcBef>
                <a:spcPts val="0"/>
              </a:spcBef>
              <a:buFont typeface="Arial" panose="020B0604020202020204" pitchFamily="34" charset="0"/>
              <a:buNone/>
              <a:defRPr sz="1200" b="1">
                <a:solidFill>
                  <a:schemeClr val="tx1"/>
                </a:solidFill>
              </a:defRPr>
            </a:lvl1pPr>
            <a:lvl2pPr marL="0" indent="0">
              <a:buFont typeface="Arial" panose="020B0604020202020204" pitchFamily="34" charset="0"/>
              <a:buNone/>
              <a:defRPr sz="1200" b="1">
                <a:solidFill>
                  <a:schemeClr val="tx1"/>
                </a:solidFill>
              </a:defRPr>
            </a:lvl2pPr>
          </a:lstStyle>
          <a:p>
            <a:pPr lvl="0"/>
            <a:r>
              <a:rPr lang="en-US"/>
              <a:t>Click to edit Master text styles</a:t>
            </a:r>
          </a:p>
          <a:p>
            <a:pPr lvl="1"/>
            <a:r>
              <a:rPr lang="en-US"/>
              <a:t>Second level</a:t>
            </a:r>
          </a:p>
        </p:txBody>
      </p:sp>
      <p:pic>
        <p:nvPicPr>
          <p:cNvPr id="7" name="Picture 6">
            <a:extLst>
              <a:ext uri="{FF2B5EF4-FFF2-40B4-BE49-F238E27FC236}">
                <a16:creationId xmlns:a16="http://schemas.microsoft.com/office/drawing/2014/main" id="{59F9A08F-F851-409A-81EC-991EA271E53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6647" y="316763"/>
            <a:ext cx="3195767" cy="1037777"/>
          </a:xfrm>
          <a:prstGeom prst="rect">
            <a:avLst/>
          </a:prstGeom>
        </p:spPr>
      </p:pic>
    </p:spTree>
    <p:extLst>
      <p:ext uri="{BB962C8B-B14F-4D97-AF65-F5344CB8AC3E}">
        <p14:creationId xmlns:p14="http://schemas.microsoft.com/office/powerpoint/2010/main" val="167473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箇条書き）">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2024" y="126001"/>
            <a:ext cx="8750808" cy="396000"/>
          </a:xfrm>
        </p:spPr>
        <p:txBody>
          <a:bodyPr/>
          <a:lstStyle/>
          <a:p>
            <a:r>
              <a:rPr lang="en-US" dirty="0"/>
              <a:t>Click to edit Master title style</a:t>
            </a:r>
          </a:p>
        </p:txBody>
      </p:sp>
      <p:sp>
        <p:nvSpPr>
          <p:cNvPr id="3" name="Content Placeholder 2"/>
          <p:cNvSpPr>
            <a:spLocks noGrp="1"/>
          </p:cNvSpPr>
          <p:nvPr>
            <p:ph idx="1"/>
          </p:nvPr>
        </p:nvSpPr>
        <p:spPr>
          <a:xfrm>
            <a:off x="192024" y="612000"/>
            <a:ext cx="8750808" cy="5850000"/>
          </a:xfrm>
        </p:spPr>
        <p:txBody>
          <a:bodyPr/>
          <a:lstStyle>
            <a:lvl1pPr marL="180000" indent="-180000" defTabSz="90000">
              <a:buFont typeface="Arial" panose="020B0604020202020204" pitchFamily="34" charset="0"/>
              <a:buChar char="●"/>
              <a:defRPr>
                <a:solidFill>
                  <a:schemeClr val="tx1"/>
                </a:solidFill>
              </a:defRPr>
            </a:lvl1pPr>
            <a:lvl2pPr marL="360000" indent="-180000" defTabSz="90000">
              <a:buFont typeface="Calibri" panose="020F0502020204030204" pitchFamily="34" charset="0"/>
              <a:buChar char="○"/>
              <a:defRPr>
                <a:solidFill>
                  <a:schemeClr val="tx1"/>
                </a:solidFill>
              </a:defRPr>
            </a:lvl2pPr>
            <a:lvl3pPr marL="504000" indent="-144000" defTabSz="90000">
              <a:buFont typeface="Wingdings" panose="05000000000000000000" pitchFamily="2" charset="2"/>
              <a:buChar char="§"/>
              <a:defRPr>
                <a:solidFill>
                  <a:schemeClr val="tx1"/>
                </a:solidFill>
              </a:defRPr>
            </a:lvl3pPr>
            <a:lvl4pPr marL="684000" indent="-144000" defTabSz="90000">
              <a:buFont typeface="Arial" panose="020B0604020202020204" pitchFamily="34" charset="0"/>
              <a:buChar char="›"/>
              <a:defRPr>
                <a:solidFill>
                  <a:schemeClr val="tx1"/>
                </a:solidFill>
              </a:defRPr>
            </a:lvl4pPr>
            <a:lvl5pPr marL="792000" indent="-108000" defTabSz="90000">
              <a:buFont typeface="Arial" panose="020B0604020202020204" pitchFamily="34" charset="0"/>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78222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段落番号）">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2024" y="126001"/>
            <a:ext cx="8750808" cy="396000"/>
          </a:xfrm>
        </p:spPr>
        <p:txBody>
          <a:bodyPr/>
          <a:lstStyle/>
          <a:p>
            <a:r>
              <a:rPr lang="en-US"/>
              <a:t>Click to edit Master title style</a:t>
            </a:r>
          </a:p>
        </p:txBody>
      </p:sp>
      <p:sp>
        <p:nvSpPr>
          <p:cNvPr id="3" name="Content Placeholder 2"/>
          <p:cNvSpPr>
            <a:spLocks noGrp="1"/>
          </p:cNvSpPr>
          <p:nvPr>
            <p:ph idx="1"/>
          </p:nvPr>
        </p:nvSpPr>
        <p:spPr>
          <a:xfrm>
            <a:off x="192024" y="611999"/>
            <a:ext cx="8750808" cy="5850000"/>
          </a:xfrm>
        </p:spPr>
        <p:txBody>
          <a:bodyPr/>
          <a:lstStyle>
            <a:lvl1pPr marL="180000" indent="-180000" defTabSz="90000">
              <a:buSzPct val="100000"/>
              <a:buFont typeface="+mj-lt"/>
              <a:buAutoNum type="arabicPeriod"/>
              <a:defRPr>
                <a:solidFill>
                  <a:schemeClr val="tx1"/>
                </a:solidFill>
              </a:defRPr>
            </a:lvl1pPr>
            <a:lvl2pPr marL="360000" indent="-180000" defTabSz="90000">
              <a:buFont typeface="+mj-lt"/>
              <a:buAutoNum type="alphaLcPeriod"/>
              <a:defRPr>
                <a:solidFill>
                  <a:schemeClr val="tx1"/>
                </a:solidFill>
              </a:defRPr>
            </a:lvl2pPr>
            <a:lvl3pPr marL="504000" indent="-144000" defTabSz="90000">
              <a:buFont typeface="+mj-lt"/>
              <a:buAutoNum type="romanLcPeriod"/>
              <a:defRPr>
                <a:solidFill>
                  <a:schemeClr val="tx1"/>
                </a:solidFill>
              </a:defRPr>
            </a:lvl3pPr>
            <a:lvl4pPr marL="684000" indent="-144000" defTabSz="90000">
              <a:buFont typeface="+mj-lt"/>
              <a:buAutoNum type="romanLcPeriod"/>
              <a:defRPr>
                <a:solidFill>
                  <a:schemeClr val="tx1"/>
                </a:solidFill>
              </a:defRPr>
            </a:lvl4pPr>
            <a:lvl5pPr marL="792000" indent="-108000" defTabSz="90000">
              <a:buFont typeface="+mj-lt"/>
              <a:buAutoNum type="romanLcPeriod"/>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3540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9CBAC0A-55B6-4BBD-9C8A-0312FD200BA5}"/>
              </a:ext>
            </a:extLst>
          </p:cNvPr>
          <p:cNvSpPr>
            <a:spLocks noGrp="1"/>
          </p:cNvSpPr>
          <p:nvPr>
            <p:ph type="body" sz="quarter" idx="10"/>
          </p:nvPr>
        </p:nvSpPr>
        <p:spPr>
          <a:xfrm>
            <a:off x="365760" y="1002083"/>
            <a:ext cx="8412480" cy="2426917"/>
          </a:xfrm>
        </p:spPr>
        <p:txBody>
          <a:bodyPr anchor="b" anchorCtr="0">
            <a:noAutofit/>
          </a:bodyPr>
          <a:lstStyle>
            <a:lvl1pPr marL="0" indent="0" algn="ctr">
              <a:buNone/>
              <a:defRPr sz="2800" b="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279D6834-D149-40C7-98C4-9694CB8C3AA3}"/>
              </a:ext>
            </a:extLst>
          </p:cNvPr>
          <p:cNvSpPr>
            <a:spLocks noGrp="1"/>
          </p:cNvSpPr>
          <p:nvPr>
            <p:ph type="body" sz="quarter" idx="11"/>
          </p:nvPr>
        </p:nvSpPr>
        <p:spPr>
          <a:xfrm>
            <a:off x="365760" y="3718145"/>
            <a:ext cx="8412480" cy="2060356"/>
          </a:xfrm>
        </p:spPr>
        <p:txBody>
          <a:bodyPr>
            <a:noAutofit/>
          </a:bodyPr>
          <a:lstStyle>
            <a:lvl1pPr marL="0" indent="0" algn="ctr">
              <a:buNone/>
              <a:defRPr sz="18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638742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セクション見出し（写真入り）">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E1F54CF-8A67-48CE-83B8-57E84A36125E}"/>
              </a:ext>
            </a:extLst>
          </p:cNvPr>
          <p:cNvSpPr>
            <a:spLocks noGrp="1"/>
          </p:cNvSpPr>
          <p:nvPr>
            <p:ph type="pic" sz="quarter" idx="12"/>
          </p:nvPr>
        </p:nvSpPr>
        <p:spPr>
          <a:xfrm>
            <a:off x="0" y="542925"/>
            <a:ext cx="9144000" cy="5876925"/>
          </a:xfrm>
        </p:spPr>
        <p:txBody>
          <a:bodyPr/>
          <a:lstStyle>
            <a:lvl1pPr marL="0" indent="0">
              <a:buNone/>
              <a:defRPr/>
            </a:lvl1pPr>
          </a:lstStyle>
          <a:p>
            <a:r>
              <a:rPr lang="en-US"/>
              <a:t>Click icon to add picture</a:t>
            </a:r>
          </a:p>
        </p:txBody>
      </p:sp>
      <p:sp>
        <p:nvSpPr>
          <p:cNvPr id="7" name="Oval 6">
            <a:extLst>
              <a:ext uri="{FF2B5EF4-FFF2-40B4-BE49-F238E27FC236}">
                <a16:creationId xmlns:a16="http://schemas.microsoft.com/office/drawing/2014/main" id="{BD47AFF7-DB9F-4565-8DA3-2FC02AFC07A3}"/>
              </a:ext>
            </a:extLst>
          </p:cNvPr>
          <p:cNvSpPr/>
          <p:nvPr/>
        </p:nvSpPr>
        <p:spPr>
          <a:xfrm>
            <a:off x="365760" y="1620034"/>
            <a:ext cx="8503920" cy="3490585"/>
          </a:xfrm>
          <a:prstGeom prst="ellipse">
            <a:avLst/>
          </a:prstGeom>
          <a:gradFill flip="none" rotWithShape="1">
            <a:gsLst>
              <a:gs pos="25000">
                <a:schemeClr val="bg1"/>
              </a:gs>
              <a:gs pos="75000">
                <a:schemeClr val="bg1">
                  <a:alpha val="50000"/>
                </a:schemeClr>
              </a:gs>
              <a:gs pos="100000">
                <a:schemeClr val="bg1">
                  <a:alpha val="0"/>
                </a:schemeClr>
              </a:gs>
            </a:gsLst>
            <a:path path="circle">
              <a:fillToRect l="50000" t="50000" r="50000" b="50000"/>
            </a:path>
            <a:tileRect/>
          </a:gra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Oval 12">
            <a:extLst>
              <a:ext uri="{FF2B5EF4-FFF2-40B4-BE49-F238E27FC236}">
                <a16:creationId xmlns:a16="http://schemas.microsoft.com/office/drawing/2014/main" id="{D02BC936-8B3D-4D5C-91BF-60560E3FA9EC}"/>
              </a:ext>
            </a:extLst>
          </p:cNvPr>
          <p:cNvSpPr/>
          <p:nvPr/>
        </p:nvSpPr>
        <p:spPr>
          <a:xfrm>
            <a:off x="365760" y="1620034"/>
            <a:ext cx="8503920" cy="3490585"/>
          </a:xfrm>
          <a:prstGeom prst="ellipse">
            <a:avLst/>
          </a:prstGeom>
          <a:gradFill flip="none" rotWithShape="1">
            <a:gsLst>
              <a:gs pos="25000">
                <a:schemeClr val="bg1"/>
              </a:gs>
              <a:gs pos="75000">
                <a:schemeClr val="bg1">
                  <a:alpha val="50000"/>
                </a:schemeClr>
              </a:gs>
              <a:gs pos="100000">
                <a:schemeClr val="bg1">
                  <a:alpha val="0"/>
                </a:schemeClr>
              </a:gs>
            </a:gsLst>
            <a:path path="circle">
              <a:fillToRect l="50000" t="50000" r="50000" b="50000"/>
            </a:path>
            <a:tileRect/>
          </a:gra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Text Placeholder 7">
            <a:extLst>
              <a:ext uri="{FF2B5EF4-FFF2-40B4-BE49-F238E27FC236}">
                <a16:creationId xmlns:a16="http://schemas.microsoft.com/office/drawing/2014/main" id="{59CBAC0A-55B6-4BBD-9C8A-0312FD200BA5}"/>
              </a:ext>
            </a:extLst>
          </p:cNvPr>
          <p:cNvSpPr>
            <a:spLocks noGrp="1"/>
          </p:cNvSpPr>
          <p:nvPr>
            <p:ph type="body" sz="quarter" idx="10"/>
          </p:nvPr>
        </p:nvSpPr>
        <p:spPr>
          <a:xfrm>
            <a:off x="365760" y="1002083"/>
            <a:ext cx="8412480" cy="2426917"/>
          </a:xfrm>
        </p:spPr>
        <p:txBody>
          <a:bodyPr anchor="b" anchorCtr="0">
            <a:noAutofit/>
          </a:bodyPr>
          <a:lstStyle>
            <a:lvl1pPr marL="0" indent="0" algn="ctr">
              <a:buNone/>
              <a:defRPr sz="2800" b="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279D6834-D149-40C7-98C4-9694CB8C3AA3}"/>
              </a:ext>
            </a:extLst>
          </p:cNvPr>
          <p:cNvSpPr>
            <a:spLocks noGrp="1"/>
          </p:cNvSpPr>
          <p:nvPr>
            <p:ph type="body" sz="quarter" idx="11"/>
          </p:nvPr>
        </p:nvSpPr>
        <p:spPr>
          <a:xfrm>
            <a:off x="365760" y="3718145"/>
            <a:ext cx="8412480" cy="2060356"/>
          </a:xfrm>
        </p:spPr>
        <p:txBody>
          <a:bodyPr>
            <a:noAutofit/>
          </a:bodyPr>
          <a:lstStyle>
            <a:lvl1pPr marL="0" indent="0" algn="ctr">
              <a:buNone/>
              <a:defRPr sz="1800" b="0"/>
            </a:lvl1pPr>
          </a:lstStyle>
          <a:p>
            <a:pPr lvl="0"/>
            <a:r>
              <a:rPr lang="en-US"/>
              <a:t>Click to edit Master text styles</a:t>
            </a:r>
          </a:p>
        </p:txBody>
      </p:sp>
    </p:spTree>
    <p:extLst>
      <p:ext uri="{BB962C8B-B14F-4D97-AF65-F5344CB8AC3E}">
        <p14:creationId xmlns:p14="http://schemas.microsoft.com/office/powerpoint/2010/main" val="3478845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つのコンテンツ（箇条書き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1968" y="611999"/>
            <a:ext cx="3942711" cy="585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9851" y="611999"/>
            <a:ext cx="4669612" cy="585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46390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つのコンテンツ（段落番号）">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1968" y="612000"/>
            <a:ext cx="3942711" cy="5850000"/>
          </a:xfrm>
        </p:spPr>
        <p:txBody>
          <a:bodyPr/>
          <a:lstStyle>
            <a:lvl1pPr marL="180000" indent="-180000">
              <a:buSzPct val="100000"/>
              <a:buFont typeface="+mj-lt"/>
              <a:buAutoNum type="arabicPeriod"/>
              <a:defRPr/>
            </a:lvl1pPr>
            <a:lvl2pPr marL="360000" indent="-180000">
              <a:buFont typeface="+mj-lt"/>
              <a:buAutoNum type="alphaLcPeriod"/>
              <a:defRPr/>
            </a:lvl2pPr>
            <a:lvl3pPr marL="504000" indent="-144000">
              <a:buFont typeface="+mj-lt"/>
              <a:buAutoNum type="romanLcPeriod"/>
              <a:defRPr/>
            </a:lvl3pPr>
            <a:lvl4pPr marL="684000" indent="-144000">
              <a:buFont typeface="+mj-lt"/>
              <a:buAutoNum type="romanLcPeriod"/>
              <a:defRPr/>
            </a:lvl4pPr>
            <a:lvl5pPr marL="792000" indent="-108000">
              <a:buFont typeface="+mj-lt"/>
              <a:buAutoNum type="romanLcPerio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69851" y="612000"/>
            <a:ext cx="4669612" cy="5850000"/>
          </a:xfrm>
        </p:spPr>
        <p:txBody>
          <a:bodyPr/>
          <a:lstStyle>
            <a:lvl1pPr marL="180000" indent="-180000">
              <a:buSzPct val="100000"/>
              <a:buFont typeface="+mj-lt"/>
              <a:buAutoNum type="arabicPeriod"/>
              <a:defRPr/>
            </a:lvl1pPr>
            <a:lvl2pPr marL="360000" indent="-180000">
              <a:buFont typeface="+mj-lt"/>
              <a:buAutoNum type="alphaLcPeriod"/>
              <a:defRPr/>
            </a:lvl2pPr>
            <a:lvl3pPr marL="504000" indent="-144000">
              <a:buFont typeface="+mj-lt"/>
              <a:buAutoNum type="romanLcPeriod"/>
              <a:defRPr/>
            </a:lvl3pPr>
            <a:lvl4pPr marL="684000" indent="-144000">
              <a:buFont typeface="+mj-lt"/>
              <a:buAutoNum type="romanLcPeriod"/>
              <a:defRPr/>
            </a:lvl4pPr>
            <a:lvl5pPr marL="792000" indent="-108000">
              <a:buFont typeface="+mj-lt"/>
              <a:buAutoNum type="romanLcPerio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9158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つのコンテンツ（箇条書き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1968" y="864000"/>
            <a:ext cx="3942711" cy="54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52EAE3B0-59F3-470A-BF59-64535518C78E}"/>
              </a:ext>
            </a:extLst>
          </p:cNvPr>
          <p:cNvSpPr>
            <a:spLocks noGrp="1"/>
          </p:cNvSpPr>
          <p:nvPr>
            <p:ph type="pic" sz="quarter" idx="10"/>
          </p:nvPr>
        </p:nvSpPr>
        <p:spPr>
          <a:xfrm>
            <a:off x="4262438" y="864000"/>
            <a:ext cx="4881562" cy="547200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259893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写真のみ">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8AD1B8-CB73-411B-976B-DD79AAFE1599}"/>
              </a:ext>
            </a:extLst>
          </p:cNvPr>
          <p:cNvSpPr/>
          <p:nvPr/>
        </p:nvSpPr>
        <p:spPr>
          <a:xfrm>
            <a:off x="1" y="-1"/>
            <a:ext cx="9144000" cy="9371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Picture Placeholder 3">
            <a:extLst>
              <a:ext uri="{FF2B5EF4-FFF2-40B4-BE49-F238E27FC236}">
                <a16:creationId xmlns:a16="http://schemas.microsoft.com/office/drawing/2014/main" id="{31338F0F-F1E2-452D-B5E1-6CBC1D5B1DBA}"/>
              </a:ext>
            </a:extLst>
          </p:cNvPr>
          <p:cNvSpPr>
            <a:spLocks noGrp="1"/>
          </p:cNvSpPr>
          <p:nvPr>
            <p:ph type="pic" sz="quarter" idx="10"/>
          </p:nvPr>
        </p:nvSpPr>
        <p:spPr>
          <a:xfrm>
            <a:off x="0" y="-1"/>
            <a:ext cx="9144000" cy="6400801"/>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648291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3308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BCCB152-13BA-482D-94B3-3085CF290068}" type="datetime1">
              <a:rPr kumimoji="1" lang="ja-JP" altLang="en-US" smtClean="0"/>
              <a:t>2022/2/3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5E84D71F-141A-4826-9981-3551D46C0D43}" type="slidenum">
              <a:rPr kumimoji="1" lang="ja-JP" altLang="en-US" smtClean="0"/>
              <a:t>‹#›</a:t>
            </a:fld>
            <a:endParaRPr kumimoji="1" lang="ja-JP" altLang="en-US"/>
          </a:p>
        </p:txBody>
      </p:sp>
    </p:spTree>
    <p:extLst>
      <p:ext uri="{BB962C8B-B14F-4D97-AF65-F5344CB8AC3E}">
        <p14:creationId xmlns:p14="http://schemas.microsoft.com/office/powerpoint/2010/main" val="2197740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698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タイトルスライド">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
          <a:xfrm>
            <a:off x="2329839" y="2417481"/>
            <a:ext cx="6359948" cy="1869640"/>
          </a:xfrm>
        </p:spPr>
        <p:txBody>
          <a:bodyPr anchor="t" anchorCtr="0">
            <a:noAutofit/>
          </a:bodyPr>
          <a:lstStyle>
            <a:lvl1pPr algn="l">
              <a:defRPr sz="3200" b="0">
                <a:solidFill>
                  <a:schemeClr val="tx2"/>
                </a:solidFill>
              </a:defRPr>
            </a:lvl1pPr>
          </a:lstStyle>
          <a:p>
            <a:r>
              <a:rPr lang="en-US"/>
              <a:t>Click to edit Master title style</a:t>
            </a:r>
          </a:p>
        </p:txBody>
      </p:sp>
      <p:sp>
        <p:nvSpPr>
          <p:cNvPr id="3" name="Subtitle 2"/>
          <p:cNvSpPr>
            <a:spLocks noGrp="1"/>
          </p:cNvSpPr>
          <p:nvPr>
            <p:ph type="subTitle" idx="1"/>
          </p:nvPr>
        </p:nvSpPr>
        <p:spPr>
          <a:xfrm>
            <a:off x="2329839" y="4287122"/>
            <a:ext cx="6359948" cy="796863"/>
          </a:xfrm>
        </p:spPr>
        <p:txBody>
          <a:bodyPr lIns="0">
            <a:noAutofit/>
          </a:bodyPr>
          <a:lstStyle>
            <a:lvl1pPr marL="0" indent="0" algn="l">
              <a:spcBef>
                <a:spcPts val="0"/>
              </a:spcBef>
              <a:spcAft>
                <a:spcPts val="0"/>
              </a:spcAft>
              <a:buNone/>
              <a:defRPr sz="2400" b="1"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5">
            <a:extLst>
              <a:ext uri="{FF2B5EF4-FFF2-40B4-BE49-F238E27FC236}">
                <a16:creationId xmlns:a16="http://schemas.microsoft.com/office/drawing/2014/main" id="{8724766A-65AA-400C-8EF5-033BEAC2EF68}"/>
              </a:ext>
            </a:extLst>
          </p:cNvPr>
          <p:cNvSpPr>
            <a:spLocks noGrp="1"/>
          </p:cNvSpPr>
          <p:nvPr>
            <p:ph type="body" sz="quarter" idx="10"/>
          </p:nvPr>
        </p:nvSpPr>
        <p:spPr>
          <a:xfrm>
            <a:off x="2329838" y="5084233"/>
            <a:ext cx="5099661" cy="795867"/>
          </a:xfrm>
        </p:spPr>
        <p:txBody>
          <a:bodyPr lIns="36000"/>
          <a:lstStyle>
            <a:lvl1pPr marL="0" indent="0">
              <a:spcBef>
                <a:spcPts val="0"/>
              </a:spcBef>
              <a:buNone/>
              <a:defRPr sz="1200" b="1">
                <a:solidFill>
                  <a:schemeClr val="tx1"/>
                </a:solidFill>
              </a:defRPr>
            </a:lvl1pPr>
            <a:lvl2pPr marL="0" indent="0">
              <a:buNone/>
              <a:defRPr sz="1200" b="1">
                <a:solidFill>
                  <a:schemeClr val="tx1"/>
                </a:solidFill>
              </a:defRPr>
            </a:lvl2pPr>
          </a:lstStyle>
          <a:p>
            <a:pPr lvl="0"/>
            <a:r>
              <a:rPr lang="en-US"/>
              <a:t>Click to edit Master text styles</a:t>
            </a:r>
          </a:p>
          <a:p>
            <a:pPr lvl="1"/>
            <a:r>
              <a:rPr lang="en-US"/>
              <a:t>Second level</a:t>
            </a:r>
          </a:p>
        </p:txBody>
      </p:sp>
      <p:sp>
        <p:nvSpPr>
          <p:cNvPr id="8" name="TextBox 7">
            <a:extLst>
              <a:ext uri="{FF2B5EF4-FFF2-40B4-BE49-F238E27FC236}">
                <a16:creationId xmlns:a16="http://schemas.microsoft.com/office/drawing/2014/main" id="{051D7E9C-7D0F-473B-A64B-E5CCA0F241B4}"/>
              </a:ext>
            </a:extLst>
          </p:cNvPr>
          <p:cNvSpPr txBox="1"/>
          <p:nvPr/>
        </p:nvSpPr>
        <p:spPr>
          <a:xfrm>
            <a:off x="4001551" y="6464797"/>
            <a:ext cx="1132515" cy="246221"/>
          </a:xfrm>
          <a:prstGeom prst="rect">
            <a:avLst/>
          </a:prstGeom>
          <a:noFill/>
        </p:spPr>
        <p:txBody>
          <a:bodyPr wrap="square" rtlCol="0">
            <a:spAutoFit/>
          </a:bodyPr>
          <a:lstStyle/>
          <a:p>
            <a:pPr algn="ctr"/>
            <a:r>
              <a:rPr lang="en-US" sz="1000" b="1">
                <a:solidFill>
                  <a:srgbClr val="FF0000"/>
                </a:solidFill>
                <a:latin typeface="+mn-lt"/>
              </a:rPr>
              <a:t>Confidential</a:t>
            </a:r>
          </a:p>
        </p:txBody>
      </p:sp>
      <p:pic>
        <p:nvPicPr>
          <p:cNvPr id="7" name="Picture 6">
            <a:extLst>
              <a:ext uri="{FF2B5EF4-FFF2-40B4-BE49-F238E27FC236}">
                <a16:creationId xmlns:a16="http://schemas.microsoft.com/office/drawing/2014/main" id="{4560DB8D-7279-4077-8FFE-047043E04E3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6647" y="316763"/>
            <a:ext cx="3195767" cy="1037777"/>
          </a:xfrm>
          <a:prstGeom prst="rect">
            <a:avLst/>
          </a:prstGeom>
        </p:spPr>
      </p:pic>
    </p:spTree>
    <p:extLst>
      <p:ext uri="{BB962C8B-B14F-4D97-AF65-F5344CB8AC3E}">
        <p14:creationId xmlns:p14="http://schemas.microsoft.com/office/powerpoint/2010/main" val="1317397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タイトルとコンテンツ（箇条書き）">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2024" y="126001"/>
            <a:ext cx="8750808" cy="396000"/>
          </a:xfrm>
        </p:spPr>
        <p:txBody>
          <a:bodyPr/>
          <a:lstStyle/>
          <a:p>
            <a:r>
              <a:rPr lang="en-US"/>
              <a:t>Click to edit Master title style</a:t>
            </a:r>
          </a:p>
        </p:txBody>
      </p:sp>
      <p:sp>
        <p:nvSpPr>
          <p:cNvPr id="3" name="Content Placeholder 2"/>
          <p:cNvSpPr>
            <a:spLocks noGrp="1"/>
          </p:cNvSpPr>
          <p:nvPr>
            <p:ph idx="1"/>
          </p:nvPr>
        </p:nvSpPr>
        <p:spPr>
          <a:xfrm>
            <a:off x="192024" y="612000"/>
            <a:ext cx="8750808" cy="585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993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タイトルとコンテンツ（段落番号）">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2024" y="125999"/>
            <a:ext cx="8750808" cy="396000"/>
          </a:xfrm>
        </p:spPr>
        <p:txBody>
          <a:bodyPr/>
          <a:lstStyle/>
          <a:p>
            <a:r>
              <a:rPr lang="en-US"/>
              <a:t>Click to edit Master title style</a:t>
            </a:r>
          </a:p>
        </p:txBody>
      </p:sp>
      <p:sp>
        <p:nvSpPr>
          <p:cNvPr id="3" name="Content Placeholder 2"/>
          <p:cNvSpPr>
            <a:spLocks noGrp="1"/>
          </p:cNvSpPr>
          <p:nvPr>
            <p:ph idx="1"/>
          </p:nvPr>
        </p:nvSpPr>
        <p:spPr>
          <a:xfrm>
            <a:off x="192024" y="612000"/>
            <a:ext cx="8750808" cy="5850000"/>
          </a:xfrm>
        </p:spPr>
        <p:txBody>
          <a:bodyPr/>
          <a:lstStyle>
            <a:lvl1pPr marL="180000" indent="-180000">
              <a:buSzPct val="100000"/>
              <a:buFont typeface="+mj-lt"/>
              <a:buAutoNum type="arabicPeriod"/>
              <a:defRPr>
                <a:solidFill>
                  <a:schemeClr val="tx1"/>
                </a:solidFill>
              </a:defRPr>
            </a:lvl1pPr>
            <a:lvl2pPr marL="360000" indent="-180000">
              <a:buFont typeface="+mj-lt"/>
              <a:buAutoNum type="alphaLcPeriod"/>
              <a:defRPr>
                <a:solidFill>
                  <a:schemeClr val="tx1"/>
                </a:solidFill>
              </a:defRPr>
            </a:lvl2pPr>
            <a:lvl3pPr marL="504000" indent="-144000">
              <a:buFont typeface="+mj-lt"/>
              <a:buAutoNum type="romanLcPeriod"/>
              <a:defRPr>
                <a:solidFill>
                  <a:schemeClr val="tx1"/>
                </a:solidFill>
              </a:defRPr>
            </a:lvl3pPr>
            <a:lvl4pPr marL="684000" indent="-144000">
              <a:buFont typeface="+mj-lt"/>
              <a:buAutoNum type="romanLcPeriod"/>
              <a:defRPr>
                <a:solidFill>
                  <a:schemeClr val="tx1"/>
                </a:solidFill>
              </a:defRPr>
            </a:lvl4pPr>
            <a:lvl5pPr marL="792000" indent="-108000">
              <a:buFont typeface="+mj-lt"/>
              <a:buAutoNum type="romanLcPeriod"/>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894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9CBAC0A-55B6-4BBD-9C8A-0312FD200BA5}"/>
              </a:ext>
            </a:extLst>
          </p:cNvPr>
          <p:cNvSpPr>
            <a:spLocks noGrp="1"/>
          </p:cNvSpPr>
          <p:nvPr>
            <p:ph type="body" sz="quarter" idx="10"/>
          </p:nvPr>
        </p:nvSpPr>
        <p:spPr>
          <a:xfrm>
            <a:off x="365760" y="1002083"/>
            <a:ext cx="8412480" cy="2426917"/>
          </a:xfrm>
        </p:spPr>
        <p:txBody>
          <a:bodyPr anchor="b" anchorCtr="0">
            <a:noAutofit/>
          </a:bodyPr>
          <a:lstStyle>
            <a:lvl1pPr marL="0" indent="0" algn="ctr">
              <a:buNone/>
              <a:defRPr sz="2800" b="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279D6834-D149-40C7-98C4-9694CB8C3AA3}"/>
              </a:ext>
            </a:extLst>
          </p:cNvPr>
          <p:cNvSpPr>
            <a:spLocks noGrp="1"/>
          </p:cNvSpPr>
          <p:nvPr>
            <p:ph type="body" sz="quarter" idx="11"/>
          </p:nvPr>
        </p:nvSpPr>
        <p:spPr>
          <a:xfrm>
            <a:off x="365760" y="3718145"/>
            <a:ext cx="8412480" cy="2060356"/>
          </a:xfrm>
        </p:spPr>
        <p:txBody>
          <a:bodyPr>
            <a:noAutofit/>
          </a:bodyPr>
          <a:lstStyle>
            <a:lvl1pPr marL="0" indent="0" algn="ctr">
              <a:buNone/>
              <a:defRPr sz="18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6407974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セクション見出し（写真入り）">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E1F54CF-8A67-48CE-83B8-57E84A36125E}"/>
              </a:ext>
            </a:extLst>
          </p:cNvPr>
          <p:cNvSpPr>
            <a:spLocks noGrp="1"/>
          </p:cNvSpPr>
          <p:nvPr>
            <p:ph type="pic" sz="quarter" idx="12"/>
          </p:nvPr>
        </p:nvSpPr>
        <p:spPr>
          <a:xfrm>
            <a:off x="0" y="542925"/>
            <a:ext cx="9144000" cy="5832000"/>
          </a:xfrm>
        </p:spPr>
        <p:txBody>
          <a:bodyPr/>
          <a:lstStyle>
            <a:lvl1pPr marL="0" indent="0">
              <a:buNone/>
              <a:defRPr/>
            </a:lvl1pPr>
          </a:lstStyle>
          <a:p>
            <a:r>
              <a:rPr lang="en-US"/>
              <a:t>Click icon to add picture</a:t>
            </a:r>
          </a:p>
        </p:txBody>
      </p:sp>
      <p:sp>
        <p:nvSpPr>
          <p:cNvPr id="7" name="Oval 6">
            <a:extLst>
              <a:ext uri="{FF2B5EF4-FFF2-40B4-BE49-F238E27FC236}">
                <a16:creationId xmlns:a16="http://schemas.microsoft.com/office/drawing/2014/main" id="{BD47AFF7-DB9F-4565-8DA3-2FC02AFC07A3}"/>
              </a:ext>
            </a:extLst>
          </p:cNvPr>
          <p:cNvSpPr/>
          <p:nvPr/>
        </p:nvSpPr>
        <p:spPr>
          <a:xfrm>
            <a:off x="365760" y="1620034"/>
            <a:ext cx="8503920" cy="3490585"/>
          </a:xfrm>
          <a:prstGeom prst="ellipse">
            <a:avLst/>
          </a:prstGeom>
          <a:gradFill flip="none" rotWithShape="1">
            <a:gsLst>
              <a:gs pos="25000">
                <a:schemeClr val="bg1"/>
              </a:gs>
              <a:gs pos="75000">
                <a:schemeClr val="bg1">
                  <a:alpha val="50000"/>
                </a:schemeClr>
              </a:gs>
              <a:gs pos="100000">
                <a:schemeClr val="bg1">
                  <a:alpha val="0"/>
                </a:schemeClr>
              </a:gs>
            </a:gsLst>
            <a:path path="circle">
              <a:fillToRect l="50000" t="50000" r="50000" b="50000"/>
            </a:path>
            <a:tileRect/>
          </a:gra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02BC936-8B3D-4D5C-91BF-60560E3FA9EC}"/>
              </a:ext>
            </a:extLst>
          </p:cNvPr>
          <p:cNvSpPr/>
          <p:nvPr/>
        </p:nvSpPr>
        <p:spPr>
          <a:xfrm>
            <a:off x="365760" y="1620034"/>
            <a:ext cx="8503920" cy="3490585"/>
          </a:xfrm>
          <a:prstGeom prst="ellipse">
            <a:avLst/>
          </a:prstGeom>
          <a:gradFill flip="none" rotWithShape="1">
            <a:gsLst>
              <a:gs pos="25000">
                <a:schemeClr val="bg1"/>
              </a:gs>
              <a:gs pos="75000">
                <a:schemeClr val="bg1">
                  <a:alpha val="50000"/>
                </a:schemeClr>
              </a:gs>
              <a:gs pos="100000">
                <a:schemeClr val="bg1">
                  <a:alpha val="0"/>
                </a:schemeClr>
              </a:gs>
            </a:gsLst>
            <a:path path="circle">
              <a:fillToRect l="50000" t="50000" r="50000" b="50000"/>
            </a:path>
            <a:tileRect/>
          </a:gra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59CBAC0A-55B6-4BBD-9C8A-0312FD200BA5}"/>
              </a:ext>
            </a:extLst>
          </p:cNvPr>
          <p:cNvSpPr>
            <a:spLocks noGrp="1"/>
          </p:cNvSpPr>
          <p:nvPr>
            <p:ph type="body" sz="quarter" idx="10"/>
          </p:nvPr>
        </p:nvSpPr>
        <p:spPr>
          <a:xfrm>
            <a:off x="365760" y="1002083"/>
            <a:ext cx="8412480" cy="2426917"/>
          </a:xfrm>
        </p:spPr>
        <p:txBody>
          <a:bodyPr anchor="b" anchorCtr="0">
            <a:noAutofit/>
          </a:bodyPr>
          <a:lstStyle>
            <a:lvl1pPr marL="0" indent="0" algn="ctr">
              <a:buNone/>
              <a:defRPr sz="2800" b="0">
                <a:solidFill>
                  <a:schemeClr val="tx2"/>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279D6834-D149-40C7-98C4-9694CB8C3AA3}"/>
              </a:ext>
            </a:extLst>
          </p:cNvPr>
          <p:cNvSpPr>
            <a:spLocks noGrp="1"/>
          </p:cNvSpPr>
          <p:nvPr>
            <p:ph type="body" sz="quarter" idx="11"/>
          </p:nvPr>
        </p:nvSpPr>
        <p:spPr>
          <a:xfrm>
            <a:off x="365760" y="3718145"/>
            <a:ext cx="8412480" cy="2060356"/>
          </a:xfrm>
        </p:spPr>
        <p:txBody>
          <a:bodyPr>
            <a:noAutofit/>
          </a:bodyPr>
          <a:lstStyle>
            <a:lvl1pPr marL="0" indent="0" algn="ctr">
              <a:buNone/>
              <a:defRPr sz="1800" b="0"/>
            </a:lvl1pPr>
          </a:lstStyle>
          <a:p>
            <a:pPr lvl="0"/>
            <a:r>
              <a:rPr lang="en-US"/>
              <a:t>Click to edit Master text styles</a:t>
            </a:r>
          </a:p>
        </p:txBody>
      </p:sp>
    </p:spTree>
    <p:extLst>
      <p:ext uri="{BB962C8B-B14F-4D97-AF65-F5344CB8AC3E}">
        <p14:creationId xmlns:p14="http://schemas.microsoft.com/office/powerpoint/2010/main" val="24358344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つのコンテンツ（箇条書き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1968" y="612000"/>
            <a:ext cx="3942711" cy="585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9851" y="612000"/>
            <a:ext cx="4669612" cy="585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3783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つのコンテンツ（段落番号）">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1968" y="612000"/>
            <a:ext cx="3942711" cy="5850000"/>
          </a:xfrm>
        </p:spPr>
        <p:txBody>
          <a:bodyPr/>
          <a:lstStyle>
            <a:lvl1pPr marL="180000" indent="-180000">
              <a:buSzPct val="100000"/>
              <a:buFont typeface="+mj-lt"/>
              <a:buAutoNum type="arabicPeriod"/>
              <a:defRPr/>
            </a:lvl1pPr>
            <a:lvl2pPr marL="360000" indent="-180000">
              <a:buFont typeface="+mj-lt"/>
              <a:buAutoNum type="alphaLcPeriod"/>
              <a:defRPr/>
            </a:lvl2pPr>
            <a:lvl3pPr marL="504000" indent="-144000">
              <a:buFont typeface="+mj-lt"/>
              <a:buAutoNum type="romanLcPeriod"/>
              <a:defRPr/>
            </a:lvl3pPr>
            <a:lvl4pPr marL="684000" indent="-144000">
              <a:buFont typeface="+mj-lt"/>
              <a:buAutoNum type="romanLcPeriod"/>
              <a:defRPr/>
            </a:lvl4pPr>
            <a:lvl5pPr marL="792000" indent="-108000">
              <a:buFont typeface="+mj-lt"/>
              <a:buAutoNum type="romanLcPerio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69851" y="612000"/>
            <a:ext cx="4669612" cy="5850000"/>
          </a:xfrm>
        </p:spPr>
        <p:txBody>
          <a:bodyPr/>
          <a:lstStyle>
            <a:lvl1pPr marL="180000" indent="-180000">
              <a:buSzPct val="100000"/>
              <a:buFont typeface="+mj-lt"/>
              <a:buAutoNum type="arabicPeriod"/>
              <a:defRPr/>
            </a:lvl1pPr>
            <a:lvl2pPr marL="360000" indent="-180000">
              <a:buFont typeface="+mj-lt"/>
              <a:buAutoNum type="alphaLcPeriod"/>
              <a:defRPr/>
            </a:lvl2pPr>
            <a:lvl3pPr marL="504000" indent="-144000">
              <a:buFont typeface="+mj-lt"/>
              <a:buAutoNum type="romanLcPeriod"/>
              <a:defRPr/>
            </a:lvl3pPr>
            <a:lvl4pPr marL="684000" indent="-144000">
              <a:buFont typeface="+mj-lt"/>
              <a:buAutoNum type="romanLcPeriod"/>
              <a:defRPr/>
            </a:lvl4pPr>
            <a:lvl5pPr marL="792000" indent="-108000">
              <a:buFont typeface="+mj-lt"/>
              <a:buAutoNum type="romanLcPerio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24273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つのコンテンツ（箇条書き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1968" y="612000"/>
            <a:ext cx="3942711" cy="585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52EAE3B0-59F3-470A-BF59-64535518C78E}"/>
              </a:ext>
            </a:extLst>
          </p:cNvPr>
          <p:cNvSpPr>
            <a:spLocks noGrp="1"/>
          </p:cNvSpPr>
          <p:nvPr>
            <p:ph type="pic" sz="quarter" idx="10"/>
          </p:nvPr>
        </p:nvSpPr>
        <p:spPr>
          <a:xfrm>
            <a:off x="4262438" y="612000"/>
            <a:ext cx="4881562" cy="585000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560252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写真のみ">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E3845B-1740-4DB6-97F8-367EC2E10DE8}"/>
              </a:ext>
            </a:extLst>
          </p:cNvPr>
          <p:cNvSpPr/>
          <p:nvPr/>
        </p:nvSpPr>
        <p:spPr>
          <a:xfrm>
            <a:off x="1" y="-1"/>
            <a:ext cx="9144000" cy="9371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31338F0F-F1E2-452D-B5E1-6CBC1D5B1DBA}"/>
              </a:ext>
            </a:extLst>
          </p:cNvPr>
          <p:cNvSpPr>
            <a:spLocks noGrp="1"/>
          </p:cNvSpPr>
          <p:nvPr>
            <p:ph type="pic" sz="quarter" idx="10"/>
          </p:nvPr>
        </p:nvSpPr>
        <p:spPr>
          <a:xfrm>
            <a:off x="0" y="-1"/>
            <a:ext cx="9144000" cy="6391276"/>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182272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628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1.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1969252-BDAE-4630-A1E8-28EA88D515E5}"/>
              </a:ext>
            </a:extLst>
          </p:cNvPr>
          <p:cNvCxnSpPr>
            <a:cxnSpLocks/>
          </p:cNvCxnSpPr>
          <p:nvPr/>
        </p:nvCxnSpPr>
        <p:spPr bwMode="black">
          <a:xfrm>
            <a:off x="0" y="511771"/>
            <a:ext cx="9144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000BFE82-E70E-4C1C-B239-7825DC4EB633}"/>
              </a:ext>
            </a:extLst>
          </p:cNvPr>
          <p:cNvSpPr/>
          <p:nvPr/>
        </p:nvSpPr>
        <p:spPr bwMode="white">
          <a:xfrm>
            <a:off x="0" y="0"/>
            <a:ext cx="9144000" cy="54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bwMode="black">
          <a:xfrm>
            <a:off x="191967" y="126000"/>
            <a:ext cx="8747496" cy="396000"/>
          </a:xfrm>
          <a:prstGeom prst="rect">
            <a:avLst/>
          </a:prstGeom>
        </p:spPr>
        <p:txBody>
          <a:bodyPr vert="horz" lIns="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91967" y="612000"/>
            <a:ext cx="8747496" cy="5851150"/>
          </a:xfrm>
          <a:prstGeom prst="rect">
            <a:avLst/>
          </a:prstGeom>
        </p:spPr>
        <p:txBody>
          <a:bodyPr vert="horz" lIns="45720" tIns="73152"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p>
        </p:txBody>
      </p:sp>
      <p:sp>
        <p:nvSpPr>
          <p:cNvPr id="5" name="TextBox 4">
            <a:extLst>
              <a:ext uri="{FF2B5EF4-FFF2-40B4-BE49-F238E27FC236}">
                <a16:creationId xmlns:a16="http://schemas.microsoft.com/office/drawing/2014/main" id="{08C2FB9A-9000-4AD5-822F-38482757BEA7}"/>
              </a:ext>
            </a:extLst>
          </p:cNvPr>
          <p:cNvSpPr txBox="1"/>
          <p:nvPr/>
        </p:nvSpPr>
        <p:spPr>
          <a:xfrm>
            <a:off x="8392886" y="6566683"/>
            <a:ext cx="546577" cy="246221"/>
          </a:xfrm>
          <a:prstGeom prst="rect">
            <a:avLst/>
          </a:prstGeom>
          <a:noFill/>
        </p:spPr>
        <p:txBody>
          <a:bodyPr wrap="square" lIns="0" rIns="0" rtlCol="0">
            <a:spAutoFit/>
          </a:bodyPr>
          <a:lstStyle/>
          <a:p>
            <a:pPr algn="r"/>
            <a:fld id="{8EB92688-8440-4905-ACA0-EACBFA8A49E6}" type="slidenum">
              <a:rPr lang="en-US" sz="1000" smtClean="0">
                <a:solidFill>
                  <a:schemeClr val="tx2"/>
                </a:solidFill>
                <a:latin typeface="+mn-lt"/>
              </a:rPr>
              <a:t>‹#›</a:t>
            </a:fld>
            <a:endParaRPr lang="en-US" sz="1000">
              <a:solidFill>
                <a:schemeClr val="tx2"/>
              </a:solidFill>
              <a:latin typeface="+mn-lt"/>
            </a:endParaRPr>
          </a:p>
        </p:txBody>
      </p:sp>
      <p:pic>
        <p:nvPicPr>
          <p:cNvPr id="9" name="Picture 8">
            <a:extLst>
              <a:ext uri="{FF2B5EF4-FFF2-40B4-BE49-F238E27FC236}">
                <a16:creationId xmlns:a16="http://schemas.microsoft.com/office/drawing/2014/main" id="{C95CC31F-6BB5-4CC3-83B4-B92C39778E13}"/>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72383" y="6494225"/>
            <a:ext cx="1118071" cy="363076"/>
          </a:xfrm>
          <a:prstGeom prst="rect">
            <a:avLst/>
          </a:prstGeom>
        </p:spPr>
      </p:pic>
    </p:spTree>
    <p:extLst>
      <p:ext uri="{BB962C8B-B14F-4D97-AF65-F5344CB8AC3E}">
        <p14:creationId xmlns:p14="http://schemas.microsoft.com/office/powerpoint/2010/main" val="381894517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30" r:id="rId11"/>
    <p:sldLayoutId id="2147483731" r:id="rId12"/>
  </p:sldLayoutIdLst>
  <p:txStyles>
    <p:titleStyle>
      <a:lvl1pPr algn="l" defTabSz="914400" rtl="0" eaLnBrk="1" latinLnBrk="0" hangingPunct="1">
        <a:lnSpc>
          <a:spcPct val="90000"/>
        </a:lnSpc>
        <a:spcBef>
          <a:spcPct val="0"/>
        </a:spcBef>
        <a:buNone/>
        <a:defRPr sz="2000" b="1" kern="1200">
          <a:solidFill>
            <a:schemeClr val="bg1"/>
          </a:solidFill>
          <a:latin typeface="+mj-lt"/>
          <a:ea typeface="+mj-ea"/>
          <a:cs typeface="+mj-cs"/>
        </a:defRPr>
      </a:lvl1pPr>
    </p:titleStyle>
    <p:body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E967C22-4AC2-4106-9A48-36B845B63A75}"/>
              </a:ext>
            </a:extLst>
          </p:cNvPr>
          <p:cNvSpPr/>
          <p:nvPr/>
        </p:nvSpPr>
        <p:spPr bwMode="white">
          <a:xfrm>
            <a:off x="0" y="0"/>
            <a:ext cx="9144000" cy="54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10" name="Straight Connector 9">
            <a:extLst>
              <a:ext uri="{FF2B5EF4-FFF2-40B4-BE49-F238E27FC236}">
                <a16:creationId xmlns:a16="http://schemas.microsoft.com/office/drawing/2014/main" id="{496D6596-022B-415D-AAA8-329A54231D69}"/>
              </a:ext>
            </a:extLst>
          </p:cNvPr>
          <p:cNvCxnSpPr>
            <a:cxnSpLocks/>
          </p:cNvCxnSpPr>
          <p:nvPr/>
        </p:nvCxnSpPr>
        <p:spPr bwMode="black">
          <a:xfrm>
            <a:off x="0" y="528928"/>
            <a:ext cx="9144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bwMode="black">
          <a:xfrm>
            <a:off x="191967" y="126000"/>
            <a:ext cx="8747496" cy="396000"/>
          </a:xfrm>
          <a:prstGeom prst="rect">
            <a:avLst/>
          </a:prstGeom>
        </p:spPr>
        <p:txBody>
          <a:bodyPr vert="horz" lIns="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91967" y="612000"/>
            <a:ext cx="8747496" cy="5850000"/>
          </a:xfrm>
          <a:prstGeom prst="rect">
            <a:avLst/>
          </a:prstGeom>
        </p:spPr>
        <p:txBody>
          <a:bodyPr vert="horz" lIns="45720" tIns="73152"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a:extLst>
              <a:ext uri="{FF2B5EF4-FFF2-40B4-BE49-F238E27FC236}">
                <a16:creationId xmlns:a16="http://schemas.microsoft.com/office/drawing/2014/main" id="{08C2FB9A-9000-4AD5-822F-38482757BEA7}"/>
              </a:ext>
            </a:extLst>
          </p:cNvPr>
          <p:cNvSpPr txBox="1"/>
          <p:nvPr/>
        </p:nvSpPr>
        <p:spPr>
          <a:xfrm>
            <a:off x="8392886" y="6560047"/>
            <a:ext cx="546577" cy="246221"/>
          </a:xfrm>
          <a:prstGeom prst="rect">
            <a:avLst/>
          </a:prstGeom>
          <a:noFill/>
        </p:spPr>
        <p:txBody>
          <a:bodyPr wrap="square" lIns="0" rIns="0" rtlCol="0">
            <a:spAutoFit/>
          </a:bodyPr>
          <a:lstStyle/>
          <a:p>
            <a:pPr algn="r"/>
            <a:fld id="{8EB92688-8440-4905-ACA0-EACBFA8A49E6}" type="slidenum">
              <a:rPr lang="en-US" sz="1000" smtClean="0">
                <a:solidFill>
                  <a:schemeClr val="tx2"/>
                </a:solidFill>
                <a:latin typeface="+mn-lt"/>
              </a:rPr>
              <a:t>‹#›</a:t>
            </a:fld>
            <a:endParaRPr lang="en-US" sz="1000">
              <a:solidFill>
                <a:schemeClr val="tx2"/>
              </a:solidFill>
              <a:latin typeface="+mn-lt"/>
            </a:endParaRPr>
          </a:p>
        </p:txBody>
      </p:sp>
      <p:sp>
        <p:nvSpPr>
          <p:cNvPr id="13" name="TextBox 12">
            <a:extLst>
              <a:ext uri="{FF2B5EF4-FFF2-40B4-BE49-F238E27FC236}">
                <a16:creationId xmlns:a16="http://schemas.microsoft.com/office/drawing/2014/main" id="{7170E97C-2D17-40AF-90A7-21169EBD33BC}"/>
              </a:ext>
            </a:extLst>
          </p:cNvPr>
          <p:cNvSpPr txBox="1"/>
          <p:nvPr/>
        </p:nvSpPr>
        <p:spPr>
          <a:xfrm>
            <a:off x="4001551" y="6560047"/>
            <a:ext cx="1132515" cy="246221"/>
          </a:xfrm>
          <a:prstGeom prst="rect">
            <a:avLst/>
          </a:prstGeom>
          <a:noFill/>
        </p:spPr>
        <p:txBody>
          <a:bodyPr wrap="square" rtlCol="0">
            <a:spAutoFit/>
          </a:bodyPr>
          <a:lstStyle/>
          <a:p>
            <a:pPr algn="ctr"/>
            <a:r>
              <a:rPr lang="en-US" sz="1000" b="1" dirty="0">
                <a:solidFill>
                  <a:srgbClr val="FF0000"/>
                </a:solidFill>
                <a:latin typeface="+mn-lt"/>
              </a:rPr>
              <a:t>Confidential</a:t>
            </a:r>
          </a:p>
        </p:txBody>
      </p:sp>
      <p:sp>
        <p:nvSpPr>
          <p:cNvPr id="11" name="TextBox 10">
            <a:extLst>
              <a:ext uri="{FF2B5EF4-FFF2-40B4-BE49-F238E27FC236}">
                <a16:creationId xmlns:a16="http://schemas.microsoft.com/office/drawing/2014/main" id="{9D5AE79B-04A5-4947-80A0-DEFA10EE317F}"/>
              </a:ext>
            </a:extLst>
          </p:cNvPr>
          <p:cNvSpPr txBox="1"/>
          <p:nvPr/>
        </p:nvSpPr>
        <p:spPr>
          <a:xfrm>
            <a:off x="4968240" y="6568657"/>
            <a:ext cx="3695700" cy="246221"/>
          </a:xfrm>
          <a:prstGeom prst="rect">
            <a:avLst/>
          </a:prstGeom>
          <a:no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lang="ja-JP" altLang="en-US" sz="1000" dirty="0">
                <a:solidFill>
                  <a:schemeClr val="tx2"/>
                </a:solidFill>
                <a:latin typeface="+mn-lt"/>
              </a:rPr>
              <a:t>プレゼンテーション名</a:t>
            </a:r>
            <a:r>
              <a:rPr lang="en-US" sz="1000" dirty="0">
                <a:solidFill>
                  <a:schemeClr val="tx2"/>
                </a:solidFill>
                <a:latin typeface="+mn-lt"/>
              </a:rPr>
              <a:t> (</a:t>
            </a:r>
            <a:r>
              <a:rPr lang="ja-JP" altLang="en-US" sz="1000" dirty="0">
                <a:solidFill>
                  <a:schemeClr val="tx2"/>
                </a:solidFill>
                <a:latin typeface="+mn-lt"/>
              </a:rPr>
              <a:t>スライドマスターから変更ください</a:t>
            </a:r>
            <a:r>
              <a:rPr lang="en-US" sz="1000" dirty="0">
                <a:solidFill>
                  <a:schemeClr val="tx2"/>
                </a:solidFill>
                <a:latin typeface="+mn-lt"/>
              </a:rPr>
              <a:t>)</a:t>
            </a:r>
          </a:p>
        </p:txBody>
      </p:sp>
      <p:pic>
        <p:nvPicPr>
          <p:cNvPr id="14" name="Picture 13">
            <a:extLst>
              <a:ext uri="{FF2B5EF4-FFF2-40B4-BE49-F238E27FC236}">
                <a16:creationId xmlns:a16="http://schemas.microsoft.com/office/drawing/2014/main" id="{EC7E6CB9-2414-45A7-9998-4F27B7B56BC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72383" y="6494225"/>
            <a:ext cx="1118071" cy="363076"/>
          </a:xfrm>
          <a:prstGeom prst="rect">
            <a:avLst/>
          </a:prstGeom>
        </p:spPr>
      </p:pic>
    </p:spTree>
    <p:extLst>
      <p:ext uri="{BB962C8B-B14F-4D97-AF65-F5344CB8AC3E}">
        <p14:creationId xmlns:p14="http://schemas.microsoft.com/office/powerpoint/2010/main" val="194200410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Lst>
  <p:hf sldNum="0" hdr="0" ftr="0" dt="0"/>
  <p:txStyles>
    <p:titleStyle>
      <a:lvl1pPr algn="l" defTabSz="914400" rtl="0" eaLnBrk="1" latinLnBrk="0" hangingPunct="1">
        <a:lnSpc>
          <a:spcPct val="90000"/>
        </a:lnSpc>
        <a:spcBef>
          <a:spcPct val="0"/>
        </a:spcBef>
        <a:buNone/>
        <a:defRPr sz="2000" b="1" kern="1200">
          <a:solidFill>
            <a:schemeClr val="bg1"/>
          </a:solidFill>
          <a:latin typeface="+mj-lt"/>
          <a:ea typeface="+mj-ea"/>
          <a:cs typeface="+mj-cs"/>
        </a:defRPr>
      </a:lvl1pPr>
    </p:titleStyle>
    <p:bodyStyle>
      <a:lvl1pPr marL="180000" indent="-180000" algn="l" defTabSz="90000" rtl="0" eaLnBrk="1" latinLnBrk="0" hangingPunct="1">
        <a:lnSpc>
          <a:spcPct val="100000"/>
        </a:lnSpc>
        <a:spcBef>
          <a:spcPts val="1000"/>
        </a:spcBef>
        <a:spcAft>
          <a:spcPts val="0"/>
        </a:spcAft>
        <a:buSzPct val="95000"/>
        <a:buFont typeface="Arial" panose="020B0604020202020204" pitchFamily="34" charset="0"/>
        <a:buChar char="●"/>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Narrow" panose="020B060602020203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gif"/><Relationship Id="rId18" Type="http://schemas.openxmlformats.org/officeDocument/2006/relationships/image" Target="../media/image17.png"/><Relationship Id="rId3" Type="http://schemas.openxmlformats.org/officeDocument/2006/relationships/image" Target="../media/image3.jpeg"/><Relationship Id="rId7" Type="http://schemas.openxmlformats.org/officeDocument/2006/relationships/image" Target="../media/image6.png"/><Relationship Id="rId12" Type="http://schemas.openxmlformats.org/officeDocument/2006/relationships/image" Target="../media/image11.jpeg"/><Relationship Id="rId17"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eg"/><Relationship Id="rId15" Type="http://schemas.openxmlformats.org/officeDocument/2006/relationships/image" Target="../media/image14.png"/><Relationship Id="rId10" Type="http://schemas.openxmlformats.org/officeDocument/2006/relationships/image" Target="../media/image9.gif"/><Relationship Id="rId4" Type="http://schemas.openxmlformats.org/officeDocument/2006/relationships/hyperlink" Target="http://www.komatsu-kenki.co.jp/products/excavator/" TargetMode="External"/><Relationship Id="rId9" Type="http://schemas.openxmlformats.org/officeDocument/2006/relationships/image" Target="../media/image8.png"/><Relationship Id="rId14" Type="http://schemas.openxmlformats.org/officeDocument/2006/relationships/image" Target="../media/image13.jpeg"/></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22.gif"/><Relationship Id="rId3" Type="http://schemas.openxmlformats.org/officeDocument/2006/relationships/image" Target="../media/image12.gif"/><Relationship Id="rId7" Type="http://schemas.openxmlformats.org/officeDocument/2006/relationships/image" Target="../media/image17.png"/><Relationship Id="rId12" Type="http://schemas.openxmlformats.org/officeDocument/2006/relationships/image" Target="../media/image21.sv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jpeg"/><Relationship Id="rId9" Type="http://schemas.openxmlformats.org/officeDocument/2006/relationships/image" Target="../media/image18.pn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6.png"/><Relationship Id="rId7"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jpeg"/><Relationship Id="rId7" Type="http://schemas.openxmlformats.org/officeDocument/2006/relationships/image" Target="../media/image24.png"/><Relationship Id="rId2"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jpeg"/><Relationship Id="rId4" Type="http://schemas.openxmlformats.org/officeDocument/2006/relationships/image" Target="../media/image57.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67.JPG"/><Relationship Id="rId3" Type="http://schemas.openxmlformats.org/officeDocument/2006/relationships/image" Target="../media/image62.emf"/><Relationship Id="rId7" Type="http://schemas.openxmlformats.org/officeDocument/2006/relationships/image" Target="../media/image66.JPG"/><Relationship Id="rId2" Type="http://schemas.openxmlformats.org/officeDocument/2006/relationships/image" Target="../media/image61.png"/><Relationship Id="rId1" Type="http://schemas.openxmlformats.org/officeDocument/2006/relationships/slideLayout" Target="../slideLayouts/slideLayout11.xml"/><Relationship Id="rId6" Type="http://schemas.openxmlformats.org/officeDocument/2006/relationships/image" Target="../media/image65.JPG"/><Relationship Id="rId5" Type="http://schemas.openxmlformats.org/officeDocument/2006/relationships/image" Target="../media/image64.JP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0.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2.xml"/><Relationship Id="rId4" Type="http://schemas.openxmlformats.org/officeDocument/2006/relationships/image" Target="../media/image74.emf"/></Relationships>
</file>

<file path=ppt/slides/_rels/slide42.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2.xml"/><Relationship Id="rId4" Type="http://schemas.openxmlformats.org/officeDocument/2006/relationships/image" Target="../media/image77.emf"/></Relationships>
</file>

<file path=ppt/slides/_rels/slide43.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image" Target="../media/image78.emf"/><Relationship Id="rId1" Type="http://schemas.openxmlformats.org/officeDocument/2006/relationships/slideLayout" Target="../slideLayouts/slideLayout2.xml"/><Relationship Id="rId4" Type="http://schemas.openxmlformats.org/officeDocument/2006/relationships/image" Target="../media/image80.emf"/></Relationships>
</file>

<file path=ppt/slides/_rels/slide44.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2.xml"/><Relationship Id="rId4"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A7AFE4-7354-40F1-B9DC-CCE620CADADC}"/>
              </a:ext>
            </a:extLst>
          </p:cNvPr>
          <p:cNvSpPr>
            <a:spLocks noGrp="1"/>
          </p:cNvSpPr>
          <p:nvPr>
            <p:ph type="ctrTitle"/>
          </p:nvPr>
        </p:nvSpPr>
        <p:spPr/>
        <p:txBody>
          <a:bodyPr/>
          <a:lstStyle/>
          <a:p>
            <a:r>
              <a:rPr lang="ja-JP" altLang="en-US" dirty="0"/>
              <a:t>次世代</a:t>
            </a:r>
            <a:r>
              <a:rPr lang="en-US" altLang="ja-JP" dirty="0"/>
              <a:t>KOMTRAX</a:t>
            </a:r>
            <a:r>
              <a:rPr lang="ja-JP" altLang="en-US" dirty="0"/>
              <a:t>サーバ</a:t>
            </a:r>
            <a:br>
              <a:rPr lang="en-US" altLang="ja-JP" dirty="0"/>
            </a:br>
            <a:r>
              <a:rPr lang="ja-JP" altLang="en-US" dirty="0"/>
              <a:t>リリース</a:t>
            </a:r>
            <a:r>
              <a:rPr lang="en-US" altLang="ja-JP" dirty="0"/>
              <a:t>1.2 </a:t>
            </a:r>
            <a:r>
              <a:rPr lang="ja-JP" altLang="en-US" dirty="0"/>
              <a:t>ビジネスアプリ対応開発</a:t>
            </a:r>
            <a:br>
              <a:rPr lang="en-US" altLang="ja-JP" dirty="0"/>
            </a:br>
            <a:br>
              <a:rPr lang="en-US" altLang="ja-JP" dirty="0"/>
            </a:br>
            <a:endParaRPr lang="en-US" dirty="0"/>
          </a:p>
        </p:txBody>
      </p:sp>
      <p:sp>
        <p:nvSpPr>
          <p:cNvPr id="5" name="Subtitle 4">
            <a:extLst>
              <a:ext uri="{FF2B5EF4-FFF2-40B4-BE49-F238E27FC236}">
                <a16:creationId xmlns:a16="http://schemas.microsoft.com/office/drawing/2014/main" id="{7AD6EC6A-2DAA-4BB7-BEDF-4F901D5EBBD9}"/>
              </a:ext>
            </a:extLst>
          </p:cNvPr>
          <p:cNvSpPr>
            <a:spLocks noGrp="1"/>
          </p:cNvSpPr>
          <p:nvPr>
            <p:ph type="subTitle" idx="1"/>
          </p:nvPr>
        </p:nvSpPr>
        <p:spPr/>
        <p:txBody>
          <a:bodyPr/>
          <a:lstStyle/>
          <a:p>
            <a:r>
              <a:rPr lang="ja-JP" altLang="en-US" dirty="0"/>
              <a:t>カスタマイズデータ送信要求</a:t>
            </a:r>
            <a:endParaRPr lang="en-US" altLang="ja-JP" dirty="0"/>
          </a:p>
          <a:p>
            <a:r>
              <a:rPr lang="ja-JP" altLang="en-US" dirty="0"/>
              <a:t>カスタマイズ設定</a:t>
            </a:r>
            <a:endParaRPr lang="en-US" dirty="0"/>
          </a:p>
        </p:txBody>
      </p:sp>
    </p:spTree>
    <p:extLst>
      <p:ext uri="{BB962C8B-B14F-4D97-AF65-F5344CB8AC3E}">
        <p14:creationId xmlns:p14="http://schemas.microsoft.com/office/powerpoint/2010/main" val="3489975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１．開発の背景と要求仕様</a:t>
            </a:r>
          </a:p>
        </p:txBody>
      </p:sp>
      <p:sp>
        <p:nvSpPr>
          <p:cNvPr id="4" name="Title 1">
            <a:extLst>
              <a:ext uri="{FF2B5EF4-FFF2-40B4-BE49-F238E27FC236}">
                <a16:creationId xmlns:a16="http://schemas.microsoft.com/office/drawing/2014/main" id="{A36CF60D-EFF1-4982-B6BB-6EEED19AF974}"/>
              </a:ext>
            </a:extLst>
          </p:cNvPr>
          <p:cNvSpPr txBox="1">
            <a:spLocks/>
          </p:cNvSpPr>
          <p:nvPr/>
        </p:nvSpPr>
        <p:spPr bwMode="black">
          <a:xfrm>
            <a:off x="192024" y="126001"/>
            <a:ext cx="8750808" cy="396000"/>
          </a:xfrm>
          <a:prstGeom prst="rect">
            <a:avLst/>
          </a:prstGeom>
        </p:spPr>
        <p:txBody>
          <a:bodyPr vert="horz" lIns="0" tIns="45720" rIns="91440" bIns="45720" rtlCol="0" anchor="ctr">
            <a:noAutofit/>
          </a:bodyPr>
          <a:lstStyle>
            <a:lvl1pPr algn="l" defTabSz="914400" rtl="0" eaLnBrk="1" latinLnBrk="0" hangingPunct="1">
              <a:lnSpc>
                <a:spcPct val="90000"/>
              </a:lnSpc>
              <a:spcBef>
                <a:spcPct val="0"/>
              </a:spcBef>
              <a:buNone/>
              <a:defRPr sz="2000" b="1" kern="1200">
                <a:solidFill>
                  <a:schemeClr val="bg1"/>
                </a:solidFill>
                <a:latin typeface="+mj-lt"/>
                <a:ea typeface="+mj-ea"/>
                <a:cs typeface="+mj-cs"/>
              </a:defRPr>
            </a:lvl1pPr>
          </a:lstStyle>
          <a:p>
            <a:pPr fontAlgn="auto">
              <a:spcAft>
                <a:spcPts val="0"/>
              </a:spcAft>
            </a:pPr>
            <a:r>
              <a:rPr lang="ja-JP" altLang="en-US" dirty="0"/>
              <a:t>１．開発の背景と要求仕様</a:t>
            </a:r>
          </a:p>
        </p:txBody>
      </p:sp>
      <p:sp>
        <p:nvSpPr>
          <p:cNvPr id="7" name="正方形/長方形 6">
            <a:extLst>
              <a:ext uri="{FF2B5EF4-FFF2-40B4-BE49-F238E27FC236}">
                <a16:creationId xmlns:a16="http://schemas.microsoft.com/office/drawing/2014/main" id="{12BB1472-F8B7-49BC-9E1A-5603FB999240}"/>
              </a:ext>
            </a:extLst>
          </p:cNvPr>
          <p:cNvSpPr/>
          <p:nvPr/>
        </p:nvSpPr>
        <p:spPr>
          <a:xfrm>
            <a:off x="4957193" y="1802768"/>
            <a:ext cx="3938915" cy="2303811"/>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34">
            <a:extLst>
              <a:ext uri="{FF2B5EF4-FFF2-40B4-BE49-F238E27FC236}">
                <a16:creationId xmlns:a16="http://schemas.microsoft.com/office/drawing/2014/main" id="{FD7F5785-CBB7-4998-8D70-476929657605}"/>
              </a:ext>
            </a:extLst>
          </p:cNvPr>
          <p:cNvSpPr/>
          <p:nvPr/>
        </p:nvSpPr>
        <p:spPr>
          <a:xfrm>
            <a:off x="5062134" y="1720504"/>
            <a:ext cx="2072167" cy="2701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cs typeface="Meiryo UI" panose="020B0604030504040204" pitchFamily="50" charset="-128"/>
              </a:rPr>
              <a:t>リモート故障診断アプリの例</a:t>
            </a:r>
          </a:p>
        </p:txBody>
      </p:sp>
      <p:pic>
        <p:nvPicPr>
          <p:cNvPr id="10" name="Picture 33">
            <a:extLst>
              <a:ext uri="{FF2B5EF4-FFF2-40B4-BE49-F238E27FC236}">
                <a16:creationId xmlns:a16="http://schemas.microsoft.com/office/drawing/2014/main" id="{91B03675-6242-4BE8-A9E7-ADF655A66C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4717" y="2147266"/>
            <a:ext cx="959878" cy="84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テキスト ボックス 10">
            <a:extLst>
              <a:ext uri="{FF2B5EF4-FFF2-40B4-BE49-F238E27FC236}">
                <a16:creationId xmlns:a16="http://schemas.microsoft.com/office/drawing/2014/main" id="{9705990A-3575-44B8-9D3D-168F283B2A31}"/>
              </a:ext>
            </a:extLst>
          </p:cNvPr>
          <p:cNvSpPr txBox="1"/>
          <p:nvPr/>
        </p:nvSpPr>
        <p:spPr>
          <a:xfrm>
            <a:off x="4976315" y="1978688"/>
            <a:ext cx="1241045" cy="261610"/>
          </a:xfrm>
          <a:prstGeom prst="rect">
            <a:avLst/>
          </a:prstGeom>
          <a:noFill/>
        </p:spPr>
        <p:txBody>
          <a:bodyPr wrap="none" rtlCol="0">
            <a:spAutoFit/>
          </a:bodyPr>
          <a:lstStyle/>
          <a:p>
            <a:r>
              <a:rPr kumimoji="1" lang="ja-JP" altLang="en-US" sz="1100" u="sng" dirty="0"/>
              <a:t>スナップショット機能</a:t>
            </a:r>
          </a:p>
        </p:txBody>
      </p:sp>
      <p:sp>
        <p:nvSpPr>
          <p:cNvPr id="12" name="テキスト ボックス 11">
            <a:extLst>
              <a:ext uri="{FF2B5EF4-FFF2-40B4-BE49-F238E27FC236}">
                <a16:creationId xmlns:a16="http://schemas.microsoft.com/office/drawing/2014/main" id="{DAA5310C-A3B3-417B-A4BB-32855AACB11A}"/>
              </a:ext>
            </a:extLst>
          </p:cNvPr>
          <p:cNvSpPr txBox="1"/>
          <p:nvPr/>
        </p:nvSpPr>
        <p:spPr>
          <a:xfrm>
            <a:off x="4919924" y="2178771"/>
            <a:ext cx="2955759" cy="900246"/>
          </a:xfrm>
          <a:prstGeom prst="rect">
            <a:avLst/>
          </a:prstGeom>
          <a:noFill/>
        </p:spPr>
        <p:txBody>
          <a:bodyPr wrap="square" rtlCol="0">
            <a:spAutoFit/>
          </a:bodyPr>
          <a:lstStyle/>
          <a:p>
            <a:r>
              <a:rPr kumimoji="1" lang="en-US" altLang="ja-JP" sz="1050" dirty="0">
                <a:latin typeface="Meiryo UI" panose="020B0604030504040204" pitchFamily="50" charset="-128"/>
                <a:ea typeface="Meiryo UI" panose="020B0604030504040204" pitchFamily="50" charset="-128"/>
              </a:rPr>
              <a:t>(1)</a:t>
            </a:r>
            <a:r>
              <a:rPr kumimoji="1" lang="ja-JP" altLang="en-US" sz="1050" dirty="0">
                <a:latin typeface="Meiryo UI" panose="020B0604030504040204" pitchFamily="50" charset="-128"/>
                <a:ea typeface="Meiryo UI" panose="020B0604030504040204" pitchFamily="50" charset="-128"/>
              </a:rPr>
              <a:t>イベントトリガ（エラー，アブユース等）</a:t>
            </a:r>
            <a:endParaRPr kumimoji="1" lang="en-US" altLang="ja-JP" sz="1050" dirty="0">
              <a:latin typeface="Meiryo UI" panose="020B0604030504040204" pitchFamily="50" charset="-128"/>
              <a:ea typeface="Meiryo UI" panose="020B0604030504040204" pitchFamily="50" charset="-128"/>
            </a:endParaRPr>
          </a:p>
          <a:p>
            <a:r>
              <a:rPr lang="ja-JP" altLang="en-US" sz="1050" dirty="0">
                <a:latin typeface="Meiryo UI" panose="020B0604030504040204" pitchFamily="50" charset="-128"/>
                <a:ea typeface="Meiryo UI" panose="020B0604030504040204" pitchFamily="50" charset="-128"/>
              </a:rPr>
              <a:t>事前に定義したイベント</a:t>
            </a:r>
            <a:r>
              <a:rPr kumimoji="1" lang="ja-JP" altLang="en-US" sz="1050" dirty="0">
                <a:latin typeface="Meiryo UI" panose="020B0604030504040204" pitchFamily="50" charset="-128"/>
                <a:ea typeface="Meiryo UI" panose="020B0604030504040204" pitchFamily="50" charset="-128"/>
              </a:rPr>
              <a:t>発生前後の特定のデータが記録される機能</a:t>
            </a:r>
            <a:endParaRPr kumimoji="1" lang="en-US" altLang="ja-JP" sz="1050" dirty="0">
              <a:latin typeface="Meiryo UI" panose="020B0604030504040204" pitchFamily="50" charset="-128"/>
              <a:ea typeface="Meiryo UI" panose="020B0604030504040204" pitchFamily="50" charset="-128"/>
            </a:endParaRPr>
          </a:p>
          <a:p>
            <a:r>
              <a:rPr lang="en-US" altLang="ja-JP" sz="1050" dirty="0">
                <a:latin typeface="Meiryo UI" panose="020B0604030504040204" pitchFamily="50" charset="-128"/>
                <a:ea typeface="Meiryo UI" panose="020B0604030504040204" pitchFamily="50" charset="-128"/>
              </a:rPr>
              <a:t>(2)</a:t>
            </a:r>
            <a:r>
              <a:rPr lang="ja-JP" altLang="en-US" sz="1050" dirty="0">
                <a:latin typeface="Meiryo UI" panose="020B0604030504040204" pitchFamily="50" charset="-128"/>
                <a:ea typeface="Meiryo UI" panose="020B0604030504040204" pitchFamily="50" charset="-128"/>
              </a:rPr>
              <a:t>マニュアルトリガ（事前の期間指定）</a:t>
            </a:r>
            <a:endParaRPr lang="en-US" altLang="ja-JP" sz="1050" dirty="0">
              <a:latin typeface="Meiryo UI" panose="020B0604030504040204" pitchFamily="50" charset="-128"/>
              <a:ea typeface="Meiryo UI" panose="020B0604030504040204" pitchFamily="50" charset="-128"/>
            </a:endParaRPr>
          </a:p>
          <a:p>
            <a:r>
              <a:rPr lang="ja-JP" altLang="en-US" sz="1050" dirty="0">
                <a:latin typeface="Meiryo UI" panose="020B0604030504040204" pitchFamily="50" charset="-128"/>
                <a:ea typeface="Meiryo UI" panose="020B0604030504040204" pitchFamily="50" charset="-128"/>
              </a:rPr>
              <a:t>任意のデータを任意の期間記録する機能</a:t>
            </a:r>
            <a:endParaRPr lang="en-US" altLang="ja-JP" sz="1050" dirty="0">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E9727B36-0648-41CE-9AE9-5F62247F43C8}"/>
              </a:ext>
            </a:extLst>
          </p:cNvPr>
          <p:cNvSpPr txBox="1"/>
          <p:nvPr/>
        </p:nvSpPr>
        <p:spPr>
          <a:xfrm>
            <a:off x="8040684" y="1810017"/>
            <a:ext cx="576064" cy="261610"/>
          </a:xfrm>
          <a:prstGeom prst="rect">
            <a:avLst/>
          </a:prstGeom>
          <a:noFill/>
        </p:spPr>
        <p:txBody>
          <a:bodyPr wrap="square" rtlCol="0">
            <a:spAutoFit/>
          </a:bodyPr>
          <a:lstStyle/>
          <a:p>
            <a:r>
              <a:rPr kumimoji="1" lang="ja-JP" altLang="en-US" sz="1100">
                <a:latin typeface="Meiryo UI" panose="020B0604030504040204" pitchFamily="50" charset="-128"/>
                <a:ea typeface="Meiryo UI" panose="020B0604030504040204" pitchFamily="50" charset="-128"/>
              </a:rPr>
              <a:t>エラー</a:t>
            </a:r>
          </a:p>
        </p:txBody>
      </p:sp>
      <p:cxnSp>
        <p:nvCxnSpPr>
          <p:cNvPr id="14" name="直線矢印コネクタ 13">
            <a:extLst>
              <a:ext uri="{FF2B5EF4-FFF2-40B4-BE49-F238E27FC236}">
                <a16:creationId xmlns:a16="http://schemas.microsoft.com/office/drawing/2014/main" id="{A77C0DAD-2FB0-4557-90F3-1BEDC4BF8297}"/>
              </a:ext>
            </a:extLst>
          </p:cNvPr>
          <p:cNvCxnSpPr>
            <a:cxnSpLocks/>
          </p:cNvCxnSpPr>
          <p:nvPr/>
        </p:nvCxnSpPr>
        <p:spPr>
          <a:xfrm>
            <a:off x="8279442" y="2010728"/>
            <a:ext cx="0" cy="18953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5" name="図 14">
            <a:extLst>
              <a:ext uri="{FF2B5EF4-FFF2-40B4-BE49-F238E27FC236}">
                <a16:creationId xmlns:a16="http://schemas.microsoft.com/office/drawing/2014/main" id="{91F1702B-5823-4741-A02A-E3AF2ED3C6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3045" y="3470044"/>
            <a:ext cx="439968" cy="399146"/>
          </a:xfrm>
          <a:prstGeom prst="rect">
            <a:avLst/>
          </a:prstGeom>
        </p:spPr>
      </p:pic>
      <p:pic>
        <p:nvPicPr>
          <p:cNvPr id="16" name="Picture 7" descr="油圧ショベル">
            <a:hlinkClick r:id="rId4"/>
            <a:extLst>
              <a:ext uri="{FF2B5EF4-FFF2-40B4-BE49-F238E27FC236}">
                <a16:creationId xmlns:a16="http://schemas.microsoft.com/office/drawing/2014/main" id="{EA4F1B3D-3B38-468F-B5DF-350FA0C54DCE}"/>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31913" y="3353858"/>
            <a:ext cx="610671" cy="610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グループ化 16">
            <a:extLst>
              <a:ext uri="{FF2B5EF4-FFF2-40B4-BE49-F238E27FC236}">
                <a16:creationId xmlns:a16="http://schemas.microsoft.com/office/drawing/2014/main" id="{C345CBEF-9CD7-4722-9931-CA67E6EC1A73}"/>
              </a:ext>
            </a:extLst>
          </p:cNvPr>
          <p:cNvGrpSpPr/>
          <p:nvPr/>
        </p:nvGrpSpPr>
        <p:grpSpPr>
          <a:xfrm>
            <a:off x="6508190" y="3242394"/>
            <a:ext cx="635354" cy="342522"/>
            <a:chOff x="0" y="328816"/>
            <a:chExt cx="1398015" cy="753675"/>
          </a:xfrm>
        </p:grpSpPr>
        <p:sp>
          <p:nvSpPr>
            <p:cNvPr id="18" name="雲 16">
              <a:extLst>
                <a:ext uri="{FF2B5EF4-FFF2-40B4-BE49-F238E27FC236}">
                  <a16:creationId xmlns:a16="http://schemas.microsoft.com/office/drawing/2014/main" id="{0F5AA9C5-3191-469C-B09C-3CA24BA35155}"/>
                </a:ext>
              </a:extLst>
            </p:cNvPr>
            <p:cNvSpPr>
              <a:spLocks noChangeArrowheads="1"/>
            </p:cNvSpPr>
            <p:nvPr/>
          </p:nvSpPr>
          <p:spPr bwMode="gray">
            <a:xfrm>
              <a:off x="0" y="785538"/>
              <a:ext cx="1398015" cy="296953"/>
            </a:xfrm>
            <a:custGeom>
              <a:avLst/>
              <a:gdLst>
                <a:gd name="T0" fmla="*/ 452553899 w 43200"/>
                <a:gd name="T1" fmla="*/ 1605068 h 43200"/>
                <a:gd name="T2" fmla="*/ 226633339 w 43200"/>
                <a:gd name="T3" fmla="*/ 3203434 h 43200"/>
                <a:gd name="T4" fmla="*/ 1384001 w 43200"/>
                <a:gd name="T5" fmla="*/ 1605068 h 43200"/>
                <a:gd name="T6" fmla="*/ 226633339 w 43200"/>
                <a:gd name="T7" fmla="*/ 184848 h 43200"/>
                <a:gd name="T8" fmla="*/ 0 60000 65536"/>
                <a:gd name="T9" fmla="*/ 5898240 60000 65536"/>
                <a:gd name="T10" fmla="*/ 11796480 60000 65536"/>
                <a:gd name="T11" fmla="*/ 17694720 60000 65536"/>
                <a:gd name="T12" fmla="*/ 5959 w 43200"/>
                <a:gd name="T13" fmla="*/ 6508 h 43200"/>
                <a:gd name="T14" fmla="*/ 34163 w 43200"/>
                <a:gd name="T15" fmla="*/ 34682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gradFill rotWithShape="1">
              <a:gsLst>
                <a:gs pos="0">
                  <a:srgbClr val="FFFFFF"/>
                </a:gs>
                <a:gs pos="100000">
                  <a:srgbClr val="9CCCF4"/>
                </a:gs>
              </a:gsLst>
              <a:lin ang="5400000" scaled="1"/>
            </a:gradFill>
            <a:ln w="25400" algn="ctr">
              <a:solidFill>
                <a:srgbClr val="B9DEFF"/>
              </a:solidFill>
              <a:miter lim="800000"/>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defRPr/>
              </a:pPr>
              <a:endParaRPr lang="ja-JP" altLang="en-US" sz="1275">
                <a:solidFill>
                  <a:srgbClr val="8064A2">
                    <a:lumMod val="85000"/>
                    <a:lumOff val="15000"/>
                  </a:srgbClr>
                </a:solidFill>
              </a:endParaRPr>
            </a:p>
          </p:txBody>
        </p:sp>
        <p:pic>
          <p:nvPicPr>
            <p:cNvPr id="19" name="図 18">
              <a:extLst>
                <a:ext uri="{FF2B5EF4-FFF2-40B4-BE49-F238E27FC236}">
                  <a16:creationId xmlns:a16="http://schemas.microsoft.com/office/drawing/2014/main" id="{76A881CE-E31D-4B90-B816-139DE0CF7063}"/>
                </a:ext>
              </a:extLst>
            </p:cNvPr>
            <p:cNvPicPr>
              <a:picLocks noChangeAspect="1"/>
            </p:cNvPicPr>
            <p:nvPr/>
          </p:nvPicPr>
          <p:blipFill>
            <a:blip r:embed="rId6" cstate="print">
              <a:clrChange>
                <a:clrFrom>
                  <a:srgbClr val="FFF200"/>
                </a:clrFrom>
                <a:clrTo>
                  <a:srgbClr val="FFF200">
                    <a:alpha val="0"/>
                  </a:srgbClr>
                </a:clrTo>
              </a:clrChange>
              <a:extLst>
                <a:ext uri="{28A0092B-C50C-407E-A947-70E740481C1C}">
                  <a14:useLocalDpi xmlns:a14="http://schemas.microsoft.com/office/drawing/2010/main" val="0"/>
                </a:ext>
              </a:extLst>
            </a:blip>
            <a:stretch>
              <a:fillRect/>
            </a:stretch>
          </p:blipFill>
          <p:spPr>
            <a:xfrm>
              <a:off x="195136" y="328816"/>
              <a:ext cx="916107" cy="632357"/>
            </a:xfrm>
            <a:prstGeom prst="rect">
              <a:avLst/>
            </a:prstGeom>
          </p:spPr>
        </p:pic>
      </p:grpSp>
      <p:sp>
        <p:nvSpPr>
          <p:cNvPr id="20" name="テキスト ボックス 19">
            <a:extLst>
              <a:ext uri="{FF2B5EF4-FFF2-40B4-BE49-F238E27FC236}">
                <a16:creationId xmlns:a16="http://schemas.microsoft.com/office/drawing/2014/main" id="{96B36BA2-F4BC-4B6D-A777-F24368893D77}"/>
              </a:ext>
            </a:extLst>
          </p:cNvPr>
          <p:cNvSpPr txBox="1"/>
          <p:nvPr/>
        </p:nvSpPr>
        <p:spPr>
          <a:xfrm>
            <a:off x="5625627" y="3853796"/>
            <a:ext cx="800219" cy="276999"/>
          </a:xfrm>
          <a:prstGeom prst="rect">
            <a:avLst/>
          </a:prstGeom>
          <a:noFill/>
        </p:spPr>
        <p:txBody>
          <a:bodyPr wrap="none" rtlCol="0">
            <a:spAutoFit/>
          </a:bodyPr>
          <a:lstStyle/>
          <a:p>
            <a:r>
              <a:rPr lang="ja-JP" altLang="en-US" sz="12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顧客現場</a:t>
            </a:r>
          </a:p>
        </p:txBody>
      </p:sp>
      <p:sp>
        <p:nvSpPr>
          <p:cNvPr id="21" name="円弧 20">
            <a:extLst>
              <a:ext uri="{FF2B5EF4-FFF2-40B4-BE49-F238E27FC236}">
                <a16:creationId xmlns:a16="http://schemas.microsoft.com/office/drawing/2014/main" id="{A816AE9A-97BF-4D85-9455-1B236E57DF07}"/>
              </a:ext>
            </a:extLst>
          </p:cNvPr>
          <p:cNvSpPr/>
          <p:nvPr/>
        </p:nvSpPr>
        <p:spPr>
          <a:xfrm>
            <a:off x="6221562" y="3570567"/>
            <a:ext cx="1304623" cy="1107553"/>
          </a:xfrm>
          <a:prstGeom prst="arc">
            <a:avLst>
              <a:gd name="adj1" fmla="val 12546525"/>
              <a:gd name="adj2" fmla="val 20277743"/>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sz="1350">
              <a:solidFill>
                <a:prstClr val="black"/>
              </a:solidFill>
            </a:endParaRPr>
          </a:p>
        </p:txBody>
      </p:sp>
      <p:sp>
        <p:nvSpPr>
          <p:cNvPr id="22" name="テキスト ボックス 21">
            <a:extLst>
              <a:ext uri="{FF2B5EF4-FFF2-40B4-BE49-F238E27FC236}">
                <a16:creationId xmlns:a16="http://schemas.microsoft.com/office/drawing/2014/main" id="{27F30A52-D1C4-44AE-BC97-6F412BA890DA}"/>
              </a:ext>
            </a:extLst>
          </p:cNvPr>
          <p:cNvSpPr txBox="1"/>
          <p:nvPr/>
        </p:nvSpPr>
        <p:spPr>
          <a:xfrm>
            <a:off x="6654895" y="3668038"/>
            <a:ext cx="737702" cy="246221"/>
          </a:xfrm>
          <a:prstGeom prst="rect">
            <a:avLst/>
          </a:prstGeom>
          <a:noFill/>
        </p:spPr>
        <p:txBody>
          <a:bodyPr wrap="none" rtlCol="0">
            <a:spAutoFit/>
          </a:bodyPr>
          <a:lstStyle/>
          <a:p>
            <a:r>
              <a:rPr kumimoji="1" lang="ja-JP" altLang="en-US" sz="1000">
                <a:latin typeface="Meiryo UI" panose="020B0604030504040204" pitchFamily="50" charset="-128"/>
                <a:ea typeface="Meiryo UI" panose="020B0604030504040204" pitchFamily="50" charset="-128"/>
              </a:rPr>
              <a:t>データ要求</a:t>
            </a:r>
          </a:p>
        </p:txBody>
      </p:sp>
      <p:sp>
        <p:nvSpPr>
          <p:cNvPr id="23" name="テキスト ボックス 22">
            <a:extLst>
              <a:ext uri="{FF2B5EF4-FFF2-40B4-BE49-F238E27FC236}">
                <a16:creationId xmlns:a16="http://schemas.microsoft.com/office/drawing/2014/main" id="{19D29459-5E41-43D7-BBEB-60AE28B2869C}"/>
              </a:ext>
            </a:extLst>
          </p:cNvPr>
          <p:cNvSpPr txBox="1"/>
          <p:nvPr/>
        </p:nvSpPr>
        <p:spPr>
          <a:xfrm>
            <a:off x="6271419" y="3035336"/>
            <a:ext cx="1194558" cy="246221"/>
          </a:xfrm>
          <a:prstGeom prst="rect">
            <a:avLst/>
          </a:prstGeom>
          <a:noFill/>
        </p:spPr>
        <p:txBody>
          <a:bodyPr wrap="none" rtlCol="0">
            <a:spAutoFit/>
          </a:bodyPr>
          <a:lstStyle/>
          <a:p>
            <a:r>
              <a:rPr kumimoji="1" lang="ja-JP" altLang="en-US" sz="1000" dirty="0">
                <a:latin typeface="Meiryo UI" panose="020B0604030504040204" pitchFamily="50" charset="-128"/>
                <a:ea typeface="Meiryo UI" panose="020B0604030504040204" pitchFamily="50" charset="-128"/>
              </a:rPr>
              <a:t>スナップショットデータ</a:t>
            </a:r>
          </a:p>
        </p:txBody>
      </p:sp>
      <p:grpSp>
        <p:nvGrpSpPr>
          <p:cNvPr id="24" name="グループ化 23">
            <a:extLst>
              <a:ext uri="{FF2B5EF4-FFF2-40B4-BE49-F238E27FC236}">
                <a16:creationId xmlns:a16="http://schemas.microsoft.com/office/drawing/2014/main" id="{20A9306B-8435-40DF-B331-680F8D5D7D45}"/>
              </a:ext>
            </a:extLst>
          </p:cNvPr>
          <p:cNvGrpSpPr/>
          <p:nvPr/>
        </p:nvGrpSpPr>
        <p:grpSpPr>
          <a:xfrm>
            <a:off x="5347268" y="3496734"/>
            <a:ext cx="439942" cy="322705"/>
            <a:chOff x="128475" y="2052270"/>
            <a:chExt cx="608409" cy="446278"/>
          </a:xfrm>
        </p:grpSpPr>
        <p:pic>
          <p:nvPicPr>
            <p:cNvPr id="25" name="Picture 3" descr="C:\Users\km59117\works\001_Project\次世代KOMTRAXコンテンツ検討PRJ\報告資料\20170607_SC資料\picture\次世代GW20170201版.png">
              <a:extLst>
                <a:ext uri="{FF2B5EF4-FFF2-40B4-BE49-F238E27FC236}">
                  <a16:creationId xmlns:a16="http://schemas.microsoft.com/office/drawing/2014/main" id="{51D0F74A-44DB-4F5E-9B01-AAACF51270F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8475" y="2163605"/>
              <a:ext cx="491413" cy="33494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km59117\works\001_Project\次世代KOMTRAXコンテンツ検討PRJ\報告資料\20170607_SC資料\picture\次世代通信端末20161202版（携帯）.png">
              <a:extLst>
                <a:ext uri="{FF2B5EF4-FFF2-40B4-BE49-F238E27FC236}">
                  <a16:creationId xmlns:a16="http://schemas.microsoft.com/office/drawing/2014/main" id="{DA756667-4AD9-4D5F-B3E3-9F46802EE79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3486" y="2052270"/>
              <a:ext cx="393398" cy="245251"/>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角丸四角形 31">
            <a:extLst>
              <a:ext uri="{FF2B5EF4-FFF2-40B4-BE49-F238E27FC236}">
                <a16:creationId xmlns:a16="http://schemas.microsoft.com/office/drawing/2014/main" id="{E75FC353-A395-462D-BA39-B894E7568437}"/>
              </a:ext>
            </a:extLst>
          </p:cNvPr>
          <p:cNvSpPr/>
          <p:nvPr/>
        </p:nvSpPr>
        <p:spPr>
          <a:xfrm>
            <a:off x="5101631" y="3840930"/>
            <a:ext cx="517113" cy="1620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675" b="1" err="1">
                <a:latin typeface="Meiryo UI" panose="020B0604030504040204" pitchFamily="50" charset="-128"/>
                <a:ea typeface="Meiryo UI" panose="020B0604030504040204" pitchFamily="50" charset="-128"/>
                <a:cs typeface="Meiryo UI" panose="020B0604030504040204" pitchFamily="50" charset="-128"/>
              </a:rPr>
              <a:t>KICSi</a:t>
            </a:r>
            <a:endParaRPr lang="ja-JP" altLang="en-US" sz="675" b="1">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角丸四角形 31">
            <a:extLst>
              <a:ext uri="{FF2B5EF4-FFF2-40B4-BE49-F238E27FC236}">
                <a16:creationId xmlns:a16="http://schemas.microsoft.com/office/drawing/2014/main" id="{1E8C3A21-7550-4DFC-9C2A-ECEF138738BD}"/>
              </a:ext>
            </a:extLst>
          </p:cNvPr>
          <p:cNvSpPr/>
          <p:nvPr/>
        </p:nvSpPr>
        <p:spPr>
          <a:xfrm>
            <a:off x="7215315" y="3850715"/>
            <a:ext cx="1401433" cy="15734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dirty="0">
                <a:latin typeface="Meiryo UI" panose="020B0604030504040204" pitchFamily="50" charset="-128"/>
                <a:ea typeface="Meiryo UI" panose="020B0604030504040204" pitchFamily="50" charset="-128"/>
                <a:cs typeface="Meiryo UI" panose="020B0604030504040204" pitchFamily="50" charset="-128"/>
              </a:rPr>
              <a:t>次世代</a:t>
            </a:r>
            <a:r>
              <a:rPr lang="en-US" altLang="ja-JP" sz="800" b="1" dirty="0">
                <a:latin typeface="Meiryo UI" panose="020B0604030504040204" pitchFamily="50" charset="-128"/>
                <a:ea typeface="Meiryo UI" panose="020B0604030504040204" pitchFamily="50" charset="-128"/>
                <a:cs typeface="Meiryo UI" panose="020B0604030504040204" pitchFamily="50" charset="-128"/>
              </a:rPr>
              <a:t>KOMTRAX</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サーバ</a:t>
            </a:r>
          </a:p>
        </p:txBody>
      </p:sp>
      <p:sp>
        <p:nvSpPr>
          <p:cNvPr id="29" name="テキスト ボックス 28">
            <a:extLst>
              <a:ext uri="{FF2B5EF4-FFF2-40B4-BE49-F238E27FC236}">
                <a16:creationId xmlns:a16="http://schemas.microsoft.com/office/drawing/2014/main" id="{BF1CBD01-EEE6-4F17-B5C9-5B31216B5E5E}"/>
              </a:ext>
            </a:extLst>
          </p:cNvPr>
          <p:cNvSpPr txBox="1"/>
          <p:nvPr/>
        </p:nvSpPr>
        <p:spPr>
          <a:xfrm>
            <a:off x="7626820" y="2954987"/>
            <a:ext cx="1184940" cy="400110"/>
          </a:xfrm>
          <a:prstGeom prst="rect">
            <a:avLst/>
          </a:prstGeom>
          <a:noFill/>
        </p:spPr>
        <p:txBody>
          <a:bodyPr wrap="none" rtlCol="0">
            <a:spAutoFit/>
          </a:bodyPr>
          <a:lstStyle/>
          <a:p>
            <a:pPr algn="ctr"/>
            <a:r>
              <a:rPr kumimoji="1" lang="ja-JP" altLang="en-US" sz="1000">
                <a:latin typeface="Meiryo UI" panose="020B0604030504040204" pitchFamily="50" charset="-128"/>
                <a:ea typeface="Meiryo UI" panose="020B0604030504040204" pitchFamily="50" charset="-128"/>
              </a:rPr>
              <a:t>スナップショットデータ</a:t>
            </a:r>
            <a:endParaRPr kumimoji="1" lang="en-US" altLang="ja-JP" sz="1000">
              <a:latin typeface="Meiryo UI" panose="020B0604030504040204" pitchFamily="50" charset="-128"/>
              <a:ea typeface="Meiryo UI" panose="020B0604030504040204" pitchFamily="50" charset="-128"/>
            </a:endParaRPr>
          </a:p>
          <a:p>
            <a:pPr algn="ctr"/>
            <a:r>
              <a:rPr lang="ja-JP" altLang="en-US" sz="1000">
                <a:latin typeface="Meiryo UI" panose="020B0604030504040204" pitchFamily="50" charset="-128"/>
                <a:ea typeface="Meiryo UI" panose="020B0604030504040204" pitchFamily="50" charset="-128"/>
              </a:rPr>
              <a:t>取得イメージ</a:t>
            </a:r>
            <a:endParaRPr kumimoji="1" lang="ja-JP" altLang="en-US" sz="1000">
              <a:latin typeface="Meiryo UI" panose="020B0604030504040204" pitchFamily="50" charset="-128"/>
              <a:ea typeface="Meiryo UI" panose="020B0604030504040204" pitchFamily="50" charset="-128"/>
            </a:endParaRPr>
          </a:p>
        </p:txBody>
      </p:sp>
      <p:sp>
        <p:nvSpPr>
          <p:cNvPr id="30" name="吹き出し: 四角形 29">
            <a:extLst>
              <a:ext uri="{FF2B5EF4-FFF2-40B4-BE49-F238E27FC236}">
                <a16:creationId xmlns:a16="http://schemas.microsoft.com/office/drawing/2014/main" id="{74CD8405-BA9B-46A6-AAFC-4BFBE41DFB52}"/>
              </a:ext>
            </a:extLst>
          </p:cNvPr>
          <p:cNvSpPr/>
          <p:nvPr/>
        </p:nvSpPr>
        <p:spPr>
          <a:xfrm>
            <a:off x="8376262" y="2079414"/>
            <a:ext cx="566570" cy="265446"/>
          </a:xfrm>
          <a:prstGeom prst="wedgeRectCallout">
            <a:avLst>
              <a:gd name="adj1" fmla="val -70184"/>
              <a:gd name="adj2" fmla="val 82428"/>
            </a:avLst>
          </a:prstGeom>
          <a:solidFill>
            <a:schemeClr val="bg1"/>
          </a:solid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a:solidFill>
                  <a:schemeClr val="bg1"/>
                </a:solidFill>
                <a:latin typeface="Meiryo UI" panose="020B0604030504040204" pitchFamily="50" charset="-128"/>
                <a:ea typeface="Meiryo UI" panose="020B0604030504040204" pitchFamily="50" charset="-128"/>
              </a:rPr>
              <a:t>油圧低</a:t>
            </a:r>
          </a:p>
        </p:txBody>
      </p:sp>
      <p:sp>
        <p:nvSpPr>
          <p:cNvPr id="31" name="テキスト ボックス 30">
            <a:extLst>
              <a:ext uri="{FF2B5EF4-FFF2-40B4-BE49-F238E27FC236}">
                <a16:creationId xmlns:a16="http://schemas.microsoft.com/office/drawing/2014/main" id="{E3677F41-EEC5-4346-9E53-EE2534DD7EDA}"/>
              </a:ext>
            </a:extLst>
          </p:cNvPr>
          <p:cNvSpPr txBox="1"/>
          <p:nvPr/>
        </p:nvSpPr>
        <p:spPr>
          <a:xfrm>
            <a:off x="8316596" y="2083433"/>
            <a:ext cx="646331" cy="230832"/>
          </a:xfrm>
          <a:prstGeom prst="rect">
            <a:avLst/>
          </a:prstGeom>
          <a:noFill/>
        </p:spPr>
        <p:txBody>
          <a:bodyPr wrap="none" rtlCol="0">
            <a:spAutoFit/>
          </a:bodyPr>
          <a:lstStyle/>
          <a:p>
            <a:r>
              <a:rPr lang="ja-JP" altLang="en-US" sz="900" dirty="0">
                <a:latin typeface="Meiryo UI" panose="020B0604030504040204" pitchFamily="50" charset="-128"/>
                <a:ea typeface="Meiryo UI" panose="020B0604030504040204" pitchFamily="50" charset="-128"/>
              </a:rPr>
              <a:t>油圧低下</a:t>
            </a:r>
          </a:p>
        </p:txBody>
      </p:sp>
      <p:sp>
        <p:nvSpPr>
          <p:cNvPr id="32" name="角丸四角形 6">
            <a:extLst>
              <a:ext uri="{FF2B5EF4-FFF2-40B4-BE49-F238E27FC236}">
                <a16:creationId xmlns:a16="http://schemas.microsoft.com/office/drawing/2014/main" id="{A4D9D833-A2CE-4EAC-B061-821D1071DCFF}"/>
              </a:ext>
            </a:extLst>
          </p:cNvPr>
          <p:cNvSpPr/>
          <p:nvPr/>
        </p:nvSpPr>
        <p:spPr>
          <a:xfrm>
            <a:off x="285029" y="2609391"/>
            <a:ext cx="772444" cy="1395394"/>
          </a:xfrm>
          <a:prstGeom prst="roundRect">
            <a:avLst/>
          </a:prstGeom>
          <a:solidFill>
            <a:schemeClr val="accent3">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sp>
        <p:nvSpPr>
          <p:cNvPr id="33" name="角丸四角形 6">
            <a:extLst>
              <a:ext uri="{FF2B5EF4-FFF2-40B4-BE49-F238E27FC236}">
                <a16:creationId xmlns:a16="http://schemas.microsoft.com/office/drawing/2014/main" id="{7D608B96-1263-46B5-B93A-63D702C818ED}"/>
              </a:ext>
            </a:extLst>
          </p:cNvPr>
          <p:cNvSpPr/>
          <p:nvPr/>
        </p:nvSpPr>
        <p:spPr>
          <a:xfrm>
            <a:off x="2341306" y="2960642"/>
            <a:ext cx="631603" cy="555557"/>
          </a:xfrm>
          <a:prstGeom prst="roundRect">
            <a:avLst/>
          </a:prstGeom>
          <a:solidFill>
            <a:srgbClr val="4F81BD">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grpSp>
        <p:nvGrpSpPr>
          <p:cNvPr id="34" name="グループ化 33">
            <a:extLst>
              <a:ext uri="{FF2B5EF4-FFF2-40B4-BE49-F238E27FC236}">
                <a16:creationId xmlns:a16="http://schemas.microsoft.com/office/drawing/2014/main" id="{BBA1527E-C343-49BB-A2A8-340EFC7B006F}"/>
              </a:ext>
            </a:extLst>
          </p:cNvPr>
          <p:cNvGrpSpPr/>
          <p:nvPr/>
        </p:nvGrpSpPr>
        <p:grpSpPr>
          <a:xfrm>
            <a:off x="2277640" y="3009544"/>
            <a:ext cx="833366" cy="501814"/>
            <a:chOff x="0" y="328816"/>
            <a:chExt cx="1398015" cy="753675"/>
          </a:xfrm>
        </p:grpSpPr>
        <p:sp>
          <p:nvSpPr>
            <p:cNvPr id="35" name="雲 16">
              <a:extLst>
                <a:ext uri="{FF2B5EF4-FFF2-40B4-BE49-F238E27FC236}">
                  <a16:creationId xmlns:a16="http://schemas.microsoft.com/office/drawing/2014/main" id="{F0AC655A-D4B6-4097-A785-B445D19CD4F7}"/>
                </a:ext>
              </a:extLst>
            </p:cNvPr>
            <p:cNvSpPr>
              <a:spLocks noChangeArrowheads="1"/>
            </p:cNvSpPr>
            <p:nvPr/>
          </p:nvSpPr>
          <p:spPr bwMode="gray">
            <a:xfrm>
              <a:off x="0" y="785538"/>
              <a:ext cx="1398015" cy="296953"/>
            </a:xfrm>
            <a:custGeom>
              <a:avLst/>
              <a:gdLst>
                <a:gd name="T0" fmla="*/ 452553899 w 43200"/>
                <a:gd name="T1" fmla="*/ 1605068 h 43200"/>
                <a:gd name="T2" fmla="*/ 226633339 w 43200"/>
                <a:gd name="T3" fmla="*/ 3203434 h 43200"/>
                <a:gd name="T4" fmla="*/ 1384001 w 43200"/>
                <a:gd name="T5" fmla="*/ 1605068 h 43200"/>
                <a:gd name="T6" fmla="*/ 226633339 w 43200"/>
                <a:gd name="T7" fmla="*/ 184848 h 43200"/>
                <a:gd name="T8" fmla="*/ 0 60000 65536"/>
                <a:gd name="T9" fmla="*/ 5898240 60000 65536"/>
                <a:gd name="T10" fmla="*/ 11796480 60000 65536"/>
                <a:gd name="T11" fmla="*/ 17694720 60000 65536"/>
                <a:gd name="T12" fmla="*/ 5959 w 43200"/>
                <a:gd name="T13" fmla="*/ 6508 h 43200"/>
                <a:gd name="T14" fmla="*/ 34163 w 43200"/>
                <a:gd name="T15" fmla="*/ 34682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gradFill rotWithShape="1">
              <a:gsLst>
                <a:gs pos="0">
                  <a:srgbClr val="FFFFFF"/>
                </a:gs>
                <a:gs pos="100000">
                  <a:srgbClr val="9CCCF4"/>
                </a:gs>
              </a:gsLst>
              <a:lin ang="5400000" scaled="1"/>
            </a:gradFill>
            <a:ln w="25400" algn="ctr">
              <a:solidFill>
                <a:srgbClr val="B9DEFF"/>
              </a:solidFill>
              <a:miter lim="800000"/>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defRPr/>
              </a:pPr>
              <a:endParaRPr lang="ja-JP" altLang="en-US" sz="1700">
                <a:solidFill>
                  <a:schemeClr val="accent4">
                    <a:lumMod val="85000"/>
                    <a:lumOff val="15000"/>
                  </a:schemeClr>
                </a:solidFill>
                <a:latin typeface="+mj-ea"/>
                <a:ea typeface="+mj-ea"/>
              </a:endParaRPr>
            </a:p>
          </p:txBody>
        </p:sp>
        <p:pic>
          <p:nvPicPr>
            <p:cNvPr id="36" name="図 35">
              <a:extLst>
                <a:ext uri="{FF2B5EF4-FFF2-40B4-BE49-F238E27FC236}">
                  <a16:creationId xmlns:a16="http://schemas.microsoft.com/office/drawing/2014/main" id="{3FEA2209-6278-4468-AF70-EAECDB67136C}"/>
                </a:ext>
              </a:extLst>
            </p:cNvPr>
            <p:cNvPicPr>
              <a:picLocks noChangeAspect="1"/>
            </p:cNvPicPr>
            <p:nvPr/>
          </p:nvPicPr>
          <p:blipFill>
            <a:blip r:embed="rId9">
              <a:clrChange>
                <a:clrFrom>
                  <a:srgbClr val="FFF200"/>
                </a:clrFrom>
                <a:clrTo>
                  <a:srgbClr val="FFF200">
                    <a:alpha val="0"/>
                  </a:srgbClr>
                </a:clrTo>
              </a:clrChange>
              <a:extLst>
                <a:ext uri="{28A0092B-C50C-407E-A947-70E740481C1C}">
                  <a14:useLocalDpi xmlns:a14="http://schemas.microsoft.com/office/drawing/2010/main" val="0"/>
                </a:ext>
              </a:extLst>
            </a:blip>
            <a:stretch>
              <a:fillRect/>
            </a:stretch>
          </p:blipFill>
          <p:spPr>
            <a:xfrm>
              <a:off x="195136" y="328816"/>
              <a:ext cx="916107" cy="632357"/>
            </a:xfrm>
            <a:prstGeom prst="rect">
              <a:avLst/>
            </a:prstGeom>
          </p:spPr>
        </p:pic>
      </p:grpSp>
      <p:pic>
        <p:nvPicPr>
          <p:cNvPr id="37" name="図 36">
            <a:extLst>
              <a:ext uri="{FF2B5EF4-FFF2-40B4-BE49-F238E27FC236}">
                <a16:creationId xmlns:a16="http://schemas.microsoft.com/office/drawing/2014/main" id="{79C29C02-485A-4837-AA1D-D34B6DA3CEF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323570" y="3521303"/>
            <a:ext cx="796238" cy="124135"/>
          </a:xfrm>
          <a:prstGeom prst="rect">
            <a:avLst/>
          </a:prstGeom>
        </p:spPr>
      </p:pic>
      <p:cxnSp>
        <p:nvCxnSpPr>
          <p:cNvPr id="38" name="直線コネクタ 37">
            <a:extLst>
              <a:ext uri="{FF2B5EF4-FFF2-40B4-BE49-F238E27FC236}">
                <a16:creationId xmlns:a16="http://schemas.microsoft.com/office/drawing/2014/main" id="{148DB325-1224-4E74-BA1E-1F8FF4D3402C}"/>
              </a:ext>
            </a:extLst>
          </p:cNvPr>
          <p:cNvCxnSpPr>
            <a:cxnSpLocks/>
            <a:stCxn id="58" idx="1"/>
            <a:endCxn id="33" idx="3"/>
          </p:cNvCxnSpPr>
          <p:nvPr/>
        </p:nvCxnSpPr>
        <p:spPr>
          <a:xfrm flipH="1" flipV="1">
            <a:off x="2972909" y="3238421"/>
            <a:ext cx="472986" cy="28124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EAE70304-1AD8-4E40-8622-19CBF1B580CF}"/>
              </a:ext>
            </a:extLst>
          </p:cNvPr>
          <p:cNvCxnSpPr>
            <a:cxnSpLocks/>
          </p:cNvCxnSpPr>
          <p:nvPr/>
        </p:nvCxnSpPr>
        <p:spPr>
          <a:xfrm>
            <a:off x="2642617" y="2671538"/>
            <a:ext cx="0" cy="296218"/>
          </a:xfrm>
          <a:prstGeom prst="line">
            <a:avLst/>
          </a:prstGeom>
          <a:ln w="19050">
            <a:solidFill>
              <a:schemeClr val="bg1">
                <a:lumMod val="5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AF68A60E-D8E5-4331-BBDA-64EFD760FCC9}"/>
              </a:ext>
            </a:extLst>
          </p:cNvPr>
          <p:cNvSpPr txBox="1"/>
          <p:nvPr/>
        </p:nvSpPr>
        <p:spPr>
          <a:xfrm>
            <a:off x="2235664" y="2444662"/>
            <a:ext cx="920445" cy="246221"/>
          </a:xfrm>
          <a:prstGeom prst="rect">
            <a:avLst/>
          </a:prstGeom>
          <a:noFill/>
        </p:spPr>
        <p:txBody>
          <a:bodyPr wrap="none" rtlCol="0">
            <a:spAutoFit/>
          </a:bodyPr>
          <a:lstStyle/>
          <a:p>
            <a:pPr algn="ctr"/>
            <a:r>
              <a:rPr lang="ja-JP" altLang="en-US" sz="1000" dirty="0">
                <a:latin typeface="+mj-ea"/>
                <a:ea typeface="+mj-ea"/>
              </a:rPr>
              <a:t>データ定義</a:t>
            </a:r>
            <a:r>
              <a:rPr lang="en-US" altLang="ja-JP" sz="1000" dirty="0">
                <a:latin typeface="+mj-ea"/>
                <a:ea typeface="+mj-ea"/>
              </a:rPr>
              <a:t>DB</a:t>
            </a:r>
            <a:endParaRPr lang="ja-JP" altLang="en-US" sz="1000" dirty="0">
              <a:latin typeface="+mj-ea"/>
              <a:ea typeface="+mj-ea"/>
            </a:endParaRPr>
          </a:p>
        </p:txBody>
      </p:sp>
      <p:pic>
        <p:nvPicPr>
          <p:cNvPr id="41" name="図 40">
            <a:extLst>
              <a:ext uri="{FF2B5EF4-FFF2-40B4-BE49-F238E27FC236}">
                <a16:creationId xmlns:a16="http://schemas.microsoft.com/office/drawing/2014/main" id="{C882C8BE-EEBC-44B6-8FBB-30440538FE52}"/>
              </a:ext>
            </a:extLst>
          </p:cNvPr>
          <p:cNvPicPr>
            <a:picLocks noChangeAspect="1"/>
          </p:cNvPicPr>
          <p:nvPr/>
        </p:nvPicPr>
        <p:blipFill>
          <a:blip r:embed="rId11">
            <a:clrChange>
              <a:clrFrom>
                <a:srgbClr val="FFF200"/>
              </a:clrFrom>
              <a:clrTo>
                <a:srgbClr val="FFF200">
                  <a:alpha val="0"/>
                </a:srgbClr>
              </a:clrTo>
            </a:clrChange>
          </a:blip>
          <a:stretch>
            <a:fillRect/>
          </a:stretch>
        </p:blipFill>
        <p:spPr>
          <a:xfrm>
            <a:off x="2368982" y="2120942"/>
            <a:ext cx="497392" cy="362178"/>
          </a:xfrm>
          <a:prstGeom prst="rect">
            <a:avLst/>
          </a:prstGeom>
        </p:spPr>
      </p:pic>
      <p:pic>
        <p:nvPicPr>
          <p:cNvPr id="42" name="Picture 7" descr="油圧ショベル">
            <a:extLst>
              <a:ext uri="{FF2B5EF4-FFF2-40B4-BE49-F238E27FC236}">
                <a16:creationId xmlns:a16="http://schemas.microsoft.com/office/drawing/2014/main" id="{62947F95-D79C-4D24-BC78-03E6BDF6A91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91751" y="2899073"/>
            <a:ext cx="682215" cy="6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3" name="直線コネクタ 42">
            <a:extLst>
              <a:ext uri="{FF2B5EF4-FFF2-40B4-BE49-F238E27FC236}">
                <a16:creationId xmlns:a16="http://schemas.microsoft.com/office/drawing/2014/main" id="{F56C5E14-9CEC-4145-9106-5881A0D95091}"/>
              </a:ext>
            </a:extLst>
          </p:cNvPr>
          <p:cNvCxnSpPr>
            <a:cxnSpLocks/>
            <a:stCxn id="33" idx="1"/>
            <a:endCxn id="42" idx="3"/>
          </p:cNvCxnSpPr>
          <p:nvPr/>
        </p:nvCxnSpPr>
        <p:spPr>
          <a:xfrm flipH="1">
            <a:off x="2073966" y="3238421"/>
            <a:ext cx="267340" cy="17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4" name="Picture 4" descr="ãå§åã»ã³ãµãã®ç»åæ¤ç´¢çµæ">
            <a:extLst>
              <a:ext uri="{FF2B5EF4-FFF2-40B4-BE49-F238E27FC236}">
                <a16:creationId xmlns:a16="http://schemas.microsoft.com/office/drawing/2014/main" id="{D90F911B-1357-4E8B-9A3C-DF11D6E27E8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21270" y="3264696"/>
            <a:ext cx="476135" cy="47613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5" name="Picture 6" descr="ãæ¸©åº¦ã»ã³ãµãã®ç»åæ¤ç´¢çµæ">
            <a:extLst>
              <a:ext uri="{FF2B5EF4-FFF2-40B4-BE49-F238E27FC236}">
                <a16:creationId xmlns:a16="http://schemas.microsoft.com/office/drawing/2014/main" id="{5E18C167-CA63-4EE1-A638-D583EC762264}"/>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38094" y="2690882"/>
            <a:ext cx="461183" cy="46118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46" name="コネクタ: カギ線 45">
            <a:extLst>
              <a:ext uri="{FF2B5EF4-FFF2-40B4-BE49-F238E27FC236}">
                <a16:creationId xmlns:a16="http://schemas.microsoft.com/office/drawing/2014/main" id="{6040B26A-57C5-4951-B2D7-70D828DC0DB8}"/>
              </a:ext>
            </a:extLst>
          </p:cNvPr>
          <p:cNvCxnSpPr>
            <a:cxnSpLocks/>
            <a:stCxn id="45" idx="3"/>
          </p:cNvCxnSpPr>
          <p:nvPr/>
        </p:nvCxnSpPr>
        <p:spPr>
          <a:xfrm>
            <a:off x="899277" y="2921474"/>
            <a:ext cx="758812" cy="31870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94D41B-2C40-43FE-B8C5-7B6C98F94F22}"/>
              </a:ext>
            </a:extLst>
          </p:cNvPr>
          <p:cNvCxnSpPr>
            <a:cxnSpLocks/>
            <a:stCxn id="44" idx="3"/>
          </p:cNvCxnSpPr>
          <p:nvPr/>
        </p:nvCxnSpPr>
        <p:spPr>
          <a:xfrm flipV="1">
            <a:off x="897405" y="3240182"/>
            <a:ext cx="760684" cy="26258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72FBC568-412D-47C0-9061-D501E1A0120A}"/>
              </a:ext>
            </a:extLst>
          </p:cNvPr>
          <p:cNvSpPr/>
          <p:nvPr/>
        </p:nvSpPr>
        <p:spPr>
          <a:xfrm>
            <a:off x="245672" y="3731994"/>
            <a:ext cx="1159287" cy="230832"/>
          </a:xfrm>
          <a:prstGeom prst="rect">
            <a:avLst/>
          </a:prstGeom>
        </p:spPr>
        <p:txBody>
          <a:bodyPr wrap="square">
            <a:spAutoFit/>
          </a:bodyPr>
          <a:lstStyle/>
          <a:p>
            <a:r>
              <a:rPr lang="ja-JP" altLang="en-US" sz="900" dirty="0">
                <a:solidFill>
                  <a:prstClr val="black"/>
                </a:solidFill>
                <a:latin typeface="+mj-ea"/>
                <a:ea typeface="+mj-ea"/>
                <a:cs typeface="Meiryo UI" panose="020B0604030504040204" pitchFamily="50" charset="-128"/>
              </a:rPr>
              <a:t>各種センサー追加</a:t>
            </a:r>
            <a:endParaRPr lang="en-US" altLang="ja-JP" sz="900" dirty="0">
              <a:solidFill>
                <a:prstClr val="black"/>
              </a:solidFill>
              <a:latin typeface="+mj-ea"/>
              <a:ea typeface="+mj-ea"/>
              <a:cs typeface="Meiryo UI" panose="020B0604030504040204" pitchFamily="50" charset="-128"/>
            </a:endParaRPr>
          </a:p>
        </p:txBody>
      </p:sp>
      <p:sp>
        <p:nvSpPr>
          <p:cNvPr id="49" name="正方形/長方形 48">
            <a:extLst>
              <a:ext uri="{FF2B5EF4-FFF2-40B4-BE49-F238E27FC236}">
                <a16:creationId xmlns:a16="http://schemas.microsoft.com/office/drawing/2014/main" id="{01A3F0EE-22F2-41FD-837E-454A90437658}"/>
              </a:ext>
            </a:extLst>
          </p:cNvPr>
          <p:cNvSpPr/>
          <p:nvPr/>
        </p:nvSpPr>
        <p:spPr>
          <a:xfrm>
            <a:off x="1230996" y="3902381"/>
            <a:ext cx="1003724" cy="230832"/>
          </a:xfrm>
          <a:prstGeom prst="rect">
            <a:avLst/>
          </a:prstGeom>
        </p:spPr>
        <p:txBody>
          <a:bodyPr wrap="square">
            <a:spAutoFit/>
          </a:bodyPr>
          <a:lstStyle/>
          <a:p>
            <a:r>
              <a:rPr lang="en-US" altLang="ja-JP" sz="900" b="1" dirty="0" err="1">
                <a:solidFill>
                  <a:prstClr val="black"/>
                </a:solidFill>
                <a:latin typeface="+mj-ea"/>
                <a:ea typeface="+mj-ea"/>
                <a:cs typeface="Meiryo UI" panose="020B0604030504040204" pitchFamily="50" charset="-128"/>
              </a:rPr>
              <a:t>KICSi</a:t>
            </a:r>
            <a:r>
              <a:rPr lang="ja-JP" altLang="en-US" sz="900" b="1" dirty="0">
                <a:solidFill>
                  <a:prstClr val="black"/>
                </a:solidFill>
                <a:latin typeface="+mj-ea"/>
                <a:ea typeface="+mj-ea"/>
                <a:cs typeface="Meiryo UI" panose="020B0604030504040204" pitchFamily="50" charset="-128"/>
              </a:rPr>
              <a:t> </a:t>
            </a:r>
            <a:r>
              <a:rPr lang="en-US" altLang="ja-JP" sz="900" b="1" dirty="0">
                <a:solidFill>
                  <a:prstClr val="black"/>
                </a:solidFill>
                <a:latin typeface="+mj-ea"/>
                <a:ea typeface="+mj-ea"/>
                <a:cs typeface="Meiryo UI" panose="020B0604030504040204" pitchFamily="50" charset="-128"/>
              </a:rPr>
              <a:t>GW</a:t>
            </a:r>
          </a:p>
        </p:txBody>
      </p:sp>
      <p:pic>
        <p:nvPicPr>
          <p:cNvPr id="50" name="Picture 2" descr="C:\Users\KM64679\Documents\次世代\見える化\VN1600.png">
            <a:extLst>
              <a:ext uri="{FF2B5EF4-FFF2-40B4-BE49-F238E27FC236}">
                <a16:creationId xmlns:a16="http://schemas.microsoft.com/office/drawing/2014/main" id="{E6BBF239-7ABA-4554-BE9A-079D71366CD6}"/>
              </a:ext>
            </a:extLst>
          </p:cNvPr>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1852" y="3660074"/>
            <a:ext cx="538015" cy="289700"/>
          </a:xfrm>
          <a:prstGeom prst="rect">
            <a:avLst/>
          </a:prstGeom>
          <a:noFill/>
          <a:extLst>
            <a:ext uri="{909E8E84-426E-40DD-AFC4-6F175D3DCCD1}">
              <a14:hiddenFill xmlns:a14="http://schemas.microsoft.com/office/drawing/2010/main">
                <a:solidFill>
                  <a:srgbClr val="FFFFFF"/>
                </a:solidFill>
              </a14:hiddenFill>
            </a:ext>
          </a:extLst>
        </p:spPr>
      </p:pic>
      <p:cxnSp>
        <p:nvCxnSpPr>
          <p:cNvPr id="51" name="直線コネクタ 50">
            <a:extLst>
              <a:ext uri="{FF2B5EF4-FFF2-40B4-BE49-F238E27FC236}">
                <a16:creationId xmlns:a16="http://schemas.microsoft.com/office/drawing/2014/main" id="{72B47184-D59C-407C-9369-8472A40B290A}"/>
              </a:ext>
            </a:extLst>
          </p:cNvPr>
          <p:cNvCxnSpPr>
            <a:cxnSpLocks/>
            <a:stCxn id="32" idx="3"/>
          </p:cNvCxnSpPr>
          <p:nvPr/>
        </p:nvCxnSpPr>
        <p:spPr>
          <a:xfrm>
            <a:off x="1057473" y="3307088"/>
            <a:ext cx="380751" cy="43608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117BDE42-A782-47CA-A8F1-A4CE36D07CD4}"/>
              </a:ext>
            </a:extLst>
          </p:cNvPr>
          <p:cNvCxnSpPr>
            <a:cxnSpLocks/>
          </p:cNvCxnSpPr>
          <p:nvPr/>
        </p:nvCxnSpPr>
        <p:spPr>
          <a:xfrm flipV="1">
            <a:off x="1717247" y="3476635"/>
            <a:ext cx="153732" cy="31517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53" name="図 52" descr="挿絵, コンピュータ, テーブル が含まれている画像&#10;&#10;自動的に生成された説明">
            <a:extLst>
              <a:ext uri="{FF2B5EF4-FFF2-40B4-BE49-F238E27FC236}">
                <a16:creationId xmlns:a16="http://schemas.microsoft.com/office/drawing/2014/main" id="{2975FD95-64BE-427A-BE38-3C81A69AE917}"/>
              </a:ext>
            </a:extLst>
          </p:cNvPr>
          <p:cNvPicPr>
            <a:picLocks noChangeAspect="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3247946" y="1740205"/>
            <a:ext cx="636785" cy="498131"/>
          </a:xfrm>
          <a:prstGeom prst="rect">
            <a:avLst/>
          </a:prstGeom>
        </p:spPr>
      </p:pic>
      <p:sp>
        <p:nvSpPr>
          <p:cNvPr id="54" name="テキスト ボックス 53">
            <a:extLst>
              <a:ext uri="{FF2B5EF4-FFF2-40B4-BE49-F238E27FC236}">
                <a16:creationId xmlns:a16="http://schemas.microsoft.com/office/drawing/2014/main" id="{F09D54E0-70F6-4B69-A8D3-16495838E68C}"/>
              </a:ext>
            </a:extLst>
          </p:cNvPr>
          <p:cNvSpPr txBox="1"/>
          <p:nvPr/>
        </p:nvSpPr>
        <p:spPr>
          <a:xfrm>
            <a:off x="3111006" y="2236352"/>
            <a:ext cx="1119217" cy="253916"/>
          </a:xfrm>
          <a:prstGeom prst="rect">
            <a:avLst/>
          </a:prstGeom>
          <a:noFill/>
        </p:spPr>
        <p:txBody>
          <a:bodyPr wrap="none" rtlCol="0">
            <a:spAutoFit/>
          </a:bodyPr>
          <a:lstStyle/>
          <a:p>
            <a:r>
              <a:rPr kumimoji="1" lang="ja-JP" altLang="en-US" sz="1050" b="1" dirty="0">
                <a:latin typeface="+mj-ea"/>
                <a:ea typeface="+mj-ea"/>
              </a:rPr>
              <a:t>カスタマイズ設定</a:t>
            </a:r>
          </a:p>
        </p:txBody>
      </p:sp>
      <p:sp>
        <p:nvSpPr>
          <p:cNvPr id="55" name="正方形/長方形 54">
            <a:extLst>
              <a:ext uri="{FF2B5EF4-FFF2-40B4-BE49-F238E27FC236}">
                <a16:creationId xmlns:a16="http://schemas.microsoft.com/office/drawing/2014/main" id="{5729A24D-E0EC-4866-A925-D3513510C46D}"/>
              </a:ext>
            </a:extLst>
          </p:cNvPr>
          <p:cNvSpPr/>
          <p:nvPr/>
        </p:nvSpPr>
        <p:spPr>
          <a:xfrm>
            <a:off x="3256740" y="3716540"/>
            <a:ext cx="994226" cy="261610"/>
          </a:xfrm>
          <a:prstGeom prst="rect">
            <a:avLst/>
          </a:prstGeom>
        </p:spPr>
        <p:txBody>
          <a:bodyPr wrap="square">
            <a:spAutoFit/>
          </a:bodyPr>
          <a:lstStyle/>
          <a:p>
            <a:r>
              <a:rPr lang="ja-JP" altLang="en-US" sz="1100" b="1" dirty="0">
                <a:solidFill>
                  <a:prstClr val="black"/>
                </a:solidFill>
                <a:latin typeface="+mj-ea"/>
                <a:ea typeface="+mj-ea"/>
                <a:cs typeface="Meiryo UI" panose="020B0604030504040204" pitchFamily="50" charset="-128"/>
              </a:rPr>
              <a:t>アプリ利用</a:t>
            </a:r>
            <a:endParaRPr lang="en-US" altLang="ja-JP" sz="1100" b="1" dirty="0">
              <a:solidFill>
                <a:prstClr val="black"/>
              </a:solidFill>
              <a:latin typeface="+mj-ea"/>
              <a:ea typeface="+mj-ea"/>
              <a:cs typeface="Meiryo UI" panose="020B0604030504040204" pitchFamily="50" charset="-128"/>
            </a:endParaRPr>
          </a:p>
        </p:txBody>
      </p:sp>
      <p:sp>
        <p:nvSpPr>
          <p:cNvPr id="56" name="テキスト ボックス 44">
            <a:extLst>
              <a:ext uri="{FF2B5EF4-FFF2-40B4-BE49-F238E27FC236}">
                <a16:creationId xmlns:a16="http://schemas.microsoft.com/office/drawing/2014/main" id="{BB8C3FA6-2F60-4A55-8055-17C4333A789E}"/>
              </a:ext>
            </a:extLst>
          </p:cNvPr>
          <p:cNvSpPr txBox="1"/>
          <p:nvPr/>
        </p:nvSpPr>
        <p:spPr>
          <a:xfrm>
            <a:off x="3839002" y="3317583"/>
            <a:ext cx="994226"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kumimoji="1" lang="ja-JP" altLang="en-US" sz="1050" dirty="0">
                <a:latin typeface="+mj-ea"/>
                <a:ea typeface="+mj-ea"/>
                <a:cs typeface="Meiryo UI" panose="020B0604030504040204" pitchFamily="50" charset="-128"/>
              </a:rPr>
              <a:t>故障診断など</a:t>
            </a:r>
          </a:p>
        </p:txBody>
      </p:sp>
      <p:cxnSp>
        <p:nvCxnSpPr>
          <p:cNvPr id="57" name="コネクタ: カギ線 56">
            <a:extLst>
              <a:ext uri="{FF2B5EF4-FFF2-40B4-BE49-F238E27FC236}">
                <a16:creationId xmlns:a16="http://schemas.microsoft.com/office/drawing/2014/main" id="{43B9C0F1-35F0-4CE6-B44F-18F1BFD4C4CA}"/>
              </a:ext>
            </a:extLst>
          </p:cNvPr>
          <p:cNvCxnSpPr>
            <a:cxnSpLocks/>
            <a:stCxn id="53" idx="3"/>
            <a:endCxn id="41" idx="0"/>
          </p:cNvCxnSpPr>
          <p:nvPr/>
        </p:nvCxnSpPr>
        <p:spPr>
          <a:xfrm rot="10800000" flipV="1">
            <a:off x="2617678" y="1989270"/>
            <a:ext cx="630268" cy="131671"/>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図 57">
            <a:extLst>
              <a:ext uri="{FF2B5EF4-FFF2-40B4-BE49-F238E27FC236}">
                <a16:creationId xmlns:a16="http://schemas.microsoft.com/office/drawing/2014/main" id="{A34A7206-7168-4716-B3DB-F60A771634FF}"/>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445895" y="3303443"/>
            <a:ext cx="476676" cy="432448"/>
          </a:xfrm>
          <a:prstGeom prst="rect">
            <a:avLst/>
          </a:prstGeom>
        </p:spPr>
      </p:pic>
      <p:pic>
        <p:nvPicPr>
          <p:cNvPr id="59" name="Picture 33">
            <a:extLst>
              <a:ext uri="{FF2B5EF4-FFF2-40B4-BE49-F238E27FC236}">
                <a16:creationId xmlns:a16="http://schemas.microsoft.com/office/drawing/2014/main" id="{62ACE2B7-D0F6-4BF4-A89C-7BA0416F68CA}"/>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916222" y="297458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テキスト ボックス 60">
            <a:extLst>
              <a:ext uri="{FF2B5EF4-FFF2-40B4-BE49-F238E27FC236}">
                <a16:creationId xmlns:a16="http://schemas.microsoft.com/office/drawing/2014/main" id="{6EE68F96-8A8E-4902-8A00-4C6542312B5B}"/>
              </a:ext>
            </a:extLst>
          </p:cNvPr>
          <p:cNvSpPr txBox="1"/>
          <p:nvPr/>
        </p:nvSpPr>
        <p:spPr>
          <a:xfrm>
            <a:off x="154812" y="1761650"/>
            <a:ext cx="1906291" cy="253916"/>
          </a:xfrm>
          <a:prstGeom prst="rect">
            <a:avLst/>
          </a:prstGeom>
          <a:noFill/>
        </p:spPr>
        <p:txBody>
          <a:bodyPr wrap="none" rtlCol="0">
            <a:spAutoFit/>
          </a:bodyPr>
          <a:lstStyle/>
          <a:p>
            <a:r>
              <a:rPr kumimoji="1" lang="ja-JP" altLang="en-US" sz="1050" b="1" dirty="0">
                <a:latin typeface="+mj-ea"/>
                <a:ea typeface="+mj-ea"/>
              </a:rPr>
              <a:t>カスタマイズデータ利用イメージ</a:t>
            </a:r>
          </a:p>
        </p:txBody>
      </p:sp>
      <p:sp>
        <p:nvSpPr>
          <p:cNvPr id="6" name="正方形/長方形 5">
            <a:extLst>
              <a:ext uri="{FF2B5EF4-FFF2-40B4-BE49-F238E27FC236}">
                <a16:creationId xmlns:a16="http://schemas.microsoft.com/office/drawing/2014/main" id="{00EB7770-03B6-4186-99C2-279B2052B695}"/>
              </a:ext>
            </a:extLst>
          </p:cNvPr>
          <p:cNvSpPr/>
          <p:nvPr/>
        </p:nvSpPr>
        <p:spPr>
          <a:xfrm>
            <a:off x="4864" y="561351"/>
            <a:ext cx="9144000" cy="812059"/>
          </a:xfrm>
          <a:prstGeom prst="rect">
            <a:avLst/>
          </a:prstGeom>
          <a:solidFill>
            <a:srgbClr val="FFFFC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次世代</a:t>
            </a:r>
            <a:r>
              <a:rPr kumimoji="1" lang="en-US" altLang="ja-JP" sz="1400" b="1" dirty="0" err="1">
                <a:solidFill>
                  <a:prstClr val="black"/>
                </a:solidFill>
                <a:latin typeface="Meiryo UI" panose="020B0604030504040204" pitchFamily="50" charset="-128"/>
                <a:ea typeface="Meiryo UI" panose="020B0604030504040204" pitchFamily="50" charset="-128"/>
                <a:cs typeface="Meiryo UI" panose="020B0604030504040204" pitchFamily="50" charset="-128"/>
              </a:rPr>
              <a:t>Komtrax</a:t>
            </a:r>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のデータをビジネスで活用するため</a:t>
            </a:r>
            <a:r>
              <a:rPr kumimoji="1" lang="ja-JP" altLang="en-US" sz="1400"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ビジネスモデル構築</a:t>
            </a:r>
            <a:r>
              <a:rPr kumimoji="1" lang="en-US" altLang="ja-JP" sz="1400"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PJ</a:t>
            </a:r>
            <a:r>
              <a:rPr kumimoji="1" lang="ja-JP" altLang="en-US" sz="1400"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で高頻度</a:t>
            </a:r>
            <a:r>
              <a:rPr kumimoji="1" lang="en-US" altLang="ja-JP" sz="1400"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CAN</a:t>
            </a:r>
            <a:r>
              <a:rPr kumimoji="1" lang="ja-JP" altLang="en-US" sz="1400"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データ利用を想定したサービス・アプリを検討中。</a:t>
            </a:r>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そのために市場導入後の</a:t>
            </a: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車体に対し</a:t>
            </a:r>
            <a:r>
              <a:rPr kumimoji="1" lang="ja-JP" altLang="en-US"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データ項目</a:t>
            </a:r>
            <a:r>
              <a:rPr kumimoji="1" lang="en-US" altLang="ja-JP"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粒度</a:t>
            </a:r>
            <a:r>
              <a:rPr kumimoji="1" lang="en-US" altLang="ja-JP"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送信頻度を設定し、</a:t>
            </a:r>
            <a:r>
              <a:rPr kumimoji="1" lang="en-US" altLang="ja-JP"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API</a:t>
            </a:r>
            <a:r>
              <a:rPr kumimoji="1" lang="ja-JP" altLang="en-US"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Meiryo UI" panose="020B0604030504040204" pitchFamily="50" charset="-128"/>
              </a:rPr>
              <a:t>経由でのデータ公開</a:t>
            </a: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が必要。</a:t>
            </a:r>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その他、センサや演算の追加など車体購入後のデータ追加が容易になり、現法含めたコンテンツ開発も効率化する。</a:t>
            </a:r>
            <a:endParaRPr kumimoji="1" lang="en-US" altLang="ja-JP"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541514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正方形/長方形 171">
            <a:extLst>
              <a:ext uri="{FF2B5EF4-FFF2-40B4-BE49-F238E27FC236}">
                <a16:creationId xmlns:a16="http://schemas.microsoft.com/office/drawing/2014/main" id="{569F398C-90E1-4244-B39F-79ECEF109CA4}"/>
              </a:ext>
            </a:extLst>
          </p:cNvPr>
          <p:cNvSpPr/>
          <p:nvPr/>
        </p:nvSpPr>
        <p:spPr>
          <a:xfrm>
            <a:off x="2484173" y="2805344"/>
            <a:ext cx="6659826" cy="3693105"/>
          </a:xfrm>
          <a:prstGeom prst="rect">
            <a:avLst/>
          </a:prstGeom>
          <a:solidFill>
            <a:srgbClr val="59FBEC">
              <a:alpha val="12941"/>
            </a:srgbClr>
          </a:solidFill>
          <a:ln>
            <a:solidFill>
              <a:srgbClr val="59FB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8" name="フリーフォーム: 図形 167">
            <a:extLst>
              <a:ext uri="{FF2B5EF4-FFF2-40B4-BE49-F238E27FC236}">
                <a16:creationId xmlns:a16="http://schemas.microsoft.com/office/drawing/2014/main" id="{1A0C6C65-4081-4A28-BB09-BCE24D91ABC6}"/>
              </a:ext>
            </a:extLst>
          </p:cNvPr>
          <p:cNvSpPr/>
          <p:nvPr/>
        </p:nvSpPr>
        <p:spPr>
          <a:xfrm>
            <a:off x="2689934" y="630315"/>
            <a:ext cx="4811697" cy="3524435"/>
          </a:xfrm>
          <a:custGeom>
            <a:avLst/>
            <a:gdLst>
              <a:gd name="connsiteX0" fmla="*/ 0 w 4811697"/>
              <a:gd name="connsiteY0" fmla="*/ 0 h 3524435"/>
              <a:gd name="connsiteX1" fmla="*/ 3009530 w 4811697"/>
              <a:gd name="connsiteY1" fmla="*/ 0 h 3524435"/>
              <a:gd name="connsiteX2" fmla="*/ 3009530 w 4811697"/>
              <a:gd name="connsiteY2" fmla="*/ 1331650 h 3524435"/>
              <a:gd name="connsiteX3" fmla="*/ 4811697 w 4811697"/>
              <a:gd name="connsiteY3" fmla="*/ 1331650 h 3524435"/>
              <a:gd name="connsiteX4" fmla="*/ 4811697 w 4811697"/>
              <a:gd name="connsiteY4" fmla="*/ 3524435 h 3524435"/>
              <a:gd name="connsiteX5" fmla="*/ 3533313 w 4811697"/>
              <a:gd name="connsiteY5" fmla="*/ 3524435 h 3524435"/>
              <a:gd name="connsiteX6" fmla="*/ 3533313 w 4811697"/>
              <a:gd name="connsiteY6" fmla="*/ 2281561 h 3524435"/>
              <a:gd name="connsiteX7" fmla="*/ 8878 w 4811697"/>
              <a:gd name="connsiteY7" fmla="*/ 2281561 h 3524435"/>
              <a:gd name="connsiteX8" fmla="*/ 0 w 4811697"/>
              <a:gd name="connsiteY8" fmla="*/ 0 h 3524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11697" h="3524435">
                <a:moveTo>
                  <a:pt x="0" y="0"/>
                </a:moveTo>
                <a:lnTo>
                  <a:pt x="3009530" y="0"/>
                </a:lnTo>
                <a:lnTo>
                  <a:pt x="3009530" y="1331650"/>
                </a:lnTo>
                <a:lnTo>
                  <a:pt x="4811697" y="1331650"/>
                </a:lnTo>
                <a:lnTo>
                  <a:pt x="4811697" y="3524435"/>
                </a:lnTo>
                <a:lnTo>
                  <a:pt x="3533313" y="3524435"/>
                </a:lnTo>
                <a:lnTo>
                  <a:pt x="3533313" y="2281561"/>
                </a:lnTo>
                <a:lnTo>
                  <a:pt x="8878" y="2281561"/>
                </a:lnTo>
                <a:cubicBezTo>
                  <a:pt x="5919" y="1521041"/>
                  <a:pt x="2959" y="760520"/>
                  <a:pt x="0" y="0"/>
                </a:cubicBezTo>
                <a:close/>
              </a:path>
            </a:pathLst>
          </a:custGeom>
          <a:solidFill>
            <a:srgbClr val="F37021">
              <a:alpha val="5098"/>
            </a:srgbClr>
          </a:solidFill>
          <a:ln w="38100">
            <a:solidFill>
              <a:srgbClr val="F37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7190D562-F860-4864-9356-42E79867A36F}"/>
              </a:ext>
            </a:extLst>
          </p:cNvPr>
          <p:cNvSpPr>
            <a:spLocks noGrp="1"/>
          </p:cNvSpPr>
          <p:nvPr>
            <p:ph type="title"/>
          </p:nvPr>
        </p:nvSpPr>
        <p:spPr/>
        <p:txBody>
          <a:bodyPr/>
          <a:lstStyle/>
          <a:p>
            <a:pPr fontAlgn="auto">
              <a:spcAft>
                <a:spcPts val="0"/>
              </a:spcAft>
            </a:pPr>
            <a:r>
              <a:rPr lang="ja-JP" altLang="en-US" dirty="0"/>
              <a:t>１．開発の背景と要求仕様</a:t>
            </a:r>
          </a:p>
        </p:txBody>
      </p:sp>
      <p:sp>
        <p:nvSpPr>
          <p:cNvPr id="4" name="角丸四角形 6">
            <a:extLst>
              <a:ext uri="{FF2B5EF4-FFF2-40B4-BE49-F238E27FC236}">
                <a16:creationId xmlns:a16="http://schemas.microsoft.com/office/drawing/2014/main" id="{3822BB17-DDF8-4AF6-8BA8-C0F821884B2F}"/>
              </a:ext>
            </a:extLst>
          </p:cNvPr>
          <p:cNvSpPr/>
          <p:nvPr/>
        </p:nvSpPr>
        <p:spPr>
          <a:xfrm>
            <a:off x="364034" y="4777969"/>
            <a:ext cx="772444" cy="1395394"/>
          </a:xfrm>
          <a:prstGeom prst="roundRect">
            <a:avLst/>
          </a:prstGeom>
          <a:solidFill>
            <a:schemeClr val="accent3">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j-ea"/>
              <a:ea typeface="+mj-ea"/>
            </a:endParaRPr>
          </a:p>
        </p:txBody>
      </p:sp>
      <p:cxnSp>
        <p:nvCxnSpPr>
          <p:cNvPr id="10" name="直線コネクタ 9">
            <a:extLst>
              <a:ext uri="{FF2B5EF4-FFF2-40B4-BE49-F238E27FC236}">
                <a16:creationId xmlns:a16="http://schemas.microsoft.com/office/drawing/2014/main" id="{EE0A5D64-3FD9-4862-AE72-B0B413DA4829}"/>
              </a:ext>
            </a:extLst>
          </p:cNvPr>
          <p:cNvCxnSpPr>
            <a:cxnSpLocks/>
          </p:cNvCxnSpPr>
          <p:nvPr/>
        </p:nvCxnSpPr>
        <p:spPr>
          <a:xfrm>
            <a:off x="7180260" y="1513779"/>
            <a:ext cx="0" cy="1747597"/>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CE470FC7-F331-4A4E-9A8E-62776319F466}"/>
              </a:ext>
            </a:extLst>
          </p:cNvPr>
          <p:cNvCxnSpPr>
            <a:cxnSpLocks/>
          </p:cNvCxnSpPr>
          <p:nvPr/>
        </p:nvCxnSpPr>
        <p:spPr>
          <a:xfrm flipH="1">
            <a:off x="3618773" y="5427986"/>
            <a:ext cx="946710" cy="0"/>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14" name="Picture 7" descr="油圧ショベル">
            <a:extLst>
              <a:ext uri="{FF2B5EF4-FFF2-40B4-BE49-F238E27FC236}">
                <a16:creationId xmlns:a16="http://schemas.microsoft.com/office/drawing/2014/main" id="{408CD0C3-922F-48DC-8756-C0ADCC0613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0756" y="5067651"/>
            <a:ext cx="682215" cy="6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直線コネクタ 14">
            <a:extLst>
              <a:ext uri="{FF2B5EF4-FFF2-40B4-BE49-F238E27FC236}">
                <a16:creationId xmlns:a16="http://schemas.microsoft.com/office/drawing/2014/main" id="{95421C62-BA74-477B-B230-9597C958C203}"/>
              </a:ext>
            </a:extLst>
          </p:cNvPr>
          <p:cNvCxnSpPr>
            <a:cxnSpLocks/>
            <a:stCxn id="14" idx="3"/>
          </p:cNvCxnSpPr>
          <p:nvPr/>
        </p:nvCxnSpPr>
        <p:spPr>
          <a:xfrm flipV="1">
            <a:off x="2152971" y="5408758"/>
            <a:ext cx="662405" cy="1"/>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16" name="Picture 4" descr="ãå§åã»ã³ãµãã®ç»åæ¤ç´¢çµæ">
            <a:extLst>
              <a:ext uri="{FF2B5EF4-FFF2-40B4-BE49-F238E27FC236}">
                <a16:creationId xmlns:a16="http://schemas.microsoft.com/office/drawing/2014/main" id="{AB787874-4CBD-40F3-A1F6-1C035CCEED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275" y="5433274"/>
            <a:ext cx="476135" cy="47613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7" name="Picture 6" descr="ãæ¸©åº¦ã»ã³ãµãã®ç»åæ¤ç´¢çµæ">
            <a:extLst>
              <a:ext uri="{FF2B5EF4-FFF2-40B4-BE49-F238E27FC236}">
                <a16:creationId xmlns:a16="http://schemas.microsoft.com/office/drawing/2014/main" id="{A7E2C9DD-2353-4BF8-813D-0A55CDF1420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099" y="4859460"/>
            <a:ext cx="461183" cy="46118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18" name="コネクタ: カギ線 17">
            <a:extLst>
              <a:ext uri="{FF2B5EF4-FFF2-40B4-BE49-F238E27FC236}">
                <a16:creationId xmlns:a16="http://schemas.microsoft.com/office/drawing/2014/main" id="{62B9EDE8-306B-45FB-B325-9B1B305D474A}"/>
              </a:ext>
            </a:extLst>
          </p:cNvPr>
          <p:cNvCxnSpPr>
            <a:cxnSpLocks/>
            <a:stCxn id="17" idx="3"/>
          </p:cNvCxnSpPr>
          <p:nvPr/>
        </p:nvCxnSpPr>
        <p:spPr>
          <a:xfrm>
            <a:off x="978282" y="5090052"/>
            <a:ext cx="758812" cy="31870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コネクタ: カギ線 18">
            <a:extLst>
              <a:ext uri="{FF2B5EF4-FFF2-40B4-BE49-F238E27FC236}">
                <a16:creationId xmlns:a16="http://schemas.microsoft.com/office/drawing/2014/main" id="{ED7B378A-34B0-486D-B6F9-AA336AD420A2}"/>
              </a:ext>
            </a:extLst>
          </p:cNvPr>
          <p:cNvCxnSpPr>
            <a:cxnSpLocks/>
            <a:stCxn id="16" idx="3"/>
          </p:cNvCxnSpPr>
          <p:nvPr/>
        </p:nvCxnSpPr>
        <p:spPr>
          <a:xfrm flipV="1">
            <a:off x="976410" y="5408760"/>
            <a:ext cx="760684" cy="262582"/>
          </a:xfrm>
          <a:prstGeom prst="bentConnector3">
            <a:avLst>
              <a:gd name="adj1" fmla="val 50000"/>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BD83F961-43CF-4DD1-A7E1-22CFAA05BA7D}"/>
              </a:ext>
            </a:extLst>
          </p:cNvPr>
          <p:cNvSpPr/>
          <p:nvPr/>
        </p:nvSpPr>
        <p:spPr>
          <a:xfrm>
            <a:off x="324677" y="5900572"/>
            <a:ext cx="1159287" cy="230832"/>
          </a:xfrm>
          <a:prstGeom prst="rect">
            <a:avLst/>
          </a:prstGeom>
        </p:spPr>
        <p:txBody>
          <a:bodyPr wrap="square">
            <a:spAutoFit/>
          </a:bodyPr>
          <a:lstStyle/>
          <a:p>
            <a:r>
              <a:rPr lang="ja-JP" altLang="en-US" sz="900" dirty="0">
                <a:solidFill>
                  <a:prstClr val="black"/>
                </a:solidFill>
                <a:latin typeface="+mj-ea"/>
                <a:ea typeface="+mj-ea"/>
                <a:cs typeface="Meiryo UI" panose="020B0604030504040204" pitchFamily="50" charset="-128"/>
              </a:rPr>
              <a:t>各種センサー追加</a:t>
            </a:r>
            <a:endParaRPr lang="en-US" altLang="ja-JP" sz="900" dirty="0">
              <a:solidFill>
                <a:prstClr val="black"/>
              </a:solidFill>
              <a:latin typeface="+mj-ea"/>
              <a:ea typeface="+mj-ea"/>
              <a:cs typeface="Meiryo UI" panose="020B0604030504040204" pitchFamily="50" charset="-128"/>
            </a:endParaRPr>
          </a:p>
        </p:txBody>
      </p:sp>
      <p:pic>
        <p:nvPicPr>
          <p:cNvPr id="21" name="Picture 2" descr="C:\Users\KM64679\Documents\次世代\見える化\VN1600.png">
            <a:extLst>
              <a:ext uri="{FF2B5EF4-FFF2-40B4-BE49-F238E27FC236}">
                <a16:creationId xmlns:a16="http://schemas.microsoft.com/office/drawing/2014/main" id="{5A6F3EB1-4465-433C-AB61-2E00B35A69B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0857" y="5828652"/>
            <a:ext cx="538015" cy="289700"/>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直線コネクタ 21">
            <a:extLst>
              <a:ext uri="{FF2B5EF4-FFF2-40B4-BE49-F238E27FC236}">
                <a16:creationId xmlns:a16="http://schemas.microsoft.com/office/drawing/2014/main" id="{424B6172-579C-4C5E-BA11-1E23AEA0AC9E}"/>
              </a:ext>
            </a:extLst>
          </p:cNvPr>
          <p:cNvCxnSpPr>
            <a:cxnSpLocks/>
            <a:stCxn id="4" idx="3"/>
          </p:cNvCxnSpPr>
          <p:nvPr/>
        </p:nvCxnSpPr>
        <p:spPr>
          <a:xfrm>
            <a:off x="1136478" y="5475666"/>
            <a:ext cx="380751" cy="43608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80758E1-6282-43F9-95E2-D126E810BE39}"/>
              </a:ext>
            </a:extLst>
          </p:cNvPr>
          <p:cNvCxnSpPr>
            <a:cxnSpLocks/>
          </p:cNvCxnSpPr>
          <p:nvPr/>
        </p:nvCxnSpPr>
        <p:spPr>
          <a:xfrm flipV="1">
            <a:off x="1796252" y="5645213"/>
            <a:ext cx="153732" cy="31517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11" name="グループ化 110">
            <a:extLst>
              <a:ext uri="{FF2B5EF4-FFF2-40B4-BE49-F238E27FC236}">
                <a16:creationId xmlns:a16="http://schemas.microsoft.com/office/drawing/2014/main" id="{C58164B8-4B6C-4A38-8C67-C103E318F921}"/>
              </a:ext>
            </a:extLst>
          </p:cNvPr>
          <p:cNvGrpSpPr/>
          <p:nvPr/>
        </p:nvGrpSpPr>
        <p:grpSpPr>
          <a:xfrm>
            <a:off x="6668379" y="735022"/>
            <a:ext cx="996601" cy="692035"/>
            <a:chOff x="5527738" y="856547"/>
            <a:chExt cx="996601" cy="692035"/>
          </a:xfrm>
        </p:grpSpPr>
        <p:sp>
          <p:nvSpPr>
            <p:cNvPr id="25" name="正方形/長方形 24">
              <a:extLst>
                <a:ext uri="{FF2B5EF4-FFF2-40B4-BE49-F238E27FC236}">
                  <a16:creationId xmlns:a16="http://schemas.microsoft.com/office/drawing/2014/main" id="{372B1882-F233-46C0-B384-53A2C2D02F1D}"/>
                </a:ext>
              </a:extLst>
            </p:cNvPr>
            <p:cNvSpPr/>
            <p:nvPr/>
          </p:nvSpPr>
          <p:spPr>
            <a:xfrm>
              <a:off x="5527738" y="1286972"/>
              <a:ext cx="996601" cy="261610"/>
            </a:xfrm>
            <a:prstGeom prst="rect">
              <a:avLst/>
            </a:prstGeom>
          </p:spPr>
          <p:txBody>
            <a:bodyPr wrap="square">
              <a:spAutoFit/>
            </a:bodyPr>
            <a:lstStyle/>
            <a:p>
              <a:r>
                <a:rPr lang="ja-JP" altLang="en-US" sz="1100" b="1" dirty="0">
                  <a:solidFill>
                    <a:prstClr val="black"/>
                  </a:solidFill>
                  <a:latin typeface="+mj-ea"/>
                  <a:ea typeface="+mj-ea"/>
                  <a:cs typeface="Meiryo UI" panose="020B0604030504040204" pitchFamily="50" charset="-128"/>
                </a:rPr>
                <a:t>ビジネスアプリ</a:t>
              </a:r>
              <a:endParaRPr lang="en-US" altLang="ja-JP" sz="1100" b="1" dirty="0">
                <a:solidFill>
                  <a:prstClr val="black"/>
                </a:solidFill>
                <a:latin typeface="+mj-ea"/>
                <a:ea typeface="+mj-ea"/>
                <a:cs typeface="Meiryo UI" panose="020B0604030504040204" pitchFamily="50" charset="-128"/>
              </a:endParaRPr>
            </a:p>
          </p:txBody>
        </p:sp>
        <p:pic>
          <p:nvPicPr>
            <p:cNvPr id="28" name="図 27">
              <a:extLst>
                <a:ext uri="{FF2B5EF4-FFF2-40B4-BE49-F238E27FC236}">
                  <a16:creationId xmlns:a16="http://schemas.microsoft.com/office/drawing/2014/main" id="{3CB03E42-5163-4CF6-8F2D-6DAE21B2CC6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85841" y="856547"/>
              <a:ext cx="476676" cy="432448"/>
            </a:xfrm>
            <a:prstGeom prst="rect">
              <a:avLst/>
            </a:prstGeom>
          </p:spPr>
        </p:pic>
      </p:grpSp>
      <p:grpSp>
        <p:nvGrpSpPr>
          <p:cNvPr id="32" name="グループ化 31">
            <a:extLst>
              <a:ext uri="{FF2B5EF4-FFF2-40B4-BE49-F238E27FC236}">
                <a16:creationId xmlns:a16="http://schemas.microsoft.com/office/drawing/2014/main" id="{CC3CD4E6-40E5-4AE0-AB91-388D4500FE3B}"/>
              </a:ext>
            </a:extLst>
          </p:cNvPr>
          <p:cNvGrpSpPr/>
          <p:nvPr/>
        </p:nvGrpSpPr>
        <p:grpSpPr>
          <a:xfrm>
            <a:off x="7927396" y="1620931"/>
            <a:ext cx="994226" cy="622872"/>
            <a:chOff x="7760731" y="666706"/>
            <a:chExt cx="994226" cy="622872"/>
          </a:xfrm>
        </p:grpSpPr>
        <p:sp>
          <p:nvSpPr>
            <p:cNvPr id="26" name="テキスト ボックス 44">
              <a:extLst>
                <a:ext uri="{FF2B5EF4-FFF2-40B4-BE49-F238E27FC236}">
                  <a16:creationId xmlns:a16="http://schemas.microsoft.com/office/drawing/2014/main" id="{EF53E582-5A38-453A-93EB-A7136A0C80CF}"/>
                </a:ext>
              </a:extLst>
            </p:cNvPr>
            <p:cNvSpPr txBox="1"/>
            <p:nvPr/>
          </p:nvSpPr>
          <p:spPr>
            <a:xfrm>
              <a:off x="7760731" y="1035662"/>
              <a:ext cx="994226"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kumimoji="1" lang="ja-JP" altLang="en-US" sz="1050" dirty="0">
                  <a:latin typeface="+mj-ea"/>
                  <a:ea typeface="+mj-ea"/>
                  <a:cs typeface="Meiryo UI" panose="020B0604030504040204" pitchFamily="50" charset="-128"/>
                </a:rPr>
                <a:t>故障診断アプリ</a:t>
              </a:r>
            </a:p>
          </p:txBody>
        </p:sp>
        <p:pic>
          <p:nvPicPr>
            <p:cNvPr id="29" name="Picture 33">
              <a:extLst>
                <a:ext uri="{FF2B5EF4-FFF2-40B4-BE49-F238E27FC236}">
                  <a16:creationId xmlns:a16="http://schemas.microsoft.com/office/drawing/2014/main" id="{BC836877-E03D-4B53-9064-1818DB7DBE6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50758" y="66670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1" name="グループ化 60">
            <a:extLst>
              <a:ext uri="{FF2B5EF4-FFF2-40B4-BE49-F238E27FC236}">
                <a16:creationId xmlns:a16="http://schemas.microsoft.com/office/drawing/2014/main" id="{4A1CBC41-1060-40B7-A6B1-CB8F27F56E2A}"/>
              </a:ext>
            </a:extLst>
          </p:cNvPr>
          <p:cNvGrpSpPr/>
          <p:nvPr/>
        </p:nvGrpSpPr>
        <p:grpSpPr>
          <a:xfrm>
            <a:off x="3990526" y="763935"/>
            <a:ext cx="1324402" cy="856996"/>
            <a:chOff x="3068702" y="1839937"/>
            <a:chExt cx="1324402" cy="856996"/>
          </a:xfrm>
        </p:grpSpPr>
        <p:sp>
          <p:nvSpPr>
            <p:cNvPr id="24" name="テキスト ボックス 23">
              <a:extLst>
                <a:ext uri="{FF2B5EF4-FFF2-40B4-BE49-F238E27FC236}">
                  <a16:creationId xmlns:a16="http://schemas.microsoft.com/office/drawing/2014/main" id="{E867DFA1-2E63-46CC-94F9-6FDE0D9ECCEF}"/>
                </a:ext>
              </a:extLst>
            </p:cNvPr>
            <p:cNvSpPr txBox="1"/>
            <p:nvPr/>
          </p:nvSpPr>
          <p:spPr>
            <a:xfrm>
              <a:off x="3068702" y="2281435"/>
              <a:ext cx="1324402" cy="415498"/>
            </a:xfrm>
            <a:prstGeom prst="rect">
              <a:avLst/>
            </a:prstGeom>
            <a:noFill/>
          </p:spPr>
          <p:txBody>
            <a:bodyPr wrap="none" rtlCol="0">
              <a:spAutoFit/>
            </a:bodyPr>
            <a:lstStyle/>
            <a:p>
              <a:r>
                <a:rPr kumimoji="1" lang="en-US" altLang="ja-JP" sz="1050" b="1" dirty="0">
                  <a:solidFill>
                    <a:srgbClr val="FF0000"/>
                  </a:solidFill>
                  <a:latin typeface="+mj-ea"/>
                  <a:ea typeface="+mj-ea"/>
                </a:rPr>
                <a:t>3.</a:t>
              </a:r>
              <a:r>
                <a:rPr kumimoji="1" lang="ja-JP" altLang="en-US" sz="1050" b="1" dirty="0">
                  <a:solidFill>
                    <a:srgbClr val="FF0000"/>
                  </a:solidFill>
                  <a:latin typeface="+mj-ea"/>
                  <a:ea typeface="+mj-ea"/>
                </a:rPr>
                <a:t>カスタマイズデータ</a:t>
              </a:r>
              <a:endParaRPr kumimoji="1" lang="en-US" altLang="ja-JP" sz="1050" b="1" dirty="0">
                <a:solidFill>
                  <a:srgbClr val="FF0000"/>
                </a:solidFill>
                <a:latin typeface="+mj-ea"/>
                <a:ea typeface="+mj-ea"/>
              </a:endParaRPr>
            </a:p>
            <a:p>
              <a:r>
                <a:rPr kumimoji="1" lang="ja-JP" altLang="en-US" sz="1050" b="1" dirty="0">
                  <a:solidFill>
                    <a:srgbClr val="FF0000"/>
                  </a:solidFill>
                  <a:latin typeface="+mj-ea"/>
                  <a:ea typeface="+mj-ea"/>
                </a:rPr>
                <a:t>送信要求</a:t>
              </a:r>
            </a:p>
          </p:txBody>
        </p:sp>
        <p:pic>
          <p:nvPicPr>
            <p:cNvPr id="30" name="図 29" descr="挿絵, コンピュータ, テーブル が含まれている画像&#10;&#10;自動的に生成された説明">
              <a:extLst>
                <a:ext uri="{FF2B5EF4-FFF2-40B4-BE49-F238E27FC236}">
                  <a16:creationId xmlns:a16="http://schemas.microsoft.com/office/drawing/2014/main" id="{8F05F44C-0845-4ED8-ACF3-23B24214E2C7}"/>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3309919" y="1839937"/>
              <a:ext cx="636785" cy="498131"/>
            </a:xfrm>
            <a:prstGeom prst="rect">
              <a:avLst/>
            </a:prstGeom>
          </p:spPr>
        </p:pic>
      </p:grpSp>
      <p:grpSp>
        <p:nvGrpSpPr>
          <p:cNvPr id="33" name="グループ化 32">
            <a:extLst>
              <a:ext uri="{FF2B5EF4-FFF2-40B4-BE49-F238E27FC236}">
                <a16:creationId xmlns:a16="http://schemas.microsoft.com/office/drawing/2014/main" id="{674EA5A0-FF91-40EF-AA76-BE62FAC96FC3}"/>
              </a:ext>
            </a:extLst>
          </p:cNvPr>
          <p:cNvGrpSpPr/>
          <p:nvPr/>
        </p:nvGrpSpPr>
        <p:grpSpPr>
          <a:xfrm>
            <a:off x="8366085" y="812494"/>
            <a:ext cx="903876" cy="774682"/>
            <a:chOff x="7805906" y="666706"/>
            <a:chExt cx="903876" cy="774682"/>
          </a:xfrm>
        </p:grpSpPr>
        <p:sp>
          <p:nvSpPr>
            <p:cNvPr id="34" name="テキスト ボックス 44">
              <a:extLst>
                <a:ext uri="{FF2B5EF4-FFF2-40B4-BE49-F238E27FC236}">
                  <a16:creationId xmlns:a16="http://schemas.microsoft.com/office/drawing/2014/main" id="{EE61FC3B-D897-4BC5-A4D9-67AB2BE787E8}"/>
                </a:ext>
              </a:extLst>
            </p:cNvPr>
            <p:cNvSpPr txBox="1"/>
            <p:nvPr/>
          </p:nvSpPr>
          <p:spPr>
            <a:xfrm>
              <a:off x="7805906" y="1025890"/>
              <a:ext cx="903876" cy="415498"/>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050" dirty="0">
                  <a:latin typeface="+mj-ea"/>
                  <a:ea typeface="+mj-ea"/>
                  <a:cs typeface="Meiryo UI" panose="020B0604030504040204" pitchFamily="50" charset="-128"/>
                </a:rPr>
                <a:t>フリート管理アプリ</a:t>
              </a:r>
            </a:p>
          </p:txBody>
        </p:sp>
        <p:pic>
          <p:nvPicPr>
            <p:cNvPr id="35" name="Picture 33">
              <a:extLst>
                <a:ext uri="{FF2B5EF4-FFF2-40B4-BE49-F238E27FC236}">
                  <a16:creationId xmlns:a16="http://schemas.microsoft.com/office/drawing/2014/main" id="{8EA93EE7-80AA-4466-95C3-181040AD7F0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50758" y="66670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6" name="グループ化 35">
            <a:extLst>
              <a:ext uri="{FF2B5EF4-FFF2-40B4-BE49-F238E27FC236}">
                <a16:creationId xmlns:a16="http://schemas.microsoft.com/office/drawing/2014/main" id="{B90E5E9E-0829-4139-937C-14AB4ECC651F}"/>
              </a:ext>
            </a:extLst>
          </p:cNvPr>
          <p:cNvGrpSpPr/>
          <p:nvPr/>
        </p:nvGrpSpPr>
        <p:grpSpPr>
          <a:xfrm>
            <a:off x="7521743" y="819916"/>
            <a:ext cx="994226" cy="784454"/>
            <a:chOff x="7760731" y="666706"/>
            <a:chExt cx="994226" cy="784454"/>
          </a:xfrm>
        </p:grpSpPr>
        <p:sp>
          <p:nvSpPr>
            <p:cNvPr id="37" name="テキスト ボックス 44">
              <a:extLst>
                <a:ext uri="{FF2B5EF4-FFF2-40B4-BE49-F238E27FC236}">
                  <a16:creationId xmlns:a16="http://schemas.microsoft.com/office/drawing/2014/main" id="{CD9627F3-7206-4ED7-BDE6-EC2FB7471816}"/>
                </a:ext>
              </a:extLst>
            </p:cNvPr>
            <p:cNvSpPr txBox="1"/>
            <p:nvPr/>
          </p:nvSpPr>
          <p:spPr>
            <a:xfrm>
              <a:off x="7760731" y="1035662"/>
              <a:ext cx="994226" cy="415498"/>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050" dirty="0">
                  <a:latin typeface="+mj-ea"/>
                  <a:ea typeface="+mj-ea"/>
                  <a:cs typeface="Meiryo UI" panose="020B0604030504040204" pitchFamily="50" charset="-128"/>
                </a:rPr>
                <a:t>部品交換時期推定アプリ</a:t>
              </a:r>
            </a:p>
          </p:txBody>
        </p:sp>
        <p:pic>
          <p:nvPicPr>
            <p:cNvPr id="38" name="Picture 33">
              <a:extLst>
                <a:ext uri="{FF2B5EF4-FFF2-40B4-BE49-F238E27FC236}">
                  <a16:creationId xmlns:a16="http://schemas.microsoft.com/office/drawing/2014/main" id="{9B419AD7-CC79-4AA4-86B5-3E129FFEB8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50758" y="66670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9" name="グループ化 38">
            <a:extLst>
              <a:ext uri="{FF2B5EF4-FFF2-40B4-BE49-F238E27FC236}">
                <a16:creationId xmlns:a16="http://schemas.microsoft.com/office/drawing/2014/main" id="{2957B5B0-D2A8-4A1C-9083-5AE433DA726F}"/>
              </a:ext>
            </a:extLst>
          </p:cNvPr>
          <p:cNvGrpSpPr/>
          <p:nvPr/>
        </p:nvGrpSpPr>
        <p:grpSpPr>
          <a:xfrm>
            <a:off x="4468673" y="4933249"/>
            <a:ext cx="1240513" cy="860998"/>
            <a:chOff x="6658087" y="3179253"/>
            <a:chExt cx="1902238" cy="1028687"/>
          </a:xfrm>
        </p:grpSpPr>
        <p:grpSp>
          <p:nvGrpSpPr>
            <p:cNvPr id="40" name="グループ化 39">
              <a:extLst>
                <a:ext uri="{FF2B5EF4-FFF2-40B4-BE49-F238E27FC236}">
                  <a16:creationId xmlns:a16="http://schemas.microsoft.com/office/drawing/2014/main" id="{6D734BE0-8710-413D-BBC5-AAE8146B0CB3}"/>
                </a:ext>
              </a:extLst>
            </p:cNvPr>
            <p:cNvGrpSpPr/>
            <p:nvPr/>
          </p:nvGrpSpPr>
          <p:grpSpPr>
            <a:xfrm>
              <a:off x="7229252" y="3179253"/>
              <a:ext cx="746813" cy="591093"/>
              <a:chOff x="7229252" y="3179253"/>
              <a:chExt cx="612000" cy="612000"/>
            </a:xfrm>
          </p:grpSpPr>
          <p:sp>
            <p:nvSpPr>
              <p:cNvPr id="42" name="円/楕円 53">
                <a:extLst>
                  <a:ext uri="{FF2B5EF4-FFF2-40B4-BE49-F238E27FC236}">
                    <a16:creationId xmlns:a16="http://schemas.microsoft.com/office/drawing/2014/main" id="{7C98F3D9-E601-4525-8785-7AB149BEA2C1}"/>
                  </a:ext>
                </a:extLst>
              </p:cNvPr>
              <p:cNvSpPr>
                <a:spLocks noChangeAspect="1"/>
              </p:cNvSpPr>
              <p:nvPr/>
            </p:nvSpPr>
            <p:spPr>
              <a:xfrm>
                <a:off x="7229252" y="3179253"/>
                <a:ext cx="612000" cy="612000"/>
              </a:xfrm>
              <a:prstGeom prst="ellipse">
                <a:avLst/>
              </a:prstGeom>
              <a:solidFill>
                <a:schemeClr val="accent1">
                  <a:alpha val="22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fontAlgn="auto">
                  <a:spcBef>
                    <a:spcPts val="0"/>
                  </a:spcBef>
                  <a:spcAft>
                    <a:spcPts val="0"/>
                  </a:spcAft>
                </a:pPr>
                <a:endParaRPr lang="ja-JP" altLang="en-US" sz="1400">
                  <a:solidFill>
                    <a:prstClr val="white"/>
                  </a:solidFill>
                </a:endParaRPr>
              </a:p>
            </p:txBody>
          </p:sp>
          <p:pic>
            <p:nvPicPr>
              <p:cNvPr id="43" name="Picture 4">
                <a:extLst>
                  <a:ext uri="{FF2B5EF4-FFF2-40B4-BE49-F238E27FC236}">
                    <a16:creationId xmlns:a16="http://schemas.microsoft.com/office/drawing/2014/main" id="{47B022F0-B2E0-4D94-94A0-D2DB611066F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05778" y="3325428"/>
                <a:ext cx="292903" cy="180000"/>
              </a:xfrm>
              <a:prstGeom prst="rect">
                <a:avLst/>
              </a:prstGeom>
              <a:noFill/>
              <a:ln w="9525">
                <a:solidFill>
                  <a:srgbClr val="57564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
                <a:extLst>
                  <a:ext uri="{FF2B5EF4-FFF2-40B4-BE49-F238E27FC236}">
                    <a16:creationId xmlns:a16="http://schemas.microsoft.com/office/drawing/2014/main" id="{71A52109-68BA-4A22-AD83-D60664B7719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81978" y="3401628"/>
                <a:ext cx="292903" cy="180000"/>
              </a:xfrm>
              <a:prstGeom prst="rect">
                <a:avLst/>
              </a:prstGeom>
              <a:noFill/>
              <a:ln w="9525">
                <a:solidFill>
                  <a:srgbClr val="57564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
                <a:extLst>
                  <a:ext uri="{FF2B5EF4-FFF2-40B4-BE49-F238E27FC236}">
                    <a16:creationId xmlns:a16="http://schemas.microsoft.com/office/drawing/2014/main" id="{8888C1C0-B341-4DB0-ABE2-A9C30AE3CA4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458178" y="3477828"/>
                <a:ext cx="292903" cy="180000"/>
              </a:xfrm>
              <a:prstGeom prst="rect">
                <a:avLst/>
              </a:prstGeom>
              <a:noFill/>
              <a:ln w="9525">
                <a:solidFill>
                  <a:srgbClr val="57564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1" name="テキスト ボックス 90">
              <a:extLst>
                <a:ext uri="{FF2B5EF4-FFF2-40B4-BE49-F238E27FC236}">
                  <a16:creationId xmlns:a16="http://schemas.microsoft.com/office/drawing/2014/main" id="{2E7B18ED-994A-447E-85AE-07D7F66251C6}"/>
                </a:ext>
              </a:extLst>
            </p:cNvPr>
            <p:cNvSpPr txBox="1"/>
            <p:nvPr/>
          </p:nvSpPr>
          <p:spPr>
            <a:xfrm>
              <a:off x="6658087" y="3693133"/>
              <a:ext cx="1902238" cy="51480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auto">
                <a:spcBef>
                  <a:spcPts val="0"/>
                </a:spcBef>
                <a:spcAft>
                  <a:spcPts val="0"/>
                </a:spcAft>
              </a:pP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Worker/</a:t>
              </a:r>
            </a:p>
            <a:p>
              <a:pPr algn="ctr" fontAlgn="auto">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業務</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Worker</a:t>
              </a:r>
              <a:endPar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46" name="グループ化 45">
            <a:extLst>
              <a:ext uri="{FF2B5EF4-FFF2-40B4-BE49-F238E27FC236}">
                <a16:creationId xmlns:a16="http://schemas.microsoft.com/office/drawing/2014/main" id="{FE92DC67-6893-416F-8C08-F93031EABD0F}"/>
              </a:ext>
            </a:extLst>
          </p:cNvPr>
          <p:cNvGrpSpPr/>
          <p:nvPr/>
        </p:nvGrpSpPr>
        <p:grpSpPr>
          <a:xfrm>
            <a:off x="2828514" y="5090051"/>
            <a:ext cx="810085" cy="785854"/>
            <a:chOff x="7006130" y="4582595"/>
            <a:chExt cx="1155030" cy="944315"/>
          </a:xfrm>
        </p:grpSpPr>
        <p:sp>
          <p:nvSpPr>
            <p:cNvPr id="47" name="雲 16">
              <a:extLst>
                <a:ext uri="{FF2B5EF4-FFF2-40B4-BE49-F238E27FC236}">
                  <a16:creationId xmlns:a16="http://schemas.microsoft.com/office/drawing/2014/main" id="{0407735F-9048-4A2C-8093-C590BC3475A5}"/>
                </a:ext>
              </a:extLst>
            </p:cNvPr>
            <p:cNvSpPr>
              <a:spLocks noChangeArrowheads="1"/>
            </p:cNvSpPr>
            <p:nvPr/>
          </p:nvSpPr>
          <p:spPr bwMode="gray">
            <a:xfrm>
              <a:off x="7006130" y="4933780"/>
              <a:ext cx="971877" cy="331582"/>
            </a:xfrm>
            <a:custGeom>
              <a:avLst/>
              <a:gdLst>
                <a:gd name="T0" fmla="*/ 452553899 w 43200"/>
                <a:gd name="T1" fmla="*/ 1605068 h 43200"/>
                <a:gd name="T2" fmla="*/ 226633339 w 43200"/>
                <a:gd name="T3" fmla="*/ 3203434 h 43200"/>
                <a:gd name="T4" fmla="*/ 1384001 w 43200"/>
                <a:gd name="T5" fmla="*/ 1605068 h 43200"/>
                <a:gd name="T6" fmla="*/ 226633339 w 43200"/>
                <a:gd name="T7" fmla="*/ 184848 h 43200"/>
                <a:gd name="T8" fmla="*/ 0 60000 65536"/>
                <a:gd name="T9" fmla="*/ 5898240 60000 65536"/>
                <a:gd name="T10" fmla="*/ 11796480 60000 65536"/>
                <a:gd name="T11" fmla="*/ 17694720 60000 65536"/>
                <a:gd name="T12" fmla="*/ 5959 w 43200"/>
                <a:gd name="T13" fmla="*/ 6508 h 43200"/>
                <a:gd name="T14" fmla="*/ 34163 w 43200"/>
                <a:gd name="T15" fmla="*/ 34682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gradFill rotWithShape="1">
              <a:gsLst>
                <a:gs pos="0">
                  <a:srgbClr val="FFFFFF"/>
                </a:gs>
                <a:gs pos="100000">
                  <a:srgbClr val="9CCCF4"/>
                </a:gs>
              </a:gsLst>
              <a:lin ang="5400000" scaled="1"/>
            </a:gradFill>
            <a:ln w="25400" algn="ctr">
              <a:solidFill>
                <a:srgbClr val="B9DEFF"/>
              </a:solidFill>
              <a:miter lim="800000"/>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spcBef>
                  <a:spcPts val="0"/>
                </a:spcBef>
                <a:spcAft>
                  <a:spcPts val="0"/>
                </a:spcAft>
                <a:defRPr/>
              </a:pPr>
              <a:endParaRPr lang="ja-JP" altLang="en-US" sz="1400">
                <a:solidFill>
                  <a:srgbClr val="FFC000">
                    <a:lumMod val="85000"/>
                    <a:lumOff val="15000"/>
                  </a:srgbClr>
                </a:solidFill>
                <a:latin typeface="Calibri" panose="020F0502020204030204"/>
              </a:endParaRPr>
            </a:p>
          </p:txBody>
        </p:sp>
        <p:grpSp>
          <p:nvGrpSpPr>
            <p:cNvPr id="48" name="グループ化 47">
              <a:extLst>
                <a:ext uri="{FF2B5EF4-FFF2-40B4-BE49-F238E27FC236}">
                  <a16:creationId xmlns:a16="http://schemas.microsoft.com/office/drawing/2014/main" id="{27FFD982-FAB1-411B-AD87-F8B7EDFAA3AD}"/>
                </a:ext>
              </a:extLst>
            </p:cNvPr>
            <p:cNvGrpSpPr/>
            <p:nvPr/>
          </p:nvGrpSpPr>
          <p:grpSpPr>
            <a:xfrm>
              <a:off x="7149773" y="4582595"/>
              <a:ext cx="816095" cy="545291"/>
              <a:chOff x="7149773" y="4582595"/>
              <a:chExt cx="816095" cy="545291"/>
            </a:xfrm>
          </p:grpSpPr>
          <p:sp>
            <p:nvSpPr>
              <p:cNvPr id="50" name="円/楕円 61">
                <a:extLst>
                  <a:ext uri="{FF2B5EF4-FFF2-40B4-BE49-F238E27FC236}">
                    <a16:creationId xmlns:a16="http://schemas.microsoft.com/office/drawing/2014/main" id="{0B1D77FC-80BA-4946-801D-61317C2D0445}"/>
                  </a:ext>
                </a:extLst>
              </p:cNvPr>
              <p:cNvSpPr/>
              <p:nvPr/>
            </p:nvSpPr>
            <p:spPr bwMode="gray">
              <a:xfrm rot="19910472">
                <a:off x="7217158" y="4652912"/>
                <a:ext cx="701991" cy="425500"/>
              </a:xfrm>
              <a:prstGeom prst="ellipse">
                <a:avLst/>
              </a:prstGeom>
              <a:noFill/>
              <a:ln w="38100" cap="flat" cmpd="sng" algn="ctr">
                <a:solidFill>
                  <a:srgbClr val="0070C0"/>
                </a:solidFill>
                <a:prstDash val="solid"/>
                <a:round/>
                <a:headEnd type="none" w="med" len="med"/>
                <a:tailEnd type="none" w="med" len="med"/>
              </a:ln>
              <a:effectLst/>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sz="1400">
                  <a:solidFill>
                    <a:prstClr val="black"/>
                  </a:solidFill>
                  <a:latin typeface="Calibri Light" panose="020F0302020204030204"/>
                </a:endParaRPr>
              </a:p>
            </p:txBody>
          </p:sp>
          <p:sp>
            <p:nvSpPr>
              <p:cNvPr id="51" name="円/楕円 62">
                <a:extLst>
                  <a:ext uri="{FF2B5EF4-FFF2-40B4-BE49-F238E27FC236}">
                    <a16:creationId xmlns:a16="http://schemas.microsoft.com/office/drawing/2014/main" id="{78AC3A62-6380-4DFC-8BB7-1977F5CFAAAA}"/>
                  </a:ext>
                </a:extLst>
              </p:cNvPr>
              <p:cNvSpPr/>
              <p:nvPr/>
            </p:nvSpPr>
            <p:spPr>
              <a:xfrm>
                <a:off x="7149773" y="4710921"/>
                <a:ext cx="220662" cy="203200"/>
              </a:xfrm>
              <a:prstGeom prst="ellipse">
                <a:avLst/>
              </a:prstGeom>
              <a:solidFill>
                <a:srgbClr val="0070C0"/>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ja-JP" altLang="en-US"/>
              </a:p>
            </p:txBody>
          </p:sp>
          <p:sp>
            <p:nvSpPr>
              <p:cNvPr id="52" name="円/楕円 63">
                <a:extLst>
                  <a:ext uri="{FF2B5EF4-FFF2-40B4-BE49-F238E27FC236}">
                    <a16:creationId xmlns:a16="http://schemas.microsoft.com/office/drawing/2014/main" id="{BE30A4EC-12E2-4CE5-8A87-F8A6CE4A5F5F}"/>
                  </a:ext>
                </a:extLst>
              </p:cNvPr>
              <p:cNvSpPr/>
              <p:nvPr/>
            </p:nvSpPr>
            <p:spPr>
              <a:xfrm>
                <a:off x="7568771" y="4924686"/>
                <a:ext cx="220662" cy="203200"/>
              </a:xfrm>
              <a:prstGeom prst="ellipse">
                <a:avLst/>
              </a:prstGeom>
              <a:solidFill>
                <a:srgbClr val="0070C0"/>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ja-JP" altLang="en-US"/>
              </a:p>
            </p:txBody>
          </p:sp>
          <p:sp>
            <p:nvSpPr>
              <p:cNvPr id="53" name="円/楕円 64">
                <a:extLst>
                  <a:ext uri="{FF2B5EF4-FFF2-40B4-BE49-F238E27FC236}">
                    <a16:creationId xmlns:a16="http://schemas.microsoft.com/office/drawing/2014/main" id="{A819674D-C3DE-4A99-A8D0-3E4CBAB54FF6}"/>
                  </a:ext>
                </a:extLst>
              </p:cNvPr>
              <p:cNvSpPr/>
              <p:nvPr/>
            </p:nvSpPr>
            <p:spPr>
              <a:xfrm>
                <a:off x="7745206" y="4582595"/>
                <a:ext cx="220662" cy="203200"/>
              </a:xfrm>
              <a:prstGeom prst="ellipse">
                <a:avLst/>
              </a:prstGeom>
              <a:solidFill>
                <a:srgbClr val="0070C0"/>
              </a:solidFill>
              <a:ln w="25400"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wrap="square"/>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ja-JP" altLang="en-US"/>
              </a:p>
            </p:txBody>
          </p:sp>
        </p:grpSp>
        <p:sp>
          <p:nvSpPr>
            <p:cNvPr id="49" name="テキスト ボックス 97">
              <a:extLst>
                <a:ext uri="{FF2B5EF4-FFF2-40B4-BE49-F238E27FC236}">
                  <a16:creationId xmlns:a16="http://schemas.microsoft.com/office/drawing/2014/main" id="{5F123EBC-CE88-4F6E-8829-4B6FF21273DF}"/>
                </a:ext>
              </a:extLst>
            </p:cNvPr>
            <p:cNvSpPr txBox="1"/>
            <p:nvPr/>
          </p:nvSpPr>
          <p:spPr>
            <a:xfrm>
              <a:off x="7120194" y="5136116"/>
              <a:ext cx="1040966" cy="39079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fontAlgn="auto">
                <a:spcBef>
                  <a:spcPts val="0"/>
                </a:spcBef>
                <a:spcAft>
                  <a:spcPts val="0"/>
                </a:spcAft>
              </a:pP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IoT PF</a:t>
              </a:r>
              <a:endPar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70" name="グループ化 69">
            <a:extLst>
              <a:ext uri="{FF2B5EF4-FFF2-40B4-BE49-F238E27FC236}">
                <a16:creationId xmlns:a16="http://schemas.microsoft.com/office/drawing/2014/main" id="{109167AD-4C60-49C0-830B-C1C3FB31A6D1}"/>
              </a:ext>
            </a:extLst>
          </p:cNvPr>
          <p:cNvGrpSpPr/>
          <p:nvPr/>
        </p:nvGrpSpPr>
        <p:grpSpPr>
          <a:xfrm>
            <a:off x="4481393" y="3151744"/>
            <a:ext cx="1618185" cy="921699"/>
            <a:chOff x="3566766" y="5265074"/>
            <a:chExt cx="1618185" cy="921699"/>
          </a:xfrm>
        </p:grpSpPr>
        <p:pic>
          <p:nvPicPr>
            <p:cNvPr id="54" name="図 53" descr="ãhbaseãã®ç»åæ¤ç´¢çµæ">
              <a:extLst>
                <a:ext uri="{FF2B5EF4-FFF2-40B4-BE49-F238E27FC236}">
                  <a16:creationId xmlns:a16="http://schemas.microsoft.com/office/drawing/2014/main" id="{2E99F649-0A10-49B2-919E-0514590808B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69171" y="5814129"/>
              <a:ext cx="1280029" cy="372644"/>
            </a:xfrm>
            <a:prstGeom prst="rect">
              <a:avLst/>
            </a:prstGeom>
            <a:noFill/>
            <a:extLst>
              <a:ext uri="{909E8E84-426E-40DD-AFC4-6F175D3DCCD1}">
                <a14:hiddenFill xmlns:a14="http://schemas.microsoft.com/office/drawing/2010/main">
                  <a:solidFill>
                    <a:srgbClr val="FFFFFF"/>
                  </a:solidFill>
                </a14:hiddenFill>
              </a:ext>
            </a:extLst>
          </p:spPr>
        </p:pic>
        <p:pic>
          <p:nvPicPr>
            <p:cNvPr id="65" name="グラフィックス 64" descr="データベース 単色塗りつぶし">
              <a:extLst>
                <a:ext uri="{FF2B5EF4-FFF2-40B4-BE49-F238E27FC236}">
                  <a16:creationId xmlns:a16="http://schemas.microsoft.com/office/drawing/2014/main" id="{1139245F-3AE2-48BC-AA18-829944149C2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566766" y="5265074"/>
              <a:ext cx="642686" cy="642686"/>
            </a:xfrm>
            <a:prstGeom prst="rect">
              <a:avLst/>
            </a:prstGeom>
          </p:spPr>
        </p:pic>
        <p:sp>
          <p:nvSpPr>
            <p:cNvPr id="69" name="テキスト ボックス 97">
              <a:extLst>
                <a:ext uri="{FF2B5EF4-FFF2-40B4-BE49-F238E27FC236}">
                  <a16:creationId xmlns:a16="http://schemas.microsoft.com/office/drawing/2014/main" id="{4C13D382-1E55-4137-B25D-1D27F563D83B}"/>
                </a:ext>
              </a:extLst>
            </p:cNvPr>
            <p:cNvSpPr txBox="1"/>
            <p:nvPr/>
          </p:nvSpPr>
          <p:spPr>
            <a:xfrm>
              <a:off x="4079543" y="5599750"/>
              <a:ext cx="1105408" cy="261610"/>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fontAlgn="auto">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車両稼働データ</a:t>
              </a:r>
            </a:p>
          </p:txBody>
        </p:sp>
      </p:grpSp>
      <p:grpSp>
        <p:nvGrpSpPr>
          <p:cNvPr id="72" name="グループ化 71">
            <a:extLst>
              <a:ext uri="{FF2B5EF4-FFF2-40B4-BE49-F238E27FC236}">
                <a16:creationId xmlns:a16="http://schemas.microsoft.com/office/drawing/2014/main" id="{5B8D223C-5F68-4012-803E-E2CFF10B639D}"/>
              </a:ext>
            </a:extLst>
          </p:cNvPr>
          <p:cNvGrpSpPr/>
          <p:nvPr/>
        </p:nvGrpSpPr>
        <p:grpSpPr>
          <a:xfrm>
            <a:off x="6694914" y="4809584"/>
            <a:ext cx="1590754" cy="1099825"/>
            <a:chOff x="6082490" y="5281734"/>
            <a:chExt cx="1590754" cy="1099825"/>
          </a:xfrm>
        </p:grpSpPr>
        <p:grpSp>
          <p:nvGrpSpPr>
            <p:cNvPr id="68" name="グループ化 67">
              <a:extLst>
                <a:ext uri="{FF2B5EF4-FFF2-40B4-BE49-F238E27FC236}">
                  <a16:creationId xmlns:a16="http://schemas.microsoft.com/office/drawing/2014/main" id="{9506C646-A56B-46B6-9775-08B0275E1849}"/>
                </a:ext>
              </a:extLst>
            </p:cNvPr>
            <p:cNvGrpSpPr/>
            <p:nvPr/>
          </p:nvGrpSpPr>
          <p:grpSpPr>
            <a:xfrm>
              <a:off x="6082490" y="5306552"/>
              <a:ext cx="1239695" cy="1075007"/>
              <a:chOff x="6099590" y="5330816"/>
              <a:chExt cx="1239695" cy="1075007"/>
            </a:xfrm>
          </p:grpSpPr>
          <p:pic>
            <p:nvPicPr>
              <p:cNvPr id="58" name="図 57" descr="ãpostgresqlãã®ç»åæ¤ç´¢çµæ">
                <a:extLst>
                  <a:ext uri="{FF2B5EF4-FFF2-40B4-BE49-F238E27FC236}">
                    <a16:creationId xmlns:a16="http://schemas.microsoft.com/office/drawing/2014/main" id="{C9DFC9AA-97DF-48C6-9AD6-2C193BE202E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696599" y="5781221"/>
                <a:ext cx="642686" cy="624602"/>
              </a:xfrm>
              <a:prstGeom prst="rect">
                <a:avLst/>
              </a:prstGeom>
              <a:noFill/>
              <a:extLst>
                <a:ext uri="{909E8E84-426E-40DD-AFC4-6F175D3DCCD1}">
                  <a14:hiddenFill xmlns:a14="http://schemas.microsoft.com/office/drawing/2010/main">
                    <a:solidFill>
                      <a:srgbClr val="FFFFFF"/>
                    </a:solidFill>
                  </a14:hiddenFill>
                </a:ext>
              </a:extLst>
            </p:spPr>
          </p:pic>
          <p:pic>
            <p:nvPicPr>
              <p:cNvPr id="67" name="グラフィックス 66" descr="データベース 単色塗りつぶし">
                <a:extLst>
                  <a:ext uri="{FF2B5EF4-FFF2-40B4-BE49-F238E27FC236}">
                    <a16:creationId xmlns:a16="http://schemas.microsoft.com/office/drawing/2014/main" id="{D65DB99F-FFA3-4154-98B7-CEA3C58D9B1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99590" y="5330816"/>
                <a:ext cx="642686" cy="642686"/>
              </a:xfrm>
              <a:prstGeom prst="rect">
                <a:avLst/>
              </a:prstGeom>
            </p:spPr>
          </p:pic>
        </p:grpSp>
        <p:sp>
          <p:nvSpPr>
            <p:cNvPr id="71" name="テキスト ボックス 97">
              <a:extLst>
                <a:ext uri="{FF2B5EF4-FFF2-40B4-BE49-F238E27FC236}">
                  <a16:creationId xmlns:a16="http://schemas.microsoft.com/office/drawing/2014/main" id="{BD6487AA-FA16-4A42-9C8A-2F7F406A2C7D}"/>
                </a:ext>
              </a:extLst>
            </p:cNvPr>
            <p:cNvSpPr txBox="1"/>
            <p:nvPr/>
          </p:nvSpPr>
          <p:spPr>
            <a:xfrm>
              <a:off x="6567836" y="5281734"/>
              <a:ext cx="1105408" cy="430887"/>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fontAlgn="auto">
                <a:spcBef>
                  <a:spcPts val="0"/>
                </a:spcBef>
                <a:spcAft>
                  <a:spcPts val="0"/>
                </a:spcAft>
              </a:pPr>
              <a:r>
                <a:rPr lang="en-US" altLang="ja-JP"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KOMTRAX RDB</a:t>
              </a:r>
              <a:endPar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81" name="直線コネクタ 80">
            <a:extLst>
              <a:ext uri="{FF2B5EF4-FFF2-40B4-BE49-F238E27FC236}">
                <a16:creationId xmlns:a16="http://schemas.microsoft.com/office/drawing/2014/main" id="{C4A2BC42-0CB0-498F-B48F-85475418BB2F}"/>
              </a:ext>
            </a:extLst>
          </p:cNvPr>
          <p:cNvCxnSpPr>
            <a:cxnSpLocks/>
          </p:cNvCxnSpPr>
          <p:nvPr/>
        </p:nvCxnSpPr>
        <p:spPr>
          <a:xfrm flipH="1" flipV="1">
            <a:off x="5088930" y="4238447"/>
            <a:ext cx="1" cy="721670"/>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E05F15A3-289A-4034-B0A0-E71FD9D98D7A}"/>
              </a:ext>
            </a:extLst>
          </p:cNvPr>
          <p:cNvCxnSpPr>
            <a:cxnSpLocks/>
          </p:cNvCxnSpPr>
          <p:nvPr/>
        </p:nvCxnSpPr>
        <p:spPr>
          <a:xfrm>
            <a:off x="5573977" y="5427986"/>
            <a:ext cx="1140477" cy="0"/>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DC12A568-5F70-4A52-8491-7AADDA7BF884}"/>
              </a:ext>
            </a:extLst>
          </p:cNvPr>
          <p:cNvCxnSpPr>
            <a:cxnSpLocks/>
          </p:cNvCxnSpPr>
          <p:nvPr/>
        </p:nvCxnSpPr>
        <p:spPr>
          <a:xfrm flipH="1">
            <a:off x="5403261" y="3473087"/>
            <a:ext cx="1126034"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10" name="グループ化 109">
            <a:extLst>
              <a:ext uri="{FF2B5EF4-FFF2-40B4-BE49-F238E27FC236}">
                <a16:creationId xmlns:a16="http://schemas.microsoft.com/office/drawing/2014/main" id="{5D40B802-9F4E-4213-BFAE-9F0B51F721A7}"/>
              </a:ext>
            </a:extLst>
          </p:cNvPr>
          <p:cNvGrpSpPr/>
          <p:nvPr/>
        </p:nvGrpSpPr>
        <p:grpSpPr>
          <a:xfrm>
            <a:off x="8014696" y="3070192"/>
            <a:ext cx="1105407" cy="663008"/>
            <a:chOff x="8108398" y="3133479"/>
            <a:chExt cx="1105407" cy="663008"/>
          </a:xfrm>
        </p:grpSpPr>
        <p:sp>
          <p:nvSpPr>
            <p:cNvPr id="108" name="正方形/長方形 107">
              <a:extLst>
                <a:ext uri="{FF2B5EF4-FFF2-40B4-BE49-F238E27FC236}">
                  <a16:creationId xmlns:a16="http://schemas.microsoft.com/office/drawing/2014/main" id="{8B3A0ED2-55F2-402A-8E05-05F901EBE9FF}"/>
                </a:ext>
              </a:extLst>
            </p:cNvPr>
            <p:cNvSpPr/>
            <p:nvPr/>
          </p:nvSpPr>
          <p:spPr>
            <a:xfrm>
              <a:off x="8108398" y="3534877"/>
              <a:ext cx="1105407" cy="261610"/>
            </a:xfrm>
            <a:prstGeom prst="rect">
              <a:avLst/>
            </a:prstGeom>
          </p:spPr>
          <p:txBody>
            <a:bodyPr wrap="square">
              <a:spAutoFit/>
            </a:bodyPr>
            <a:lstStyle/>
            <a:p>
              <a:r>
                <a:rPr lang="ja-JP" altLang="en-US" sz="1100" b="1" dirty="0">
                  <a:solidFill>
                    <a:prstClr val="black"/>
                  </a:solidFill>
                  <a:latin typeface="+mj-ea"/>
                  <a:ea typeface="+mj-ea"/>
                  <a:cs typeface="Meiryo UI" panose="020B0604030504040204" pitchFamily="50" charset="-128"/>
                </a:rPr>
                <a:t>既存アプリ</a:t>
              </a:r>
              <a:endParaRPr lang="en-US" altLang="ja-JP" sz="1100" b="1" dirty="0">
                <a:solidFill>
                  <a:prstClr val="black"/>
                </a:solidFill>
                <a:latin typeface="+mj-ea"/>
                <a:ea typeface="+mj-ea"/>
                <a:cs typeface="Meiryo UI" panose="020B0604030504040204" pitchFamily="50" charset="-128"/>
              </a:endParaRPr>
            </a:p>
          </p:txBody>
        </p:sp>
        <p:pic>
          <p:nvPicPr>
            <p:cNvPr id="109" name="図 108">
              <a:extLst>
                <a:ext uri="{FF2B5EF4-FFF2-40B4-BE49-F238E27FC236}">
                  <a16:creationId xmlns:a16="http://schemas.microsoft.com/office/drawing/2014/main" id="{368B4DA2-DFAA-415C-B045-5DC8AAD61BA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62334" y="3133479"/>
              <a:ext cx="476676" cy="432448"/>
            </a:xfrm>
            <a:prstGeom prst="rect">
              <a:avLst/>
            </a:prstGeom>
          </p:spPr>
        </p:pic>
      </p:grpSp>
      <p:grpSp>
        <p:nvGrpSpPr>
          <p:cNvPr id="112" name="グループ化 111">
            <a:extLst>
              <a:ext uri="{FF2B5EF4-FFF2-40B4-BE49-F238E27FC236}">
                <a16:creationId xmlns:a16="http://schemas.microsoft.com/office/drawing/2014/main" id="{C00BA210-30B8-4813-8688-794BD25B9F8F}"/>
              </a:ext>
            </a:extLst>
          </p:cNvPr>
          <p:cNvGrpSpPr/>
          <p:nvPr/>
        </p:nvGrpSpPr>
        <p:grpSpPr>
          <a:xfrm>
            <a:off x="6725714" y="3261376"/>
            <a:ext cx="602179" cy="793358"/>
            <a:chOff x="5180007" y="2414966"/>
            <a:chExt cx="602179" cy="793358"/>
          </a:xfrm>
        </p:grpSpPr>
        <p:pic>
          <p:nvPicPr>
            <p:cNvPr id="113" name="図 112" descr="ベクトル グラフィックス が含まれている画像&#10;&#10;自動的に生成された説明">
              <a:extLst>
                <a:ext uri="{FF2B5EF4-FFF2-40B4-BE49-F238E27FC236}">
                  <a16:creationId xmlns:a16="http://schemas.microsoft.com/office/drawing/2014/main" id="{D61839EA-9091-4018-83A6-608BFB36674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180007" y="2414966"/>
              <a:ext cx="564445" cy="564445"/>
            </a:xfrm>
            <a:prstGeom prst="rect">
              <a:avLst/>
            </a:prstGeom>
          </p:spPr>
        </p:pic>
        <p:sp>
          <p:nvSpPr>
            <p:cNvPr id="114" name="テキスト ボックス 97">
              <a:extLst>
                <a:ext uri="{FF2B5EF4-FFF2-40B4-BE49-F238E27FC236}">
                  <a16:creationId xmlns:a16="http://schemas.microsoft.com/office/drawing/2014/main" id="{12A126C3-5E09-4C19-A1D0-50B9123D7338}"/>
                </a:ext>
              </a:extLst>
            </p:cNvPr>
            <p:cNvSpPr txBox="1"/>
            <p:nvPr/>
          </p:nvSpPr>
          <p:spPr>
            <a:xfrm>
              <a:off x="5232211" y="2946714"/>
              <a:ext cx="549975" cy="261610"/>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fontAlgn="auto">
                <a:spcBef>
                  <a:spcPts val="0"/>
                </a:spcBef>
                <a:spcAft>
                  <a:spcPts val="0"/>
                </a:spcAft>
              </a:pP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API</a:t>
              </a:r>
              <a:endPar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117" name="直線コネクタ 116">
            <a:extLst>
              <a:ext uri="{FF2B5EF4-FFF2-40B4-BE49-F238E27FC236}">
                <a16:creationId xmlns:a16="http://schemas.microsoft.com/office/drawing/2014/main" id="{5DA464B0-077A-4488-ACEE-5934ACB963BC}"/>
              </a:ext>
            </a:extLst>
          </p:cNvPr>
          <p:cNvCxnSpPr>
            <a:cxnSpLocks/>
            <a:endCxn id="67" idx="0"/>
          </p:cNvCxnSpPr>
          <p:nvPr/>
        </p:nvCxnSpPr>
        <p:spPr>
          <a:xfrm>
            <a:off x="7016257" y="4238447"/>
            <a:ext cx="0" cy="595955"/>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354233EC-BA77-4006-9FB2-0CB5CFA4AB66}"/>
              </a:ext>
            </a:extLst>
          </p:cNvPr>
          <p:cNvCxnSpPr>
            <a:cxnSpLocks/>
          </p:cNvCxnSpPr>
          <p:nvPr/>
        </p:nvCxnSpPr>
        <p:spPr>
          <a:xfrm flipH="1">
            <a:off x="7327893" y="3453983"/>
            <a:ext cx="71929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22" name="グループ化 121">
            <a:extLst>
              <a:ext uri="{FF2B5EF4-FFF2-40B4-BE49-F238E27FC236}">
                <a16:creationId xmlns:a16="http://schemas.microsoft.com/office/drawing/2014/main" id="{1D30F955-76D3-4441-867F-748B7BC326C1}"/>
              </a:ext>
            </a:extLst>
          </p:cNvPr>
          <p:cNvGrpSpPr/>
          <p:nvPr/>
        </p:nvGrpSpPr>
        <p:grpSpPr>
          <a:xfrm>
            <a:off x="7687540" y="3833926"/>
            <a:ext cx="994226" cy="622872"/>
            <a:chOff x="7760731" y="666706"/>
            <a:chExt cx="994226" cy="622872"/>
          </a:xfrm>
        </p:grpSpPr>
        <p:sp>
          <p:nvSpPr>
            <p:cNvPr id="123" name="テキスト ボックス 44">
              <a:extLst>
                <a:ext uri="{FF2B5EF4-FFF2-40B4-BE49-F238E27FC236}">
                  <a16:creationId xmlns:a16="http://schemas.microsoft.com/office/drawing/2014/main" id="{3F5F942E-43ED-408A-8640-12E581FB6DB8}"/>
                </a:ext>
              </a:extLst>
            </p:cNvPr>
            <p:cNvSpPr txBox="1"/>
            <p:nvPr/>
          </p:nvSpPr>
          <p:spPr>
            <a:xfrm>
              <a:off x="7760731" y="1035662"/>
              <a:ext cx="994226"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en-US" altLang="ja-JP" sz="1050" dirty="0">
                  <a:latin typeface="+mj-ea"/>
                  <a:ea typeface="+mj-ea"/>
                  <a:cs typeface="Meiryo UI" panose="020B0604030504040204" pitchFamily="50" charset="-128"/>
                </a:rPr>
                <a:t>DFM/CFM</a:t>
              </a:r>
              <a:endParaRPr kumimoji="1" lang="ja-JP" altLang="en-US" sz="1050" dirty="0">
                <a:latin typeface="+mj-ea"/>
                <a:ea typeface="+mj-ea"/>
                <a:cs typeface="Meiryo UI" panose="020B0604030504040204" pitchFamily="50" charset="-128"/>
              </a:endParaRPr>
            </a:p>
          </p:txBody>
        </p:sp>
        <p:pic>
          <p:nvPicPr>
            <p:cNvPr id="124" name="Picture 33">
              <a:extLst>
                <a:ext uri="{FF2B5EF4-FFF2-40B4-BE49-F238E27FC236}">
                  <a16:creationId xmlns:a16="http://schemas.microsoft.com/office/drawing/2014/main" id="{AB939120-E2C4-42EB-9354-58056D226EE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50758" y="66670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25" name="グループ化 124">
            <a:extLst>
              <a:ext uri="{FF2B5EF4-FFF2-40B4-BE49-F238E27FC236}">
                <a16:creationId xmlns:a16="http://schemas.microsoft.com/office/drawing/2014/main" id="{CB476B75-B007-45E5-A22C-511DD7748AED}"/>
              </a:ext>
            </a:extLst>
          </p:cNvPr>
          <p:cNvGrpSpPr/>
          <p:nvPr/>
        </p:nvGrpSpPr>
        <p:grpSpPr>
          <a:xfrm>
            <a:off x="8358822" y="3834255"/>
            <a:ext cx="994226" cy="622872"/>
            <a:chOff x="7760731" y="666706"/>
            <a:chExt cx="994226" cy="622872"/>
          </a:xfrm>
        </p:grpSpPr>
        <p:sp>
          <p:nvSpPr>
            <p:cNvPr id="126" name="テキスト ボックス 44">
              <a:extLst>
                <a:ext uri="{FF2B5EF4-FFF2-40B4-BE49-F238E27FC236}">
                  <a16:creationId xmlns:a16="http://schemas.microsoft.com/office/drawing/2014/main" id="{6D001E09-C7DB-4BC1-8AB4-977122BC91C4}"/>
                </a:ext>
              </a:extLst>
            </p:cNvPr>
            <p:cNvSpPr txBox="1"/>
            <p:nvPr/>
          </p:nvSpPr>
          <p:spPr>
            <a:xfrm>
              <a:off x="7760731" y="1035662"/>
              <a:ext cx="994226"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050" dirty="0">
                  <a:latin typeface="+mj-ea"/>
                  <a:ea typeface="+mj-ea"/>
                  <a:cs typeface="Meiryo UI" panose="020B0604030504040204" pitchFamily="50" charset="-128"/>
                </a:rPr>
                <a:t>運用アプリ</a:t>
              </a:r>
            </a:p>
          </p:txBody>
        </p:sp>
        <p:pic>
          <p:nvPicPr>
            <p:cNvPr id="127" name="Picture 33">
              <a:extLst>
                <a:ext uri="{FF2B5EF4-FFF2-40B4-BE49-F238E27FC236}">
                  <a16:creationId xmlns:a16="http://schemas.microsoft.com/office/drawing/2014/main" id="{516A1C8D-90CF-41DC-BA86-462E6F751E7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50758" y="66670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2" name="グループ化 131">
            <a:extLst>
              <a:ext uri="{FF2B5EF4-FFF2-40B4-BE49-F238E27FC236}">
                <a16:creationId xmlns:a16="http://schemas.microsoft.com/office/drawing/2014/main" id="{63EF3BAF-FF9B-49AA-9446-4C27A1C7585F}"/>
              </a:ext>
            </a:extLst>
          </p:cNvPr>
          <p:cNvGrpSpPr/>
          <p:nvPr/>
        </p:nvGrpSpPr>
        <p:grpSpPr>
          <a:xfrm>
            <a:off x="2658702" y="818367"/>
            <a:ext cx="1257075" cy="695414"/>
            <a:chOff x="3068702" y="1839937"/>
            <a:chExt cx="1257075" cy="695414"/>
          </a:xfrm>
        </p:grpSpPr>
        <p:sp>
          <p:nvSpPr>
            <p:cNvPr id="133" name="テキスト ボックス 132">
              <a:extLst>
                <a:ext uri="{FF2B5EF4-FFF2-40B4-BE49-F238E27FC236}">
                  <a16:creationId xmlns:a16="http://schemas.microsoft.com/office/drawing/2014/main" id="{4F04D55E-7AC1-487A-A99A-D9D4EFE28567}"/>
                </a:ext>
              </a:extLst>
            </p:cNvPr>
            <p:cNvSpPr txBox="1"/>
            <p:nvPr/>
          </p:nvSpPr>
          <p:spPr>
            <a:xfrm>
              <a:off x="3068702" y="2281435"/>
              <a:ext cx="1257075" cy="253916"/>
            </a:xfrm>
            <a:prstGeom prst="rect">
              <a:avLst/>
            </a:prstGeom>
            <a:noFill/>
          </p:spPr>
          <p:txBody>
            <a:bodyPr wrap="none" rtlCol="0">
              <a:spAutoFit/>
            </a:bodyPr>
            <a:lstStyle/>
            <a:p>
              <a:r>
                <a:rPr kumimoji="1" lang="en-US" altLang="ja-JP" sz="1050" b="1" dirty="0">
                  <a:solidFill>
                    <a:srgbClr val="FF0000"/>
                  </a:solidFill>
                  <a:latin typeface="+mj-ea"/>
                  <a:ea typeface="+mj-ea"/>
                </a:rPr>
                <a:t>1.</a:t>
              </a:r>
              <a:r>
                <a:rPr kumimoji="1" lang="ja-JP" altLang="en-US" sz="1050" b="1" dirty="0">
                  <a:solidFill>
                    <a:srgbClr val="FF0000"/>
                  </a:solidFill>
                  <a:latin typeface="+mj-ea"/>
                  <a:ea typeface="+mj-ea"/>
                </a:rPr>
                <a:t>カスタマイズ設定</a:t>
              </a:r>
            </a:p>
          </p:txBody>
        </p:sp>
        <p:pic>
          <p:nvPicPr>
            <p:cNvPr id="134" name="図 133" descr="挿絵, コンピュータ, テーブル が含まれている画像&#10;&#10;自動的に生成された説明">
              <a:extLst>
                <a:ext uri="{FF2B5EF4-FFF2-40B4-BE49-F238E27FC236}">
                  <a16:creationId xmlns:a16="http://schemas.microsoft.com/office/drawing/2014/main" id="{4338F5F8-356E-4C81-9F92-3AFBCDFC6C5D}"/>
                </a:ext>
              </a:extLst>
            </p:cNvPr>
            <p:cNvPicPr>
              <a:picLocks noChangeAspect="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3309919" y="1839937"/>
              <a:ext cx="636785" cy="498131"/>
            </a:xfrm>
            <a:prstGeom prst="rect">
              <a:avLst/>
            </a:prstGeom>
          </p:spPr>
        </p:pic>
      </p:grpSp>
      <p:cxnSp>
        <p:nvCxnSpPr>
          <p:cNvPr id="135" name="直線コネクタ 134">
            <a:extLst>
              <a:ext uri="{FF2B5EF4-FFF2-40B4-BE49-F238E27FC236}">
                <a16:creationId xmlns:a16="http://schemas.microsoft.com/office/drawing/2014/main" id="{3302535A-3639-4E7E-A0FB-B8D85C26F174}"/>
              </a:ext>
            </a:extLst>
          </p:cNvPr>
          <p:cNvCxnSpPr>
            <a:cxnSpLocks/>
            <a:stCxn id="133" idx="2"/>
            <a:endCxn id="113" idx="0"/>
          </p:cNvCxnSpPr>
          <p:nvPr/>
        </p:nvCxnSpPr>
        <p:spPr>
          <a:xfrm rot="16200000" flipH="1">
            <a:off x="4273791" y="527229"/>
            <a:ext cx="1747595" cy="3720697"/>
          </a:xfrm>
          <a:prstGeom prst="bentConnector3">
            <a:avLst>
              <a:gd name="adj1" fmla="val 50000"/>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2" name="直線コネクタ 134">
            <a:extLst>
              <a:ext uri="{FF2B5EF4-FFF2-40B4-BE49-F238E27FC236}">
                <a16:creationId xmlns:a16="http://schemas.microsoft.com/office/drawing/2014/main" id="{7DA7DF13-5C88-43E8-8BD3-ECC14AC7E87D}"/>
              </a:ext>
            </a:extLst>
          </p:cNvPr>
          <p:cNvCxnSpPr>
            <a:cxnSpLocks/>
            <a:stCxn id="24" idx="2"/>
            <a:endCxn id="113" idx="0"/>
          </p:cNvCxnSpPr>
          <p:nvPr/>
        </p:nvCxnSpPr>
        <p:spPr>
          <a:xfrm rot="16200000" flipH="1">
            <a:off x="5010110" y="1263548"/>
            <a:ext cx="1640445" cy="2355210"/>
          </a:xfrm>
          <a:prstGeom prst="bentConnector3">
            <a:avLst>
              <a:gd name="adj1" fmla="val 46753"/>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7" name="テキスト ボックス 166">
            <a:extLst>
              <a:ext uri="{FF2B5EF4-FFF2-40B4-BE49-F238E27FC236}">
                <a16:creationId xmlns:a16="http://schemas.microsoft.com/office/drawing/2014/main" id="{4D41165F-D0C6-4564-8BFB-F085A348A137}"/>
              </a:ext>
            </a:extLst>
          </p:cNvPr>
          <p:cNvSpPr txBox="1"/>
          <p:nvPr/>
        </p:nvSpPr>
        <p:spPr>
          <a:xfrm>
            <a:off x="44262" y="586248"/>
            <a:ext cx="2508137" cy="360000"/>
          </a:xfrm>
          <a:prstGeom prst="rect">
            <a:avLst/>
          </a:prstGeom>
          <a:solidFill>
            <a:schemeClr val="tx2"/>
          </a:solidFill>
          <a:ln>
            <a:solidFill>
              <a:schemeClr val="tx2"/>
            </a:solidFill>
          </a:ln>
        </p:spPr>
        <p:txBody>
          <a:bodyPr wrap="none" rtlCol="0" anchor="ctr">
            <a:noAutofit/>
          </a:bodyPr>
          <a:lstStyle/>
          <a:p>
            <a:pPr algn="ctr"/>
            <a:r>
              <a:rPr kumimoji="1" lang="ja-JP" altLang="en-US" sz="1400" dirty="0">
                <a:solidFill>
                  <a:schemeClr val="bg1"/>
                </a:solidFill>
              </a:rPr>
              <a:t>システム全体と本件開発部分</a:t>
            </a:r>
          </a:p>
        </p:txBody>
      </p:sp>
      <p:sp>
        <p:nvSpPr>
          <p:cNvPr id="170" name="テキスト ボックス 169">
            <a:extLst>
              <a:ext uri="{FF2B5EF4-FFF2-40B4-BE49-F238E27FC236}">
                <a16:creationId xmlns:a16="http://schemas.microsoft.com/office/drawing/2014/main" id="{14868322-7B96-4482-B69D-C2DE6833167E}"/>
              </a:ext>
            </a:extLst>
          </p:cNvPr>
          <p:cNvSpPr txBox="1"/>
          <p:nvPr/>
        </p:nvSpPr>
        <p:spPr>
          <a:xfrm>
            <a:off x="1319046" y="1103558"/>
            <a:ext cx="1370888" cy="253916"/>
          </a:xfrm>
          <a:prstGeom prst="rect">
            <a:avLst/>
          </a:prstGeom>
          <a:noFill/>
          <a:ln>
            <a:solidFill>
              <a:srgbClr val="F37021"/>
            </a:solidFill>
          </a:ln>
        </p:spPr>
        <p:txBody>
          <a:bodyPr wrap="none" rtlCol="0">
            <a:spAutoFit/>
          </a:bodyPr>
          <a:lstStyle/>
          <a:p>
            <a:r>
              <a:rPr kumimoji="1" lang="ja-JP" altLang="en-US" sz="1050" b="1" dirty="0">
                <a:solidFill>
                  <a:srgbClr val="F37021"/>
                </a:solidFill>
                <a:latin typeface="+mj-ea"/>
                <a:ea typeface="+mj-ea"/>
              </a:rPr>
              <a:t>リリース</a:t>
            </a:r>
            <a:r>
              <a:rPr kumimoji="1" lang="en-US" altLang="ja-JP" sz="1050" b="1" dirty="0">
                <a:solidFill>
                  <a:srgbClr val="F37021"/>
                </a:solidFill>
                <a:latin typeface="+mj-ea"/>
                <a:ea typeface="+mj-ea"/>
              </a:rPr>
              <a:t>1.2</a:t>
            </a:r>
            <a:r>
              <a:rPr kumimoji="1" lang="ja-JP" altLang="en-US" sz="1050" b="1" dirty="0">
                <a:solidFill>
                  <a:srgbClr val="F37021"/>
                </a:solidFill>
                <a:latin typeface="+mj-ea"/>
                <a:ea typeface="+mj-ea"/>
              </a:rPr>
              <a:t>開発部分</a:t>
            </a:r>
          </a:p>
        </p:txBody>
      </p:sp>
      <p:sp>
        <p:nvSpPr>
          <p:cNvPr id="173" name="テキスト ボックス 172">
            <a:extLst>
              <a:ext uri="{FF2B5EF4-FFF2-40B4-BE49-F238E27FC236}">
                <a16:creationId xmlns:a16="http://schemas.microsoft.com/office/drawing/2014/main" id="{8795BECC-04E9-42F5-B4E3-4D4E541D63F9}"/>
              </a:ext>
            </a:extLst>
          </p:cNvPr>
          <p:cNvSpPr txBox="1"/>
          <p:nvPr/>
        </p:nvSpPr>
        <p:spPr>
          <a:xfrm>
            <a:off x="7489379" y="6244698"/>
            <a:ext cx="1654620" cy="253916"/>
          </a:xfrm>
          <a:prstGeom prst="rect">
            <a:avLst/>
          </a:prstGeom>
          <a:noFill/>
          <a:ln>
            <a:solidFill>
              <a:srgbClr val="59FBEC"/>
            </a:solidFill>
          </a:ln>
        </p:spPr>
        <p:txBody>
          <a:bodyPr wrap="none" rtlCol="0">
            <a:spAutoFit/>
          </a:bodyPr>
          <a:lstStyle/>
          <a:p>
            <a:r>
              <a:rPr kumimoji="1" lang="ja-JP" altLang="en-US" sz="1050" b="1" dirty="0">
                <a:latin typeface="+mj-ea"/>
                <a:ea typeface="+mj-ea"/>
              </a:rPr>
              <a:t>次世代</a:t>
            </a:r>
            <a:r>
              <a:rPr kumimoji="1" lang="en-US" altLang="ja-JP" sz="1050" b="1" dirty="0">
                <a:latin typeface="+mj-ea"/>
                <a:ea typeface="+mj-ea"/>
              </a:rPr>
              <a:t>KOMTRAX</a:t>
            </a:r>
            <a:r>
              <a:rPr kumimoji="1" lang="ja-JP" altLang="en-US" sz="1050" b="1" dirty="0">
                <a:latin typeface="+mj-ea"/>
                <a:ea typeface="+mj-ea"/>
              </a:rPr>
              <a:t>サーバ</a:t>
            </a:r>
          </a:p>
        </p:txBody>
      </p:sp>
      <p:sp>
        <p:nvSpPr>
          <p:cNvPr id="174" name="フリーフォーム: 図形 173">
            <a:extLst>
              <a:ext uri="{FF2B5EF4-FFF2-40B4-BE49-F238E27FC236}">
                <a16:creationId xmlns:a16="http://schemas.microsoft.com/office/drawing/2014/main" id="{7782527A-F8DB-4CC4-8523-48DCC9BFC532}"/>
              </a:ext>
            </a:extLst>
          </p:cNvPr>
          <p:cNvSpPr/>
          <p:nvPr/>
        </p:nvSpPr>
        <p:spPr>
          <a:xfrm>
            <a:off x="4092606" y="3045041"/>
            <a:ext cx="4314547" cy="3080551"/>
          </a:xfrm>
          <a:custGeom>
            <a:avLst/>
            <a:gdLst>
              <a:gd name="connsiteX0" fmla="*/ 0 w 4314547"/>
              <a:gd name="connsiteY0" fmla="*/ 3071674 h 3071674"/>
              <a:gd name="connsiteX1" fmla="*/ 0 w 4314547"/>
              <a:gd name="connsiteY1" fmla="*/ 0 h 3071674"/>
              <a:gd name="connsiteX2" fmla="*/ 1970843 w 4314547"/>
              <a:gd name="connsiteY2" fmla="*/ 0 h 3071674"/>
              <a:gd name="connsiteX3" fmla="*/ 1970843 w 4314547"/>
              <a:gd name="connsiteY3" fmla="*/ 1606858 h 3071674"/>
              <a:gd name="connsiteX4" fmla="*/ 4314547 w 4314547"/>
              <a:gd name="connsiteY4" fmla="*/ 1606858 h 3071674"/>
              <a:gd name="connsiteX5" fmla="*/ 4314547 w 4314547"/>
              <a:gd name="connsiteY5" fmla="*/ 3027285 h 3071674"/>
              <a:gd name="connsiteX6" fmla="*/ 0 w 4314547"/>
              <a:gd name="connsiteY6" fmla="*/ 3071674 h 3071674"/>
              <a:gd name="connsiteX0" fmla="*/ 0 w 4314547"/>
              <a:gd name="connsiteY0" fmla="*/ 3071674 h 3080551"/>
              <a:gd name="connsiteX1" fmla="*/ 0 w 4314547"/>
              <a:gd name="connsiteY1" fmla="*/ 0 h 3080551"/>
              <a:gd name="connsiteX2" fmla="*/ 1970843 w 4314547"/>
              <a:gd name="connsiteY2" fmla="*/ 0 h 3080551"/>
              <a:gd name="connsiteX3" fmla="*/ 1970843 w 4314547"/>
              <a:gd name="connsiteY3" fmla="*/ 1606858 h 3080551"/>
              <a:gd name="connsiteX4" fmla="*/ 4314547 w 4314547"/>
              <a:gd name="connsiteY4" fmla="*/ 1606858 h 3080551"/>
              <a:gd name="connsiteX5" fmla="*/ 4314547 w 4314547"/>
              <a:gd name="connsiteY5" fmla="*/ 3080551 h 3080551"/>
              <a:gd name="connsiteX6" fmla="*/ 0 w 4314547"/>
              <a:gd name="connsiteY6" fmla="*/ 3071674 h 3080551"/>
              <a:gd name="connsiteX0" fmla="*/ 0 w 4314547"/>
              <a:gd name="connsiteY0" fmla="*/ 3071674 h 3080551"/>
              <a:gd name="connsiteX1" fmla="*/ 0 w 4314547"/>
              <a:gd name="connsiteY1" fmla="*/ 0 h 3080551"/>
              <a:gd name="connsiteX2" fmla="*/ 3533312 w 4314547"/>
              <a:gd name="connsiteY2" fmla="*/ 0 h 3080551"/>
              <a:gd name="connsiteX3" fmla="*/ 1970843 w 4314547"/>
              <a:gd name="connsiteY3" fmla="*/ 1606858 h 3080551"/>
              <a:gd name="connsiteX4" fmla="*/ 4314547 w 4314547"/>
              <a:gd name="connsiteY4" fmla="*/ 1606858 h 3080551"/>
              <a:gd name="connsiteX5" fmla="*/ 4314547 w 4314547"/>
              <a:gd name="connsiteY5" fmla="*/ 3080551 h 3080551"/>
              <a:gd name="connsiteX6" fmla="*/ 0 w 4314547"/>
              <a:gd name="connsiteY6" fmla="*/ 3071674 h 3080551"/>
              <a:gd name="connsiteX0" fmla="*/ 0 w 4314547"/>
              <a:gd name="connsiteY0" fmla="*/ 3071674 h 3080551"/>
              <a:gd name="connsiteX1" fmla="*/ 0 w 4314547"/>
              <a:gd name="connsiteY1" fmla="*/ 0 h 3080551"/>
              <a:gd name="connsiteX2" fmla="*/ 3533312 w 4314547"/>
              <a:gd name="connsiteY2" fmla="*/ 0 h 3080551"/>
              <a:gd name="connsiteX3" fmla="*/ 3542191 w 4314547"/>
              <a:gd name="connsiteY3" fmla="*/ 1606858 h 3080551"/>
              <a:gd name="connsiteX4" fmla="*/ 4314547 w 4314547"/>
              <a:gd name="connsiteY4" fmla="*/ 1606858 h 3080551"/>
              <a:gd name="connsiteX5" fmla="*/ 4314547 w 4314547"/>
              <a:gd name="connsiteY5" fmla="*/ 3080551 h 3080551"/>
              <a:gd name="connsiteX6" fmla="*/ 0 w 4314547"/>
              <a:gd name="connsiteY6" fmla="*/ 3071674 h 3080551"/>
              <a:gd name="connsiteX0" fmla="*/ 0 w 4314547"/>
              <a:gd name="connsiteY0" fmla="*/ 3071674 h 3080551"/>
              <a:gd name="connsiteX1" fmla="*/ 0 w 4314547"/>
              <a:gd name="connsiteY1" fmla="*/ 0 h 3080551"/>
              <a:gd name="connsiteX2" fmla="*/ 3533312 w 4314547"/>
              <a:gd name="connsiteY2" fmla="*/ 0 h 3080551"/>
              <a:gd name="connsiteX3" fmla="*/ 3506681 w 4314547"/>
              <a:gd name="connsiteY3" fmla="*/ 1606858 h 3080551"/>
              <a:gd name="connsiteX4" fmla="*/ 4314547 w 4314547"/>
              <a:gd name="connsiteY4" fmla="*/ 1606858 h 3080551"/>
              <a:gd name="connsiteX5" fmla="*/ 4314547 w 4314547"/>
              <a:gd name="connsiteY5" fmla="*/ 3080551 h 3080551"/>
              <a:gd name="connsiteX6" fmla="*/ 0 w 4314547"/>
              <a:gd name="connsiteY6" fmla="*/ 3071674 h 3080551"/>
              <a:gd name="connsiteX0" fmla="*/ 0 w 4314547"/>
              <a:gd name="connsiteY0" fmla="*/ 3071674 h 3080551"/>
              <a:gd name="connsiteX1" fmla="*/ 0 w 4314547"/>
              <a:gd name="connsiteY1" fmla="*/ 0 h 3080551"/>
              <a:gd name="connsiteX2" fmla="*/ 3533312 w 4314547"/>
              <a:gd name="connsiteY2" fmla="*/ 0 h 3080551"/>
              <a:gd name="connsiteX3" fmla="*/ 3542191 w 4314547"/>
              <a:gd name="connsiteY3" fmla="*/ 1615736 h 3080551"/>
              <a:gd name="connsiteX4" fmla="*/ 4314547 w 4314547"/>
              <a:gd name="connsiteY4" fmla="*/ 1606858 h 3080551"/>
              <a:gd name="connsiteX5" fmla="*/ 4314547 w 4314547"/>
              <a:gd name="connsiteY5" fmla="*/ 3080551 h 3080551"/>
              <a:gd name="connsiteX6" fmla="*/ 0 w 4314547"/>
              <a:gd name="connsiteY6" fmla="*/ 3071674 h 3080551"/>
              <a:gd name="connsiteX0" fmla="*/ 0 w 4314547"/>
              <a:gd name="connsiteY0" fmla="*/ 3071674 h 3080551"/>
              <a:gd name="connsiteX1" fmla="*/ 0 w 4314547"/>
              <a:gd name="connsiteY1" fmla="*/ 0 h 3080551"/>
              <a:gd name="connsiteX2" fmla="*/ 3533312 w 4314547"/>
              <a:gd name="connsiteY2" fmla="*/ 0 h 3080551"/>
              <a:gd name="connsiteX3" fmla="*/ 3551069 w 4314547"/>
              <a:gd name="connsiteY3" fmla="*/ 1606858 h 3080551"/>
              <a:gd name="connsiteX4" fmla="*/ 4314547 w 4314547"/>
              <a:gd name="connsiteY4" fmla="*/ 1606858 h 3080551"/>
              <a:gd name="connsiteX5" fmla="*/ 4314547 w 4314547"/>
              <a:gd name="connsiteY5" fmla="*/ 3080551 h 3080551"/>
              <a:gd name="connsiteX6" fmla="*/ 0 w 4314547"/>
              <a:gd name="connsiteY6" fmla="*/ 3071674 h 3080551"/>
              <a:gd name="connsiteX0" fmla="*/ 0 w 4314547"/>
              <a:gd name="connsiteY0" fmla="*/ 3071674 h 3080551"/>
              <a:gd name="connsiteX1" fmla="*/ 0 w 4314547"/>
              <a:gd name="connsiteY1" fmla="*/ 0 h 3080551"/>
              <a:gd name="connsiteX2" fmla="*/ 3533312 w 4314547"/>
              <a:gd name="connsiteY2" fmla="*/ 0 h 3080551"/>
              <a:gd name="connsiteX3" fmla="*/ 3524436 w 4314547"/>
              <a:gd name="connsiteY3" fmla="*/ 1606858 h 3080551"/>
              <a:gd name="connsiteX4" fmla="*/ 4314547 w 4314547"/>
              <a:gd name="connsiteY4" fmla="*/ 1606858 h 3080551"/>
              <a:gd name="connsiteX5" fmla="*/ 4314547 w 4314547"/>
              <a:gd name="connsiteY5" fmla="*/ 3080551 h 3080551"/>
              <a:gd name="connsiteX6" fmla="*/ 0 w 4314547"/>
              <a:gd name="connsiteY6" fmla="*/ 3071674 h 308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4547" h="3080551">
                <a:moveTo>
                  <a:pt x="0" y="3071674"/>
                </a:moveTo>
                <a:lnTo>
                  <a:pt x="0" y="0"/>
                </a:lnTo>
                <a:lnTo>
                  <a:pt x="3533312" y="0"/>
                </a:lnTo>
                <a:cubicBezTo>
                  <a:pt x="3536272" y="535619"/>
                  <a:pt x="3521476" y="1071239"/>
                  <a:pt x="3524436" y="1606858"/>
                </a:cubicBezTo>
                <a:lnTo>
                  <a:pt x="4314547" y="1606858"/>
                </a:lnTo>
                <a:lnTo>
                  <a:pt x="4314547" y="3080551"/>
                </a:lnTo>
                <a:lnTo>
                  <a:pt x="0" y="3071674"/>
                </a:lnTo>
                <a:close/>
              </a:path>
            </a:pathLst>
          </a:custGeom>
          <a:solidFill>
            <a:srgbClr val="165B3A">
              <a:alpha val="5882"/>
            </a:srgb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 name="テキスト ボックス 174">
            <a:extLst>
              <a:ext uri="{FF2B5EF4-FFF2-40B4-BE49-F238E27FC236}">
                <a16:creationId xmlns:a16="http://schemas.microsoft.com/office/drawing/2014/main" id="{5550BA6D-7165-4BF6-A1C0-60FDDD3AD3D6}"/>
              </a:ext>
            </a:extLst>
          </p:cNvPr>
          <p:cNvSpPr txBox="1"/>
          <p:nvPr/>
        </p:nvSpPr>
        <p:spPr>
          <a:xfrm>
            <a:off x="4092128" y="5862569"/>
            <a:ext cx="1370888" cy="253916"/>
          </a:xfrm>
          <a:prstGeom prst="rect">
            <a:avLst/>
          </a:prstGeom>
          <a:noFill/>
          <a:ln>
            <a:solidFill>
              <a:schemeClr val="accent5">
                <a:lumMod val="50000"/>
              </a:schemeClr>
            </a:solidFill>
          </a:ln>
        </p:spPr>
        <p:txBody>
          <a:bodyPr wrap="none" rtlCol="0">
            <a:spAutoFit/>
          </a:bodyPr>
          <a:lstStyle/>
          <a:p>
            <a:r>
              <a:rPr kumimoji="1" lang="ja-JP" altLang="en-US" sz="1050" b="1" dirty="0">
                <a:solidFill>
                  <a:srgbClr val="165B3A"/>
                </a:solidFill>
                <a:latin typeface="+mj-ea"/>
                <a:ea typeface="+mj-ea"/>
              </a:rPr>
              <a:t>リリース</a:t>
            </a:r>
            <a:r>
              <a:rPr kumimoji="1" lang="en-US" altLang="ja-JP" sz="1050" b="1" dirty="0">
                <a:solidFill>
                  <a:srgbClr val="165B3A"/>
                </a:solidFill>
                <a:latin typeface="+mj-ea"/>
                <a:ea typeface="+mj-ea"/>
              </a:rPr>
              <a:t>1.1</a:t>
            </a:r>
            <a:r>
              <a:rPr kumimoji="1" lang="ja-JP" altLang="en-US" sz="1050" b="1" dirty="0">
                <a:solidFill>
                  <a:srgbClr val="165B3A"/>
                </a:solidFill>
                <a:latin typeface="+mj-ea"/>
                <a:ea typeface="+mj-ea"/>
              </a:rPr>
              <a:t>開発部分</a:t>
            </a:r>
          </a:p>
        </p:txBody>
      </p:sp>
      <p:sp>
        <p:nvSpPr>
          <p:cNvPr id="176" name="テキスト ボックス 175">
            <a:extLst>
              <a:ext uri="{FF2B5EF4-FFF2-40B4-BE49-F238E27FC236}">
                <a16:creationId xmlns:a16="http://schemas.microsoft.com/office/drawing/2014/main" id="{425B47F6-ADF4-4F27-BF0F-091F4C8DB87E}"/>
              </a:ext>
            </a:extLst>
          </p:cNvPr>
          <p:cNvSpPr txBox="1"/>
          <p:nvPr/>
        </p:nvSpPr>
        <p:spPr>
          <a:xfrm>
            <a:off x="5103094" y="3133613"/>
            <a:ext cx="1599025" cy="253916"/>
          </a:xfrm>
          <a:prstGeom prst="rect">
            <a:avLst/>
          </a:prstGeom>
          <a:noFill/>
        </p:spPr>
        <p:txBody>
          <a:bodyPr wrap="square" rtlCol="0">
            <a:spAutoFit/>
          </a:bodyPr>
          <a:lstStyle/>
          <a:p>
            <a:r>
              <a:rPr kumimoji="1" lang="en-US" altLang="ja-JP" sz="1050" dirty="0">
                <a:latin typeface="+mj-ea"/>
                <a:ea typeface="+mj-ea"/>
              </a:rPr>
              <a:t>4.</a:t>
            </a:r>
            <a:r>
              <a:rPr kumimoji="1" lang="ja-JP" altLang="en-US" sz="1050" dirty="0">
                <a:latin typeface="+mj-ea"/>
                <a:ea typeface="+mj-ea"/>
              </a:rPr>
              <a:t>カスタマイズデータ取得</a:t>
            </a:r>
          </a:p>
        </p:txBody>
      </p:sp>
      <p:sp>
        <p:nvSpPr>
          <p:cNvPr id="177" name="テキスト ボックス 176">
            <a:extLst>
              <a:ext uri="{FF2B5EF4-FFF2-40B4-BE49-F238E27FC236}">
                <a16:creationId xmlns:a16="http://schemas.microsoft.com/office/drawing/2014/main" id="{9F04D5A5-221A-421C-846F-4B67B4A203A5}"/>
              </a:ext>
            </a:extLst>
          </p:cNvPr>
          <p:cNvSpPr txBox="1"/>
          <p:nvPr/>
        </p:nvSpPr>
        <p:spPr>
          <a:xfrm>
            <a:off x="4023726" y="4706201"/>
            <a:ext cx="1599025" cy="253916"/>
          </a:xfrm>
          <a:prstGeom prst="rect">
            <a:avLst/>
          </a:prstGeom>
          <a:noFill/>
        </p:spPr>
        <p:txBody>
          <a:bodyPr wrap="square" rtlCol="0">
            <a:spAutoFit/>
          </a:bodyPr>
          <a:lstStyle/>
          <a:p>
            <a:r>
              <a:rPr kumimoji="1" lang="en-US" altLang="ja-JP" sz="1050" dirty="0">
                <a:latin typeface="+mj-ea"/>
                <a:ea typeface="+mj-ea"/>
              </a:rPr>
              <a:t>2.</a:t>
            </a:r>
            <a:r>
              <a:rPr kumimoji="1" lang="ja-JP" altLang="en-US" sz="1050" dirty="0">
                <a:latin typeface="+mj-ea"/>
                <a:ea typeface="+mj-ea"/>
              </a:rPr>
              <a:t>カスタマイズデータ受信</a:t>
            </a:r>
          </a:p>
        </p:txBody>
      </p:sp>
      <p:sp>
        <p:nvSpPr>
          <p:cNvPr id="178" name="正方形/長方形 177">
            <a:extLst>
              <a:ext uri="{FF2B5EF4-FFF2-40B4-BE49-F238E27FC236}">
                <a16:creationId xmlns:a16="http://schemas.microsoft.com/office/drawing/2014/main" id="{823B6D0D-2D1A-43F3-A54B-3158538B8BAA}"/>
              </a:ext>
            </a:extLst>
          </p:cNvPr>
          <p:cNvSpPr/>
          <p:nvPr/>
        </p:nvSpPr>
        <p:spPr>
          <a:xfrm>
            <a:off x="1298330" y="6069062"/>
            <a:ext cx="1003724" cy="230832"/>
          </a:xfrm>
          <a:prstGeom prst="rect">
            <a:avLst/>
          </a:prstGeom>
        </p:spPr>
        <p:txBody>
          <a:bodyPr wrap="square">
            <a:spAutoFit/>
          </a:bodyPr>
          <a:lstStyle/>
          <a:p>
            <a:r>
              <a:rPr lang="en-US" altLang="ja-JP" sz="900" b="1" dirty="0" err="1">
                <a:solidFill>
                  <a:prstClr val="black"/>
                </a:solidFill>
                <a:latin typeface="+mj-ea"/>
                <a:ea typeface="+mj-ea"/>
                <a:cs typeface="Meiryo UI" panose="020B0604030504040204" pitchFamily="50" charset="-128"/>
              </a:rPr>
              <a:t>KICSi</a:t>
            </a:r>
            <a:r>
              <a:rPr lang="ja-JP" altLang="en-US" sz="900" b="1" dirty="0">
                <a:solidFill>
                  <a:prstClr val="black"/>
                </a:solidFill>
                <a:latin typeface="+mj-ea"/>
                <a:ea typeface="+mj-ea"/>
                <a:cs typeface="Meiryo UI" panose="020B0604030504040204" pitchFamily="50" charset="-128"/>
              </a:rPr>
              <a:t> </a:t>
            </a:r>
            <a:r>
              <a:rPr lang="en-US" altLang="ja-JP" sz="900" b="1" dirty="0">
                <a:solidFill>
                  <a:prstClr val="black"/>
                </a:solidFill>
                <a:latin typeface="+mj-ea"/>
                <a:ea typeface="+mj-ea"/>
                <a:cs typeface="Meiryo UI" panose="020B0604030504040204" pitchFamily="50" charset="-128"/>
              </a:rPr>
              <a:t>GW</a:t>
            </a:r>
          </a:p>
        </p:txBody>
      </p:sp>
      <p:graphicFrame>
        <p:nvGraphicFramePr>
          <p:cNvPr id="179" name="表 178">
            <a:extLst>
              <a:ext uri="{FF2B5EF4-FFF2-40B4-BE49-F238E27FC236}">
                <a16:creationId xmlns:a16="http://schemas.microsoft.com/office/drawing/2014/main" id="{CCED68CC-F2E9-4DD8-8847-BBB824F1B58F}"/>
              </a:ext>
            </a:extLst>
          </p:cNvPr>
          <p:cNvGraphicFramePr>
            <a:graphicFrameLocks noGrp="1"/>
          </p:cNvGraphicFramePr>
          <p:nvPr>
            <p:extLst>
              <p:ext uri="{D42A27DB-BD31-4B8C-83A1-F6EECF244321}">
                <p14:modId xmlns:p14="http://schemas.microsoft.com/office/powerpoint/2010/main" val="203666553"/>
              </p:ext>
            </p:extLst>
          </p:nvPr>
        </p:nvGraphicFramePr>
        <p:xfrm>
          <a:off x="44262" y="1569811"/>
          <a:ext cx="2279664" cy="1876814"/>
        </p:xfrm>
        <a:graphic>
          <a:graphicData uri="http://schemas.openxmlformats.org/drawingml/2006/table">
            <a:tbl>
              <a:tblPr firstRow="1" bandRow="1">
                <a:tableStyleId>{5C22544A-7EE6-4342-B048-85BDC9FD1C3A}</a:tableStyleId>
              </a:tblPr>
              <a:tblGrid>
                <a:gridCol w="386476">
                  <a:extLst>
                    <a:ext uri="{9D8B030D-6E8A-4147-A177-3AD203B41FA5}">
                      <a16:colId xmlns:a16="http://schemas.microsoft.com/office/drawing/2014/main" val="2453719218"/>
                    </a:ext>
                  </a:extLst>
                </a:gridCol>
                <a:gridCol w="1227380">
                  <a:extLst>
                    <a:ext uri="{9D8B030D-6E8A-4147-A177-3AD203B41FA5}">
                      <a16:colId xmlns:a16="http://schemas.microsoft.com/office/drawing/2014/main" val="2865506366"/>
                    </a:ext>
                  </a:extLst>
                </a:gridCol>
                <a:gridCol w="665808">
                  <a:extLst>
                    <a:ext uri="{9D8B030D-6E8A-4147-A177-3AD203B41FA5}">
                      <a16:colId xmlns:a16="http://schemas.microsoft.com/office/drawing/2014/main" val="3445556329"/>
                    </a:ext>
                  </a:extLst>
                </a:gridCol>
              </a:tblGrid>
              <a:tr h="0">
                <a:tc>
                  <a:txBody>
                    <a:bodyPr/>
                    <a:lstStyle/>
                    <a:p>
                      <a:r>
                        <a:rPr kumimoji="1" lang="en-US" altLang="ja-JP" sz="1100" dirty="0"/>
                        <a:t>No.</a:t>
                      </a:r>
                      <a:endParaRPr kumimoji="1" lang="ja-JP" altLang="en-US" sz="1100" dirty="0"/>
                    </a:p>
                  </a:txBody>
                  <a:tcPr>
                    <a:solidFill>
                      <a:srgbClr val="140A9A"/>
                    </a:solidFill>
                  </a:tcPr>
                </a:tc>
                <a:tc>
                  <a:txBody>
                    <a:bodyPr/>
                    <a:lstStyle/>
                    <a:p>
                      <a:r>
                        <a:rPr kumimoji="1" lang="ja-JP" altLang="en-US" sz="1100" dirty="0"/>
                        <a:t>要求</a:t>
                      </a:r>
                    </a:p>
                  </a:txBody>
                  <a:tcPr>
                    <a:solidFill>
                      <a:srgbClr val="140A9A"/>
                    </a:solidFill>
                  </a:tcPr>
                </a:tc>
                <a:tc>
                  <a:txBody>
                    <a:bodyPr/>
                    <a:lstStyle/>
                    <a:p>
                      <a:r>
                        <a:rPr kumimoji="1" lang="ja-JP" altLang="en-US" sz="1100" dirty="0"/>
                        <a:t>リリース</a:t>
                      </a:r>
                    </a:p>
                  </a:txBody>
                  <a:tcPr>
                    <a:solidFill>
                      <a:srgbClr val="140A9A"/>
                    </a:solidFill>
                  </a:tcPr>
                </a:tc>
                <a:extLst>
                  <a:ext uri="{0D108BD9-81ED-4DB2-BD59-A6C34878D82A}">
                    <a16:rowId xmlns:a16="http://schemas.microsoft.com/office/drawing/2014/main" val="3482145317"/>
                  </a:ext>
                </a:extLst>
              </a:tr>
              <a:tr h="159598">
                <a:tc>
                  <a:txBody>
                    <a:bodyPr/>
                    <a:lstStyle/>
                    <a:p>
                      <a:r>
                        <a:rPr lang="en-US" altLang="ja-JP" sz="1100" b="1" dirty="0"/>
                        <a:t>4</a:t>
                      </a:r>
                      <a:endParaRPr lang="ja-JP" altLang="en-US" sz="1100" b="1" dirty="0"/>
                    </a:p>
                  </a:txBody>
                  <a:tcPr>
                    <a:solidFill>
                      <a:srgbClr val="F2F2F2"/>
                    </a:solidFill>
                  </a:tcPr>
                </a:tc>
                <a:tc>
                  <a:txBody>
                    <a:bodyPr/>
                    <a:lstStyle/>
                    <a:p>
                      <a:r>
                        <a:rPr lang="ja-JP" altLang="en-US" sz="1100" b="0" dirty="0"/>
                        <a:t>カスタマイズデータ取得</a:t>
                      </a:r>
                    </a:p>
                  </a:txBody>
                  <a:tcP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1" lang="en-US" altLang="ja-JP" sz="1100" b="0" dirty="0">
                          <a:solidFill>
                            <a:schemeClr val="accent5">
                              <a:lumMod val="50000"/>
                            </a:schemeClr>
                          </a:solidFill>
                        </a:rPr>
                        <a:t>R1.1</a:t>
                      </a:r>
                      <a:endParaRPr kumimoji="1" lang="ja-JP" altLang="en-US" sz="1100" b="0" dirty="0">
                        <a:solidFill>
                          <a:schemeClr val="accent5">
                            <a:lumMod val="50000"/>
                          </a:schemeClr>
                        </a:solidFill>
                      </a:endParaRPr>
                    </a:p>
                  </a:txBody>
                  <a:tcPr>
                    <a:solidFill>
                      <a:srgbClr val="F2F2F2"/>
                    </a:solidFill>
                  </a:tcPr>
                </a:tc>
                <a:extLst>
                  <a:ext uri="{0D108BD9-81ED-4DB2-BD59-A6C34878D82A}">
                    <a16:rowId xmlns:a16="http://schemas.microsoft.com/office/drawing/2014/main" val="621631759"/>
                  </a:ext>
                </a:extLst>
              </a:tr>
              <a:tr h="386498">
                <a:tc>
                  <a:txBody>
                    <a:bodyPr/>
                    <a:lstStyle/>
                    <a:p>
                      <a:r>
                        <a:rPr lang="en-US" altLang="ja-JP" sz="1100" b="1" dirty="0"/>
                        <a:t>2</a:t>
                      </a:r>
                      <a:endParaRPr lang="ja-JP" altLang="en-US" sz="1100" b="1" dirty="0"/>
                    </a:p>
                  </a:txBody>
                  <a:tcPr>
                    <a:solidFill>
                      <a:srgbClr val="F2F2F2"/>
                    </a:solidFill>
                  </a:tcPr>
                </a:tc>
                <a:tc>
                  <a:txBody>
                    <a:bodyPr/>
                    <a:lstStyle/>
                    <a:p>
                      <a:r>
                        <a:rPr lang="ja-JP" altLang="en-US" sz="1100" b="0" dirty="0"/>
                        <a:t>カスタマイズデータ受信</a:t>
                      </a:r>
                    </a:p>
                  </a:txBody>
                  <a:tcPr>
                    <a:solidFill>
                      <a:srgbClr val="F2F2F2"/>
                    </a:solidFill>
                  </a:tcPr>
                </a:tc>
                <a:tc>
                  <a:txBody>
                    <a:bodyPr/>
                    <a:lstStyle/>
                    <a:p>
                      <a:pPr marL="0" indent="0">
                        <a:buFont typeface="+mj-lt"/>
                        <a:buNone/>
                      </a:pPr>
                      <a:r>
                        <a:rPr kumimoji="1" lang="en-US" altLang="ja-JP" sz="1100" b="0" dirty="0">
                          <a:solidFill>
                            <a:schemeClr val="accent5">
                              <a:lumMod val="50000"/>
                            </a:schemeClr>
                          </a:solidFill>
                        </a:rPr>
                        <a:t>R1.1</a:t>
                      </a:r>
                      <a:endParaRPr kumimoji="1" lang="ja-JP" altLang="en-US" sz="1100" b="0" dirty="0">
                        <a:solidFill>
                          <a:schemeClr val="accent5">
                            <a:lumMod val="50000"/>
                          </a:schemeClr>
                        </a:solidFill>
                      </a:endParaRPr>
                    </a:p>
                  </a:txBody>
                  <a:tcPr>
                    <a:solidFill>
                      <a:srgbClr val="F2F2F2"/>
                    </a:solidFill>
                  </a:tcPr>
                </a:tc>
                <a:extLst>
                  <a:ext uri="{0D108BD9-81ED-4DB2-BD59-A6C34878D82A}">
                    <a16:rowId xmlns:a16="http://schemas.microsoft.com/office/drawing/2014/main" val="3352967331"/>
                  </a:ext>
                </a:extLst>
              </a:tr>
              <a:tr h="337574">
                <a:tc>
                  <a:txBody>
                    <a:bodyPr/>
                    <a:lstStyle/>
                    <a:p>
                      <a:r>
                        <a:rPr lang="en-US" altLang="ja-JP" sz="1100" b="1" dirty="0">
                          <a:solidFill>
                            <a:schemeClr val="tx1"/>
                          </a:solidFill>
                        </a:rPr>
                        <a:t>1</a:t>
                      </a:r>
                      <a:endParaRPr lang="ja-JP" altLang="en-US" sz="1100" b="1" dirty="0">
                        <a:solidFill>
                          <a:schemeClr val="tx1"/>
                        </a:solidFill>
                      </a:endParaRPr>
                    </a:p>
                  </a:txBody>
                  <a:tcPr>
                    <a:solidFill>
                      <a:srgbClr val="E4E9EE"/>
                    </a:solidFill>
                  </a:tcPr>
                </a:tc>
                <a:tc>
                  <a:txBody>
                    <a:bodyPr/>
                    <a:lstStyle/>
                    <a:p>
                      <a:r>
                        <a:rPr lang="ja-JP" altLang="en-US" sz="1100" b="1" dirty="0">
                          <a:solidFill>
                            <a:schemeClr val="tx1"/>
                          </a:solidFill>
                        </a:rPr>
                        <a:t>カスタマイズ設定</a:t>
                      </a:r>
                    </a:p>
                  </a:txBody>
                  <a:tcPr>
                    <a:solidFill>
                      <a:srgbClr val="E4E9EE"/>
                    </a:solidFill>
                  </a:tcPr>
                </a:tc>
                <a:tc>
                  <a:txBody>
                    <a:bodyPr/>
                    <a:lstStyle/>
                    <a:p>
                      <a:pPr marL="0" indent="0">
                        <a:buFont typeface="+mj-lt"/>
                        <a:buNone/>
                      </a:pPr>
                      <a:r>
                        <a:rPr kumimoji="1" lang="en-US" altLang="ja-JP" sz="1100" b="1" dirty="0">
                          <a:solidFill>
                            <a:srgbClr val="F37021"/>
                          </a:solidFill>
                        </a:rPr>
                        <a:t>R1.2</a:t>
                      </a:r>
                      <a:endParaRPr kumimoji="1" lang="ja-JP" altLang="en-US" sz="1100" b="1" dirty="0">
                        <a:solidFill>
                          <a:srgbClr val="F37021"/>
                        </a:solidFill>
                      </a:endParaRPr>
                    </a:p>
                  </a:txBody>
                  <a:tcPr>
                    <a:solidFill>
                      <a:srgbClr val="E4E9EE"/>
                    </a:solidFill>
                  </a:tcPr>
                </a:tc>
                <a:extLst>
                  <a:ext uri="{0D108BD9-81ED-4DB2-BD59-A6C34878D82A}">
                    <a16:rowId xmlns:a16="http://schemas.microsoft.com/office/drawing/2014/main" val="736859081"/>
                  </a:ext>
                </a:extLst>
              </a:tr>
              <a:tr h="425637">
                <a:tc>
                  <a:txBody>
                    <a:bodyPr/>
                    <a:lstStyle/>
                    <a:p>
                      <a:r>
                        <a:rPr lang="en-US" altLang="ja-JP" sz="1100" b="1" dirty="0">
                          <a:solidFill>
                            <a:schemeClr val="tx1"/>
                          </a:solidFill>
                        </a:rPr>
                        <a:t>3</a:t>
                      </a:r>
                      <a:endParaRPr lang="ja-JP" altLang="en-US" sz="1100" b="1" dirty="0">
                        <a:solidFill>
                          <a:schemeClr val="tx1"/>
                        </a:solidFill>
                      </a:endParaRPr>
                    </a:p>
                  </a:txBody>
                  <a:tcPr>
                    <a:solidFill>
                      <a:srgbClr val="E4E9EE"/>
                    </a:solidFill>
                  </a:tcPr>
                </a:tc>
                <a:tc>
                  <a:txBody>
                    <a:bodyPr/>
                    <a:lstStyle/>
                    <a:p>
                      <a:r>
                        <a:rPr lang="ja-JP" altLang="en-US" sz="1100" b="1" dirty="0">
                          <a:solidFill>
                            <a:schemeClr val="tx1"/>
                          </a:solidFill>
                        </a:rPr>
                        <a:t>カスタマイズデータ送信要求</a:t>
                      </a:r>
                    </a:p>
                  </a:txBody>
                  <a:tcPr>
                    <a:solidFill>
                      <a:srgbClr val="E4E9EE"/>
                    </a:solidFill>
                  </a:tcPr>
                </a:tc>
                <a:tc>
                  <a:txBody>
                    <a:bodyPr/>
                    <a:lstStyle/>
                    <a:p>
                      <a:pPr marL="0" indent="0">
                        <a:buFont typeface="+mj-lt"/>
                        <a:buNone/>
                      </a:pPr>
                      <a:r>
                        <a:rPr kumimoji="1" lang="en-US" altLang="ja-JP" sz="1100" b="1" dirty="0">
                          <a:solidFill>
                            <a:srgbClr val="F37021"/>
                          </a:solidFill>
                        </a:rPr>
                        <a:t>R1.2</a:t>
                      </a:r>
                      <a:endParaRPr kumimoji="1" lang="ja-JP" altLang="en-US" sz="1100" b="1" dirty="0">
                        <a:solidFill>
                          <a:srgbClr val="F37021"/>
                        </a:solidFill>
                      </a:endParaRPr>
                    </a:p>
                  </a:txBody>
                  <a:tcPr>
                    <a:solidFill>
                      <a:srgbClr val="E4E9EE"/>
                    </a:solidFill>
                  </a:tcPr>
                </a:tc>
                <a:extLst>
                  <a:ext uri="{0D108BD9-81ED-4DB2-BD59-A6C34878D82A}">
                    <a16:rowId xmlns:a16="http://schemas.microsoft.com/office/drawing/2014/main" val="3748062942"/>
                  </a:ext>
                </a:extLst>
              </a:tr>
            </a:tbl>
          </a:graphicData>
        </a:graphic>
      </p:graphicFrame>
      <p:grpSp>
        <p:nvGrpSpPr>
          <p:cNvPr id="88" name="グループ化 87">
            <a:extLst>
              <a:ext uri="{FF2B5EF4-FFF2-40B4-BE49-F238E27FC236}">
                <a16:creationId xmlns:a16="http://schemas.microsoft.com/office/drawing/2014/main" id="{E61668FC-26CC-444E-81CF-500AD7D0728B}"/>
              </a:ext>
            </a:extLst>
          </p:cNvPr>
          <p:cNvGrpSpPr/>
          <p:nvPr/>
        </p:nvGrpSpPr>
        <p:grpSpPr>
          <a:xfrm>
            <a:off x="8141157" y="4420391"/>
            <a:ext cx="994226" cy="622872"/>
            <a:chOff x="7760731" y="666706"/>
            <a:chExt cx="994226" cy="622872"/>
          </a:xfrm>
        </p:grpSpPr>
        <p:sp>
          <p:nvSpPr>
            <p:cNvPr id="89" name="テキスト ボックス 44">
              <a:extLst>
                <a:ext uri="{FF2B5EF4-FFF2-40B4-BE49-F238E27FC236}">
                  <a16:creationId xmlns:a16="http://schemas.microsoft.com/office/drawing/2014/main" id="{C557E9E5-0F82-4E66-851A-45AC8D321D06}"/>
                </a:ext>
              </a:extLst>
            </p:cNvPr>
            <p:cNvSpPr txBox="1"/>
            <p:nvPr/>
          </p:nvSpPr>
          <p:spPr>
            <a:xfrm>
              <a:off x="7760731" y="1035662"/>
              <a:ext cx="994226"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050" dirty="0">
                  <a:latin typeface="+mj-ea"/>
                  <a:ea typeface="+mj-ea"/>
                  <a:cs typeface="Meiryo UI" panose="020B0604030504040204" pitchFamily="50" charset="-128"/>
                </a:rPr>
                <a:t>システム管理</a:t>
              </a:r>
            </a:p>
          </p:txBody>
        </p:sp>
        <p:pic>
          <p:nvPicPr>
            <p:cNvPr id="90" name="Picture 33">
              <a:extLst>
                <a:ext uri="{FF2B5EF4-FFF2-40B4-BE49-F238E27FC236}">
                  <a16:creationId xmlns:a16="http://schemas.microsoft.com/office/drawing/2014/main" id="{D637E36D-1BDD-41AD-9BAF-041AF59FDE0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50758" y="666706"/>
              <a:ext cx="414173" cy="36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462538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E615-BA40-451A-98CC-557515ADE58C}"/>
              </a:ext>
            </a:extLst>
          </p:cNvPr>
          <p:cNvSpPr>
            <a:spLocks noGrp="1"/>
          </p:cNvSpPr>
          <p:nvPr>
            <p:ph type="title"/>
          </p:nvPr>
        </p:nvSpPr>
        <p:spPr/>
        <p:txBody>
          <a:bodyPr/>
          <a:lstStyle/>
          <a:p>
            <a:pPr fontAlgn="auto">
              <a:spcAft>
                <a:spcPts val="0"/>
              </a:spcAft>
            </a:pPr>
            <a:r>
              <a:rPr lang="ja-JP" altLang="en-US" dirty="0"/>
              <a:t>１．開発の背景と要求仕様</a:t>
            </a:r>
          </a:p>
        </p:txBody>
      </p:sp>
      <p:grpSp>
        <p:nvGrpSpPr>
          <p:cNvPr id="5" name="グループ化 4">
            <a:extLst>
              <a:ext uri="{FF2B5EF4-FFF2-40B4-BE49-F238E27FC236}">
                <a16:creationId xmlns:a16="http://schemas.microsoft.com/office/drawing/2014/main" id="{3E01D374-73C8-4913-AFCA-10A81A9D7A15}"/>
              </a:ext>
            </a:extLst>
          </p:cNvPr>
          <p:cNvGrpSpPr/>
          <p:nvPr/>
        </p:nvGrpSpPr>
        <p:grpSpPr>
          <a:xfrm>
            <a:off x="1783461" y="4859645"/>
            <a:ext cx="865435" cy="641072"/>
            <a:chOff x="2699792" y="1628800"/>
            <a:chExt cx="865435" cy="641072"/>
          </a:xfrm>
        </p:grpSpPr>
        <p:pic>
          <p:nvPicPr>
            <p:cNvPr id="6" name="図 5">
              <a:extLst>
                <a:ext uri="{FF2B5EF4-FFF2-40B4-BE49-F238E27FC236}">
                  <a16:creationId xmlns:a16="http://schemas.microsoft.com/office/drawing/2014/main" id="{BE05E9B5-02B3-40E1-B615-C93EA18FEF86}"/>
                </a:ext>
              </a:extLst>
            </p:cNvPr>
            <p:cNvPicPr>
              <a:picLocks noChangeAspect="1"/>
            </p:cNvPicPr>
            <p:nvPr/>
          </p:nvPicPr>
          <p:blipFill>
            <a:blip r:embed="rId2"/>
            <a:stretch>
              <a:fillRect/>
            </a:stretch>
          </p:blipFill>
          <p:spPr>
            <a:xfrm>
              <a:off x="2903250" y="1628800"/>
              <a:ext cx="661977" cy="641072"/>
            </a:xfrm>
            <a:prstGeom prst="rect">
              <a:avLst/>
            </a:prstGeom>
            <a:solidFill>
              <a:schemeClr val="accent1"/>
            </a:solidFill>
          </p:spPr>
        </p:pic>
        <p:sp>
          <p:nvSpPr>
            <p:cNvPr id="7" name="正方形/長方形 6">
              <a:extLst>
                <a:ext uri="{FF2B5EF4-FFF2-40B4-BE49-F238E27FC236}">
                  <a16:creationId xmlns:a16="http://schemas.microsoft.com/office/drawing/2014/main" id="{78D8E812-062D-45A4-B60D-9C82035B3B25}"/>
                </a:ext>
              </a:extLst>
            </p:cNvPr>
            <p:cNvSpPr/>
            <p:nvPr/>
          </p:nvSpPr>
          <p:spPr>
            <a:xfrm>
              <a:off x="2699792" y="1628822"/>
              <a:ext cx="203458" cy="6410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grpSp>
      <p:grpSp>
        <p:nvGrpSpPr>
          <p:cNvPr id="8" name="グループ化 7">
            <a:extLst>
              <a:ext uri="{FF2B5EF4-FFF2-40B4-BE49-F238E27FC236}">
                <a16:creationId xmlns:a16="http://schemas.microsoft.com/office/drawing/2014/main" id="{F538FECF-6356-4A35-901C-33B82CA458A4}"/>
              </a:ext>
            </a:extLst>
          </p:cNvPr>
          <p:cNvGrpSpPr/>
          <p:nvPr/>
        </p:nvGrpSpPr>
        <p:grpSpPr>
          <a:xfrm>
            <a:off x="627622" y="4527634"/>
            <a:ext cx="288032" cy="1166144"/>
            <a:chOff x="1043608" y="1153252"/>
            <a:chExt cx="288032" cy="1166144"/>
          </a:xfrm>
        </p:grpSpPr>
        <p:sp>
          <p:nvSpPr>
            <p:cNvPr id="9" name="正方形/長方形 8">
              <a:extLst>
                <a:ext uri="{FF2B5EF4-FFF2-40B4-BE49-F238E27FC236}">
                  <a16:creationId xmlns:a16="http://schemas.microsoft.com/office/drawing/2014/main" id="{D5AA29FF-C700-48A7-8A8D-84A00524BB10}"/>
                </a:ext>
              </a:extLst>
            </p:cNvPr>
            <p:cNvSpPr/>
            <p:nvPr/>
          </p:nvSpPr>
          <p:spPr>
            <a:xfrm>
              <a:off x="1043608" y="1585298"/>
              <a:ext cx="28803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18" name="正方形/長方形 17">
              <a:extLst>
                <a:ext uri="{FF2B5EF4-FFF2-40B4-BE49-F238E27FC236}">
                  <a16:creationId xmlns:a16="http://schemas.microsoft.com/office/drawing/2014/main" id="{FBA2582C-7B48-41EB-82D2-7E9B560B26CB}"/>
                </a:ext>
              </a:extLst>
            </p:cNvPr>
            <p:cNvSpPr/>
            <p:nvPr/>
          </p:nvSpPr>
          <p:spPr>
            <a:xfrm>
              <a:off x="1043608" y="1153252"/>
              <a:ext cx="28803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21" name="正方形/長方形 20">
              <a:extLst>
                <a:ext uri="{FF2B5EF4-FFF2-40B4-BE49-F238E27FC236}">
                  <a16:creationId xmlns:a16="http://schemas.microsoft.com/office/drawing/2014/main" id="{CD807E7A-9031-4EB8-88CE-182A5774BBC2}"/>
                </a:ext>
              </a:extLst>
            </p:cNvPr>
            <p:cNvSpPr/>
            <p:nvPr/>
          </p:nvSpPr>
          <p:spPr>
            <a:xfrm>
              <a:off x="1043608" y="2031364"/>
              <a:ext cx="28803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grpSp>
      <p:sp>
        <p:nvSpPr>
          <p:cNvPr id="19" name="正方形/長方形 18">
            <a:extLst>
              <a:ext uri="{FF2B5EF4-FFF2-40B4-BE49-F238E27FC236}">
                <a16:creationId xmlns:a16="http://schemas.microsoft.com/office/drawing/2014/main" id="{FF966CED-7855-4BE0-9A94-E54F04F38FE6}"/>
              </a:ext>
            </a:extLst>
          </p:cNvPr>
          <p:cNvSpPr/>
          <p:nvPr/>
        </p:nvSpPr>
        <p:spPr>
          <a:xfrm>
            <a:off x="467544" y="4383595"/>
            <a:ext cx="601679" cy="18462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Meiryo UI"/>
              <a:ea typeface="Meiryo UI"/>
              <a:cs typeface="+mn-cs"/>
            </a:endParaRPr>
          </a:p>
        </p:txBody>
      </p:sp>
      <p:sp>
        <p:nvSpPr>
          <p:cNvPr id="20" name="テキスト ボックス 19">
            <a:extLst>
              <a:ext uri="{FF2B5EF4-FFF2-40B4-BE49-F238E27FC236}">
                <a16:creationId xmlns:a16="http://schemas.microsoft.com/office/drawing/2014/main" id="{7406B22B-6127-4E9C-88E2-03D76448F832}"/>
              </a:ext>
            </a:extLst>
          </p:cNvPr>
          <p:cNvSpPr txBox="1"/>
          <p:nvPr/>
        </p:nvSpPr>
        <p:spPr>
          <a:xfrm>
            <a:off x="271293" y="3857925"/>
            <a:ext cx="9941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prstClr val="black"/>
                </a:solidFill>
                <a:effectLst/>
                <a:uLnTx/>
                <a:uFillTx/>
                <a:latin typeface="Meiryo UI"/>
                <a:ea typeface="Meiryo UI"/>
                <a:cs typeface="+mn-cs"/>
              </a:rPr>
              <a:t>データ項目</a:t>
            </a:r>
            <a:endParaRPr kumimoji="1" lang="en-US" altLang="ja-JP" sz="1400" b="1"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Meiryo UI"/>
                <a:ea typeface="Meiryo UI"/>
                <a:cs typeface="+mn-cs"/>
              </a:rPr>
              <a:t>(UDO)</a:t>
            </a:r>
            <a:endParaRPr kumimoji="1" lang="ja-JP" altLang="en-US" sz="14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22" name="テキスト ボックス 21">
            <a:extLst>
              <a:ext uri="{FF2B5EF4-FFF2-40B4-BE49-F238E27FC236}">
                <a16:creationId xmlns:a16="http://schemas.microsoft.com/office/drawing/2014/main" id="{89786F47-A04B-45A4-96F2-57437C9A2CEA}"/>
              </a:ext>
            </a:extLst>
          </p:cNvPr>
          <p:cNvSpPr txBox="1"/>
          <p:nvPr/>
        </p:nvSpPr>
        <p:spPr>
          <a:xfrm>
            <a:off x="591672" y="5714271"/>
            <a:ext cx="353943" cy="515526"/>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a:t>
            </a:r>
          </a:p>
        </p:txBody>
      </p:sp>
      <p:graphicFrame>
        <p:nvGraphicFramePr>
          <p:cNvPr id="23" name="表 22">
            <a:extLst>
              <a:ext uri="{FF2B5EF4-FFF2-40B4-BE49-F238E27FC236}">
                <a16:creationId xmlns:a16="http://schemas.microsoft.com/office/drawing/2014/main" id="{64CC1084-B0E8-469C-9729-4A703E0E23DD}"/>
              </a:ext>
            </a:extLst>
          </p:cNvPr>
          <p:cNvGraphicFramePr>
            <a:graphicFrameLocks noGrp="1"/>
          </p:cNvGraphicFramePr>
          <p:nvPr/>
        </p:nvGraphicFramePr>
        <p:xfrm>
          <a:off x="2992077" y="3915261"/>
          <a:ext cx="3203882" cy="2529840"/>
        </p:xfrm>
        <a:graphic>
          <a:graphicData uri="http://schemas.openxmlformats.org/drawingml/2006/table">
            <a:tbl>
              <a:tblPr firstRow="1" bandRow="1">
                <a:tableStyleId>{5940675A-B579-460E-94D1-54222C63F5DA}</a:tableStyleId>
              </a:tblPr>
              <a:tblGrid>
                <a:gridCol w="631039">
                  <a:extLst>
                    <a:ext uri="{9D8B030D-6E8A-4147-A177-3AD203B41FA5}">
                      <a16:colId xmlns:a16="http://schemas.microsoft.com/office/drawing/2014/main" val="33651614"/>
                    </a:ext>
                  </a:extLst>
                </a:gridCol>
                <a:gridCol w="2572843">
                  <a:extLst>
                    <a:ext uri="{9D8B030D-6E8A-4147-A177-3AD203B41FA5}">
                      <a16:colId xmlns:a16="http://schemas.microsoft.com/office/drawing/2014/main" val="2462155418"/>
                    </a:ext>
                  </a:extLst>
                </a:gridCol>
              </a:tblGrid>
              <a:tr h="370840">
                <a:tc>
                  <a:txBody>
                    <a:bodyPr/>
                    <a:lstStyle/>
                    <a:p>
                      <a:r>
                        <a:rPr kumimoji="1" lang="ja-JP" altLang="en-US" sz="1400" b="1" dirty="0">
                          <a:solidFill>
                            <a:srgbClr val="C00000"/>
                          </a:solidFill>
                          <a:latin typeface="+mn-ea"/>
                          <a:ea typeface="+mn-ea"/>
                        </a:rPr>
                        <a:t>加工定義</a:t>
                      </a:r>
                    </a:p>
                  </a:txBody>
                  <a:tcPr/>
                </a:tc>
                <a:tc>
                  <a:txBody>
                    <a:bodyPr/>
                    <a:lstStyle/>
                    <a:p>
                      <a:pPr marL="92075" indent="-92075">
                        <a:buFont typeface="Arial" panose="020B0604020202020204" pitchFamily="34" charset="0"/>
                        <a:buChar char="•"/>
                      </a:pPr>
                      <a:r>
                        <a:rPr kumimoji="1" lang="ja-JP" altLang="en-US" sz="1200" dirty="0">
                          <a:latin typeface="+mn-ea"/>
                          <a:ea typeface="+mn-ea"/>
                        </a:rPr>
                        <a:t>どのタイプのデータとして取るか</a:t>
                      </a:r>
                      <a:br>
                        <a:rPr kumimoji="1" lang="en-US" altLang="ja-JP" sz="1200" dirty="0">
                          <a:latin typeface="+mn-ea"/>
                          <a:ea typeface="+mn-ea"/>
                        </a:rPr>
                      </a:br>
                      <a:r>
                        <a:rPr kumimoji="1" lang="ja-JP" altLang="en-US" sz="1200" dirty="0">
                          <a:latin typeface="+mn-ea"/>
                          <a:ea typeface="+mn-ea"/>
                        </a:rPr>
                        <a:t>（トレンド</a:t>
                      </a:r>
                      <a:r>
                        <a:rPr kumimoji="1" lang="en-US" altLang="ja-JP" sz="1200" dirty="0">
                          <a:latin typeface="+mn-ea"/>
                          <a:ea typeface="+mn-ea"/>
                        </a:rPr>
                        <a:t>/</a:t>
                      </a:r>
                      <a:r>
                        <a:rPr kumimoji="1" lang="ja-JP" altLang="en-US" sz="1200" dirty="0">
                          <a:latin typeface="+mn-ea"/>
                          <a:ea typeface="+mn-ea"/>
                        </a:rPr>
                        <a:t>マップ</a:t>
                      </a:r>
                      <a:r>
                        <a:rPr kumimoji="1" lang="en-US" altLang="ja-JP" sz="1200" dirty="0">
                          <a:latin typeface="+mn-ea"/>
                          <a:ea typeface="+mn-ea"/>
                        </a:rPr>
                        <a:t>/</a:t>
                      </a:r>
                      <a:r>
                        <a:rPr kumimoji="1" lang="ja-JP" altLang="en-US" sz="1200" dirty="0">
                          <a:latin typeface="+mn-ea"/>
                          <a:ea typeface="+mn-ea"/>
                        </a:rPr>
                        <a:t>スナップ</a:t>
                      </a:r>
                      <a:r>
                        <a:rPr kumimoji="1" lang="en-US" altLang="ja-JP" sz="1200" dirty="0">
                          <a:latin typeface="+mn-ea"/>
                          <a:ea typeface="+mn-ea"/>
                        </a:rPr>
                        <a:t>/</a:t>
                      </a:r>
                      <a:r>
                        <a:rPr kumimoji="1" lang="ja-JP" altLang="en-US" sz="1200" dirty="0">
                          <a:latin typeface="+mn-ea"/>
                          <a:ea typeface="+mn-ea"/>
                        </a:rPr>
                        <a:t>ヒストリー）</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データ定義リスト</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加工の方法（</a:t>
                      </a:r>
                      <a:r>
                        <a:rPr kumimoji="1" lang="en-US" altLang="ja-JP" sz="1200" dirty="0">
                          <a:latin typeface="+mn-ea"/>
                          <a:ea typeface="+mn-ea"/>
                        </a:rPr>
                        <a:t>AVE,</a:t>
                      </a:r>
                      <a:r>
                        <a:rPr kumimoji="1" lang="ja-JP" altLang="en-US" sz="1200" dirty="0">
                          <a:latin typeface="+mn-ea"/>
                          <a:ea typeface="+mn-ea"/>
                        </a:rPr>
                        <a:t> </a:t>
                      </a:r>
                      <a:r>
                        <a:rPr kumimoji="1" lang="en-US" altLang="ja-JP" sz="1200" dirty="0">
                          <a:latin typeface="+mn-ea"/>
                          <a:ea typeface="+mn-ea"/>
                        </a:rPr>
                        <a:t>MAX</a:t>
                      </a:r>
                      <a:r>
                        <a:rPr kumimoji="1" lang="ja-JP" altLang="en-US" sz="1200" dirty="0">
                          <a:latin typeface="+mn-ea"/>
                          <a:ea typeface="+mn-ea"/>
                        </a:rPr>
                        <a:t>、）</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加工開始／終了条件</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データサンプリング周期</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集計条件</a:t>
                      </a:r>
                      <a:endParaRPr kumimoji="1" lang="en-US" altLang="ja-JP" sz="1200" dirty="0">
                        <a:latin typeface="+mn-ea"/>
                        <a:ea typeface="+mn-ea"/>
                      </a:endParaRPr>
                    </a:p>
                  </a:txBody>
                  <a:tcPr/>
                </a:tc>
                <a:extLst>
                  <a:ext uri="{0D108BD9-81ED-4DB2-BD59-A6C34878D82A}">
                    <a16:rowId xmlns:a16="http://schemas.microsoft.com/office/drawing/2014/main" val="2527962166"/>
                  </a:ext>
                </a:extLst>
              </a:tr>
              <a:tr h="370840">
                <a:tc>
                  <a:txBody>
                    <a:bodyPr/>
                    <a:lstStyle/>
                    <a:p>
                      <a:r>
                        <a:rPr kumimoji="1" lang="ja-JP" altLang="en-US" sz="1400" b="1" dirty="0">
                          <a:solidFill>
                            <a:srgbClr val="C00000"/>
                          </a:solidFill>
                          <a:latin typeface="+mn-ea"/>
                          <a:ea typeface="+mn-ea"/>
                        </a:rPr>
                        <a:t>送信定義</a:t>
                      </a:r>
                    </a:p>
                  </a:txBody>
                  <a:tcPr/>
                </a:tc>
                <a:tc>
                  <a:txBody>
                    <a:bodyPr/>
                    <a:lstStyle/>
                    <a:p>
                      <a:pPr marL="92075" indent="-92075">
                        <a:buFont typeface="Arial" panose="020B0604020202020204" pitchFamily="34" charset="0"/>
                        <a:buChar char="•"/>
                      </a:pPr>
                      <a:r>
                        <a:rPr kumimoji="1" lang="ja-JP" altLang="en-US" sz="1200" dirty="0">
                          <a:latin typeface="+mn-ea"/>
                          <a:ea typeface="+mn-ea"/>
                        </a:rPr>
                        <a:t>送信ﾀｲﾐﾝｸﾞ（定期、イベント条件）</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送信先</a:t>
                      </a:r>
                      <a:endParaRPr kumimoji="1" lang="en-US" altLang="ja-JP" sz="1200" dirty="0">
                        <a:latin typeface="+mn-ea"/>
                        <a:ea typeface="+mn-ea"/>
                      </a:endParaRPr>
                    </a:p>
                    <a:p>
                      <a:pPr marL="92075" indent="-92075">
                        <a:buFont typeface="Arial" panose="020B0604020202020204" pitchFamily="34" charset="0"/>
                        <a:buChar char="•"/>
                      </a:pPr>
                      <a:r>
                        <a:rPr kumimoji="1" lang="ja-JP" altLang="en-US" sz="1200" dirty="0">
                          <a:latin typeface="+mn-ea"/>
                          <a:ea typeface="+mn-ea"/>
                        </a:rPr>
                        <a:t>送信経路（</a:t>
                      </a:r>
                      <a:r>
                        <a:rPr kumimoji="1" lang="en-US" altLang="ja-JP" sz="1200" dirty="0">
                          <a:latin typeface="+mn-ea"/>
                          <a:ea typeface="+mn-ea"/>
                        </a:rPr>
                        <a:t>HTTP,SMS)</a:t>
                      </a:r>
                      <a:endParaRPr kumimoji="1" lang="ja-JP" altLang="en-US" sz="1200" dirty="0">
                        <a:latin typeface="+mn-ea"/>
                        <a:ea typeface="+mn-ea"/>
                      </a:endParaRPr>
                    </a:p>
                  </a:txBody>
                  <a:tcPr/>
                </a:tc>
                <a:extLst>
                  <a:ext uri="{0D108BD9-81ED-4DB2-BD59-A6C34878D82A}">
                    <a16:rowId xmlns:a16="http://schemas.microsoft.com/office/drawing/2014/main" val="3950241309"/>
                  </a:ext>
                </a:extLst>
              </a:tr>
              <a:tr h="370840">
                <a:tc>
                  <a:txBody>
                    <a:bodyPr/>
                    <a:lstStyle/>
                    <a:p>
                      <a:r>
                        <a:rPr kumimoji="1" lang="ja-JP" altLang="en-US" sz="1400" b="1" dirty="0">
                          <a:solidFill>
                            <a:srgbClr val="C00000"/>
                          </a:solidFill>
                          <a:latin typeface="+mn-ea"/>
                          <a:ea typeface="+mn-ea"/>
                        </a:rPr>
                        <a:t>条件定義</a:t>
                      </a:r>
                    </a:p>
                  </a:txBody>
                  <a:tcPr/>
                </a:tc>
                <a:tc>
                  <a:txBody>
                    <a:bodyPr/>
                    <a:lstStyle/>
                    <a:p>
                      <a:pPr marL="92075" indent="-92075">
                        <a:buFont typeface="Arial" panose="020B0604020202020204" pitchFamily="34" charset="0"/>
                        <a:buChar char="•"/>
                      </a:pPr>
                      <a:r>
                        <a:rPr kumimoji="1" lang="ja-JP" altLang="en-US" sz="1200" dirty="0">
                          <a:latin typeface="+mn-ea"/>
                          <a:ea typeface="+mn-ea"/>
                        </a:rPr>
                        <a:t>集計に使われる条件関数定義</a:t>
                      </a:r>
                    </a:p>
                  </a:txBody>
                  <a:tcPr/>
                </a:tc>
                <a:extLst>
                  <a:ext uri="{0D108BD9-81ED-4DB2-BD59-A6C34878D82A}">
                    <a16:rowId xmlns:a16="http://schemas.microsoft.com/office/drawing/2014/main" val="4267828496"/>
                  </a:ext>
                </a:extLst>
              </a:tr>
            </a:tbl>
          </a:graphicData>
        </a:graphic>
      </p:graphicFrame>
      <p:cxnSp>
        <p:nvCxnSpPr>
          <p:cNvPr id="26" name="直線コネクタ 25">
            <a:extLst>
              <a:ext uri="{FF2B5EF4-FFF2-40B4-BE49-F238E27FC236}">
                <a16:creationId xmlns:a16="http://schemas.microsoft.com/office/drawing/2014/main" id="{BB5932A4-FD80-4745-803D-4B35E73C61C9}"/>
              </a:ext>
            </a:extLst>
          </p:cNvPr>
          <p:cNvCxnSpPr>
            <a:cxnSpLocks/>
            <a:stCxn id="7" idx="1"/>
            <a:endCxn id="18" idx="3"/>
          </p:cNvCxnSpPr>
          <p:nvPr/>
        </p:nvCxnSpPr>
        <p:spPr>
          <a:xfrm flipH="1" flipV="1">
            <a:off x="915654" y="4671650"/>
            <a:ext cx="867807" cy="508542"/>
          </a:xfrm>
          <a:prstGeom prst="line">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E6E396F7-2C82-444D-B44C-3F4002175750}"/>
              </a:ext>
            </a:extLst>
          </p:cNvPr>
          <p:cNvCxnSpPr>
            <a:cxnSpLocks/>
            <a:stCxn id="7" idx="1"/>
            <a:endCxn id="21" idx="3"/>
          </p:cNvCxnSpPr>
          <p:nvPr/>
        </p:nvCxnSpPr>
        <p:spPr>
          <a:xfrm flipH="1">
            <a:off x="915654" y="5180192"/>
            <a:ext cx="867807" cy="369570"/>
          </a:xfrm>
          <a:prstGeom prst="line">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6F2EAD11-3040-443F-B8A2-39B4CECFD940}"/>
              </a:ext>
            </a:extLst>
          </p:cNvPr>
          <p:cNvSpPr txBox="1"/>
          <p:nvPr/>
        </p:nvSpPr>
        <p:spPr>
          <a:xfrm>
            <a:off x="44037" y="631131"/>
            <a:ext cx="8895426" cy="307777"/>
          </a:xfrm>
          <a:prstGeom prst="rect">
            <a:avLst/>
          </a:prstGeom>
          <a:noFill/>
        </p:spPr>
        <p:txBody>
          <a:bodyPr wrap="square" rtlCol="0">
            <a:spAutoFit/>
          </a:bodyPr>
          <a:lstStyle/>
          <a:p>
            <a:pPr defTabSz="90000"/>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カスタマイズデータ（</a:t>
            </a:r>
            <a:r>
              <a:rPr kumimoji="1" lang="en-US" altLang="ja-JP" sz="1400" b="1" dirty="0" err="1">
                <a:solidFill>
                  <a:prstClr val="black"/>
                </a:solidFill>
                <a:latin typeface="Meiryo UI" panose="020B0604030504040204" pitchFamily="50" charset="-128"/>
                <a:ea typeface="Meiryo UI" panose="020B0604030504040204" pitchFamily="50" charset="-128"/>
                <a:cs typeface="Meiryo UI" panose="020B0604030504040204" pitchFamily="50" charset="-128"/>
              </a:rPr>
              <a:t>KICSi</a:t>
            </a:r>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詳細データ）関連用語</a:t>
            </a:r>
            <a:endParaRPr kumimoji="1" lang="en-US" altLang="ja-JP"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24" name="表 23">
            <a:extLst>
              <a:ext uri="{FF2B5EF4-FFF2-40B4-BE49-F238E27FC236}">
                <a16:creationId xmlns:a16="http://schemas.microsoft.com/office/drawing/2014/main" id="{E2EF64B9-69BF-423A-A962-3B8DAE3588D4}"/>
              </a:ext>
            </a:extLst>
          </p:cNvPr>
          <p:cNvGraphicFramePr>
            <a:graphicFrameLocks noGrp="1"/>
          </p:cNvGraphicFramePr>
          <p:nvPr/>
        </p:nvGraphicFramePr>
        <p:xfrm>
          <a:off x="44037" y="1062229"/>
          <a:ext cx="9099963" cy="1743115"/>
        </p:xfrm>
        <a:graphic>
          <a:graphicData uri="http://schemas.openxmlformats.org/drawingml/2006/table">
            <a:tbl>
              <a:tblPr firstRow="1" bandRow="1">
                <a:tableStyleId>{5C22544A-7EE6-4342-B048-85BDC9FD1C3A}</a:tableStyleId>
              </a:tblPr>
              <a:tblGrid>
                <a:gridCol w="1651598">
                  <a:extLst>
                    <a:ext uri="{9D8B030D-6E8A-4147-A177-3AD203B41FA5}">
                      <a16:colId xmlns:a16="http://schemas.microsoft.com/office/drawing/2014/main" val="2865506366"/>
                    </a:ext>
                  </a:extLst>
                </a:gridCol>
                <a:gridCol w="7448365">
                  <a:extLst>
                    <a:ext uri="{9D8B030D-6E8A-4147-A177-3AD203B41FA5}">
                      <a16:colId xmlns:a16="http://schemas.microsoft.com/office/drawing/2014/main" val="107946087"/>
                    </a:ext>
                  </a:extLst>
                </a:gridCol>
              </a:tblGrid>
              <a:tr h="330606">
                <a:tc>
                  <a:txBody>
                    <a:bodyPr/>
                    <a:lstStyle/>
                    <a:p>
                      <a:r>
                        <a:rPr kumimoji="1" lang="ja-JP" altLang="en-US" sz="1400" dirty="0"/>
                        <a:t>用語</a:t>
                      </a:r>
                    </a:p>
                  </a:txBody>
                  <a:tcPr>
                    <a:solidFill>
                      <a:srgbClr val="140A9A"/>
                    </a:solidFill>
                  </a:tcPr>
                </a:tc>
                <a:tc>
                  <a:txBody>
                    <a:bodyPr/>
                    <a:lstStyle/>
                    <a:p>
                      <a:r>
                        <a:rPr kumimoji="1" lang="ja-JP" altLang="en-US" sz="1400" dirty="0"/>
                        <a:t>説明</a:t>
                      </a:r>
                    </a:p>
                  </a:txBody>
                  <a:tcPr>
                    <a:solidFill>
                      <a:srgbClr val="140A9A"/>
                    </a:solidFill>
                  </a:tcPr>
                </a:tc>
                <a:extLst>
                  <a:ext uri="{0D108BD9-81ED-4DB2-BD59-A6C34878D82A}">
                    <a16:rowId xmlns:a16="http://schemas.microsoft.com/office/drawing/2014/main" val="3482145317"/>
                  </a:ext>
                </a:extLst>
              </a:tr>
              <a:tr h="361775">
                <a:tc>
                  <a:txBody>
                    <a:bodyPr/>
                    <a:lstStyle/>
                    <a:p>
                      <a:r>
                        <a:rPr lang="ja-JP" altLang="en-US" sz="1400" b="1" dirty="0"/>
                        <a:t>カスタマイズ定義</a:t>
                      </a:r>
                    </a:p>
                  </a:txBody>
                  <a:tcPr>
                    <a:solidFill>
                      <a:schemeClr val="tx1">
                        <a:lumMod val="10000"/>
                        <a:lumOff val="90000"/>
                      </a:schemeClr>
                    </a:solidFill>
                  </a:tcPr>
                </a:tc>
                <a:tc>
                  <a:txBody>
                    <a:bodyPr/>
                    <a:lstStyle/>
                    <a:p>
                      <a:pPr defTabSz="90000"/>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車体から取得するデータの項目</a:t>
                      </a: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粒度</a:t>
                      </a: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送信頻度の定義。</a:t>
                      </a:r>
                      <a:r>
                        <a:rPr kumimoji="1" lang="en-US" altLang="ja-JP" sz="1200" b="0" i="0" u="none" strike="noStrike" kern="1200" cap="none" spc="0" normalizeH="0" baseline="0" noProof="0" dirty="0" err="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KICSi</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端末搭載車両に対して定義できる。</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tx1">
                        <a:lumMod val="10000"/>
                        <a:lumOff val="90000"/>
                      </a:schemeClr>
                    </a:solidFill>
                  </a:tcPr>
                </a:tc>
                <a:extLst>
                  <a:ext uri="{0D108BD9-81ED-4DB2-BD59-A6C34878D82A}">
                    <a16:rowId xmlns:a16="http://schemas.microsoft.com/office/drawing/2014/main" val="621631759"/>
                  </a:ext>
                </a:extLst>
              </a:tr>
              <a:tr h="499995">
                <a:tc>
                  <a:txBody>
                    <a:bodyPr/>
                    <a:lstStyle/>
                    <a:p>
                      <a:pPr defTabSz="90000"/>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カスタマイズ設定</a:t>
                      </a:r>
                      <a:endPar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bg1">
                        <a:lumMod val="95000"/>
                      </a:schemeClr>
                    </a:solidFill>
                  </a:tcPr>
                </a:tc>
                <a:tc>
                  <a:txBody>
                    <a:bodyPr/>
                    <a:lstStyle/>
                    <a:p>
                      <a:pPr marL="0" indent="0">
                        <a:buFont typeface="+mj-lt"/>
                        <a:buNone/>
                      </a:pPr>
                      <a:r>
                        <a:rPr kumimoji="1" lang="ja-JP" altLang="en-US" sz="1200" dirty="0"/>
                        <a:t>車体に対してカスタマイズ定義を設定すること。</a:t>
                      </a:r>
                      <a:endParaRPr kumimoji="1" lang="en-US" altLang="ja-JP" sz="1200" dirty="0"/>
                    </a:p>
                    <a:p>
                      <a:pPr marL="0" indent="0">
                        <a:buFont typeface="+mj-lt"/>
                        <a:buNone/>
                      </a:pPr>
                      <a:r>
                        <a:rPr kumimoji="1" lang="ja-JP" altLang="en-US" sz="1200" dirty="0"/>
                        <a:t>カスタマイズ設定がなされた車両では、そのカスタマイズ定義で定められたデータが端末内で記録される。</a:t>
                      </a:r>
                    </a:p>
                  </a:txBody>
                  <a:tcPr>
                    <a:solidFill>
                      <a:schemeClr val="bg1">
                        <a:lumMod val="95000"/>
                      </a:schemeClr>
                    </a:solidFill>
                  </a:tcPr>
                </a:tc>
                <a:extLst>
                  <a:ext uri="{0D108BD9-81ED-4DB2-BD59-A6C34878D82A}">
                    <a16:rowId xmlns:a16="http://schemas.microsoft.com/office/drawing/2014/main" val="3178031425"/>
                  </a:ext>
                </a:extLst>
              </a:tr>
              <a:tr h="550739">
                <a:tc>
                  <a:txBody>
                    <a:bodyPr/>
                    <a:lstStyle/>
                    <a:p>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カスタマイズデータ</a:t>
                      </a:r>
                      <a:endParaRPr lang="ja-JP" altLang="en-US" sz="1400" b="1" dirty="0"/>
                    </a:p>
                  </a:txBody>
                  <a:tcPr>
                    <a:solidFill>
                      <a:schemeClr val="tx1">
                        <a:lumMod val="10000"/>
                        <a:lumOff val="90000"/>
                      </a:schemeClr>
                    </a:solidFill>
                  </a:tcPr>
                </a:tc>
                <a:tc>
                  <a:txBody>
                    <a:bodyPr/>
                    <a:lstStyle/>
                    <a:p>
                      <a:pPr marL="0" indent="0">
                        <a:buFont typeface="+mj-lt"/>
                        <a:buNone/>
                      </a:pPr>
                      <a:r>
                        <a:rPr kumimoji="1" lang="ja-JP" altLang="en-US" sz="1200" dirty="0"/>
                        <a:t>カスタマイズ定義に基づいて記録されたデータのこと。</a:t>
                      </a:r>
                    </a:p>
                  </a:txBody>
                  <a:tcPr>
                    <a:solidFill>
                      <a:schemeClr val="tx1">
                        <a:lumMod val="10000"/>
                        <a:lumOff val="90000"/>
                      </a:schemeClr>
                    </a:solidFill>
                  </a:tcPr>
                </a:tc>
                <a:extLst>
                  <a:ext uri="{0D108BD9-81ED-4DB2-BD59-A6C34878D82A}">
                    <a16:rowId xmlns:a16="http://schemas.microsoft.com/office/drawing/2014/main" val="3346521449"/>
                  </a:ext>
                </a:extLst>
              </a:tr>
            </a:tbl>
          </a:graphicData>
        </a:graphic>
      </p:graphicFrame>
      <p:sp>
        <p:nvSpPr>
          <p:cNvPr id="10" name="テキスト ボックス 9">
            <a:extLst>
              <a:ext uri="{FF2B5EF4-FFF2-40B4-BE49-F238E27FC236}">
                <a16:creationId xmlns:a16="http://schemas.microsoft.com/office/drawing/2014/main" id="{1369F974-A64B-442D-9BAE-902A0F312258}"/>
              </a:ext>
            </a:extLst>
          </p:cNvPr>
          <p:cNvSpPr txBox="1"/>
          <p:nvPr/>
        </p:nvSpPr>
        <p:spPr>
          <a:xfrm>
            <a:off x="44037" y="2867145"/>
            <a:ext cx="4670006" cy="954107"/>
          </a:xfrm>
          <a:prstGeom prst="rect">
            <a:avLst/>
          </a:prstGeom>
          <a:noFill/>
        </p:spPr>
        <p:txBody>
          <a:bodyPr wrap="square" rtlCol="0">
            <a:spAutoFit/>
          </a:bodyPr>
          <a:lstStyle/>
          <a:p>
            <a:pPr algn="l" defTabSz="90000"/>
            <a:r>
              <a:rPr kumimoji="1" lang="ja-JP" altLang="en-US" sz="1400" b="1" dirty="0">
                <a:latin typeface="+mn-lt"/>
              </a:rPr>
              <a:t>カスタマイズ定義</a:t>
            </a:r>
            <a:r>
              <a:rPr kumimoji="1" lang="ja-JP" altLang="en-US" sz="1400" dirty="0">
                <a:latin typeface="+mn-lt"/>
              </a:rPr>
              <a:t>内で</a:t>
            </a:r>
            <a:r>
              <a:rPr kumimoji="1" lang="ja-JP" altLang="en-US" sz="1400" b="1" dirty="0">
                <a:latin typeface="+mn-lt"/>
              </a:rPr>
              <a:t>加工条件</a:t>
            </a:r>
            <a:r>
              <a:rPr kumimoji="1" lang="ja-JP" altLang="en-US" sz="1400" dirty="0">
                <a:latin typeface="+mn-lt"/>
              </a:rPr>
              <a:t>や</a:t>
            </a:r>
            <a:r>
              <a:rPr kumimoji="1" lang="ja-JP" altLang="en-US" sz="1400" b="1" dirty="0">
                <a:latin typeface="+mn-lt"/>
              </a:rPr>
              <a:t>送信条件</a:t>
            </a:r>
            <a:r>
              <a:rPr kumimoji="1" lang="ja-JP" altLang="en-US" sz="1400" dirty="0">
                <a:latin typeface="+mn-lt"/>
              </a:rPr>
              <a:t>を定義することで、</a:t>
            </a:r>
            <a:endParaRPr kumimoji="1" lang="en-US" altLang="ja-JP" sz="1400" dirty="0">
              <a:latin typeface="+mn-lt"/>
            </a:endParaRPr>
          </a:p>
          <a:p>
            <a:pPr algn="l" defTabSz="90000"/>
            <a:r>
              <a:rPr kumimoji="1" lang="ja-JP" altLang="en-US" sz="1400" dirty="0">
                <a:latin typeface="+mn-lt"/>
              </a:rPr>
              <a:t>複数のセンサデータを組み合わせて加工したり、</a:t>
            </a:r>
            <a:endParaRPr kumimoji="1" lang="en-US" altLang="ja-JP" sz="1400" dirty="0">
              <a:latin typeface="+mn-lt"/>
            </a:endParaRPr>
          </a:p>
          <a:p>
            <a:pPr algn="l" defTabSz="90000"/>
            <a:r>
              <a:rPr kumimoji="1" lang="ja-JP" altLang="en-US" sz="1400" dirty="0">
                <a:latin typeface="+mn-lt"/>
              </a:rPr>
              <a:t>送信タイミングを任意に定めることが可能であり、</a:t>
            </a:r>
            <a:endParaRPr kumimoji="1" lang="en-US" altLang="ja-JP" sz="1400" dirty="0">
              <a:latin typeface="+mn-lt"/>
            </a:endParaRPr>
          </a:p>
          <a:p>
            <a:pPr algn="l" defTabSz="90000"/>
            <a:r>
              <a:rPr kumimoji="1" lang="ja-JP" altLang="en-US" sz="1400" dirty="0">
                <a:latin typeface="+mn-lt"/>
              </a:rPr>
              <a:t>設定に従って</a:t>
            </a:r>
            <a:r>
              <a:rPr kumimoji="1" lang="ja-JP" altLang="en-US" sz="1400" b="1" dirty="0">
                <a:latin typeface="+mn-lt"/>
              </a:rPr>
              <a:t>カスタマイズデータ</a:t>
            </a:r>
            <a:r>
              <a:rPr kumimoji="1" lang="ja-JP" altLang="en-US" sz="1400" dirty="0">
                <a:latin typeface="+mn-lt"/>
              </a:rPr>
              <a:t>を得ることができる。</a:t>
            </a:r>
            <a:endParaRPr kumimoji="1" lang="en-US" altLang="ja-JP" sz="1400" dirty="0">
              <a:latin typeface="+mn-lt"/>
            </a:endParaRPr>
          </a:p>
        </p:txBody>
      </p:sp>
      <p:sp>
        <p:nvSpPr>
          <p:cNvPr id="25" name="テキスト ボックス 24">
            <a:extLst>
              <a:ext uri="{FF2B5EF4-FFF2-40B4-BE49-F238E27FC236}">
                <a16:creationId xmlns:a16="http://schemas.microsoft.com/office/drawing/2014/main" id="{1BFCDFE9-534D-484E-B0C6-E27EA85C273D}"/>
              </a:ext>
            </a:extLst>
          </p:cNvPr>
          <p:cNvSpPr txBox="1"/>
          <p:nvPr/>
        </p:nvSpPr>
        <p:spPr>
          <a:xfrm>
            <a:off x="5548895" y="2867145"/>
            <a:ext cx="3551068" cy="523220"/>
          </a:xfrm>
          <a:prstGeom prst="rect">
            <a:avLst/>
          </a:prstGeom>
          <a:noFill/>
        </p:spPr>
        <p:txBody>
          <a:bodyPr wrap="square" rtlCol="0">
            <a:spAutoFit/>
          </a:bodyPr>
          <a:lstStyle/>
          <a:p>
            <a:pPr algn="l" defTabSz="90000"/>
            <a:r>
              <a:rPr kumimoji="1" lang="en-US" altLang="ja-JP" sz="1400" dirty="0">
                <a:latin typeface="+mn-lt"/>
              </a:rPr>
              <a:t>※</a:t>
            </a:r>
            <a:r>
              <a:rPr kumimoji="1" lang="ja-JP" altLang="en-US" sz="1400" dirty="0">
                <a:latin typeface="+mn-lt"/>
              </a:rPr>
              <a:t>従来の</a:t>
            </a:r>
            <a:r>
              <a:rPr kumimoji="1" lang="en-US" altLang="ja-JP" sz="1400" dirty="0">
                <a:latin typeface="+mn-lt"/>
              </a:rPr>
              <a:t>KOMTRAX</a:t>
            </a:r>
            <a:r>
              <a:rPr kumimoji="1" lang="ja-JP" altLang="en-US" sz="1400" dirty="0">
                <a:latin typeface="+mn-lt"/>
              </a:rPr>
              <a:t>端末では、定められたフォーマットでのデータ送信しかおこなえなかった。</a:t>
            </a:r>
            <a:endParaRPr kumimoji="1" lang="en-US" altLang="ja-JP" sz="1400" dirty="0">
              <a:latin typeface="+mn-lt"/>
            </a:endParaRPr>
          </a:p>
        </p:txBody>
      </p:sp>
      <p:sp>
        <p:nvSpPr>
          <p:cNvPr id="27" name="正方形/長方形 26">
            <a:extLst>
              <a:ext uri="{FF2B5EF4-FFF2-40B4-BE49-F238E27FC236}">
                <a16:creationId xmlns:a16="http://schemas.microsoft.com/office/drawing/2014/main" id="{033EAC11-6368-453C-A3C9-72514DA98D34}"/>
              </a:ext>
            </a:extLst>
          </p:cNvPr>
          <p:cNvSpPr/>
          <p:nvPr/>
        </p:nvSpPr>
        <p:spPr>
          <a:xfrm>
            <a:off x="4250966" y="81735"/>
            <a:ext cx="4725374" cy="3917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dirty="0"/>
              <a:t>ビジネスアプリ対応開発全体＜</a:t>
            </a:r>
            <a:r>
              <a:rPr kumimoji="1" lang="en-US" altLang="ja-JP" dirty="0"/>
              <a:t>E</a:t>
            </a:r>
            <a:r>
              <a:rPr kumimoji="1" lang="ja-JP" altLang="en-US" dirty="0"/>
              <a:t>＞資料抜粋</a:t>
            </a:r>
          </a:p>
        </p:txBody>
      </p:sp>
    </p:spTree>
    <p:extLst>
      <p:ext uri="{BB962C8B-B14F-4D97-AF65-F5344CB8AC3E}">
        <p14:creationId xmlns:p14="http://schemas.microsoft.com/office/powerpoint/2010/main" val="3097655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E615-BA40-451A-98CC-557515ADE58C}"/>
              </a:ext>
            </a:extLst>
          </p:cNvPr>
          <p:cNvSpPr>
            <a:spLocks noGrp="1"/>
          </p:cNvSpPr>
          <p:nvPr>
            <p:ph type="title"/>
          </p:nvPr>
        </p:nvSpPr>
        <p:spPr/>
        <p:txBody>
          <a:bodyPr/>
          <a:lstStyle/>
          <a:p>
            <a:pPr fontAlgn="auto">
              <a:spcAft>
                <a:spcPts val="0"/>
              </a:spcAft>
            </a:pPr>
            <a:r>
              <a:rPr lang="ja-JP" altLang="en-US" dirty="0"/>
              <a:t>１．開発の背景と要求仕様</a:t>
            </a:r>
          </a:p>
        </p:txBody>
      </p:sp>
      <p:sp>
        <p:nvSpPr>
          <p:cNvPr id="3" name="テキスト ボックス 2">
            <a:extLst>
              <a:ext uri="{FF2B5EF4-FFF2-40B4-BE49-F238E27FC236}">
                <a16:creationId xmlns:a16="http://schemas.microsoft.com/office/drawing/2014/main" id="{6F2EAD11-3040-443F-B8A2-39B4CECFD940}"/>
              </a:ext>
            </a:extLst>
          </p:cNvPr>
          <p:cNvSpPr txBox="1"/>
          <p:nvPr/>
        </p:nvSpPr>
        <p:spPr>
          <a:xfrm>
            <a:off x="44037" y="631131"/>
            <a:ext cx="8895426" cy="307777"/>
          </a:xfrm>
          <a:prstGeom prst="rect">
            <a:avLst/>
          </a:prstGeom>
          <a:noFill/>
        </p:spPr>
        <p:txBody>
          <a:bodyPr wrap="square" rtlCol="0">
            <a:spAutoFit/>
          </a:bodyPr>
          <a:lstStyle/>
          <a:p>
            <a:pPr defTabSz="90000"/>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カスタマイズデータ（</a:t>
            </a:r>
            <a:r>
              <a:rPr kumimoji="1" lang="en-US" altLang="ja-JP" sz="1400" b="1" dirty="0" err="1">
                <a:solidFill>
                  <a:prstClr val="black"/>
                </a:solidFill>
                <a:latin typeface="Meiryo UI" panose="020B0604030504040204" pitchFamily="50" charset="-128"/>
                <a:ea typeface="Meiryo UI" panose="020B0604030504040204" pitchFamily="50" charset="-128"/>
                <a:cs typeface="Meiryo UI" panose="020B0604030504040204" pitchFamily="50" charset="-128"/>
              </a:rPr>
              <a:t>KICSi</a:t>
            </a:r>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詳細データ）関連用語</a:t>
            </a:r>
            <a:endParaRPr kumimoji="1" lang="en-US" altLang="ja-JP"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24" name="表 23">
            <a:extLst>
              <a:ext uri="{FF2B5EF4-FFF2-40B4-BE49-F238E27FC236}">
                <a16:creationId xmlns:a16="http://schemas.microsoft.com/office/drawing/2014/main" id="{E2EF64B9-69BF-423A-A962-3B8DAE3588D4}"/>
              </a:ext>
            </a:extLst>
          </p:cNvPr>
          <p:cNvGraphicFramePr>
            <a:graphicFrameLocks noGrp="1"/>
          </p:cNvGraphicFramePr>
          <p:nvPr>
            <p:extLst>
              <p:ext uri="{D42A27DB-BD31-4B8C-83A1-F6EECF244321}">
                <p14:modId xmlns:p14="http://schemas.microsoft.com/office/powerpoint/2010/main" val="283206557"/>
              </p:ext>
            </p:extLst>
          </p:nvPr>
        </p:nvGraphicFramePr>
        <p:xfrm>
          <a:off x="73404" y="948952"/>
          <a:ext cx="9099963" cy="2293854"/>
        </p:xfrm>
        <a:graphic>
          <a:graphicData uri="http://schemas.openxmlformats.org/drawingml/2006/table">
            <a:tbl>
              <a:tblPr firstRow="1" bandRow="1">
                <a:tableStyleId>{5C22544A-7EE6-4342-B048-85BDC9FD1C3A}</a:tableStyleId>
              </a:tblPr>
              <a:tblGrid>
                <a:gridCol w="1876203">
                  <a:extLst>
                    <a:ext uri="{9D8B030D-6E8A-4147-A177-3AD203B41FA5}">
                      <a16:colId xmlns:a16="http://schemas.microsoft.com/office/drawing/2014/main" val="2865506366"/>
                    </a:ext>
                  </a:extLst>
                </a:gridCol>
                <a:gridCol w="7223760">
                  <a:extLst>
                    <a:ext uri="{9D8B030D-6E8A-4147-A177-3AD203B41FA5}">
                      <a16:colId xmlns:a16="http://schemas.microsoft.com/office/drawing/2014/main" val="107946087"/>
                    </a:ext>
                  </a:extLst>
                </a:gridCol>
              </a:tblGrid>
              <a:tr h="330606">
                <a:tc>
                  <a:txBody>
                    <a:bodyPr/>
                    <a:lstStyle/>
                    <a:p>
                      <a:r>
                        <a:rPr kumimoji="1" lang="ja-JP" altLang="en-US" sz="1400" dirty="0"/>
                        <a:t>用語</a:t>
                      </a:r>
                    </a:p>
                  </a:txBody>
                  <a:tcPr>
                    <a:solidFill>
                      <a:srgbClr val="140A9A"/>
                    </a:solidFill>
                  </a:tcPr>
                </a:tc>
                <a:tc>
                  <a:txBody>
                    <a:bodyPr/>
                    <a:lstStyle/>
                    <a:p>
                      <a:r>
                        <a:rPr kumimoji="1" lang="ja-JP" altLang="en-US" sz="1400" dirty="0"/>
                        <a:t>説明</a:t>
                      </a:r>
                    </a:p>
                  </a:txBody>
                  <a:tcPr>
                    <a:solidFill>
                      <a:srgbClr val="140A9A"/>
                    </a:solidFill>
                  </a:tcPr>
                </a:tc>
                <a:extLst>
                  <a:ext uri="{0D108BD9-81ED-4DB2-BD59-A6C34878D82A}">
                    <a16:rowId xmlns:a16="http://schemas.microsoft.com/office/drawing/2014/main" val="3482145317"/>
                  </a:ext>
                </a:extLst>
              </a:tr>
              <a:tr h="361775">
                <a:tc>
                  <a:txBody>
                    <a:bodyPr/>
                    <a:lstStyle/>
                    <a:p>
                      <a:r>
                        <a:rPr lang="ja-JP" altLang="en-US" sz="1400" b="1" dirty="0"/>
                        <a:t>カスタマイズ用途定義</a:t>
                      </a:r>
                    </a:p>
                  </a:txBody>
                  <a:tcPr>
                    <a:solidFill>
                      <a:schemeClr val="tx1">
                        <a:lumMod val="10000"/>
                        <a:lumOff val="90000"/>
                      </a:schemeClr>
                    </a:solidFill>
                  </a:tcPr>
                </a:tc>
                <a:tc>
                  <a:txBody>
                    <a:bodyPr/>
                    <a:lstStyle/>
                    <a:p>
                      <a:pPr defTabSz="90000"/>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使用目的ごとにカスタマイズ定義を束ねたもの。本開発ではカスタマイズ用途定義単位で車両への設定を行う。</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tx1">
                        <a:lumMod val="10000"/>
                        <a:lumOff val="90000"/>
                      </a:schemeClr>
                    </a:solidFill>
                  </a:tcPr>
                </a:tc>
                <a:extLst>
                  <a:ext uri="{0D108BD9-81ED-4DB2-BD59-A6C34878D82A}">
                    <a16:rowId xmlns:a16="http://schemas.microsoft.com/office/drawing/2014/main" val="621631759"/>
                  </a:ext>
                </a:extLst>
              </a:tr>
              <a:tr h="499995">
                <a:tc>
                  <a:txBody>
                    <a:bodyPr/>
                    <a:lstStyle/>
                    <a:p>
                      <a:pPr defTabSz="90000"/>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送信番号</a:t>
                      </a:r>
                      <a:endPar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bg1">
                        <a:lumMod val="95000"/>
                      </a:schemeClr>
                    </a:solidFill>
                  </a:tcPr>
                </a:tc>
                <a:tc>
                  <a:txBody>
                    <a:bodyPr/>
                    <a:lstStyle/>
                    <a:p>
                      <a:pPr marL="0" indent="0">
                        <a:buFont typeface="+mj-lt"/>
                        <a:buNone/>
                      </a:pPr>
                      <a:r>
                        <a:rPr kumimoji="1" lang="ja-JP" altLang="en-US" sz="1200" dirty="0"/>
                        <a:t>端末側でカスタマイズデータに付与される、カスタマイズデータの識別番号。カスタマイズデータの成形時に付与される。</a:t>
                      </a:r>
                      <a:endParaRPr kumimoji="1" lang="en-US" altLang="ja-JP" sz="1200" dirty="0"/>
                    </a:p>
                    <a:p>
                      <a:pPr marL="0" indent="0">
                        <a:buFont typeface="+mj-lt"/>
                        <a:buNone/>
                      </a:pPr>
                      <a:r>
                        <a:rPr kumimoji="1" lang="ja-JP" altLang="en-US" sz="1200" dirty="0"/>
                        <a:t>車両とサーバ間でのカスタマイズデータのやりとりはこの番号単位で行われる。</a:t>
                      </a:r>
                    </a:p>
                  </a:txBody>
                  <a:tcPr>
                    <a:solidFill>
                      <a:schemeClr val="bg1">
                        <a:lumMod val="95000"/>
                      </a:schemeClr>
                    </a:solidFill>
                  </a:tcPr>
                </a:tc>
                <a:extLst>
                  <a:ext uri="{0D108BD9-81ED-4DB2-BD59-A6C34878D82A}">
                    <a16:rowId xmlns:a16="http://schemas.microsoft.com/office/drawing/2014/main" val="3178031425"/>
                  </a:ext>
                </a:extLst>
              </a:tr>
              <a:tr h="550739">
                <a:tc>
                  <a:txBody>
                    <a:bodyPr/>
                    <a:lstStyle/>
                    <a:p>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要求</a:t>
                      </a:r>
                      <a:endParaRPr kumimoji="1" lang="en-US" altLang="ja-JP"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tx1">
                        <a:lumMod val="10000"/>
                        <a:lumOff val="90000"/>
                      </a:schemeClr>
                    </a:solidFill>
                  </a:tcPr>
                </a:tc>
                <a:tc>
                  <a:txBody>
                    <a:bodyPr/>
                    <a:lstStyle/>
                    <a:p>
                      <a:pPr marL="0" indent="0">
                        <a:buFont typeface="+mj-lt"/>
                        <a:buNone/>
                      </a:pPr>
                      <a:r>
                        <a:rPr kumimoji="1" lang="ja-JP" altLang="en-US" sz="1200" dirty="0"/>
                        <a:t>サーバから車両に対して、コマンドという形式で命令を送信すること。</a:t>
                      </a:r>
                      <a:endParaRPr kumimoji="1" lang="en-US" altLang="ja-JP" sz="1200" dirty="0"/>
                    </a:p>
                    <a:p>
                      <a:pPr marL="0" indent="0">
                        <a:buFont typeface="+mj-lt"/>
                        <a:buNone/>
                      </a:pPr>
                      <a:r>
                        <a:rPr kumimoji="1" lang="ja-JP" altLang="en-US" sz="1200" dirty="0"/>
                        <a:t>車両側は要求を受けて、送られてきた設定を反映させる、サーバへデータを送信する、などの応答をする。</a:t>
                      </a:r>
                      <a:endParaRPr kumimoji="1" lang="en-US" altLang="ja-JP" sz="1200" dirty="0"/>
                    </a:p>
                  </a:txBody>
                  <a:tcPr>
                    <a:solidFill>
                      <a:schemeClr val="tx1">
                        <a:lumMod val="10000"/>
                        <a:lumOff val="90000"/>
                      </a:schemeClr>
                    </a:solidFill>
                  </a:tcPr>
                </a:tc>
                <a:extLst>
                  <a:ext uri="{0D108BD9-81ED-4DB2-BD59-A6C34878D82A}">
                    <a16:rowId xmlns:a16="http://schemas.microsoft.com/office/drawing/2014/main" val="3346521449"/>
                  </a:ext>
                </a:extLst>
              </a:tr>
              <a:tr h="550739">
                <a:tc>
                  <a:txBody>
                    <a:bodyPr/>
                    <a:lstStyle/>
                    <a:p>
                      <a:r>
                        <a:rPr kumimoji="1" lang="ja-JP" altLang="en-US"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アクセスレベル</a:t>
                      </a:r>
                      <a:endParaRPr kumimoji="1" lang="en-US" altLang="ja-JP"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txBody>
                  <a:tcPr>
                    <a:solidFill>
                      <a:schemeClr val="tx1">
                        <a:lumMod val="10000"/>
                        <a:lumOff val="90000"/>
                      </a:schemeClr>
                    </a:solidFill>
                  </a:tcPr>
                </a:tc>
                <a:tc>
                  <a:txBody>
                    <a:bodyPr/>
                    <a:lstStyle/>
                    <a:p>
                      <a:pPr marL="0" indent="0">
                        <a:buFont typeface="+mj-lt"/>
                        <a:buNone/>
                      </a:pPr>
                      <a:r>
                        <a:rPr kumimoji="1" lang="ja-JP" altLang="en-US" sz="1200" dirty="0"/>
                        <a:t>カスタマイズ定義</a:t>
                      </a:r>
                      <a:r>
                        <a:rPr kumimoji="1" lang="en-US" altLang="ja-JP" sz="1200" dirty="0"/>
                        <a:t>/</a:t>
                      </a:r>
                      <a:r>
                        <a:rPr kumimoji="1" lang="ja-JP" altLang="en-US" sz="1200" dirty="0"/>
                        <a:t>データの参照可否を制限するための設定。</a:t>
                      </a:r>
                      <a:endParaRPr kumimoji="1" lang="en-US" altLang="ja-JP" sz="1200" dirty="0"/>
                    </a:p>
                    <a:p>
                      <a:pPr marL="0" indent="0">
                        <a:buFont typeface="+mj-lt"/>
                        <a:buNone/>
                      </a:pPr>
                      <a:r>
                        <a:rPr kumimoji="1" lang="ja-JP" altLang="en-US" sz="1200" dirty="0"/>
                        <a:t>各ユーザは、自身に付与されたアクセス権限によって参照や設定を行えるカスタマイズ定義が制限される。</a:t>
                      </a:r>
                      <a:endParaRPr kumimoji="1" lang="en-US" altLang="ja-JP" sz="1200" dirty="0"/>
                    </a:p>
                  </a:txBody>
                  <a:tcPr>
                    <a:solidFill>
                      <a:schemeClr val="tx1">
                        <a:lumMod val="10000"/>
                        <a:lumOff val="90000"/>
                      </a:schemeClr>
                    </a:solidFill>
                  </a:tcPr>
                </a:tc>
                <a:extLst>
                  <a:ext uri="{0D108BD9-81ED-4DB2-BD59-A6C34878D82A}">
                    <a16:rowId xmlns:a16="http://schemas.microsoft.com/office/drawing/2014/main" val="13161001"/>
                  </a:ext>
                </a:extLst>
              </a:tr>
            </a:tbl>
          </a:graphicData>
        </a:graphic>
      </p:graphicFrame>
      <p:sp>
        <p:nvSpPr>
          <p:cNvPr id="42" name="円柱 41">
            <a:extLst>
              <a:ext uri="{FF2B5EF4-FFF2-40B4-BE49-F238E27FC236}">
                <a16:creationId xmlns:a16="http://schemas.microsoft.com/office/drawing/2014/main" id="{FC113705-9786-4890-BDFA-A492EC5DE938}"/>
              </a:ext>
            </a:extLst>
          </p:cNvPr>
          <p:cNvSpPr/>
          <p:nvPr/>
        </p:nvSpPr>
        <p:spPr>
          <a:xfrm>
            <a:off x="96357" y="3302088"/>
            <a:ext cx="4104456" cy="1512168"/>
          </a:xfrm>
          <a:prstGeom prst="can">
            <a:avLst>
              <a:gd name="adj" fmla="val 11402"/>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00732A91-FFBC-423B-8E62-78CFAB665A46}"/>
              </a:ext>
            </a:extLst>
          </p:cNvPr>
          <p:cNvSpPr/>
          <p:nvPr/>
        </p:nvSpPr>
        <p:spPr>
          <a:xfrm>
            <a:off x="202740" y="3802886"/>
            <a:ext cx="3888432" cy="864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44" name="表 43">
            <a:extLst>
              <a:ext uri="{FF2B5EF4-FFF2-40B4-BE49-F238E27FC236}">
                <a16:creationId xmlns:a16="http://schemas.microsoft.com/office/drawing/2014/main" id="{B39EFAB7-FB1E-4C6D-B6A0-CBEED8CA579F}"/>
              </a:ext>
            </a:extLst>
          </p:cNvPr>
          <p:cNvGraphicFramePr>
            <a:graphicFrameLocks noGrp="1"/>
          </p:cNvGraphicFramePr>
          <p:nvPr>
            <p:extLst>
              <p:ext uri="{D42A27DB-BD31-4B8C-83A1-F6EECF244321}">
                <p14:modId xmlns:p14="http://schemas.microsoft.com/office/powerpoint/2010/main" val="3296849569"/>
              </p:ext>
            </p:extLst>
          </p:nvPr>
        </p:nvGraphicFramePr>
        <p:xfrm>
          <a:off x="204720" y="3809459"/>
          <a:ext cx="3888432" cy="864096"/>
        </p:xfrm>
        <a:graphic>
          <a:graphicData uri="http://schemas.openxmlformats.org/drawingml/2006/table">
            <a:tbl>
              <a:tblPr firstRow="1" bandRow="1">
                <a:tableStyleId>{5940675A-B579-460E-94D1-54222C63F5DA}</a:tableStyleId>
              </a:tblPr>
              <a:tblGrid>
                <a:gridCol w="1041718">
                  <a:extLst>
                    <a:ext uri="{9D8B030D-6E8A-4147-A177-3AD203B41FA5}">
                      <a16:colId xmlns:a16="http://schemas.microsoft.com/office/drawing/2014/main" val="319832954"/>
                    </a:ext>
                  </a:extLst>
                </a:gridCol>
                <a:gridCol w="1082167">
                  <a:extLst>
                    <a:ext uri="{9D8B030D-6E8A-4147-A177-3AD203B41FA5}">
                      <a16:colId xmlns:a16="http://schemas.microsoft.com/office/drawing/2014/main" val="2233767674"/>
                    </a:ext>
                  </a:extLst>
                </a:gridCol>
                <a:gridCol w="1764547">
                  <a:extLst>
                    <a:ext uri="{9D8B030D-6E8A-4147-A177-3AD203B41FA5}">
                      <a16:colId xmlns:a16="http://schemas.microsoft.com/office/drawing/2014/main" val="2570085625"/>
                    </a:ext>
                  </a:extLst>
                </a:gridCol>
              </a:tblGrid>
              <a:tr h="222613">
                <a:tc>
                  <a:txBody>
                    <a:bodyPr/>
                    <a:lstStyle/>
                    <a:p>
                      <a:r>
                        <a:rPr kumimoji="1" lang="ja-JP" altLang="en-US" sz="1200" b="1" dirty="0">
                          <a:solidFill>
                            <a:schemeClr val="bg1"/>
                          </a:solidFill>
                          <a:latin typeface="+mn-ea"/>
                          <a:ea typeface="+mn-ea"/>
                        </a:rPr>
                        <a:t>用途定義</a:t>
                      </a:r>
                      <a:r>
                        <a:rPr kumimoji="1" lang="en-US" altLang="ja-JP" sz="1200" b="1" dirty="0">
                          <a:solidFill>
                            <a:schemeClr val="bg1"/>
                          </a:solidFill>
                          <a:latin typeface="+mn-ea"/>
                          <a:ea typeface="+mn-ea"/>
                        </a:rPr>
                        <a:t>ID</a:t>
                      </a:r>
                      <a:endParaRPr kumimoji="1" lang="ja-JP" altLang="en-US" sz="1200" b="1" dirty="0">
                        <a:solidFill>
                          <a:schemeClr val="bg1"/>
                        </a:solidFill>
                        <a:latin typeface="+mn-ea"/>
                        <a:ea typeface="+mn-ea"/>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solidFill>
                  </a:tcPr>
                </a:tc>
                <a:tc>
                  <a:txBody>
                    <a:bodyPr/>
                    <a:lstStyle/>
                    <a:p>
                      <a:r>
                        <a:rPr kumimoji="1" lang="ja-JP" altLang="en-US" sz="1200" b="1" dirty="0">
                          <a:solidFill>
                            <a:schemeClr val="bg1"/>
                          </a:solidFill>
                          <a:latin typeface="+mn-ea"/>
                          <a:ea typeface="+mn-ea"/>
                        </a:rPr>
                        <a:t>名　称</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solidFill>
                  </a:tcPr>
                </a:tc>
                <a:tc>
                  <a:txBody>
                    <a:bodyPr/>
                    <a:lstStyle/>
                    <a:p>
                      <a:r>
                        <a:rPr kumimoji="1" lang="ja-JP" altLang="en-US" sz="1200" b="1" dirty="0">
                          <a:solidFill>
                            <a:schemeClr val="bg1"/>
                          </a:solidFill>
                          <a:latin typeface="+mn-ea"/>
                          <a:ea typeface="+mn-ea"/>
                        </a:rPr>
                        <a:t>カスタマイズ定義</a:t>
                      </a:r>
                      <a:r>
                        <a:rPr kumimoji="1" lang="en-US" altLang="ja-JP" sz="1200" b="1" dirty="0">
                          <a:solidFill>
                            <a:schemeClr val="bg1"/>
                          </a:solidFill>
                          <a:latin typeface="+mn-ea"/>
                          <a:ea typeface="+mn-ea"/>
                        </a:rPr>
                        <a:t>ID</a:t>
                      </a:r>
                      <a:r>
                        <a:rPr kumimoji="1" lang="ja-JP" altLang="en-US" sz="1200" b="1" dirty="0">
                          <a:solidFill>
                            <a:schemeClr val="bg1"/>
                          </a:solidFill>
                          <a:latin typeface="+mn-ea"/>
                          <a:ea typeface="+mn-ea"/>
                        </a:rPr>
                        <a:t>リスト</a:t>
                      </a:r>
                    </a:p>
                  </a:txBody>
                  <a:tcPr marL="72000" marR="3600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254699678"/>
                  </a:ext>
                </a:extLst>
              </a:tr>
              <a:tr h="589776">
                <a:tc>
                  <a:txBody>
                    <a:bodyPr/>
                    <a:lstStyle/>
                    <a:p>
                      <a:r>
                        <a:rPr kumimoji="1" lang="ja-JP" altLang="en-US" sz="1200" dirty="0">
                          <a:solidFill>
                            <a:srgbClr val="C00000"/>
                          </a:solidFill>
                          <a:latin typeface="+mn-ea"/>
                          <a:ea typeface="+mn-ea"/>
                        </a:rPr>
                        <a:t>用途定義</a:t>
                      </a:r>
                      <a:r>
                        <a:rPr kumimoji="1" lang="en-US" altLang="ja-JP" sz="1200" dirty="0">
                          <a:solidFill>
                            <a:srgbClr val="C00000"/>
                          </a:solidFill>
                          <a:latin typeface="+mn-ea"/>
                          <a:ea typeface="+mn-ea"/>
                        </a:rPr>
                        <a:t>ID</a:t>
                      </a:r>
                      <a:endParaRPr kumimoji="1" lang="ja-JP" altLang="en-US" sz="1200" dirty="0">
                        <a:solidFill>
                          <a:srgbClr val="C00000"/>
                        </a:solidFill>
                        <a:latin typeface="+mn-ea"/>
                        <a:ea typeface="+mn-ea"/>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kumimoji="1" lang="ja-JP" altLang="en-US" sz="1050" dirty="0">
                          <a:solidFill>
                            <a:schemeClr val="bg1">
                              <a:lumMod val="50000"/>
                            </a:schemeClr>
                          </a:solidFill>
                          <a:latin typeface="+mn-ea"/>
                          <a:ea typeface="+mn-ea"/>
                        </a:rPr>
                        <a:t>オペトレ詳細分析</a:t>
                      </a:r>
                    </a:p>
                  </a:txBody>
                  <a:tcPr marL="36000" marR="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kumimoji="1" lang="ja-JP" altLang="en-US" sz="1200" dirty="0">
                          <a:latin typeface="+mn-ea"/>
                          <a:ea typeface="+mn-ea"/>
                        </a:rPr>
                        <a:t>〇　□　△</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extLst>
                  <a:ext uri="{0D108BD9-81ED-4DB2-BD59-A6C34878D82A}">
                    <a16:rowId xmlns:a16="http://schemas.microsoft.com/office/drawing/2014/main" val="4003686802"/>
                  </a:ext>
                </a:extLst>
              </a:tr>
            </a:tbl>
          </a:graphicData>
        </a:graphic>
      </p:graphicFrame>
      <p:sp>
        <p:nvSpPr>
          <p:cNvPr id="45" name="円柱 44">
            <a:extLst>
              <a:ext uri="{FF2B5EF4-FFF2-40B4-BE49-F238E27FC236}">
                <a16:creationId xmlns:a16="http://schemas.microsoft.com/office/drawing/2014/main" id="{45252C01-976A-4C36-B247-828AEEA83F70}"/>
              </a:ext>
            </a:extLst>
          </p:cNvPr>
          <p:cNvSpPr/>
          <p:nvPr/>
        </p:nvSpPr>
        <p:spPr>
          <a:xfrm>
            <a:off x="124768" y="4954157"/>
            <a:ext cx="4104456" cy="1512168"/>
          </a:xfrm>
          <a:prstGeom prst="can">
            <a:avLst>
              <a:gd name="adj" fmla="val 11402"/>
            </a:avLst>
          </a:prstGeom>
          <a:solidFill>
            <a:srgbClr val="FFCC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FA1669D9-21BB-4499-A050-241CC5D6D226}"/>
              </a:ext>
            </a:extLst>
          </p:cNvPr>
          <p:cNvSpPr txBox="1"/>
          <p:nvPr/>
        </p:nvSpPr>
        <p:spPr>
          <a:xfrm>
            <a:off x="1030365" y="6098006"/>
            <a:ext cx="2108269" cy="338554"/>
          </a:xfrm>
          <a:prstGeom prst="rect">
            <a:avLst/>
          </a:prstGeom>
          <a:noFill/>
        </p:spPr>
        <p:txBody>
          <a:bodyPr wrap="none" rtlCol="0">
            <a:spAutoFit/>
          </a:bodyPr>
          <a:lstStyle/>
          <a:p>
            <a:r>
              <a:rPr kumimoji="1" lang="ja-JP" altLang="en-US" sz="1600" b="1" dirty="0">
                <a:latin typeface="+mn-ea"/>
              </a:rPr>
              <a:t>カスタマイズ定義マスタ</a:t>
            </a:r>
          </a:p>
        </p:txBody>
      </p:sp>
      <p:sp>
        <p:nvSpPr>
          <p:cNvPr id="47" name="四角形: メモ 46">
            <a:extLst>
              <a:ext uri="{FF2B5EF4-FFF2-40B4-BE49-F238E27FC236}">
                <a16:creationId xmlns:a16="http://schemas.microsoft.com/office/drawing/2014/main" id="{A242E741-43ED-4CDD-849C-48F7CFA58688}"/>
              </a:ext>
            </a:extLst>
          </p:cNvPr>
          <p:cNvSpPr/>
          <p:nvPr/>
        </p:nvSpPr>
        <p:spPr>
          <a:xfrm flipV="1">
            <a:off x="1122042" y="5262316"/>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48" name="四角形: メモ 47">
            <a:extLst>
              <a:ext uri="{FF2B5EF4-FFF2-40B4-BE49-F238E27FC236}">
                <a16:creationId xmlns:a16="http://schemas.microsoft.com/office/drawing/2014/main" id="{F7B4F6FA-63D7-40A4-A7AF-E8A685156237}"/>
              </a:ext>
            </a:extLst>
          </p:cNvPr>
          <p:cNvSpPr/>
          <p:nvPr/>
        </p:nvSpPr>
        <p:spPr>
          <a:xfrm flipV="1">
            <a:off x="1978613" y="5262316"/>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49" name="四角形: メモ 48">
            <a:extLst>
              <a:ext uri="{FF2B5EF4-FFF2-40B4-BE49-F238E27FC236}">
                <a16:creationId xmlns:a16="http://schemas.microsoft.com/office/drawing/2014/main" id="{C3952EE6-EE10-4A96-B18B-20EC7EB27A7D}"/>
              </a:ext>
            </a:extLst>
          </p:cNvPr>
          <p:cNvSpPr/>
          <p:nvPr/>
        </p:nvSpPr>
        <p:spPr>
          <a:xfrm flipV="1">
            <a:off x="2854902" y="5270729"/>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50" name="テキスト ボックス 49">
            <a:extLst>
              <a:ext uri="{FF2B5EF4-FFF2-40B4-BE49-F238E27FC236}">
                <a16:creationId xmlns:a16="http://schemas.microsoft.com/office/drawing/2014/main" id="{79629E8B-7D8B-438C-826A-6E5EA244EBC8}"/>
              </a:ext>
            </a:extLst>
          </p:cNvPr>
          <p:cNvSpPr txBox="1"/>
          <p:nvPr/>
        </p:nvSpPr>
        <p:spPr>
          <a:xfrm>
            <a:off x="1112647" y="5296501"/>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51" name="テキスト ボックス 50">
            <a:extLst>
              <a:ext uri="{FF2B5EF4-FFF2-40B4-BE49-F238E27FC236}">
                <a16:creationId xmlns:a16="http://schemas.microsoft.com/office/drawing/2014/main" id="{F72296A3-52B4-455E-8C96-0B23FECEF59E}"/>
              </a:ext>
            </a:extLst>
          </p:cNvPr>
          <p:cNvSpPr txBox="1"/>
          <p:nvPr/>
        </p:nvSpPr>
        <p:spPr>
          <a:xfrm>
            <a:off x="1925743" y="5297824"/>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52" name="テキスト ボックス 51">
            <a:extLst>
              <a:ext uri="{FF2B5EF4-FFF2-40B4-BE49-F238E27FC236}">
                <a16:creationId xmlns:a16="http://schemas.microsoft.com/office/drawing/2014/main" id="{0B6BA1C0-5705-43C3-9B8B-6A1FEFE1AA87}"/>
              </a:ext>
            </a:extLst>
          </p:cNvPr>
          <p:cNvSpPr txBox="1"/>
          <p:nvPr/>
        </p:nvSpPr>
        <p:spPr>
          <a:xfrm>
            <a:off x="2843329" y="5287824"/>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53" name="フリーフォーム: 図形 52">
            <a:extLst>
              <a:ext uri="{FF2B5EF4-FFF2-40B4-BE49-F238E27FC236}">
                <a16:creationId xmlns:a16="http://schemas.microsoft.com/office/drawing/2014/main" id="{731A709B-8208-4FA9-89C5-7FCF966DD36B}"/>
              </a:ext>
            </a:extLst>
          </p:cNvPr>
          <p:cNvSpPr/>
          <p:nvPr/>
        </p:nvSpPr>
        <p:spPr>
          <a:xfrm>
            <a:off x="1394295" y="4287914"/>
            <a:ext cx="1034729" cy="958293"/>
          </a:xfrm>
          <a:custGeom>
            <a:avLst/>
            <a:gdLst>
              <a:gd name="connsiteX0" fmla="*/ 1161907 w 1161907"/>
              <a:gd name="connsiteY0" fmla="*/ 0 h 907525"/>
              <a:gd name="connsiteX1" fmla="*/ 268132 w 1161907"/>
              <a:gd name="connsiteY1" fmla="*/ 433137 h 907525"/>
              <a:gd name="connsiteX2" fmla="*/ 0 w 1161907"/>
              <a:gd name="connsiteY2" fmla="*/ 907525 h 907525"/>
            </a:gdLst>
            <a:ahLst/>
            <a:cxnLst>
              <a:cxn ang="0">
                <a:pos x="connsiteX0" y="connsiteY0"/>
              </a:cxn>
              <a:cxn ang="0">
                <a:pos x="connsiteX1" y="connsiteY1"/>
              </a:cxn>
              <a:cxn ang="0">
                <a:pos x="connsiteX2" y="connsiteY2"/>
              </a:cxn>
            </a:cxnLst>
            <a:rect l="l" t="t" r="r" b="b"/>
            <a:pathLst>
              <a:path w="1161907" h="907525">
                <a:moveTo>
                  <a:pt x="1161907" y="0"/>
                </a:moveTo>
                <a:cubicBezTo>
                  <a:pt x="811845" y="140941"/>
                  <a:pt x="461783" y="281883"/>
                  <a:pt x="268132" y="433137"/>
                </a:cubicBezTo>
                <a:cubicBezTo>
                  <a:pt x="74481" y="584391"/>
                  <a:pt x="37240" y="745958"/>
                  <a:pt x="0" y="907525"/>
                </a:cubicBezTo>
              </a:path>
            </a:pathLst>
          </a:custGeom>
          <a:noFill/>
          <a:ln w="9525">
            <a:solidFill>
              <a:schemeClr val="accent6">
                <a:lumMod val="50000"/>
              </a:schemeClr>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フリーフォーム: 図形 53">
            <a:extLst>
              <a:ext uri="{FF2B5EF4-FFF2-40B4-BE49-F238E27FC236}">
                <a16:creationId xmlns:a16="http://schemas.microsoft.com/office/drawing/2014/main" id="{0528EE09-2E70-4068-903A-BD34C2BD713A}"/>
              </a:ext>
            </a:extLst>
          </p:cNvPr>
          <p:cNvSpPr/>
          <p:nvPr/>
        </p:nvSpPr>
        <p:spPr>
          <a:xfrm>
            <a:off x="2184816" y="4281341"/>
            <a:ext cx="503829" cy="964867"/>
          </a:xfrm>
          <a:custGeom>
            <a:avLst/>
            <a:gdLst>
              <a:gd name="connsiteX0" fmla="*/ 587239 w 587239"/>
              <a:gd name="connsiteY0" fmla="*/ 0 h 928150"/>
              <a:gd name="connsiteX1" fmla="*/ 78475 w 587239"/>
              <a:gd name="connsiteY1" fmla="*/ 446887 h 928150"/>
              <a:gd name="connsiteX2" fmla="*/ 9723 w 587239"/>
              <a:gd name="connsiteY2" fmla="*/ 928150 h 928150"/>
            </a:gdLst>
            <a:ahLst/>
            <a:cxnLst>
              <a:cxn ang="0">
                <a:pos x="connsiteX0" y="connsiteY0"/>
              </a:cxn>
              <a:cxn ang="0">
                <a:pos x="connsiteX1" y="connsiteY1"/>
              </a:cxn>
              <a:cxn ang="0">
                <a:pos x="connsiteX2" y="connsiteY2"/>
              </a:cxn>
            </a:cxnLst>
            <a:rect l="l" t="t" r="r" b="b"/>
            <a:pathLst>
              <a:path w="587239" h="928150">
                <a:moveTo>
                  <a:pt x="587239" y="0"/>
                </a:moveTo>
                <a:cubicBezTo>
                  <a:pt x="380983" y="146097"/>
                  <a:pt x="174728" y="292195"/>
                  <a:pt x="78475" y="446887"/>
                </a:cubicBezTo>
                <a:cubicBezTo>
                  <a:pt x="-17778" y="601579"/>
                  <a:pt x="-4028" y="764864"/>
                  <a:pt x="9723" y="928150"/>
                </a:cubicBezTo>
              </a:path>
            </a:pathLst>
          </a:custGeom>
          <a:noFill/>
          <a:ln w="9525">
            <a:solidFill>
              <a:schemeClr val="accent6">
                <a:lumMod val="50000"/>
              </a:schemeClr>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フリーフォーム: 図形 54">
            <a:extLst>
              <a:ext uri="{FF2B5EF4-FFF2-40B4-BE49-F238E27FC236}">
                <a16:creationId xmlns:a16="http://schemas.microsoft.com/office/drawing/2014/main" id="{99BDFBB3-E712-4651-9BF0-775B49E4219F}"/>
              </a:ext>
            </a:extLst>
          </p:cNvPr>
          <p:cNvSpPr/>
          <p:nvPr/>
        </p:nvSpPr>
        <p:spPr>
          <a:xfrm>
            <a:off x="2791691" y="4290557"/>
            <a:ext cx="256994" cy="976277"/>
          </a:xfrm>
          <a:custGeom>
            <a:avLst/>
            <a:gdLst>
              <a:gd name="connsiteX0" fmla="*/ 146991 w 256994"/>
              <a:gd name="connsiteY0" fmla="*/ 0 h 976277"/>
              <a:gd name="connsiteX1" fmla="*/ 2612 w 256994"/>
              <a:gd name="connsiteY1" fmla="*/ 426262 h 976277"/>
              <a:gd name="connsiteX2" fmla="*/ 256994 w 256994"/>
              <a:gd name="connsiteY2" fmla="*/ 976277 h 976277"/>
            </a:gdLst>
            <a:ahLst/>
            <a:cxnLst>
              <a:cxn ang="0">
                <a:pos x="connsiteX0" y="connsiteY0"/>
              </a:cxn>
              <a:cxn ang="0">
                <a:pos x="connsiteX1" y="connsiteY1"/>
              </a:cxn>
              <a:cxn ang="0">
                <a:pos x="connsiteX2" y="connsiteY2"/>
              </a:cxn>
            </a:cxnLst>
            <a:rect l="l" t="t" r="r" b="b"/>
            <a:pathLst>
              <a:path w="256994" h="976277">
                <a:moveTo>
                  <a:pt x="146991" y="0"/>
                </a:moveTo>
                <a:cubicBezTo>
                  <a:pt x="65634" y="131774"/>
                  <a:pt x="-15722" y="263549"/>
                  <a:pt x="2612" y="426262"/>
                </a:cubicBezTo>
                <a:cubicBezTo>
                  <a:pt x="20946" y="588975"/>
                  <a:pt x="138970" y="782626"/>
                  <a:pt x="256994" y="976277"/>
                </a:cubicBezTo>
              </a:path>
            </a:pathLst>
          </a:custGeom>
          <a:noFill/>
          <a:ln w="9525">
            <a:solidFill>
              <a:schemeClr val="accent6">
                <a:lumMod val="50000"/>
              </a:schemeClr>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6" name="グループ化 55">
            <a:extLst>
              <a:ext uri="{FF2B5EF4-FFF2-40B4-BE49-F238E27FC236}">
                <a16:creationId xmlns:a16="http://schemas.microsoft.com/office/drawing/2014/main" id="{B8C75984-2044-4ECC-BBD3-7172F23DDBDA}"/>
              </a:ext>
            </a:extLst>
          </p:cNvPr>
          <p:cNvGrpSpPr/>
          <p:nvPr/>
        </p:nvGrpSpPr>
        <p:grpSpPr>
          <a:xfrm>
            <a:off x="85145" y="3262641"/>
            <a:ext cx="2518638" cy="517902"/>
            <a:chOff x="1392436" y="725257"/>
            <a:chExt cx="2518638" cy="517902"/>
          </a:xfrm>
        </p:grpSpPr>
        <p:sp>
          <p:nvSpPr>
            <p:cNvPr id="57" name="テキスト ボックス 56">
              <a:extLst>
                <a:ext uri="{FF2B5EF4-FFF2-40B4-BE49-F238E27FC236}">
                  <a16:creationId xmlns:a16="http://schemas.microsoft.com/office/drawing/2014/main" id="{C919E4A6-0E3B-4183-9F5A-F6EA6573FE39}"/>
                </a:ext>
              </a:extLst>
            </p:cNvPr>
            <p:cNvSpPr txBox="1"/>
            <p:nvPr/>
          </p:nvSpPr>
          <p:spPr>
            <a:xfrm>
              <a:off x="1392436" y="904605"/>
              <a:ext cx="2518638" cy="338554"/>
            </a:xfrm>
            <a:prstGeom prst="rect">
              <a:avLst/>
            </a:prstGeom>
            <a:noFill/>
          </p:spPr>
          <p:txBody>
            <a:bodyPr wrap="none" rtlCol="0">
              <a:spAutoFit/>
            </a:bodyPr>
            <a:lstStyle/>
            <a:p>
              <a:r>
                <a:rPr kumimoji="1" lang="ja-JP" altLang="en-US" sz="1600" b="1" dirty="0">
                  <a:latin typeface="+mn-ea"/>
                </a:rPr>
                <a:t>カスタマイズ用途定義マスタ</a:t>
              </a:r>
            </a:p>
          </p:txBody>
        </p:sp>
        <p:sp>
          <p:nvSpPr>
            <p:cNvPr id="58" name="テキスト ボックス 57">
              <a:extLst>
                <a:ext uri="{FF2B5EF4-FFF2-40B4-BE49-F238E27FC236}">
                  <a16:creationId xmlns:a16="http://schemas.microsoft.com/office/drawing/2014/main" id="{9511A2EA-05F6-4479-A417-A0F82B222D9D}"/>
                </a:ext>
              </a:extLst>
            </p:cNvPr>
            <p:cNvSpPr txBox="1"/>
            <p:nvPr/>
          </p:nvSpPr>
          <p:spPr>
            <a:xfrm>
              <a:off x="2443309" y="725257"/>
              <a:ext cx="925253" cy="369332"/>
            </a:xfrm>
            <a:prstGeom prst="rect">
              <a:avLst/>
            </a:prstGeom>
            <a:noFill/>
          </p:spPr>
          <p:txBody>
            <a:bodyPr wrap="none" rtlCol="0">
              <a:spAutoFit/>
            </a:bodyPr>
            <a:lstStyle/>
            <a:p>
              <a:r>
                <a:rPr kumimoji="1" lang="ja-JP" altLang="en-US" b="1" dirty="0">
                  <a:latin typeface="+mn-ea"/>
                </a:rPr>
                <a:t>・</a:t>
              </a:r>
              <a:r>
                <a:rPr kumimoji="1" lang="ja-JP" altLang="en-US" sz="1000" b="1" dirty="0">
                  <a:latin typeface="+mn-ea"/>
                </a:rPr>
                <a:t>　</a:t>
              </a:r>
              <a:r>
                <a:rPr kumimoji="1" lang="ja-JP" altLang="en-US" b="1" dirty="0">
                  <a:latin typeface="+mn-ea"/>
                </a:rPr>
                <a:t>・</a:t>
              </a:r>
              <a:r>
                <a:rPr lang="ja-JP" altLang="en-US" sz="1000" b="1" dirty="0">
                  <a:latin typeface="+mn-ea"/>
                </a:rPr>
                <a:t>　</a:t>
              </a:r>
              <a:r>
                <a:rPr kumimoji="1" lang="ja-JP" altLang="en-US" b="1" dirty="0">
                  <a:latin typeface="+mn-ea"/>
                </a:rPr>
                <a:t>・</a:t>
              </a:r>
              <a:r>
                <a:rPr lang="ja-JP" altLang="en-US" sz="1000" b="1" dirty="0">
                  <a:latin typeface="+mn-ea"/>
                </a:rPr>
                <a:t>　</a:t>
              </a:r>
              <a:r>
                <a:rPr kumimoji="1" lang="ja-JP" altLang="en-US" b="1" dirty="0">
                  <a:latin typeface="+mn-ea"/>
                </a:rPr>
                <a:t>・</a:t>
              </a:r>
            </a:p>
          </p:txBody>
        </p:sp>
      </p:grpSp>
      <p:sp>
        <p:nvSpPr>
          <p:cNvPr id="59" name="四角形: メモ 58">
            <a:extLst>
              <a:ext uri="{FF2B5EF4-FFF2-40B4-BE49-F238E27FC236}">
                <a16:creationId xmlns:a16="http://schemas.microsoft.com/office/drawing/2014/main" id="{4D3AAF8E-9DD1-4F62-8EE0-BCC8BF755D40}"/>
              </a:ext>
            </a:extLst>
          </p:cNvPr>
          <p:cNvSpPr/>
          <p:nvPr/>
        </p:nvSpPr>
        <p:spPr>
          <a:xfrm flipV="1">
            <a:off x="272632" y="5258833"/>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60" name="テキスト ボックス 59">
            <a:extLst>
              <a:ext uri="{FF2B5EF4-FFF2-40B4-BE49-F238E27FC236}">
                <a16:creationId xmlns:a16="http://schemas.microsoft.com/office/drawing/2014/main" id="{BA8B1412-42CA-435A-B9CB-450683719B34}"/>
              </a:ext>
            </a:extLst>
          </p:cNvPr>
          <p:cNvSpPr txBox="1"/>
          <p:nvPr/>
        </p:nvSpPr>
        <p:spPr>
          <a:xfrm>
            <a:off x="276152" y="5306772"/>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61" name="正方形/長方形 60">
            <a:extLst>
              <a:ext uri="{FF2B5EF4-FFF2-40B4-BE49-F238E27FC236}">
                <a16:creationId xmlns:a16="http://schemas.microsoft.com/office/drawing/2014/main" id="{D335C7FC-0558-4005-B640-7C39DB553673}"/>
              </a:ext>
            </a:extLst>
          </p:cNvPr>
          <p:cNvSpPr/>
          <p:nvPr/>
        </p:nvSpPr>
        <p:spPr>
          <a:xfrm>
            <a:off x="238384" y="4132771"/>
            <a:ext cx="3831545" cy="178922"/>
          </a:xfrm>
          <a:prstGeom prst="rect">
            <a:avLst/>
          </a:prstGeom>
          <a:noFill/>
          <a:ln>
            <a:solidFill>
              <a:schemeClr val="accent6">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FFF9E584-1B15-42A3-8D97-E18095694B4F}"/>
              </a:ext>
            </a:extLst>
          </p:cNvPr>
          <p:cNvSpPr txBox="1"/>
          <p:nvPr/>
        </p:nvSpPr>
        <p:spPr>
          <a:xfrm>
            <a:off x="4252199" y="3259640"/>
            <a:ext cx="4316077" cy="523220"/>
          </a:xfrm>
          <a:prstGeom prst="rect">
            <a:avLst/>
          </a:prstGeom>
          <a:noFill/>
        </p:spPr>
        <p:txBody>
          <a:bodyPr wrap="square" rtlCol="0">
            <a:spAutoFit/>
          </a:bodyPr>
          <a:lstStyle/>
          <a:p>
            <a:r>
              <a:rPr kumimoji="1" lang="ja-JP" altLang="en-US" sz="1400" b="1" dirty="0">
                <a:latin typeface="+mn-ea"/>
              </a:rPr>
              <a:t>複数のカスタマイズ定義を用途ごとにまとめて</a:t>
            </a:r>
            <a:endParaRPr kumimoji="1" lang="en-US" altLang="ja-JP" sz="1400" b="1" dirty="0">
              <a:latin typeface="+mn-ea"/>
            </a:endParaRPr>
          </a:p>
          <a:p>
            <a:r>
              <a:rPr kumimoji="1" lang="ja-JP" altLang="en-US" sz="1400" b="1" dirty="0">
                <a:solidFill>
                  <a:srgbClr val="140A9A"/>
                </a:solidFill>
                <a:latin typeface="+mn-ea"/>
              </a:rPr>
              <a:t>カスタマイズ用途定義</a:t>
            </a:r>
            <a:r>
              <a:rPr kumimoji="1" lang="ja-JP" altLang="en-US" sz="1400" b="1" dirty="0">
                <a:latin typeface="+mn-ea"/>
              </a:rPr>
              <a:t>とする。</a:t>
            </a:r>
            <a:endParaRPr kumimoji="1" lang="en-US" altLang="ja-JP" sz="1400" b="1" dirty="0">
              <a:latin typeface="+mn-ea"/>
            </a:endParaRPr>
          </a:p>
        </p:txBody>
      </p:sp>
      <p:sp>
        <p:nvSpPr>
          <p:cNvPr id="28" name="テキスト ボックス 27">
            <a:extLst>
              <a:ext uri="{FF2B5EF4-FFF2-40B4-BE49-F238E27FC236}">
                <a16:creationId xmlns:a16="http://schemas.microsoft.com/office/drawing/2014/main" id="{371CE3B5-3175-4BAB-AC92-D728DCA0BB2D}"/>
              </a:ext>
            </a:extLst>
          </p:cNvPr>
          <p:cNvSpPr txBox="1"/>
          <p:nvPr/>
        </p:nvSpPr>
        <p:spPr>
          <a:xfrm>
            <a:off x="4307196" y="3829477"/>
            <a:ext cx="2219054" cy="461665"/>
          </a:xfrm>
          <a:prstGeom prst="rect">
            <a:avLst/>
          </a:prstGeom>
          <a:noFill/>
        </p:spPr>
        <p:txBody>
          <a:bodyPr wrap="square">
            <a:spAutoFit/>
          </a:bodyPr>
          <a:lstStyle/>
          <a:p>
            <a:r>
              <a:rPr lang="ja-JP" altLang="en-US" sz="1200" dirty="0"/>
              <a:t>送信番号：</a:t>
            </a:r>
            <a:endParaRPr lang="en-US" altLang="ja-JP" sz="1200" dirty="0"/>
          </a:p>
          <a:p>
            <a:r>
              <a:rPr lang="ja-JP" altLang="en-US" sz="1200" dirty="0"/>
              <a:t>2020</a:t>
            </a:r>
            <a:r>
              <a:rPr lang="ja-JP" altLang="en-US" sz="1200" b="1" dirty="0">
                <a:solidFill>
                  <a:srgbClr val="FF0000"/>
                </a:solidFill>
              </a:rPr>
              <a:t>0514</a:t>
            </a:r>
            <a:r>
              <a:rPr lang="ja-JP" altLang="en-US" sz="1200" dirty="0"/>
              <a:t>T180334Z000000</a:t>
            </a:r>
          </a:p>
        </p:txBody>
      </p:sp>
      <p:grpSp>
        <p:nvGrpSpPr>
          <p:cNvPr id="5" name="グループ化 4">
            <a:extLst>
              <a:ext uri="{FF2B5EF4-FFF2-40B4-BE49-F238E27FC236}">
                <a16:creationId xmlns:a16="http://schemas.microsoft.com/office/drawing/2014/main" id="{A8F69C88-0F85-4446-A832-0D43A7178811}"/>
              </a:ext>
            </a:extLst>
          </p:cNvPr>
          <p:cNvGrpSpPr/>
          <p:nvPr/>
        </p:nvGrpSpPr>
        <p:grpSpPr>
          <a:xfrm>
            <a:off x="4322307" y="4286527"/>
            <a:ext cx="849913" cy="720747"/>
            <a:chOff x="4539197" y="4457834"/>
            <a:chExt cx="849913" cy="720747"/>
          </a:xfrm>
        </p:grpSpPr>
        <p:sp>
          <p:nvSpPr>
            <p:cNvPr id="26" name="四角形: メモ 25">
              <a:extLst>
                <a:ext uri="{FF2B5EF4-FFF2-40B4-BE49-F238E27FC236}">
                  <a16:creationId xmlns:a16="http://schemas.microsoft.com/office/drawing/2014/main" id="{26330599-64B8-4261-B6CF-4240F172E16F}"/>
                </a:ext>
              </a:extLst>
            </p:cNvPr>
            <p:cNvSpPr/>
            <p:nvPr/>
          </p:nvSpPr>
          <p:spPr>
            <a:xfrm flipV="1">
              <a:off x="4610189" y="4457834"/>
              <a:ext cx="752490" cy="720747"/>
            </a:xfrm>
            <a:prstGeom prst="foldedCorner">
              <a:avLst>
                <a:gd name="adj" fmla="val 15811"/>
              </a:avLst>
            </a:prstGeom>
            <a:solidFill>
              <a:sysClr val="window" lastClr="FFFFFF"/>
            </a:solidFill>
            <a:ln w="1270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9" name="テキスト ボックス 28">
              <a:extLst>
                <a:ext uri="{FF2B5EF4-FFF2-40B4-BE49-F238E27FC236}">
                  <a16:creationId xmlns:a16="http://schemas.microsoft.com/office/drawing/2014/main" id="{F9DBEC6C-CE45-4243-A6CF-42BECEF98314}"/>
                </a:ext>
              </a:extLst>
            </p:cNvPr>
            <p:cNvSpPr txBox="1"/>
            <p:nvPr/>
          </p:nvSpPr>
          <p:spPr>
            <a:xfrm>
              <a:off x="4539197" y="4465806"/>
              <a:ext cx="849913" cy="415498"/>
            </a:xfrm>
            <a:prstGeom prst="rect">
              <a:avLst/>
            </a:prstGeom>
            <a:noFill/>
          </p:spPr>
          <p:txBody>
            <a:bodyPr wrap="none" rtlCol="0">
              <a:spAutoFit/>
            </a:bodyPr>
            <a:lstStyle/>
            <a:p>
              <a:r>
                <a:rPr kumimoji="1" lang="ja-JP" altLang="en-US" sz="1050" b="1" dirty="0">
                  <a:latin typeface="+mn-ea"/>
                </a:rPr>
                <a:t>カスタマイズ</a:t>
              </a:r>
              <a:endParaRPr kumimoji="1" lang="en-US" altLang="ja-JP" sz="1050" b="1" dirty="0">
                <a:latin typeface="+mn-ea"/>
              </a:endParaRPr>
            </a:p>
            <a:p>
              <a:r>
                <a:rPr kumimoji="1" lang="ja-JP" altLang="en-US" sz="1050" b="1" dirty="0">
                  <a:latin typeface="+mn-ea"/>
                </a:rPr>
                <a:t>データ</a:t>
              </a:r>
            </a:p>
          </p:txBody>
        </p:sp>
      </p:grpSp>
      <p:grpSp>
        <p:nvGrpSpPr>
          <p:cNvPr id="31" name="グループ化 30">
            <a:extLst>
              <a:ext uri="{FF2B5EF4-FFF2-40B4-BE49-F238E27FC236}">
                <a16:creationId xmlns:a16="http://schemas.microsoft.com/office/drawing/2014/main" id="{A488A293-39EC-46A7-A7D8-66A4513AA79B}"/>
              </a:ext>
            </a:extLst>
          </p:cNvPr>
          <p:cNvGrpSpPr/>
          <p:nvPr/>
        </p:nvGrpSpPr>
        <p:grpSpPr>
          <a:xfrm>
            <a:off x="5388310" y="4717845"/>
            <a:ext cx="849913" cy="720747"/>
            <a:chOff x="4539197" y="4457834"/>
            <a:chExt cx="849913" cy="720747"/>
          </a:xfrm>
        </p:grpSpPr>
        <p:sp>
          <p:nvSpPr>
            <p:cNvPr id="32" name="四角形: メモ 31">
              <a:extLst>
                <a:ext uri="{FF2B5EF4-FFF2-40B4-BE49-F238E27FC236}">
                  <a16:creationId xmlns:a16="http://schemas.microsoft.com/office/drawing/2014/main" id="{456078B4-671A-48E5-938A-C280A3FC8EC1}"/>
                </a:ext>
              </a:extLst>
            </p:cNvPr>
            <p:cNvSpPr/>
            <p:nvPr/>
          </p:nvSpPr>
          <p:spPr>
            <a:xfrm flipV="1">
              <a:off x="4610189" y="4457834"/>
              <a:ext cx="752490" cy="720747"/>
            </a:xfrm>
            <a:prstGeom prst="foldedCorner">
              <a:avLst>
                <a:gd name="adj" fmla="val 15811"/>
              </a:avLst>
            </a:prstGeom>
            <a:solidFill>
              <a:sysClr val="window" lastClr="FFFFFF"/>
            </a:solidFill>
            <a:ln w="1270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33" name="テキスト ボックス 32">
              <a:extLst>
                <a:ext uri="{FF2B5EF4-FFF2-40B4-BE49-F238E27FC236}">
                  <a16:creationId xmlns:a16="http://schemas.microsoft.com/office/drawing/2014/main" id="{68FEC8D5-1FFB-45D4-A350-A586A435C3FD}"/>
                </a:ext>
              </a:extLst>
            </p:cNvPr>
            <p:cNvSpPr txBox="1"/>
            <p:nvPr/>
          </p:nvSpPr>
          <p:spPr>
            <a:xfrm>
              <a:off x="4539197" y="4465806"/>
              <a:ext cx="849913" cy="415498"/>
            </a:xfrm>
            <a:prstGeom prst="rect">
              <a:avLst/>
            </a:prstGeom>
            <a:noFill/>
          </p:spPr>
          <p:txBody>
            <a:bodyPr wrap="none" rtlCol="0">
              <a:spAutoFit/>
            </a:bodyPr>
            <a:lstStyle/>
            <a:p>
              <a:r>
                <a:rPr kumimoji="1" lang="ja-JP" altLang="en-US" sz="1050" b="1" dirty="0">
                  <a:latin typeface="+mn-ea"/>
                </a:rPr>
                <a:t>カスタマイズ</a:t>
              </a:r>
              <a:endParaRPr kumimoji="1" lang="en-US" altLang="ja-JP" sz="1050" b="1" dirty="0">
                <a:latin typeface="+mn-ea"/>
              </a:endParaRPr>
            </a:p>
            <a:p>
              <a:r>
                <a:rPr kumimoji="1" lang="ja-JP" altLang="en-US" sz="1050" b="1" dirty="0">
                  <a:latin typeface="+mn-ea"/>
                </a:rPr>
                <a:t>データ</a:t>
              </a:r>
            </a:p>
          </p:txBody>
        </p:sp>
      </p:grpSp>
      <p:sp>
        <p:nvSpPr>
          <p:cNvPr id="34" name="テキスト ボックス 33">
            <a:extLst>
              <a:ext uri="{FF2B5EF4-FFF2-40B4-BE49-F238E27FC236}">
                <a16:creationId xmlns:a16="http://schemas.microsoft.com/office/drawing/2014/main" id="{7F4EAF24-3AAF-40BB-A21F-1C5D33942AA4}"/>
              </a:ext>
            </a:extLst>
          </p:cNvPr>
          <p:cNvSpPr txBox="1"/>
          <p:nvPr/>
        </p:nvSpPr>
        <p:spPr>
          <a:xfrm>
            <a:off x="5309864" y="4294499"/>
            <a:ext cx="2219054" cy="461665"/>
          </a:xfrm>
          <a:prstGeom prst="rect">
            <a:avLst/>
          </a:prstGeom>
          <a:noFill/>
        </p:spPr>
        <p:txBody>
          <a:bodyPr wrap="square">
            <a:spAutoFit/>
          </a:bodyPr>
          <a:lstStyle/>
          <a:p>
            <a:r>
              <a:rPr lang="ja-JP" altLang="en-US" sz="1200" dirty="0"/>
              <a:t>送信番号：</a:t>
            </a:r>
            <a:endParaRPr lang="en-US" altLang="ja-JP" sz="1200" dirty="0"/>
          </a:p>
          <a:p>
            <a:r>
              <a:rPr lang="ja-JP" altLang="en-US" sz="1200" dirty="0"/>
              <a:t>2020</a:t>
            </a:r>
            <a:r>
              <a:rPr lang="ja-JP" altLang="en-US" sz="1200" b="1" dirty="0">
                <a:solidFill>
                  <a:srgbClr val="FF0000"/>
                </a:solidFill>
              </a:rPr>
              <a:t>0</a:t>
            </a:r>
            <a:r>
              <a:rPr lang="en-US" altLang="ja-JP" sz="1200" b="1" dirty="0">
                <a:solidFill>
                  <a:srgbClr val="FF0000"/>
                </a:solidFill>
              </a:rPr>
              <a:t>5</a:t>
            </a:r>
            <a:r>
              <a:rPr lang="ja-JP" altLang="en-US" sz="1200" b="1" dirty="0">
                <a:solidFill>
                  <a:srgbClr val="FF0000"/>
                </a:solidFill>
              </a:rPr>
              <a:t>1</a:t>
            </a:r>
            <a:r>
              <a:rPr lang="en-US" altLang="ja-JP" sz="1200" b="1" dirty="0">
                <a:solidFill>
                  <a:srgbClr val="FF0000"/>
                </a:solidFill>
              </a:rPr>
              <a:t>5</a:t>
            </a:r>
            <a:r>
              <a:rPr lang="ja-JP" altLang="en-US" sz="1200" dirty="0"/>
              <a:t>T180334Z000000</a:t>
            </a:r>
          </a:p>
        </p:txBody>
      </p:sp>
      <p:grpSp>
        <p:nvGrpSpPr>
          <p:cNvPr id="35" name="グループ化 34">
            <a:extLst>
              <a:ext uri="{FF2B5EF4-FFF2-40B4-BE49-F238E27FC236}">
                <a16:creationId xmlns:a16="http://schemas.microsoft.com/office/drawing/2014/main" id="{B97291D0-9237-46ED-ACEA-78919B38E471}"/>
              </a:ext>
            </a:extLst>
          </p:cNvPr>
          <p:cNvGrpSpPr/>
          <p:nvPr/>
        </p:nvGrpSpPr>
        <p:grpSpPr>
          <a:xfrm>
            <a:off x="4431681" y="5745578"/>
            <a:ext cx="849913" cy="720747"/>
            <a:chOff x="4539197" y="4457834"/>
            <a:chExt cx="849913" cy="720747"/>
          </a:xfrm>
        </p:grpSpPr>
        <p:sp>
          <p:nvSpPr>
            <p:cNvPr id="36" name="四角形: メモ 35">
              <a:extLst>
                <a:ext uri="{FF2B5EF4-FFF2-40B4-BE49-F238E27FC236}">
                  <a16:creationId xmlns:a16="http://schemas.microsoft.com/office/drawing/2014/main" id="{C2A6A2C8-2289-4FBA-BF02-0708552A12BF}"/>
                </a:ext>
              </a:extLst>
            </p:cNvPr>
            <p:cNvSpPr/>
            <p:nvPr/>
          </p:nvSpPr>
          <p:spPr>
            <a:xfrm flipV="1">
              <a:off x="4610189" y="4457834"/>
              <a:ext cx="752490" cy="720747"/>
            </a:xfrm>
            <a:prstGeom prst="foldedCorner">
              <a:avLst>
                <a:gd name="adj" fmla="val 15811"/>
              </a:avLst>
            </a:prstGeom>
            <a:solidFill>
              <a:sysClr val="window" lastClr="FFFFFF"/>
            </a:solidFill>
            <a:ln w="1270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37" name="テキスト ボックス 36">
              <a:extLst>
                <a:ext uri="{FF2B5EF4-FFF2-40B4-BE49-F238E27FC236}">
                  <a16:creationId xmlns:a16="http://schemas.microsoft.com/office/drawing/2014/main" id="{EEB54866-7245-4923-937E-BA265F355847}"/>
                </a:ext>
              </a:extLst>
            </p:cNvPr>
            <p:cNvSpPr txBox="1"/>
            <p:nvPr/>
          </p:nvSpPr>
          <p:spPr>
            <a:xfrm>
              <a:off x="4539197" y="4465806"/>
              <a:ext cx="849913" cy="415498"/>
            </a:xfrm>
            <a:prstGeom prst="rect">
              <a:avLst/>
            </a:prstGeom>
            <a:noFill/>
          </p:spPr>
          <p:txBody>
            <a:bodyPr wrap="none" rtlCol="0">
              <a:spAutoFit/>
            </a:bodyPr>
            <a:lstStyle/>
            <a:p>
              <a:r>
                <a:rPr kumimoji="1" lang="ja-JP" altLang="en-US" sz="1050" b="1" dirty="0">
                  <a:latin typeface="+mn-ea"/>
                </a:rPr>
                <a:t>カスタマイズ</a:t>
              </a:r>
              <a:endParaRPr kumimoji="1" lang="en-US" altLang="ja-JP" sz="1050" b="1" dirty="0">
                <a:latin typeface="+mn-ea"/>
              </a:endParaRPr>
            </a:p>
            <a:p>
              <a:r>
                <a:rPr kumimoji="1" lang="ja-JP" altLang="en-US" sz="1050" b="1" dirty="0">
                  <a:latin typeface="+mn-ea"/>
                </a:rPr>
                <a:t>データ</a:t>
              </a:r>
            </a:p>
          </p:txBody>
        </p:sp>
      </p:grpSp>
      <p:sp>
        <p:nvSpPr>
          <p:cNvPr id="38" name="テキスト ボックス 37">
            <a:extLst>
              <a:ext uri="{FF2B5EF4-FFF2-40B4-BE49-F238E27FC236}">
                <a16:creationId xmlns:a16="http://schemas.microsoft.com/office/drawing/2014/main" id="{DF39BA1C-13CA-4D9C-BCD3-7E8A66857E57}"/>
              </a:ext>
            </a:extLst>
          </p:cNvPr>
          <p:cNvSpPr txBox="1"/>
          <p:nvPr/>
        </p:nvSpPr>
        <p:spPr>
          <a:xfrm>
            <a:off x="4353235" y="5322232"/>
            <a:ext cx="2219054" cy="461665"/>
          </a:xfrm>
          <a:prstGeom prst="rect">
            <a:avLst/>
          </a:prstGeom>
          <a:noFill/>
        </p:spPr>
        <p:txBody>
          <a:bodyPr wrap="square">
            <a:spAutoFit/>
          </a:bodyPr>
          <a:lstStyle/>
          <a:p>
            <a:r>
              <a:rPr lang="ja-JP" altLang="en-US" sz="1200" dirty="0"/>
              <a:t>送信番号：</a:t>
            </a:r>
            <a:endParaRPr lang="en-US" altLang="ja-JP" sz="1200" dirty="0"/>
          </a:p>
          <a:p>
            <a:r>
              <a:rPr lang="ja-JP" altLang="en-US" sz="1200" dirty="0"/>
              <a:t>2020</a:t>
            </a:r>
            <a:r>
              <a:rPr lang="ja-JP" altLang="en-US" sz="1200" b="1" dirty="0">
                <a:solidFill>
                  <a:srgbClr val="FF0000"/>
                </a:solidFill>
              </a:rPr>
              <a:t>0</a:t>
            </a:r>
            <a:r>
              <a:rPr lang="en-US" altLang="ja-JP" sz="1200" b="1" dirty="0">
                <a:solidFill>
                  <a:srgbClr val="FF0000"/>
                </a:solidFill>
              </a:rPr>
              <a:t>5</a:t>
            </a:r>
            <a:r>
              <a:rPr lang="ja-JP" altLang="en-US" sz="1200" b="1" dirty="0">
                <a:solidFill>
                  <a:srgbClr val="FF0000"/>
                </a:solidFill>
              </a:rPr>
              <a:t>1</a:t>
            </a:r>
            <a:r>
              <a:rPr lang="en-US" altLang="ja-JP" sz="1200" b="1" dirty="0">
                <a:solidFill>
                  <a:srgbClr val="FF0000"/>
                </a:solidFill>
              </a:rPr>
              <a:t>6</a:t>
            </a:r>
            <a:r>
              <a:rPr lang="ja-JP" altLang="en-US" sz="1200" dirty="0"/>
              <a:t>T180334Z000000</a:t>
            </a:r>
          </a:p>
        </p:txBody>
      </p:sp>
      <p:pic>
        <p:nvPicPr>
          <p:cNvPr id="40" name="Picture 7" descr="油圧ショベル">
            <a:extLst>
              <a:ext uri="{FF2B5EF4-FFF2-40B4-BE49-F238E27FC236}">
                <a16:creationId xmlns:a16="http://schemas.microsoft.com/office/drawing/2014/main" id="{97003961-1B31-408D-8DA7-D68DC4AD0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4513" y="5117284"/>
            <a:ext cx="682215" cy="6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1" name="直線コネクタ 40">
            <a:extLst>
              <a:ext uri="{FF2B5EF4-FFF2-40B4-BE49-F238E27FC236}">
                <a16:creationId xmlns:a16="http://schemas.microsoft.com/office/drawing/2014/main" id="{97B2CE2A-580B-4DB7-8CBD-8CC232DAFD36}"/>
              </a:ext>
            </a:extLst>
          </p:cNvPr>
          <p:cNvCxnSpPr>
            <a:cxnSpLocks/>
          </p:cNvCxnSpPr>
          <p:nvPr/>
        </p:nvCxnSpPr>
        <p:spPr>
          <a:xfrm flipH="1" flipV="1">
            <a:off x="7198758" y="5420447"/>
            <a:ext cx="914877" cy="1"/>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2" name="図 71">
            <a:extLst>
              <a:ext uri="{FF2B5EF4-FFF2-40B4-BE49-F238E27FC236}">
                <a16:creationId xmlns:a16="http://schemas.microsoft.com/office/drawing/2014/main" id="{99F251AD-7AD4-4135-9FFB-041FB29A9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3635" y="5102514"/>
            <a:ext cx="517164" cy="728746"/>
          </a:xfrm>
          <a:prstGeom prst="rect">
            <a:avLst/>
          </a:prstGeom>
          <a:noFill/>
          <a:extLst>
            <a:ext uri="{909E8E84-426E-40DD-AFC4-6F175D3DCCD1}">
              <a14:hiddenFill xmlns:a14="http://schemas.microsoft.com/office/drawing/2010/main">
                <a:solidFill>
                  <a:srgbClr val="FFFFFF"/>
                </a:solidFill>
              </a14:hiddenFill>
            </a:ext>
          </a:extLst>
        </p:spPr>
      </p:pic>
      <p:sp>
        <p:nvSpPr>
          <p:cNvPr id="73" name="テキスト ボックス 79">
            <a:extLst>
              <a:ext uri="{FF2B5EF4-FFF2-40B4-BE49-F238E27FC236}">
                <a16:creationId xmlns:a16="http://schemas.microsoft.com/office/drawing/2014/main" id="{A6FF7823-09C3-466C-AA10-8D54E2A94DA5}"/>
              </a:ext>
            </a:extLst>
          </p:cNvPr>
          <p:cNvSpPr txBox="1"/>
          <p:nvPr/>
        </p:nvSpPr>
        <p:spPr>
          <a:xfrm>
            <a:off x="7844251" y="5798991"/>
            <a:ext cx="1786750" cy="322353"/>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次世代</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KOMTRAX</a:t>
            </a:r>
          </a:p>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サーバ</a:t>
            </a:r>
          </a:p>
        </p:txBody>
      </p:sp>
      <p:sp>
        <p:nvSpPr>
          <p:cNvPr id="74" name="テキスト ボックス 73">
            <a:extLst>
              <a:ext uri="{FF2B5EF4-FFF2-40B4-BE49-F238E27FC236}">
                <a16:creationId xmlns:a16="http://schemas.microsoft.com/office/drawing/2014/main" id="{71D7DAD3-19B1-4336-BFA2-B0FFE9D67D45}"/>
              </a:ext>
            </a:extLst>
          </p:cNvPr>
          <p:cNvSpPr txBox="1"/>
          <p:nvPr/>
        </p:nvSpPr>
        <p:spPr>
          <a:xfrm>
            <a:off x="7317859" y="4711786"/>
            <a:ext cx="813096" cy="276999"/>
          </a:xfrm>
          <a:prstGeom prst="rect">
            <a:avLst/>
          </a:prstGeom>
          <a:noFill/>
        </p:spPr>
        <p:txBody>
          <a:bodyPr wrap="square">
            <a:spAutoFit/>
          </a:bodyPr>
          <a:lstStyle/>
          <a:p>
            <a:r>
              <a:rPr lang="en-US" altLang="ja-JP" sz="1200" dirty="0"/>
              <a:t>K</a:t>
            </a:r>
            <a:r>
              <a:rPr lang="ja-JP" altLang="en-US" sz="1200" dirty="0"/>
              <a:t>コマンド</a:t>
            </a:r>
          </a:p>
        </p:txBody>
      </p:sp>
      <p:cxnSp>
        <p:nvCxnSpPr>
          <p:cNvPr id="75" name="直線コネクタ 74">
            <a:extLst>
              <a:ext uri="{FF2B5EF4-FFF2-40B4-BE49-F238E27FC236}">
                <a16:creationId xmlns:a16="http://schemas.microsoft.com/office/drawing/2014/main" id="{F59B7D0B-6DF6-46A8-B006-15C84E05C571}"/>
              </a:ext>
            </a:extLst>
          </p:cNvPr>
          <p:cNvCxnSpPr>
            <a:cxnSpLocks/>
          </p:cNvCxnSpPr>
          <p:nvPr/>
        </p:nvCxnSpPr>
        <p:spPr>
          <a:xfrm>
            <a:off x="7217229" y="5671121"/>
            <a:ext cx="896406"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76" name="グループ化 75">
            <a:extLst>
              <a:ext uri="{FF2B5EF4-FFF2-40B4-BE49-F238E27FC236}">
                <a16:creationId xmlns:a16="http://schemas.microsoft.com/office/drawing/2014/main" id="{556B26A3-0197-4C53-9D39-99800DDFA64D}"/>
              </a:ext>
            </a:extLst>
          </p:cNvPr>
          <p:cNvGrpSpPr/>
          <p:nvPr/>
        </p:nvGrpSpPr>
        <p:grpSpPr>
          <a:xfrm>
            <a:off x="7391599" y="4953487"/>
            <a:ext cx="517164" cy="435416"/>
            <a:chOff x="4539197" y="4457834"/>
            <a:chExt cx="823482" cy="720747"/>
          </a:xfrm>
        </p:grpSpPr>
        <p:sp>
          <p:nvSpPr>
            <p:cNvPr id="77" name="四角形: メモ 76">
              <a:extLst>
                <a:ext uri="{FF2B5EF4-FFF2-40B4-BE49-F238E27FC236}">
                  <a16:creationId xmlns:a16="http://schemas.microsoft.com/office/drawing/2014/main" id="{96087CD5-A583-483B-8006-1EA1B632EBB2}"/>
                </a:ext>
              </a:extLst>
            </p:cNvPr>
            <p:cNvSpPr/>
            <p:nvPr/>
          </p:nvSpPr>
          <p:spPr>
            <a:xfrm flipV="1">
              <a:off x="4610189" y="4457834"/>
              <a:ext cx="752490" cy="720747"/>
            </a:xfrm>
            <a:prstGeom prst="foldedCorner">
              <a:avLst>
                <a:gd name="adj" fmla="val 15811"/>
              </a:avLst>
            </a:prstGeom>
            <a:solidFill>
              <a:sysClr val="window" lastClr="FFFFFF"/>
            </a:solidFill>
            <a:ln w="1270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78" name="テキスト ボックス 77">
              <a:extLst>
                <a:ext uri="{FF2B5EF4-FFF2-40B4-BE49-F238E27FC236}">
                  <a16:creationId xmlns:a16="http://schemas.microsoft.com/office/drawing/2014/main" id="{00E1CEFF-3E2D-4221-8F1F-CB8ACA295E4F}"/>
                </a:ext>
              </a:extLst>
            </p:cNvPr>
            <p:cNvSpPr txBox="1"/>
            <p:nvPr/>
          </p:nvSpPr>
          <p:spPr>
            <a:xfrm>
              <a:off x="4539197" y="4465806"/>
              <a:ext cx="506870" cy="253916"/>
            </a:xfrm>
            <a:prstGeom prst="rect">
              <a:avLst/>
            </a:prstGeom>
            <a:noFill/>
          </p:spPr>
          <p:txBody>
            <a:bodyPr wrap="none" rtlCol="0">
              <a:spAutoFit/>
            </a:bodyPr>
            <a:lstStyle/>
            <a:p>
              <a:r>
                <a:rPr kumimoji="1" lang="en-US" altLang="ja-JP" sz="1050" b="1" dirty="0">
                  <a:latin typeface="+mn-ea"/>
                </a:rPr>
                <a:t>Json</a:t>
              </a:r>
              <a:endParaRPr kumimoji="1" lang="ja-JP" altLang="en-US" sz="1050" b="1" dirty="0">
                <a:latin typeface="+mn-ea"/>
              </a:endParaRPr>
            </a:p>
          </p:txBody>
        </p:sp>
      </p:grpSp>
      <p:grpSp>
        <p:nvGrpSpPr>
          <p:cNvPr id="79" name="グループ化 78">
            <a:extLst>
              <a:ext uri="{FF2B5EF4-FFF2-40B4-BE49-F238E27FC236}">
                <a16:creationId xmlns:a16="http://schemas.microsoft.com/office/drawing/2014/main" id="{71FE719E-F5E5-4079-8A48-CC3AC3A7F0FA}"/>
              </a:ext>
            </a:extLst>
          </p:cNvPr>
          <p:cNvGrpSpPr/>
          <p:nvPr/>
        </p:nvGrpSpPr>
        <p:grpSpPr>
          <a:xfrm>
            <a:off x="7270336" y="5867023"/>
            <a:ext cx="517164" cy="435416"/>
            <a:chOff x="4539197" y="4457834"/>
            <a:chExt cx="823482" cy="720747"/>
          </a:xfrm>
        </p:grpSpPr>
        <p:sp>
          <p:nvSpPr>
            <p:cNvPr id="80" name="四角形: メモ 79">
              <a:extLst>
                <a:ext uri="{FF2B5EF4-FFF2-40B4-BE49-F238E27FC236}">
                  <a16:creationId xmlns:a16="http://schemas.microsoft.com/office/drawing/2014/main" id="{1A1DB138-D8D0-4B2A-A5D3-AC4E3D2FE921}"/>
                </a:ext>
              </a:extLst>
            </p:cNvPr>
            <p:cNvSpPr/>
            <p:nvPr/>
          </p:nvSpPr>
          <p:spPr>
            <a:xfrm flipV="1">
              <a:off x="4610189" y="4457834"/>
              <a:ext cx="752490" cy="720747"/>
            </a:xfrm>
            <a:prstGeom prst="foldedCorner">
              <a:avLst>
                <a:gd name="adj" fmla="val 15811"/>
              </a:avLst>
            </a:prstGeom>
            <a:solidFill>
              <a:sysClr val="window" lastClr="FFFFFF"/>
            </a:solidFill>
            <a:ln w="12700" cap="flat" cmpd="sng" algn="ctr">
              <a:solidFill>
                <a:schemeClr val="tx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81" name="テキスト ボックス 80">
              <a:extLst>
                <a:ext uri="{FF2B5EF4-FFF2-40B4-BE49-F238E27FC236}">
                  <a16:creationId xmlns:a16="http://schemas.microsoft.com/office/drawing/2014/main" id="{1EC6EFD6-8D65-4664-868F-B93F682D57F9}"/>
                </a:ext>
              </a:extLst>
            </p:cNvPr>
            <p:cNvSpPr txBox="1"/>
            <p:nvPr/>
          </p:nvSpPr>
          <p:spPr>
            <a:xfrm>
              <a:off x="4539197" y="4465806"/>
              <a:ext cx="506870" cy="253916"/>
            </a:xfrm>
            <a:prstGeom prst="rect">
              <a:avLst/>
            </a:prstGeom>
            <a:noFill/>
          </p:spPr>
          <p:txBody>
            <a:bodyPr wrap="none" rtlCol="0">
              <a:spAutoFit/>
            </a:bodyPr>
            <a:lstStyle/>
            <a:p>
              <a:r>
                <a:rPr kumimoji="1" lang="en-US" altLang="ja-JP" sz="1050" b="1" dirty="0">
                  <a:latin typeface="+mn-ea"/>
                </a:rPr>
                <a:t>Json</a:t>
              </a:r>
              <a:endParaRPr kumimoji="1" lang="ja-JP" altLang="en-US" sz="1050" b="1" dirty="0">
                <a:latin typeface="+mn-ea"/>
              </a:endParaRPr>
            </a:p>
          </p:txBody>
        </p:sp>
      </p:grpSp>
      <p:sp>
        <p:nvSpPr>
          <p:cNvPr id="82" name="テキスト ボックス 81">
            <a:extLst>
              <a:ext uri="{FF2B5EF4-FFF2-40B4-BE49-F238E27FC236}">
                <a16:creationId xmlns:a16="http://schemas.microsoft.com/office/drawing/2014/main" id="{E08327EC-C11A-4E5C-922C-91BFF7520B28}"/>
              </a:ext>
            </a:extLst>
          </p:cNvPr>
          <p:cNvSpPr txBox="1"/>
          <p:nvPr/>
        </p:nvSpPr>
        <p:spPr>
          <a:xfrm>
            <a:off x="7396979" y="5351045"/>
            <a:ext cx="654856" cy="261610"/>
          </a:xfrm>
          <a:prstGeom prst="rect">
            <a:avLst/>
          </a:prstGeom>
          <a:noFill/>
        </p:spPr>
        <p:txBody>
          <a:bodyPr wrap="square" rtlCol="0">
            <a:spAutoFit/>
          </a:bodyPr>
          <a:lstStyle/>
          <a:p>
            <a:r>
              <a:rPr kumimoji="1" lang="ja-JP" altLang="en-US" sz="1100" b="1" dirty="0">
                <a:solidFill>
                  <a:srgbClr val="FF0000"/>
                </a:solidFill>
                <a:latin typeface="+mn-ea"/>
              </a:rPr>
              <a:t>要求</a:t>
            </a:r>
            <a:endParaRPr kumimoji="1" lang="en-US" altLang="ja-JP" sz="1100" b="1" dirty="0">
              <a:solidFill>
                <a:srgbClr val="FF0000"/>
              </a:solidFill>
              <a:latin typeface="+mn-ea"/>
            </a:endParaRPr>
          </a:p>
        </p:txBody>
      </p:sp>
      <p:sp>
        <p:nvSpPr>
          <p:cNvPr id="83" name="テキスト ボックス 82">
            <a:extLst>
              <a:ext uri="{FF2B5EF4-FFF2-40B4-BE49-F238E27FC236}">
                <a16:creationId xmlns:a16="http://schemas.microsoft.com/office/drawing/2014/main" id="{EDA8AEF0-D692-4404-A192-A5F429EE1259}"/>
              </a:ext>
            </a:extLst>
          </p:cNvPr>
          <p:cNvSpPr txBox="1"/>
          <p:nvPr/>
        </p:nvSpPr>
        <p:spPr>
          <a:xfrm>
            <a:off x="7291734" y="5617017"/>
            <a:ext cx="654856" cy="261610"/>
          </a:xfrm>
          <a:prstGeom prst="rect">
            <a:avLst/>
          </a:prstGeom>
          <a:noFill/>
        </p:spPr>
        <p:txBody>
          <a:bodyPr wrap="square" rtlCol="0">
            <a:spAutoFit/>
          </a:bodyPr>
          <a:lstStyle/>
          <a:p>
            <a:r>
              <a:rPr kumimoji="1" lang="ja-JP" altLang="en-US" sz="1100" b="1" dirty="0">
                <a:solidFill>
                  <a:srgbClr val="FF0000"/>
                </a:solidFill>
                <a:latin typeface="+mn-ea"/>
              </a:rPr>
              <a:t>応答</a:t>
            </a:r>
            <a:endParaRPr kumimoji="1" lang="en-US" altLang="ja-JP" sz="1100" b="1" dirty="0">
              <a:solidFill>
                <a:srgbClr val="FF0000"/>
              </a:solidFill>
              <a:latin typeface="+mn-ea"/>
            </a:endParaRPr>
          </a:p>
        </p:txBody>
      </p:sp>
    </p:spTree>
    <p:extLst>
      <p:ext uri="{BB962C8B-B14F-4D97-AF65-F5344CB8AC3E}">
        <p14:creationId xmlns:p14="http://schemas.microsoft.com/office/powerpoint/2010/main" val="3545961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１．開発の背景と要求仕様</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52269" y="508637"/>
            <a:ext cx="8750808" cy="200897"/>
          </a:xfrm>
        </p:spPr>
        <p:txBody>
          <a:bodyPr/>
          <a:lstStyle/>
          <a:p>
            <a:pPr marL="0" indent="0">
              <a:buNone/>
            </a:pPr>
            <a:r>
              <a:rPr lang="ja-JP" altLang="en-US" b="1" dirty="0"/>
              <a:t>ビジネスアプリ実現のために必要な要求仕様</a:t>
            </a:r>
            <a:endParaRPr lang="en-US" altLang="ja-JP" b="1" dirty="0"/>
          </a:p>
        </p:txBody>
      </p:sp>
      <p:graphicFrame>
        <p:nvGraphicFramePr>
          <p:cNvPr id="5" name="表 4">
            <a:extLst>
              <a:ext uri="{FF2B5EF4-FFF2-40B4-BE49-F238E27FC236}">
                <a16:creationId xmlns:a16="http://schemas.microsoft.com/office/drawing/2014/main" id="{39010E41-A5F5-47D3-B104-3964033197D8}"/>
              </a:ext>
            </a:extLst>
          </p:cNvPr>
          <p:cNvGraphicFramePr>
            <a:graphicFrameLocks noGrp="1"/>
          </p:cNvGraphicFramePr>
          <p:nvPr>
            <p:extLst>
              <p:ext uri="{D42A27DB-BD31-4B8C-83A1-F6EECF244321}">
                <p14:modId xmlns:p14="http://schemas.microsoft.com/office/powerpoint/2010/main" val="3548018338"/>
              </p:ext>
            </p:extLst>
          </p:nvPr>
        </p:nvGraphicFramePr>
        <p:xfrm>
          <a:off x="27232" y="2363666"/>
          <a:ext cx="9080391" cy="4070422"/>
        </p:xfrm>
        <a:graphic>
          <a:graphicData uri="http://schemas.openxmlformats.org/drawingml/2006/table">
            <a:tbl>
              <a:tblPr firstRow="1" bandRow="1">
                <a:tableStyleId>{5C22544A-7EE6-4342-B048-85BDC9FD1C3A}</a:tableStyleId>
              </a:tblPr>
              <a:tblGrid>
                <a:gridCol w="511855">
                  <a:extLst>
                    <a:ext uri="{9D8B030D-6E8A-4147-A177-3AD203B41FA5}">
                      <a16:colId xmlns:a16="http://schemas.microsoft.com/office/drawing/2014/main" val="2453719218"/>
                    </a:ext>
                  </a:extLst>
                </a:gridCol>
                <a:gridCol w="1992694">
                  <a:extLst>
                    <a:ext uri="{9D8B030D-6E8A-4147-A177-3AD203B41FA5}">
                      <a16:colId xmlns:a16="http://schemas.microsoft.com/office/drawing/2014/main" val="2865506366"/>
                    </a:ext>
                  </a:extLst>
                </a:gridCol>
                <a:gridCol w="4136447">
                  <a:extLst>
                    <a:ext uri="{9D8B030D-6E8A-4147-A177-3AD203B41FA5}">
                      <a16:colId xmlns:a16="http://schemas.microsoft.com/office/drawing/2014/main" val="107946087"/>
                    </a:ext>
                  </a:extLst>
                </a:gridCol>
                <a:gridCol w="2439395">
                  <a:extLst>
                    <a:ext uri="{9D8B030D-6E8A-4147-A177-3AD203B41FA5}">
                      <a16:colId xmlns:a16="http://schemas.microsoft.com/office/drawing/2014/main" val="3445556329"/>
                    </a:ext>
                  </a:extLst>
                </a:gridCol>
              </a:tblGrid>
              <a:tr h="222610">
                <a:tc>
                  <a:txBody>
                    <a:bodyPr/>
                    <a:lstStyle/>
                    <a:p>
                      <a:r>
                        <a:rPr kumimoji="1" lang="en-US" altLang="ja-JP" sz="1100" dirty="0"/>
                        <a:t>No.</a:t>
                      </a:r>
                      <a:endParaRPr kumimoji="1" lang="ja-JP" altLang="en-US" sz="1100" dirty="0"/>
                    </a:p>
                  </a:txBody>
                  <a:tcPr>
                    <a:solidFill>
                      <a:srgbClr val="140A9A"/>
                    </a:solidFill>
                  </a:tcPr>
                </a:tc>
                <a:tc>
                  <a:txBody>
                    <a:bodyPr/>
                    <a:lstStyle/>
                    <a:p>
                      <a:r>
                        <a:rPr kumimoji="1" lang="ja-JP" altLang="en-US" sz="1100" dirty="0"/>
                        <a:t>要求</a:t>
                      </a:r>
                    </a:p>
                  </a:txBody>
                  <a:tcPr>
                    <a:solidFill>
                      <a:srgbClr val="140A9A"/>
                    </a:solidFill>
                  </a:tcPr>
                </a:tc>
                <a:tc>
                  <a:txBody>
                    <a:bodyPr/>
                    <a:lstStyle/>
                    <a:p>
                      <a:r>
                        <a:rPr kumimoji="1" lang="ja-JP" altLang="en-US" sz="1100" dirty="0"/>
                        <a:t>詳細</a:t>
                      </a:r>
                    </a:p>
                  </a:txBody>
                  <a:tcPr>
                    <a:solidFill>
                      <a:srgbClr val="140A9A"/>
                    </a:solidFill>
                  </a:tcPr>
                </a:tc>
                <a:tc>
                  <a:txBody>
                    <a:bodyPr/>
                    <a:lstStyle/>
                    <a:p>
                      <a:r>
                        <a:rPr kumimoji="1" lang="ja-JP" altLang="en-US" sz="1100" dirty="0"/>
                        <a:t>リリース日程</a:t>
                      </a:r>
                    </a:p>
                  </a:txBody>
                  <a:tcPr>
                    <a:solidFill>
                      <a:srgbClr val="140A9A"/>
                    </a:solidFill>
                  </a:tcPr>
                </a:tc>
                <a:extLst>
                  <a:ext uri="{0D108BD9-81ED-4DB2-BD59-A6C34878D82A}">
                    <a16:rowId xmlns:a16="http://schemas.microsoft.com/office/drawing/2014/main" val="3482145317"/>
                  </a:ext>
                </a:extLst>
              </a:tr>
              <a:tr h="427171">
                <a:tc>
                  <a:txBody>
                    <a:bodyPr/>
                    <a:lstStyle/>
                    <a:p>
                      <a:r>
                        <a:rPr lang="en-US" altLang="ja-JP" sz="1100" b="1" dirty="0">
                          <a:solidFill>
                            <a:schemeClr val="bg1">
                              <a:lumMod val="50000"/>
                            </a:schemeClr>
                          </a:solidFill>
                        </a:rPr>
                        <a:t>4</a:t>
                      </a:r>
                      <a:endParaRPr lang="ja-JP" altLang="en-US" sz="1100" b="1" dirty="0">
                        <a:solidFill>
                          <a:schemeClr val="bg1">
                            <a:lumMod val="50000"/>
                          </a:schemeClr>
                        </a:solidFill>
                      </a:endParaRPr>
                    </a:p>
                  </a:txBody>
                  <a:tcPr>
                    <a:solidFill>
                      <a:srgbClr val="F2F2F2"/>
                    </a:solidFill>
                  </a:tcPr>
                </a:tc>
                <a:tc>
                  <a:txBody>
                    <a:bodyPr/>
                    <a:lstStyle/>
                    <a:p>
                      <a:r>
                        <a:rPr lang="ja-JP" altLang="en-US" sz="1100" b="1" dirty="0">
                          <a:solidFill>
                            <a:schemeClr val="bg1">
                              <a:lumMod val="50000"/>
                            </a:schemeClr>
                          </a:solidFill>
                        </a:rPr>
                        <a:t>カスタマイズデータ取得</a:t>
                      </a:r>
                    </a:p>
                  </a:txBody>
                  <a:tcPr>
                    <a:solidFill>
                      <a:srgbClr val="F2F2F2"/>
                    </a:solidFill>
                  </a:tcPr>
                </a:tc>
                <a:tc>
                  <a:txBody>
                    <a:bodyPr/>
                    <a:lstStyle/>
                    <a:p>
                      <a:pPr marL="0" indent="0">
                        <a:buFont typeface="+mj-lt"/>
                        <a:buNone/>
                      </a:pPr>
                      <a:r>
                        <a:rPr kumimoji="1" lang="ja-JP" altLang="en-US" sz="900" dirty="0">
                          <a:solidFill>
                            <a:schemeClr val="bg1">
                              <a:lumMod val="50000"/>
                            </a:schemeClr>
                          </a:solidFill>
                        </a:rPr>
                        <a:t>データベースに格納されているカスタマイズデータを</a:t>
                      </a:r>
                      <a:r>
                        <a:rPr kumimoji="1" lang="en-US" altLang="ja-JP" sz="900" dirty="0">
                          <a:solidFill>
                            <a:schemeClr val="bg1">
                              <a:lumMod val="50000"/>
                            </a:schemeClr>
                          </a:solidFill>
                        </a:rPr>
                        <a:t>API</a:t>
                      </a:r>
                      <a:r>
                        <a:rPr kumimoji="1" lang="ja-JP" altLang="en-US" sz="900" dirty="0">
                          <a:solidFill>
                            <a:schemeClr val="bg1">
                              <a:lumMod val="50000"/>
                            </a:schemeClr>
                          </a:solidFill>
                        </a:rPr>
                        <a:t>で取得する。</a:t>
                      </a:r>
                    </a:p>
                  </a:txBody>
                  <a:tcP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1" lang="ja-JP" altLang="en-US" sz="1100" b="1" dirty="0">
                          <a:solidFill>
                            <a:schemeClr val="bg1">
                              <a:lumMod val="50000"/>
                            </a:schemeClr>
                          </a:solidFill>
                        </a:rPr>
                        <a:t>リリース</a:t>
                      </a:r>
                      <a:r>
                        <a:rPr kumimoji="1" lang="en-US" altLang="ja-JP" sz="1100" b="1" dirty="0">
                          <a:solidFill>
                            <a:schemeClr val="bg1">
                              <a:lumMod val="50000"/>
                            </a:schemeClr>
                          </a:solidFill>
                        </a:rPr>
                        <a:t>1.1</a:t>
                      </a:r>
                      <a:endParaRPr kumimoji="1" lang="ja-JP" altLang="en-US" sz="1100" b="1" dirty="0">
                        <a:solidFill>
                          <a:schemeClr val="bg1">
                            <a:lumMod val="50000"/>
                          </a:schemeClr>
                        </a:solidFill>
                      </a:endParaRPr>
                    </a:p>
                  </a:txBody>
                  <a:tcPr>
                    <a:solidFill>
                      <a:srgbClr val="F2F2F2"/>
                    </a:solidFill>
                  </a:tcPr>
                </a:tc>
                <a:extLst>
                  <a:ext uri="{0D108BD9-81ED-4DB2-BD59-A6C34878D82A}">
                    <a16:rowId xmlns:a16="http://schemas.microsoft.com/office/drawing/2014/main" val="621631759"/>
                  </a:ext>
                </a:extLst>
              </a:tr>
              <a:tr h="222610">
                <a:tc rowSpan="4">
                  <a:txBody>
                    <a:bodyPr/>
                    <a:lstStyle/>
                    <a:p>
                      <a:r>
                        <a:rPr lang="en-US" altLang="ja-JP" sz="1100" b="1" dirty="0">
                          <a:solidFill>
                            <a:schemeClr val="bg1">
                              <a:lumMod val="50000"/>
                            </a:schemeClr>
                          </a:solidFill>
                        </a:rPr>
                        <a:t>2</a:t>
                      </a:r>
                      <a:endParaRPr lang="ja-JP" altLang="en-US" sz="1100" b="1" dirty="0">
                        <a:solidFill>
                          <a:schemeClr val="bg1">
                            <a:lumMod val="50000"/>
                          </a:schemeClr>
                        </a:solidFill>
                      </a:endParaRPr>
                    </a:p>
                  </a:txBody>
                  <a:tcPr>
                    <a:solidFill>
                      <a:srgbClr val="F2F2F2"/>
                    </a:solidFill>
                  </a:tcPr>
                </a:tc>
                <a:tc rowSpan="4">
                  <a:txBody>
                    <a:bodyPr/>
                    <a:lstStyle/>
                    <a:p>
                      <a:r>
                        <a:rPr lang="ja-JP" altLang="en-US" sz="1100" b="1" dirty="0">
                          <a:solidFill>
                            <a:schemeClr val="bg1">
                              <a:lumMod val="50000"/>
                            </a:schemeClr>
                          </a:solidFill>
                        </a:rPr>
                        <a:t>カスタマイズデータ受信</a:t>
                      </a:r>
                    </a:p>
                  </a:txBody>
                  <a:tcPr>
                    <a:solidFill>
                      <a:srgbClr val="F2F2F2"/>
                    </a:solidFill>
                  </a:tcPr>
                </a:tc>
                <a:tc rowSpan="4">
                  <a:txBody>
                    <a:bodyPr/>
                    <a:lstStyle/>
                    <a:p>
                      <a:pPr marL="0" indent="0">
                        <a:buFont typeface="+mj-lt"/>
                        <a:buNone/>
                      </a:pPr>
                      <a:r>
                        <a:rPr kumimoji="1" lang="ja-JP" altLang="en-US" sz="900" dirty="0">
                          <a:solidFill>
                            <a:schemeClr val="bg1">
                              <a:lumMod val="50000"/>
                            </a:schemeClr>
                          </a:solidFill>
                        </a:rPr>
                        <a:t>車両から送信されるカスタマイズデータをサーバで受信しデータベースに格納する。</a:t>
                      </a:r>
                    </a:p>
                  </a:txBody>
                  <a:tcPr>
                    <a:solidFill>
                      <a:srgbClr val="F2F2F2"/>
                    </a:solidFill>
                  </a:tcPr>
                </a:tc>
                <a:tc>
                  <a:txBody>
                    <a:bodyPr/>
                    <a:lstStyle/>
                    <a:p>
                      <a:pPr marL="0" indent="0">
                        <a:buFont typeface="+mj-lt"/>
                        <a:buNone/>
                      </a:pPr>
                      <a:r>
                        <a:rPr kumimoji="1" lang="ja-JP" altLang="en-US" sz="1100" dirty="0">
                          <a:solidFill>
                            <a:schemeClr val="bg1">
                              <a:lumMod val="50000"/>
                            </a:schemeClr>
                          </a:solidFill>
                        </a:rPr>
                        <a:t>トレンド：リリース</a:t>
                      </a:r>
                      <a:r>
                        <a:rPr kumimoji="1" lang="en-US" altLang="ja-JP" sz="1100" dirty="0">
                          <a:solidFill>
                            <a:schemeClr val="bg1">
                              <a:lumMod val="50000"/>
                            </a:schemeClr>
                          </a:solidFill>
                        </a:rPr>
                        <a:t>1</a:t>
                      </a:r>
                      <a:endParaRPr kumimoji="1" lang="ja-JP" altLang="en-US" sz="1100" dirty="0">
                        <a:solidFill>
                          <a:schemeClr val="bg1">
                            <a:lumMod val="50000"/>
                          </a:schemeClr>
                        </a:solidFill>
                      </a:endParaRPr>
                    </a:p>
                  </a:txBody>
                  <a:tcPr>
                    <a:solidFill>
                      <a:srgbClr val="F2F2F2"/>
                    </a:solidFill>
                  </a:tcPr>
                </a:tc>
                <a:extLst>
                  <a:ext uri="{0D108BD9-81ED-4DB2-BD59-A6C34878D82A}">
                    <a16:rowId xmlns:a16="http://schemas.microsoft.com/office/drawing/2014/main" val="3352967331"/>
                  </a:ext>
                </a:extLst>
              </a:tr>
              <a:tr h="222610">
                <a:tc vMerge="1">
                  <a:txBody>
                    <a:bodyPr/>
                    <a:lstStyle/>
                    <a:p>
                      <a:endParaRPr kumimoji="1" lang="ja-JP" altLang="en-US"/>
                    </a:p>
                  </a:txBody>
                  <a:tcPr>
                    <a:solidFill>
                      <a:srgbClr val="E4E9EE"/>
                    </a:solidFill>
                  </a:tcPr>
                </a:tc>
                <a:tc vMerge="1">
                  <a:txBody>
                    <a:bodyPr/>
                    <a:lstStyle/>
                    <a:p>
                      <a:endParaRPr kumimoji="1" lang="ja-JP" altLang="en-US"/>
                    </a:p>
                  </a:txBody>
                  <a:tcPr>
                    <a:solidFill>
                      <a:srgbClr val="E4E9EE"/>
                    </a:solidFill>
                  </a:tcPr>
                </a:tc>
                <a:tc vMerge="1">
                  <a:txBody>
                    <a:bodyPr/>
                    <a:lstStyle/>
                    <a:p>
                      <a:endParaRPr kumimoji="1" lang="ja-JP" altLang="en-US"/>
                    </a:p>
                  </a:txBody>
                  <a:tcPr>
                    <a:solidFill>
                      <a:srgbClr val="E4E9EE"/>
                    </a:solidFill>
                  </a:tcPr>
                </a:tc>
                <a:tc>
                  <a:txBody>
                    <a:bodyPr/>
                    <a:lstStyle/>
                    <a:p>
                      <a:pPr marL="0" indent="0">
                        <a:buFont typeface="+mj-lt"/>
                        <a:buNone/>
                      </a:pPr>
                      <a:r>
                        <a:rPr kumimoji="1" lang="ja-JP" altLang="en-US" sz="1100" dirty="0">
                          <a:solidFill>
                            <a:schemeClr val="bg1">
                              <a:lumMod val="50000"/>
                            </a:schemeClr>
                          </a:solidFill>
                        </a:rPr>
                        <a:t>ヒストリー：リリース</a:t>
                      </a:r>
                      <a:r>
                        <a:rPr kumimoji="1" lang="en-US" altLang="ja-JP" sz="1100" dirty="0">
                          <a:solidFill>
                            <a:schemeClr val="bg1">
                              <a:lumMod val="50000"/>
                            </a:schemeClr>
                          </a:solidFill>
                        </a:rPr>
                        <a:t>1</a:t>
                      </a:r>
                      <a:endParaRPr kumimoji="1" lang="ja-JP" altLang="en-US" sz="1100" dirty="0">
                        <a:solidFill>
                          <a:schemeClr val="bg1">
                            <a:lumMod val="50000"/>
                          </a:schemeClr>
                        </a:solidFill>
                      </a:endParaRPr>
                    </a:p>
                  </a:txBody>
                  <a:tcPr>
                    <a:solidFill>
                      <a:srgbClr val="F2F2F2"/>
                    </a:solidFill>
                  </a:tcPr>
                </a:tc>
                <a:extLst>
                  <a:ext uri="{0D108BD9-81ED-4DB2-BD59-A6C34878D82A}">
                    <a16:rowId xmlns:a16="http://schemas.microsoft.com/office/drawing/2014/main" val="3178031425"/>
                  </a:ext>
                </a:extLst>
              </a:tr>
              <a:tr h="2226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indent="0">
                        <a:buFont typeface="+mj-lt"/>
                        <a:buNone/>
                      </a:pPr>
                      <a:r>
                        <a:rPr kumimoji="1" lang="ja-JP" altLang="en-US" sz="1100" dirty="0">
                          <a:solidFill>
                            <a:schemeClr val="bg1">
                              <a:lumMod val="50000"/>
                            </a:schemeClr>
                          </a:solidFill>
                        </a:rPr>
                        <a:t>マップ：リリース</a:t>
                      </a:r>
                      <a:r>
                        <a:rPr kumimoji="1" lang="en-US" altLang="ja-JP" sz="1100" dirty="0">
                          <a:solidFill>
                            <a:schemeClr val="bg1">
                              <a:lumMod val="50000"/>
                            </a:schemeClr>
                          </a:solidFill>
                        </a:rPr>
                        <a:t>1</a:t>
                      </a:r>
                      <a:endParaRPr kumimoji="1" lang="ja-JP" altLang="en-US" sz="1100" dirty="0">
                        <a:solidFill>
                          <a:schemeClr val="bg1">
                            <a:lumMod val="50000"/>
                          </a:schemeClr>
                        </a:solidFill>
                      </a:endParaRPr>
                    </a:p>
                  </a:txBody>
                  <a:tcPr>
                    <a:solidFill>
                      <a:srgbClr val="F2F2F2"/>
                    </a:solidFill>
                  </a:tcPr>
                </a:tc>
                <a:extLst>
                  <a:ext uri="{0D108BD9-81ED-4DB2-BD59-A6C34878D82A}">
                    <a16:rowId xmlns:a16="http://schemas.microsoft.com/office/drawing/2014/main" val="2416970322"/>
                  </a:ext>
                </a:extLst>
              </a:tr>
              <a:tr h="366651">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marL="0" indent="0">
                        <a:buFont typeface="+mj-lt"/>
                        <a:buNone/>
                      </a:pPr>
                      <a:r>
                        <a:rPr kumimoji="1" lang="ja-JP" altLang="en-US" sz="1100" b="1" dirty="0">
                          <a:solidFill>
                            <a:schemeClr val="bg1">
                              <a:lumMod val="50000"/>
                            </a:schemeClr>
                          </a:solidFill>
                        </a:rPr>
                        <a:t>スナップショット</a:t>
                      </a:r>
                      <a:r>
                        <a:rPr kumimoji="1" lang="ja-JP" altLang="en-US" sz="1100" dirty="0">
                          <a:solidFill>
                            <a:schemeClr val="bg1">
                              <a:lumMod val="50000"/>
                            </a:schemeClr>
                          </a:solidFill>
                        </a:rPr>
                        <a:t>：</a:t>
                      </a:r>
                      <a:r>
                        <a:rPr kumimoji="1" lang="ja-JP" altLang="en-US" sz="1100" b="1" dirty="0">
                          <a:solidFill>
                            <a:schemeClr val="bg1">
                              <a:lumMod val="50000"/>
                            </a:schemeClr>
                          </a:solidFill>
                        </a:rPr>
                        <a:t>リリース</a:t>
                      </a:r>
                      <a:r>
                        <a:rPr kumimoji="1" lang="en-US" altLang="ja-JP" sz="1100" b="1" dirty="0">
                          <a:solidFill>
                            <a:schemeClr val="bg1">
                              <a:lumMod val="50000"/>
                            </a:schemeClr>
                          </a:solidFill>
                        </a:rPr>
                        <a:t>1.1</a:t>
                      </a:r>
                      <a:endParaRPr kumimoji="1" lang="ja-JP" altLang="en-US" sz="1100" b="1" dirty="0">
                        <a:solidFill>
                          <a:schemeClr val="bg1">
                            <a:lumMod val="50000"/>
                          </a:schemeClr>
                        </a:solidFill>
                      </a:endParaRPr>
                    </a:p>
                  </a:txBody>
                  <a:tcPr>
                    <a:solidFill>
                      <a:srgbClr val="F2F2F2"/>
                    </a:solidFill>
                  </a:tcPr>
                </a:tc>
                <a:extLst>
                  <a:ext uri="{0D108BD9-81ED-4DB2-BD59-A6C34878D82A}">
                    <a16:rowId xmlns:a16="http://schemas.microsoft.com/office/drawing/2014/main" val="1472243733"/>
                  </a:ext>
                </a:extLst>
              </a:tr>
              <a:tr h="903534">
                <a:tc>
                  <a:txBody>
                    <a:bodyPr/>
                    <a:lstStyle/>
                    <a:p>
                      <a:r>
                        <a:rPr lang="en-US" altLang="ja-JP" sz="1100" b="1" dirty="0">
                          <a:solidFill>
                            <a:schemeClr val="tx1"/>
                          </a:solidFill>
                        </a:rPr>
                        <a:t>1</a:t>
                      </a:r>
                      <a:endParaRPr lang="ja-JP" altLang="en-US" sz="1100" b="1" dirty="0">
                        <a:solidFill>
                          <a:schemeClr val="tx1"/>
                        </a:solidFill>
                      </a:endParaRPr>
                    </a:p>
                  </a:txBody>
                  <a:tcPr>
                    <a:solidFill>
                      <a:srgbClr val="E4E9EE"/>
                    </a:solidFill>
                  </a:tcPr>
                </a:tc>
                <a:tc>
                  <a:txBody>
                    <a:bodyPr/>
                    <a:lstStyle/>
                    <a:p>
                      <a:r>
                        <a:rPr lang="ja-JP" altLang="en-US" sz="1100" b="1" dirty="0">
                          <a:solidFill>
                            <a:schemeClr val="tx1"/>
                          </a:solidFill>
                        </a:rPr>
                        <a:t>カスタマイズ設定</a:t>
                      </a:r>
                    </a:p>
                  </a:txBody>
                  <a:tcPr>
                    <a:solidFill>
                      <a:srgbClr val="E4E9EE"/>
                    </a:solidFill>
                  </a:tcPr>
                </a:tc>
                <a:tc>
                  <a:txBody>
                    <a:bodyPr/>
                    <a:lstStyle/>
                    <a:p>
                      <a:pPr marL="171450" indent="-171450">
                        <a:buFont typeface="Arial" panose="020B0604020202020204" pitchFamily="34" charset="0"/>
                        <a:buChar char="•"/>
                      </a:pPr>
                      <a:r>
                        <a:rPr kumimoji="1" lang="en-US" altLang="ja-JP" sz="900" dirty="0">
                          <a:solidFill>
                            <a:schemeClr val="tx1"/>
                          </a:solidFill>
                        </a:rPr>
                        <a:t>Web</a:t>
                      </a:r>
                      <a:r>
                        <a:rPr kumimoji="1" lang="ja-JP" altLang="en-US" sz="900" dirty="0">
                          <a:solidFill>
                            <a:schemeClr val="tx1"/>
                          </a:solidFill>
                        </a:rPr>
                        <a:t>画面からカスタマイズ用途定義を選択し、車両に対してカスタマイズ設定をおこなう。車両に現在設定されているカスタマイズ設定一覧も確認する。</a:t>
                      </a:r>
                      <a:endParaRPr kumimoji="1" lang="en-US" altLang="ja-JP" sz="9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dirty="0">
                          <a:solidFill>
                            <a:schemeClr val="tx1"/>
                          </a:solidFill>
                        </a:rPr>
                        <a:t>Web</a:t>
                      </a:r>
                      <a:r>
                        <a:rPr kumimoji="1" lang="ja-JP" altLang="en-US" sz="900" dirty="0">
                          <a:solidFill>
                            <a:schemeClr val="tx1"/>
                          </a:solidFill>
                        </a:rPr>
                        <a:t>画面からカスタマイズ設定をおこなう際に、カスタマイズ設定の即時反映コマンドと通常反映コマンドのいずれを用いるか選択できるようにする。</a:t>
                      </a:r>
                      <a:endParaRPr kumimoji="1" lang="en-US" altLang="ja-JP" sz="9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dirty="0">
                          <a:solidFill>
                            <a:schemeClr val="tx1"/>
                          </a:solidFill>
                        </a:rPr>
                        <a:t>Web</a:t>
                      </a:r>
                      <a:r>
                        <a:rPr kumimoji="1" lang="ja-JP" altLang="en-US" sz="900" dirty="0">
                          <a:solidFill>
                            <a:schemeClr val="tx1"/>
                          </a:solidFill>
                        </a:rPr>
                        <a:t>画面からカスタマイズ設定を行ってから車両へ反映完了するまでのステータスを確認する。</a:t>
                      </a:r>
                      <a:endParaRPr kumimoji="1" lang="en-US" altLang="ja-JP" sz="900" dirty="0">
                        <a:solidFill>
                          <a:schemeClr val="tx1"/>
                        </a:solidFill>
                      </a:endParaRPr>
                    </a:p>
                    <a:p>
                      <a:pPr marL="171450" indent="-171450">
                        <a:buFont typeface="Arial" panose="020B0604020202020204" pitchFamily="34" charset="0"/>
                        <a:buChar char="•"/>
                      </a:pPr>
                      <a:r>
                        <a:rPr kumimoji="1" lang="ja-JP" altLang="en-US" sz="900" dirty="0">
                          <a:solidFill>
                            <a:schemeClr val="tx1"/>
                          </a:solidFill>
                        </a:rPr>
                        <a:t>各機能利用に必要な権限を画面上で各ユーザへ付与する。</a:t>
                      </a:r>
                      <a:endParaRPr kumimoji="1" lang="en-US" altLang="ja-JP" sz="900" dirty="0">
                        <a:solidFill>
                          <a:schemeClr val="tx1"/>
                        </a:solidFill>
                      </a:endParaRPr>
                    </a:p>
                    <a:p>
                      <a:pPr marL="171450" indent="-171450">
                        <a:buFont typeface="Arial" panose="020B0604020202020204" pitchFamily="34" charset="0"/>
                        <a:buChar char="•"/>
                      </a:pPr>
                      <a:r>
                        <a:rPr kumimoji="1" lang="ja-JP" altLang="en-US" sz="900" dirty="0">
                          <a:solidFill>
                            <a:schemeClr val="tx1"/>
                          </a:solidFill>
                        </a:rPr>
                        <a:t>カスタマイズ設定や権限設定を実施した履歴を確認する。</a:t>
                      </a:r>
                      <a:endParaRPr kumimoji="1" lang="en-US" altLang="ja-JP" sz="900" dirty="0">
                        <a:solidFill>
                          <a:schemeClr val="tx1"/>
                        </a:solidFill>
                      </a:endParaRPr>
                    </a:p>
                  </a:txBody>
                  <a:tcPr>
                    <a:solidFill>
                      <a:srgbClr val="E4E9EE"/>
                    </a:solidFill>
                  </a:tcPr>
                </a:tc>
                <a:tc>
                  <a:txBody>
                    <a:bodyPr/>
                    <a:lstStyle/>
                    <a:p>
                      <a:pPr marL="0" indent="0">
                        <a:buFont typeface="+mj-lt"/>
                        <a:buNone/>
                      </a:pPr>
                      <a:r>
                        <a:rPr kumimoji="1" lang="ja-JP" altLang="en-US" sz="1100" b="1" dirty="0">
                          <a:solidFill>
                            <a:schemeClr val="accent6"/>
                          </a:solidFill>
                        </a:rPr>
                        <a:t>リリース</a:t>
                      </a:r>
                      <a:r>
                        <a:rPr kumimoji="1" lang="en-US" altLang="ja-JP" sz="1100" b="1" dirty="0">
                          <a:solidFill>
                            <a:schemeClr val="accent6"/>
                          </a:solidFill>
                        </a:rPr>
                        <a:t>1.2</a:t>
                      </a:r>
                      <a:endParaRPr kumimoji="1" lang="ja-JP" altLang="en-US" sz="1100" b="1" dirty="0">
                        <a:solidFill>
                          <a:schemeClr val="accent6"/>
                        </a:solidFill>
                      </a:endParaRPr>
                    </a:p>
                  </a:txBody>
                  <a:tcPr>
                    <a:solidFill>
                      <a:srgbClr val="E4E9EE"/>
                    </a:solidFill>
                  </a:tcPr>
                </a:tc>
                <a:extLst>
                  <a:ext uri="{0D108BD9-81ED-4DB2-BD59-A6C34878D82A}">
                    <a16:rowId xmlns:a16="http://schemas.microsoft.com/office/drawing/2014/main" val="736859081"/>
                  </a:ext>
                </a:extLst>
              </a:tr>
              <a:tr h="1013087">
                <a:tc>
                  <a:txBody>
                    <a:bodyPr/>
                    <a:lstStyle/>
                    <a:p>
                      <a:r>
                        <a:rPr lang="en-US" altLang="ja-JP" sz="1100" b="1" dirty="0">
                          <a:solidFill>
                            <a:schemeClr val="tx1"/>
                          </a:solidFill>
                        </a:rPr>
                        <a:t>3</a:t>
                      </a:r>
                      <a:endParaRPr lang="ja-JP" altLang="en-US" sz="1100" b="1" dirty="0">
                        <a:solidFill>
                          <a:schemeClr val="tx1"/>
                        </a:solidFill>
                      </a:endParaRPr>
                    </a:p>
                  </a:txBody>
                  <a:tcPr>
                    <a:solidFill>
                      <a:srgbClr val="E4E9EE"/>
                    </a:solidFill>
                  </a:tcPr>
                </a:tc>
                <a:tc>
                  <a:txBody>
                    <a:bodyPr/>
                    <a:lstStyle/>
                    <a:p>
                      <a:r>
                        <a:rPr lang="ja-JP" altLang="en-US" sz="1100" b="1" dirty="0">
                          <a:solidFill>
                            <a:schemeClr val="tx1"/>
                          </a:solidFill>
                        </a:rPr>
                        <a:t>カスタマイズデータ送信要求</a:t>
                      </a:r>
                    </a:p>
                  </a:txBody>
                  <a:tcPr>
                    <a:solidFill>
                      <a:srgbClr val="E4E9EE"/>
                    </a:solidFill>
                  </a:tcPr>
                </a:tc>
                <a:tc>
                  <a:txBody>
                    <a:bodyPr/>
                    <a:lstStyle/>
                    <a:p>
                      <a:pPr marL="171450" indent="-171450">
                        <a:buFont typeface="Arial" panose="020B0604020202020204" pitchFamily="34" charset="0"/>
                        <a:buChar char="•"/>
                      </a:pPr>
                      <a:r>
                        <a:rPr kumimoji="1" lang="ja-JP" altLang="en-US" sz="900" dirty="0">
                          <a:solidFill>
                            <a:schemeClr val="tx1"/>
                          </a:solidFill>
                        </a:rPr>
                        <a:t>非送信設定（定期的に送ることになっていない設定）になっているカスタマイズデータや、未送信カスタマイズデータ（車両からは送信したつもりが実際には送信できていないデータ）について、カスタマイズデータを送信するよう</a:t>
                      </a:r>
                      <a:r>
                        <a:rPr kumimoji="1" lang="en-US" altLang="ja-JP" sz="900" dirty="0">
                          <a:solidFill>
                            <a:schemeClr val="tx1"/>
                          </a:solidFill>
                        </a:rPr>
                        <a:t>API</a:t>
                      </a:r>
                      <a:r>
                        <a:rPr kumimoji="1" lang="ja-JP" altLang="en-US" sz="900" dirty="0">
                          <a:solidFill>
                            <a:schemeClr val="tx1"/>
                          </a:solidFill>
                        </a:rPr>
                        <a:t>で車両に要求をおこなう。</a:t>
                      </a:r>
                      <a:endParaRPr kumimoji="1" lang="en-US" altLang="ja-JP" sz="900" dirty="0">
                        <a:solidFill>
                          <a:schemeClr val="tx1"/>
                        </a:solidFill>
                      </a:endParaRPr>
                    </a:p>
                    <a:p>
                      <a:pPr marL="171450" indent="-171450">
                        <a:buFont typeface="Arial" panose="020B0604020202020204" pitchFamily="34" charset="0"/>
                        <a:buChar char="•"/>
                      </a:pPr>
                      <a:r>
                        <a:rPr kumimoji="1" lang="ja-JP" altLang="en-US" sz="900" dirty="0">
                          <a:solidFill>
                            <a:schemeClr val="tx1"/>
                          </a:solidFill>
                        </a:rPr>
                        <a:t>定期送信設定になっているカスタマイズデータでも、送信タイミング以前にデータが欲しい場合にカスタマイズデータ送信を車両に要求する。</a:t>
                      </a:r>
                      <a:endParaRPr kumimoji="1" lang="en-US" altLang="ja-JP" sz="900" dirty="0">
                        <a:solidFill>
                          <a:schemeClr val="tx1"/>
                        </a:solidFill>
                      </a:endParaRPr>
                    </a:p>
                    <a:p>
                      <a:pPr marL="171450" indent="-171450">
                        <a:buFont typeface="Arial" panose="020B0604020202020204" pitchFamily="34" charset="0"/>
                        <a:buChar char="•"/>
                      </a:pPr>
                      <a:r>
                        <a:rPr kumimoji="1" lang="ja-JP" altLang="en-US" sz="900" dirty="0">
                          <a:solidFill>
                            <a:schemeClr val="tx1"/>
                          </a:solidFill>
                        </a:rPr>
                        <a:t>サーバ受信済みカスタマイズデータの確認もする。</a:t>
                      </a:r>
                      <a:endParaRPr kumimoji="1" lang="en-US" altLang="ja-JP" sz="900" dirty="0">
                        <a:solidFill>
                          <a:schemeClr val="tx1"/>
                        </a:solidFill>
                      </a:endParaRPr>
                    </a:p>
                    <a:p>
                      <a:pPr marL="171450" indent="-171450">
                        <a:buFont typeface="Arial" panose="020B0604020202020204" pitchFamily="34" charset="0"/>
                        <a:buChar char="•"/>
                      </a:pPr>
                      <a:r>
                        <a:rPr kumimoji="1" lang="ja-JP" altLang="en-US" sz="900" dirty="0">
                          <a:solidFill>
                            <a:schemeClr val="tx1"/>
                          </a:solidFill>
                        </a:rPr>
                        <a:t>カスタマイズデータの要求について、車両から送信されたデータの受信完了を確認する。</a:t>
                      </a:r>
                    </a:p>
                  </a:txBody>
                  <a:tcPr>
                    <a:solidFill>
                      <a:srgbClr val="E4E9EE"/>
                    </a:solidFill>
                  </a:tcPr>
                </a:tc>
                <a:tc>
                  <a:txBody>
                    <a:bodyPr/>
                    <a:lstStyle/>
                    <a:p>
                      <a:pPr marL="0" indent="0">
                        <a:buFont typeface="+mj-lt"/>
                        <a:buNone/>
                      </a:pPr>
                      <a:r>
                        <a:rPr kumimoji="1" lang="ja-JP" altLang="en-US" sz="1100" b="1" dirty="0">
                          <a:solidFill>
                            <a:schemeClr val="accent6"/>
                          </a:solidFill>
                        </a:rPr>
                        <a:t>リリース</a:t>
                      </a:r>
                      <a:r>
                        <a:rPr kumimoji="1" lang="en-US" altLang="ja-JP" sz="1100" b="1" dirty="0">
                          <a:solidFill>
                            <a:schemeClr val="accent6"/>
                          </a:solidFill>
                        </a:rPr>
                        <a:t>1.2</a:t>
                      </a:r>
                      <a:endParaRPr kumimoji="1" lang="ja-JP" altLang="en-US" sz="1100" b="1" dirty="0">
                        <a:solidFill>
                          <a:schemeClr val="accent6"/>
                        </a:solidFill>
                      </a:endParaRPr>
                    </a:p>
                    <a:p>
                      <a:pPr marL="0" indent="0">
                        <a:buFont typeface="+mj-lt"/>
                        <a:buNone/>
                      </a:pPr>
                      <a:endParaRPr kumimoji="1" lang="en-US" altLang="ja-JP" sz="1100" dirty="0">
                        <a:solidFill>
                          <a:schemeClr val="tx1"/>
                        </a:solidFill>
                      </a:endParaRPr>
                    </a:p>
                    <a:p>
                      <a:pPr marL="0" indent="0">
                        <a:buFont typeface="+mj-lt"/>
                        <a:buNone/>
                      </a:pPr>
                      <a:r>
                        <a:rPr kumimoji="1" lang="en-US" altLang="ja-JP" sz="1000" dirty="0">
                          <a:solidFill>
                            <a:schemeClr val="tx1"/>
                          </a:solidFill>
                        </a:rPr>
                        <a:t>※R1</a:t>
                      </a:r>
                      <a:r>
                        <a:rPr kumimoji="1" lang="ja-JP" altLang="en-US" sz="1000" dirty="0">
                          <a:solidFill>
                            <a:schemeClr val="tx1"/>
                          </a:solidFill>
                        </a:rPr>
                        <a:t>では、</a:t>
                      </a:r>
                    </a:p>
                    <a:p>
                      <a:pPr marL="0" indent="0">
                        <a:buFont typeface="+mj-lt"/>
                        <a:buNone/>
                      </a:pPr>
                      <a:r>
                        <a:rPr kumimoji="1" lang="ja-JP" altLang="en-US" sz="1000" dirty="0">
                          <a:solidFill>
                            <a:schemeClr val="tx1"/>
                          </a:solidFill>
                        </a:rPr>
                        <a:t>車両カスタマイズデータ取得要求</a:t>
                      </a:r>
                      <a:r>
                        <a:rPr kumimoji="1" lang="en-US" altLang="ja-JP" sz="1000" dirty="0">
                          <a:solidFill>
                            <a:schemeClr val="tx1"/>
                          </a:solidFill>
                        </a:rPr>
                        <a:t>API</a:t>
                      </a:r>
                      <a:r>
                        <a:rPr kumimoji="1" lang="ja-JP" altLang="en-US" sz="1000" dirty="0">
                          <a:solidFill>
                            <a:schemeClr val="tx1"/>
                          </a:solidFill>
                        </a:rPr>
                        <a:t>がリリースされるが、車両一台に対してしか要求できないという不都合がある</a:t>
                      </a:r>
                    </a:p>
                  </a:txBody>
                  <a:tcPr>
                    <a:solidFill>
                      <a:srgbClr val="E4E9EE"/>
                    </a:solidFill>
                  </a:tcPr>
                </a:tc>
                <a:extLst>
                  <a:ext uri="{0D108BD9-81ED-4DB2-BD59-A6C34878D82A}">
                    <a16:rowId xmlns:a16="http://schemas.microsoft.com/office/drawing/2014/main" val="3748062942"/>
                  </a:ext>
                </a:extLst>
              </a:tr>
            </a:tbl>
          </a:graphicData>
        </a:graphic>
      </p:graphicFrame>
      <p:graphicFrame>
        <p:nvGraphicFramePr>
          <p:cNvPr id="7" name="表 7">
            <a:extLst>
              <a:ext uri="{FF2B5EF4-FFF2-40B4-BE49-F238E27FC236}">
                <a16:creationId xmlns:a16="http://schemas.microsoft.com/office/drawing/2014/main" id="{783C4B8C-14A4-49C5-A749-A5615BA19282}"/>
              </a:ext>
            </a:extLst>
          </p:cNvPr>
          <p:cNvGraphicFramePr>
            <a:graphicFrameLocks noGrp="1"/>
          </p:cNvGraphicFramePr>
          <p:nvPr>
            <p:extLst>
              <p:ext uri="{D42A27DB-BD31-4B8C-83A1-F6EECF244321}">
                <p14:modId xmlns:p14="http://schemas.microsoft.com/office/powerpoint/2010/main" val="3924817846"/>
              </p:ext>
            </p:extLst>
          </p:nvPr>
        </p:nvGraphicFramePr>
        <p:xfrm>
          <a:off x="27231" y="961302"/>
          <a:ext cx="8574019" cy="1311470"/>
        </p:xfrm>
        <a:graphic>
          <a:graphicData uri="http://schemas.openxmlformats.org/drawingml/2006/table">
            <a:tbl>
              <a:tblPr firstRow="1" bandRow="1">
                <a:tableStyleId>{5C22544A-7EE6-4342-B048-85BDC9FD1C3A}</a:tableStyleId>
              </a:tblPr>
              <a:tblGrid>
                <a:gridCol w="978364">
                  <a:extLst>
                    <a:ext uri="{9D8B030D-6E8A-4147-A177-3AD203B41FA5}">
                      <a16:colId xmlns:a16="http://schemas.microsoft.com/office/drawing/2014/main" val="3911113198"/>
                    </a:ext>
                  </a:extLst>
                </a:gridCol>
                <a:gridCol w="506377">
                  <a:extLst>
                    <a:ext uri="{9D8B030D-6E8A-4147-A177-3AD203B41FA5}">
                      <a16:colId xmlns:a16="http://schemas.microsoft.com/office/drawing/2014/main" val="2682358885"/>
                    </a:ext>
                  </a:extLst>
                </a:gridCol>
                <a:gridCol w="506377">
                  <a:extLst>
                    <a:ext uri="{9D8B030D-6E8A-4147-A177-3AD203B41FA5}">
                      <a16:colId xmlns:a16="http://schemas.microsoft.com/office/drawing/2014/main" val="1355344923"/>
                    </a:ext>
                  </a:extLst>
                </a:gridCol>
                <a:gridCol w="506377">
                  <a:extLst>
                    <a:ext uri="{9D8B030D-6E8A-4147-A177-3AD203B41FA5}">
                      <a16:colId xmlns:a16="http://schemas.microsoft.com/office/drawing/2014/main" val="1339710131"/>
                    </a:ext>
                  </a:extLst>
                </a:gridCol>
                <a:gridCol w="506377">
                  <a:extLst>
                    <a:ext uri="{9D8B030D-6E8A-4147-A177-3AD203B41FA5}">
                      <a16:colId xmlns:a16="http://schemas.microsoft.com/office/drawing/2014/main" val="2749874159"/>
                    </a:ext>
                  </a:extLst>
                </a:gridCol>
                <a:gridCol w="506377">
                  <a:extLst>
                    <a:ext uri="{9D8B030D-6E8A-4147-A177-3AD203B41FA5}">
                      <a16:colId xmlns:a16="http://schemas.microsoft.com/office/drawing/2014/main" val="1882041152"/>
                    </a:ext>
                  </a:extLst>
                </a:gridCol>
                <a:gridCol w="506377">
                  <a:extLst>
                    <a:ext uri="{9D8B030D-6E8A-4147-A177-3AD203B41FA5}">
                      <a16:colId xmlns:a16="http://schemas.microsoft.com/office/drawing/2014/main" val="4157259771"/>
                    </a:ext>
                  </a:extLst>
                </a:gridCol>
                <a:gridCol w="506377">
                  <a:extLst>
                    <a:ext uri="{9D8B030D-6E8A-4147-A177-3AD203B41FA5}">
                      <a16:colId xmlns:a16="http://schemas.microsoft.com/office/drawing/2014/main" val="3750923376"/>
                    </a:ext>
                  </a:extLst>
                </a:gridCol>
                <a:gridCol w="506377">
                  <a:extLst>
                    <a:ext uri="{9D8B030D-6E8A-4147-A177-3AD203B41FA5}">
                      <a16:colId xmlns:a16="http://schemas.microsoft.com/office/drawing/2014/main" val="2875930446"/>
                    </a:ext>
                  </a:extLst>
                </a:gridCol>
                <a:gridCol w="506377">
                  <a:extLst>
                    <a:ext uri="{9D8B030D-6E8A-4147-A177-3AD203B41FA5}">
                      <a16:colId xmlns:a16="http://schemas.microsoft.com/office/drawing/2014/main" val="3070886215"/>
                    </a:ext>
                  </a:extLst>
                </a:gridCol>
                <a:gridCol w="506377">
                  <a:extLst>
                    <a:ext uri="{9D8B030D-6E8A-4147-A177-3AD203B41FA5}">
                      <a16:colId xmlns:a16="http://schemas.microsoft.com/office/drawing/2014/main" val="3366689496"/>
                    </a:ext>
                  </a:extLst>
                </a:gridCol>
                <a:gridCol w="506377">
                  <a:extLst>
                    <a:ext uri="{9D8B030D-6E8A-4147-A177-3AD203B41FA5}">
                      <a16:colId xmlns:a16="http://schemas.microsoft.com/office/drawing/2014/main" val="120556145"/>
                    </a:ext>
                  </a:extLst>
                </a:gridCol>
                <a:gridCol w="506377">
                  <a:extLst>
                    <a:ext uri="{9D8B030D-6E8A-4147-A177-3AD203B41FA5}">
                      <a16:colId xmlns:a16="http://schemas.microsoft.com/office/drawing/2014/main" val="91501557"/>
                    </a:ext>
                  </a:extLst>
                </a:gridCol>
                <a:gridCol w="506377">
                  <a:extLst>
                    <a:ext uri="{9D8B030D-6E8A-4147-A177-3AD203B41FA5}">
                      <a16:colId xmlns:a16="http://schemas.microsoft.com/office/drawing/2014/main" val="996422016"/>
                    </a:ext>
                  </a:extLst>
                </a:gridCol>
                <a:gridCol w="506377">
                  <a:extLst>
                    <a:ext uri="{9D8B030D-6E8A-4147-A177-3AD203B41FA5}">
                      <a16:colId xmlns:a16="http://schemas.microsoft.com/office/drawing/2014/main" val="3729099917"/>
                    </a:ext>
                  </a:extLst>
                </a:gridCol>
                <a:gridCol w="506377">
                  <a:extLst>
                    <a:ext uri="{9D8B030D-6E8A-4147-A177-3AD203B41FA5}">
                      <a16:colId xmlns:a16="http://schemas.microsoft.com/office/drawing/2014/main" val="316591717"/>
                    </a:ext>
                  </a:extLst>
                </a:gridCol>
              </a:tblGrid>
              <a:tr h="334150">
                <a:tc>
                  <a:txBody>
                    <a:bodyPr/>
                    <a:lstStyle/>
                    <a:p>
                      <a:r>
                        <a:rPr kumimoji="1" lang="ja-JP" altLang="en-US" sz="1400" dirty="0"/>
                        <a:t>日程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6</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7</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8</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9</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10</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11</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12</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1</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2</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3</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4</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5</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6</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7</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kumimoji="1" lang="en-US" altLang="ja-JP" sz="1400" dirty="0"/>
                        <a:t>8</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493148991"/>
                  </a:ext>
                </a:extLst>
              </a:tr>
              <a:tr h="488660">
                <a:tc>
                  <a:txBody>
                    <a:bodyPr/>
                    <a:lstStyle/>
                    <a:p>
                      <a:r>
                        <a:rPr kumimoji="1" lang="ja-JP" altLang="en-US" sz="1400" dirty="0"/>
                        <a:t>リリース</a:t>
                      </a:r>
                      <a:r>
                        <a:rPr kumimoji="1" lang="en-US" altLang="ja-JP" sz="1400" dirty="0"/>
                        <a:t>1.1</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8613842"/>
                  </a:ext>
                </a:extLst>
              </a:tr>
              <a:tr h="488660">
                <a:tc>
                  <a:txBody>
                    <a:bodyPr/>
                    <a:lstStyle/>
                    <a:p>
                      <a:r>
                        <a:rPr kumimoji="1" lang="ja-JP" altLang="en-US" sz="1400" dirty="0"/>
                        <a:t>リリース</a:t>
                      </a:r>
                      <a:r>
                        <a:rPr kumimoji="1" lang="en-US" altLang="ja-JP" sz="1400" dirty="0"/>
                        <a:t>1.2</a:t>
                      </a:r>
                      <a:endParaRPr kumimoji="1" lang="ja-JP"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4576049"/>
                  </a:ext>
                </a:extLst>
              </a:tr>
            </a:tbl>
          </a:graphicData>
        </a:graphic>
      </p:graphicFrame>
      <p:sp>
        <p:nvSpPr>
          <p:cNvPr id="8" name="テキスト ボックス 7">
            <a:extLst>
              <a:ext uri="{FF2B5EF4-FFF2-40B4-BE49-F238E27FC236}">
                <a16:creationId xmlns:a16="http://schemas.microsoft.com/office/drawing/2014/main" id="{46AB63B9-0BE2-4F0A-B821-7FD70CEED6A3}"/>
              </a:ext>
            </a:extLst>
          </p:cNvPr>
          <p:cNvSpPr txBox="1"/>
          <p:nvPr/>
        </p:nvSpPr>
        <p:spPr>
          <a:xfrm>
            <a:off x="976545" y="749376"/>
            <a:ext cx="648070" cy="261610"/>
          </a:xfrm>
          <a:prstGeom prst="rect">
            <a:avLst/>
          </a:prstGeom>
          <a:noFill/>
        </p:spPr>
        <p:txBody>
          <a:bodyPr wrap="square" rtlCol="0">
            <a:spAutoFit/>
          </a:bodyPr>
          <a:lstStyle/>
          <a:p>
            <a:pPr algn="l" defTabSz="90000"/>
            <a:r>
              <a:rPr kumimoji="1" lang="en-US" altLang="ja-JP" sz="1100" b="1" dirty="0">
                <a:latin typeface="+mn-lt"/>
              </a:rPr>
              <a:t>2021</a:t>
            </a:r>
          </a:p>
        </p:txBody>
      </p:sp>
      <p:sp>
        <p:nvSpPr>
          <p:cNvPr id="9" name="テキスト ボックス 8">
            <a:extLst>
              <a:ext uri="{FF2B5EF4-FFF2-40B4-BE49-F238E27FC236}">
                <a16:creationId xmlns:a16="http://schemas.microsoft.com/office/drawing/2014/main" id="{3EAD3220-1C0C-4580-A724-A9E7A1387E60}"/>
              </a:ext>
            </a:extLst>
          </p:cNvPr>
          <p:cNvSpPr txBox="1"/>
          <p:nvPr/>
        </p:nvSpPr>
        <p:spPr>
          <a:xfrm>
            <a:off x="4527673" y="740112"/>
            <a:ext cx="648070" cy="261610"/>
          </a:xfrm>
          <a:prstGeom prst="rect">
            <a:avLst/>
          </a:prstGeom>
          <a:noFill/>
        </p:spPr>
        <p:txBody>
          <a:bodyPr wrap="square" rtlCol="0">
            <a:spAutoFit/>
          </a:bodyPr>
          <a:lstStyle/>
          <a:p>
            <a:pPr algn="l" defTabSz="90000"/>
            <a:r>
              <a:rPr kumimoji="1" lang="en-US" altLang="ja-JP" sz="1100" b="1" dirty="0">
                <a:latin typeface="+mn-lt"/>
              </a:rPr>
              <a:t>2022</a:t>
            </a:r>
          </a:p>
        </p:txBody>
      </p:sp>
      <p:sp>
        <p:nvSpPr>
          <p:cNvPr id="10" name="矢印: 右 9">
            <a:extLst>
              <a:ext uri="{FF2B5EF4-FFF2-40B4-BE49-F238E27FC236}">
                <a16:creationId xmlns:a16="http://schemas.microsoft.com/office/drawing/2014/main" id="{0980961C-3A9F-4FC6-BC92-9EAD4C82C46F}"/>
              </a:ext>
            </a:extLst>
          </p:cNvPr>
          <p:cNvSpPr/>
          <p:nvPr/>
        </p:nvSpPr>
        <p:spPr>
          <a:xfrm>
            <a:off x="1855432" y="1441788"/>
            <a:ext cx="4241524" cy="234616"/>
          </a:xfrm>
          <a:prstGeom prst="rightArrow">
            <a:avLst/>
          </a:prstGeom>
          <a:solidFill>
            <a:srgbClr val="898D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D8BE92D4-F3D2-45C9-8143-24ED4EA82BD7}"/>
              </a:ext>
            </a:extLst>
          </p:cNvPr>
          <p:cNvSpPr/>
          <p:nvPr/>
        </p:nvSpPr>
        <p:spPr>
          <a:xfrm>
            <a:off x="3057668" y="1935304"/>
            <a:ext cx="5011676" cy="21733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08EEEED-9082-4662-8F7C-ECBA84E5FA34}"/>
              </a:ext>
            </a:extLst>
          </p:cNvPr>
          <p:cNvSpPr txBox="1"/>
          <p:nvPr/>
        </p:nvSpPr>
        <p:spPr>
          <a:xfrm>
            <a:off x="1624615" y="1258002"/>
            <a:ext cx="648070" cy="261610"/>
          </a:xfrm>
          <a:prstGeom prst="rect">
            <a:avLst/>
          </a:prstGeom>
          <a:noFill/>
        </p:spPr>
        <p:txBody>
          <a:bodyPr wrap="square" rtlCol="0">
            <a:spAutoFit/>
          </a:bodyPr>
          <a:lstStyle/>
          <a:p>
            <a:pPr algn="l" defTabSz="90000"/>
            <a:r>
              <a:rPr kumimoji="1" lang="en-US" altLang="ja-JP" sz="1100" b="1" dirty="0">
                <a:latin typeface="+mn-lt"/>
              </a:rPr>
              <a:t>&lt;E&gt;</a:t>
            </a:r>
          </a:p>
        </p:txBody>
      </p:sp>
      <p:sp>
        <p:nvSpPr>
          <p:cNvPr id="14" name="テキスト ボックス 13">
            <a:extLst>
              <a:ext uri="{FF2B5EF4-FFF2-40B4-BE49-F238E27FC236}">
                <a16:creationId xmlns:a16="http://schemas.microsoft.com/office/drawing/2014/main" id="{8726EFF2-4F56-46A9-B30D-86372DB95079}"/>
              </a:ext>
            </a:extLst>
          </p:cNvPr>
          <p:cNvSpPr txBox="1"/>
          <p:nvPr/>
        </p:nvSpPr>
        <p:spPr>
          <a:xfrm>
            <a:off x="5452891" y="1258002"/>
            <a:ext cx="874882" cy="261610"/>
          </a:xfrm>
          <a:prstGeom prst="rect">
            <a:avLst/>
          </a:prstGeom>
          <a:noFill/>
        </p:spPr>
        <p:txBody>
          <a:bodyPr wrap="square" rtlCol="0">
            <a:spAutoFit/>
          </a:bodyPr>
          <a:lstStyle/>
          <a:p>
            <a:pPr algn="l" defTabSz="90000"/>
            <a:r>
              <a:rPr kumimoji="1" lang="en-US" altLang="ja-JP" sz="1100" b="1" dirty="0">
                <a:latin typeface="+mn-lt"/>
              </a:rPr>
              <a:t>&lt;b&gt;&lt;G&gt;</a:t>
            </a:r>
          </a:p>
        </p:txBody>
      </p:sp>
      <p:sp>
        <p:nvSpPr>
          <p:cNvPr id="15" name="フローチャート: 判断 14">
            <a:extLst>
              <a:ext uri="{FF2B5EF4-FFF2-40B4-BE49-F238E27FC236}">
                <a16:creationId xmlns:a16="http://schemas.microsoft.com/office/drawing/2014/main" id="{9B99397E-AF78-4EE7-9B07-89E66E75E4F1}"/>
              </a:ext>
            </a:extLst>
          </p:cNvPr>
          <p:cNvSpPr/>
          <p:nvPr/>
        </p:nvSpPr>
        <p:spPr>
          <a:xfrm>
            <a:off x="7212917" y="1482107"/>
            <a:ext cx="197776" cy="223196"/>
          </a:xfrm>
          <a:prstGeom prst="flowChartDecisio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1374BD4-E065-423F-A7EC-09823F3D216F}"/>
              </a:ext>
            </a:extLst>
          </p:cNvPr>
          <p:cNvSpPr txBox="1"/>
          <p:nvPr/>
        </p:nvSpPr>
        <p:spPr>
          <a:xfrm>
            <a:off x="7025068" y="1295044"/>
            <a:ext cx="1044276" cy="261610"/>
          </a:xfrm>
          <a:prstGeom prst="rect">
            <a:avLst/>
          </a:prstGeom>
          <a:noFill/>
        </p:spPr>
        <p:txBody>
          <a:bodyPr wrap="square" rtlCol="0">
            <a:spAutoFit/>
          </a:bodyPr>
          <a:lstStyle/>
          <a:p>
            <a:pPr algn="l" defTabSz="90000"/>
            <a:r>
              <a:rPr kumimoji="1" lang="en-US" altLang="ja-JP" sz="1100" b="1" dirty="0">
                <a:latin typeface="+mn-lt"/>
              </a:rPr>
              <a:t>6/20</a:t>
            </a:r>
            <a:r>
              <a:rPr kumimoji="1" lang="ja-JP" altLang="en-US" sz="1100" b="1" dirty="0">
                <a:latin typeface="+mn-lt"/>
              </a:rPr>
              <a:t>リリース</a:t>
            </a:r>
            <a:endParaRPr kumimoji="1" lang="en-US" altLang="ja-JP" sz="1100" b="1" dirty="0">
              <a:latin typeface="+mn-lt"/>
            </a:endParaRPr>
          </a:p>
        </p:txBody>
      </p:sp>
      <p:sp>
        <p:nvSpPr>
          <p:cNvPr id="17" name="テキスト ボックス 16">
            <a:extLst>
              <a:ext uri="{FF2B5EF4-FFF2-40B4-BE49-F238E27FC236}">
                <a16:creationId xmlns:a16="http://schemas.microsoft.com/office/drawing/2014/main" id="{1DD67D66-A8E8-49FF-A6BD-5272DB75D36F}"/>
              </a:ext>
            </a:extLst>
          </p:cNvPr>
          <p:cNvSpPr txBox="1"/>
          <p:nvPr/>
        </p:nvSpPr>
        <p:spPr>
          <a:xfrm>
            <a:off x="5011445" y="1767457"/>
            <a:ext cx="648070" cy="261610"/>
          </a:xfrm>
          <a:prstGeom prst="rect">
            <a:avLst/>
          </a:prstGeom>
          <a:noFill/>
        </p:spPr>
        <p:txBody>
          <a:bodyPr wrap="square" rtlCol="0">
            <a:spAutoFit/>
          </a:bodyPr>
          <a:lstStyle/>
          <a:p>
            <a:pPr algn="l" defTabSz="90000"/>
            <a:r>
              <a:rPr kumimoji="1" lang="en-US" altLang="ja-JP" sz="1100" b="1" dirty="0">
                <a:latin typeface="+mn-lt"/>
              </a:rPr>
              <a:t>&lt;E&gt;</a:t>
            </a:r>
          </a:p>
        </p:txBody>
      </p:sp>
      <p:sp>
        <p:nvSpPr>
          <p:cNvPr id="19" name="テキスト ボックス 18">
            <a:extLst>
              <a:ext uri="{FF2B5EF4-FFF2-40B4-BE49-F238E27FC236}">
                <a16:creationId xmlns:a16="http://schemas.microsoft.com/office/drawing/2014/main" id="{155D7B96-8E3A-4992-A2A3-490257A66850}"/>
              </a:ext>
            </a:extLst>
          </p:cNvPr>
          <p:cNvSpPr txBox="1"/>
          <p:nvPr/>
        </p:nvSpPr>
        <p:spPr>
          <a:xfrm>
            <a:off x="7460415" y="1756058"/>
            <a:ext cx="874882" cy="261610"/>
          </a:xfrm>
          <a:prstGeom prst="rect">
            <a:avLst/>
          </a:prstGeom>
          <a:noFill/>
        </p:spPr>
        <p:txBody>
          <a:bodyPr wrap="square" rtlCol="0">
            <a:spAutoFit/>
          </a:bodyPr>
          <a:lstStyle/>
          <a:p>
            <a:pPr algn="l" defTabSz="90000"/>
            <a:r>
              <a:rPr kumimoji="1" lang="en-US" altLang="ja-JP" sz="1100" b="1" dirty="0">
                <a:latin typeface="+mn-lt"/>
              </a:rPr>
              <a:t>&lt;b&gt;&lt;G&gt;</a:t>
            </a:r>
          </a:p>
        </p:txBody>
      </p:sp>
      <p:sp>
        <p:nvSpPr>
          <p:cNvPr id="21" name="テキスト ボックス 20">
            <a:extLst>
              <a:ext uri="{FF2B5EF4-FFF2-40B4-BE49-F238E27FC236}">
                <a16:creationId xmlns:a16="http://schemas.microsoft.com/office/drawing/2014/main" id="{8E84CB44-1206-458B-A306-51E57B66299B}"/>
              </a:ext>
            </a:extLst>
          </p:cNvPr>
          <p:cNvSpPr txBox="1"/>
          <p:nvPr/>
        </p:nvSpPr>
        <p:spPr>
          <a:xfrm>
            <a:off x="1751163" y="1583850"/>
            <a:ext cx="2470309" cy="230832"/>
          </a:xfrm>
          <a:prstGeom prst="rect">
            <a:avLst/>
          </a:prstGeom>
          <a:noFill/>
        </p:spPr>
        <p:txBody>
          <a:bodyPr wrap="square" rtlCol="0">
            <a:spAutoFit/>
          </a:bodyPr>
          <a:lstStyle/>
          <a:p>
            <a:pPr algn="l" defTabSz="90000"/>
            <a:r>
              <a:rPr kumimoji="1" lang="ja-JP" altLang="en-US" sz="900" b="1" dirty="0">
                <a:latin typeface="+mn-lt"/>
              </a:rPr>
              <a:t>カスタマイズデータ取得</a:t>
            </a:r>
            <a:r>
              <a:rPr kumimoji="1" lang="en-US" altLang="ja-JP" sz="900" b="1" dirty="0">
                <a:latin typeface="+mn-lt"/>
              </a:rPr>
              <a:t>, </a:t>
            </a:r>
            <a:r>
              <a:rPr kumimoji="1" lang="ja-JP" altLang="en-US" sz="900" b="1" dirty="0">
                <a:latin typeface="+mn-lt"/>
              </a:rPr>
              <a:t>カスタマイズデータ受信</a:t>
            </a:r>
            <a:endParaRPr kumimoji="1" lang="en-US" altLang="ja-JP" sz="900" b="1" dirty="0">
              <a:latin typeface="+mn-lt"/>
            </a:endParaRPr>
          </a:p>
        </p:txBody>
      </p:sp>
      <p:sp>
        <p:nvSpPr>
          <p:cNvPr id="22" name="テキスト ボックス 21">
            <a:extLst>
              <a:ext uri="{FF2B5EF4-FFF2-40B4-BE49-F238E27FC236}">
                <a16:creationId xmlns:a16="http://schemas.microsoft.com/office/drawing/2014/main" id="{83045736-2982-4198-9EF2-07B50A0A02DE}"/>
              </a:ext>
            </a:extLst>
          </p:cNvPr>
          <p:cNvSpPr txBox="1"/>
          <p:nvPr/>
        </p:nvSpPr>
        <p:spPr>
          <a:xfrm>
            <a:off x="3714700" y="2053359"/>
            <a:ext cx="2470309" cy="230832"/>
          </a:xfrm>
          <a:prstGeom prst="rect">
            <a:avLst/>
          </a:prstGeom>
          <a:noFill/>
        </p:spPr>
        <p:txBody>
          <a:bodyPr wrap="square" rtlCol="0">
            <a:spAutoFit/>
          </a:bodyPr>
          <a:lstStyle/>
          <a:p>
            <a:pPr algn="l" defTabSz="90000"/>
            <a:r>
              <a:rPr kumimoji="1" lang="ja-JP" altLang="en-US" sz="900" b="1" dirty="0">
                <a:solidFill>
                  <a:schemeClr val="bg1">
                    <a:lumMod val="50000"/>
                  </a:schemeClr>
                </a:solidFill>
                <a:latin typeface="+mn-lt"/>
              </a:rPr>
              <a:t>カスタマイズ設定</a:t>
            </a:r>
            <a:r>
              <a:rPr kumimoji="1" lang="en-US" altLang="ja-JP" sz="900" b="1" dirty="0">
                <a:solidFill>
                  <a:schemeClr val="bg1">
                    <a:lumMod val="50000"/>
                  </a:schemeClr>
                </a:solidFill>
                <a:latin typeface="+mn-lt"/>
              </a:rPr>
              <a:t>, </a:t>
            </a:r>
            <a:r>
              <a:rPr kumimoji="1" lang="ja-JP" altLang="en-US" sz="900" b="1" dirty="0">
                <a:solidFill>
                  <a:schemeClr val="bg1">
                    <a:lumMod val="50000"/>
                  </a:schemeClr>
                </a:solidFill>
                <a:latin typeface="+mn-lt"/>
              </a:rPr>
              <a:t>カスタマイズデータ送信要求</a:t>
            </a:r>
            <a:endParaRPr kumimoji="1" lang="en-US" altLang="ja-JP" sz="900" b="1" dirty="0">
              <a:solidFill>
                <a:schemeClr val="bg1">
                  <a:lumMod val="50000"/>
                </a:schemeClr>
              </a:solidFill>
              <a:latin typeface="+mn-lt"/>
            </a:endParaRPr>
          </a:p>
        </p:txBody>
      </p:sp>
      <p:sp>
        <p:nvSpPr>
          <p:cNvPr id="20" name="フローチャート: 判断 19">
            <a:extLst>
              <a:ext uri="{FF2B5EF4-FFF2-40B4-BE49-F238E27FC236}">
                <a16:creationId xmlns:a16="http://schemas.microsoft.com/office/drawing/2014/main" id="{4270C70E-2074-4699-A9D7-4006E11A02A9}"/>
              </a:ext>
            </a:extLst>
          </p:cNvPr>
          <p:cNvSpPr/>
          <p:nvPr/>
        </p:nvSpPr>
        <p:spPr>
          <a:xfrm>
            <a:off x="8262860" y="1941761"/>
            <a:ext cx="197776" cy="223196"/>
          </a:xfrm>
          <a:prstGeom prst="flowChartDecisi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FBD59F5A-49EA-4880-9FCC-E5E2059BAA77}"/>
              </a:ext>
            </a:extLst>
          </p:cNvPr>
          <p:cNvSpPr txBox="1"/>
          <p:nvPr/>
        </p:nvSpPr>
        <p:spPr>
          <a:xfrm>
            <a:off x="8075011" y="1754698"/>
            <a:ext cx="648070" cy="261610"/>
          </a:xfrm>
          <a:prstGeom prst="rect">
            <a:avLst/>
          </a:prstGeom>
          <a:noFill/>
        </p:spPr>
        <p:txBody>
          <a:bodyPr wrap="square" rtlCol="0">
            <a:spAutoFit/>
          </a:bodyPr>
          <a:lstStyle/>
          <a:p>
            <a:pPr algn="l" defTabSz="90000"/>
            <a:r>
              <a:rPr kumimoji="1" lang="ja-JP" altLang="en-US" sz="1100" b="1" dirty="0">
                <a:latin typeface="+mn-lt"/>
              </a:rPr>
              <a:t>リリース</a:t>
            </a:r>
            <a:endParaRPr kumimoji="1" lang="en-US" altLang="ja-JP" sz="1100" b="1" dirty="0">
              <a:latin typeface="+mn-lt"/>
            </a:endParaRPr>
          </a:p>
        </p:txBody>
      </p:sp>
      <p:sp>
        <p:nvSpPr>
          <p:cNvPr id="24" name="テキスト ボックス 23">
            <a:extLst>
              <a:ext uri="{FF2B5EF4-FFF2-40B4-BE49-F238E27FC236}">
                <a16:creationId xmlns:a16="http://schemas.microsoft.com/office/drawing/2014/main" id="{B01E2C12-EA96-45C3-990F-DFFF4829F5F2}"/>
              </a:ext>
            </a:extLst>
          </p:cNvPr>
          <p:cNvSpPr txBox="1"/>
          <p:nvPr/>
        </p:nvSpPr>
        <p:spPr>
          <a:xfrm>
            <a:off x="6185009" y="1772260"/>
            <a:ext cx="648070" cy="261610"/>
          </a:xfrm>
          <a:prstGeom prst="rect">
            <a:avLst/>
          </a:prstGeom>
          <a:noFill/>
        </p:spPr>
        <p:txBody>
          <a:bodyPr wrap="square" rtlCol="0">
            <a:spAutoFit/>
          </a:bodyPr>
          <a:lstStyle/>
          <a:p>
            <a:pPr algn="l" defTabSz="90000"/>
            <a:r>
              <a:rPr kumimoji="1" lang="en-US" altLang="ja-JP" sz="1100" b="1" dirty="0">
                <a:latin typeface="+mn-lt"/>
              </a:rPr>
              <a:t>&lt;a&gt;</a:t>
            </a:r>
          </a:p>
        </p:txBody>
      </p:sp>
    </p:spTree>
    <p:extLst>
      <p:ext uri="{BB962C8B-B14F-4D97-AF65-F5344CB8AC3E}">
        <p14:creationId xmlns:p14="http://schemas.microsoft.com/office/powerpoint/2010/main" val="135344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p:txBody>
          <a:bodyPr/>
          <a:lstStyle/>
          <a:p>
            <a:pPr marL="0" indent="0">
              <a:buNone/>
            </a:pPr>
            <a:r>
              <a:rPr lang="ja-JP" altLang="en-US" b="1"/>
              <a:t>ビジネスアプリ実現のために必要な要求仕様</a:t>
            </a:r>
            <a:endParaRPr lang="en-US" altLang="ja-JP" b="1" dirty="0"/>
          </a:p>
        </p:txBody>
      </p:sp>
      <p:graphicFrame>
        <p:nvGraphicFramePr>
          <p:cNvPr id="4" name="表 3">
            <a:extLst>
              <a:ext uri="{FF2B5EF4-FFF2-40B4-BE49-F238E27FC236}">
                <a16:creationId xmlns:a16="http://schemas.microsoft.com/office/drawing/2014/main" id="{4AB19601-2807-4156-B96E-1BB8869D04F9}"/>
              </a:ext>
            </a:extLst>
          </p:cNvPr>
          <p:cNvGraphicFramePr>
            <a:graphicFrameLocks noGrp="1"/>
          </p:cNvGraphicFramePr>
          <p:nvPr>
            <p:extLst>
              <p:ext uri="{D42A27DB-BD31-4B8C-83A1-F6EECF244321}">
                <p14:modId xmlns:p14="http://schemas.microsoft.com/office/powerpoint/2010/main" val="2844324192"/>
              </p:ext>
            </p:extLst>
          </p:nvPr>
        </p:nvGraphicFramePr>
        <p:xfrm>
          <a:off x="1" y="1056096"/>
          <a:ext cx="9143999" cy="4597931"/>
        </p:xfrm>
        <a:graphic>
          <a:graphicData uri="http://schemas.openxmlformats.org/drawingml/2006/table">
            <a:tbl>
              <a:tblPr firstRow="1" bandRow="1">
                <a:tableStyleId>{5C22544A-7EE6-4342-B048-85BDC9FD1C3A}</a:tableStyleId>
              </a:tblPr>
              <a:tblGrid>
                <a:gridCol w="405517">
                  <a:extLst>
                    <a:ext uri="{9D8B030D-6E8A-4147-A177-3AD203B41FA5}">
                      <a16:colId xmlns:a16="http://schemas.microsoft.com/office/drawing/2014/main" val="682798897"/>
                    </a:ext>
                  </a:extLst>
                </a:gridCol>
                <a:gridCol w="2027582">
                  <a:extLst>
                    <a:ext uri="{9D8B030D-6E8A-4147-A177-3AD203B41FA5}">
                      <a16:colId xmlns:a16="http://schemas.microsoft.com/office/drawing/2014/main" val="3540726700"/>
                    </a:ext>
                  </a:extLst>
                </a:gridCol>
                <a:gridCol w="4118776">
                  <a:extLst>
                    <a:ext uri="{9D8B030D-6E8A-4147-A177-3AD203B41FA5}">
                      <a16:colId xmlns:a16="http://schemas.microsoft.com/office/drawing/2014/main" val="751774390"/>
                    </a:ext>
                  </a:extLst>
                </a:gridCol>
                <a:gridCol w="2592124">
                  <a:extLst>
                    <a:ext uri="{9D8B030D-6E8A-4147-A177-3AD203B41FA5}">
                      <a16:colId xmlns:a16="http://schemas.microsoft.com/office/drawing/2014/main" val="3016408975"/>
                    </a:ext>
                  </a:extLst>
                </a:gridCol>
              </a:tblGrid>
              <a:tr h="574571">
                <a:tc>
                  <a:txBody>
                    <a:bodyPr/>
                    <a:lstStyle/>
                    <a:p>
                      <a:r>
                        <a:rPr kumimoji="1" lang="en-US" altLang="ja-JP" sz="1200" dirty="0"/>
                        <a:t>No.</a:t>
                      </a:r>
                      <a:endParaRPr kumimoji="1" lang="ja-JP" altLang="en-US" sz="1200" dirty="0"/>
                    </a:p>
                  </a:txBody>
                  <a:tcPr>
                    <a:solidFill>
                      <a:srgbClr val="140A9A"/>
                    </a:solidFill>
                  </a:tcPr>
                </a:tc>
                <a:tc>
                  <a:txBody>
                    <a:bodyPr/>
                    <a:lstStyle/>
                    <a:p>
                      <a:r>
                        <a:rPr kumimoji="1" lang="ja-JP" altLang="en-US" sz="1200" dirty="0"/>
                        <a:t>要求</a:t>
                      </a:r>
                    </a:p>
                  </a:txBody>
                  <a:tcPr>
                    <a:solidFill>
                      <a:srgbClr val="140A9A"/>
                    </a:solidFill>
                  </a:tcPr>
                </a:tc>
                <a:tc>
                  <a:txBody>
                    <a:bodyPr/>
                    <a:lstStyle/>
                    <a:p>
                      <a:r>
                        <a:rPr kumimoji="1" lang="ja-JP" altLang="en-US" sz="1200" dirty="0"/>
                        <a:t>詳細</a:t>
                      </a:r>
                    </a:p>
                  </a:txBody>
                  <a:tcPr>
                    <a:solidFill>
                      <a:srgbClr val="140A9A"/>
                    </a:solidFill>
                  </a:tcPr>
                </a:tc>
                <a:tc>
                  <a:txBody>
                    <a:bodyPr/>
                    <a:lstStyle/>
                    <a:p>
                      <a:r>
                        <a:rPr kumimoji="1" lang="ja-JP" altLang="en-US" sz="1200" dirty="0"/>
                        <a:t>開発理由</a:t>
                      </a:r>
                    </a:p>
                  </a:txBody>
                  <a:tcPr>
                    <a:solidFill>
                      <a:srgbClr val="140A9A"/>
                    </a:solidFill>
                  </a:tcPr>
                </a:tc>
                <a:extLst>
                  <a:ext uri="{0D108BD9-81ED-4DB2-BD59-A6C34878D82A}">
                    <a16:rowId xmlns:a16="http://schemas.microsoft.com/office/drawing/2014/main" val="978496451"/>
                  </a:ext>
                </a:extLst>
              </a:tr>
              <a:tr h="987599">
                <a:tc>
                  <a:txBody>
                    <a:bodyPr/>
                    <a:lstStyle/>
                    <a:p>
                      <a:r>
                        <a:rPr lang="en-US" altLang="ja-JP" sz="1400" b="1" dirty="0"/>
                        <a:t>1</a:t>
                      </a:r>
                      <a:endParaRPr lang="ja-JP" altLang="en-US" sz="1400" b="1" dirty="0"/>
                    </a:p>
                  </a:txBody>
                  <a:tcPr>
                    <a:solidFill>
                      <a:schemeClr val="bg1">
                        <a:lumMod val="95000"/>
                      </a:schemeClr>
                    </a:solidFill>
                  </a:tcPr>
                </a:tc>
                <a:tc>
                  <a:txBody>
                    <a:bodyPr/>
                    <a:lstStyle/>
                    <a:p>
                      <a:r>
                        <a:rPr lang="ja-JP" altLang="en-US" sz="1200" b="1" dirty="0">
                          <a:solidFill>
                            <a:schemeClr val="tx1"/>
                          </a:solidFill>
                        </a:rPr>
                        <a:t>カスタマイズ設定</a:t>
                      </a:r>
                    </a:p>
                  </a:txBody>
                  <a:tcPr>
                    <a:solidFill>
                      <a:schemeClr val="bg1">
                        <a:lumMod val="95000"/>
                      </a:schemeClr>
                    </a:solidFill>
                  </a:tcPr>
                </a:tc>
                <a:tc>
                  <a:txBody>
                    <a:bodyPr/>
                    <a:lstStyle/>
                    <a:p>
                      <a:pPr marL="171450" indent="-171450">
                        <a:buFont typeface="Arial" panose="020B0604020202020204" pitchFamily="34" charset="0"/>
                        <a:buChar char="•"/>
                      </a:pPr>
                      <a:r>
                        <a:rPr kumimoji="1" lang="en-US" altLang="ja-JP" sz="1200" dirty="0">
                          <a:solidFill>
                            <a:schemeClr val="tx1"/>
                          </a:solidFill>
                        </a:rPr>
                        <a:t>Web</a:t>
                      </a:r>
                      <a:r>
                        <a:rPr kumimoji="1" lang="ja-JP" altLang="en-US" sz="1200" dirty="0">
                          <a:solidFill>
                            <a:schemeClr val="tx1"/>
                          </a:solidFill>
                        </a:rPr>
                        <a:t>画面からカスタマイズ用途定義を選択し、</a:t>
                      </a:r>
                      <a:r>
                        <a:rPr kumimoji="1" lang="ja-JP" altLang="en-US" sz="1200" b="1" dirty="0">
                          <a:solidFill>
                            <a:schemeClr val="tx1"/>
                          </a:solidFill>
                        </a:rPr>
                        <a:t>車両に対してカスタマイズ設定をおこなう。</a:t>
                      </a:r>
                      <a:r>
                        <a:rPr kumimoji="1" lang="ja-JP" altLang="en-US" sz="1200" dirty="0">
                          <a:solidFill>
                            <a:schemeClr val="tx1"/>
                          </a:solidFill>
                        </a:rPr>
                        <a:t>車両に現在設定されているカスタマイズ設定一覧も確認する。</a:t>
                      </a:r>
                      <a:endParaRPr kumimoji="1" lang="en-US" altLang="ja-JP" sz="12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dirty="0">
                          <a:solidFill>
                            <a:schemeClr val="tx1"/>
                          </a:solidFill>
                        </a:rPr>
                        <a:t>Web</a:t>
                      </a:r>
                      <a:r>
                        <a:rPr kumimoji="1" lang="ja-JP" altLang="en-US" sz="1200" dirty="0">
                          <a:solidFill>
                            <a:schemeClr val="tx1"/>
                          </a:solidFill>
                        </a:rPr>
                        <a:t>画面からカスタマイズ設定をおこなう際に、カスタマイズ設定の即時反映コマンドと通常反映コマンドのいずれを用いるか選択できるようにする。</a:t>
                      </a:r>
                      <a:endParaRPr kumimoji="1" lang="en-US" altLang="ja-JP" sz="12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dirty="0">
                          <a:solidFill>
                            <a:schemeClr val="tx1"/>
                          </a:solidFill>
                        </a:rPr>
                        <a:t>Web</a:t>
                      </a:r>
                      <a:r>
                        <a:rPr kumimoji="1" lang="ja-JP" altLang="en-US" sz="1200" dirty="0">
                          <a:solidFill>
                            <a:schemeClr val="tx1"/>
                          </a:solidFill>
                        </a:rPr>
                        <a:t>画面からカスタマイズ設定を行ってから車両へ反映完了するまでのステータスを確認する。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各機能利用に必要な権限を画面上で各ユーザへ付与する。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カスタマイズ設定や権限設定を実施した履歴を確認する。</a:t>
                      </a:r>
                      <a:endParaRPr kumimoji="1" lang="en-US" altLang="ja-JP" sz="1200" dirty="0">
                        <a:solidFill>
                          <a:schemeClr val="tx1"/>
                        </a:solidFill>
                      </a:endParaRPr>
                    </a:p>
                  </a:txBody>
                  <a:tcPr>
                    <a:solidFill>
                      <a:schemeClr val="bg1">
                        <a:lumMod val="95000"/>
                      </a:schemeClr>
                    </a:solidFill>
                  </a:tcPr>
                </a:tc>
                <a:tc>
                  <a:txBody>
                    <a:bodyPr/>
                    <a:lstStyle/>
                    <a:p>
                      <a:pPr marL="0" indent="0">
                        <a:buFont typeface="+mj-lt"/>
                        <a:buNone/>
                      </a:pPr>
                      <a:r>
                        <a:rPr kumimoji="1" lang="ja-JP" altLang="en-US" sz="1200" dirty="0">
                          <a:solidFill>
                            <a:schemeClr val="tx1"/>
                          </a:solidFill>
                        </a:rPr>
                        <a:t>カスタマイズデータを取得するにあたり、車両に対してカスタマイズ設定をおこなう必要がある。また、車両に現在なされているカスタマイズ設定を確認する必要がある。</a:t>
                      </a:r>
                    </a:p>
                    <a:p>
                      <a:pPr marL="0" indent="0">
                        <a:buFont typeface="+mj-lt"/>
                        <a:buNone/>
                      </a:pPr>
                      <a:endParaRPr kumimoji="1" lang="en-US" altLang="ja-JP" sz="1200" dirty="0">
                        <a:solidFill>
                          <a:schemeClr val="tx1"/>
                        </a:solidFill>
                      </a:endParaRPr>
                    </a:p>
                  </a:txBody>
                  <a:tcPr>
                    <a:solidFill>
                      <a:schemeClr val="bg1">
                        <a:lumMod val="95000"/>
                      </a:schemeClr>
                    </a:solidFill>
                  </a:tcPr>
                </a:tc>
                <a:extLst>
                  <a:ext uri="{0D108BD9-81ED-4DB2-BD59-A6C34878D82A}">
                    <a16:rowId xmlns:a16="http://schemas.microsoft.com/office/drawing/2014/main" val="2299080546"/>
                  </a:ext>
                </a:extLst>
              </a:tr>
              <a:tr h="1074476">
                <a:tc>
                  <a:txBody>
                    <a:bodyPr/>
                    <a:lstStyle/>
                    <a:p>
                      <a:r>
                        <a:rPr lang="en-US" altLang="ja-JP" sz="1400" b="1" dirty="0"/>
                        <a:t>3</a:t>
                      </a:r>
                      <a:endParaRPr lang="ja-JP" altLang="en-US" sz="1400" b="1" dirty="0"/>
                    </a:p>
                  </a:txBody>
                  <a:tcPr>
                    <a:solidFill>
                      <a:schemeClr val="bg1">
                        <a:lumMod val="95000"/>
                      </a:schemeClr>
                    </a:solidFill>
                  </a:tcPr>
                </a:tc>
                <a:tc>
                  <a:txBody>
                    <a:bodyPr/>
                    <a:lstStyle/>
                    <a:p>
                      <a:r>
                        <a:rPr lang="ja-JP" altLang="en-US" sz="1200" b="1" dirty="0">
                          <a:solidFill>
                            <a:schemeClr val="tx1"/>
                          </a:solidFill>
                        </a:rPr>
                        <a:t>カスタマイズデータ送信要求</a:t>
                      </a:r>
                    </a:p>
                  </a:txBody>
                  <a:tcPr>
                    <a:solidFill>
                      <a:schemeClr val="bg1">
                        <a:lumMod val="95000"/>
                      </a:schemeClr>
                    </a:solidFill>
                  </a:tcPr>
                </a:tc>
                <a:tc>
                  <a:txBody>
                    <a:bodyPr/>
                    <a:lstStyle/>
                    <a:p>
                      <a:pPr marL="171450" indent="-171450">
                        <a:buFont typeface="Arial" panose="020B0604020202020204" pitchFamily="34" charset="0"/>
                        <a:buChar char="•"/>
                      </a:pPr>
                      <a:r>
                        <a:rPr kumimoji="1" lang="ja-JP" altLang="en-US" sz="1200" dirty="0">
                          <a:solidFill>
                            <a:schemeClr val="tx1"/>
                          </a:solidFill>
                        </a:rPr>
                        <a:t>非送信設定（定期的に送ることになっていない設定）になっているカスタマイズデータや、未送信カスタマイズデータ（車両からは送信したつもりが実際には送信できていないデータ）について、</a:t>
                      </a:r>
                      <a:r>
                        <a:rPr kumimoji="1" lang="ja-JP" altLang="en-US" sz="1200" b="1" dirty="0">
                          <a:solidFill>
                            <a:schemeClr val="tx1"/>
                          </a:solidFill>
                        </a:rPr>
                        <a:t>カスタマイズデータを送信するよう</a:t>
                      </a:r>
                      <a:r>
                        <a:rPr kumimoji="1" lang="en-US" altLang="ja-JP" sz="1200" b="1" dirty="0">
                          <a:solidFill>
                            <a:schemeClr val="tx1"/>
                          </a:solidFill>
                        </a:rPr>
                        <a:t>API</a:t>
                      </a:r>
                      <a:r>
                        <a:rPr kumimoji="1" lang="ja-JP" altLang="en-US" sz="1200" b="1" dirty="0">
                          <a:solidFill>
                            <a:schemeClr val="tx1"/>
                          </a:solidFill>
                        </a:rPr>
                        <a:t>で車両に要求をおこなう。</a:t>
                      </a:r>
                      <a:endParaRPr kumimoji="1" lang="en-US" altLang="ja-JP" sz="1200" b="1"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定期送信設定になっているカスタマイズデータでも、送信タイミング以前にデータが欲しい場合にカスタマイズデータ送信を車両に要求する。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サーバ受信済みカスタマイズデータの確認もする。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カスタマイズデータの要求について、車両から送信されたデータの受信完了を確認する。</a:t>
                      </a:r>
                    </a:p>
                  </a:txBody>
                  <a:tcPr>
                    <a:solidFill>
                      <a:schemeClr val="bg1">
                        <a:lumMod val="95000"/>
                      </a:schemeClr>
                    </a:solidFill>
                  </a:tcPr>
                </a:tc>
                <a:tc>
                  <a:txBody>
                    <a:bodyPr/>
                    <a:lstStyle/>
                    <a:p>
                      <a:pPr marL="0" indent="0">
                        <a:buFont typeface="+mj-lt"/>
                        <a:buNone/>
                      </a:pPr>
                      <a:r>
                        <a:rPr kumimoji="1" lang="ja-JP" altLang="en-US" sz="1200" dirty="0"/>
                        <a:t>ビジネスアプリでカスタマイズデータを活用するにあたり、非送信設定や未送信のカスタマイズデータ送信要求をおこなう</a:t>
                      </a:r>
                    </a:p>
                  </a:txBody>
                  <a:tcPr>
                    <a:solidFill>
                      <a:schemeClr val="bg1">
                        <a:lumMod val="95000"/>
                      </a:schemeClr>
                    </a:solidFill>
                  </a:tcPr>
                </a:tc>
                <a:extLst>
                  <a:ext uri="{0D108BD9-81ED-4DB2-BD59-A6C34878D82A}">
                    <a16:rowId xmlns:a16="http://schemas.microsoft.com/office/drawing/2014/main" val="602725658"/>
                  </a:ext>
                </a:extLst>
              </a:tr>
            </a:tbl>
          </a:graphicData>
        </a:graphic>
      </p:graphicFrame>
    </p:spTree>
    <p:extLst>
      <p:ext uri="{BB962C8B-B14F-4D97-AF65-F5344CB8AC3E}">
        <p14:creationId xmlns:p14="http://schemas.microsoft.com/office/powerpoint/2010/main" val="2524085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92024" y="612000"/>
            <a:ext cx="8750808" cy="423427"/>
          </a:xfrm>
        </p:spPr>
        <p:txBody>
          <a:bodyPr/>
          <a:lstStyle/>
          <a:p>
            <a:pPr marL="0" indent="0">
              <a:buNone/>
            </a:pPr>
            <a:r>
              <a:rPr lang="ja-JP" altLang="en-US" b="1" dirty="0"/>
              <a:t>ビジネスアプリ実現のために必要な要求仕様</a:t>
            </a:r>
            <a:endParaRPr lang="en-US" altLang="ja-JP" b="1" dirty="0"/>
          </a:p>
        </p:txBody>
      </p:sp>
      <p:pic>
        <p:nvPicPr>
          <p:cNvPr id="6" name="図 5">
            <a:extLst>
              <a:ext uri="{FF2B5EF4-FFF2-40B4-BE49-F238E27FC236}">
                <a16:creationId xmlns:a16="http://schemas.microsoft.com/office/drawing/2014/main" id="{5698DC11-FD55-4FDD-A825-3BFAAB3F5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4644" y="3898986"/>
            <a:ext cx="757069" cy="1066801"/>
          </a:xfrm>
          <a:prstGeom prst="rect">
            <a:avLst/>
          </a:prstGeom>
          <a:noFill/>
          <a:extLst>
            <a:ext uri="{909E8E84-426E-40DD-AFC4-6F175D3DCCD1}">
              <a14:hiddenFill xmlns:a14="http://schemas.microsoft.com/office/drawing/2010/main">
                <a:solidFill>
                  <a:srgbClr val="FFFFFF"/>
                </a:solidFill>
              </a14:hiddenFill>
            </a:ext>
          </a:extLst>
        </p:spPr>
      </p:pic>
      <p:grpSp>
        <p:nvGrpSpPr>
          <p:cNvPr id="7" name="グループ化 6">
            <a:extLst>
              <a:ext uri="{FF2B5EF4-FFF2-40B4-BE49-F238E27FC236}">
                <a16:creationId xmlns:a16="http://schemas.microsoft.com/office/drawing/2014/main" id="{A804C65F-1DAE-4AFA-A158-832106368360}"/>
              </a:ext>
            </a:extLst>
          </p:cNvPr>
          <p:cNvGrpSpPr/>
          <p:nvPr/>
        </p:nvGrpSpPr>
        <p:grpSpPr>
          <a:xfrm>
            <a:off x="345715" y="4152241"/>
            <a:ext cx="929689" cy="750090"/>
            <a:chOff x="39303" y="1506069"/>
            <a:chExt cx="921445" cy="621602"/>
          </a:xfrm>
        </p:grpSpPr>
        <p:pic>
          <p:nvPicPr>
            <p:cNvPr id="8" name="図 7">
              <a:extLst>
                <a:ext uri="{FF2B5EF4-FFF2-40B4-BE49-F238E27FC236}">
                  <a16:creationId xmlns:a16="http://schemas.microsoft.com/office/drawing/2014/main" id="{4C4D60B6-A307-4BA6-8E3B-E0E37B9F84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9" name="正方形/長方形 8">
              <a:extLst>
                <a:ext uri="{FF2B5EF4-FFF2-40B4-BE49-F238E27FC236}">
                  <a16:creationId xmlns:a16="http://schemas.microsoft.com/office/drawing/2014/main" id="{43956205-53CF-4B16-A0C8-A275987D0B40}"/>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10" name="テキスト ボックス 79">
            <a:extLst>
              <a:ext uri="{FF2B5EF4-FFF2-40B4-BE49-F238E27FC236}">
                <a16:creationId xmlns:a16="http://schemas.microsoft.com/office/drawing/2014/main" id="{D10C2B81-DADF-4742-8C31-228F37B9F665}"/>
              </a:ext>
            </a:extLst>
          </p:cNvPr>
          <p:cNvSpPr txBox="1"/>
          <p:nvPr/>
        </p:nvSpPr>
        <p:spPr>
          <a:xfrm>
            <a:off x="437456" y="482549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11" name="テキスト ボックス 79">
            <a:extLst>
              <a:ext uri="{FF2B5EF4-FFF2-40B4-BE49-F238E27FC236}">
                <a16:creationId xmlns:a16="http://schemas.microsoft.com/office/drawing/2014/main" id="{0BE08A68-1EA0-4B49-9264-B53998EFA5F4}"/>
              </a:ext>
            </a:extLst>
          </p:cNvPr>
          <p:cNvSpPr txBox="1"/>
          <p:nvPr/>
        </p:nvSpPr>
        <p:spPr>
          <a:xfrm>
            <a:off x="3539638" y="5014709"/>
            <a:ext cx="1786750" cy="322353"/>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次世代</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KOMTRAX</a:t>
            </a: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サーバ</a:t>
            </a:r>
          </a:p>
        </p:txBody>
      </p:sp>
      <p:cxnSp>
        <p:nvCxnSpPr>
          <p:cNvPr id="12" name="直線矢印コネクタ 11">
            <a:extLst>
              <a:ext uri="{FF2B5EF4-FFF2-40B4-BE49-F238E27FC236}">
                <a16:creationId xmlns:a16="http://schemas.microsoft.com/office/drawing/2014/main" id="{F233FD97-B3C0-47C5-9F4F-20D903F7ED93}"/>
              </a:ext>
            </a:extLst>
          </p:cNvPr>
          <p:cNvCxnSpPr>
            <a:cxnSpLocks/>
            <a:endCxn id="6" idx="1"/>
          </p:cNvCxnSpPr>
          <p:nvPr/>
        </p:nvCxnSpPr>
        <p:spPr>
          <a:xfrm>
            <a:off x="1200647" y="4432387"/>
            <a:ext cx="2773997"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00553515-B8E9-4094-BA79-94FABF43F5E0}"/>
              </a:ext>
            </a:extLst>
          </p:cNvPr>
          <p:cNvCxnSpPr>
            <a:cxnSpLocks/>
          </p:cNvCxnSpPr>
          <p:nvPr/>
        </p:nvCxnSpPr>
        <p:spPr>
          <a:xfrm>
            <a:off x="4984538" y="4283269"/>
            <a:ext cx="2868798"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D97DFF1A-5B09-45C8-BCF7-48E9D839438D}"/>
              </a:ext>
            </a:extLst>
          </p:cNvPr>
          <p:cNvCxnSpPr>
            <a:cxnSpLocks/>
          </p:cNvCxnSpPr>
          <p:nvPr/>
        </p:nvCxnSpPr>
        <p:spPr>
          <a:xfrm flipH="1">
            <a:off x="4944120" y="4513361"/>
            <a:ext cx="2909216" cy="218"/>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2">
            <a:extLst>
              <a:ext uri="{FF2B5EF4-FFF2-40B4-BE49-F238E27FC236}">
                <a16:creationId xmlns:a16="http://schemas.microsoft.com/office/drawing/2014/main" id="{2C605862-F2E9-4F01-8E80-4601E0953D69}"/>
              </a:ext>
            </a:extLst>
          </p:cNvPr>
          <p:cNvSpPr txBox="1"/>
          <p:nvPr/>
        </p:nvSpPr>
        <p:spPr>
          <a:xfrm>
            <a:off x="1499073" y="3844319"/>
            <a:ext cx="2026517" cy="43088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non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sz="1100" dirty="0">
                <a:latin typeface="Meiryo UI" panose="020B0604030504040204" pitchFamily="50" charset="-128"/>
                <a:ea typeface="Meiryo UI" panose="020B0604030504040204" pitchFamily="50" charset="-128"/>
              </a:rPr>
              <a:t>①</a:t>
            </a:r>
            <a:r>
              <a:rPr kumimoji="1" lang="en-US" altLang="ja-JP" sz="1100" dirty="0">
                <a:latin typeface="Meiryo UI" panose="020B0604030504040204" pitchFamily="50" charset="-128"/>
                <a:ea typeface="Meiryo UI" panose="020B0604030504040204" pitchFamily="50" charset="-128"/>
              </a:rPr>
              <a:t>Web</a:t>
            </a:r>
            <a:r>
              <a:rPr kumimoji="1" lang="ja-JP" altLang="en-US" sz="1100" dirty="0">
                <a:latin typeface="Meiryo UI" panose="020B0604030504040204" pitchFamily="50" charset="-128"/>
                <a:ea typeface="Meiryo UI" panose="020B0604030504040204" pitchFamily="50" charset="-128"/>
              </a:rPr>
              <a:t>画面から車両を選択し、</a:t>
            </a:r>
            <a:endParaRPr kumimoji="1" lang="en-US" altLang="ja-JP" sz="1100" dirty="0">
              <a:latin typeface="Meiryo UI" panose="020B0604030504040204" pitchFamily="50" charset="-128"/>
              <a:ea typeface="Meiryo UI" panose="020B0604030504040204" pitchFamily="50" charset="-128"/>
            </a:endParaRPr>
          </a:p>
          <a:p>
            <a:pPr algn="l"/>
            <a:r>
              <a:rPr kumimoji="1" lang="ja-JP" altLang="en-US" sz="1100" dirty="0">
                <a:latin typeface="Meiryo UI" panose="020B0604030504040204" pitchFamily="50" charset="-128"/>
                <a:ea typeface="Meiryo UI" panose="020B0604030504040204" pitchFamily="50" charset="-128"/>
              </a:rPr>
              <a:t>カスタマイズ設定操作をおこなう</a:t>
            </a:r>
            <a:endParaRPr kumimoji="1" lang="en-US" altLang="ja-JP" sz="1100" dirty="0">
              <a:latin typeface="Meiryo UI" panose="020B0604030504040204" pitchFamily="50" charset="-128"/>
              <a:ea typeface="Meiryo UI" panose="020B0604030504040204" pitchFamily="50" charset="-128"/>
            </a:endParaRPr>
          </a:p>
        </p:txBody>
      </p:sp>
      <p:grpSp>
        <p:nvGrpSpPr>
          <p:cNvPr id="16" name="グループ化 15">
            <a:extLst>
              <a:ext uri="{FF2B5EF4-FFF2-40B4-BE49-F238E27FC236}">
                <a16:creationId xmlns:a16="http://schemas.microsoft.com/office/drawing/2014/main" id="{4580392C-5A7F-4DDE-8702-85F77D88405C}"/>
              </a:ext>
            </a:extLst>
          </p:cNvPr>
          <p:cNvGrpSpPr/>
          <p:nvPr/>
        </p:nvGrpSpPr>
        <p:grpSpPr>
          <a:xfrm>
            <a:off x="7951776" y="4016156"/>
            <a:ext cx="846509" cy="882061"/>
            <a:chOff x="1662503" y="2303928"/>
            <a:chExt cx="855026" cy="1019415"/>
          </a:xfrm>
        </p:grpSpPr>
        <p:pic>
          <p:nvPicPr>
            <p:cNvPr id="17" name="図 16">
              <a:extLst>
                <a:ext uri="{FF2B5EF4-FFF2-40B4-BE49-F238E27FC236}">
                  <a16:creationId xmlns:a16="http://schemas.microsoft.com/office/drawing/2014/main" id="{4D7172AA-5A80-4C4D-8315-99E229BDEDF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62503" y="2303928"/>
              <a:ext cx="855026" cy="599758"/>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90">
              <a:extLst>
                <a:ext uri="{FF2B5EF4-FFF2-40B4-BE49-F238E27FC236}">
                  <a16:creationId xmlns:a16="http://schemas.microsoft.com/office/drawing/2014/main" id="{A5EA401E-9FD0-426A-B778-79FAD99390C4}"/>
                </a:ext>
              </a:extLst>
            </p:cNvPr>
            <p:cNvSpPr txBox="1"/>
            <p:nvPr/>
          </p:nvSpPr>
          <p:spPr>
            <a:xfrm>
              <a:off x="1830271" y="3079375"/>
              <a:ext cx="599928" cy="243968"/>
            </a:xfrm>
            <a:prstGeom prst="rect">
              <a:avLst/>
            </a:prstGeom>
            <a:solidFill>
              <a:schemeClr val="bg1"/>
            </a:solid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100" b="1">
                  <a:solidFill>
                    <a:srgbClr val="002060"/>
                  </a:solidFill>
                  <a:latin typeface="Meiryo UI" panose="020B0604030504040204" pitchFamily="50" charset="-128"/>
                  <a:ea typeface="Meiryo UI" panose="020B0604030504040204" pitchFamily="50" charset="-128"/>
                </a:rPr>
                <a:t>車両</a:t>
              </a:r>
            </a:p>
          </p:txBody>
        </p:sp>
      </p:grpSp>
      <p:sp>
        <p:nvSpPr>
          <p:cNvPr id="19" name="テキスト ボックス 2">
            <a:extLst>
              <a:ext uri="{FF2B5EF4-FFF2-40B4-BE49-F238E27FC236}">
                <a16:creationId xmlns:a16="http://schemas.microsoft.com/office/drawing/2014/main" id="{32D9FCCA-F16B-426E-B2B1-833D863C0572}"/>
              </a:ext>
            </a:extLst>
          </p:cNvPr>
          <p:cNvSpPr txBox="1"/>
          <p:nvPr/>
        </p:nvSpPr>
        <p:spPr>
          <a:xfrm>
            <a:off x="5293698" y="4775517"/>
            <a:ext cx="2615819" cy="43088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dirty="0">
                <a:latin typeface="Meiryo UI" panose="020B0604030504040204" pitchFamily="50" charset="-128"/>
                <a:ea typeface="Meiryo UI" panose="020B0604030504040204" pitchFamily="50" charset="-128"/>
              </a:rPr>
              <a:t>③受信したコマンドの内容について、車両で</a:t>
            </a:r>
            <a:r>
              <a:rPr kumimoji="1" lang="en-US" altLang="ja-JP" dirty="0">
                <a:latin typeface="Meiryo UI" panose="020B0604030504040204" pitchFamily="50" charset="-128"/>
                <a:ea typeface="Meiryo UI" panose="020B0604030504040204" pitchFamily="50" charset="-128"/>
              </a:rPr>
              <a:t>OK/NG</a:t>
            </a:r>
            <a:r>
              <a:rPr kumimoji="1" lang="ja-JP" altLang="en-US" dirty="0">
                <a:latin typeface="Meiryo UI" panose="020B0604030504040204" pitchFamily="50" charset="-128"/>
                <a:ea typeface="Meiryo UI" panose="020B0604030504040204" pitchFamily="50" charset="-128"/>
              </a:rPr>
              <a:t>を判定してサーバへ返信する</a:t>
            </a:r>
            <a:endParaRPr kumimoji="1" lang="ja-JP" altLang="en-US" sz="1100" dirty="0">
              <a:latin typeface="Meiryo UI" panose="020B0604030504040204" pitchFamily="50" charset="-128"/>
              <a:ea typeface="Meiryo UI" panose="020B0604030504040204" pitchFamily="50" charset="-128"/>
            </a:endParaRPr>
          </a:p>
        </p:txBody>
      </p:sp>
      <p:sp>
        <p:nvSpPr>
          <p:cNvPr id="20" name="テキスト ボックス 2">
            <a:extLst>
              <a:ext uri="{FF2B5EF4-FFF2-40B4-BE49-F238E27FC236}">
                <a16:creationId xmlns:a16="http://schemas.microsoft.com/office/drawing/2014/main" id="{E1C78969-0C2F-4266-9A67-2873FFEDC643}"/>
              </a:ext>
            </a:extLst>
          </p:cNvPr>
          <p:cNvSpPr txBox="1"/>
          <p:nvPr/>
        </p:nvSpPr>
        <p:spPr>
          <a:xfrm>
            <a:off x="5160635" y="3709288"/>
            <a:ext cx="2909216" cy="43088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dirty="0">
                <a:latin typeface="Meiryo UI" panose="020B0604030504040204" pitchFamily="50" charset="-128"/>
                <a:ea typeface="Meiryo UI" panose="020B0604030504040204" pitchFamily="50" charset="-128"/>
              </a:rPr>
              <a:t>②</a:t>
            </a:r>
            <a:r>
              <a:rPr kumimoji="1" lang="ja-JP" altLang="en-US" sz="1100" dirty="0">
                <a:latin typeface="Meiryo UI" panose="020B0604030504040204" pitchFamily="50" charset="-128"/>
                <a:ea typeface="Meiryo UI" panose="020B0604030504040204" pitchFamily="50" charset="-128"/>
              </a:rPr>
              <a:t>画面操作を受けて、</a:t>
            </a:r>
            <a:endParaRPr kumimoji="1" lang="en-US" altLang="ja-JP" sz="1100" dirty="0">
              <a:latin typeface="Meiryo UI" panose="020B0604030504040204" pitchFamily="50" charset="-128"/>
              <a:ea typeface="Meiryo UI" panose="020B0604030504040204" pitchFamily="50" charset="-128"/>
            </a:endParaRPr>
          </a:p>
          <a:p>
            <a:pPr algn="l"/>
            <a:r>
              <a:rPr kumimoji="1" lang="ja-JP" altLang="en-US" sz="1100" dirty="0">
                <a:latin typeface="Meiryo UI" panose="020B0604030504040204" pitchFamily="50" charset="-128"/>
                <a:ea typeface="Meiryo UI" panose="020B0604030504040204" pitchFamily="50" charset="-128"/>
              </a:rPr>
              <a:t>カスタマイズ設定を行うコマンドを車両に送信する</a:t>
            </a:r>
            <a:endParaRPr kumimoji="1" lang="en-US" altLang="ja-JP" sz="1100" dirty="0">
              <a:latin typeface="Meiryo UI" panose="020B0604030504040204" pitchFamily="50" charset="-128"/>
              <a:ea typeface="Meiryo UI" panose="020B0604030504040204" pitchFamily="50" charset="-128"/>
            </a:endParaRPr>
          </a:p>
        </p:txBody>
      </p:sp>
      <p:grpSp>
        <p:nvGrpSpPr>
          <p:cNvPr id="28" name="グループ化 27">
            <a:extLst>
              <a:ext uri="{FF2B5EF4-FFF2-40B4-BE49-F238E27FC236}">
                <a16:creationId xmlns:a16="http://schemas.microsoft.com/office/drawing/2014/main" id="{8F960A98-0018-4BF9-ABA1-ABDE24F0AC6C}"/>
              </a:ext>
            </a:extLst>
          </p:cNvPr>
          <p:cNvGrpSpPr/>
          <p:nvPr/>
        </p:nvGrpSpPr>
        <p:grpSpPr>
          <a:xfrm>
            <a:off x="5788551" y="4965787"/>
            <a:ext cx="3154282" cy="1582784"/>
            <a:chOff x="5788551" y="4911462"/>
            <a:chExt cx="3154282" cy="1582784"/>
          </a:xfrm>
        </p:grpSpPr>
        <p:grpSp>
          <p:nvGrpSpPr>
            <p:cNvPr id="24" name="グループ化 23">
              <a:extLst>
                <a:ext uri="{FF2B5EF4-FFF2-40B4-BE49-F238E27FC236}">
                  <a16:creationId xmlns:a16="http://schemas.microsoft.com/office/drawing/2014/main" id="{835DD5C4-1F88-49C1-8166-E1DCB1625C66}"/>
                </a:ext>
              </a:extLst>
            </p:cNvPr>
            <p:cNvGrpSpPr/>
            <p:nvPr/>
          </p:nvGrpSpPr>
          <p:grpSpPr>
            <a:xfrm>
              <a:off x="5788551" y="5571846"/>
              <a:ext cx="3154282" cy="922400"/>
              <a:chOff x="5788551" y="5291654"/>
              <a:chExt cx="3154282" cy="922400"/>
            </a:xfrm>
          </p:grpSpPr>
          <p:pic>
            <p:nvPicPr>
              <p:cNvPr id="23" name="図 22">
                <a:extLst>
                  <a:ext uri="{FF2B5EF4-FFF2-40B4-BE49-F238E27FC236}">
                    <a16:creationId xmlns:a16="http://schemas.microsoft.com/office/drawing/2014/main" id="{6C11C49D-608C-4211-9A1A-C775F27B3769}"/>
                  </a:ext>
                </a:extLst>
              </p:cNvPr>
              <p:cNvPicPr>
                <a:picLocks noChangeAspect="1"/>
              </p:cNvPicPr>
              <p:nvPr/>
            </p:nvPicPr>
            <p:blipFill>
              <a:blip r:embed="rId6"/>
              <a:stretch>
                <a:fillRect/>
              </a:stretch>
            </p:blipFill>
            <p:spPr>
              <a:xfrm>
                <a:off x="8083910" y="5291654"/>
                <a:ext cx="714375" cy="466725"/>
              </a:xfrm>
              <a:prstGeom prst="rect">
                <a:avLst/>
              </a:prstGeom>
            </p:spPr>
          </p:pic>
          <p:sp>
            <p:nvSpPr>
              <p:cNvPr id="21" name="テキスト ボックス 2">
                <a:extLst>
                  <a:ext uri="{FF2B5EF4-FFF2-40B4-BE49-F238E27FC236}">
                    <a16:creationId xmlns:a16="http://schemas.microsoft.com/office/drawing/2014/main" id="{F94869D4-98C0-42AE-8362-AD2BB8315604}"/>
                  </a:ext>
                </a:extLst>
              </p:cNvPr>
              <p:cNvSpPr txBox="1"/>
              <p:nvPr/>
            </p:nvSpPr>
            <p:spPr>
              <a:xfrm>
                <a:off x="5788551" y="5613890"/>
                <a:ext cx="3154282" cy="60016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補足</a:t>
                </a:r>
                <a:endParaRPr kumimoji="1" lang="en-US" altLang="ja-JP" dirty="0">
                  <a:latin typeface="Meiryo UI" panose="020B0604030504040204" pitchFamily="50" charset="-128"/>
                  <a:ea typeface="Meiryo UI" panose="020B0604030504040204" pitchFamily="50" charset="-128"/>
                </a:endParaRPr>
              </a:p>
              <a:p>
                <a:pPr algn="l"/>
                <a:r>
                  <a:rPr kumimoji="1" lang="ja-JP" altLang="en-US" dirty="0">
                    <a:latin typeface="Meiryo UI" panose="020B0604030504040204" pitchFamily="50" charset="-128"/>
                    <a:ea typeface="Meiryo UI" panose="020B0604030504040204" pitchFamily="50" charset="-128"/>
                  </a:rPr>
                  <a:t>カスタマイズ設定は、</a:t>
                </a:r>
                <a:r>
                  <a:rPr kumimoji="1" lang="en-US" altLang="ja-JP" dirty="0">
                    <a:latin typeface="Meiryo UI" panose="020B0604030504040204" pitchFamily="50" charset="-128"/>
                    <a:ea typeface="Meiryo UI" panose="020B0604030504040204" pitchFamily="50" charset="-128"/>
                  </a:rPr>
                  <a:t>Web</a:t>
                </a:r>
                <a:r>
                  <a:rPr kumimoji="1" lang="ja-JP" altLang="en-US" dirty="0">
                    <a:latin typeface="Meiryo UI" panose="020B0604030504040204" pitchFamily="50" charset="-128"/>
                    <a:ea typeface="Meiryo UI" panose="020B0604030504040204" pitchFamily="50" charset="-128"/>
                  </a:rPr>
                  <a:t>画面からだけでなく、ツールを用いて設定することもできる</a:t>
                </a:r>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リリース</a:t>
                </a:r>
                <a:r>
                  <a:rPr kumimoji="1" lang="en-US" altLang="ja-JP" dirty="0">
                    <a:latin typeface="Meiryo UI" panose="020B0604030504040204" pitchFamily="50" charset="-128"/>
                    <a:ea typeface="Meiryo UI" panose="020B0604030504040204" pitchFamily="50" charset="-128"/>
                  </a:rPr>
                  <a:t>1.2</a:t>
                </a:r>
                <a:r>
                  <a:rPr kumimoji="1" lang="ja-JP" altLang="en-US" dirty="0">
                    <a:latin typeface="Meiryo UI" panose="020B0604030504040204" pitchFamily="50" charset="-128"/>
                    <a:ea typeface="Meiryo UI" panose="020B0604030504040204" pitchFamily="50" charset="-128"/>
                  </a:rPr>
                  <a:t>のスコープ外</a:t>
                </a:r>
                <a:r>
                  <a:rPr kumimoji="1" lang="en-US" altLang="ja-JP" dirty="0">
                    <a:latin typeface="Meiryo UI" panose="020B0604030504040204" pitchFamily="50" charset="-128"/>
                    <a:ea typeface="Meiryo UI" panose="020B0604030504040204" pitchFamily="50" charset="-128"/>
                  </a:rPr>
                  <a:t>)</a:t>
                </a:r>
                <a:endParaRPr kumimoji="1" lang="ja-JP" altLang="en-US" sz="1100" dirty="0">
                  <a:latin typeface="Meiryo UI" panose="020B0604030504040204" pitchFamily="50" charset="-128"/>
                  <a:ea typeface="Meiryo UI" panose="020B0604030504040204" pitchFamily="50" charset="-128"/>
                </a:endParaRPr>
              </a:p>
            </p:txBody>
          </p:sp>
        </p:grpSp>
        <p:cxnSp>
          <p:nvCxnSpPr>
            <p:cNvPr id="25" name="直線矢印コネクタ 24">
              <a:extLst>
                <a:ext uri="{FF2B5EF4-FFF2-40B4-BE49-F238E27FC236}">
                  <a16:creationId xmlns:a16="http://schemas.microsoft.com/office/drawing/2014/main" id="{F08DD0EE-D2A4-4CF4-8D9B-C2BB8C371607}"/>
                </a:ext>
              </a:extLst>
            </p:cNvPr>
            <p:cNvCxnSpPr>
              <a:cxnSpLocks/>
            </p:cNvCxnSpPr>
            <p:nvPr/>
          </p:nvCxnSpPr>
          <p:spPr>
            <a:xfrm flipV="1">
              <a:off x="8441097" y="4911462"/>
              <a:ext cx="0" cy="648734"/>
            </a:xfrm>
            <a:prstGeom prst="straightConnector1">
              <a:avLst/>
            </a:prstGeom>
            <a:ln w="381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22" name="表 21">
            <a:extLst>
              <a:ext uri="{FF2B5EF4-FFF2-40B4-BE49-F238E27FC236}">
                <a16:creationId xmlns:a16="http://schemas.microsoft.com/office/drawing/2014/main" id="{48AD8CC1-4C76-43E0-83CB-12D2EC97624E}"/>
              </a:ext>
            </a:extLst>
          </p:cNvPr>
          <p:cNvGraphicFramePr>
            <a:graphicFrameLocks noGrp="1"/>
          </p:cNvGraphicFramePr>
          <p:nvPr>
            <p:extLst>
              <p:ext uri="{D42A27DB-BD31-4B8C-83A1-F6EECF244321}">
                <p14:modId xmlns:p14="http://schemas.microsoft.com/office/powerpoint/2010/main" val="2009338067"/>
              </p:ext>
            </p:extLst>
          </p:nvPr>
        </p:nvGraphicFramePr>
        <p:xfrm>
          <a:off x="1" y="1033068"/>
          <a:ext cx="9143999" cy="2372427"/>
        </p:xfrm>
        <a:graphic>
          <a:graphicData uri="http://schemas.openxmlformats.org/drawingml/2006/table">
            <a:tbl>
              <a:tblPr firstRow="1" bandRow="1">
                <a:tableStyleId>{5C22544A-7EE6-4342-B048-85BDC9FD1C3A}</a:tableStyleId>
              </a:tblPr>
              <a:tblGrid>
                <a:gridCol w="405517">
                  <a:extLst>
                    <a:ext uri="{9D8B030D-6E8A-4147-A177-3AD203B41FA5}">
                      <a16:colId xmlns:a16="http://schemas.microsoft.com/office/drawing/2014/main" val="2107976400"/>
                    </a:ext>
                  </a:extLst>
                </a:gridCol>
                <a:gridCol w="2027582">
                  <a:extLst>
                    <a:ext uri="{9D8B030D-6E8A-4147-A177-3AD203B41FA5}">
                      <a16:colId xmlns:a16="http://schemas.microsoft.com/office/drawing/2014/main" val="2834010468"/>
                    </a:ext>
                  </a:extLst>
                </a:gridCol>
                <a:gridCol w="4118776">
                  <a:extLst>
                    <a:ext uri="{9D8B030D-6E8A-4147-A177-3AD203B41FA5}">
                      <a16:colId xmlns:a16="http://schemas.microsoft.com/office/drawing/2014/main" val="3981641603"/>
                    </a:ext>
                  </a:extLst>
                </a:gridCol>
                <a:gridCol w="2592124">
                  <a:extLst>
                    <a:ext uri="{9D8B030D-6E8A-4147-A177-3AD203B41FA5}">
                      <a16:colId xmlns:a16="http://schemas.microsoft.com/office/drawing/2014/main" val="3920189567"/>
                    </a:ext>
                  </a:extLst>
                </a:gridCol>
              </a:tblGrid>
              <a:tr h="452187">
                <a:tc>
                  <a:txBody>
                    <a:bodyPr/>
                    <a:lstStyle/>
                    <a:p>
                      <a:r>
                        <a:rPr kumimoji="1" lang="en-US" altLang="ja-JP" sz="1200" dirty="0"/>
                        <a:t>No.</a:t>
                      </a:r>
                      <a:endParaRPr kumimoji="1" lang="ja-JP" altLang="en-US" sz="1200" dirty="0"/>
                    </a:p>
                  </a:txBody>
                  <a:tcPr>
                    <a:solidFill>
                      <a:srgbClr val="140A9A"/>
                    </a:solidFill>
                  </a:tcPr>
                </a:tc>
                <a:tc>
                  <a:txBody>
                    <a:bodyPr/>
                    <a:lstStyle/>
                    <a:p>
                      <a:r>
                        <a:rPr kumimoji="1" lang="ja-JP" altLang="en-US" sz="1200" dirty="0"/>
                        <a:t>要求</a:t>
                      </a:r>
                    </a:p>
                  </a:txBody>
                  <a:tcPr>
                    <a:solidFill>
                      <a:srgbClr val="140A9A"/>
                    </a:solidFill>
                  </a:tcPr>
                </a:tc>
                <a:tc>
                  <a:txBody>
                    <a:bodyPr/>
                    <a:lstStyle/>
                    <a:p>
                      <a:r>
                        <a:rPr kumimoji="1" lang="ja-JP" altLang="en-US" sz="1200" dirty="0"/>
                        <a:t>詳細</a:t>
                      </a:r>
                    </a:p>
                  </a:txBody>
                  <a:tcPr>
                    <a:solidFill>
                      <a:srgbClr val="140A9A"/>
                    </a:solidFill>
                  </a:tcPr>
                </a:tc>
                <a:tc>
                  <a:txBody>
                    <a:bodyPr/>
                    <a:lstStyle/>
                    <a:p>
                      <a:r>
                        <a:rPr kumimoji="1" lang="ja-JP" altLang="en-US" sz="1200" dirty="0"/>
                        <a:t>開発理由</a:t>
                      </a:r>
                    </a:p>
                  </a:txBody>
                  <a:tcPr>
                    <a:solidFill>
                      <a:srgbClr val="140A9A"/>
                    </a:solidFill>
                  </a:tcPr>
                </a:tc>
                <a:extLst>
                  <a:ext uri="{0D108BD9-81ED-4DB2-BD59-A6C34878D82A}">
                    <a16:rowId xmlns:a16="http://schemas.microsoft.com/office/drawing/2014/main" val="2440038826"/>
                  </a:ext>
                </a:extLst>
              </a:tr>
              <a:tr h="1090475">
                <a:tc>
                  <a:txBody>
                    <a:bodyPr/>
                    <a:lstStyle/>
                    <a:p>
                      <a:r>
                        <a:rPr lang="en-US" altLang="ja-JP" sz="1200" b="1" dirty="0"/>
                        <a:t>1</a:t>
                      </a:r>
                      <a:endParaRPr lang="ja-JP" altLang="en-US" sz="1200" b="1" dirty="0"/>
                    </a:p>
                  </a:txBody>
                  <a:tcPr>
                    <a:solidFill>
                      <a:schemeClr val="tx1">
                        <a:lumMod val="10000"/>
                        <a:lumOff val="90000"/>
                      </a:schemeClr>
                    </a:solidFill>
                  </a:tcPr>
                </a:tc>
                <a:tc>
                  <a:txBody>
                    <a:bodyPr/>
                    <a:lstStyle/>
                    <a:p>
                      <a:r>
                        <a:rPr lang="ja-JP" altLang="en-US" sz="1200" b="1" dirty="0"/>
                        <a:t>カスタマイズ設定</a:t>
                      </a:r>
                    </a:p>
                  </a:txBody>
                  <a:tcPr>
                    <a:solidFill>
                      <a:schemeClr val="tx1">
                        <a:lumMod val="10000"/>
                        <a:lumOff val="90000"/>
                      </a:schemeClr>
                    </a:solidFill>
                  </a:tcPr>
                </a:tc>
                <a:tc>
                  <a:txBody>
                    <a:bodyPr/>
                    <a:lstStyle/>
                    <a:p>
                      <a:pPr marL="171450" indent="-171450">
                        <a:buFont typeface="Arial" panose="020B0604020202020204" pitchFamily="34" charset="0"/>
                        <a:buChar char="•"/>
                      </a:pPr>
                      <a:r>
                        <a:rPr kumimoji="1" lang="en-US" altLang="ja-JP" sz="1200" dirty="0">
                          <a:solidFill>
                            <a:schemeClr val="tx1"/>
                          </a:solidFill>
                        </a:rPr>
                        <a:t>Web</a:t>
                      </a:r>
                      <a:r>
                        <a:rPr kumimoji="1" lang="ja-JP" altLang="en-US" sz="1200" dirty="0">
                          <a:solidFill>
                            <a:schemeClr val="tx1"/>
                          </a:solidFill>
                        </a:rPr>
                        <a:t>画面からカスタマイズ用途定義を選択し、</a:t>
                      </a:r>
                      <a:r>
                        <a:rPr kumimoji="1" lang="ja-JP" altLang="en-US" sz="1200" b="1" dirty="0">
                          <a:solidFill>
                            <a:schemeClr val="tx1"/>
                          </a:solidFill>
                        </a:rPr>
                        <a:t>車両に対してカスタマイズ設定をおこなう。</a:t>
                      </a:r>
                      <a:r>
                        <a:rPr kumimoji="1" lang="ja-JP" altLang="en-US" sz="1200" dirty="0">
                          <a:solidFill>
                            <a:schemeClr val="tx1"/>
                          </a:solidFill>
                        </a:rPr>
                        <a:t>車両に現在設定されているカスタマイズ設定一覧も確認する。</a:t>
                      </a:r>
                      <a:endParaRPr kumimoji="1" lang="en-US" altLang="ja-JP" sz="12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dirty="0">
                          <a:solidFill>
                            <a:schemeClr val="tx1"/>
                          </a:solidFill>
                        </a:rPr>
                        <a:t>Web</a:t>
                      </a:r>
                      <a:r>
                        <a:rPr kumimoji="1" lang="ja-JP" altLang="en-US" sz="1200" dirty="0">
                          <a:solidFill>
                            <a:schemeClr val="tx1"/>
                          </a:solidFill>
                        </a:rPr>
                        <a:t>画面からカスタマイズ設定をおこなう際に、カスタマイズ設定の即時反映コマンドと通常反映コマンドのいずれを用いるか選択できるようにする。</a:t>
                      </a:r>
                      <a:endParaRPr kumimoji="1" lang="en-US" altLang="ja-JP" sz="12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dirty="0">
                          <a:solidFill>
                            <a:schemeClr val="tx1"/>
                          </a:solidFill>
                        </a:rPr>
                        <a:t>Web</a:t>
                      </a:r>
                      <a:r>
                        <a:rPr kumimoji="1" lang="ja-JP" altLang="en-US" sz="1200" dirty="0">
                          <a:solidFill>
                            <a:schemeClr val="tx1"/>
                          </a:solidFill>
                        </a:rPr>
                        <a:t>画面からカスタマイズ設定を行ってから車両へ反映完了するまでのステータスを確認する。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各機能利用に必要な権限を画面上で各ユーザへ付与する。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カスタマイズ設定や権限設定を実施した履歴を確認する。</a:t>
                      </a:r>
                      <a:endParaRPr kumimoji="1" lang="en-US" altLang="ja-JP" sz="1200" dirty="0">
                        <a:solidFill>
                          <a:schemeClr val="tx1"/>
                        </a:solidFill>
                      </a:endParaRPr>
                    </a:p>
                  </a:txBody>
                  <a:tcPr>
                    <a:solidFill>
                      <a:schemeClr val="tx1">
                        <a:lumMod val="10000"/>
                        <a:lumOff val="90000"/>
                      </a:schemeClr>
                    </a:solidFill>
                  </a:tcPr>
                </a:tc>
                <a:tc>
                  <a:txBody>
                    <a:bodyPr/>
                    <a:lstStyle/>
                    <a:p>
                      <a:pPr marL="0" indent="0">
                        <a:buFont typeface="+mj-lt"/>
                        <a:buNone/>
                      </a:pPr>
                      <a:r>
                        <a:rPr kumimoji="1" lang="ja-JP" altLang="en-US" sz="1200" dirty="0">
                          <a:solidFill>
                            <a:schemeClr val="tx1"/>
                          </a:solidFill>
                        </a:rPr>
                        <a:t>カスタマイズデータを取得するにあたり、車両に対してカスタマイズ設定をおこなう必要がある。また、車両に現在なされているカスタマイズ設定を確認する必要がある。</a:t>
                      </a:r>
                    </a:p>
                  </a:txBody>
                  <a:tcPr>
                    <a:solidFill>
                      <a:schemeClr val="tx1">
                        <a:lumMod val="10000"/>
                        <a:lumOff val="90000"/>
                      </a:schemeClr>
                    </a:solidFill>
                  </a:tcPr>
                </a:tc>
                <a:extLst>
                  <a:ext uri="{0D108BD9-81ED-4DB2-BD59-A6C34878D82A}">
                    <a16:rowId xmlns:a16="http://schemas.microsoft.com/office/drawing/2014/main" val="443882754"/>
                  </a:ext>
                </a:extLst>
              </a:tr>
            </a:tbl>
          </a:graphicData>
        </a:graphic>
      </p:graphicFrame>
      <p:sp>
        <p:nvSpPr>
          <p:cNvPr id="29" name="テキスト ボックス 2">
            <a:extLst>
              <a:ext uri="{FF2B5EF4-FFF2-40B4-BE49-F238E27FC236}">
                <a16:creationId xmlns:a16="http://schemas.microsoft.com/office/drawing/2014/main" id="{A291F489-CC3F-46E9-8B2E-8518813AE5E0}"/>
              </a:ext>
            </a:extLst>
          </p:cNvPr>
          <p:cNvSpPr txBox="1"/>
          <p:nvPr/>
        </p:nvSpPr>
        <p:spPr>
          <a:xfrm>
            <a:off x="5293698" y="5259630"/>
            <a:ext cx="2615819" cy="600164"/>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dirty="0">
                <a:latin typeface="Meiryo UI" panose="020B0604030504040204" pitchFamily="50" charset="-128"/>
                <a:ea typeface="Meiryo UI" panose="020B0604030504040204" pitchFamily="50" charset="-128"/>
              </a:rPr>
              <a:t>④車両がコマンド受信後に初めて起動する際に設定内容が反映され、反映した内容をサーバに送信する。</a:t>
            </a:r>
            <a:endParaRPr kumimoji="1" lang="ja-JP" altLang="en-US" sz="1100" dirty="0">
              <a:latin typeface="Meiryo UI" panose="020B0604030504040204" pitchFamily="50" charset="-128"/>
              <a:ea typeface="Meiryo UI" panose="020B0604030504040204" pitchFamily="50" charset="-128"/>
            </a:endParaRPr>
          </a:p>
        </p:txBody>
      </p:sp>
      <p:cxnSp>
        <p:nvCxnSpPr>
          <p:cNvPr id="30" name="直線矢印コネクタ 29">
            <a:extLst>
              <a:ext uri="{FF2B5EF4-FFF2-40B4-BE49-F238E27FC236}">
                <a16:creationId xmlns:a16="http://schemas.microsoft.com/office/drawing/2014/main" id="{6D4F4EBF-453F-4B15-BCCA-92558B3FFEEC}"/>
              </a:ext>
            </a:extLst>
          </p:cNvPr>
          <p:cNvCxnSpPr>
            <a:cxnSpLocks/>
          </p:cNvCxnSpPr>
          <p:nvPr/>
        </p:nvCxnSpPr>
        <p:spPr>
          <a:xfrm flipH="1">
            <a:off x="4944120" y="4703261"/>
            <a:ext cx="2909216"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2B99187B-65F7-48F8-97CB-6D691253F39D}"/>
              </a:ext>
            </a:extLst>
          </p:cNvPr>
          <p:cNvSpPr txBox="1">
            <a:spLocks/>
          </p:cNvSpPr>
          <p:nvPr/>
        </p:nvSpPr>
        <p:spPr>
          <a:xfrm>
            <a:off x="192024" y="3417392"/>
            <a:ext cx="4075176"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sz="1200" b="1" dirty="0"/>
              <a:t>カスタマイズ設定要求フロー</a:t>
            </a:r>
            <a:endParaRPr lang="en-US" altLang="ja-JP" sz="1200" b="1" dirty="0"/>
          </a:p>
        </p:txBody>
      </p:sp>
    </p:spTree>
    <p:extLst>
      <p:ext uri="{BB962C8B-B14F-4D97-AF65-F5344CB8AC3E}">
        <p14:creationId xmlns:p14="http://schemas.microsoft.com/office/powerpoint/2010/main" val="3711893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テキスト ボックス 2">
            <a:extLst>
              <a:ext uri="{FF2B5EF4-FFF2-40B4-BE49-F238E27FC236}">
                <a16:creationId xmlns:a16="http://schemas.microsoft.com/office/drawing/2014/main" id="{FE23BC83-2F67-4B17-A944-50A0C69ADDD8}"/>
              </a:ext>
            </a:extLst>
          </p:cNvPr>
          <p:cNvSpPr txBox="1"/>
          <p:nvPr/>
        </p:nvSpPr>
        <p:spPr>
          <a:xfrm>
            <a:off x="5079113" y="5278500"/>
            <a:ext cx="2787470" cy="600164"/>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sz="1100" dirty="0">
                <a:latin typeface="Meiryo UI" panose="020B0604030504040204" pitchFamily="50" charset="-128"/>
                <a:ea typeface="Meiryo UI" panose="020B0604030504040204" pitchFamily="50" charset="-128"/>
              </a:rPr>
              <a:t>④受信し</a:t>
            </a:r>
            <a:r>
              <a:rPr kumimoji="1" lang="ja-JP" altLang="en-US" dirty="0">
                <a:latin typeface="Meiryo UI" panose="020B0604030504040204" pitchFamily="50" charset="-128"/>
                <a:ea typeface="Meiryo UI" panose="020B0604030504040204" pitchFamily="50" charset="-128"/>
              </a:rPr>
              <a:t>た送信番号一覧のうち、データが未受信であるものについて車両へデータの送信要求するコマンドを送信する。</a:t>
            </a:r>
            <a:endParaRPr kumimoji="1" lang="ja-JP" altLang="en-US" sz="1100" dirty="0">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92024" y="533343"/>
            <a:ext cx="8750808" cy="5850000"/>
          </a:xfrm>
        </p:spPr>
        <p:txBody>
          <a:bodyPr/>
          <a:lstStyle/>
          <a:p>
            <a:pPr marL="0" indent="0">
              <a:buNone/>
            </a:pPr>
            <a:r>
              <a:rPr lang="ja-JP" altLang="en-US" b="1" dirty="0"/>
              <a:t>ビジネスアプリ実現のために必要な要求仕様</a:t>
            </a:r>
            <a:endParaRPr lang="en-US" altLang="ja-JP" b="1" dirty="0"/>
          </a:p>
        </p:txBody>
      </p:sp>
      <p:pic>
        <p:nvPicPr>
          <p:cNvPr id="6" name="図 5">
            <a:extLst>
              <a:ext uri="{FF2B5EF4-FFF2-40B4-BE49-F238E27FC236}">
                <a16:creationId xmlns:a16="http://schemas.microsoft.com/office/drawing/2014/main" id="{33FD1D33-B15F-44C1-91B9-666C09157A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7420" y="4116356"/>
            <a:ext cx="757069" cy="1066801"/>
          </a:xfrm>
          <a:prstGeom prst="rect">
            <a:avLst/>
          </a:prstGeom>
          <a:noFill/>
          <a:extLst>
            <a:ext uri="{909E8E84-426E-40DD-AFC4-6F175D3DCCD1}">
              <a14:hiddenFill xmlns:a14="http://schemas.microsoft.com/office/drawing/2010/main">
                <a:solidFill>
                  <a:srgbClr val="FFFFFF"/>
                </a:solidFill>
              </a14:hiddenFill>
            </a:ext>
          </a:extLst>
        </p:spPr>
      </p:pic>
      <p:grpSp>
        <p:nvGrpSpPr>
          <p:cNvPr id="7" name="グループ化 6">
            <a:extLst>
              <a:ext uri="{FF2B5EF4-FFF2-40B4-BE49-F238E27FC236}">
                <a16:creationId xmlns:a16="http://schemas.microsoft.com/office/drawing/2014/main" id="{BC3537B3-FAC2-46F5-9C5C-5DF7C03E4F5A}"/>
              </a:ext>
            </a:extLst>
          </p:cNvPr>
          <p:cNvGrpSpPr/>
          <p:nvPr/>
        </p:nvGrpSpPr>
        <p:grpSpPr>
          <a:xfrm>
            <a:off x="468491" y="4369611"/>
            <a:ext cx="929689" cy="750090"/>
            <a:chOff x="39303" y="1506069"/>
            <a:chExt cx="921445" cy="621602"/>
          </a:xfrm>
        </p:grpSpPr>
        <p:pic>
          <p:nvPicPr>
            <p:cNvPr id="8" name="図 7">
              <a:extLst>
                <a:ext uri="{FF2B5EF4-FFF2-40B4-BE49-F238E27FC236}">
                  <a16:creationId xmlns:a16="http://schemas.microsoft.com/office/drawing/2014/main" id="{2D46702E-EAF3-4AB7-9296-A7B5DA129A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9" name="正方形/長方形 8">
              <a:extLst>
                <a:ext uri="{FF2B5EF4-FFF2-40B4-BE49-F238E27FC236}">
                  <a16:creationId xmlns:a16="http://schemas.microsoft.com/office/drawing/2014/main" id="{83695DFA-842C-4AFA-97FE-708D379861A6}"/>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10" name="テキスト ボックス 79">
            <a:extLst>
              <a:ext uri="{FF2B5EF4-FFF2-40B4-BE49-F238E27FC236}">
                <a16:creationId xmlns:a16="http://schemas.microsoft.com/office/drawing/2014/main" id="{7382F7C8-06EE-460C-BB54-7D6D5AFB9AC0}"/>
              </a:ext>
            </a:extLst>
          </p:cNvPr>
          <p:cNvSpPr txBox="1"/>
          <p:nvPr/>
        </p:nvSpPr>
        <p:spPr>
          <a:xfrm>
            <a:off x="560232" y="50428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11" name="テキスト ボックス 79">
            <a:extLst>
              <a:ext uri="{FF2B5EF4-FFF2-40B4-BE49-F238E27FC236}">
                <a16:creationId xmlns:a16="http://schemas.microsoft.com/office/drawing/2014/main" id="{B1B0E494-FD1D-4B21-BE11-9D932CEDE84E}"/>
              </a:ext>
            </a:extLst>
          </p:cNvPr>
          <p:cNvSpPr txBox="1"/>
          <p:nvPr/>
        </p:nvSpPr>
        <p:spPr>
          <a:xfrm>
            <a:off x="3460594" y="5367411"/>
            <a:ext cx="1786750" cy="322353"/>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次世代</a:t>
            </a:r>
            <a:r>
              <a:rPr lang="en-US" altLang="ja-JP"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KOMTRAX</a:t>
            </a: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サーバ</a:t>
            </a:r>
          </a:p>
        </p:txBody>
      </p:sp>
      <p:cxnSp>
        <p:nvCxnSpPr>
          <p:cNvPr id="12" name="直線矢印コネクタ 11">
            <a:extLst>
              <a:ext uri="{FF2B5EF4-FFF2-40B4-BE49-F238E27FC236}">
                <a16:creationId xmlns:a16="http://schemas.microsoft.com/office/drawing/2014/main" id="{7CF24838-DCDB-459D-8D65-61F27CE7BD9C}"/>
              </a:ext>
            </a:extLst>
          </p:cNvPr>
          <p:cNvCxnSpPr>
            <a:cxnSpLocks/>
            <a:stCxn id="8" idx="3"/>
          </p:cNvCxnSpPr>
          <p:nvPr/>
        </p:nvCxnSpPr>
        <p:spPr>
          <a:xfrm flipV="1">
            <a:off x="1184137" y="4649757"/>
            <a:ext cx="2913283" cy="3915"/>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7011888D-73C0-46EE-A9E8-E7E0C336C08F}"/>
              </a:ext>
            </a:extLst>
          </p:cNvPr>
          <p:cNvCxnSpPr>
            <a:cxnSpLocks/>
          </p:cNvCxnSpPr>
          <p:nvPr/>
        </p:nvCxnSpPr>
        <p:spPr>
          <a:xfrm>
            <a:off x="5036228" y="4486291"/>
            <a:ext cx="3004385"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EDBA611C-458E-40B2-90EE-17A57A05885C}"/>
              </a:ext>
            </a:extLst>
          </p:cNvPr>
          <p:cNvCxnSpPr>
            <a:cxnSpLocks/>
          </p:cNvCxnSpPr>
          <p:nvPr/>
        </p:nvCxnSpPr>
        <p:spPr>
          <a:xfrm flipH="1">
            <a:off x="5013770" y="4684709"/>
            <a:ext cx="3026843"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2">
            <a:extLst>
              <a:ext uri="{FF2B5EF4-FFF2-40B4-BE49-F238E27FC236}">
                <a16:creationId xmlns:a16="http://schemas.microsoft.com/office/drawing/2014/main" id="{81EEEF70-6CCB-4C3A-946D-B367451000B8}"/>
              </a:ext>
            </a:extLst>
          </p:cNvPr>
          <p:cNvSpPr txBox="1"/>
          <p:nvPr/>
        </p:nvSpPr>
        <p:spPr>
          <a:xfrm>
            <a:off x="1370770" y="4750883"/>
            <a:ext cx="2633115" cy="43088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sz="1100" dirty="0">
                <a:latin typeface="Meiryo UI" panose="020B0604030504040204" pitchFamily="50" charset="-128"/>
                <a:ea typeface="Meiryo UI" panose="020B0604030504040204" pitchFamily="50" charset="-128"/>
              </a:rPr>
              <a:t>①車両、カスタマイズ定義、データの期間などを</a:t>
            </a:r>
            <a:r>
              <a:rPr kumimoji="1" lang="en-US" altLang="ja-JP" sz="1100" dirty="0">
                <a:latin typeface="Meiryo UI" panose="020B0604030504040204" pitchFamily="50" charset="-128"/>
                <a:ea typeface="Meiryo UI" panose="020B0604030504040204" pitchFamily="50" charset="-128"/>
              </a:rPr>
              <a:t>API</a:t>
            </a:r>
            <a:r>
              <a:rPr kumimoji="1" lang="ja-JP" altLang="en-US" sz="1100" dirty="0">
                <a:latin typeface="Meiryo UI" panose="020B0604030504040204" pitchFamily="50" charset="-128"/>
                <a:ea typeface="Meiryo UI" panose="020B0604030504040204" pitchFamily="50" charset="-128"/>
              </a:rPr>
              <a:t>を実行する。</a:t>
            </a:r>
            <a:endParaRPr kumimoji="1" lang="en-US" altLang="ja-JP" sz="1100" dirty="0">
              <a:latin typeface="Meiryo UI" panose="020B0604030504040204" pitchFamily="50" charset="-128"/>
              <a:ea typeface="Meiryo UI" panose="020B0604030504040204" pitchFamily="50" charset="-128"/>
            </a:endParaRPr>
          </a:p>
        </p:txBody>
      </p:sp>
      <p:grpSp>
        <p:nvGrpSpPr>
          <p:cNvPr id="16" name="グループ化 15">
            <a:extLst>
              <a:ext uri="{FF2B5EF4-FFF2-40B4-BE49-F238E27FC236}">
                <a16:creationId xmlns:a16="http://schemas.microsoft.com/office/drawing/2014/main" id="{43BAB61A-5D1F-4899-BDF0-F58FC9DF2EA3}"/>
              </a:ext>
            </a:extLst>
          </p:cNvPr>
          <p:cNvGrpSpPr/>
          <p:nvPr/>
        </p:nvGrpSpPr>
        <p:grpSpPr>
          <a:xfrm>
            <a:off x="8189858" y="4365727"/>
            <a:ext cx="846509" cy="882061"/>
            <a:chOff x="1662503" y="2303928"/>
            <a:chExt cx="855026" cy="1019415"/>
          </a:xfrm>
        </p:grpSpPr>
        <p:pic>
          <p:nvPicPr>
            <p:cNvPr id="17" name="図 16">
              <a:extLst>
                <a:ext uri="{FF2B5EF4-FFF2-40B4-BE49-F238E27FC236}">
                  <a16:creationId xmlns:a16="http://schemas.microsoft.com/office/drawing/2014/main" id="{98A4BDFD-BE6E-4FAB-9B3A-C7F8B2D7CA7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62503" y="2303928"/>
              <a:ext cx="855026" cy="599758"/>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90">
              <a:extLst>
                <a:ext uri="{FF2B5EF4-FFF2-40B4-BE49-F238E27FC236}">
                  <a16:creationId xmlns:a16="http://schemas.microsoft.com/office/drawing/2014/main" id="{D03E1699-AC23-4219-AF86-D45B859BE364}"/>
                </a:ext>
              </a:extLst>
            </p:cNvPr>
            <p:cNvSpPr txBox="1"/>
            <p:nvPr/>
          </p:nvSpPr>
          <p:spPr>
            <a:xfrm>
              <a:off x="1830271" y="3079375"/>
              <a:ext cx="599928" cy="243968"/>
            </a:xfrm>
            <a:prstGeom prst="rect">
              <a:avLst/>
            </a:prstGeom>
            <a:solidFill>
              <a:schemeClr val="bg1"/>
            </a:solid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kumimoji="1" lang="ja-JP" altLang="en-US" sz="1100" b="1">
                  <a:solidFill>
                    <a:srgbClr val="002060"/>
                  </a:solidFill>
                  <a:latin typeface="Meiryo UI" panose="020B0604030504040204" pitchFamily="50" charset="-128"/>
                  <a:ea typeface="Meiryo UI" panose="020B0604030504040204" pitchFamily="50" charset="-128"/>
                </a:rPr>
                <a:t>車両</a:t>
              </a:r>
            </a:p>
          </p:txBody>
        </p:sp>
      </p:grpSp>
      <p:sp>
        <p:nvSpPr>
          <p:cNvPr id="20" name="テキスト ボックス 2">
            <a:extLst>
              <a:ext uri="{FF2B5EF4-FFF2-40B4-BE49-F238E27FC236}">
                <a16:creationId xmlns:a16="http://schemas.microsoft.com/office/drawing/2014/main" id="{4EFA784D-C4B9-4BEE-A484-64370188B589}"/>
              </a:ext>
            </a:extLst>
          </p:cNvPr>
          <p:cNvSpPr txBox="1"/>
          <p:nvPr/>
        </p:nvSpPr>
        <p:spPr>
          <a:xfrm>
            <a:off x="5050222" y="3290239"/>
            <a:ext cx="3139636" cy="43088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dirty="0">
                <a:latin typeface="Meiryo UI" panose="020B0604030504040204" pitchFamily="50" charset="-128"/>
                <a:ea typeface="Meiryo UI" panose="020B0604030504040204" pitchFamily="50" charset="-128"/>
              </a:rPr>
              <a:t>②</a:t>
            </a:r>
            <a:r>
              <a:rPr kumimoji="1" lang="ja-JP" altLang="en-US" sz="1100" dirty="0">
                <a:latin typeface="Meiryo UI" panose="020B0604030504040204" pitchFamily="50" charset="-128"/>
                <a:ea typeface="Meiryo UI" panose="020B0604030504040204" pitchFamily="50" charset="-128"/>
              </a:rPr>
              <a:t>指定された条件をもとに、送信番号一覧を要求するコマンドを送信する。</a:t>
            </a:r>
            <a:endParaRPr kumimoji="1" lang="en-US" altLang="ja-JP" sz="1100" dirty="0">
              <a:latin typeface="Meiryo UI" panose="020B0604030504040204" pitchFamily="50" charset="-128"/>
              <a:ea typeface="Meiryo UI" panose="020B0604030504040204" pitchFamily="50" charset="-128"/>
            </a:endParaRPr>
          </a:p>
        </p:txBody>
      </p:sp>
      <p:sp>
        <p:nvSpPr>
          <p:cNvPr id="30" name="Content Placeholder 2">
            <a:extLst>
              <a:ext uri="{FF2B5EF4-FFF2-40B4-BE49-F238E27FC236}">
                <a16:creationId xmlns:a16="http://schemas.microsoft.com/office/drawing/2014/main" id="{66F57EDE-34B3-4C5F-AE12-8252B2118045}"/>
              </a:ext>
            </a:extLst>
          </p:cNvPr>
          <p:cNvSpPr txBox="1">
            <a:spLocks/>
          </p:cNvSpPr>
          <p:nvPr/>
        </p:nvSpPr>
        <p:spPr>
          <a:xfrm>
            <a:off x="340407" y="3175562"/>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sz="1200" b="1"/>
              <a:t>カスタマイズデータ送信要求</a:t>
            </a:r>
            <a:r>
              <a:rPr lang="ja-JP" altLang="en-US" sz="1200" b="1" dirty="0"/>
              <a:t>フロー</a:t>
            </a:r>
            <a:endParaRPr lang="en-US" altLang="ja-JP" sz="1200" b="1" dirty="0"/>
          </a:p>
        </p:txBody>
      </p:sp>
      <p:graphicFrame>
        <p:nvGraphicFramePr>
          <p:cNvPr id="21" name="表 20">
            <a:extLst>
              <a:ext uri="{FF2B5EF4-FFF2-40B4-BE49-F238E27FC236}">
                <a16:creationId xmlns:a16="http://schemas.microsoft.com/office/drawing/2014/main" id="{6A81DEC4-AECD-4341-B27D-35C564367406}"/>
              </a:ext>
            </a:extLst>
          </p:cNvPr>
          <p:cNvGraphicFramePr>
            <a:graphicFrameLocks noGrp="1"/>
          </p:cNvGraphicFramePr>
          <p:nvPr>
            <p:extLst>
              <p:ext uri="{D42A27DB-BD31-4B8C-83A1-F6EECF244321}">
                <p14:modId xmlns:p14="http://schemas.microsoft.com/office/powerpoint/2010/main" val="3529229297"/>
              </p:ext>
            </p:extLst>
          </p:nvPr>
        </p:nvGraphicFramePr>
        <p:xfrm>
          <a:off x="0" y="852502"/>
          <a:ext cx="9143999" cy="2372427"/>
        </p:xfrm>
        <a:graphic>
          <a:graphicData uri="http://schemas.openxmlformats.org/drawingml/2006/table">
            <a:tbl>
              <a:tblPr firstRow="1" bandRow="1">
                <a:tableStyleId>{5C22544A-7EE6-4342-B048-85BDC9FD1C3A}</a:tableStyleId>
              </a:tblPr>
              <a:tblGrid>
                <a:gridCol w="405517">
                  <a:extLst>
                    <a:ext uri="{9D8B030D-6E8A-4147-A177-3AD203B41FA5}">
                      <a16:colId xmlns:a16="http://schemas.microsoft.com/office/drawing/2014/main" val="2675570398"/>
                    </a:ext>
                  </a:extLst>
                </a:gridCol>
                <a:gridCol w="2027582">
                  <a:extLst>
                    <a:ext uri="{9D8B030D-6E8A-4147-A177-3AD203B41FA5}">
                      <a16:colId xmlns:a16="http://schemas.microsoft.com/office/drawing/2014/main" val="2865506366"/>
                    </a:ext>
                  </a:extLst>
                </a:gridCol>
                <a:gridCol w="4118776">
                  <a:extLst>
                    <a:ext uri="{9D8B030D-6E8A-4147-A177-3AD203B41FA5}">
                      <a16:colId xmlns:a16="http://schemas.microsoft.com/office/drawing/2014/main" val="107946087"/>
                    </a:ext>
                  </a:extLst>
                </a:gridCol>
                <a:gridCol w="2592124">
                  <a:extLst>
                    <a:ext uri="{9D8B030D-6E8A-4147-A177-3AD203B41FA5}">
                      <a16:colId xmlns:a16="http://schemas.microsoft.com/office/drawing/2014/main" val="3688383194"/>
                    </a:ext>
                  </a:extLst>
                </a:gridCol>
              </a:tblGrid>
              <a:tr h="452187">
                <a:tc>
                  <a:txBody>
                    <a:bodyPr/>
                    <a:lstStyle/>
                    <a:p>
                      <a:r>
                        <a:rPr kumimoji="1" lang="en-US" altLang="ja-JP" sz="1200" dirty="0"/>
                        <a:t>No.</a:t>
                      </a:r>
                      <a:endParaRPr kumimoji="1" lang="ja-JP" altLang="en-US" sz="1200" dirty="0"/>
                    </a:p>
                  </a:txBody>
                  <a:tcPr>
                    <a:solidFill>
                      <a:srgbClr val="140A9A"/>
                    </a:solidFill>
                  </a:tcPr>
                </a:tc>
                <a:tc>
                  <a:txBody>
                    <a:bodyPr/>
                    <a:lstStyle/>
                    <a:p>
                      <a:r>
                        <a:rPr kumimoji="1" lang="ja-JP" altLang="en-US" sz="1200" dirty="0"/>
                        <a:t>要求</a:t>
                      </a:r>
                    </a:p>
                  </a:txBody>
                  <a:tcPr>
                    <a:solidFill>
                      <a:srgbClr val="140A9A"/>
                    </a:solidFill>
                  </a:tcPr>
                </a:tc>
                <a:tc>
                  <a:txBody>
                    <a:bodyPr/>
                    <a:lstStyle/>
                    <a:p>
                      <a:r>
                        <a:rPr kumimoji="1" lang="ja-JP" altLang="en-US" sz="1200" dirty="0"/>
                        <a:t>詳細</a:t>
                      </a:r>
                    </a:p>
                  </a:txBody>
                  <a:tcPr>
                    <a:solidFill>
                      <a:srgbClr val="140A9A"/>
                    </a:solidFill>
                  </a:tcPr>
                </a:tc>
                <a:tc>
                  <a:txBody>
                    <a:bodyPr/>
                    <a:lstStyle/>
                    <a:p>
                      <a:r>
                        <a:rPr kumimoji="1" lang="ja-JP" altLang="en-US" sz="1200" dirty="0"/>
                        <a:t>開発理由</a:t>
                      </a:r>
                    </a:p>
                  </a:txBody>
                  <a:tcPr>
                    <a:solidFill>
                      <a:srgbClr val="140A9A"/>
                    </a:solidFill>
                  </a:tcPr>
                </a:tc>
                <a:extLst>
                  <a:ext uri="{0D108BD9-81ED-4DB2-BD59-A6C34878D82A}">
                    <a16:rowId xmlns:a16="http://schemas.microsoft.com/office/drawing/2014/main" val="3482145317"/>
                  </a:ext>
                </a:extLst>
              </a:tr>
              <a:tr h="1590276">
                <a:tc>
                  <a:txBody>
                    <a:bodyPr/>
                    <a:lstStyle/>
                    <a:p>
                      <a:r>
                        <a:rPr lang="en-US" altLang="ja-JP" sz="1200" b="1" dirty="0"/>
                        <a:t>3</a:t>
                      </a:r>
                      <a:endParaRPr lang="ja-JP" altLang="en-US" sz="1200" b="1" dirty="0"/>
                    </a:p>
                  </a:txBody>
                  <a:tcPr>
                    <a:solidFill>
                      <a:schemeClr val="tx1">
                        <a:lumMod val="10000"/>
                        <a:lumOff val="90000"/>
                      </a:schemeClr>
                    </a:solidFill>
                  </a:tcPr>
                </a:tc>
                <a:tc>
                  <a:txBody>
                    <a:bodyPr/>
                    <a:lstStyle/>
                    <a:p>
                      <a:r>
                        <a:rPr lang="ja-JP" altLang="en-US" sz="1200" b="1" dirty="0"/>
                        <a:t>カスタマイズデータ送信要求</a:t>
                      </a:r>
                    </a:p>
                  </a:txBody>
                  <a:tcPr>
                    <a:solidFill>
                      <a:schemeClr val="tx1">
                        <a:lumMod val="10000"/>
                        <a:lumOff val="90000"/>
                      </a:schemeClr>
                    </a:solidFill>
                  </a:tcPr>
                </a:tc>
                <a:tc>
                  <a:txBody>
                    <a:bodyPr/>
                    <a:lstStyle/>
                    <a:p>
                      <a:pPr marL="171450" indent="-171450">
                        <a:buFont typeface="Arial" panose="020B0604020202020204" pitchFamily="34" charset="0"/>
                        <a:buChar char="•"/>
                      </a:pPr>
                      <a:r>
                        <a:rPr kumimoji="1" lang="ja-JP" altLang="en-US" sz="1200" dirty="0">
                          <a:solidFill>
                            <a:schemeClr val="tx1"/>
                          </a:solidFill>
                        </a:rPr>
                        <a:t>非送信設定（定期的に送ることになっていない設定）になっているカスタマイズデータや、未送信カスタマイズデータ（車両からは送信したつもりが実際には送信できていないデータ）について、</a:t>
                      </a:r>
                      <a:r>
                        <a:rPr kumimoji="1" lang="ja-JP" altLang="en-US" sz="1200" b="1" dirty="0">
                          <a:solidFill>
                            <a:schemeClr val="tx1"/>
                          </a:solidFill>
                        </a:rPr>
                        <a:t>カスタマイズデータを送信するよう</a:t>
                      </a:r>
                      <a:r>
                        <a:rPr kumimoji="1" lang="en-US" altLang="ja-JP" sz="1200" b="1" dirty="0">
                          <a:solidFill>
                            <a:schemeClr val="tx1"/>
                          </a:solidFill>
                        </a:rPr>
                        <a:t>API</a:t>
                      </a:r>
                      <a:r>
                        <a:rPr kumimoji="1" lang="ja-JP" altLang="en-US" sz="1200" b="1" dirty="0">
                          <a:solidFill>
                            <a:schemeClr val="tx1"/>
                          </a:solidFill>
                        </a:rPr>
                        <a:t>で車両に要求をおこなう。</a:t>
                      </a:r>
                      <a:endParaRPr kumimoji="1" lang="en-US" altLang="ja-JP" sz="1200" b="1"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定期送信設定になっているカスタマイズデータでも、送信タイミング以前にデータが欲しい場合に送信を車両に要求する。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サーバ受信済みカスタマイズデータの確認もする。</a:t>
                      </a:r>
                      <a:endParaRPr kumimoji="1" lang="en-US" altLang="ja-JP" sz="1200" dirty="0">
                        <a:solidFill>
                          <a:schemeClr val="tx1"/>
                        </a:solidFill>
                      </a:endParaRPr>
                    </a:p>
                    <a:p>
                      <a:pPr marL="171450" indent="-171450">
                        <a:buFont typeface="Arial" panose="020B0604020202020204" pitchFamily="34" charset="0"/>
                        <a:buChar char="•"/>
                      </a:pPr>
                      <a:r>
                        <a:rPr kumimoji="1" lang="ja-JP" altLang="en-US" sz="1200" dirty="0">
                          <a:solidFill>
                            <a:schemeClr val="tx1"/>
                          </a:solidFill>
                        </a:rPr>
                        <a:t>カスタマイズデータの要求について、車両から送信されたデータの受信完了を確認する。</a:t>
                      </a:r>
                    </a:p>
                  </a:txBody>
                  <a:tcPr>
                    <a:solidFill>
                      <a:schemeClr val="tx1">
                        <a:lumMod val="10000"/>
                        <a:lumOff val="90000"/>
                      </a:schemeClr>
                    </a:solidFill>
                  </a:tcPr>
                </a:tc>
                <a:tc>
                  <a:txBody>
                    <a:bodyPr/>
                    <a:lstStyle/>
                    <a:p>
                      <a:pPr marL="0" indent="0">
                        <a:buFont typeface="+mj-lt"/>
                        <a:buNone/>
                      </a:pPr>
                      <a:r>
                        <a:rPr kumimoji="1" lang="ja-JP" altLang="en-US" sz="1200" dirty="0"/>
                        <a:t>ビジネスアプリでカスタマイズデータを活用するにあたり、非送信設定や未送信のカスタマイズデータ送信要求をおこなう</a:t>
                      </a:r>
                    </a:p>
                  </a:txBody>
                  <a:tcPr>
                    <a:solidFill>
                      <a:schemeClr val="tx1">
                        <a:lumMod val="10000"/>
                        <a:lumOff val="90000"/>
                      </a:schemeClr>
                    </a:solidFill>
                  </a:tcPr>
                </a:tc>
                <a:extLst>
                  <a:ext uri="{0D108BD9-81ED-4DB2-BD59-A6C34878D82A}">
                    <a16:rowId xmlns:a16="http://schemas.microsoft.com/office/drawing/2014/main" val="3346521449"/>
                  </a:ext>
                </a:extLst>
              </a:tr>
            </a:tbl>
          </a:graphicData>
        </a:graphic>
      </p:graphicFrame>
      <p:sp>
        <p:nvSpPr>
          <p:cNvPr id="23" name="テキスト ボックス 2">
            <a:extLst>
              <a:ext uri="{FF2B5EF4-FFF2-40B4-BE49-F238E27FC236}">
                <a16:creationId xmlns:a16="http://schemas.microsoft.com/office/drawing/2014/main" id="{0015F440-BC6C-4B8B-87B2-E1C006B270FA}"/>
              </a:ext>
            </a:extLst>
          </p:cNvPr>
          <p:cNvSpPr txBox="1"/>
          <p:nvPr/>
        </p:nvSpPr>
        <p:spPr>
          <a:xfrm>
            <a:off x="5075606" y="3760781"/>
            <a:ext cx="3088867" cy="600164"/>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kumimoji="1" lang="ja-JP" altLang="en-US" dirty="0">
                <a:latin typeface="Meiryo UI" panose="020B0604030504040204" pitchFamily="50" charset="-128"/>
                <a:ea typeface="Meiryo UI" panose="020B0604030504040204" pitchFamily="50" charset="-128"/>
              </a:rPr>
              <a:t>③</a:t>
            </a:r>
            <a:r>
              <a:rPr kumimoji="1" lang="ja-JP" altLang="en-US" sz="1100" dirty="0">
                <a:latin typeface="Meiryo UI" panose="020B0604030504040204" pitchFamily="50" charset="-128"/>
                <a:ea typeface="Meiryo UI" panose="020B0604030504040204" pitchFamily="50" charset="-128"/>
              </a:rPr>
              <a:t>車両から応答コマンドとして、指定期間に含まれる送信番号の一覧が送信される。サーバでは受信コマンドを元に送信番号の一覧をデータべ</a:t>
            </a:r>
            <a:r>
              <a:rPr kumimoji="1" lang="ja-JP" altLang="en-US" dirty="0">
                <a:latin typeface="Meiryo UI" panose="020B0604030504040204" pitchFamily="50" charset="-128"/>
                <a:ea typeface="Meiryo UI" panose="020B0604030504040204" pitchFamily="50" charset="-128"/>
              </a:rPr>
              <a:t>ースに格納する。</a:t>
            </a:r>
            <a:endParaRPr kumimoji="1" lang="ja-JP" altLang="en-US" sz="1100" dirty="0">
              <a:latin typeface="Meiryo UI" panose="020B0604030504040204" pitchFamily="50" charset="-128"/>
              <a:ea typeface="Meiryo UI" panose="020B0604030504040204" pitchFamily="50" charset="-128"/>
            </a:endParaRPr>
          </a:p>
        </p:txBody>
      </p:sp>
      <p:sp>
        <p:nvSpPr>
          <p:cNvPr id="24" name="テキスト ボックス 2">
            <a:extLst>
              <a:ext uri="{FF2B5EF4-FFF2-40B4-BE49-F238E27FC236}">
                <a16:creationId xmlns:a16="http://schemas.microsoft.com/office/drawing/2014/main" id="{90EE30ED-86BB-4E09-A01C-4B10D2B467A8}"/>
              </a:ext>
            </a:extLst>
          </p:cNvPr>
          <p:cNvSpPr txBox="1"/>
          <p:nvPr/>
        </p:nvSpPr>
        <p:spPr>
          <a:xfrm>
            <a:off x="5036228" y="5923298"/>
            <a:ext cx="3166546" cy="600164"/>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100" dirty="0">
                <a:latin typeface="Meiryo UI" panose="020B0604030504040204" pitchFamily="50" charset="-128"/>
                <a:ea typeface="Meiryo UI" panose="020B0604030504040204" pitchFamily="50" charset="-128"/>
              </a:rPr>
              <a:t>⑤車両から応答コマンドとして、指定され</a:t>
            </a:r>
            <a:r>
              <a:rPr kumimoji="1" lang="ja-JP" altLang="en-US" dirty="0">
                <a:latin typeface="Meiryo UI" panose="020B0604030504040204" pitchFamily="50" charset="-128"/>
                <a:ea typeface="Meiryo UI" panose="020B0604030504040204" pitchFamily="50" charset="-128"/>
              </a:rPr>
              <a:t>た送信番号のカスタマイズデータが送信される</a:t>
            </a:r>
            <a:r>
              <a:rPr kumimoji="1" lang="ja-JP" altLang="en-US" sz="1100" dirty="0">
                <a:latin typeface="Meiryo UI" panose="020B0604030504040204" pitchFamily="50" charset="-128"/>
                <a:ea typeface="Meiryo UI" panose="020B0604030504040204" pitchFamily="50" charset="-128"/>
              </a:rPr>
              <a:t>。サーバでは受信コマンドを元にカスタマイズデータをデータベースに格納する。</a:t>
            </a:r>
          </a:p>
        </p:txBody>
      </p:sp>
      <p:cxnSp>
        <p:nvCxnSpPr>
          <p:cNvPr id="25" name="直線矢印コネクタ 24">
            <a:extLst>
              <a:ext uri="{FF2B5EF4-FFF2-40B4-BE49-F238E27FC236}">
                <a16:creationId xmlns:a16="http://schemas.microsoft.com/office/drawing/2014/main" id="{5E188C6B-3A4D-4D1B-B40A-F54E5D6D2793}"/>
              </a:ext>
            </a:extLst>
          </p:cNvPr>
          <p:cNvCxnSpPr>
            <a:cxnSpLocks/>
          </p:cNvCxnSpPr>
          <p:nvPr/>
        </p:nvCxnSpPr>
        <p:spPr>
          <a:xfrm>
            <a:off x="5036228" y="4994747"/>
            <a:ext cx="3004385"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FCAD399B-F8F8-4637-BDE1-95F0EFDF9477}"/>
              </a:ext>
            </a:extLst>
          </p:cNvPr>
          <p:cNvCxnSpPr>
            <a:cxnSpLocks/>
          </p:cNvCxnSpPr>
          <p:nvPr/>
        </p:nvCxnSpPr>
        <p:spPr>
          <a:xfrm flipH="1">
            <a:off x="5013770" y="5158213"/>
            <a:ext cx="3026843" cy="0"/>
          </a:xfrm>
          <a:prstGeom prst="straightConnector1">
            <a:avLst/>
          </a:prstGeom>
          <a:ln w="38100">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27" name="Content Placeholder 2">
            <a:extLst>
              <a:ext uri="{FF2B5EF4-FFF2-40B4-BE49-F238E27FC236}">
                <a16:creationId xmlns:a16="http://schemas.microsoft.com/office/drawing/2014/main" id="{93667426-4968-4522-AE7B-66AD6472E206}"/>
              </a:ext>
            </a:extLst>
          </p:cNvPr>
          <p:cNvSpPr txBox="1">
            <a:spLocks/>
          </p:cNvSpPr>
          <p:nvPr/>
        </p:nvSpPr>
        <p:spPr>
          <a:xfrm>
            <a:off x="1231520" y="6124370"/>
            <a:ext cx="3622969"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en-US" altLang="ja-JP" sz="1100" dirty="0"/>
              <a:t>※</a:t>
            </a:r>
            <a:r>
              <a:rPr lang="ja-JP" altLang="en-US" sz="1100" dirty="0"/>
              <a:t>上記は基本フロー。送信番号のみの要求や、</a:t>
            </a:r>
            <a:br>
              <a:rPr lang="en-US" altLang="ja-JP" sz="1100" dirty="0"/>
            </a:br>
            <a:r>
              <a:rPr lang="ja-JP" altLang="en-US" sz="1100" dirty="0"/>
              <a:t>　 送信番号を指定してデータを要求することも可能</a:t>
            </a:r>
            <a:endParaRPr lang="en-US" altLang="ja-JP" sz="1100" dirty="0"/>
          </a:p>
        </p:txBody>
      </p:sp>
    </p:spTree>
    <p:extLst>
      <p:ext uri="{BB962C8B-B14F-4D97-AF65-F5344CB8AC3E}">
        <p14:creationId xmlns:p14="http://schemas.microsoft.com/office/powerpoint/2010/main" val="296384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sp>
        <p:nvSpPr>
          <p:cNvPr id="4" name="テキスト ボックス 3">
            <a:extLst>
              <a:ext uri="{FF2B5EF4-FFF2-40B4-BE49-F238E27FC236}">
                <a16:creationId xmlns:a16="http://schemas.microsoft.com/office/drawing/2014/main" id="{25838403-FB9D-4888-AA8A-ED945D497678}"/>
              </a:ext>
            </a:extLst>
          </p:cNvPr>
          <p:cNvSpPr txBox="1"/>
          <p:nvPr/>
        </p:nvSpPr>
        <p:spPr>
          <a:xfrm>
            <a:off x="190800" y="648000"/>
            <a:ext cx="2662301" cy="360000"/>
          </a:xfrm>
          <a:prstGeom prst="rect">
            <a:avLst/>
          </a:prstGeom>
          <a:solidFill>
            <a:srgbClr val="140A9A"/>
          </a:solidFill>
        </p:spPr>
        <p:txBody>
          <a:bodyPr wrap="none" rtlCol="0" anchor="ctr">
            <a:noAutofit/>
          </a:bodyPr>
          <a:lstStyle/>
          <a:p>
            <a:pPr algn="ctr"/>
            <a:r>
              <a:rPr lang="en-US" altLang="ja-JP" sz="1400" dirty="0">
                <a:solidFill>
                  <a:schemeClr val="bg1"/>
                </a:solidFill>
              </a:rPr>
              <a:t>No.1</a:t>
            </a:r>
            <a:r>
              <a:rPr lang="ja-JP" altLang="en-US" sz="1400" dirty="0">
                <a:solidFill>
                  <a:schemeClr val="bg1"/>
                </a:solidFill>
              </a:rPr>
              <a:t>　カスタマイズ設定　要件概要</a:t>
            </a:r>
            <a:endParaRPr kumimoji="1" lang="ja-JP" altLang="en-US" sz="1400" dirty="0">
              <a:solidFill>
                <a:schemeClr val="bg1"/>
              </a:solidFill>
            </a:endParaRPr>
          </a:p>
        </p:txBody>
      </p:sp>
      <p:graphicFrame>
        <p:nvGraphicFramePr>
          <p:cNvPr id="3" name="表 2">
            <a:extLst>
              <a:ext uri="{FF2B5EF4-FFF2-40B4-BE49-F238E27FC236}">
                <a16:creationId xmlns:a16="http://schemas.microsoft.com/office/drawing/2014/main" id="{2C32E81D-DD49-416F-BF41-D4C83768C026}"/>
              </a:ext>
            </a:extLst>
          </p:cNvPr>
          <p:cNvGraphicFramePr>
            <a:graphicFrameLocks noGrp="1"/>
          </p:cNvGraphicFramePr>
          <p:nvPr>
            <p:extLst>
              <p:ext uri="{D42A27DB-BD31-4B8C-83A1-F6EECF244321}">
                <p14:modId xmlns:p14="http://schemas.microsoft.com/office/powerpoint/2010/main" val="394348994"/>
              </p:ext>
            </p:extLst>
          </p:nvPr>
        </p:nvGraphicFramePr>
        <p:xfrm>
          <a:off x="179512" y="1093006"/>
          <a:ext cx="8763320" cy="4434009"/>
        </p:xfrm>
        <a:graphic>
          <a:graphicData uri="http://schemas.openxmlformats.org/drawingml/2006/table">
            <a:tbl>
              <a:tblPr firstRow="1" bandRow="1">
                <a:tableStyleId>{5C22544A-7EE6-4342-B048-85BDC9FD1C3A}</a:tableStyleId>
              </a:tblPr>
              <a:tblGrid>
                <a:gridCol w="1568008">
                  <a:extLst>
                    <a:ext uri="{9D8B030D-6E8A-4147-A177-3AD203B41FA5}">
                      <a16:colId xmlns:a16="http://schemas.microsoft.com/office/drawing/2014/main" val="3245718784"/>
                    </a:ext>
                  </a:extLst>
                </a:gridCol>
                <a:gridCol w="7195312">
                  <a:extLst>
                    <a:ext uri="{9D8B030D-6E8A-4147-A177-3AD203B41FA5}">
                      <a16:colId xmlns:a16="http://schemas.microsoft.com/office/drawing/2014/main" val="3255365162"/>
                    </a:ext>
                  </a:extLst>
                </a:gridCol>
              </a:tblGrid>
              <a:tr h="425157">
                <a:tc>
                  <a:txBody>
                    <a:bodyPr/>
                    <a:lstStyle/>
                    <a:p>
                      <a:r>
                        <a:rPr kumimoji="1" lang="ja-JP" altLang="en-US" sz="1200" dirty="0"/>
                        <a:t>機能名</a:t>
                      </a:r>
                    </a:p>
                  </a:txBody>
                  <a:tcPr>
                    <a:solidFill>
                      <a:srgbClr val="140A9A"/>
                    </a:solidFill>
                  </a:tcPr>
                </a:tc>
                <a:tc>
                  <a:txBody>
                    <a:bodyPr/>
                    <a:lstStyle/>
                    <a:p>
                      <a:r>
                        <a:rPr kumimoji="1" lang="ja-JP" altLang="en-US" sz="1200" dirty="0"/>
                        <a:t>要件概要</a:t>
                      </a:r>
                    </a:p>
                  </a:txBody>
                  <a:tcPr>
                    <a:solidFill>
                      <a:srgbClr val="140A9A"/>
                    </a:solidFill>
                  </a:tcPr>
                </a:tc>
                <a:extLst>
                  <a:ext uri="{0D108BD9-81ED-4DB2-BD59-A6C34878D82A}">
                    <a16:rowId xmlns:a16="http://schemas.microsoft.com/office/drawing/2014/main" val="306179741"/>
                  </a:ext>
                </a:extLst>
              </a:tr>
              <a:tr h="1920846">
                <a:tc>
                  <a:txBody>
                    <a:bodyPr/>
                    <a:lstStyle/>
                    <a:p>
                      <a:r>
                        <a:rPr lang="ja-JP" altLang="en-US" sz="1200" b="1" dirty="0"/>
                        <a:t>カスタマイズ設定</a:t>
                      </a:r>
                      <a:endParaRPr lang="en-US" altLang="ja-JP" sz="1200" b="1" dirty="0"/>
                    </a:p>
                  </a:txBody>
                  <a:tcPr/>
                </a:tc>
                <a:tc>
                  <a:txBody>
                    <a:bodyPr/>
                    <a:lstStyle/>
                    <a:p>
                      <a:pPr marL="228600" indent="-228600">
                        <a:buFont typeface="+mj-lt"/>
                        <a:buAutoNum type="arabicPeriod"/>
                      </a:pPr>
                      <a:r>
                        <a:rPr kumimoji="1" lang="ja-JP" altLang="en-US" sz="1200" dirty="0"/>
                        <a:t>機種</a:t>
                      </a:r>
                      <a:r>
                        <a:rPr kumimoji="1" lang="en-US" altLang="ja-JP" sz="1200" dirty="0"/>
                        <a:t>-</a:t>
                      </a:r>
                      <a:r>
                        <a:rPr kumimoji="1" lang="ja-JP" altLang="en-US" sz="1200" dirty="0"/>
                        <a:t>型式</a:t>
                      </a:r>
                      <a:r>
                        <a:rPr kumimoji="1" lang="en-US" altLang="ja-JP" sz="1200" dirty="0"/>
                        <a:t>-</a:t>
                      </a:r>
                      <a:r>
                        <a:rPr kumimoji="1" lang="ja-JP" altLang="en-US" sz="1200" dirty="0"/>
                        <a:t>機番や担当</a:t>
                      </a:r>
                      <a:r>
                        <a:rPr kumimoji="1" lang="en-US" altLang="ja-JP" sz="1200" dirty="0"/>
                        <a:t>DB</a:t>
                      </a:r>
                      <a:r>
                        <a:rPr kumimoji="1" lang="ja-JP" altLang="en-US" sz="1200" dirty="0"/>
                        <a:t>、顧客などの条件を元に車両を検索し、カスタマイズ設定を行いたい</a:t>
                      </a:r>
                      <a:r>
                        <a:rPr kumimoji="1" lang="ja-JP" altLang="en-US" sz="1200" b="1" dirty="0"/>
                        <a:t>車両を選択する。</a:t>
                      </a:r>
                      <a:endParaRPr kumimoji="1" lang="en-US" altLang="ja-JP" sz="1200" b="1" dirty="0"/>
                    </a:p>
                    <a:p>
                      <a:pPr marL="228600" indent="-228600">
                        <a:buFont typeface="+mj-lt"/>
                        <a:buAutoNum type="arabicPeriod"/>
                      </a:pPr>
                      <a:r>
                        <a:rPr kumimoji="1" lang="ja-JP" altLang="en-US" sz="1200" dirty="0"/>
                        <a:t>車両に設定された</a:t>
                      </a:r>
                      <a:r>
                        <a:rPr kumimoji="1" lang="ja-JP" altLang="en-US" sz="1200" b="1" dirty="0"/>
                        <a:t>カスタマイズの詳細（開始日・終了日、優先度など）を表示する。</a:t>
                      </a:r>
                      <a:endParaRPr kumimoji="1" lang="en-US" altLang="ja-JP" sz="1200" b="1" dirty="0"/>
                    </a:p>
                    <a:p>
                      <a:pPr marL="228600" indent="-228600">
                        <a:buFont typeface="+mj-lt"/>
                        <a:buAutoNum type="arabicPeriod"/>
                      </a:pPr>
                      <a:r>
                        <a:rPr kumimoji="1" lang="ja-JP" altLang="en-US" sz="1200" dirty="0"/>
                        <a:t>現在のカスタマイズ設定一覧を車両に要求する。</a:t>
                      </a:r>
                      <a:endParaRPr kumimoji="1" lang="en-US" altLang="ja-JP" sz="1200" dirty="0"/>
                    </a:p>
                    <a:p>
                      <a:pPr marL="228600" indent="-228600">
                        <a:buFont typeface="+mj-lt"/>
                        <a:buAutoNum type="arabicPeriod"/>
                      </a:pPr>
                      <a:r>
                        <a:rPr kumimoji="1" lang="ja-JP" altLang="en-US" sz="1200" dirty="0"/>
                        <a:t>車両に設定追加・更新・削除を行いたいカスタマイズ用途定義について</a:t>
                      </a:r>
                      <a:r>
                        <a:rPr kumimoji="1" lang="ja-JP" altLang="en-US" sz="1200" b="1" dirty="0"/>
                        <a:t>各種設定を編集し、車両へ設定要求を行う。</a:t>
                      </a:r>
                      <a:endParaRPr kumimoji="1" lang="en-US" altLang="ja-JP" sz="1200" b="1" dirty="0"/>
                    </a:p>
                    <a:p>
                      <a:pPr marL="228600" indent="-228600">
                        <a:buFont typeface="+mj-lt"/>
                        <a:buAutoNum type="arabicPeriod"/>
                      </a:pPr>
                      <a:r>
                        <a:rPr kumimoji="1" lang="ja-JP" altLang="en-US" sz="1200" dirty="0"/>
                        <a:t>通常の設定要求の他に、車両側でコマンドの受信後に即時に設定を反映する形式で実施する。</a:t>
                      </a:r>
                      <a:endParaRPr kumimoji="1" lang="en-US" altLang="ja-JP" sz="1200" dirty="0"/>
                    </a:p>
                    <a:p>
                      <a:pPr marL="228600" indent="-228600">
                        <a:buFont typeface="+mj-lt"/>
                        <a:buAutoNum type="arabicPeriod"/>
                      </a:pPr>
                      <a:r>
                        <a:rPr kumimoji="1" lang="ja-JP" altLang="en-US" sz="1200" dirty="0"/>
                        <a:t>画面から要求を実施してから、車両側でカスタマイズ設定が完了するまでの</a:t>
                      </a:r>
                      <a:r>
                        <a:rPr kumimoji="1" lang="ja-JP" altLang="en-US" sz="1200" b="1" dirty="0"/>
                        <a:t>ステータスをサーバで管理し、画面へ表示する。</a:t>
                      </a:r>
                      <a:r>
                        <a:rPr kumimoji="1" lang="ja-JP" altLang="en-US" sz="1200" dirty="0"/>
                        <a:t>（カスタマイズ設定トレサビ機能）</a:t>
                      </a:r>
                      <a:endParaRPr kumimoji="1" lang="en-US" altLang="ja-JP" sz="1200" dirty="0"/>
                    </a:p>
                    <a:p>
                      <a:pPr marL="228600" indent="-228600">
                        <a:buFont typeface="+mj-lt"/>
                        <a:buAutoNum type="arabicPeriod"/>
                      </a:pPr>
                      <a:r>
                        <a:rPr kumimoji="1" lang="ja-JP" altLang="en-US" sz="1200" dirty="0"/>
                        <a:t>車両のカスタマイズ設定が更新された際に、車両から更新情報を受け取り、</a:t>
                      </a:r>
                      <a:r>
                        <a:rPr kumimoji="1" lang="en-US" altLang="ja-JP" sz="1200" dirty="0"/>
                        <a:t>Web</a:t>
                      </a:r>
                      <a:r>
                        <a:rPr kumimoji="1" lang="ja-JP" altLang="en-US" sz="1200" dirty="0"/>
                        <a:t>画面で更新情報を表示する。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車両に設定されたカスタマイズ定義の</a:t>
                      </a:r>
                      <a:r>
                        <a:rPr kumimoji="1" lang="ja-JP" altLang="en-US" sz="1200" b="1" dirty="0"/>
                        <a:t>想定通信量の合計や、現在の設定変更による差分を表示する。</a:t>
                      </a:r>
                      <a:endParaRPr kumimoji="1" lang="en-US" altLang="ja-JP" sz="1200" b="1" dirty="0"/>
                    </a:p>
                  </a:txBody>
                  <a:tcPr/>
                </a:tc>
                <a:extLst>
                  <a:ext uri="{0D108BD9-81ED-4DB2-BD59-A6C34878D82A}">
                    <a16:rowId xmlns:a16="http://schemas.microsoft.com/office/drawing/2014/main" val="4252726819"/>
                  </a:ext>
                </a:extLst>
              </a:tr>
              <a:tr h="676397">
                <a:tc>
                  <a:txBody>
                    <a:bodyPr/>
                    <a:lstStyle/>
                    <a:p>
                      <a:r>
                        <a:rPr lang="ja-JP" altLang="en-US" sz="1200" b="1" dirty="0"/>
                        <a:t>カスタマイズ一括設定</a:t>
                      </a:r>
                      <a:endParaRPr lang="en-US" altLang="ja-JP" sz="1200" b="1" dirty="0"/>
                    </a:p>
                    <a:p>
                      <a:endParaRPr lang="en-US" altLang="ja-JP" sz="1200" b="1" dirty="0"/>
                    </a:p>
                  </a:txBody>
                  <a:tcPr/>
                </a:tc>
                <a:tc>
                  <a:txBody>
                    <a:bodyPr/>
                    <a:lstStyle/>
                    <a:p>
                      <a:pPr marL="228600" indent="-228600">
                        <a:buFont typeface="+mj-lt"/>
                        <a:buAutoNum type="arabicPeriod"/>
                      </a:pPr>
                      <a:r>
                        <a:rPr kumimoji="1" lang="ja-JP" altLang="en-US" sz="1200" b="1" dirty="0"/>
                        <a:t>複数台の車両に対して、</a:t>
                      </a:r>
                      <a:r>
                        <a:rPr kumimoji="1" lang="en-US" altLang="ja-JP" sz="1200" b="0" dirty="0"/>
                        <a:t>Excel</a:t>
                      </a:r>
                      <a:r>
                        <a:rPr kumimoji="1" lang="ja-JP" altLang="en-US" sz="1200" b="0" dirty="0"/>
                        <a:t>のテンプレートファイルを用いて</a:t>
                      </a:r>
                      <a:r>
                        <a:rPr kumimoji="1" lang="ja-JP" altLang="en-US" sz="1200" b="1" dirty="0"/>
                        <a:t>一括でのカスタマイズ設定要求を行う。</a:t>
                      </a:r>
                      <a:endParaRPr kumimoji="1" lang="en-US" altLang="ja-JP" sz="1200" b="1" dirty="0"/>
                    </a:p>
                    <a:p>
                      <a:pPr marL="228600" indent="-228600">
                        <a:buFont typeface="+mj-lt"/>
                        <a:buAutoNum type="arabicPeriod"/>
                      </a:pPr>
                      <a:r>
                        <a:rPr kumimoji="1" lang="ja-JP" altLang="en-US" sz="1200" dirty="0"/>
                        <a:t>一括設定追加と一括設定更新でテンプレートファイルを別とする。</a:t>
                      </a:r>
                      <a:endParaRPr kumimoji="1" lang="en-US" altLang="ja-JP" sz="1200" dirty="0"/>
                    </a:p>
                    <a:p>
                      <a:pPr marL="228600" indent="-228600">
                        <a:buFont typeface="+mj-lt"/>
                        <a:buAutoNum type="arabicPeriod"/>
                      </a:pPr>
                      <a:r>
                        <a:rPr kumimoji="1" lang="ja-JP" altLang="en-US" sz="1200" dirty="0"/>
                        <a:t>複数台の車両に対して、現在のカスタマイズ設定の一括取得要求を行う。</a:t>
                      </a:r>
                      <a:endParaRPr kumimoji="1" lang="en-US" altLang="ja-JP" sz="1200" dirty="0"/>
                    </a:p>
                  </a:txBody>
                  <a:tcPr/>
                </a:tc>
                <a:extLst>
                  <a:ext uri="{0D108BD9-81ED-4DB2-BD59-A6C34878D82A}">
                    <a16:rowId xmlns:a16="http://schemas.microsoft.com/office/drawing/2014/main" val="3397029420"/>
                  </a:ext>
                </a:extLst>
              </a:tr>
              <a:tr h="611775">
                <a:tc>
                  <a:txBody>
                    <a:bodyPr/>
                    <a:lstStyle/>
                    <a:p>
                      <a:r>
                        <a:rPr lang="ja-JP" altLang="en-US" sz="1200" b="1" dirty="0"/>
                        <a:t>権限管理</a:t>
                      </a:r>
                      <a:endParaRPr lang="en-US" altLang="ja-JP" sz="1200" b="1" dirty="0"/>
                    </a:p>
                  </a:txBody>
                  <a:tcPr/>
                </a:tc>
                <a:tc>
                  <a:txBody>
                    <a:bodyPr/>
                    <a:lstStyle/>
                    <a:p>
                      <a:pPr marL="228600" indent="-228600">
                        <a:buFont typeface="+mj-lt"/>
                        <a:buAutoNum type="arabicPeriod"/>
                      </a:pPr>
                      <a:r>
                        <a:rPr kumimoji="1" lang="ja-JP" altLang="en-US" sz="1200" dirty="0"/>
                        <a:t>アプリの各機能を使用するための権限の設定を変更可能とする。</a:t>
                      </a:r>
                      <a:endParaRPr kumimoji="1" lang="en-US" altLang="ja-JP" sz="1200" dirty="0"/>
                    </a:p>
                    <a:p>
                      <a:pPr marL="228600" indent="-228600">
                        <a:buFont typeface="+mj-lt"/>
                        <a:buAutoNum type="arabicPeriod"/>
                      </a:pPr>
                      <a:r>
                        <a:rPr kumimoji="1" lang="ja-JP" altLang="en-US" sz="1200" dirty="0"/>
                        <a:t>アプリで用いる権限は既存の</a:t>
                      </a:r>
                      <a:r>
                        <a:rPr kumimoji="1" lang="en-US" altLang="ja-JP" sz="1200" b="1" dirty="0">
                          <a:solidFill>
                            <a:schemeClr val="tx1"/>
                          </a:solidFill>
                        </a:rPr>
                        <a:t>DFM</a:t>
                      </a:r>
                      <a:r>
                        <a:rPr kumimoji="1" lang="ja-JP" altLang="en-US" sz="1200" b="1" dirty="0">
                          <a:solidFill>
                            <a:schemeClr val="tx1"/>
                          </a:solidFill>
                        </a:rPr>
                        <a:t>アプリなどでは表示されないよう</a:t>
                      </a:r>
                      <a:r>
                        <a:rPr kumimoji="1" lang="ja-JP" altLang="en-US" sz="1200" dirty="0"/>
                        <a:t>にする。</a:t>
                      </a:r>
                      <a:endParaRPr kumimoji="1" lang="en-US" altLang="ja-JP" sz="1200" dirty="0"/>
                    </a:p>
                    <a:p>
                      <a:pPr marL="228600" indent="-228600">
                        <a:buFont typeface="+mj-lt"/>
                        <a:buAutoNum type="arabicPeriod"/>
                      </a:pPr>
                      <a:r>
                        <a:rPr kumimoji="1" lang="ja-JP" altLang="en-US" sz="1200" dirty="0"/>
                        <a:t>参照可能なカスタマイズ定義を制御するために、アクセスレベルを各ユーザに対して設定する。</a:t>
                      </a:r>
                    </a:p>
                  </a:txBody>
                  <a:tcPr/>
                </a:tc>
                <a:extLst>
                  <a:ext uri="{0D108BD9-81ED-4DB2-BD59-A6C34878D82A}">
                    <a16:rowId xmlns:a16="http://schemas.microsoft.com/office/drawing/2014/main" val="3851459542"/>
                  </a:ext>
                </a:extLst>
              </a:tr>
              <a:tr h="771529">
                <a:tc>
                  <a:txBody>
                    <a:bodyPr/>
                    <a:lstStyle/>
                    <a:p>
                      <a:r>
                        <a:rPr lang="ja-JP" altLang="en-US" sz="1200" b="1" dirty="0"/>
                        <a:t>作業履歴</a:t>
                      </a:r>
                      <a:endParaRPr lang="en-US" altLang="ja-JP" sz="1200" b="1" dirty="0"/>
                    </a:p>
                  </a:txBody>
                  <a:tcPr/>
                </a:tc>
                <a:tc>
                  <a:txBody>
                    <a:bodyPr/>
                    <a:lstStyle/>
                    <a:p>
                      <a:pPr marL="228600" indent="-228600">
                        <a:buFont typeface="+mj-lt"/>
                        <a:buAutoNum type="arabicPeriod"/>
                      </a:pPr>
                      <a:r>
                        <a:rPr kumimoji="1" lang="ja-JP" altLang="en-US" sz="1200" dirty="0"/>
                        <a:t>カスタマイズ関連の要求について、設定を行ったユーザや対象の車両、カスタマイズ設定の内容の履歴を確認可能とする。</a:t>
                      </a:r>
                      <a:endParaRPr kumimoji="1" lang="en-US" altLang="ja-JP" sz="1200" dirty="0"/>
                    </a:p>
                    <a:p>
                      <a:pPr marL="228600" indent="-228600">
                        <a:buFont typeface="+mj-lt"/>
                        <a:buAutoNum type="arabicPeriod"/>
                      </a:pPr>
                      <a:r>
                        <a:rPr kumimoji="1" lang="ja-JP" altLang="en-US" sz="1200" dirty="0"/>
                        <a:t>権限更新を行った履歴を確認可能とする。</a:t>
                      </a:r>
                      <a:endParaRPr kumimoji="1" lang="en-US" altLang="ja-JP" sz="1200" dirty="0"/>
                    </a:p>
                  </a:txBody>
                  <a:tcPr/>
                </a:tc>
                <a:extLst>
                  <a:ext uri="{0D108BD9-81ED-4DB2-BD59-A6C34878D82A}">
                    <a16:rowId xmlns:a16="http://schemas.microsoft.com/office/drawing/2014/main" val="2686515857"/>
                  </a:ext>
                </a:extLst>
              </a:tr>
            </a:tbl>
          </a:graphicData>
        </a:graphic>
      </p:graphicFrame>
    </p:spTree>
    <p:extLst>
      <p:ext uri="{BB962C8B-B14F-4D97-AF65-F5344CB8AC3E}">
        <p14:creationId xmlns:p14="http://schemas.microsoft.com/office/powerpoint/2010/main" val="4289291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カスタマイズ設定画面一覧：車両検索</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20872" y="988983"/>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カスタマイズ設定を実施したい車両を検索</a:t>
            </a:r>
            <a:endParaRPr lang="en-US" altLang="ja-JP" b="1" dirty="0"/>
          </a:p>
        </p:txBody>
      </p:sp>
      <p:pic>
        <p:nvPicPr>
          <p:cNvPr id="9" name="図 8">
            <a:extLst>
              <a:ext uri="{FF2B5EF4-FFF2-40B4-BE49-F238E27FC236}">
                <a16:creationId xmlns:a16="http://schemas.microsoft.com/office/drawing/2014/main" id="{EFB8558F-BB6D-4B65-AADC-A69FF2403CE6}"/>
              </a:ext>
            </a:extLst>
          </p:cNvPr>
          <p:cNvPicPr>
            <a:picLocks noChangeAspect="1"/>
          </p:cNvPicPr>
          <p:nvPr/>
        </p:nvPicPr>
        <p:blipFill rotWithShape="1">
          <a:blip r:embed="rId3"/>
          <a:srcRect r="1491" b="-12420"/>
          <a:stretch/>
        </p:blipFill>
        <p:spPr>
          <a:xfrm>
            <a:off x="134812" y="4503614"/>
            <a:ext cx="8902656" cy="419096"/>
          </a:xfrm>
          <a:prstGeom prst="rect">
            <a:avLst/>
          </a:prstGeom>
        </p:spPr>
      </p:pic>
      <p:pic>
        <p:nvPicPr>
          <p:cNvPr id="21" name="図 20">
            <a:extLst>
              <a:ext uri="{FF2B5EF4-FFF2-40B4-BE49-F238E27FC236}">
                <a16:creationId xmlns:a16="http://schemas.microsoft.com/office/drawing/2014/main" id="{378F8A44-98CE-4B9A-9F56-D38135B088CC}"/>
              </a:ext>
            </a:extLst>
          </p:cNvPr>
          <p:cNvPicPr>
            <a:picLocks noChangeAspect="1"/>
          </p:cNvPicPr>
          <p:nvPr/>
        </p:nvPicPr>
        <p:blipFill>
          <a:blip r:embed="rId4"/>
          <a:stretch>
            <a:fillRect/>
          </a:stretch>
        </p:blipFill>
        <p:spPr>
          <a:xfrm>
            <a:off x="67406" y="4922710"/>
            <a:ext cx="9037467" cy="729168"/>
          </a:xfrm>
          <a:prstGeom prst="rect">
            <a:avLst/>
          </a:prstGeom>
        </p:spPr>
      </p:pic>
      <p:pic>
        <p:nvPicPr>
          <p:cNvPr id="27" name="図 26">
            <a:extLst>
              <a:ext uri="{FF2B5EF4-FFF2-40B4-BE49-F238E27FC236}">
                <a16:creationId xmlns:a16="http://schemas.microsoft.com/office/drawing/2014/main" id="{E8286655-BAE0-4683-AD81-8C7B6EF7FFA5}"/>
              </a:ext>
            </a:extLst>
          </p:cNvPr>
          <p:cNvPicPr>
            <a:picLocks noChangeAspect="1"/>
          </p:cNvPicPr>
          <p:nvPr/>
        </p:nvPicPr>
        <p:blipFill>
          <a:blip r:embed="rId5"/>
          <a:stretch>
            <a:fillRect/>
          </a:stretch>
        </p:blipFill>
        <p:spPr>
          <a:xfrm>
            <a:off x="14139" y="1843027"/>
            <a:ext cx="9144000" cy="2541351"/>
          </a:xfrm>
          <a:prstGeom prst="rect">
            <a:avLst/>
          </a:prstGeom>
        </p:spPr>
      </p:pic>
      <p:pic>
        <p:nvPicPr>
          <p:cNvPr id="4" name="図 3">
            <a:extLst>
              <a:ext uri="{FF2B5EF4-FFF2-40B4-BE49-F238E27FC236}">
                <a16:creationId xmlns:a16="http://schemas.microsoft.com/office/drawing/2014/main" id="{4933E275-7411-4333-9EC1-76D5DFC6E6C9}"/>
              </a:ext>
            </a:extLst>
          </p:cNvPr>
          <p:cNvPicPr>
            <a:picLocks noChangeAspect="1"/>
          </p:cNvPicPr>
          <p:nvPr/>
        </p:nvPicPr>
        <p:blipFill>
          <a:blip r:embed="rId6"/>
          <a:stretch>
            <a:fillRect/>
          </a:stretch>
        </p:blipFill>
        <p:spPr>
          <a:xfrm>
            <a:off x="106532" y="2181073"/>
            <a:ext cx="8625988" cy="571858"/>
          </a:xfrm>
          <a:prstGeom prst="rect">
            <a:avLst/>
          </a:prstGeom>
        </p:spPr>
      </p:pic>
      <p:pic>
        <p:nvPicPr>
          <p:cNvPr id="11" name="図 10">
            <a:extLst>
              <a:ext uri="{FF2B5EF4-FFF2-40B4-BE49-F238E27FC236}">
                <a16:creationId xmlns:a16="http://schemas.microsoft.com/office/drawing/2014/main" id="{987A290F-63C0-4865-8EE8-5961E225E62D}"/>
              </a:ext>
            </a:extLst>
          </p:cNvPr>
          <p:cNvPicPr>
            <a:picLocks noChangeAspect="1"/>
          </p:cNvPicPr>
          <p:nvPr/>
        </p:nvPicPr>
        <p:blipFill>
          <a:blip r:embed="rId7"/>
          <a:stretch>
            <a:fillRect/>
          </a:stretch>
        </p:blipFill>
        <p:spPr>
          <a:xfrm>
            <a:off x="485679" y="2219792"/>
            <a:ext cx="6342740" cy="533139"/>
          </a:xfrm>
          <a:prstGeom prst="rect">
            <a:avLst/>
          </a:prstGeom>
        </p:spPr>
      </p:pic>
    </p:spTree>
    <p:extLst>
      <p:ext uri="{BB962C8B-B14F-4D97-AF65-F5344CB8AC3E}">
        <p14:creationId xmlns:p14="http://schemas.microsoft.com/office/powerpoint/2010/main" val="320045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カスタマイズ設定画面一覧：車両詳細</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54645" y="1059842"/>
            <a:ext cx="8750808"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車両に設定されているカスタマイズ設定の一覧を表示</a:t>
            </a:r>
            <a:endParaRPr lang="en-US" altLang="ja-JP" b="1" dirty="0"/>
          </a:p>
          <a:p>
            <a:pPr marL="0" indent="0" fontAlgn="auto">
              <a:buFont typeface="Arial" panose="020B0604020202020204" pitchFamily="34" charset="0"/>
              <a:buNone/>
            </a:pPr>
            <a:r>
              <a:rPr lang="ja-JP" altLang="en-US" b="1" dirty="0"/>
              <a:t>追加</a:t>
            </a:r>
            <a:r>
              <a:rPr lang="en-US" altLang="ja-JP" b="1" dirty="0"/>
              <a:t>/</a:t>
            </a:r>
            <a:r>
              <a:rPr lang="ja-JP" altLang="en-US" b="1" dirty="0"/>
              <a:t>変更</a:t>
            </a:r>
            <a:r>
              <a:rPr lang="en-US" altLang="ja-JP" b="1" dirty="0"/>
              <a:t>/</a:t>
            </a:r>
            <a:r>
              <a:rPr lang="ja-JP" altLang="en-US" b="1" dirty="0"/>
              <a:t>削除したいカスタマイズ設定を操作</a:t>
            </a:r>
            <a:endParaRPr lang="en-US" altLang="ja-JP" b="1" dirty="0"/>
          </a:p>
          <a:p>
            <a:pPr marL="0" indent="0" fontAlgn="auto">
              <a:buFont typeface="Arial" panose="020B0604020202020204" pitchFamily="34" charset="0"/>
              <a:buNone/>
            </a:pPr>
            <a:r>
              <a:rPr lang="ja-JP" altLang="en-US" b="1" dirty="0"/>
              <a:t>通信量の見積もりを表示</a:t>
            </a:r>
            <a:endParaRPr lang="en-US" altLang="ja-JP" b="1" dirty="0"/>
          </a:p>
        </p:txBody>
      </p:sp>
      <p:pic>
        <p:nvPicPr>
          <p:cNvPr id="10" name="図 9">
            <a:extLst>
              <a:ext uri="{FF2B5EF4-FFF2-40B4-BE49-F238E27FC236}">
                <a16:creationId xmlns:a16="http://schemas.microsoft.com/office/drawing/2014/main" id="{282A0F01-AD6B-4998-9A57-F2DD8AA49855}"/>
              </a:ext>
            </a:extLst>
          </p:cNvPr>
          <p:cNvPicPr>
            <a:picLocks noChangeAspect="1"/>
          </p:cNvPicPr>
          <p:nvPr/>
        </p:nvPicPr>
        <p:blipFill>
          <a:blip r:embed="rId3"/>
          <a:stretch>
            <a:fillRect/>
          </a:stretch>
        </p:blipFill>
        <p:spPr>
          <a:xfrm>
            <a:off x="0" y="2140633"/>
            <a:ext cx="9144000" cy="3437798"/>
          </a:xfrm>
          <a:prstGeom prst="rect">
            <a:avLst/>
          </a:prstGeom>
        </p:spPr>
      </p:pic>
    </p:spTree>
    <p:extLst>
      <p:ext uri="{BB962C8B-B14F-4D97-AF65-F5344CB8AC3E}">
        <p14:creationId xmlns:p14="http://schemas.microsoft.com/office/powerpoint/2010/main" val="4274881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カスタマイズ設定画面一覧：車両詳細（通信量確認）</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54645" y="1059842"/>
            <a:ext cx="8750808"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車両に設定されているカスタマイズ設定の一覧を表示</a:t>
            </a:r>
            <a:endParaRPr lang="en-US" altLang="ja-JP" b="1" dirty="0"/>
          </a:p>
          <a:p>
            <a:pPr marL="0" indent="0" fontAlgn="auto">
              <a:buFont typeface="Arial" panose="020B0604020202020204" pitchFamily="34" charset="0"/>
              <a:buNone/>
            </a:pPr>
            <a:r>
              <a:rPr lang="ja-JP" altLang="en-US" b="1" dirty="0"/>
              <a:t>追加</a:t>
            </a:r>
            <a:r>
              <a:rPr lang="en-US" altLang="ja-JP" b="1" dirty="0"/>
              <a:t>/</a:t>
            </a:r>
            <a:r>
              <a:rPr lang="ja-JP" altLang="en-US" b="1" dirty="0"/>
              <a:t>変更</a:t>
            </a:r>
            <a:r>
              <a:rPr lang="en-US" altLang="ja-JP" b="1" dirty="0"/>
              <a:t>/</a:t>
            </a:r>
            <a:r>
              <a:rPr lang="ja-JP" altLang="en-US" b="1" dirty="0"/>
              <a:t>削除したいカスタマイズ設定を操作</a:t>
            </a:r>
            <a:endParaRPr lang="en-US" altLang="ja-JP" b="1" dirty="0"/>
          </a:p>
          <a:p>
            <a:pPr marL="0" indent="0" fontAlgn="auto">
              <a:buFont typeface="Arial" panose="020B0604020202020204" pitchFamily="34" charset="0"/>
              <a:buNone/>
            </a:pPr>
            <a:r>
              <a:rPr lang="ja-JP" altLang="en-US" b="1" dirty="0"/>
              <a:t>通信量の見積もりを表示</a:t>
            </a:r>
            <a:endParaRPr lang="en-US" altLang="ja-JP" b="1" dirty="0"/>
          </a:p>
        </p:txBody>
      </p:sp>
      <p:pic>
        <p:nvPicPr>
          <p:cNvPr id="10" name="図 9">
            <a:extLst>
              <a:ext uri="{FF2B5EF4-FFF2-40B4-BE49-F238E27FC236}">
                <a16:creationId xmlns:a16="http://schemas.microsoft.com/office/drawing/2014/main" id="{282A0F01-AD6B-4998-9A57-F2DD8AA49855}"/>
              </a:ext>
            </a:extLst>
          </p:cNvPr>
          <p:cNvPicPr>
            <a:picLocks noChangeAspect="1"/>
          </p:cNvPicPr>
          <p:nvPr/>
        </p:nvPicPr>
        <p:blipFill>
          <a:blip r:embed="rId3"/>
          <a:stretch>
            <a:fillRect/>
          </a:stretch>
        </p:blipFill>
        <p:spPr>
          <a:xfrm>
            <a:off x="0" y="2140633"/>
            <a:ext cx="9144000" cy="3437798"/>
          </a:xfrm>
          <a:prstGeom prst="rect">
            <a:avLst/>
          </a:prstGeom>
          <a:solidFill>
            <a:schemeClr val="tx1">
              <a:lumMod val="10000"/>
              <a:lumOff val="90000"/>
            </a:schemeClr>
          </a:solidFill>
        </p:spPr>
      </p:pic>
      <p:sp>
        <p:nvSpPr>
          <p:cNvPr id="5" name="正方形/長方形 4">
            <a:extLst>
              <a:ext uri="{FF2B5EF4-FFF2-40B4-BE49-F238E27FC236}">
                <a16:creationId xmlns:a16="http://schemas.microsoft.com/office/drawing/2014/main" id="{BE133074-E6AB-4F8C-B1EE-667A9FD9982D}"/>
              </a:ext>
            </a:extLst>
          </p:cNvPr>
          <p:cNvSpPr/>
          <p:nvPr/>
        </p:nvSpPr>
        <p:spPr>
          <a:xfrm>
            <a:off x="0" y="2146135"/>
            <a:ext cx="9144000" cy="3396356"/>
          </a:xfrm>
          <a:prstGeom prst="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4E2B783D-0696-4AE0-B809-889DEB9C4640}"/>
              </a:ext>
            </a:extLst>
          </p:cNvPr>
          <p:cNvPicPr>
            <a:picLocks noChangeAspect="1"/>
          </p:cNvPicPr>
          <p:nvPr/>
        </p:nvPicPr>
        <p:blipFill>
          <a:blip r:embed="rId4"/>
          <a:stretch>
            <a:fillRect/>
          </a:stretch>
        </p:blipFill>
        <p:spPr>
          <a:xfrm>
            <a:off x="1432875" y="2568919"/>
            <a:ext cx="5901178" cy="2855905"/>
          </a:xfrm>
          <a:prstGeom prst="rect">
            <a:avLst/>
          </a:prstGeom>
        </p:spPr>
      </p:pic>
    </p:spTree>
    <p:extLst>
      <p:ext uri="{BB962C8B-B14F-4D97-AF65-F5344CB8AC3E}">
        <p14:creationId xmlns:p14="http://schemas.microsoft.com/office/powerpoint/2010/main" val="3143813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カスタマイズ設定画面一覧：カスタマイズ一括設定</a:t>
            </a:r>
            <a:endParaRPr lang="en-US" altLang="ja-JP" b="1" dirty="0"/>
          </a:p>
          <a:p>
            <a:pPr marL="0" indent="0" fontAlgn="auto">
              <a:buFont typeface="Arial" panose="020B0604020202020204" pitchFamily="34" charset="0"/>
              <a:buNone/>
            </a:pP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54645" y="1059842"/>
            <a:ext cx="6726380"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複数車両のカスタマイズ設定を一括で変更したい場合は、</a:t>
            </a:r>
            <a:endParaRPr lang="en-US" altLang="ja-JP" b="1" dirty="0"/>
          </a:p>
          <a:p>
            <a:pPr marL="0" indent="0" fontAlgn="auto">
              <a:buFont typeface="Arial" panose="020B0604020202020204" pitchFamily="34" charset="0"/>
              <a:buNone/>
            </a:pPr>
            <a:r>
              <a:rPr lang="ja-JP" altLang="en-US" b="1" dirty="0"/>
              <a:t>複数車両のカスタマイズ設定を記載した</a:t>
            </a:r>
            <a:r>
              <a:rPr lang="en-US" altLang="ja-JP" b="1" dirty="0"/>
              <a:t>Excel</a:t>
            </a:r>
            <a:r>
              <a:rPr lang="ja-JP" altLang="en-US" b="1" dirty="0"/>
              <a:t>をアップロードする。</a:t>
            </a:r>
            <a:endParaRPr lang="en-US" altLang="ja-JP" b="1" dirty="0"/>
          </a:p>
          <a:p>
            <a:pPr marL="0" indent="0" fontAlgn="auto">
              <a:buFont typeface="Arial" panose="020B0604020202020204" pitchFamily="34" charset="0"/>
              <a:buNone/>
            </a:pPr>
            <a:r>
              <a:rPr lang="en-US" altLang="ja-JP" b="1" dirty="0"/>
              <a:t>※</a:t>
            </a:r>
            <a:r>
              <a:rPr lang="ja-JP" altLang="en-US" b="1" dirty="0"/>
              <a:t>一括で設定を追加する場合は下記画面から、変更・削除する場合は車両検索画面から</a:t>
            </a:r>
            <a:br>
              <a:rPr lang="en-US" altLang="ja-JP" b="1" dirty="0"/>
            </a:br>
            <a:r>
              <a:rPr lang="ja-JP" altLang="en-US" b="1" dirty="0"/>
              <a:t>　テンプレートファイルをダウンロードする。</a:t>
            </a:r>
            <a:endParaRPr lang="en-US" altLang="ja-JP" b="1" dirty="0"/>
          </a:p>
        </p:txBody>
      </p:sp>
      <p:pic>
        <p:nvPicPr>
          <p:cNvPr id="13" name="図 12">
            <a:extLst>
              <a:ext uri="{FF2B5EF4-FFF2-40B4-BE49-F238E27FC236}">
                <a16:creationId xmlns:a16="http://schemas.microsoft.com/office/drawing/2014/main" id="{4F109B50-CD8E-4BBF-BFEE-6DF0614B56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65" y="2337513"/>
            <a:ext cx="9105835" cy="4063684"/>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96AB0414-1AD3-4246-BC8B-2ADEC2874F0A}"/>
              </a:ext>
            </a:extLst>
          </p:cNvPr>
          <p:cNvPicPr>
            <a:picLocks noChangeAspect="1"/>
          </p:cNvPicPr>
          <p:nvPr/>
        </p:nvPicPr>
        <p:blipFill>
          <a:blip r:embed="rId4"/>
          <a:stretch>
            <a:fillRect/>
          </a:stretch>
        </p:blipFill>
        <p:spPr>
          <a:xfrm>
            <a:off x="4503420" y="3300412"/>
            <a:ext cx="4251960" cy="1721167"/>
          </a:xfrm>
          <a:prstGeom prst="rect">
            <a:avLst/>
          </a:prstGeom>
        </p:spPr>
      </p:pic>
      <p:pic>
        <p:nvPicPr>
          <p:cNvPr id="14" name="図 13">
            <a:extLst>
              <a:ext uri="{FF2B5EF4-FFF2-40B4-BE49-F238E27FC236}">
                <a16:creationId xmlns:a16="http://schemas.microsoft.com/office/drawing/2014/main" id="{D397B8ED-DC9D-4C64-9514-66DB94F77FC9}"/>
              </a:ext>
            </a:extLst>
          </p:cNvPr>
          <p:cNvPicPr>
            <a:picLocks noChangeAspect="1"/>
          </p:cNvPicPr>
          <p:nvPr/>
        </p:nvPicPr>
        <p:blipFill>
          <a:blip r:embed="rId5"/>
          <a:stretch>
            <a:fillRect/>
          </a:stretch>
        </p:blipFill>
        <p:spPr>
          <a:xfrm>
            <a:off x="4591082" y="4983479"/>
            <a:ext cx="4251960" cy="716281"/>
          </a:xfrm>
          <a:prstGeom prst="rect">
            <a:avLst/>
          </a:prstGeom>
        </p:spPr>
      </p:pic>
      <p:sp>
        <p:nvSpPr>
          <p:cNvPr id="15" name="テキスト ボックス 13">
            <a:extLst>
              <a:ext uri="{FF2B5EF4-FFF2-40B4-BE49-F238E27FC236}">
                <a16:creationId xmlns:a16="http://schemas.microsoft.com/office/drawing/2014/main" id="{4E1F7F8A-69A8-4631-B89B-056E32417F27}"/>
              </a:ext>
            </a:extLst>
          </p:cNvPr>
          <p:cNvSpPr txBox="1"/>
          <p:nvPr/>
        </p:nvSpPr>
        <p:spPr>
          <a:xfrm>
            <a:off x="4711049" y="4965101"/>
            <a:ext cx="3669061" cy="37651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800" b="1" dirty="0"/>
              <a:t>※</a:t>
            </a:r>
            <a:r>
              <a:rPr kumimoji="1" lang="ja-JP" altLang="en-US" sz="800" b="1" dirty="0"/>
              <a:t>一括変更用のテンプレートは車両検索画面よりダウンロードしてください</a:t>
            </a:r>
            <a:r>
              <a:rPr kumimoji="1" lang="ja-JP" altLang="en-US" sz="900" b="1" dirty="0"/>
              <a:t>。</a:t>
            </a:r>
          </a:p>
        </p:txBody>
      </p:sp>
    </p:spTree>
    <p:extLst>
      <p:ext uri="{BB962C8B-B14F-4D97-AF65-F5344CB8AC3E}">
        <p14:creationId xmlns:p14="http://schemas.microsoft.com/office/powerpoint/2010/main" val="2599869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カスタマイズ設定画面一覧：権限管理</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54645" y="1059842"/>
            <a:ext cx="6726380"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カスタマイズ設定のアプリ内で使用する権限をユーザに設定する。</a:t>
            </a:r>
            <a:endParaRPr lang="en-US" altLang="ja-JP" b="1" dirty="0"/>
          </a:p>
          <a:p>
            <a:pPr marL="0" indent="0" fontAlgn="auto">
              <a:buFont typeface="Arial" panose="020B0604020202020204" pitchFamily="34" charset="0"/>
              <a:buNone/>
            </a:pPr>
            <a:r>
              <a:rPr lang="ja-JP" altLang="en-US" b="1" dirty="0"/>
              <a:t>アクセス権限をユーザに設定する。</a:t>
            </a:r>
            <a:endParaRPr lang="en-US" altLang="ja-JP" b="1" dirty="0"/>
          </a:p>
        </p:txBody>
      </p:sp>
      <p:pic>
        <p:nvPicPr>
          <p:cNvPr id="4" name="図 3">
            <a:extLst>
              <a:ext uri="{FF2B5EF4-FFF2-40B4-BE49-F238E27FC236}">
                <a16:creationId xmlns:a16="http://schemas.microsoft.com/office/drawing/2014/main" id="{B5541EA3-97E8-4EF7-BE33-1F67310578FF}"/>
              </a:ext>
            </a:extLst>
          </p:cNvPr>
          <p:cNvPicPr>
            <a:picLocks noChangeAspect="1"/>
          </p:cNvPicPr>
          <p:nvPr/>
        </p:nvPicPr>
        <p:blipFill>
          <a:blip r:embed="rId3"/>
          <a:stretch>
            <a:fillRect/>
          </a:stretch>
        </p:blipFill>
        <p:spPr>
          <a:xfrm>
            <a:off x="409556" y="2000106"/>
            <a:ext cx="8144759" cy="4347117"/>
          </a:xfrm>
          <a:prstGeom prst="rect">
            <a:avLst/>
          </a:prstGeom>
        </p:spPr>
      </p:pic>
    </p:spTree>
    <p:extLst>
      <p:ext uri="{BB962C8B-B14F-4D97-AF65-F5344CB8AC3E}">
        <p14:creationId xmlns:p14="http://schemas.microsoft.com/office/powerpoint/2010/main" val="3109023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カスタマイズ設定画面一覧：権限管理</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54645" y="1059842"/>
            <a:ext cx="6726380"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カスタマイズ設定のアプリ内で使用する権限をユーザに設定する。</a:t>
            </a:r>
            <a:endParaRPr lang="en-US" altLang="ja-JP" b="1" dirty="0"/>
          </a:p>
          <a:p>
            <a:pPr marL="0" indent="0" fontAlgn="auto">
              <a:buFont typeface="Arial" panose="020B0604020202020204" pitchFamily="34" charset="0"/>
              <a:buNone/>
            </a:pPr>
            <a:r>
              <a:rPr lang="ja-JP" altLang="en-US" b="1" dirty="0"/>
              <a:t>アクセス権限をユーザに設定する。</a:t>
            </a:r>
            <a:endParaRPr lang="en-US" altLang="ja-JP" b="1" dirty="0"/>
          </a:p>
        </p:txBody>
      </p:sp>
      <p:pic>
        <p:nvPicPr>
          <p:cNvPr id="5" name="図 4">
            <a:extLst>
              <a:ext uri="{FF2B5EF4-FFF2-40B4-BE49-F238E27FC236}">
                <a16:creationId xmlns:a16="http://schemas.microsoft.com/office/drawing/2014/main" id="{5F14ACFA-A187-4F8F-B683-1FC944385D25}"/>
              </a:ext>
            </a:extLst>
          </p:cNvPr>
          <p:cNvPicPr>
            <a:picLocks noChangeAspect="1"/>
          </p:cNvPicPr>
          <p:nvPr/>
        </p:nvPicPr>
        <p:blipFill>
          <a:blip r:embed="rId3"/>
          <a:stretch>
            <a:fillRect/>
          </a:stretch>
        </p:blipFill>
        <p:spPr>
          <a:xfrm>
            <a:off x="854198" y="1948322"/>
            <a:ext cx="7409468" cy="4444389"/>
          </a:xfrm>
          <a:prstGeom prst="rect">
            <a:avLst/>
          </a:prstGeom>
        </p:spPr>
      </p:pic>
    </p:spTree>
    <p:extLst>
      <p:ext uri="{BB962C8B-B14F-4D97-AF65-F5344CB8AC3E}">
        <p14:creationId xmlns:p14="http://schemas.microsoft.com/office/powerpoint/2010/main" val="1203876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カスタマイズ設定画面一覧：作業履歴</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08810" y="1054340"/>
            <a:ext cx="6726380"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カスタマイズ設定を含む、ユーザの作業履歴を表示する。</a:t>
            </a:r>
            <a:endParaRPr lang="en-US" altLang="ja-JP" b="1" dirty="0"/>
          </a:p>
        </p:txBody>
      </p:sp>
      <p:pic>
        <p:nvPicPr>
          <p:cNvPr id="13" name="図 12">
            <a:extLst>
              <a:ext uri="{FF2B5EF4-FFF2-40B4-BE49-F238E27FC236}">
                <a16:creationId xmlns:a16="http://schemas.microsoft.com/office/drawing/2014/main" id="{7A4FEE0F-ABFD-44A1-BE94-6EF064A31EB9}"/>
              </a:ext>
            </a:extLst>
          </p:cNvPr>
          <p:cNvPicPr>
            <a:picLocks noChangeAspect="1"/>
          </p:cNvPicPr>
          <p:nvPr/>
        </p:nvPicPr>
        <p:blipFill>
          <a:blip r:embed="rId3"/>
          <a:stretch>
            <a:fillRect/>
          </a:stretch>
        </p:blipFill>
        <p:spPr>
          <a:xfrm>
            <a:off x="594994" y="1878186"/>
            <a:ext cx="8333295" cy="4276544"/>
          </a:xfrm>
          <a:prstGeom prst="rect">
            <a:avLst/>
          </a:prstGeom>
        </p:spPr>
      </p:pic>
      <p:pic>
        <p:nvPicPr>
          <p:cNvPr id="4" name="図 3">
            <a:extLst>
              <a:ext uri="{FF2B5EF4-FFF2-40B4-BE49-F238E27FC236}">
                <a16:creationId xmlns:a16="http://schemas.microsoft.com/office/drawing/2014/main" id="{42446CFC-1F21-4E69-93B7-B763B3BD6A59}"/>
              </a:ext>
            </a:extLst>
          </p:cNvPr>
          <p:cNvPicPr>
            <a:picLocks noChangeAspect="1"/>
          </p:cNvPicPr>
          <p:nvPr/>
        </p:nvPicPr>
        <p:blipFill>
          <a:blip r:embed="rId4"/>
          <a:stretch>
            <a:fillRect/>
          </a:stretch>
        </p:blipFill>
        <p:spPr>
          <a:xfrm>
            <a:off x="1006792" y="2712708"/>
            <a:ext cx="5500688" cy="295407"/>
          </a:xfrm>
          <a:prstGeom prst="rect">
            <a:avLst/>
          </a:prstGeom>
        </p:spPr>
      </p:pic>
      <p:pic>
        <p:nvPicPr>
          <p:cNvPr id="10" name="図 9">
            <a:extLst>
              <a:ext uri="{FF2B5EF4-FFF2-40B4-BE49-F238E27FC236}">
                <a16:creationId xmlns:a16="http://schemas.microsoft.com/office/drawing/2014/main" id="{58E908BF-CF52-4C52-96F5-5A52BB3B77CE}"/>
              </a:ext>
            </a:extLst>
          </p:cNvPr>
          <p:cNvPicPr>
            <a:picLocks noChangeAspect="1"/>
          </p:cNvPicPr>
          <p:nvPr/>
        </p:nvPicPr>
        <p:blipFill>
          <a:blip r:embed="rId5"/>
          <a:stretch>
            <a:fillRect/>
          </a:stretch>
        </p:blipFill>
        <p:spPr>
          <a:xfrm>
            <a:off x="1006793" y="2675287"/>
            <a:ext cx="4144328" cy="400728"/>
          </a:xfrm>
          <a:prstGeom prst="rect">
            <a:avLst/>
          </a:prstGeom>
        </p:spPr>
      </p:pic>
      <p:pic>
        <p:nvPicPr>
          <p:cNvPr id="15" name="図 14">
            <a:extLst>
              <a:ext uri="{FF2B5EF4-FFF2-40B4-BE49-F238E27FC236}">
                <a16:creationId xmlns:a16="http://schemas.microsoft.com/office/drawing/2014/main" id="{1D7EA557-344F-4212-A94B-41D5D7921EA7}"/>
              </a:ext>
            </a:extLst>
          </p:cNvPr>
          <p:cNvPicPr>
            <a:picLocks noChangeAspect="1"/>
          </p:cNvPicPr>
          <p:nvPr/>
        </p:nvPicPr>
        <p:blipFill>
          <a:blip r:embed="rId6"/>
          <a:stretch>
            <a:fillRect/>
          </a:stretch>
        </p:blipFill>
        <p:spPr>
          <a:xfrm>
            <a:off x="723334" y="4385030"/>
            <a:ext cx="8204955" cy="1837568"/>
          </a:xfrm>
          <a:prstGeom prst="rect">
            <a:avLst/>
          </a:prstGeom>
        </p:spPr>
      </p:pic>
    </p:spTree>
    <p:extLst>
      <p:ext uri="{BB962C8B-B14F-4D97-AF65-F5344CB8AC3E}">
        <p14:creationId xmlns:p14="http://schemas.microsoft.com/office/powerpoint/2010/main" val="2652221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aphicFrame>
        <p:nvGraphicFramePr>
          <p:cNvPr id="3" name="表 2">
            <a:extLst>
              <a:ext uri="{FF2B5EF4-FFF2-40B4-BE49-F238E27FC236}">
                <a16:creationId xmlns:a16="http://schemas.microsoft.com/office/drawing/2014/main" id="{2C32E81D-DD49-416F-BF41-D4C83768C026}"/>
              </a:ext>
            </a:extLst>
          </p:cNvPr>
          <p:cNvGraphicFramePr>
            <a:graphicFrameLocks noGrp="1"/>
          </p:cNvGraphicFramePr>
          <p:nvPr>
            <p:extLst>
              <p:ext uri="{D42A27DB-BD31-4B8C-83A1-F6EECF244321}">
                <p14:modId xmlns:p14="http://schemas.microsoft.com/office/powerpoint/2010/main" val="3462031195"/>
              </p:ext>
            </p:extLst>
          </p:nvPr>
        </p:nvGraphicFramePr>
        <p:xfrm>
          <a:off x="179512" y="1093006"/>
          <a:ext cx="8763320" cy="4122886"/>
        </p:xfrm>
        <a:graphic>
          <a:graphicData uri="http://schemas.openxmlformats.org/drawingml/2006/table">
            <a:tbl>
              <a:tblPr firstRow="1" bandRow="1">
                <a:tableStyleId>{5C22544A-7EE6-4342-B048-85BDC9FD1C3A}</a:tableStyleId>
              </a:tblPr>
              <a:tblGrid>
                <a:gridCol w="1568008">
                  <a:extLst>
                    <a:ext uri="{9D8B030D-6E8A-4147-A177-3AD203B41FA5}">
                      <a16:colId xmlns:a16="http://schemas.microsoft.com/office/drawing/2014/main" val="3245718784"/>
                    </a:ext>
                  </a:extLst>
                </a:gridCol>
                <a:gridCol w="7195312">
                  <a:extLst>
                    <a:ext uri="{9D8B030D-6E8A-4147-A177-3AD203B41FA5}">
                      <a16:colId xmlns:a16="http://schemas.microsoft.com/office/drawing/2014/main" val="3255365162"/>
                    </a:ext>
                  </a:extLst>
                </a:gridCol>
              </a:tblGrid>
              <a:tr h="337026">
                <a:tc>
                  <a:txBody>
                    <a:bodyPr/>
                    <a:lstStyle/>
                    <a:p>
                      <a:r>
                        <a:rPr kumimoji="1" lang="ja-JP" altLang="en-US" sz="1200" dirty="0"/>
                        <a:t>機能名</a:t>
                      </a:r>
                    </a:p>
                  </a:txBody>
                  <a:tcPr>
                    <a:solidFill>
                      <a:srgbClr val="140A9A"/>
                    </a:solidFill>
                  </a:tcPr>
                </a:tc>
                <a:tc>
                  <a:txBody>
                    <a:bodyPr/>
                    <a:lstStyle/>
                    <a:p>
                      <a:r>
                        <a:rPr kumimoji="1" lang="ja-JP" altLang="en-US" sz="1200" dirty="0"/>
                        <a:t>要件概要</a:t>
                      </a:r>
                    </a:p>
                  </a:txBody>
                  <a:tcPr>
                    <a:solidFill>
                      <a:srgbClr val="140A9A"/>
                    </a:solidFill>
                  </a:tcPr>
                </a:tc>
                <a:extLst>
                  <a:ext uri="{0D108BD9-81ED-4DB2-BD59-A6C34878D82A}">
                    <a16:rowId xmlns:a16="http://schemas.microsoft.com/office/drawing/2014/main" val="306179741"/>
                  </a:ext>
                </a:extLst>
              </a:tr>
              <a:tr h="1550320">
                <a:tc>
                  <a:txBody>
                    <a:bodyPr/>
                    <a:lstStyle/>
                    <a:p>
                      <a:r>
                        <a:rPr lang="ja-JP" altLang="en-US" sz="1200" b="1" dirty="0"/>
                        <a:t>カスタマイズデータ</a:t>
                      </a:r>
                      <a:endParaRPr lang="en-US" altLang="ja-JP" sz="1200" b="1" dirty="0"/>
                    </a:p>
                    <a:p>
                      <a:r>
                        <a:rPr lang="ja-JP" altLang="en-US" sz="1200" b="1" dirty="0"/>
                        <a:t>送信要求</a:t>
                      </a:r>
                      <a:endParaRPr lang="en-US" altLang="ja-JP" sz="1200" b="1" dirty="0"/>
                    </a:p>
                  </a:txBody>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b="1" dirty="0"/>
                        <a:t>送信番号の一覧について</a:t>
                      </a:r>
                      <a:r>
                        <a:rPr kumimoji="1" lang="ja-JP" altLang="en-US" sz="1200" dirty="0"/>
                        <a:t>、確認したい期間を指定して</a:t>
                      </a:r>
                      <a:r>
                        <a:rPr kumimoji="1" lang="ja-JP" altLang="en-US" sz="1200" b="1" dirty="0"/>
                        <a:t>車両へ送信要求を行う。</a:t>
                      </a:r>
                      <a:endParaRPr kumimoji="1" lang="en-US" altLang="ja-JP" sz="1200" b="1"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サーバ受信済みのカスタマイズデータ</a:t>
                      </a:r>
                      <a:r>
                        <a:rPr kumimoji="1" lang="ja-JP" altLang="en-US" sz="1200" b="1" dirty="0"/>
                        <a:t>（送信番号）の一覧を表示する。</a:t>
                      </a:r>
                      <a:endParaRPr kumimoji="1" lang="en-US" altLang="ja-JP" sz="1200" b="1"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サーバ未受信のデータについて</a:t>
                      </a:r>
                      <a:r>
                        <a:rPr kumimoji="1" lang="ja-JP" altLang="en-US" sz="1200" b="1" dirty="0"/>
                        <a:t>、送信番号を指定して車両へデータ送信要求を行う。</a:t>
                      </a:r>
                      <a:endParaRPr kumimoji="1" lang="en-US" altLang="ja-JP" sz="1200" b="1"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カスタマイズデータが欲しい</a:t>
                      </a:r>
                      <a:r>
                        <a:rPr kumimoji="1" lang="ja-JP" altLang="en-US" sz="1200" b="1" dirty="0"/>
                        <a:t>期間を指定し、送信番号とそこに含まれるカスタマイズデータを</a:t>
                      </a:r>
                      <a:r>
                        <a:rPr kumimoji="1" lang="en-US" altLang="ja-JP" sz="1200" b="1" dirty="0"/>
                        <a:t>1</a:t>
                      </a:r>
                      <a:r>
                        <a:rPr kumimoji="1" lang="ja-JP" altLang="en-US" sz="1200" b="1" dirty="0"/>
                        <a:t>度の操作で要求する。</a:t>
                      </a:r>
                      <a:endParaRPr kumimoji="1" lang="en-US" altLang="ja-JP" sz="1200" b="1"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データの送信要求で発生する想定通信量を計算し、上限値（ユーザ指定、もしくはサーバで保持）を上回る場合には要求を中止する。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要求時にはカスタマイズ定義とカスタマイズ用途定義どちらも指定可能とする。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現在生成中のカスタマイズデータについて送信要求を行う。</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各送信要求を複数台の車両に対して同時に行う。</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要求は画面経由、外部からの</a:t>
                      </a:r>
                      <a:r>
                        <a:rPr kumimoji="1" lang="en-US" altLang="ja-JP" sz="1200" dirty="0"/>
                        <a:t>API</a:t>
                      </a:r>
                      <a:r>
                        <a:rPr kumimoji="1" lang="ja-JP" altLang="en-US" sz="1200" dirty="0"/>
                        <a:t>実行の両者で可能とする。</a:t>
                      </a:r>
                      <a:endParaRPr kumimoji="1" lang="en-US" altLang="ja-JP" sz="1200" dirty="0"/>
                    </a:p>
                  </a:txBody>
                  <a:tcPr/>
                </a:tc>
                <a:extLst>
                  <a:ext uri="{0D108BD9-81ED-4DB2-BD59-A6C34878D82A}">
                    <a16:rowId xmlns:a16="http://schemas.microsoft.com/office/drawing/2014/main" val="4252726819"/>
                  </a:ext>
                </a:extLst>
              </a:tr>
              <a:tr h="585460">
                <a:tc>
                  <a:txBody>
                    <a:bodyPr/>
                    <a:lstStyle/>
                    <a:p>
                      <a:r>
                        <a:rPr lang="ja-JP" altLang="en-US" sz="1200" b="1" dirty="0"/>
                        <a:t>要求ステータス</a:t>
                      </a:r>
                      <a:endParaRPr lang="en-US" altLang="ja-JP" sz="1200" b="1" dirty="0"/>
                    </a:p>
                  </a:txBody>
                  <a:tcPr/>
                </a:tc>
                <a:tc>
                  <a:txBody>
                    <a:bodyPr/>
                    <a:lstStyle/>
                    <a:p>
                      <a:pPr marL="228600" indent="-228600">
                        <a:buFont typeface="+mj-lt"/>
                        <a:buAutoNum type="arabicPeriod"/>
                      </a:pPr>
                      <a:r>
                        <a:rPr kumimoji="1" lang="ja-JP" altLang="en-US" sz="1200" dirty="0"/>
                        <a:t>カスタマイズ関連の要求について、</a:t>
                      </a:r>
                      <a:r>
                        <a:rPr kumimoji="1" lang="ja-JP" altLang="en-US" sz="1200" b="1" dirty="0"/>
                        <a:t>車両からの応答の受信状況や要求の成否などを表すステータスを表示する。</a:t>
                      </a:r>
                      <a:br>
                        <a:rPr kumimoji="1" lang="en-US" altLang="ja-JP" sz="1200" b="1" dirty="0"/>
                      </a:br>
                      <a:endParaRPr kumimoji="1" lang="en-US" altLang="ja-JP" sz="1200" b="1" dirty="0"/>
                    </a:p>
                  </a:txBody>
                  <a:tcPr/>
                </a:tc>
                <a:extLst>
                  <a:ext uri="{0D108BD9-81ED-4DB2-BD59-A6C34878D82A}">
                    <a16:rowId xmlns:a16="http://schemas.microsoft.com/office/drawing/2014/main" val="1762447514"/>
                  </a:ext>
                </a:extLst>
              </a:tr>
              <a:tr h="585460">
                <a:tc>
                  <a:txBody>
                    <a:bodyPr/>
                    <a:lstStyle/>
                    <a:p>
                      <a:r>
                        <a:rPr lang="ja-JP" altLang="en-US" sz="1200" b="1" dirty="0"/>
                        <a:t>権限管理</a:t>
                      </a:r>
                      <a:endParaRPr lang="en-US" altLang="ja-JP" sz="1200" b="1" dirty="0"/>
                    </a:p>
                    <a:p>
                      <a:r>
                        <a:rPr lang="en-US" altLang="ja-JP" sz="1200" b="1" dirty="0"/>
                        <a:t>※No.1</a:t>
                      </a:r>
                      <a:r>
                        <a:rPr lang="ja-JP" altLang="en-US" sz="1200" b="1" dirty="0"/>
                        <a:t>と共通</a:t>
                      </a:r>
                      <a:endParaRPr lang="en-US" altLang="ja-JP" sz="1200" b="1" dirty="0"/>
                    </a:p>
                  </a:txBody>
                  <a:tcPr/>
                </a:tc>
                <a:tc>
                  <a:txBody>
                    <a:bodyPr/>
                    <a:lstStyle/>
                    <a:p>
                      <a:pPr marL="228600" indent="-228600">
                        <a:buFont typeface="+mj-lt"/>
                        <a:buAutoNum type="arabicPeriod"/>
                      </a:pPr>
                      <a:r>
                        <a:rPr kumimoji="1" lang="ja-JP" altLang="en-US" sz="1200" dirty="0"/>
                        <a:t>アプリの各機能を使用するための権限の設定を変更可能とする。</a:t>
                      </a:r>
                      <a:endParaRPr kumimoji="1" lang="en-US" altLang="ja-JP" sz="1200" dirty="0"/>
                    </a:p>
                    <a:p>
                      <a:pPr marL="228600" indent="-228600">
                        <a:buFont typeface="+mj-lt"/>
                        <a:buAutoNum type="arabicPeriod"/>
                      </a:pPr>
                      <a:r>
                        <a:rPr kumimoji="1" lang="ja-JP" altLang="en-US" sz="1200" dirty="0"/>
                        <a:t>アプリで用いる権限は既存の</a:t>
                      </a:r>
                      <a:r>
                        <a:rPr kumimoji="1" lang="en-US" altLang="ja-JP" sz="1200" b="1" dirty="0">
                          <a:solidFill>
                            <a:schemeClr val="tx1"/>
                          </a:solidFill>
                        </a:rPr>
                        <a:t>DFM</a:t>
                      </a:r>
                      <a:r>
                        <a:rPr kumimoji="1" lang="ja-JP" altLang="en-US" sz="1200" b="1" dirty="0">
                          <a:solidFill>
                            <a:schemeClr val="tx1"/>
                          </a:solidFill>
                        </a:rPr>
                        <a:t>アプリなどでは表示されないよう</a:t>
                      </a:r>
                      <a:r>
                        <a:rPr kumimoji="1" lang="ja-JP" altLang="en-US" sz="1200" dirty="0"/>
                        <a:t>にする。</a:t>
                      </a:r>
                      <a:endParaRPr kumimoji="1" lang="en-US" altLang="ja-JP" sz="1200" dirty="0"/>
                    </a:p>
                    <a:p>
                      <a:pPr marL="228600" indent="-228600">
                        <a:buFont typeface="+mj-lt"/>
                        <a:buAutoNum type="arabicPeriod"/>
                      </a:pPr>
                      <a:r>
                        <a:rPr kumimoji="1" lang="ja-JP" altLang="en-US" sz="1200" dirty="0"/>
                        <a:t>参照可能なカスタマイズ定義を制御するために、アクセスレベルを各ユーザに対して設定する。</a:t>
                      </a:r>
                    </a:p>
                  </a:txBody>
                  <a:tcPr/>
                </a:tc>
                <a:extLst>
                  <a:ext uri="{0D108BD9-81ED-4DB2-BD59-A6C34878D82A}">
                    <a16:rowId xmlns:a16="http://schemas.microsoft.com/office/drawing/2014/main" val="2977928971"/>
                  </a:ext>
                </a:extLst>
              </a:tr>
              <a:tr h="585460">
                <a:tc>
                  <a:txBody>
                    <a:bodyPr/>
                    <a:lstStyle/>
                    <a:p>
                      <a:r>
                        <a:rPr lang="ja-JP" altLang="en-US" sz="1200" b="1" dirty="0"/>
                        <a:t>作業履歴</a:t>
                      </a:r>
                      <a:endParaRPr lang="en-US" altLang="ja-JP"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1" dirty="0"/>
                        <a:t>※No.1</a:t>
                      </a:r>
                      <a:r>
                        <a:rPr lang="ja-JP" altLang="en-US" sz="1200" b="1" dirty="0"/>
                        <a:t>と共通</a:t>
                      </a:r>
                      <a:endParaRPr lang="en-US" altLang="ja-JP" sz="1200" b="1" dirty="0"/>
                    </a:p>
                    <a:p>
                      <a:endParaRPr lang="en-US" altLang="ja-JP" sz="1200" b="1" dirty="0"/>
                    </a:p>
                  </a:txBody>
                  <a:tcPr/>
                </a:tc>
                <a:tc>
                  <a:txBody>
                    <a:bodyPr/>
                    <a:lstStyle/>
                    <a:p>
                      <a:pPr marL="228600" indent="-228600">
                        <a:buFont typeface="+mj-lt"/>
                        <a:buAutoNum type="arabicPeriod"/>
                      </a:pPr>
                      <a:r>
                        <a:rPr kumimoji="1" lang="ja-JP" altLang="en-US" sz="1200" dirty="0"/>
                        <a:t>カスタマイズ関連の要求について、設定を行ったユーザや対象の車両、カスタマイズ設定の内容の履歴を確認可能とする。</a:t>
                      </a:r>
                      <a:endParaRPr kumimoji="1" lang="en-US" altLang="ja-JP" sz="1200" dirty="0"/>
                    </a:p>
                    <a:p>
                      <a:pPr marL="228600" indent="-228600">
                        <a:buFont typeface="+mj-lt"/>
                        <a:buAutoNum type="arabicPeriod"/>
                      </a:pPr>
                      <a:r>
                        <a:rPr kumimoji="1" lang="ja-JP" altLang="en-US" sz="1200" dirty="0"/>
                        <a:t>権限更新を行った履歴を確認可能とする。</a:t>
                      </a:r>
                      <a:endParaRPr kumimoji="1" lang="en-US" altLang="ja-JP" sz="1200" dirty="0"/>
                    </a:p>
                  </a:txBody>
                  <a:tcPr/>
                </a:tc>
                <a:extLst>
                  <a:ext uri="{0D108BD9-81ED-4DB2-BD59-A6C34878D82A}">
                    <a16:rowId xmlns:a16="http://schemas.microsoft.com/office/drawing/2014/main" val="1897118556"/>
                  </a:ext>
                </a:extLst>
              </a:tr>
            </a:tbl>
          </a:graphicData>
        </a:graphic>
      </p:graphicFrame>
      <p:sp>
        <p:nvSpPr>
          <p:cNvPr id="8" name="テキスト ボックス 7">
            <a:extLst>
              <a:ext uri="{FF2B5EF4-FFF2-40B4-BE49-F238E27FC236}">
                <a16:creationId xmlns:a16="http://schemas.microsoft.com/office/drawing/2014/main" id="{457DC400-E9C9-432F-82A7-C39C55859A91}"/>
              </a:ext>
            </a:extLst>
          </p:cNvPr>
          <p:cNvSpPr txBox="1"/>
          <p:nvPr/>
        </p:nvSpPr>
        <p:spPr>
          <a:xfrm>
            <a:off x="192024" y="648000"/>
            <a:ext cx="3415335" cy="360000"/>
          </a:xfrm>
          <a:prstGeom prst="rect">
            <a:avLst/>
          </a:prstGeom>
          <a:solidFill>
            <a:srgbClr val="140A9A"/>
          </a:solidFill>
        </p:spPr>
        <p:txBody>
          <a:bodyPr wrap="none" rtlCol="0" anchor="ctr">
            <a:noAutofit/>
          </a:bodyPr>
          <a:lstStyle/>
          <a:p>
            <a:pPr algn="ctr"/>
            <a:r>
              <a:rPr lang="en-US" altLang="ja-JP" sz="1400" dirty="0">
                <a:solidFill>
                  <a:schemeClr val="bg1"/>
                </a:solidFill>
              </a:rPr>
              <a:t>No.3</a:t>
            </a:r>
            <a:r>
              <a:rPr lang="ja-JP" altLang="en-US" sz="1400" dirty="0">
                <a:solidFill>
                  <a:schemeClr val="bg1"/>
                </a:solidFill>
              </a:rPr>
              <a:t>　カスタマイズデータ送信要求　要件概要</a:t>
            </a:r>
            <a:endParaRPr kumimoji="1" lang="ja-JP" altLang="en-US" sz="1400" dirty="0">
              <a:solidFill>
                <a:schemeClr val="bg1"/>
              </a:solidFill>
            </a:endParaRPr>
          </a:p>
        </p:txBody>
      </p:sp>
    </p:spTree>
    <p:extLst>
      <p:ext uri="{BB962C8B-B14F-4D97-AF65-F5344CB8AC3E}">
        <p14:creationId xmlns:p14="http://schemas.microsoft.com/office/powerpoint/2010/main" val="2740599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r>
              <a:rPr lang="ja-JP" altLang="en-US" sz="1400" b="1" dirty="0"/>
              <a:t>カスタマイズデータ送信要求</a:t>
            </a:r>
            <a:r>
              <a:rPr lang="ja-JP" altLang="en-US" b="1" dirty="0"/>
              <a:t>画面一覧：車両検索</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20872" y="988983"/>
            <a:ext cx="7721960"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カスタマイズデータ送信要求を実施したい車両を検索（複数選択可能）</a:t>
            </a:r>
            <a:endParaRPr lang="en-US" altLang="ja-JP" b="1" dirty="0"/>
          </a:p>
          <a:p>
            <a:pPr marL="0" indent="0" fontAlgn="auto">
              <a:buFont typeface="Arial" panose="020B0604020202020204" pitchFamily="34" charset="0"/>
              <a:buNone/>
            </a:pPr>
            <a:r>
              <a:rPr lang="en-US" altLang="ja-JP" b="1" dirty="0"/>
              <a:t>※</a:t>
            </a:r>
            <a:r>
              <a:rPr lang="ja-JP" altLang="en-US" b="1" dirty="0"/>
              <a:t>カスタマイズ設定機能と共通の画面</a:t>
            </a:r>
            <a:endParaRPr lang="en-US" altLang="ja-JP" b="1" dirty="0"/>
          </a:p>
        </p:txBody>
      </p:sp>
      <p:pic>
        <p:nvPicPr>
          <p:cNvPr id="6" name="図 5">
            <a:extLst>
              <a:ext uri="{FF2B5EF4-FFF2-40B4-BE49-F238E27FC236}">
                <a16:creationId xmlns:a16="http://schemas.microsoft.com/office/drawing/2014/main" id="{CAA1E9A3-14EA-4868-BE99-1225F48106B3}"/>
              </a:ext>
            </a:extLst>
          </p:cNvPr>
          <p:cNvPicPr>
            <a:picLocks noChangeAspect="1"/>
          </p:cNvPicPr>
          <p:nvPr/>
        </p:nvPicPr>
        <p:blipFill rotWithShape="1">
          <a:blip r:embed="rId4"/>
          <a:srcRect r="1415"/>
          <a:stretch/>
        </p:blipFill>
        <p:spPr>
          <a:xfrm>
            <a:off x="60812" y="1996805"/>
            <a:ext cx="9014608" cy="3818626"/>
          </a:xfrm>
          <a:prstGeom prst="rect">
            <a:avLst/>
          </a:prstGeom>
        </p:spPr>
      </p:pic>
      <p:pic>
        <p:nvPicPr>
          <p:cNvPr id="16" name="図 15">
            <a:extLst>
              <a:ext uri="{FF2B5EF4-FFF2-40B4-BE49-F238E27FC236}">
                <a16:creationId xmlns:a16="http://schemas.microsoft.com/office/drawing/2014/main" id="{E9D666E1-7C95-4A48-9EFF-CD1886E7E833}"/>
              </a:ext>
            </a:extLst>
          </p:cNvPr>
          <p:cNvPicPr>
            <a:picLocks noChangeAspect="1"/>
          </p:cNvPicPr>
          <p:nvPr/>
        </p:nvPicPr>
        <p:blipFill>
          <a:blip r:embed="rId5"/>
          <a:stretch>
            <a:fillRect/>
          </a:stretch>
        </p:blipFill>
        <p:spPr>
          <a:xfrm>
            <a:off x="228297" y="2242589"/>
            <a:ext cx="8275623" cy="571858"/>
          </a:xfrm>
          <a:prstGeom prst="rect">
            <a:avLst/>
          </a:prstGeom>
        </p:spPr>
      </p:pic>
      <p:pic>
        <p:nvPicPr>
          <p:cNvPr id="17" name="図 16">
            <a:extLst>
              <a:ext uri="{FF2B5EF4-FFF2-40B4-BE49-F238E27FC236}">
                <a16:creationId xmlns:a16="http://schemas.microsoft.com/office/drawing/2014/main" id="{4BB99DE6-10E8-437A-B490-382439083CB9}"/>
              </a:ext>
            </a:extLst>
          </p:cNvPr>
          <p:cNvPicPr>
            <a:picLocks noChangeAspect="1"/>
          </p:cNvPicPr>
          <p:nvPr/>
        </p:nvPicPr>
        <p:blipFill>
          <a:blip r:embed="rId6"/>
          <a:stretch>
            <a:fillRect/>
          </a:stretch>
        </p:blipFill>
        <p:spPr>
          <a:xfrm>
            <a:off x="510112" y="2322602"/>
            <a:ext cx="5951648" cy="510279"/>
          </a:xfrm>
          <a:prstGeom prst="rect">
            <a:avLst/>
          </a:prstGeom>
        </p:spPr>
      </p:pic>
    </p:spTree>
    <p:extLst>
      <p:ext uri="{BB962C8B-B14F-4D97-AF65-F5344CB8AC3E}">
        <p14:creationId xmlns:p14="http://schemas.microsoft.com/office/powerpoint/2010/main" val="3531186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r>
              <a:rPr lang="ja-JP" altLang="en-US" sz="1400" b="1" dirty="0"/>
              <a:t>カスタマイズデータ送信要求</a:t>
            </a:r>
            <a:r>
              <a:rPr lang="ja-JP" altLang="en-US" b="1" dirty="0"/>
              <a:t>画面一覧：データ送信要求（期間指定）</a:t>
            </a:r>
            <a:endParaRPr lang="en-US" altLang="ja-JP" b="1" dirty="0"/>
          </a:p>
        </p:txBody>
      </p:sp>
      <p:sp>
        <p:nvSpPr>
          <p:cNvPr id="12" name="Content Placeholder 2">
            <a:extLst>
              <a:ext uri="{FF2B5EF4-FFF2-40B4-BE49-F238E27FC236}">
                <a16:creationId xmlns:a16="http://schemas.microsoft.com/office/drawing/2014/main" id="{05F3D197-8AE3-4FAD-9B16-9512E484C242}"/>
              </a:ext>
            </a:extLst>
          </p:cNvPr>
          <p:cNvSpPr txBox="1">
            <a:spLocks/>
          </p:cNvSpPr>
          <p:nvPr/>
        </p:nvSpPr>
        <p:spPr>
          <a:xfrm>
            <a:off x="1220872" y="988983"/>
            <a:ext cx="7721960"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データが欲しい期間を指定して要求する。</a:t>
            </a:r>
            <a:endParaRPr lang="en-US" altLang="ja-JP" b="1" dirty="0"/>
          </a:p>
          <a:p>
            <a:pPr marL="0" indent="0" fontAlgn="auto">
              <a:buFont typeface="Arial" panose="020B0604020202020204" pitchFamily="34" charset="0"/>
              <a:buNone/>
            </a:pPr>
            <a:r>
              <a:rPr lang="ja-JP" altLang="en-US" b="1" dirty="0"/>
              <a:t>現在生成途中のデータを要求する。</a:t>
            </a:r>
            <a:endParaRPr lang="en-US" altLang="ja-JP" b="1" dirty="0"/>
          </a:p>
        </p:txBody>
      </p:sp>
      <p:pic>
        <p:nvPicPr>
          <p:cNvPr id="14" name="図 13">
            <a:extLst>
              <a:ext uri="{FF2B5EF4-FFF2-40B4-BE49-F238E27FC236}">
                <a16:creationId xmlns:a16="http://schemas.microsoft.com/office/drawing/2014/main" id="{3705AEAE-4741-4459-A143-F9A40D46D0A8}"/>
              </a:ext>
            </a:extLst>
          </p:cNvPr>
          <p:cNvPicPr>
            <a:picLocks noChangeAspect="1"/>
          </p:cNvPicPr>
          <p:nvPr/>
        </p:nvPicPr>
        <p:blipFill>
          <a:blip r:embed="rId4"/>
          <a:stretch>
            <a:fillRect/>
          </a:stretch>
        </p:blipFill>
        <p:spPr>
          <a:xfrm>
            <a:off x="548640" y="2052439"/>
            <a:ext cx="8436864" cy="3908130"/>
          </a:xfrm>
          <a:prstGeom prst="rect">
            <a:avLst/>
          </a:prstGeom>
        </p:spPr>
      </p:pic>
    </p:spTree>
    <p:extLst>
      <p:ext uri="{BB962C8B-B14F-4D97-AF65-F5344CB8AC3E}">
        <p14:creationId xmlns:p14="http://schemas.microsoft.com/office/powerpoint/2010/main" val="3268929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r>
              <a:rPr lang="ja-JP" altLang="en-US" sz="1400" b="1" dirty="0"/>
              <a:t>カスタマイズデータ送信要求</a:t>
            </a:r>
            <a:r>
              <a:rPr lang="ja-JP" altLang="en-US" b="1" dirty="0"/>
              <a:t>画面一覧：データ送信要求（送信番号単位）</a:t>
            </a:r>
            <a:endParaRPr lang="en-US" altLang="ja-JP" b="1" dirty="0"/>
          </a:p>
        </p:txBody>
      </p:sp>
      <p:sp>
        <p:nvSpPr>
          <p:cNvPr id="12" name="Content Placeholder 2">
            <a:extLst>
              <a:ext uri="{FF2B5EF4-FFF2-40B4-BE49-F238E27FC236}">
                <a16:creationId xmlns:a16="http://schemas.microsoft.com/office/drawing/2014/main" id="{05F3D197-8AE3-4FAD-9B16-9512E484C242}"/>
              </a:ext>
            </a:extLst>
          </p:cNvPr>
          <p:cNvSpPr txBox="1">
            <a:spLocks/>
          </p:cNvSpPr>
          <p:nvPr/>
        </p:nvSpPr>
        <p:spPr>
          <a:xfrm>
            <a:off x="1220872" y="966122"/>
            <a:ext cx="7721960" cy="1333619"/>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サーバで受信した送信番号の一覧と、データの受信ステータスを確認する。</a:t>
            </a:r>
            <a:endParaRPr lang="en-US" altLang="ja-JP" b="1" dirty="0"/>
          </a:p>
          <a:p>
            <a:pPr marL="0" indent="0" fontAlgn="auto">
              <a:buFont typeface="Arial" panose="020B0604020202020204" pitchFamily="34" charset="0"/>
              <a:buNone/>
            </a:pPr>
            <a:r>
              <a:rPr lang="ja-JP" altLang="en-US" b="1" dirty="0"/>
              <a:t>データの一覧から欲しいデータを選択して要求する。</a:t>
            </a:r>
            <a:endParaRPr lang="en-US" altLang="ja-JP" b="1" dirty="0"/>
          </a:p>
          <a:p>
            <a:pPr marL="0" indent="0" fontAlgn="auto">
              <a:buFont typeface="Arial" panose="020B0604020202020204" pitchFamily="34" charset="0"/>
              <a:buNone/>
            </a:pPr>
            <a:r>
              <a:rPr lang="ja-JP" altLang="en-US" b="1" dirty="0"/>
              <a:t>要求で発生する通信量の見積もりを表示する。</a:t>
            </a:r>
            <a:endParaRPr lang="en-US" altLang="ja-JP" b="1" dirty="0"/>
          </a:p>
        </p:txBody>
      </p:sp>
      <p:pic>
        <p:nvPicPr>
          <p:cNvPr id="5" name="図 4">
            <a:extLst>
              <a:ext uri="{FF2B5EF4-FFF2-40B4-BE49-F238E27FC236}">
                <a16:creationId xmlns:a16="http://schemas.microsoft.com/office/drawing/2014/main" id="{7133B1CD-F859-410E-9FEC-95A84486FC9D}"/>
              </a:ext>
            </a:extLst>
          </p:cNvPr>
          <p:cNvPicPr>
            <a:picLocks noChangeAspect="1"/>
          </p:cNvPicPr>
          <p:nvPr/>
        </p:nvPicPr>
        <p:blipFill>
          <a:blip r:embed="rId4"/>
          <a:stretch>
            <a:fillRect/>
          </a:stretch>
        </p:blipFill>
        <p:spPr>
          <a:xfrm>
            <a:off x="387234" y="1991253"/>
            <a:ext cx="8555598" cy="4497325"/>
          </a:xfrm>
          <a:prstGeom prst="rect">
            <a:avLst/>
          </a:prstGeom>
        </p:spPr>
      </p:pic>
    </p:spTree>
    <p:extLst>
      <p:ext uri="{BB962C8B-B14F-4D97-AF65-F5344CB8AC3E}">
        <p14:creationId xmlns:p14="http://schemas.microsoft.com/office/powerpoint/2010/main" val="2235612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r>
              <a:rPr lang="ja-JP" altLang="en-US" sz="1400" b="1" dirty="0"/>
              <a:t>カスタマイズデータ送信要求</a:t>
            </a:r>
            <a:r>
              <a:rPr lang="ja-JP" altLang="en-US" b="1" dirty="0"/>
              <a:t>画面一覧：送信番号一覧送信要求</a:t>
            </a:r>
            <a:endParaRPr lang="en-US" altLang="ja-JP" b="1" dirty="0"/>
          </a:p>
        </p:txBody>
      </p:sp>
      <p:sp>
        <p:nvSpPr>
          <p:cNvPr id="12" name="Content Placeholder 2">
            <a:extLst>
              <a:ext uri="{FF2B5EF4-FFF2-40B4-BE49-F238E27FC236}">
                <a16:creationId xmlns:a16="http://schemas.microsoft.com/office/drawing/2014/main" id="{05F3D197-8AE3-4FAD-9B16-9512E484C242}"/>
              </a:ext>
            </a:extLst>
          </p:cNvPr>
          <p:cNvSpPr txBox="1">
            <a:spLocks/>
          </p:cNvSpPr>
          <p:nvPr/>
        </p:nvSpPr>
        <p:spPr>
          <a:xfrm>
            <a:off x="1220872" y="988983"/>
            <a:ext cx="7721960"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期間を指定して、その期間に車両で生成されたカスタマイズデータの一覧を要求する。</a:t>
            </a:r>
            <a:endParaRPr lang="en-US" altLang="ja-JP" b="1" dirty="0"/>
          </a:p>
        </p:txBody>
      </p:sp>
      <p:pic>
        <p:nvPicPr>
          <p:cNvPr id="6" name="図 5">
            <a:extLst>
              <a:ext uri="{FF2B5EF4-FFF2-40B4-BE49-F238E27FC236}">
                <a16:creationId xmlns:a16="http://schemas.microsoft.com/office/drawing/2014/main" id="{567FC9A4-EB9F-4800-8E1C-367EC2580E41}"/>
              </a:ext>
            </a:extLst>
          </p:cNvPr>
          <p:cNvPicPr>
            <a:picLocks noChangeAspect="1"/>
          </p:cNvPicPr>
          <p:nvPr/>
        </p:nvPicPr>
        <p:blipFill>
          <a:blip r:embed="rId3"/>
          <a:stretch>
            <a:fillRect/>
          </a:stretch>
        </p:blipFill>
        <p:spPr>
          <a:xfrm>
            <a:off x="264524" y="1921465"/>
            <a:ext cx="8678308" cy="4005373"/>
          </a:xfrm>
          <a:prstGeom prst="rect">
            <a:avLst/>
          </a:prstGeom>
        </p:spPr>
      </p:pic>
    </p:spTree>
    <p:extLst>
      <p:ext uri="{BB962C8B-B14F-4D97-AF65-F5344CB8AC3E}">
        <p14:creationId xmlns:p14="http://schemas.microsoft.com/office/powerpoint/2010/main" val="3035835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２．システム概要</a:t>
            </a:r>
          </a:p>
        </p:txBody>
      </p:sp>
      <p:grpSp>
        <p:nvGrpSpPr>
          <p:cNvPr id="7" name="グループ化 6">
            <a:extLst>
              <a:ext uri="{FF2B5EF4-FFF2-40B4-BE49-F238E27FC236}">
                <a16:creationId xmlns:a16="http://schemas.microsoft.com/office/drawing/2014/main" id="{B5F99B0E-67C2-47E7-A18E-E17C811105ED}"/>
              </a:ext>
            </a:extLst>
          </p:cNvPr>
          <p:cNvGrpSpPr/>
          <p:nvPr/>
        </p:nvGrpSpPr>
        <p:grpSpPr>
          <a:xfrm>
            <a:off x="192024" y="1011886"/>
            <a:ext cx="929689" cy="750090"/>
            <a:chOff x="39303" y="1506069"/>
            <a:chExt cx="921445" cy="621602"/>
          </a:xfrm>
        </p:grpSpPr>
        <p:pic>
          <p:nvPicPr>
            <p:cNvPr id="22" name="図 21">
              <a:extLst>
                <a:ext uri="{FF2B5EF4-FFF2-40B4-BE49-F238E27FC236}">
                  <a16:creationId xmlns:a16="http://schemas.microsoft.com/office/drawing/2014/main" id="{D24E98CF-BE7B-43E6-A01E-DF9BB342A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23" name="正方形/長方形 22">
              <a:extLst>
                <a:ext uri="{FF2B5EF4-FFF2-40B4-BE49-F238E27FC236}">
                  <a16:creationId xmlns:a16="http://schemas.microsoft.com/office/drawing/2014/main" id="{4B7796B9-E473-42E3-9D3C-CC9F0B4EEC2A}"/>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8" name="テキスト ボックス 79">
            <a:extLst>
              <a:ext uri="{FF2B5EF4-FFF2-40B4-BE49-F238E27FC236}">
                <a16:creationId xmlns:a16="http://schemas.microsoft.com/office/drawing/2014/main" id="{6987A3DC-F18E-431C-9430-37CC8B48F0F9}"/>
              </a:ext>
            </a:extLst>
          </p:cNvPr>
          <p:cNvSpPr txBox="1"/>
          <p:nvPr/>
        </p:nvSpPr>
        <p:spPr>
          <a:xfrm>
            <a:off x="274017" y="1589560"/>
            <a:ext cx="898635" cy="322352"/>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fontAlgn="auto">
              <a:lnSpc>
                <a:spcPct val="85000"/>
              </a:lnSpc>
              <a:spcBef>
                <a:spcPts val="0"/>
              </a:spcBef>
              <a:spcAft>
                <a:spcPts val="0"/>
              </a:spcAft>
            </a:pPr>
            <a:r>
              <a:rPr lang="ja-JP" altLang="en-US" sz="1100" b="1" dirty="0">
                <a:solidFill>
                  <a:srgbClr val="002060"/>
                </a:solidFill>
                <a:latin typeface="Meiryo UI" panose="020B0604030504040204" pitchFamily="50" charset="-128"/>
                <a:ea typeface="Meiryo UI" panose="020B0604030504040204" pitchFamily="50" charset="-128"/>
                <a:cs typeface="Meiryo UI" panose="020B0604030504040204" pitchFamily="50" charset="-128"/>
              </a:rPr>
              <a:t>ユーザ操作</a:t>
            </a:r>
          </a:p>
        </p:txBody>
      </p:sp>
      <p:sp>
        <p:nvSpPr>
          <p:cNvPr id="39" name="Content Placeholder 2">
            <a:extLst>
              <a:ext uri="{FF2B5EF4-FFF2-40B4-BE49-F238E27FC236}">
                <a16:creationId xmlns:a16="http://schemas.microsoft.com/office/drawing/2014/main" id="{B35BFE2F-D626-4B53-AB91-6F827DE19693}"/>
              </a:ext>
            </a:extLst>
          </p:cNvPr>
          <p:cNvSpPr txBox="1">
            <a:spLocks/>
          </p:cNvSpPr>
          <p:nvPr/>
        </p:nvSpPr>
        <p:spPr>
          <a:xfrm>
            <a:off x="106532" y="612218"/>
            <a:ext cx="8750808" cy="416716"/>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カスタマイズ設定画面一覧：要求ステータス</a:t>
            </a:r>
            <a:endParaRPr lang="en-US" altLang="ja-JP" b="1" dirty="0"/>
          </a:p>
        </p:txBody>
      </p:sp>
      <p:sp>
        <p:nvSpPr>
          <p:cNvPr id="41" name="Content Placeholder 2">
            <a:extLst>
              <a:ext uri="{FF2B5EF4-FFF2-40B4-BE49-F238E27FC236}">
                <a16:creationId xmlns:a16="http://schemas.microsoft.com/office/drawing/2014/main" id="{3757D6D3-3F11-4607-B252-A069BF95FB60}"/>
              </a:ext>
            </a:extLst>
          </p:cNvPr>
          <p:cNvSpPr txBox="1">
            <a:spLocks/>
          </p:cNvSpPr>
          <p:nvPr/>
        </p:nvSpPr>
        <p:spPr>
          <a:xfrm>
            <a:off x="1208810" y="1054340"/>
            <a:ext cx="7135090" cy="857572"/>
          </a:xfrm>
          <a:prstGeom prst="rect">
            <a:avLst/>
          </a:prstGeom>
        </p:spPr>
        <p:txBody>
          <a:bodyPr vert="horz" lIns="45720" tIns="73152" rIns="45720" bIns="45720" rtlCol="0">
            <a:noAutofit/>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Font typeface="Arial" panose="020B0604020202020204" pitchFamily="34" charset="0"/>
              <a:buNone/>
            </a:pPr>
            <a:r>
              <a:rPr lang="ja-JP" altLang="en-US" b="1" dirty="0"/>
              <a:t>車両に送信したカスタマイズ関連の要求について、要求の返信のサーバでの受信状況を表示する。</a:t>
            </a:r>
            <a:endParaRPr lang="en-US" altLang="ja-JP" b="1" dirty="0"/>
          </a:p>
        </p:txBody>
      </p:sp>
      <p:pic>
        <p:nvPicPr>
          <p:cNvPr id="4" name="図 3">
            <a:extLst>
              <a:ext uri="{FF2B5EF4-FFF2-40B4-BE49-F238E27FC236}">
                <a16:creationId xmlns:a16="http://schemas.microsoft.com/office/drawing/2014/main" id="{2AEE2BE8-7EC5-47BE-A5DC-1B6AAFCD02F8}"/>
              </a:ext>
            </a:extLst>
          </p:cNvPr>
          <p:cNvPicPr>
            <a:picLocks noChangeAspect="1"/>
          </p:cNvPicPr>
          <p:nvPr/>
        </p:nvPicPr>
        <p:blipFill>
          <a:blip r:embed="rId4"/>
          <a:stretch>
            <a:fillRect/>
          </a:stretch>
        </p:blipFill>
        <p:spPr>
          <a:xfrm>
            <a:off x="1121713" y="1632639"/>
            <a:ext cx="7670208" cy="4735065"/>
          </a:xfrm>
          <a:prstGeom prst="rect">
            <a:avLst/>
          </a:prstGeom>
        </p:spPr>
      </p:pic>
      <p:pic>
        <p:nvPicPr>
          <p:cNvPr id="5" name="図 4">
            <a:extLst>
              <a:ext uri="{FF2B5EF4-FFF2-40B4-BE49-F238E27FC236}">
                <a16:creationId xmlns:a16="http://schemas.microsoft.com/office/drawing/2014/main" id="{3CA39544-2575-4367-9E5B-1BA21BCFDE0D}"/>
              </a:ext>
            </a:extLst>
          </p:cNvPr>
          <p:cNvPicPr>
            <a:picLocks noChangeAspect="1"/>
          </p:cNvPicPr>
          <p:nvPr/>
        </p:nvPicPr>
        <p:blipFill>
          <a:blip r:embed="rId5"/>
          <a:stretch>
            <a:fillRect/>
          </a:stretch>
        </p:blipFill>
        <p:spPr>
          <a:xfrm>
            <a:off x="3128644" y="1911912"/>
            <a:ext cx="4745355" cy="470535"/>
          </a:xfrm>
          <a:prstGeom prst="rect">
            <a:avLst/>
          </a:prstGeom>
        </p:spPr>
      </p:pic>
      <p:pic>
        <p:nvPicPr>
          <p:cNvPr id="9" name="図 8">
            <a:extLst>
              <a:ext uri="{FF2B5EF4-FFF2-40B4-BE49-F238E27FC236}">
                <a16:creationId xmlns:a16="http://schemas.microsoft.com/office/drawing/2014/main" id="{C14D4550-0467-4C3D-BBDC-3BB02F89E2C7}"/>
              </a:ext>
            </a:extLst>
          </p:cNvPr>
          <p:cNvPicPr>
            <a:picLocks noChangeAspect="1"/>
          </p:cNvPicPr>
          <p:nvPr/>
        </p:nvPicPr>
        <p:blipFill>
          <a:blip r:embed="rId6"/>
          <a:stretch>
            <a:fillRect/>
          </a:stretch>
        </p:blipFill>
        <p:spPr>
          <a:xfrm>
            <a:off x="3166946" y="1965524"/>
            <a:ext cx="3218817" cy="454722"/>
          </a:xfrm>
          <a:prstGeom prst="rect">
            <a:avLst/>
          </a:prstGeom>
        </p:spPr>
      </p:pic>
      <p:pic>
        <p:nvPicPr>
          <p:cNvPr id="14" name="図 13">
            <a:extLst>
              <a:ext uri="{FF2B5EF4-FFF2-40B4-BE49-F238E27FC236}">
                <a16:creationId xmlns:a16="http://schemas.microsoft.com/office/drawing/2014/main" id="{46E21698-E346-4A18-A3BD-9B7831C4EA9D}"/>
              </a:ext>
            </a:extLst>
          </p:cNvPr>
          <p:cNvPicPr>
            <a:picLocks noChangeAspect="1"/>
          </p:cNvPicPr>
          <p:nvPr/>
        </p:nvPicPr>
        <p:blipFill>
          <a:blip r:embed="rId5"/>
          <a:stretch>
            <a:fillRect/>
          </a:stretch>
        </p:blipFill>
        <p:spPr>
          <a:xfrm>
            <a:off x="1467484" y="2463325"/>
            <a:ext cx="6554803" cy="470535"/>
          </a:xfrm>
          <a:prstGeom prst="rect">
            <a:avLst/>
          </a:prstGeom>
        </p:spPr>
      </p:pic>
      <p:pic>
        <p:nvPicPr>
          <p:cNvPr id="11" name="図 10">
            <a:extLst>
              <a:ext uri="{FF2B5EF4-FFF2-40B4-BE49-F238E27FC236}">
                <a16:creationId xmlns:a16="http://schemas.microsoft.com/office/drawing/2014/main" id="{BAE82D12-2D0C-487D-BA5C-810C53999F33}"/>
              </a:ext>
            </a:extLst>
          </p:cNvPr>
          <p:cNvPicPr>
            <a:picLocks noChangeAspect="1"/>
          </p:cNvPicPr>
          <p:nvPr/>
        </p:nvPicPr>
        <p:blipFill>
          <a:blip r:embed="rId7"/>
          <a:stretch>
            <a:fillRect/>
          </a:stretch>
        </p:blipFill>
        <p:spPr>
          <a:xfrm>
            <a:off x="6385763" y="1954991"/>
            <a:ext cx="1469100" cy="454722"/>
          </a:xfrm>
          <a:prstGeom prst="rect">
            <a:avLst/>
          </a:prstGeom>
        </p:spPr>
      </p:pic>
      <p:pic>
        <p:nvPicPr>
          <p:cNvPr id="13" name="図 12">
            <a:extLst>
              <a:ext uri="{FF2B5EF4-FFF2-40B4-BE49-F238E27FC236}">
                <a16:creationId xmlns:a16="http://schemas.microsoft.com/office/drawing/2014/main" id="{85506CFD-D073-4419-B737-4FF637685585}"/>
              </a:ext>
            </a:extLst>
          </p:cNvPr>
          <p:cNvPicPr>
            <a:picLocks noChangeAspect="1"/>
          </p:cNvPicPr>
          <p:nvPr/>
        </p:nvPicPr>
        <p:blipFill>
          <a:blip r:embed="rId8"/>
          <a:stretch>
            <a:fillRect/>
          </a:stretch>
        </p:blipFill>
        <p:spPr>
          <a:xfrm>
            <a:off x="1554842" y="2409712"/>
            <a:ext cx="4961100" cy="576439"/>
          </a:xfrm>
          <a:prstGeom prst="rect">
            <a:avLst/>
          </a:prstGeom>
        </p:spPr>
      </p:pic>
      <p:pic>
        <p:nvPicPr>
          <p:cNvPr id="18" name="図 17">
            <a:extLst>
              <a:ext uri="{FF2B5EF4-FFF2-40B4-BE49-F238E27FC236}">
                <a16:creationId xmlns:a16="http://schemas.microsoft.com/office/drawing/2014/main" id="{C74DF275-EA4D-4F11-A7C1-656C1E989157}"/>
              </a:ext>
            </a:extLst>
          </p:cNvPr>
          <p:cNvPicPr>
            <a:picLocks noChangeAspect="1"/>
          </p:cNvPicPr>
          <p:nvPr/>
        </p:nvPicPr>
        <p:blipFill>
          <a:blip r:embed="rId9"/>
          <a:stretch>
            <a:fillRect/>
          </a:stretch>
        </p:blipFill>
        <p:spPr>
          <a:xfrm>
            <a:off x="1238928" y="4184541"/>
            <a:ext cx="7544790" cy="2263437"/>
          </a:xfrm>
          <a:prstGeom prst="rect">
            <a:avLst/>
          </a:prstGeom>
        </p:spPr>
      </p:pic>
    </p:spTree>
    <p:extLst>
      <p:ext uri="{BB962C8B-B14F-4D97-AF65-F5344CB8AC3E}">
        <p14:creationId xmlns:p14="http://schemas.microsoft.com/office/powerpoint/2010/main" val="1634957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zh-TW" altLang="en-US" dirty="0"/>
              <a:t>３．要求機能</a:t>
            </a:r>
            <a:endParaRPr lang="ja-JP" altLang="en-US" dirty="0"/>
          </a:p>
        </p:txBody>
      </p:sp>
      <p:sp>
        <p:nvSpPr>
          <p:cNvPr id="5" name="テキスト ボックス 4">
            <a:extLst>
              <a:ext uri="{FF2B5EF4-FFF2-40B4-BE49-F238E27FC236}">
                <a16:creationId xmlns:a16="http://schemas.microsoft.com/office/drawing/2014/main" id="{D2A1B8FC-24FC-4835-81D3-DD7FC803D3EF}"/>
              </a:ext>
            </a:extLst>
          </p:cNvPr>
          <p:cNvSpPr txBox="1"/>
          <p:nvPr/>
        </p:nvSpPr>
        <p:spPr>
          <a:xfrm>
            <a:off x="192024" y="726929"/>
            <a:ext cx="1080000" cy="360000"/>
          </a:xfrm>
          <a:prstGeom prst="rect">
            <a:avLst/>
          </a:prstGeom>
          <a:solidFill>
            <a:srgbClr val="140A9A"/>
          </a:solidFill>
        </p:spPr>
        <p:txBody>
          <a:bodyPr wrap="none" rtlCol="0" anchor="ctr">
            <a:noAutofit/>
          </a:bodyPr>
          <a:lstStyle/>
          <a:p>
            <a:pPr algn="ctr"/>
            <a:r>
              <a:rPr lang="en-US" altLang="ja-JP" sz="1400" dirty="0">
                <a:solidFill>
                  <a:schemeClr val="bg1"/>
                </a:solidFill>
              </a:rPr>
              <a:t>API</a:t>
            </a:r>
            <a:endParaRPr kumimoji="1" lang="ja-JP" altLang="en-US" sz="1400" dirty="0">
              <a:solidFill>
                <a:schemeClr val="bg1"/>
              </a:solidFill>
            </a:endParaRPr>
          </a:p>
        </p:txBody>
      </p:sp>
      <p:graphicFrame>
        <p:nvGraphicFramePr>
          <p:cNvPr id="6" name="表 5">
            <a:extLst>
              <a:ext uri="{FF2B5EF4-FFF2-40B4-BE49-F238E27FC236}">
                <a16:creationId xmlns:a16="http://schemas.microsoft.com/office/drawing/2014/main" id="{757E1B28-93C5-41FC-8DB6-BB932A4691D5}"/>
              </a:ext>
            </a:extLst>
          </p:cNvPr>
          <p:cNvGraphicFramePr>
            <a:graphicFrameLocks noGrp="1"/>
          </p:cNvGraphicFramePr>
          <p:nvPr/>
        </p:nvGraphicFramePr>
        <p:xfrm>
          <a:off x="192024" y="1291856"/>
          <a:ext cx="8712968" cy="5116013"/>
        </p:xfrm>
        <a:graphic>
          <a:graphicData uri="http://schemas.openxmlformats.org/drawingml/2006/table">
            <a:tbl>
              <a:tblPr/>
              <a:tblGrid>
                <a:gridCol w="762133">
                  <a:extLst>
                    <a:ext uri="{9D8B030D-6E8A-4147-A177-3AD203B41FA5}">
                      <a16:colId xmlns:a16="http://schemas.microsoft.com/office/drawing/2014/main" val="3631664726"/>
                    </a:ext>
                  </a:extLst>
                </a:gridCol>
                <a:gridCol w="1611490">
                  <a:extLst>
                    <a:ext uri="{9D8B030D-6E8A-4147-A177-3AD203B41FA5}">
                      <a16:colId xmlns:a16="http://schemas.microsoft.com/office/drawing/2014/main" val="236210975"/>
                    </a:ext>
                  </a:extLst>
                </a:gridCol>
                <a:gridCol w="1736747">
                  <a:extLst>
                    <a:ext uri="{9D8B030D-6E8A-4147-A177-3AD203B41FA5}">
                      <a16:colId xmlns:a16="http://schemas.microsoft.com/office/drawing/2014/main" val="2691306481"/>
                    </a:ext>
                  </a:extLst>
                </a:gridCol>
                <a:gridCol w="4602598">
                  <a:extLst>
                    <a:ext uri="{9D8B030D-6E8A-4147-A177-3AD203B41FA5}">
                      <a16:colId xmlns:a16="http://schemas.microsoft.com/office/drawing/2014/main" val="4203738492"/>
                    </a:ext>
                  </a:extLst>
                </a:gridCol>
              </a:tblGrid>
              <a:tr h="269693">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No</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分類</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en-US" sz="1200" b="0" i="0" u="none" strike="noStrike">
                          <a:solidFill>
                            <a:srgbClr val="FFFFFF"/>
                          </a:solidFill>
                          <a:effectLst/>
                          <a:latin typeface="Meiryo UI" panose="020B0604030504040204" pitchFamily="50" charset="-128"/>
                          <a:ea typeface="Meiryo UI" panose="020B0604030504040204" pitchFamily="50" charset="-128"/>
                        </a:rPr>
                        <a:t>API</a:t>
                      </a:r>
                      <a:r>
                        <a:rPr lang="ja-JP" altLang="en-US" sz="1200" b="0" i="0" u="none" strike="noStrike">
                          <a:solidFill>
                            <a:srgbClr val="FFFFFF"/>
                          </a:solidFill>
                          <a:effectLst/>
                          <a:latin typeface="Meiryo UI" panose="020B0604030504040204" pitchFamily="50" charset="-128"/>
                          <a:ea typeface="Meiryo UI" panose="020B0604030504040204" pitchFamily="50" charset="-128"/>
                        </a:rPr>
                        <a:t>名</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extLst>
                  <a:ext uri="{0D108BD9-81ED-4DB2-BD59-A6C34878D82A}">
                    <a16:rowId xmlns:a16="http://schemas.microsoft.com/office/drawing/2014/main" val="1003022479"/>
                  </a:ext>
                </a:extLst>
              </a:tr>
              <a:tr h="542122">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a:t>
                      </a:r>
                    </a:p>
                    <a:p>
                      <a:pPr algn="l" fontAlgn="ct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共通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t>API</a:t>
                      </a:r>
                      <a:r>
                        <a:rPr lang="ja-JP" altLang="en-US" sz="1200" b="0" dirty="0"/>
                        <a:t>共通機能</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en-US" altLang="ja-JP" sz="1200" dirty="0"/>
                        <a:t>API</a:t>
                      </a:r>
                      <a:r>
                        <a:rPr kumimoji="1" lang="ja-JP" altLang="en-US" sz="1200" dirty="0"/>
                        <a:t>のコール数、サーバ使用状況をシステム管理者がモニタリングする。</a:t>
                      </a:r>
                      <a:endParaRPr kumimoji="1" lang="en-US" altLang="ja-JP" sz="1200" dirty="0"/>
                    </a:p>
                    <a:p>
                      <a:pPr marL="228600" indent="-228600">
                        <a:buFont typeface="+mj-lt"/>
                        <a:buAutoNum type="arabicPeriod"/>
                      </a:pPr>
                      <a:r>
                        <a:rPr kumimoji="1" lang="en-US" altLang="ja-JP" sz="1200" dirty="0"/>
                        <a:t>API</a:t>
                      </a:r>
                      <a:r>
                        <a:rPr kumimoji="1" lang="ja-JP" altLang="en-US" sz="1200" dirty="0"/>
                        <a:t>サーバに異常があった際はシステム管理者に</a:t>
                      </a:r>
                      <a:r>
                        <a:rPr kumimoji="1" lang="en-US" altLang="ja-JP" sz="1200" dirty="0"/>
                        <a:t>Email</a:t>
                      </a:r>
                      <a:r>
                        <a:rPr kumimoji="1" lang="ja-JP" altLang="en-US" sz="1200" dirty="0"/>
                        <a:t>で通知する。</a:t>
                      </a:r>
                    </a:p>
                    <a:p>
                      <a:pPr marL="228600" indent="-228600">
                        <a:buFont typeface="+mj-lt"/>
                        <a:buAutoNum type="arabicPeriod"/>
                      </a:pPr>
                      <a:endParaRPr kumimoji="1" lang="ja-JP" alt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365421"/>
                  </a:ext>
                </a:extLst>
              </a:tr>
              <a:tr h="835769">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カスタマイズ設定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dirty="0"/>
                        <a:t>カスタマイズ設定要求</a:t>
                      </a:r>
                      <a:r>
                        <a:rPr lang="en-US" altLang="ja-JP" sz="1200" b="0" dirty="0"/>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en-US" altLang="ja-JP" sz="1200" dirty="0"/>
                        <a:t>API</a:t>
                      </a:r>
                      <a:r>
                        <a:rPr kumimoji="1" lang="ja-JP" altLang="en-US" sz="1200" dirty="0"/>
                        <a:t>のリクエストパラメータで指定された車両に対して、指定されたカスタマイズ用途定義、優先度などのカスタマイズ設定要求をサーバのリクエストキューに追加し、リクエストキーを</a:t>
                      </a:r>
                      <a:r>
                        <a:rPr kumimoji="1" lang="en-US" altLang="ja-JP" sz="1200" dirty="0"/>
                        <a:t>Json</a:t>
                      </a:r>
                      <a:r>
                        <a:rPr kumimoji="1" lang="ja-JP" altLang="en-US" sz="1200" dirty="0"/>
                        <a:t>形式で返却する。</a:t>
                      </a:r>
                      <a:endParaRPr kumimoji="1" lang="en-US" altLang="ja-JP" sz="1200" dirty="0"/>
                    </a:p>
                    <a:p>
                      <a:pPr marL="228600" indent="-228600">
                        <a:buFont typeface="+mj-lt"/>
                        <a:buAutoNum type="arabicPeriod"/>
                      </a:pPr>
                      <a:r>
                        <a:rPr kumimoji="1" lang="ja-JP" altLang="en-US" sz="1200" dirty="0"/>
                        <a:t>各ユーザに対して権限のある車両</a:t>
                      </a:r>
                      <a:r>
                        <a:rPr kumimoji="1" lang="en-US" altLang="ja-JP" sz="1200" dirty="0"/>
                        <a:t>, </a:t>
                      </a:r>
                      <a:r>
                        <a:rPr kumimoji="1" lang="ja-JP" altLang="en-US" sz="1200" dirty="0"/>
                        <a:t>カスタマイズ用途定義以外が指定された場合にはエラーとする。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654255"/>
                  </a:ext>
                </a:extLst>
              </a:tr>
              <a:tr h="791034">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p>
                      <a:pPr algn="l" fontAlgn="ct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カスタマイズデータ送信要求（期間指定）</a:t>
                      </a:r>
                      <a:r>
                        <a:rPr lang="en-US" altLang="ja-JP" sz="1200" b="0" dirty="0"/>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en-US" altLang="ja-JP" sz="1200" dirty="0"/>
                        <a:t>API</a:t>
                      </a:r>
                      <a:r>
                        <a:rPr kumimoji="1" lang="ja-JP" altLang="en-US" sz="1200" dirty="0"/>
                        <a:t>のリクエストパラメータで指定された条件に合致する車両</a:t>
                      </a:r>
                      <a:r>
                        <a:rPr kumimoji="1" lang="en-US" altLang="ja-JP" sz="1200" dirty="0"/>
                        <a:t>, </a:t>
                      </a:r>
                      <a:r>
                        <a:rPr kumimoji="1" lang="ja-JP" altLang="en-US" sz="1200" dirty="0"/>
                        <a:t>カスタマイズデータについて、指定された期間でのデータ送信要求をサーバのリクエストキューに追加し、リクエストキーを</a:t>
                      </a:r>
                      <a:r>
                        <a:rPr kumimoji="1" lang="en-US" altLang="ja-JP" sz="1200" dirty="0"/>
                        <a:t>Json</a:t>
                      </a:r>
                      <a:r>
                        <a:rPr kumimoji="1" lang="ja-JP" altLang="en-US" sz="1200" dirty="0"/>
                        <a:t>形式で返却する。</a:t>
                      </a:r>
                      <a:endParaRPr kumimoji="1" lang="en-US" altLang="ja-JP" sz="1200" dirty="0"/>
                    </a:p>
                    <a:p>
                      <a:pPr marL="228600" indent="-228600">
                        <a:buFont typeface="+mj-lt"/>
                        <a:buAutoNum type="arabicPeriod"/>
                      </a:pPr>
                      <a:r>
                        <a:rPr kumimoji="1" lang="ja-JP" altLang="en-US" sz="1200" dirty="0"/>
                        <a:t>各ユーザに対して権限のある車両</a:t>
                      </a:r>
                      <a:r>
                        <a:rPr kumimoji="1" lang="en-US" altLang="ja-JP" sz="1200" dirty="0"/>
                        <a:t>, </a:t>
                      </a:r>
                      <a:r>
                        <a:rPr kumimoji="1" lang="ja-JP" altLang="en-US" sz="1200" dirty="0"/>
                        <a:t>カスタマイズ</a:t>
                      </a:r>
                      <a:r>
                        <a:rPr kumimoji="1" lang="en-US" altLang="ja-JP" sz="1200" dirty="0"/>
                        <a:t>(</a:t>
                      </a:r>
                      <a:r>
                        <a:rPr kumimoji="1" lang="ja-JP" altLang="en-US" sz="1200" dirty="0"/>
                        <a:t>用途</a:t>
                      </a:r>
                      <a:r>
                        <a:rPr kumimoji="1" lang="en-US" altLang="ja-JP" sz="1200" dirty="0"/>
                        <a:t>)</a:t>
                      </a:r>
                      <a:r>
                        <a:rPr kumimoji="1" lang="ja-JP" altLang="en-US" sz="1200" dirty="0"/>
                        <a:t>定義以外が指定された場合にはエラーとする。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609533"/>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2-2</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カスタマイズデータ送信要求（送信番号指定）</a:t>
                      </a:r>
                      <a:r>
                        <a:rPr lang="en-US" altLang="ja-JP" sz="1200" b="0" dirty="0"/>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en-US" altLang="ja-JP" sz="1200" dirty="0"/>
                        <a:t>API</a:t>
                      </a:r>
                      <a:r>
                        <a:rPr kumimoji="1" lang="ja-JP" altLang="en-US" sz="1200" dirty="0"/>
                        <a:t>のリクエストパラメータで指定された条件に合致する車両</a:t>
                      </a:r>
                      <a:r>
                        <a:rPr kumimoji="1" lang="en-US" altLang="ja-JP" sz="1200" dirty="0"/>
                        <a:t>, </a:t>
                      </a:r>
                      <a:r>
                        <a:rPr kumimoji="1" lang="ja-JP" altLang="en-US" sz="1200" dirty="0"/>
                        <a:t>カスタマイズデータについて、指定された送信番号でのデータ送信要求をサーバのリクエストキューに追加し</a:t>
                      </a:r>
                      <a:r>
                        <a:rPr kumimoji="1" lang="en-US" altLang="ja-JP" sz="1200" dirty="0"/>
                        <a:t>(</a:t>
                      </a:r>
                      <a:r>
                        <a:rPr kumimoji="1" lang="ja-JP" altLang="en-US" sz="1200" dirty="0"/>
                        <a:t>指定された送信番号数の分追加する</a:t>
                      </a:r>
                      <a:r>
                        <a:rPr kumimoji="1" lang="en-US" altLang="ja-JP" sz="1200" dirty="0"/>
                        <a:t>)</a:t>
                      </a:r>
                      <a:r>
                        <a:rPr kumimoji="1" lang="ja-JP" altLang="en-US" sz="1200" dirty="0"/>
                        <a:t>、リクエストキーを</a:t>
                      </a:r>
                      <a:r>
                        <a:rPr kumimoji="1" lang="en-US" altLang="ja-JP" sz="1200" dirty="0"/>
                        <a:t>Json</a:t>
                      </a:r>
                      <a:r>
                        <a:rPr kumimoji="1" lang="ja-JP" altLang="en-US" sz="1200" dirty="0"/>
                        <a:t>形式で返却する。</a:t>
                      </a:r>
                      <a:endParaRPr kumimoji="1" lang="en-US" altLang="ja-JP" sz="1200" dirty="0"/>
                    </a:p>
                    <a:p>
                      <a:pPr marL="228600" indent="-228600">
                        <a:buFont typeface="+mj-lt"/>
                        <a:buAutoNum type="arabicPeriod"/>
                      </a:pPr>
                      <a:r>
                        <a:rPr kumimoji="1" lang="ja-JP" altLang="en-US" sz="1200" dirty="0"/>
                        <a:t>各ユーザに対して権限のある車両</a:t>
                      </a:r>
                      <a:r>
                        <a:rPr kumimoji="1" lang="en-US" altLang="ja-JP" sz="1200" dirty="0"/>
                        <a:t>, </a:t>
                      </a:r>
                      <a:r>
                        <a:rPr kumimoji="1" lang="ja-JP" altLang="en-US" sz="1200" dirty="0"/>
                        <a:t>カスタマイズ</a:t>
                      </a:r>
                      <a:r>
                        <a:rPr kumimoji="1" lang="en-US" altLang="ja-JP" sz="1200" dirty="0"/>
                        <a:t>(</a:t>
                      </a:r>
                      <a:r>
                        <a:rPr kumimoji="1" lang="ja-JP" altLang="en-US" sz="1200" dirty="0"/>
                        <a:t>用途</a:t>
                      </a:r>
                      <a:r>
                        <a:rPr kumimoji="1" lang="en-US" altLang="ja-JP" sz="1200" dirty="0"/>
                        <a:t>)</a:t>
                      </a:r>
                      <a:r>
                        <a:rPr kumimoji="1" lang="ja-JP" altLang="en-US" sz="1200" dirty="0"/>
                        <a:t>定義以外が指定された場合にはエラーとする。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91610"/>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2-3</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送信番号一覧送信要求</a:t>
                      </a:r>
                      <a:r>
                        <a:rPr lang="en-US" altLang="ja-JP" sz="1200" b="0" dirty="0"/>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en-US" altLang="ja-JP" sz="1200" dirty="0"/>
                        <a:t>API</a:t>
                      </a:r>
                      <a:r>
                        <a:rPr kumimoji="1" lang="ja-JP" altLang="en-US" sz="1200" dirty="0"/>
                        <a:t>のリクエストパラメータで指定された条件に合致する車両</a:t>
                      </a:r>
                      <a:r>
                        <a:rPr kumimoji="1" lang="en-US" altLang="ja-JP" sz="1200" dirty="0"/>
                        <a:t>, </a:t>
                      </a:r>
                      <a:r>
                        <a:rPr kumimoji="1" lang="ja-JP" altLang="en-US" sz="1200" dirty="0"/>
                        <a:t>カスタマイズデータについて、送信番号の送信要求をサーバのリクエストキューに追加し、リクエストキーを</a:t>
                      </a:r>
                      <a:r>
                        <a:rPr kumimoji="1" lang="en-US" altLang="ja-JP" sz="1200" dirty="0"/>
                        <a:t>Json</a:t>
                      </a:r>
                      <a:r>
                        <a:rPr kumimoji="1" lang="ja-JP" altLang="en-US" sz="1200" dirty="0"/>
                        <a:t>形式で返却する。</a:t>
                      </a:r>
                      <a:endParaRPr kumimoji="1" lang="en-US" altLang="ja-JP" sz="1200" dirty="0"/>
                    </a:p>
                    <a:p>
                      <a:pPr marL="228600" indent="-228600">
                        <a:buFont typeface="+mj-lt"/>
                        <a:buAutoNum type="arabicPeriod"/>
                      </a:pPr>
                      <a:r>
                        <a:rPr kumimoji="1" lang="ja-JP" altLang="en-US" sz="1200" dirty="0"/>
                        <a:t>各ユーザに対して権限のある車両</a:t>
                      </a:r>
                      <a:r>
                        <a:rPr kumimoji="1" lang="en-US" altLang="ja-JP" sz="1200" dirty="0"/>
                        <a:t>, </a:t>
                      </a:r>
                      <a:r>
                        <a:rPr kumimoji="1" lang="ja-JP" altLang="en-US" sz="1200" dirty="0"/>
                        <a:t>カスタマイズ</a:t>
                      </a:r>
                      <a:r>
                        <a:rPr kumimoji="1" lang="en-US" altLang="ja-JP" sz="1200" dirty="0"/>
                        <a:t>(</a:t>
                      </a:r>
                      <a:r>
                        <a:rPr kumimoji="1" lang="ja-JP" altLang="en-US" sz="1200" dirty="0"/>
                        <a:t>用途</a:t>
                      </a:r>
                      <a:r>
                        <a:rPr kumimoji="1" lang="en-US" altLang="ja-JP" sz="1200" dirty="0"/>
                        <a:t>)</a:t>
                      </a:r>
                      <a:r>
                        <a:rPr kumimoji="1" lang="ja-JP" altLang="en-US" sz="1200" dirty="0"/>
                        <a:t>定義以外が指定された場合にはエラーとする。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0512114"/>
                  </a:ext>
                </a:extLst>
              </a:tr>
            </a:tbl>
          </a:graphicData>
        </a:graphic>
      </p:graphicFrame>
    </p:spTree>
    <p:extLst>
      <p:ext uri="{BB962C8B-B14F-4D97-AF65-F5344CB8AC3E}">
        <p14:creationId xmlns:p14="http://schemas.microsoft.com/office/powerpoint/2010/main" val="513056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zh-TW" altLang="en-US" dirty="0"/>
              <a:t>３．要求機能</a:t>
            </a:r>
            <a:endParaRPr lang="ja-JP" altLang="en-US" dirty="0"/>
          </a:p>
        </p:txBody>
      </p:sp>
      <p:sp>
        <p:nvSpPr>
          <p:cNvPr id="5" name="テキスト ボックス 4">
            <a:extLst>
              <a:ext uri="{FF2B5EF4-FFF2-40B4-BE49-F238E27FC236}">
                <a16:creationId xmlns:a16="http://schemas.microsoft.com/office/drawing/2014/main" id="{D2A1B8FC-24FC-4835-81D3-DD7FC803D3EF}"/>
              </a:ext>
            </a:extLst>
          </p:cNvPr>
          <p:cNvSpPr txBox="1"/>
          <p:nvPr/>
        </p:nvSpPr>
        <p:spPr>
          <a:xfrm>
            <a:off x="192024" y="726929"/>
            <a:ext cx="1080000" cy="360000"/>
          </a:xfrm>
          <a:prstGeom prst="rect">
            <a:avLst/>
          </a:prstGeom>
          <a:solidFill>
            <a:srgbClr val="140A9A"/>
          </a:solidFill>
        </p:spPr>
        <p:txBody>
          <a:bodyPr wrap="none" rtlCol="0" anchor="ctr">
            <a:noAutofit/>
          </a:bodyPr>
          <a:lstStyle/>
          <a:p>
            <a:pPr algn="ctr"/>
            <a:r>
              <a:rPr lang="en-US" altLang="ja-JP" sz="1400" dirty="0">
                <a:solidFill>
                  <a:schemeClr val="bg1"/>
                </a:solidFill>
              </a:rPr>
              <a:t>API</a:t>
            </a:r>
            <a:endParaRPr kumimoji="1" lang="ja-JP" altLang="en-US" sz="1400" dirty="0">
              <a:solidFill>
                <a:schemeClr val="bg1"/>
              </a:solidFill>
            </a:endParaRPr>
          </a:p>
        </p:txBody>
      </p:sp>
      <p:graphicFrame>
        <p:nvGraphicFramePr>
          <p:cNvPr id="6" name="表 5">
            <a:extLst>
              <a:ext uri="{FF2B5EF4-FFF2-40B4-BE49-F238E27FC236}">
                <a16:creationId xmlns:a16="http://schemas.microsoft.com/office/drawing/2014/main" id="{757E1B28-93C5-41FC-8DB6-BB932A4691D5}"/>
              </a:ext>
            </a:extLst>
          </p:cNvPr>
          <p:cNvGraphicFramePr>
            <a:graphicFrameLocks noGrp="1"/>
          </p:cNvGraphicFramePr>
          <p:nvPr>
            <p:extLst>
              <p:ext uri="{D42A27DB-BD31-4B8C-83A1-F6EECF244321}">
                <p14:modId xmlns:p14="http://schemas.microsoft.com/office/powerpoint/2010/main" val="532792316"/>
              </p:ext>
            </p:extLst>
          </p:nvPr>
        </p:nvGraphicFramePr>
        <p:xfrm>
          <a:off x="192024" y="1291856"/>
          <a:ext cx="8712968" cy="3217391"/>
        </p:xfrm>
        <a:graphic>
          <a:graphicData uri="http://schemas.openxmlformats.org/drawingml/2006/table">
            <a:tbl>
              <a:tblPr/>
              <a:tblGrid>
                <a:gridCol w="762133">
                  <a:extLst>
                    <a:ext uri="{9D8B030D-6E8A-4147-A177-3AD203B41FA5}">
                      <a16:colId xmlns:a16="http://schemas.microsoft.com/office/drawing/2014/main" val="3631664726"/>
                    </a:ext>
                  </a:extLst>
                </a:gridCol>
                <a:gridCol w="1611490">
                  <a:extLst>
                    <a:ext uri="{9D8B030D-6E8A-4147-A177-3AD203B41FA5}">
                      <a16:colId xmlns:a16="http://schemas.microsoft.com/office/drawing/2014/main" val="236210975"/>
                    </a:ext>
                  </a:extLst>
                </a:gridCol>
                <a:gridCol w="1736747">
                  <a:extLst>
                    <a:ext uri="{9D8B030D-6E8A-4147-A177-3AD203B41FA5}">
                      <a16:colId xmlns:a16="http://schemas.microsoft.com/office/drawing/2014/main" val="2691306481"/>
                    </a:ext>
                  </a:extLst>
                </a:gridCol>
                <a:gridCol w="4602598">
                  <a:extLst>
                    <a:ext uri="{9D8B030D-6E8A-4147-A177-3AD203B41FA5}">
                      <a16:colId xmlns:a16="http://schemas.microsoft.com/office/drawing/2014/main" val="4203738492"/>
                    </a:ext>
                  </a:extLst>
                </a:gridCol>
              </a:tblGrid>
              <a:tr h="269693">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No</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分類</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API</a:t>
                      </a: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名</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extLst>
                  <a:ext uri="{0D108BD9-81ED-4DB2-BD59-A6C34878D82A}">
                    <a16:rowId xmlns:a16="http://schemas.microsoft.com/office/drawing/2014/main" val="1003022479"/>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2-4</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現在カスタマイズデータ送信要求</a:t>
                      </a:r>
                      <a:r>
                        <a:rPr lang="en-US" altLang="ja-JP" sz="1200" b="0" dirty="0"/>
                        <a:t>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en-US" altLang="ja-JP" sz="1200" dirty="0"/>
                        <a:t>API</a:t>
                      </a:r>
                      <a:r>
                        <a:rPr kumimoji="1" lang="ja-JP" altLang="en-US" sz="1200" dirty="0"/>
                        <a:t>のリクエストパラメータで指定された条件に合致する車両</a:t>
                      </a:r>
                      <a:r>
                        <a:rPr kumimoji="1" lang="en-US" altLang="ja-JP" sz="1200" dirty="0"/>
                        <a:t>, </a:t>
                      </a:r>
                      <a:r>
                        <a:rPr kumimoji="1" lang="ja-JP" altLang="en-US" sz="1200" dirty="0"/>
                        <a:t>カスタマイズデータについて、現在カスタマイズの送信要求をサーバのリクエストキューに追加し、リクエストキーを</a:t>
                      </a:r>
                      <a:r>
                        <a:rPr kumimoji="1" lang="en-US" altLang="ja-JP" sz="1200" dirty="0"/>
                        <a:t>Json</a:t>
                      </a:r>
                      <a:r>
                        <a:rPr kumimoji="1" lang="ja-JP" altLang="en-US" sz="1200" dirty="0"/>
                        <a:t>形式で返却する。</a:t>
                      </a:r>
                      <a:endParaRPr kumimoji="1" lang="en-US" altLang="ja-JP" sz="1200" dirty="0"/>
                    </a:p>
                    <a:p>
                      <a:pPr marL="228600" indent="-228600">
                        <a:buFont typeface="+mj-lt"/>
                        <a:buAutoNum type="arabicPeriod"/>
                      </a:pPr>
                      <a:r>
                        <a:rPr kumimoji="1" lang="en-US" altLang="ja-JP" sz="1200" dirty="0"/>
                        <a:t>API</a:t>
                      </a:r>
                      <a:r>
                        <a:rPr kumimoji="1" lang="ja-JP" altLang="en-US" sz="1200" dirty="0"/>
                        <a:t>のリクエストパラメータで指定された条件に合致する車両</a:t>
                      </a:r>
                      <a:r>
                        <a:rPr kumimoji="1" lang="en-US" altLang="ja-JP" sz="1200" dirty="0"/>
                        <a:t>, </a:t>
                      </a:r>
                      <a:r>
                        <a:rPr kumimoji="1" lang="ja-JP" altLang="en-US" sz="1200" dirty="0"/>
                        <a:t>カスタマイズデータの送信番号の送信要求をサーバのリクエストキューに追加する。</a:t>
                      </a:r>
                      <a:endParaRPr kumimoji="1" lang="en-US" altLang="ja-JP" sz="1200" dirty="0"/>
                    </a:p>
                    <a:p>
                      <a:pPr marL="228600" indent="-228600">
                        <a:buFont typeface="+mj-lt"/>
                        <a:buAutoNum type="arabicPeriod"/>
                      </a:pPr>
                      <a:r>
                        <a:rPr kumimoji="1" lang="ja-JP" altLang="en-US" sz="1200" dirty="0"/>
                        <a:t>各ユーザに対して権限のある車両</a:t>
                      </a:r>
                      <a:r>
                        <a:rPr kumimoji="1" lang="en-US" altLang="ja-JP" sz="1200" dirty="0"/>
                        <a:t>, </a:t>
                      </a:r>
                      <a:r>
                        <a:rPr kumimoji="1" lang="ja-JP" altLang="en-US" sz="1200" dirty="0"/>
                        <a:t>カスタマイズ</a:t>
                      </a:r>
                      <a:r>
                        <a:rPr kumimoji="1" lang="en-US" altLang="ja-JP" sz="1200" dirty="0"/>
                        <a:t>(</a:t>
                      </a:r>
                      <a:r>
                        <a:rPr kumimoji="1" lang="ja-JP" altLang="en-US" sz="1200" dirty="0"/>
                        <a:t>用途</a:t>
                      </a:r>
                      <a:r>
                        <a:rPr kumimoji="1" lang="en-US" altLang="ja-JP" sz="1200" dirty="0"/>
                        <a:t>)</a:t>
                      </a:r>
                      <a:r>
                        <a:rPr kumimoji="1" lang="ja-JP" altLang="en-US" sz="1200" dirty="0"/>
                        <a:t>定義以外が指定された場合にはエラーとする。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654255"/>
                  </a:ext>
                </a:extLst>
              </a:tr>
              <a:tr h="791034">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2-5</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p>
                      <a:pPr algn="l" fontAlgn="ct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送信番号一覧取得</a:t>
                      </a:r>
                      <a:r>
                        <a:rPr lang="en-US" altLang="ja-JP" sz="1200" b="0" dirty="0"/>
                        <a:t>API</a:t>
                      </a:r>
                      <a:endParaRPr lang="ja-JP"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データベース</a:t>
                      </a:r>
                      <a:r>
                        <a:rPr kumimoji="1" lang="en-US" altLang="ja-JP" sz="1200" dirty="0"/>
                        <a:t>(PostgreSQL)</a:t>
                      </a:r>
                      <a:r>
                        <a:rPr kumimoji="1" lang="ja-JP" altLang="en-US" sz="1200" dirty="0"/>
                        <a:t>から</a:t>
                      </a:r>
                      <a:r>
                        <a:rPr kumimoji="1" lang="en-US" altLang="ja-JP" sz="1200" dirty="0"/>
                        <a:t>API</a:t>
                      </a:r>
                      <a:r>
                        <a:rPr kumimoji="1" lang="ja-JP" altLang="en-US" sz="1200" dirty="0"/>
                        <a:t>のリクエストパラメータで指定された条件に合致する車両、カスタマイズデータについて、車両やカスタマイズ用途定義、送信番号などの情報を</a:t>
                      </a:r>
                      <a:r>
                        <a:rPr kumimoji="1" lang="en-US" altLang="ja-JP" sz="1200" dirty="0"/>
                        <a:t>Json</a:t>
                      </a:r>
                      <a:r>
                        <a:rPr kumimoji="1" lang="ja-JP" altLang="en-US" sz="1200" dirty="0"/>
                        <a:t>形式で返却する。</a:t>
                      </a:r>
                      <a:endParaRPr kumimoji="1" lang="en-US" altLang="ja-JP" sz="1200" dirty="0"/>
                    </a:p>
                    <a:p>
                      <a:pPr marL="228600" indent="-228600">
                        <a:buFont typeface="+mj-lt"/>
                        <a:buAutoNum type="arabicPeriod"/>
                      </a:pPr>
                      <a:r>
                        <a:rPr kumimoji="1" lang="ja-JP" altLang="en-US" sz="1200" dirty="0"/>
                        <a:t>各ユーザに対して権限のある車両</a:t>
                      </a:r>
                      <a:r>
                        <a:rPr kumimoji="1" lang="en-US" altLang="ja-JP" sz="1200" dirty="0"/>
                        <a:t>, </a:t>
                      </a:r>
                      <a:r>
                        <a:rPr kumimoji="1" lang="ja-JP" altLang="en-US" sz="1200" dirty="0"/>
                        <a:t>カスタマイズ</a:t>
                      </a:r>
                      <a:r>
                        <a:rPr kumimoji="1" lang="en-US" altLang="ja-JP" sz="1200" dirty="0"/>
                        <a:t>(</a:t>
                      </a:r>
                      <a:r>
                        <a:rPr kumimoji="1" lang="ja-JP" altLang="en-US" sz="1200" dirty="0"/>
                        <a:t>用途</a:t>
                      </a:r>
                      <a:r>
                        <a:rPr kumimoji="1" lang="en-US" altLang="ja-JP" sz="1200" dirty="0"/>
                        <a:t>)</a:t>
                      </a:r>
                      <a:r>
                        <a:rPr kumimoji="1" lang="ja-JP" altLang="en-US" sz="1200" dirty="0"/>
                        <a:t>定義以外が指定された場合にはエラーとする。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609533"/>
                  </a:ext>
                </a:extLst>
              </a:tr>
              <a:tr h="570258">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3-1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その他</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ja-JP" sz="1200" b="0" dirty="0"/>
                        <a:t>-</a:t>
                      </a:r>
                      <a:endParaRPr lang="ja-JP" alt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基本設計の中で</a:t>
                      </a:r>
                      <a:r>
                        <a:rPr kumimoji="1" lang="en-US" altLang="ja-JP" sz="1200" dirty="0"/>
                        <a:t>API</a:t>
                      </a:r>
                      <a:r>
                        <a:rPr kumimoji="1" lang="ja-JP" altLang="en-US" sz="1200" dirty="0"/>
                        <a:t>の追加や分割が必要となった場合には合わせて開発対象とする。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6547445"/>
                  </a:ext>
                </a:extLst>
              </a:tr>
            </a:tbl>
          </a:graphicData>
        </a:graphic>
      </p:graphicFrame>
    </p:spTree>
    <p:extLst>
      <p:ext uri="{BB962C8B-B14F-4D97-AF65-F5344CB8AC3E}">
        <p14:creationId xmlns:p14="http://schemas.microsoft.com/office/powerpoint/2010/main" val="2873943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zh-TW" altLang="en-US" dirty="0"/>
              <a:t>３．要求機能</a:t>
            </a:r>
            <a:endParaRPr lang="ja-JP" altLang="en-US" dirty="0"/>
          </a:p>
        </p:txBody>
      </p:sp>
      <p:sp>
        <p:nvSpPr>
          <p:cNvPr id="7" name="テキスト ボックス 6">
            <a:extLst>
              <a:ext uri="{FF2B5EF4-FFF2-40B4-BE49-F238E27FC236}">
                <a16:creationId xmlns:a16="http://schemas.microsoft.com/office/drawing/2014/main" id="{E5FF7754-74B9-4864-BAEE-E10FAFF33679}"/>
              </a:ext>
            </a:extLst>
          </p:cNvPr>
          <p:cNvSpPr txBox="1"/>
          <p:nvPr/>
        </p:nvSpPr>
        <p:spPr>
          <a:xfrm>
            <a:off x="192024" y="738144"/>
            <a:ext cx="1080000" cy="360000"/>
          </a:xfrm>
          <a:prstGeom prst="rect">
            <a:avLst/>
          </a:prstGeom>
          <a:solidFill>
            <a:srgbClr val="140A9A"/>
          </a:solidFill>
        </p:spPr>
        <p:txBody>
          <a:bodyPr wrap="none" rtlCol="0" anchor="ctr">
            <a:noAutofit/>
          </a:bodyPr>
          <a:lstStyle/>
          <a:p>
            <a:pPr algn="ctr"/>
            <a:r>
              <a:rPr lang="ja-JP" altLang="en-US" sz="1400" dirty="0">
                <a:solidFill>
                  <a:schemeClr val="bg1"/>
                </a:solidFill>
              </a:rPr>
              <a:t>画面</a:t>
            </a:r>
            <a:endParaRPr kumimoji="1" lang="ja-JP" altLang="en-US" sz="1400" dirty="0">
              <a:solidFill>
                <a:schemeClr val="bg1"/>
              </a:solidFill>
            </a:endParaRPr>
          </a:p>
        </p:txBody>
      </p:sp>
      <p:graphicFrame>
        <p:nvGraphicFramePr>
          <p:cNvPr id="9" name="表 8">
            <a:extLst>
              <a:ext uri="{FF2B5EF4-FFF2-40B4-BE49-F238E27FC236}">
                <a16:creationId xmlns:a16="http://schemas.microsoft.com/office/drawing/2014/main" id="{AA73CF38-FDC4-49EA-815E-BFAC1FA936E4}"/>
              </a:ext>
            </a:extLst>
          </p:cNvPr>
          <p:cNvGraphicFramePr>
            <a:graphicFrameLocks noGrp="1"/>
          </p:cNvGraphicFramePr>
          <p:nvPr/>
        </p:nvGraphicFramePr>
        <p:xfrm>
          <a:off x="192024" y="1374930"/>
          <a:ext cx="8712968" cy="5175527"/>
        </p:xfrm>
        <a:graphic>
          <a:graphicData uri="http://schemas.openxmlformats.org/drawingml/2006/table">
            <a:tbl>
              <a:tblPr/>
              <a:tblGrid>
                <a:gridCol w="762133">
                  <a:extLst>
                    <a:ext uri="{9D8B030D-6E8A-4147-A177-3AD203B41FA5}">
                      <a16:colId xmlns:a16="http://schemas.microsoft.com/office/drawing/2014/main" val="3631664726"/>
                    </a:ext>
                  </a:extLst>
                </a:gridCol>
                <a:gridCol w="1611490">
                  <a:extLst>
                    <a:ext uri="{9D8B030D-6E8A-4147-A177-3AD203B41FA5}">
                      <a16:colId xmlns:a16="http://schemas.microsoft.com/office/drawing/2014/main" val="236210975"/>
                    </a:ext>
                  </a:extLst>
                </a:gridCol>
                <a:gridCol w="1736747">
                  <a:extLst>
                    <a:ext uri="{9D8B030D-6E8A-4147-A177-3AD203B41FA5}">
                      <a16:colId xmlns:a16="http://schemas.microsoft.com/office/drawing/2014/main" val="2691306481"/>
                    </a:ext>
                  </a:extLst>
                </a:gridCol>
                <a:gridCol w="4602598">
                  <a:extLst>
                    <a:ext uri="{9D8B030D-6E8A-4147-A177-3AD203B41FA5}">
                      <a16:colId xmlns:a16="http://schemas.microsoft.com/office/drawing/2014/main" val="4203738492"/>
                    </a:ext>
                  </a:extLst>
                </a:gridCol>
              </a:tblGrid>
              <a:tr h="269693">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No</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分類</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画面名</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extLst>
                  <a:ext uri="{0D108BD9-81ED-4DB2-BD59-A6C34878D82A}">
                    <a16:rowId xmlns:a16="http://schemas.microsoft.com/office/drawing/2014/main" val="1003022479"/>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共通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画面共通機能</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en-US" altLang="ja-JP" sz="1200" dirty="0"/>
                        <a:t>Azure</a:t>
                      </a:r>
                      <a:r>
                        <a:rPr kumimoji="1" lang="ja-JP" altLang="en-US" sz="1200" dirty="0"/>
                        <a:t> </a:t>
                      </a:r>
                      <a:r>
                        <a:rPr kumimoji="1" lang="en-US" altLang="ja-JP" sz="1200" dirty="0"/>
                        <a:t>AD</a:t>
                      </a:r>
                      <a:r>
                        <a:rPr kumimoji="1" lang="ja-JP" altLang="en-US" sz="1200" dirty="0"/>
                        <a:t>認証をおこなう。</a:t>
                      </a:r>
                      <a:endParaRPr kumimoji="1" lang="en-US" altLang="ja-JP" sz="1200" dirty="0"/>
                    </a:p>
                    <a:p>
                      <a:pPr marL="228600" indent="-228600">
                        <a:buFont typeface="+mj-lt"/>
                        <a:buAutoNum type="arabicPeriod"/>
                      </a:pPr>
                      <a:r>
                        <a:rPr kumimoji="1" lang="ja-JP" altLang="en-US" sz="1200" dirty="0"/>
                        <a:t>各ユーザの権限で参照可能なデータのみを表示する。</a:t>
                      </a:r>
                      <a:endParaRPr kumimoji="1" lang="en-US" altLang="ja-JP" sz="1200" dirty="0"/>
                    </a:p>
                    <a:p>
                      <a:pPr marL="228600" indent="-228600">
                        <a:buFont typeface="+mj-lt"/>
                        <a:buAutoNum type="arabicPeriod"/>
                      </a:pPr>
                      <a:r>
                        <a:rPr kumimoji="1" lang="en-US" altLang="ja-JP" sz="1200" dirty="0"/>
                        <a:t>Web</a:t>
                      </a:r>
                      <a:r>
                        <a:rPr kumimoji="1" lang="ja-JP" altLang="en-US" sz="1200" dirty="0"/>
                        <a:t>で</a:t>
                      </a:r>
                      <a:r>
                        <a:rPr kumimoji="1" lang="en-US" altLang="ja-JP" sz="1200" dirty="0"/>
                        <a:t>API</a:t>
                      </a:r>
                      <a:r>
                        <a:rPr kumimoji="1" lang="ja-JP" altLang="en-US" sz="1200" dirty="0"/>
                        <a:t>のコール数、サーバ使用状況をシステム管理者がモニタリングする。</a:t>
                      </a:r>
                      <a:endParaRPr kumimoji="1" lang="en-US" altLang="ja-JP" sz="1200" dirty="0"/>
                    </a:p>
                    <a:p>
                      <a:pPr marL="228600" indent="-228600">
                        <a:buFont typeface="+mj-lt"/>
                        <a:buAutoNum type="arabicPeriod"/>
                      </a:pPr>
                      <a:r>
                        <a:rPr kumimoji="1" lang="en-US" altLang="ja-JP" sz="1200" dirty="0"/>
                        <a:t>Web</a:t>
                      </a:r>
                      <a:r>
                        <a:rPr kumimoji="1" lang="ja-JP" altLang="en-US" sz="1200" dirty="0"/>
                        <a:t>サーバに異常があった際はシステム管理者に</a:t>
                      </a:r>
                      <a:r>
                        <a:rPr kumimoji="1" lang="en-US" altLang="ja-JP" sz="1200" dirty="0"/>
                        <a:t>Email</a:t>
                      </a:r>
                      <a:r>
                        <a:rPr kumimoji="1" lang="ja-JP" altLang="en-US" sz="1200" dirty="0"/>
                        <a:t>で通知する。</a:t>
                      </a:r>
                      <a:endParaRPr kumimoji="1" lang="en-US" altLang="ja-JP" sz="1200" dirty="0"/>
                    </a:p>
                    <a:p>
                      <a:pPr marL="228600" indent="-228600">
                        <a:buFont typeface="+mj-lt"/>
                        <a:buAutoNum type="arabicPeriod"/>
                      </a:pPr>
                      <a:r>
                        <a:rPr kumimoji="1" lang="en-US" altLang="ja-JP" sz="1200" dirty="0"/>
                        <a:t>Google</a:t>
                      </a:r>
                      <a:r>
                        <a:rPr kumimoji="1" lang="ja-JP" altLang="en-US" sz="1200" dirty="0"/>
                        <a:t> </a:t>
                      </a:r>
                      <a:r>
                        <a:rPr kumimoji="1" lang="en-US" altLang="ja-JP" sz="1200" dirty="0"/>
                        <a:t>Chrome</a:t>
                      </a:r>
                      <a:r>
                        <a:rPr kumimoji="1" lang="ja-JP" altLang="en-US" sz="1200" dirty="0"/>
                        <a:t>で表示を可能とする。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8533904"/>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共通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車両検索</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機種</a:t>
                      </a:r>
                      <a:r>
                        <a:rPr kumimoji="1" lang="en-US" altLang="ja-JP" sz="1200" dirty="0"/>
                        <a:t>-</a:t>
                      </a:r>
                      <a:r>
                        <a:rPr kumimoji="1" lang="ja-JP" altLang="en-US" sz="1200" dirty="0"/>
                        <a:t>型式</a:t>
                      </a:r>
                      <a:r>
                        <a:rPr kumimoji="1" lang="en-US" altLang="ja-JP" sz="1200" dirty="0"/>
                        <a:t>-</a:t>
                      </a:r>
                      <a:r>
                        <a:rPr kumimoji="1" lang="ja-JP" altLang="en-US" sz="1200" dirty="0"/>
                        <a:t>機番や担当</a:t>
                      </a:r>
                      <a:r>
                        <a:rPr kumimoji="1" lang="en-US" altLang="ja-JP" sz="1200" dirty="0"/>
                        <a:t>DB</a:t>
                      </a:r>
                      <a:r>
                        <a:rPr kumimoji="1" lang="ja-JP" altLang="en-US" sz="1200" dirty="0"/>
                        <a:t>などの条件を元に、車両の一覧や、設定されたカスタマイズ用途定義とその設定ステータスを表示する。</a:t>
                      </a:r>
                      <a:endParaRPr kumimoji="1" lang="en-US" altLang="ja-JP" sz="1200" dirty="0"/>
                    </a:p>
                    <a:p>
                      <a:pPr marL="228600" indent="-228600">
                        <a:buFont typeface="+mj-lt"/>
                        <a:buAutoNum type="arabicPeriod"/>
                      </a:pPr>
                      <a:r>
                        <a:rPr kumimoji="1" lang="ja-JP" altLang="en-US" sz="1200" dirty="0"/>
                        <a:t>検索した車両について、一括でカスタマイズ設定の更新を行うためのテンプレートファイル（</a:t>
                      </a:r>
                      <a:r>
                        <a:rPr kumimoji="1" lang="en-US" altLang="ja-JP" sz="1200" dirty="0"/>
                        <a:t>Excel</a:t>
                      </a:r>
                      <a:r>
                        <a:rPr kumimoji="1" lang="ja-JP" altLang="en-US" sz="1200" dirty="0"/>
                        <a:t>）をダウンロードする。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検索した車両を</a:t>
                      </a:r>
                      <a:r>
                        <a:rPr kumimoji="1" lang="en-US" altLang="ja-JP" sz="1200" dirty="0"/>
                        <a:t>1</a:t>
                      </a:r>
                      <a:r>
                        <a:rPr kumimoji="1" lang="ja-JP" altLang="en-US" sz="1200" dirty="0"/>
                        <a:t>台選択し、</a:t>
                      </a:r>
                      <a:r>
                        <a:rPr lang="ja-JP" altLang="en-US" sz="1200" b="0" dirty="0"/>
                        <a:t>カスタマイズ用途定義詳細表示画面へ遷移する。</a:t>
                      </a:r>
                      <a:endParaRPr lang="en-US" altLang="ja-JP" sz="1200"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検索した車両を</a:t>
                      </a:r>
                      <a:r>
                        <a:rPr kumimoji="1" lang="en-US" altLang="ja-JP" sz="1200" dirty="0"/>
                        <a:t>1</a:t>
                      </a:r>
                      <a:r>
                        <a:rPr kumimoji="1" lang="ja-JP" altLang="en-US" sz="1200" dirty="0"/>
                        <a:t>台以上選択し、カスタマイズデータ送信要求画面へ遷移する。</a:t>
                      </a:r>
                      <a:endParaRPr kumimoji="1" lang="en-US" altLang="ja-JP" sz="1200" dirty="0"/>
                    </a:p>
                    <a:p>
                      <a:pPr marL="228600" indent="-228600">
                        <a:buFont typeface="+mj-lt"/>
                        <a:buAutoNum type="arabicPeriod"/>
                      </a:pPr>
                      <a:r>
                        <a:rPr kumimoji="1" lang="ja-JP" altLang="en-US" sz="1200" dirty="0"/>
                        <a:t>検索した車両について、一括でカスタマイズ設定送信要求を実施する。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654255"/>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1-2</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共通</a:t>
                      </a:r>
                      <a:endParaRPr lang="en-US" altLang="ja-JP"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権限管理</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所属グループやユーザ</a:t>
                      </a:r>
                      <a:r>
                        <a:rPr kumimoji="1" lang="en-US" altLang="ja-JP" sz="1200" dirty="0"/>
                        <a:t>ID</a:t>
                      </a:r>
                      <a:r>
                        <a:rPr kumimoji="1" lang="ja-JP" altLang="en-US" sz="1200" dirty="0"/>
                        <a:t>などからユーザを検索し、選択したユーザに対して、アプリの各機能を使用するための権限とアクセスレベルを各ユーザに対して設定する。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609533"/>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1-3</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共通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作業履歴</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カスタマイズ関連の要求について、設定を行ったユーザや対象の車両、カスタマイズ設定の内容に関する履歴を画面に表示する。</a:t>
                      </a:r>
                      <a:endParaRPr kumimoji="1" lang="en-US" altLang="ja-JP" sz="1200" dirty="0"/>
                    </a:p>
                    <a:p>
                      <a:pPr marL="228600" indent="-228600">
                        <a:buFont typeface="+mj-lt"/>
                        <a:buAutoNum type="arabicPeriod"/>
                      </a:pPr>
                      <a:r>
                        <a:rPr kumimoji="1" lang="ja-JP" altLang="en-US" sz="1200" dirty="0"/>
                        <a:t>権限更新を行った履歴を、実施ユーザや対象などの情報と共に画面に表示する。</a:t>
                      </a:r>
                      <a:endParaRPr kumimoji="1" lang="en-US" altLang="ja-JP" sz="1200" dirty="0"/>
                    </a:p>
                    <a:p>
                      <a:pPr marL="228600" indent="-228600">
                        <a:buFont typeface="+mj-lt"/>
                        <a:buAutoNum type="arabicPeriod"/>
                      </a:pPr>
                      <a:r>
                        <a:rPr kumimoji="1" lang="en-US" altLang="ja-JP" sz="1200" dirty="0"/>
                        <a:t>1,2</a:t>
                      </a:r>
                      <a:r>
                        <a:rPr kumimoji="1" lang="ja-JP" altLang="en-US" sz="1200" dirty="0"/>
                        <a:t>の内容に加え、設定を更新した権限の情報などを含む詳細な履歴情報を</a:t>
                      </a:r>
                      <a:r>
                        <a:rPr kumimoji="1" lang="en-US" altLang="ja-JP" sz="1200" dirty="0"/>
                        <a:t>Excel</a:t>
                      </a:r>
                      <a:r>
                        <a:rPr kumimoji="1" lang="ja-JP" altLang="en-US" sz="1200" dirty="0"/>
                        <a:t>ファイルとしてダウンロードする。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7498542"/>
                  </a:ext>
                </a:extLst>
              </a:tr>
            </a:tbl>
          </a:graphicData>
        </a:graphic>
      </p:graphicFrame>
    </p:spTree>
    <p:extLst>
      <p:ext uri="{BB962C8B-B14F-4D97-AF65-F5344CB8AC3E}">
        <p14:creationId xmlns:p14="http://schemas.microsoft.com/office/powerpoint/2010/main" val="4224497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zh-TW" altLang="en-US" dirty="0"/>
              <a:t>３．要求機能</a:t>
            </a:r>
            <a:endParaRPr lang="ja-JP" altLang="en-US" dirty="0"/>
          </a:p>
        </p:txBody>
      </p:sp>
      <p:sp>
        <p:nvSpPr>
          <p:cNvPr id="7" name="テキスト ボックス 6">
            <a:extLst>
              <a:ext uri="{FF2B5EF4-FFF2-40B4-BE49-F238E27FC236}">
                <a16:creationId xmlns:a16="http://schemas.microsoft.com/office/drawing/2014/main" id="{E5FF7754-74B9-4864-BAEE-E10FAFF33679}"/>
              </a:ext>
            </a:extLst>
          </p:cNvPr>
          <p:cNvSpPr txBox="1"/>
          <p:nvPr/>
        </p:nvSpPr>
        <p:spPr>
          <a:xfrm>
            <a:off x="192024" y="738144"/>
            <a:ext cx="1080000" cy="360000"/>
          </a:xfrm>
          <a:prstGeom prst="rect">
            <a:avLst/>
          </a:prstGeom>
          <a:solidFill>
            <a:srgbClr val="140A9A"/>
          </a:solidFill>
        </p:spPr>
        <p:txBody>
          <a:bodyPr wrap="none" rtlCol="0" anchor="ctr">
            <a:noAutofit/>
          </a:bodyPr>
          <a:lstStyle/>
          <a:p>
            <a:pPr algn="ctr"/>
            <a:r>
              <a:rPr lang="ja-JP" altLang="en-US" sz="1400" dirty="0">
                <a:solidFill>
                  <a:schemeClr val="bg1"/>
                </a:solidFill>
              </a:rPr>
              <a:t>画面</a:t>
            </a:r>
            <a:endParaRPr kumimoji="1" lang="ja-JP" altLang="en-US" sz="1400" dirty="0">
              <a:solidFill>
                <a:schemeClr val="bg1"/>
              </a:solidFill>
            </a:endParaRPr>
          </a:p>
        </p:txBody>
      </p:sp>
      <p:graphicFrame>
        <p:nvGraphicFramePr>
          <p:cNvPr id="9" name="表 8">
            <a:extLst>
              <a:ext uri="{FF2B5EF4-FFF2-40B4-BE49-F238E27FC236}">
                <a16:creationId xmlns:a16="http://schemas.microsoft.com/office/drawing/2014/main" id="{AA73CF38-FDC4-49EA-815E-BFAC1FA936E4}"/>
              </a:ext>
            </a:extLst>
          </p:cNvPr>
          <p:cNvGraphicFramePr>
            <a:graphicFrameLocks noGrp="1"/>
          </p:cNvGraphicFramePr>
          <p:nvPr/>
        </p:nvGraphicFramePr>
        <p:xfrm>
          <a:off x="192024" y="1398784"/>
          <a:ext cx="8712968" cy="3378653"/>
        </p:xfrm>
        <a:graphic>
          <a:graphicData uri="http://schemas.openxmlformats.org/drawingml/2006/table">
            <a:tbl>
              <a:tblPr/>
              <a:tblGrid>
                <a:gridCol w="762133">
                  <a:extLst>
                    <a:ext uri="{9D8B030D-6E8A-4147-A177-3AD203B41FA5}">
                      <a16:colId xmlns:a16="http://schemas.microsoft.com/office/drawing/2014/main" val="3631664726"/>
                    </a:ext>
                  </a:extLst>
                </a:gridCol>
                <a:gridCol w="1611490">
                  <a:extLst>
                    <a:ext uri="{9D8B030D-6E8A-4147-A177-3AD203B41FA5}">
                      <a16:colId xmlns:a16="http://schemas.microsoft.com/office/drawing/2014/main" val="236210975"/>
                    </a:ext>
                  </a:extLst>
                </a:gridCol>
                <a:gridCol w="1736747">
                  <a:extLst>
                    <a:ext uri="{9D8B030D-6E8A-4147-A177-3AD203B41FA5}">
                      <a16:colId xmlns:a16="http://schemas.microsoft.com/office/drawing/2014/main" val="2691306481"/>
                    </a:ext>
                  </a:extLst>
                </a:gridCol>
                <a:gridCol w="4602598">
                  <a:extLst>
                    <a:ext uri="{9D8B030D-6E8A-4147-A177-3AD203B41FA5}">
                      <a16:colId xmlns:a16="http://schemas.microsoft.com/office/drawing/2014/main" val="4203738492"/>
                    </a:ext>
                  </a:extLst>
                </a:gridCol>
              </a:tblGrid>
              <a:tr h="269693">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No</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分類</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画面名</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extLst>
                  <a:ext uri="{0D108BD9-81ED-4DB2-BD59-A6C34878D82A}">
                    <a16:rowId xmlns:a16="http://schemas.microsoft.com/office/drawing/2014/main" val="1003022479"/>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カスタマイズ設定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カスタマイズ用途定義詳細表示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車両に設定されたカスタマイズ設定の詳細（開始日・終了日、優先度など）を表示する。</a:t>
                      </a:r>
                      <a:endParaRPr kumimoji="1" lang="en-US" altLang="ja-JP" sz="1200" dirty="0"/>
                    </a:p>
                    <a:p>
                      <a:pPr marL="228600" indent="-228600">
                        <a:buFont typeface="+mj-lt"/>
                        <a:buAutoNum type="arabicPeriod"/>
                      </a:pPr>
                      <a:r>
                        <a:rPr kumimoji="1" lang="ja-JP" altLang="en-US" sz="1200" dirty="0"/>
                        <a:t>車両の設定追加・更新・削除を行いたいカスタマイズ用途定義について、設定したい各項目の値を画面上のリソースにて指定し、</a:t>
                      </a:r>
                      <a:r>
                        <a:rPr kumimoji="1" lang="en-US" altLang="ja-JP" sz="1200" dirty="0"/>
                        <a:t>API</a:t>
                      </a:r>
                      <a:r>
                        <a:rPr kumimoji="1" lang="ja-JP" altLang="en-US" sz="1200" dirty="0"/>
                        <a:t>を実行する。</a:t>
                      </a:r>
                      <a:endParaRPr kumimoji="1" lang="en-US" altLang="ja-JP" sz="1200" dirty="0"/>
                    </a:p>
                    <a:p>
                      <a:pPr marL="228600" indent="-228600">
                        <a:buFont typeface="+mj-lt"/>
                        <a:buAutoNum type="arabicPeriod"/>
                      </a:pPr>
                      <a:r>
                        <a:rPr kumimoji="1" lang="ja-JP" altLang="en-US" sz="1200" dirty="0"/>
                        <a:t>通常の要求の他に、車両でコマンド受信後に即時に設定を反映する形式で要求を実施ように</a:t>
                      </a:r>
                      <a:r>
                        <a:rPr kumimoji="1" lang="en-US" altLang="ja-JP" sz="1200" dirty="0"/>
                        <a:t>API</a:t>
                      </a:r>
                      <a:r>
                        <a:rPr kumimoji="1" lang="ja-JP" altLang="en-US" sz="1200" dirty="0"/>
                        <a:t>を実行する。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カスタマイズ定義ごとに、設定要求を実施してからトレサビコマンドを受信するまでのステータス（更新要求中</a:t>
                      </a:r>
                      <a:r>
                        <a:rPr kumimoji="1" lang="en-US" altLang="ja-JP" sz="1200" dirty="0"/>
                        <a:t>/</a:t>
                      </a:r>
                      <a:r>
                        <a:rPr kumimoji="1" lang="ja-JP" altLang="en-US" sz="1200" dirty="0"/>
                        <a:t>設定完了など）を表示する。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データベースに保持されたカスタマイズ定義ごとの想定通信量を元に、車両に設定されたカスタマイズ定義の想定通信量の合計や、現在の設定変更による差分を表示する。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82376"/>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2-2</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カスタマイズ設定</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一括設定</a:t>
                      </a:r>
                      <a:r>
                        <a:rPr lang="en-US" altLang="ja-JP" sz="1200" b="0" dirty="0"/>
                        <a:t>/</a:t>
                      </a:r>
                      <a:r>
                        <a:rPr lang="ja-JP" altLang="en-US" sz="1200" b="0" dirty="0"/>
                        <a:t>一括更新</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カスタマイズ設定一括登録に用いるテンプレートファイル</a:t>
                      </a:r>
                      <a:r>
                        <a:rPr kumimoji="1" lang="en-US" altLang="ja-JP" sz="1200" dirty="0"/>
                        <a:t>(Excel)</a:t>
                      </a:r>
                      <a:r>
                        <a:rPr kumimoji="1" lang="ja-JP" altLang="en-US" sz="1200" dirty="0"/>
                        <a:t>をダウンロードする。</a:t>
                      </a:r>
                      <a:endParaRPr kumimoji="1" lang="en-US" altLang="ja-JP" sz="1200" dirty="0"/>
                    </a:p>
                    <a:p>
                      <a:pPr marL="228600" indent="-228600">
                        <a:buFont typeface="+mj-lt"/>
                        <a:buAutoNum type="arabicPeriod"/>
                      </a:pPr>
                      <a:r>
                        <a:rPr kumimoji="1" lang="ja-JP" altLang="en-US" sz="1200" dirty="0"/>
                        <a:t>テンプレートファイルをアップロードして、複数の車両に対して一括でカスタマイズ設定を行う。</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8852988"/>
                  </a:ext>
                </a:extLst>
              </a:tr>
            </a:tbl>
          </a:graphicData>
        </a:graphic>
      </p:graphicFrame>
    </p:spTree>
    <p:extLst>
      <p:ext uri="{BB962C8B-B14F-4D97-AF65-F5344CB8AC3E}">
        <p14:creationId xmlns:p14="http://schemas.microsoft.com/office/powerpoint/2010/main" val="1376433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zh-TW" altLang="en-US" dirty="0"/>
              <a:t>３．要求機能</a:t>
            </a:r>
            <a:endParaRPr lang="ja-JP" altLang="en-US" dirty="0"/>
          </a:p>
        </p:txBody>
      </p:sp>
      <p:sp>
        <p:nvSpPr>
          <p:cNvPr id="7" name="テキスト ボックス 6">
            <a:extLst>
              <a:ext uri="{FF2B5EF4-FFF2-40B4-BE49-F238E27FC236}">
                <a16:creationId xmlns:a16="http://schemas.microsoft.com/office/drawing/2014/main" id="{E5FF7754-74B9-4864-BAEE-E10FAFF33679}"/>
              </a:ext>
            </a:extLst>
          </p:cNvPr>
          <p:cNvSpPr txBox="1"/>
          <p:nvPr/>
        </p:nvSpPr>
        <p:spPr>
          <a:xfrm>
            <a:off x="192024" y="738144"/>
            <a:ext cx="1080000" cy="360000"/>
          </a:xfrm>
          <a:prstGeom prst="rect">
            <a:avLst/>
          </a:prstGeom>
          <a:solidFill>
            <a:srgbClr val="140A9A"/>
          </a:solidFill>
        </p:spPr>
        <p:txBody>
          <a:bodyPr wrap="none" rtlCol="0" anchor="ctr">
            <a:noAutofit/>
          </a:bodyPr>
          <a:lstStyle/>
          <a:p>
            <a:pPr algn="ctr"/>
            <a:r>
              <a:rPr lang="ja-JP" altLang="en-US" sz="1400" dirty="0">
                <a:solidFill>
                  <a:schemeClr val="bg1"/>
                </a:solidFill>
              </a:rPr>
              <a:t>画面</a:t>
            </a:r>
            <a:endParaRPr kumimoji="1" lang="ja-JP" altLang="en-US" sz="1400" dirty="0">
              <a:solidFill>
                <a:schemeClr val="bg1"/>
              </a:solidFill>
            </a:endParaRPr>
          </a:p>
        </p:txBody>
      </p:sp>
      <p:graphicFrame>
        <p:nvGraphicFramePr>
          <p:cNvPr id="9" name="表 8">
            <a:extLst>
              <a:ext uri="{FF2B5EF4-FFF2-40B4-BE49-F238E27FC236}">
                <a16:creationId xmlns:a16="http://schemas.microsoft.com/office/drawing/2014/main" id="{AA73CF38-FDC4-49EA-815E-BFAC1FA936E4}"/>
              </a:ext>
            </a:extLst>
          </p:cNvPr>
          <p:cNvGraphicFramePr>
            <a:graphicFrameLocks noGrp="1"/>
          </p:cNvGraphicFramePr>
          <p:nvPr>
            <p:extLst>
              <p:ext uri="{D42A27DB-BD31-4B8C-83A1-F6EECF244321}">
                <p14:modId xmlns:p14="http://schemas.microsoft.com/office/powerpoint/2010/main" val="2076977427"/>
              </p:ext>
            </p:extLst>
          </p:nvPr>
        </p:nvGraphicFramePr>
        <p:xfrm>
          <a:off x="192024" y="1398784"/>
          <a:ext cx="8712968" cy="3863441"/>
        </p:xfrm>
        <a:graphic>
          <a:graphicData uri="http://schemas.openxmlformats.org/drawingml/2006/table">
            <a:tbl>
              <a:tblPr/>
              <a:tblGrid>
                <a:gridCol w="762133">
                  <a:extLst>
                    <a:ext uri="{9D8B030D-6E8A-4147-A177-3AD203B41FA5}">
                      <a16:colId xmlns:a16="http://schemas.microsoft.com/office/drawing/2014/main" val="3631664726"/>
                    </a:ext>
                  </a:extLst>
                </a:gridCol>
                <a:gridCol w="1611490">
                  <a:extLst>
                    <a:ext uri="{9D8B030D-6E8A-4147-A177-3AD203B41FA5}">
                      <a16:colId xmlns:a16="http://schemas.microsoft.com/office/drawing/2014/main" val="236210975"/>
                    </a:ext>
                  </a:extLst>
                </a:gridCol>
                <a:gridCol w="1736747">
                  <a:extLst>
                    <a:ext uri="{9D8B030D-6E8A-4147-A177-3AD203B41FA5}">
                      <a16:colId xmlns:a16="http://schemas.microsoft.com/office/drawing/2014/main" val="2691306481"/>
                    </a:ext>
                  </a:extLst>
                </a:gridCol>
                <a:gridCol w="4602598">
                  <a:extLst>
                    <a:ext uri="{9D8B030D-6E8A-4147-A177-3AD203B41FA5}">
                      <a16:colId xmlns:a16="http://schemas.microsoft.com/office/drawing/2014/main" val="4203738492"/>
                    </a:ext>
                  </a:extLst>
                </a:gridCol>
              </a:tblGrid>
              <a:tr h="269693">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No</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分類</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画面名</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extLst>
                  <a:ext uri="{0D108BD9-81ED-4DB2-BD59-A6C34878D82A}">
                    <a16:rowId xmlns:a16="http://schemas.microsoft.com/office/drawing/2014/main" val="1003022479"/>
                  </a:ext>
                </a:extLst>
              </a:tr>
              <a:tr h="887747">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3-1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データ送信要求</a:t>
                      </a:r>
                      <a:r>
                        <a:rPr lang="en-US" altLang="ja-JP" sz="1200" b="0" dirty="0"/>
                        <a:t>(</a:t>
                      </a:r>
                      <a:r>
                        <a:rPr lang="ja-JP" altLang="en-US" sz="1200" b="0" dirty="0"/>
                        <a:t>送信番号指定</a:t>
                      </a:r>
                      <a:r>
                        <a:rPr lang="en-US" altLang="ja-JP" sz="1200" b="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サーバに格納された送信番号とそのカスタマイズデータの受信状況を画面に表示し、選択された送信番号を指定して</a:t>
                      </a:r>
                      <a:r>
                        <a:rPr kumimoji="1" lang="en-US" altLang="ja-JP" sz="1200" dirty="0"/>
                        <a:t>API</a:t>
                      </a:r>
                      <a:r>
                        <a:rPr kumimoji="1" lang="ja-JP" altLang="en-US" sz="1200" dirty="0"/>
                        <a:t>を実行する。</a:t>
                      </a:r>
                      <a:endParaRPr kumimoji="1" lang="en-US" altLang="ja-JP" sz="1200" dirty="0"/>
                    </a:p>
                    <a:p>
                      <a:pPr marL="228600" indent="-228600">
                        <a:buFont typeface="+mj-lt"/>
                        <a:buAutoNum type="arabicPeriod"/>
                      </a:pPr>
                      <a:r>
                        <a:rPr kumimoji="1" lang="ja-JP" altLang="en-US" sz="1200" dirty="0"/>
                        <a:t>データ送信要求によって発生する想定の通信量について、</a:t>
                      </a:r>
                      <a:r>
                        <a:rPr kumimoji="1" lang="en-US" altLang="ja-JP" sz="1200" dirty="0"/>
                        <a:t>DB</a:t>
                      </a:r>
                      <a:r>
                        <a:rPr kumimoji="1" lang="ja-JP" altLang="en-US" sz="1200" dirty="0"/>
                        <a:t>に設定されたカスタマイズ定義毎の想定通信量と選択された送信番号件数を元に計算して表示する。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696167"/>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3-2</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p>
                      <a:pPr marL="0" marR="0" lvl="0" indent="0" algn="l" defTabSz="914400" rtl="0" eaLnBrk="1" fontAlgn="ctr" latinLnBrk="0" hangingPunct="1">
                        <a:lnSpc>
                          <a:spcPct val="100000"/>
                        </a:lnSpc>
                        <a:spcBef>
                          <a:spcPts val="0"/>
                        </a:spcBef>
                        <a:spcAft>
                          <a:spcPts val="0"/>
                        </a:spcAft>
                        <a:buClrTx/>
                        <a:buSzTx/>
                        <a:buFontTx/>
                        <a:buNone/>
                        <a:tabLst/>
                        <a:defRPr/>
                      </a:pP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データ送信要求</a:t>
                      </a:r>
                      <a:r>
                        <a:rPr lang="en-US" altLang="ja-JP" sz="1200" b="0" dirty="0"/>
                        <a:t>(</a:t>
                      </a:r>
                      <a:r>
                        <a:rPr lang="ja-JP" altLang="en-US" sz="1200" b="0" dirty="0"/>
                        <a:t>期間指定</a:t>
                      </a:r>
                      <a:r>
                        <a:rPr lang="en-US" altLang="ja-JP" sz="1200" b="0" dirty="0"/>
                        <a:t>)</a:t>
                      </a:r>
                    </a:p>
                    <a:p>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データが欲しいカスタマイズ</a:t>
                      </a:r>
                      <a:r>
                        <a:rPr kumimoji="1" lang="en-US" altLang="ja-JP" sz="1200" dirty="0"/>
                        <a:t>(</a:t>
                      </a:r>
                      <a:r>
                        <a:rPr kumimoji="1" lang="ja-JP" altLang="en-US" sz="1200" dirty="0"/>
                        <a:t>用途</a:t>
                      </a:r>
                      <a:r>
                        <a:rPr kumimoji="1" lang="en-US" altLang="ja-JP" sz="1200" dirty="0"/>
                        <a:t>)</a:t>
                      </a:r>
                      <a:r>
                        <a:rPr kumimoji="1" lang="ja-JP" altLang="en-US" sz="1200" dirty="0"/>
                        <a:t>定義や期間、上限通信量を画面上のリソースから指定し、それらをリクエストして</a:t>
                      </a:r>
                      <a:r>
                        <a:rPr kumimoji="1" lang="en-US" altLang="ja-JP" sz="1200" dirty="0"/>
                        <a:t>API</a:t>
                      </a:r>
                      <a:r>
                        <a:rPr kumimoji="1" lang="ja-JP" altLang="en-US" sz="1200" dirty="0"/>
                        <a:t>を実行する。</a:t>
                      </a:r>
                      <a:endParaRPr kumimoji="1" lang="en-US" altLang="ja-JP" sz="12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en-US" sz="1200" dirty="0"/>
                        <a:t>データが欲しいカスタマイズ</a:t>
                      </a:r>
                      <a:r>
                        <a:rPr kumimoji="1" lang="en-US" altLang="ja-JP" sz="1200" dirty="0"/>
                        <a:t>(</a:t>
                      </a:r>
                      <a:r>
                        <a:rPr kumimoji="1" lang="ja-JP" altLang="en-US" sz="1200" dirty="0"/>
                        <a:t>用途</a:t>
                      </a:r>
                      <a:r>
                        <a:rPr kumimoji="1" lang="en-US" altLang="ja-JP" sz="1200" dirty="0"/>
                        <a:t>)</a:t>
                      </a:r>
                      <a:r>
                        <a:rPr kumimoji="1" lang="ja-JP" altLang="en-US" sz="1200" dirty="0"/>
                        <a:t>定義を画面上のリソースから指定し、</a:t>
                      </a:r>
                      <a:r>
                        <a:rPr kumimoji="1" lang="en-US" altLang="ja-JP" sz="1200" dirty="0"/>
                        <a:t>API</a:t>
                      </a:r>
                      <a:r>
                        <a:rPr kumimoji="1" lang="ja-JP" altLang="en-US" sz="1200" dirty="0"/>
                        <a:t>を実行することで現在生成中のカスタマイズデータの送信要求を行う。</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3699889"/>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3-3</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送信番号一覧送信要求</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送信番号が欲しいカスタマイズ</a:t>
                      </a:r>
                      <a:r>
                        <a:rPr kumimoji="1" lang="en-US" altLang="ja-JP" sz="1200" dirty="0"/>
                        <a:t>(</a:t>
                      </a:r>
                      <a:r>
                        <a:rPr kumimoji="1" lang="ja-JP" altLang="en-US" sz="1200" dirty="0"/>
                        <a:t>用途</a:t>
                      </a:r>
                      <a:r>
                        <a:rPr kumimoji="1" lang="en-US" altLang="ja-JP" sz="1200" dirty="0"/>
                        <a:t>)</a:t>
                      </a:r>
                      <a:r>
                        <a:rPr kumimoji="1" lang="ja-JP" altLang="en-US" sz="1200" dirty="0"/>
                        <a:t>定義や期間を画面上のリソースから指定し、それらをリクエストして</a:t>
                      </a:r>
                      <a:r>
                        <a:rPr kumimoji="1" lang="en-US" altLang="ja-JP" sz="1200" dirty="0"/>
                        <a:t>API</a:t>
                      </a:r>
                      <a:r>
                        <a:rPr kumimoji="1" lang="ja-JP" altLang="en-US" sz="1200" dirty="0"/>
                        <a:t>を実行する。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3340325"/>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3-4</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カスタマイズデータ送信要求</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sz="1200" b="0" dirty="0"/>
                        <a:t>要求ステータス</a:t>
                      </a:r>
                      <a:endParaRPr lang="en-US" altLang="ja-JP"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mj-lt"/>
                        <a:buAutoNum type="arabicPeriod"/>
                      </a:pPr>
                      <a:r>
                        <a:rPr kumimoji="1" lang="ja-JP" altLang="en-US" sz="1200" dirty="0"/>
                        <a:t>カスタマイズ関連の要求について、要求ステータスのテーブルを参照し、車両からの応答の受信状況や要求の成否などを表すステータスを表示する。</a:t>
                      </a:r>
                      <a:endParaRPr kumimoji="1" lang="en-US" altLang="ja-JP"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0272078"/>
                  </a:ext>
                </a:extLst>
              </a:tr>
            </a:tbl>
          </a:graphicData>
        </a:graphic>
      </p:graphicFrame>
    </p:spTree>
    <p:extLst>
      <p:ext uri="{BB962C8B-B14F-4D97-AF65-F5344CB8AC3E}">
        <p14:creationId xmlns:p14="http://schemas.microsoft.com/office/powerpoint/2010/main" val="2777404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zh-TW" altLang="en-US" dirty="0"/>
              <a:t>３．要求機能</a:t>
            </a:r>
            <a:endParaRPr lang="ja-JP" altLang="en-US" dirty="0"/>
          </a:p>
        </p:txBody>
      </p:sp>
      <p:graphicFrame>
        <p:nvGraphicFramePr>
          <p:cNvPr id="3" name="表 2">
            <a:extLst>
              <a:ext uri="{FF2B5EF4-FFF2-40B4-BE49-F238E27FC236}">
                <a16:creationId xmlns:a16="http://schemas.microsoft.com/office/drawing/2014/main" id="{7A7865E0-8994-489B-95F7-6B43CED42F25}"/>
              </a:ext>
            </a:extLst>
          </p:cNvPr>
          <p:cNvGraphicFramePr>
            <a:graphicFrameLocks noGrp="1"/>
          </p:cNvGraphicFramePr>
          <p:nvPr>
            <p:extLst>
              <p:ext uri="{D42A27DB-BD31-4B8C-83A1-F6EECF244321}">
                <p14:modId xmlns:p14="http://schemas.microsoft.com/office/powerpoint/2010/main" val="3616915407"/>
              </p:ext>
            </p:extLst>
          </p:nvPr>
        </p:nvGraphicFramePr>
        <p:xfrm>
          <a:off x="192088" y="1478333"/>
          <a:ext cx="8712905" cy="1851761"/>
        </p:xfrm>
        <a:graphic>
          <a:graphicData uri="http://schemas.openxmlformats.org/drawingml/2006/table">
            <a:tbl>
              <a:tblPr/>
              <a:tblGrid>
                <a:gridCol w="748945">
                  <a:extLst>
                    <a:ext uri="{9D8B030D-6E8A-4147-A177-3AD203B41FA5}">
                      <a16:colId xmlns:a16="http://schemas.microsoft.com/office/drawing/2014/main" val="4238092833"/>
                    </a:ext>
                  </a:extLst>
                </a:gridCol>
                <a:gridCol w="1817407">
                  <a:extLst>
                    <a:ext uri="{9D8B030D-6E8A-4147-A177-3AD203B41FA5}">
                      <a16:colId xmlns:a16="http://schemas.microsoft.com/office/drawing/2014/main" val="2886273271"/>
                    </a:ext>
                  </a:extLst>
                </a:gridCol>
                <a:gridCol w="6146553">
                  <a:extLst>
                    <a:ext uri="{9D8B030D-6E8A-4147-A177-3AD203B41FA5}">
                      <a16:colId xmlns:a16="http://schemas.microsoft.com/office/drawing/2014/main" val="3508791636"/>
                    </a:ext>
                  </a:extLst>
                </a:gridCol>
              </a:tblGrid>
              <a:tr h="269693">
                <a:tc>
                  <a:txBody>
                    <a:bodyPr/>
                    <a:lstStyle/>
                    <a:p>
                      <a:pPr algn="l" fontAlgn="ctr"/>
                      <a:r>
                        <a:rPr lang="en-US" sz="1200" b="0" i="0" u="none" strike="noStrike" dirty="0">
                          <a:solidFill>
                            <a:srgbClr val="FFFFFF"/>
                          </a:solidFill>
                          <a:effectLst/>
                          <a:latin typeface="Meiryo UI" panose="020B0604030504040204" pitchFamily="50" charset="-128"/>
                          <a:ea typeface="Meiryo UI" panose="020B0604030504040204" pitchFamily="50" charset="-128"/>
                        </a:rPr>
                        <a:t>No</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a:solidFill>
                            <a:srgbClr val="FFFFFF"/>
                          </a:solidFill>
                          <a:effectLst/>
                          <a:latin typeface="Meiryo UI" panose="020B0604030504040204" pitchFamily="50" charset="-128"/>
                          <a:ea typeface="Meiryo UI" panose="020B0604030504040204" pitchFamily="50" charset="-128"/>
                        </a:rPr>
                        <a:t>分類</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tc>
                  <a:txBody>
                    <a:bodyPr/>
                    <a:lstStyle/>
                    <a:p>
                      <a:pPr algn="l" fontAlgn="ctr"/>
                      <a:r>
                        <a:rPr lang="ja-JP" altLang="en-US" sz="12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E1271"/>
                    </a:solidFill>
                  </a:tcPr>
                </a:tc>
                <a:extLst>
                  <a:ext uri="{0D108BD9-81ED-4DB2-BD59-A6C34878D82A}">
                    <a16:rowId xmlns:a16="http://schemas.microsoft.com/office/drawing/2014/main" val="3290890090"/>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1-1</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カスタマイズ即時更新要求</a:t>
                      </a:r>
                      <a:endParaRPr lang="en-US" altLang="ja-JP" sz="1200" b="0" i="0" u="none" strike="noStrike" dirty="0">
                        <a:solidFill>
                          <a:srgbClr val="000000"/>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業務</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Worker</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処理</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Worker</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から通知を受け、</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K053</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コマンド受信情報を</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RDB</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のテーブルに記録する。</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6453553"/>
                  </a:ext>
                </a:extLst>
              </a:tr>
              <a:tr h="791034">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1-2</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カスタマイズ設定トレサビ受信</a:t>
                      </a:r>
                      <a:endParaRPr lang="en-US" altLang="ja-JP" sz="1200" b="0" i="0" u="none" strike="noStrike" dirty="0">
                        <a:solidFill>
                          <a:srgbClr val="000000"/>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業務</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Worker</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処理</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Worker</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から通知を受け、</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K060</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コマンド受信情報を</a:t>
                      </a: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RDB</a:t>
                      </a:r>
                      <a:r>
                        <a:rPr lang="ja-JP" altLang="en-US" sz="1200" b="0" i="0" u="none" strike="noStrike" dirty="0">
                          <a:solidFill>
                            <a:srgbClr val="000000"/>
                          </a:solidFill>
                          <a:effectLst/>
                          <a:latin typeface="Meiryo UI" panose="020B0604030504040204" pitchFamily="50" charset="-128"/>
                          <a:ea typeface="Meiryo UI" panose="020B0604030504040204" pitchFamily="50" charset="-128"/>
                        </a:rPr>
                        <a:t>のテーブルに記録する。</a:t>
                      </a:r>
                    </a:p>
                  </a:txBody>
                  <a:tcPr marL="6330" marR="6330" marT="633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3685998"/>
                  </a:ext>
                </a:extLst>
              </a:tr>
            </a:tbl>
          </a:graphicData>
        </a:graphic>
      </p:graphicFrame>
      <p:sp>
        <p:nvSpPr>
          <p:cNvPr id="7" name="テキスト ボックス 6">
            <a:extLst>
              <a:ext uri="{FF2B5EF4-FFF2-40B4-BE49-F238E27FC236}">
                <a16:creationId xmlns:a16="http://schemas.microsoft.com/office/drawing/2014/main" id="{7ACCFC53-A965-44ED-91F8-B219D2830A05}"/>
              </a:ext>
            </a:extLst>
          </p:cNvPr>
          <p:cNvSpPr txBox="1"/>
          <p:nvPr/>
        </p:nvSpPr>
        <p:spPr>
          <a:xfrm>
            <a:off x="192024" y="796294"/>
            <a:ext cx="2371883" cy="360000"/>
          </a:xfrm>
          <a:prstGeom prst="rect">
            <a:avLst/>
          </a:prstGeom>
          <a:solidFill>
            <a:srgbClr val="140A9A"/>
          </a:solidFill>
        </p:spPr>
        <p:txBody>
          <a:bodyPr wrap="none" rtlCol="0" anchor="ctr">
            <a:noAutofit/>
          </a:bodyPr>
          <a:lstStyle/>
          <a:p>
            <a:pPr algn="ctr"/>
            <a:r>
              <a:rPr lang="en-US" altLang="ja-JP" sz="1400" dirty="0">
                <a:solidFill>
                  <a:schemeClr val="bg1"/>
                </a:solidFill>
              </a:rPr>
              <a:t>Worker/</a:t>
            </a:r>
            <a:r>
              <a:rPr lang="ja-JP" altLang="en-US" sz="1400" dirty="0">
                <a:solidFill>
                  <a:schemeClr val="bg1"/>
                </a:solidFill>
              </a:rPr>
              <a:t>業務</a:t>
            </a:r>
            <a:r>
              <a:rPr lang="en-US" altLang="ja-JP" sz="1400" dirty="0">
                <a:solidFill>
                  <a:schemeClr val="bg1"/>
                </a:solidFill>
              </a:rPr>
              <a:t>Worker</a:t>
            </a:r>
            <a:r>
              <a:rPr lang="ja-JP" altLang="en-US" sz="1400" dirty="0">
                <a:solidFill>
                  <a:schemeClr val="bg1"/>
                </a:solidFill>
              </a:rPr>
              <a:t>処理一覧</a:t>
            </a:r>
            <a:endParaRPr kumimoji="1" lang="ja-JP" altLang="en-US" sz="1400" dirty="0">
              <a:solidFill>
                <a:schemeClr val="bg1"/>
              </a:solidFill>
            </a:endParaRPr>
          </a:p>
        </p:txBody>
      </p:sp>
    </p:spTree>
    <p:extLst>
      <p:ext uri="{BB962C8B-B14F-4D97-AF65-F5344CB8AC3E}">
        <p14:creationId xmlns:p14="http://schemas.microsoft.com/office/powerpoint/2010/main" val="435683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34A784-8E60-4CF4-83B5-5091FECA2BA2}"/>
              </a:ext>
            </a:extLst>
          </p:cNvPr>
          <p:cNvSpPr>
            <a:spLocks noGrp="1"/>
          </p:cNvSpPr>
          <p:nvPr>
            <p:ph type="title"/>
          </p:nvPr>
        </p:nvSpPr>
        <p:spPr>
          <a:xfrm>
            <a:off x="192024" y="81756"/>
            <a:ext cx="8750808" cy="396000"/>
          </a:xfrm>
        </p:spPr>
        <p:txBody>
          <a:bodyPr/>
          <a:lstStyle/>
          <a:p>
            <a:r>
              <a:rPr lang="ja-JP" altLang="en-US" dirty="0"/>
              <a:t>４．開発の進め方</a:t>
            </a:r>
            <a:endParaRPr kumimoji="1" lang="ja-JP" altLang="en-US" dirty="0"/>
          </a:p>
        </p:txBody>
      </p:sp>
      <p:graphicFrame>
        <p:nvGraphicFramePr>
          <p:cNvPr id="4" name="表 3">
            <a:extLst>
              <a:ext uri="{FF2B5EF4-FFF2-40B4-BE49-F238E27FC236}">
                <a16:creationId xmlns:a16="http://schemas.microsoft.com/office/drawing/2014/main" id="{4EF5B4AE-345F-49C5-963E-70B2194F4FE5}"/>
              </a:ext>
            </a:extLst>
          </p:cNvPr>
          <p:cNvGraphicFramePr>
            <a:graphicFrameLocks noGrp="1"/>
          </p:cNvGraphicFramePr>
          <p:nvPr/>
        </p:nvGraphicFramePr>
        <p:xfrm>
          <a:off x="118184" y="616063"/>
          <a:ext cx="8817389" cy="2609760"/>
        </p:xfrm>
        <a:graphic>
          <a:graphicData uri="http://schemas.openxmlformats.org/drawingml/2006/table">
            <a:tbl>
              <a:tblPr firstRow="1" bandRow="1">
                <a:tableStyleId>{5940675A-B579-460E-94D1-54222C63F5DA}</a:tableStyleId>
              </a:tblPr>
              <a:tblGrid>
                <a:gridCol w="1322608">
                  <a:extLst>
                    <a:ext uri="{9D8B030D-6E8A-4147-A177-3AD203B41FA5}">
                      <a16:colId xmlns:a16="http://schemas.microsoft.com/office/drawing/2014/main" val="3287163009"/>
                    </a:ext>
                  </a:extLst>
                </a:gridCol>
                <a:gridCol w="1322608">
                  <a:extLst>
                    <a:ext uri="{9D8B030D-6E8A-4147-A177-3AD203B41FA5}">
                      <a16:colId xmlns:a16="http://schemas.microsoft.com/office/drawing/2014/main" val="3882778841"/>
                    </a:ext>
                  </a:extLst>
                </a:gridCol>
                <a:gridCol w="293913">
                  <a:extLst>
                    <a:ext uri="{9D8B030D-6E8A-4147-A177-3AD203B41FA5}">
                      <a16:colId xmlns:a16="http://schemas.microsoft.com/office/drawing/2014/main" val="2357819684"/>
                    </a:ext>
                  </a:extLst>
                </a:gridCol>
                <a:gridCol w="293913">
                  <a:extLst>
                    <a:ext uri="{9D8B030D-6E8A-4147-A177-3AD203B41FA5}">
                      <a16:colId xmlns:a16="http://schemas.microsoft.com/office/drawing/2014/main" val="3045830146"/>
                    </a:ext>
                  </a:extLst>
                </a:gridCol>
                <a:gridCol w="293913">
                  <a:extLst>
                    <a:ext uri="{9D8B030D-6E8A-4147-A177-3AD203B41FA5}">
                      <a16:colId xmlns:a16="http://schemas.microsoft.com/office/drawing/2014/main" val="624113807"/>
                    </a:ext>
                  </a:extLst>
                </a:gridCol>
                <a:gridCol w="293913">
                  <a:extLst>
                    <a:ext uri="{9D8B030D-6E8A-4147-A177-3AD203B41FA5}">
                      <a16:colId xmlns:a16="http://schemas.microsoft.com/office/drawing/2014/main" val="620313030"/>
                    </a:ext>
                  </a:extLst>
                </a:gridCol>
                <a:gridCol w="293913">
                  <a:extLst>
                    <a:ext uri="{9D8B030D-6E8A-4147-A177-3AD203B41FA5}">
                      <a16:colId xmlns:a16="http://schemas.microsoft.com/office/drawing/2014/main" val="2441800853"/>
                    </a:ext>
                  </a:extLst>
                </a:gridCol>
                <a:gridCol w="293913">
                  <a:extLst>
                    <a:ext uri="{9D8B030D-6E8A-4147-A177-3AD203B41FA5}">
                      <a16:colId xmlns:a16="http://schemas.microsoft.com/office/drawing/2014/main" val="2768961502"/>
                    </a:ext>
                  </a:extLst>
                </a:gridCol>
                <a:gridCol w="293913">
                  <a:extLst>
                    <a:ext uri="{9D8B030D-6E8A-4147-A177-3AD203B41FA5}">
                      <a16:colId xmlns:a16="http://schemas.microsoft.com/office/drawing/2014/main" val="1124386316"/>
                    </a:ext>
                  </a:extLst>
                </a:gridCol>
                <a:gridCol w="293913">
                  <a:extLst>
                    <a:ext uri="{9D8B030D-6E8A-4147-A177-3AD203B41FA5}">
                      <a16:colId xmlns:a16="http://schemas.microsoft.com/office/drawing/2014/main" val="949354139"/>
                    </a:ext>
                  </a:extLst>
                </a:gridCol>
                <a:gridCol w="293913">
                  <a:extLst>
                    <a:ext uri="{9D8B030D-6E8A-4147-A177-3AD203B41FA5}">
                      <a16:colId xmlns:a16="http://schemas.microsoft.com/office/drawing/2014/main" val="4276406188"/>
                    </a:ext>
                  </a:extLst>
                </a:gridCol>
                <a:gridCol w="293913">
                  <a:extLst>
                    <a:ext uri="{9D8B030D-6E8A-4147-A177-3AD203B41FA5}">
                      <a16:colId xmlns:a16="http://schemas.microsoft.com/office/drawing/2014/main" val="2682266586"/>
                    </a:ext>
                  </a:extLst>
                </a:gridCol>
                <a:gridCol w="293913">
                  <a:extLst>
                    <a:ext uri="{9D8B030D-6E8A-4147-A177-3AD203B41FA5}">
                      <a16:colId xmlns:a16="http://schemas.microsoft.com/office/drawing/2014/main" val="235527521"/>
                    </a:ext>
                  </a:extLst>
                </a:gridCol>
                <a:gridCol w="293913">
                  <a:extLst>
                    <a:ext uri="{9D8B030D-6E8A-4147-A177-3AD203B41FA5}">
                      <a16:colId xmlns:a16="http://schemas.microsoft.com/office/drawing/2014/main" val="3030121084"/>
                    </a:ext>
                  </a:extLst>
                </a:gridCol>
                <a:gridCol w="293913">
                  <a:extLst>
                    <a:ext uri="{9D8B030D-6E8A-4147-A177-3AD203B41FA5}">
                      <a16:colId xmlns:a16="http://schemas.microsoft.com/office/drawing/2014/main" val="3603924112"/>
                    </a:ext>
                  </a:extLst>
                </a:gridCol>
                <a:gridCol w="293913">
                  <a:extLst>
                    <a:ext uri="{9D8B030D-6E8A-4147-A177-3AD203B41FA5}">
                      <a16:colId xmlns:a16="http://schemas.microsoft.com/office/drawing/2014/main" val="547994871"/>
                    </a:ext>
                  </a:extLst>
                </a:gridCol>
                <a:gridCol w="293913">
                  <a:extLst>
                    <a:ext uri="{9D8B030D-6E8A-4147-A177-3AD203B41FA5}">
                      <a16:colId xmlns:a16="http://schemas.microsoft.com/office/drawing/2014/main" val="285286566"/>
                    </a:ext>
                  </a:extLst>
                </a:gridCol>
                <a:gridCol w="293913">
                  <a:extLst>
                    <a:ext uri="{9D8B030D-6E8A-4147-A177-3AD203B41FA5}">
                      <a16:colId xmlns:a16="http://schemas.microsoft.com/office/drawing/2014/main" val="2780176608"/>
                    </a:ext>
                  </a:extLst>
                </a:gridCol>
                <a:gridCol w="293913">
                  <a:extLst>
                    <a:ext uri="{9D8B030D-6E8A-4147-A177-3AD203B41FA5}">
                      <a16:colId xmlns:a16="http://schemas.microsoft.com/office/drawing/2014/main" val="2583819365"/>
                    </a:ext>
                  </a:extLst>
                </a:gridCol>
                <a:gridCol w="293913">
                  <a:extLst>
                    <a:ext uri="{9D8B030D-6E8A-4147-A177-3AD203B41FA5}">
                      <a16:colId xmlns:a16="http://schemas.microsoft.com/office/drawing/2014/main" val="3742333701"/>
                    </a:ext>
                  </a:extLst>
                </a:gridCol>
                <a:gridCol w="293913">
                  <a:extLst>
                    <a:ext uri="{9D8B030D-6E8A-4147-A177-3AD203B41FA5}">
                      <a16:colId xmlns:a16="http://schemas.microsoft.com/office/drawing/2014/main" val="1627272015"/>
                    </a:ext>
                  </a:extLst>
                </a:gridCol>
                <a:gridCol w="293913">
                  <a:extLst>
                    <a:ext uri="{9D8B030D-6E8A-4147-A177-3AD203B41FA5}">
                      <a16:colId xmlns:a16="http://schemas.microsoft.com/office/drawing/2014/main" val="1310343790"/>
                    </a:ext>
                  </a:extLst>
                </a:gridCol>
                <a:gridCol w="293913">
                  <a:extLst>
                    <a:ext uri="{9D8B030D-6E8A-4147-A177-3AD203B41FA5}">
                      <a16:colId xmlns:a16="http://schemas.microsoft.com/office/drawing/2014/main" val="2470449050"/>
                    </a:ext>
                  </a:extLst>
                </a:gridCol>
              </a:tblGrid>
              <a:tr h="59511">
                <a:tc rowSpan="2" gridSpan="2">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marL="0" marR="0" marT="0" marB="0" anchor="ctr"/>
                </a:tc>
                <a:tc rowSpan="2" hMerge="1">
                  <a:txBody>
                    <a:bodyPr/>
                    <a:lstStyle/>
                    <a:p>
                      <a:endParaRPr kumimoji="1" lang="ja-JP" altLang="en-US"/>
                    </a:p>
                  </a:txBody>
                  <a:tcPr/>
                </a:tc>
                <a:tc gridSpan="12">
                  <a:txBody>
                    <a:bodyPr/>
                    <a:lstStyle/>
                    <a:p>
                      <a:pPr algn="ctr"/>
                      <a:r>
                        <a:rPr kumimoji="1" lang="en-US" altLang="ja-JP" sz="1400" dirty="0">
                          <a:latin typeface="Meiryo UI" panose="020B0604030504040204" pitchFamily="50" charset="-128"/>
                          <a:ea typeface="Meiryo UI" panose="020B0604030504040204" pitchFamily="50" charset="-128"/>
                        </a:rPr>
                        <a:t>2021</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a:txBody>
                    <a:bodyPr/>
                    <a:lstStyle/>
                    <a:p>
                      <a:endParaRPr kumimoji="1" lang="ja-JP" altLang="en-US" dirty="0">
                        <a:latin typeface="Meiryo UI" panose="020B0604030504040204" pitchFamily="50" charset="-128"/>
                        <a:ea typeface="Meiryo UI" panose="020B0604030504040204" pitchFamily="50" charset="-128"/>
                      </a:endParaRPr>
                    </a:p>
                  </a:txBody>
                  <a:tcPr/>
                </a:tc>
                <a:tc hMerge="1">
                  <a:txBody>
                    <a:bodyPr/>
                    <a:lstStyle/>
                    <a:p>
                      <a:endParaRPr kumimoji="1" lang="ja-JP" altLang="en-US" dirty="0">
                        <a:latin typeface="Meiryo UI" panose="020B0604030504040204" pitchFamily="50" charset="-128"/>
                        <a:ea typeface="Meiryo UI" panose="020B0604030504040204" pitchFamily="50" charset="-128"/>
                      </a:endParaRPr>
                    </a:p>
                  </a:txBody>
                  <a:tcPr/>
                </a:tc>
                <a:tc hMerge="1">
                  <a:txBody>
                    <a:bodyPr/>
                    <a:lstStyle/>
                    <a:p>
                      <a:endParaRPr kumimoji="1" lang="ja-JP" altLang="en-US" dirty="0">
                        <a:latin typeface="Meiryo UI" panose="020B0604030504040204" pitchFamily="50" charset="-128"/>
                        <a:ea typeface="Meiryo UI" panose="020B0604030504040204" pitchFamily="50" charset="-128"/>
                      </a:endParaRPr>
                    </a:p>
                  </a:txBody>
                  <a:tcPr/>
                </a:tc>
                <a:tc hMerge="1">
                  <a:txBody>
                    <a:bodyPr/>
                    <a:lstStyle/>
                    <a:p>
                      <a:endParaRPr kumimoji="1" lang="ja-JP" altLang="en-US" dirty="0">
                        <a:latin typeface="Meiryo UI" panose="020B0604030504040204" pitchFamily="50" charset="-128"/>
                        <a:ea typeface="Meiryo UI" panose="020B0604030504040204" pitchFamily="50" charset="-128"/>
                      </a:endParaRPr>
                    </a:p>
                  </a:txBody>
                  <a:tcPr/>
                </a:tc>
                <a:tc hMerge="1">
                  <a:txBody>
                    <a:bodyPr/>
                    <a:lstStyle/>
                    <a:p>
                      <a:pPr algn="ctr"/>
                      <a:r>
                        <a:rPr kumimoji="1" lang="en-US" altLang="ja-JP" sz="1200" dirty="0">
                          <a:latin typeface="Meiryo UI" panose="020B0604030504040204" pitchFamily="50" charset="-128"/>
                          <a:ea typeface="Meiryo UI" panose="020B0604030504040204" pitchFamily="50" charset="-128"/>
                        </a:rPr>
                        <a:t>7</a:t>
                      </a:r>
                      <a:endParaRPr kumimoji="1" lang="ja-JP" altLang="en-US" sz="1200" dirty="0">
                        <a:latin typeface="Meiryo UI" panose="020B0604030504040204" pitchFamily="50" charset="-128"/>
                        <a:ea typeface="Meiryo UI" panose="020B0604030504040204" pitchFamily="50" charset="-128"/>
                      </a:endParaRPr>
                    </a:p>
                  </a:txBody>
                  <a:tcPr marL="0" marR="0" marT="0" marB="0" anchor="ctr"/>
                </a:tc>
                <a:tc hMerge="1">
                  <a:txBody>
                    <a:bodyPr/>
                    <a:lstStyle/>
                    <a:p>
                      <a:endParaRPr kumimoji="1" lang="ja-JP" altLang="en-US"/>
                    </a:p>
                  </a:txBody>
                  <a:tcPr/>
                </a:tc>
                <a:tc hMerge="1">
                  <a:txBody>
                    <a:bodyPr/>
                    <a:lstStyle/>
                    <a:p>
                      <a:endParaRPr kumimoji="1" lang="ja-JP" altLang="en-US" dirty="0">
                        <a:latin typeface="Meiryo UI" panose="020B0604030504040204" pitchFamily="50" charset="-128"/>
                        <a:ea typeface="Meiryo UI" panose="020B0604030504040204" pitchFamily="50" charset="-128"/>
                      </a:endParaRPr>
                    </a:p>
                  </a:txBody>
                  <a:tcPr/>
                </a:tc>
                <a:tc hMerge="1">
                  <a:txBody>
                    <a:bodyPr/>
                    <a:lstStyle/>
                    <a:p>
                      <a:endParaRPr kumimoji="1" lang="ja-JP" altLang="en-US"/>
                    </a:p>
                  </a:txBody>
                  <a:tcPr/>
                </a:tc>
                <a:tc hMerge="1">
                  <a:txBody>
                    <a:bodyPr/>
                    <a:lstStyle/>
                    <a:p>
                      <a:pPr algn="ctr"/>
                      <a:r>
                        <a:rPr kumimoji="1" lang="en-US" altLang="ja-JP" sz="1200" dirty="0">
                          <a:latin typeface="Meiryo UI" panose="020B0604030504040204" pitchFamily="50" charset="-128"/>
                          <a:ea typeface="Meiryo UI" panose="020B0604030504040204" pitchFamily="50" charset="-128"/>
                        </a:rPr>
                        <a:t>8</a:t>
                      </a:r>
                      <a:endParaRPr kumimoji="1" lang="ja-JP" altLang="en-US" sz="12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marL="0" marR="0" marT="0" marB="0"/>
                </a:tc>
                <a:tc hMerge="1">
                  <a:txBody>
                    <a:bodyPr/>
                    <a:lstStyle/>
                    <a:p>
                      <a:endParaRPr kumimoji="1" lang="ja-JP" altLang="en-US" dirty="0"/>
                    </a:p>
                  </a:txBody>
                  <a:tcPr/>
                </a:tc>
                <a:tc gridSpan="9">
                  <a:txBody>
                    <a:bodyPr/>
                    <a:lstStyle/>
                    <a:p>
                      <a:pPr algn="ctr"/>
                      <a:r>
                        <a:rPr kumimoji="1" lang="en-US" altLang="ja-JP" sz="1400" dirty="0">
                          <a:latin typeface="Meiryo UI" panose="020B0604030504040204" pitchFamily="50" charset="-128"/>
                          <a:ea typeface="Meiryo UI" panose="020B0604030504040204" pitchFamily="50" charset="-128"/>
                        </a:rPr>
                        <a:t>2022</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marL="0" marR="0" marT="0" marB="0"/>
                </a:tc>
                <a:tc hMerge="1">
                  <a:txBody>
                    <a:bodyPr/>
                    <a:lstStyle/>
                    <a:p>
                      <a:pPr algn="ctr"/>
                      <a:r>
                        <a:rPr kumimoji="1" lang="en-US" altLang="ja-JP" sz="1200" dirty="0">
                          <a:latin typeface="Meiryo UI" panose="020B0604030504040204" pitchFamily="50" charset="-128"/>
                          <a:ea typeface="Meiryo UI" panose="020B0604030504040204" pitchFamily="50" charset="-128"/>
                        </a:rPr>
                        <a:t>9</a:t>
                      </a:r>
                      <a:endParaRPr kumimoji="1" lang="ja-JP" altLang="en-US" sz="12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200" dirty="0">
                        <a:latin typeface="Meiryo UI" panose="020B0604030504040204" pitchFamily="50" charset="-128"/>
                        <a:ea typeface="Meiryo UI" panose="020B0604030504040204" pitchFamily="50" charset="-128"/>
                      </a:endParaRPr>
                    </a:p>
                  </a:txBody>
                  <a:tcPr marL="0" marR="0" marT="0" marB="0"/>
                </a:tc>
                <a:tc hMerge="1">
                  <a:txBody>
                    <a:bodyPr/>
                    <a:lstStyle/>
                    <a:p>
                      <a:pPr algn="ct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a:txBody>
                    <a:bodyPr/>
                    <a:lstStyle/>
                    <a:p>
                      <a:pPr algn="ctr"/>
                      <a:endParaRPr kumimoji="1" lang="ja-JP" altLang="en-US" sz="1400" dirty="0">
                        <a:latin typeface="Meiryo UI" panose="020B0604030504040204" pitchFamily="50" charset="-128"/>
                        <a:ea typeface="Meiryo UI" panose="020B0604030504040204" pitchFamily="50" charset="-128"/>
                      </a:endParaRPr>
                    </a:p>
                  </a:txBody>
                  <a:tcPr marL="0" marR="0" marT="0" marB="0" anchor="ctr"/>
                </a:tc>
                <a:extLst>
                  <a:ext uri="{0D108BD9-81ED-4DB2-BD59-A6C34878D82A}">
                    <a16:rowId xmlns:a16="http://schemas.microsoft.com/office/drawing/2014/main" val="2219696279"/>
                  </a:ext>
                </a:extLst>
              </a:tr>
              <a:tr h="0">
                <a:tc gridSpan="2" vMerge="1">
                  <a:txBody>
                    <a:bodyPr/>
                    <a:lstStyle/>
                    <a:p>
                      <a:pPr algn="ct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hMerge="1" vMerge="1">
                  <a:txBody>
                    <a:bodyPr/>
                    <a:lstStyle/>
                    <a:p>
                      <a:endParaRPr kumimoji="1" lang="ja-JP" altLang="en-US"/>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2</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3</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4</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5</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6</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7</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8</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9</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10</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11</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12</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2</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3</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4</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ja-JP" altLang="en-US" sz="1400" dirty="0">
                          <a:latin typeface="Meiryo UI" panose="020B0604030504040204" pitchFamily="50" charset="-128"/>
                          <a:ea typeface="Meiryo UI" panose="020B0604030504040204" pitchFamily="50" charset="-128"/>
                        </a:rPr>
                        <a:t>５</a:t>
                      </a:r>
                    </a:p>
                  </a:txBody>
                  <a:tcPr marL="0" marR="0" marT="0" marB="0" anchor="ctr"/>
                </a:tc>
                <a:tc>
                  <a:txBody>
                    <a:bodyPr/>
                    <a:lstStyle/>
                    <a:p>
                      <a:pPr algn="ctr"/>
                      <a:r>
                        <a:rPr kumimoji="1" lang="ja-JP" altLang="en-US" sz="1400" dirty="0">
                          <a:latin typeface="Meiryo UI" panose="020B0604030504040204" pitchFamily="50" charset="-128"/>
                          <a:ea typeface="Meiryo UI" panose="020B0604030504040204" pitchFamily="50" charset="-128"/>
                        </a:rPr>
                        <a:t>６</a:t>
                      </a:r>
                    </a:p>
                  </a:txBody>
                  <a:tcPr marL="0" marR="0" marT="0" marB="0" anchor="ctr"/>
                </a:tc>
                <a:tc>
                  <a:txBody>
                    <a:bodyPr/>
                    <a:lstStyle/>
                    <a:p>
                      <a:pPr algn="ctr"/>
                      <a:r>
                        <a:rPr kumimoji="1" lang="ja-JP" altLang="en-US" sz="1400" dirty="0">
                          <a:latin typeface="Meiryo UI" panose="020B0604030504040204" pitchFamily="50" charset="-128"/>
                          <a:ea typeface="Meiryo UI" panose="020B0604030504040204" pitchFamily="50" charset="-128"/>
                        </a:rPr>
                        <a:t>７</a:t>
                      </a: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8</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tc>
                  <a:txBody>
                    <a:bodyPr/>
                    <a:lstStyle/>
                    <a:p>
                      <a:pPr algn="ctr"/>
                      <a:r>
                        <a:rPr kumimoji="1" lang="en-US" altLang="ja-JP" sz="1400" dirty="0">
                          <a:latin typeface="Meiryo UI" panose="020B0604030504040204" pitchFamily="50" charset="-128"/>
                          <a:ea typeface="Meiryo UI" panose="020B0604030504040204" pitchFamily="50" charset="-128"/>
                        </a:rPr>
                        <a:t>9</a:t>
                      </a:r>
                      <a:endParaRPr kumimoji="1" lang="ja-JP" altLang="en-US" sz="1400" dirty="0">
                        <a:latin typeface="Meiryo UI" panose="020B0604030504040204" pitchFamily="50" charset="-128"/>
                        <a:ea typeface="Meiryo UI" panose="020B0604030504040204" pitchFamily="50" charset="-128"/>
                      </a:endParaRPr>
                    </a:p>
                  </a:txBody>
                  <a:tcPr marL="0" marR="0" marT="0" marB="0" anchor="ctr"/>
                </a:tc>
                <a:extLst>
                  <a:ext uri="{0D108BD9-81ED-4DB2-BD59-A6C34878D82A}">
                    <a16:rowId xmlns:a16="http://schemas.microsoft.com/office/drawing/2014/main" val="4087027712"/>
                  </a:ext>
                </a:extLst>
              </a:tr>
              <a:tr h="326597">
                <a:tc gridSpan="2">
                  <a:txBody>
                    <a:bodyPr/>
                    <a:lstStyle/>
                    <a:p>
                      <a:pPr algn="ctr"/>
                      <a:r>
                        <a:rPr kumimoji="1" lang="ja-JP" altLang="en-US" sz="1400" dirty="0">
                          <a:latin typeface="Meiryo UI" panose="020B0604030504040204" pitchFamily="50" charset="-128"/>
                          <a:ea typeface="Meiryo UI" panose="020B0604030504040204" pitchFamily="50" charset="-128"/>
                        </a:rPr>
                        <a:t>リリース</a:t>
                      </a:r>
                      <a:r>
                        <a:rPr kumimoji="1" lang="en-US" altLang="ja-JP" sz="1400" dirty="0">
                          <a:latin typeface="Meiryo UI" panose="020B0604030504040204" pitchFamily="50" charset="-128"/>
                          <a:ea typeface="Meiryo UI" panose="020B0604030504040204" pitchFamily="50" charset="-128"/>
                        </a:rPr>
                        <a:t>1</a:t>
                      </a:r>
                      <a:r>
                        <a:rPr kumimoji="1" lang="ja-JP" altLang="en-US" sz="1400" dirty="0">
                          <a:latin typeface="Meiryo UI" panose="020B0604030504040204" pitchFamily="50" charset="-128"/>
                          <a:ea typeface="Meiryo UI" panose="020B0604030504040204" pitchFamily="50" charset="-128"/>
                        </a:rPr>
                        <a:t>ダッシュ</a:t>
                      </a:r>
                    </a:p>
                  </a:txBody>
                  <a:tcPr anchor="ctr"/>
                </a:tc>
                <a:tc hMerge="1">
                  <a:txBody>
                    <a:bodyPr/>
                    <a:lstStyle/>
                    <a:p>
                      <a:endParaRPr kumimoji="1" lang="ja-JP" altLang="en-US"/>
                    </a:p>
                  </a:txBody>
                  <a:tcP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026384867"/>
                  </a:ext>
                </a:extLst>
              </a:tr>
              <a:tr h="324000">
                <a:tc gridSpan="2">
                  <a:txBody>
                    <a:bodyPr/>
                    <a:lstStyle/>
                    <a:p>
                      <a:pPr algn="ctr"/>
                      <a:r>
                        <a:rPr kumimoji="1" lang="ja-JP" altLang="en-US" sz="1400" dirty="0">
                          <a:latin typeface="Meiryo UI" panose="020B0604030504040204" pitchFamily="50" charset="-128"/>
                          <a:ea typeface="Meiryo UI" panose="020B0604030504040204" pitchFamily="50" charset="-128"/>
                        </a:rPr>
                        <a:t>リリース</a:t>
                      </a:r>
                      <a:r>
                        <a:rPr kumimoji="1" lang="en-US" altLang="ja-JP" sz="1400" dirty="0">
                          <a:latin typeface="Meiryo UI" panose="020B0604030504040204" pitchFamily="50" charset="-128"/>
                          <a:ea typeface="Meiryo UI" panose="020B0604030504040204" pitchFamily="50" charset="-128"/>
                        </a:rPr>
                        <a:t>1</a:t>
                      </a:r>
                    </a:p>
                  </a:txBody>
                  <a:tcPr anchor="ctr"/>
                </a:tc>
                <a:tc hMerge="1">
                  <a:txBody>
                    <a:bodyPr/>
                    <a:lstStyle/>
                    <a:p>
                      <a:endParaRPr kumimoji="1" lang="ja-JP" altLang="en-US"/>
                    </a:p>
                  </a:txBody>
                  <a:tcP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103214864"/>
                  </a:ext>
                </a:extLst>
              </a:tr>
              <a:tr h="324000">
                <a:tc rowSpan="3">
                  <a:txBody>
                    <a:bodyPr/>
                    <a:lstStyle/>
                    <a:p>
                      <a:pPr algn="ctr"/>
                      <a:r>
                        <a:rPr kumimoji="1" lang="ja-JP" altLang="en-US" sz="1400" dirty="0">
                          <a:latin typeface="Meiryo UI" panose="020B0604030504040204" pitchFamily="50" charset="-128"/>
                          <a:ea typeface="Meiryo UI" panose="020B0604030504040204" pitchFamily="50" charset="-128"/>
                        </a:rPr>
                        <a:t>リリース</a:t>
                      </a:r>
                      <a:r>
                        <a:rPr kumimoji="1" lang="en-US" altLang="ja-JP" sz="1400" dirty="0">
                          <a:latin typeface="Meiryo UI" panose="020B0604030504040204" pitchFamily="50" charset="-128"/>
                          <a:ea typeface="Meiryo UI" panose="020B0604030504040204" pitchFamily="50" charset="-128"/>
                        </a:rPr>
                        <a:t>1+α</a:t>
                      </a:r>
                      <a:endParaRPr kumimoji="1" lang="ja-JP" altLang="en-US" sz="1400" dirty="0">
                        <a:latin typeface="Meiryo UI" panose="020B0604030504040204" pitchFamily="50" charset="-128"/>
                        <a:ea typeface="Meiryo UI" panose="020B0604030504040204" pitchFamily="50" charset="-128"/>
                      </a:endParaRPr>
                    </a:p>
                  </a:txBody>
                  <a:tcPr anchor="ctr"/>
                </a:tc>
                <a:tc>
                  <a:txBody>
                    <a:bodyPr/>
                    <a:lstStyle/>
                    <a:p>
                      <a:pPr algn="l"/>
                      <a:r>
                        <a:rPr kumimoji="1" lang="ja-JP" altLang="en-US" sz="1400" dirty="0">
                          <a:solidFill>
                            <a:schemeClr val="tx1"/>
                          </a:solidFill>
                          <a:latin typeface="Meiryo UI" panose="020B0604030504040204" pitchFamily="50" charset="-128"/>
                          <a:ea typeface="Meiryo UI" panose="020B0604030504040204" pitchFamily="50" charset="-128"/>
                        </a:rPr>
                        <a:t>性能改善</a:t>
                      </a:r>
                      <a:endParaRPr kumimoji="1" lang="en-US" altLang="ja-JP" sz="1400" dirty="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335488860"/>
                  </a:ext>
                </a:extLst>
              </a:tr>
              <a:tr h="720000">
                <a:tc vMerge="1">
                  <a:txBody>
                    <a:bodyPr/>
                    <a:lstStyle/>
                    <a:p>
                      <a:pPr algn="ctr"/>
                      <a:r>
                        <a:rPr kumimoji="1" lang="ja-JP" altLang="en-US" sz="1400" dirty="0">
                          <a:latin typeface="Meiryo UI" panose="020B0604030504040204" pitchFamily="50" charset="-128"/>
                          <a:ea typeface="Meiryo UI" panose="020B0604030504040204" pitchFamily="50" charset="-128"/>
                        </a:rPr>
                        <a:t>リリース</a:t>
                      </a:r>
                      <a:r>
                        <a:rPr kumimoji="1" lang="en-US" altLang="ja-JP" sz="1400" dirty="0">
                          <a:latin typeface="Meiryo UI" panose="020B0604030504040204" pitchFamily="50" charset="-128"/>
                          <a:ea typeface="Meiryo UI" panose="020B0604030504040204" pitchFamily="50" charset="-128"/>
                        </a:rPr>
                        <a:t>1+α</a:t>
                      </a:r>
                      <a:endParaRPr kumimoji="1" lang="ja-JP" altLang="en-US" sz="1400" dirty="0">
                        <a:latin typeface="Meiryo UI" panose="020B0604030504040204" pitchFamily="50" charset="-128"/>
                        <a:ea typeface="Meiryo UI" panose="020B0604030504040204" pitchFamily="50" charset="-128"/>
                      </a:endParaRPr>
                    </a:p>
                  </a:txBody>
                  <a:tcPr anchor="ctr"/>
                </a:tc>
                <a:tc>
                  <a:txBody>
                    <a:bodyPr/>
                    <a:lstStyle/>
                    <a:p>
                      <a:pPr algn="l"/>
                      <a:r>
                        <a:rPr kumimoji="1" lang="ja-JP" altLang="en-US" sz="1400" dirty="0">
                          <a:latin typeface="Meiryo UI" panose="020B0604030504040204" pitchFamily="50" charset="-128"/>
                          <a:ea typeface="Meiryo UI" panose="020B0604030504040204" pitchFamily="50" charset="-128"/>
                        </a:rPr>
                        <a:t>ビジネス</a:t>
                      </a:r>
                      <a:endParaRPr kumimoji="1" lang="en-US" altLang="ja-JP" sz="1400" dirty="0">
                        <a:latin typeface="Meiryo UI" panose="020B0604030504040204" pitchFamily="50" charset="-128"/>
                        <a:ea typeface="Meiryo UI" panose="020B0604030504040204" pitchFamily="50" charset="-128"/>
                      </a:endParaRPr>
                    </a:p>
                    <a:p>
                      <a:pPr algn="l"/>
                      <a:r>
                        <a:rPr kumimoji="1" lang="ja-JP" altLang="en-US" sz="1400" dirty="0">
                          <a:latin typeface="Meiryo UI" panose="020B0604030504040204" pitchFamily="50" charset="-128"/>
                          <a:ea typeface="Meiryo UI" panose="020B0604030504040204" pitchFamily="50" charset="-128"/>
                        </a:rPr>
                        <a:t>アプリ対応</a:t>
                      </a: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726516446"/>
                  </a:ext>
                </a:extLst>
              </a:tr>
              <a:tr h="360000">
                <a:tc vMerge="1">
                  <a:txBody>
                    <a:bodyPr/>
                    <a:lstStyle/>
                    <a:p>
                      <a:endParaRPr kumimoji="1" lang="ja-JP" altLang="en-US"/>
                    </a:p>
                  </a:txBody>
                  <a:tcPr/>
                </a:tc>
                <a:tc>
                  <a:txBody>
                    <a:bodyPr/>
                    <a:lstStyle/>
                    <a:p>
                      <a:pPr algn="l"/>
                      <a:r>
                        <a:rPr kumimoji="1" lang="en-US" altLang="ja-JP" sz="1400" dirty="0">
                          <a:latin typeface="Meiryo UI" panose="020B0604030504040204" pitchFamily="50" charset="-128"/>
                          <a:ea typeface="Meiryo UI" panose="020B0604030504040204" pitchFamily="50" charset="-128"/>
                        </a:rPr>
                        <a:t>B55</a:t>
                      </a:r>
                      <a:r>
                        <a:rPr kumimoji="1" lang="ja-JP" altLang="en-US" sz="1400" dirty="0">
                          <a:latin typeface="Meiryo UI" panose="020B0604030504040204" pitchFamily="50" charset="-128"/>
                          <a:ea typeface="Meiryo UI" panose="020B0604030504040204" pitchFamily="50" charset="-128"/>
                        </a:rPr>
                        <a:t>対応</a:t>
                      </a: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233544592"/>
                  </a:ext>
                </a:extLst>
              </a:tr>
            </a:tbl>
          </a:graphicData>
        </a:graphic>
      </p:graphicFrame>
      <p:sp>
        <p:nvSpPr>
          <p:cNvPr id="5" name="矢印: 右 4">
            <a:extLst>
              <a:ext uri="{FF2B5EF4-FFF2-40B4-BE49-F238E27FC236}">
                <a16:creationId xmlns:a16="http://schemas.microsoft.com/office/drawing/2014/main" id="{55608CFF-D30C-4796-8409-1984484FC637}"/>
              </a:ext>
            </a:extLst>
          </p:cNvPr>
          <p:cNvSpPr/>
          <p:nvPr/>
        </p:nvSpPr>
        <p:spPr>
          <a:xfrm>
            <a:off x="3252909" y="1111396"/>
            <a:ext cx="914408" cy="238904"/>
          </a:xfrm>
          <a:prstGeom prst="rightArrow">
            <a:avLst>
              <a:gd name="adj1" fmla="val 100000"/>
              <a:gd name="adj2" fmla="val 28649"/>
            </a:avLst>
          </a:prstGeom>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rPr>
              <a:t>地域展開</a:t>
            </a:r>
          </a:p>
        </p:txBody>
      </p:sp>
      <p:sp>
        <p:nvSpPr>
          <p:cNvPr id="6" name="テキスト ボックス 5">
            <a:extLst>
              <a:ext uri="{FF2B5EF4-FFF2-40B4-BE49-F238E27FC236}">
                <a16:creationId xmlns:a16="http://schemas.microsoft.com/office/drawing/2014/main" id="{574D319A-E1AE-44B2-BEAC-915A170BACA1}"/>
              </a:ext>
            </a:extLst>
          </p:cNvPr>
          <p:cNvSpPr txBox="1"/>
          <p:nvPr/>
        </p:nvSpPr>
        <p:spPr>
          <a:xfrm>
            <a:off x="2679028" y="1104950"/>
            <a:ext cx="480842" cy="251795"/>
          </a:xfrm>
          <a:prstGeom prst="rect">
            <a:avLst/>
          </a:prstGeom>
          <a:solidFill>
            <a:schemeClr val="bg1"/>
          </a:solid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400" i="0" u="none" strike="noStrike" kern="1200" cap="none" spc="0" normalizeH="0" baseline="0" noProof="0" dirty="0">
                <a:ln>
                  <a:noFill/>
                </a:ln>
                <a:solidFill>
                  <a:srgbClr val="1B232A"/>
                </a:solidFill>
                <a:effectLst/>
                <a:uLnTx/>
                <a:uFillTx/>
                <a:latin typeface="Meiryo UI"/>
                <a:ea typeface="Meiryo UI"/>
                <a:cs typeface="+mn-cs"/>
              </a:rPr>
              <a:t>&lt;G&gt;</a:t>
            </a:r>
            <a:endParaRPr kumimoji="1" lang="en-US" altLang="ja-JP" sz="14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7" name="矢印: 右 6">
            <a:extLst>
              <a:ext uri="{FF2B5EF4-FFF2-40B4-BE49-F238E27FC236}">
                <a16:creationId xmlns:a16="http://schemas.microsoft.com/office/drawing/2014/main" id="{05087721-EAC2-40A3-995A-B19001D9C4BD}"/>
              </a:ext>
            </a:extLst>
          </p:cNvPr>
          <p:cNvSpPr/>
          <p:nvPr/>
        </p:nvSpPr>
        <p:spPr>
          <a:xfrm>
            <a:off x="2392263" y="1470024"/>
            <a:ext cx="2546314" cy="251795"/>
          </a:xfrm>
          <a:prstGeom prst="rightArrow">
            <a:avLst>
              <a:gd name="adj1" fmla="val 100000"/>
              <a:gd name="adj2" fmla="val 57091"/>
            </a:avLst>
          </a:prstGeom>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rPr>
              <a:t>開発、テスト</a:t>
            </a:r>
          </a:p>
        </p:txBody>
      </p:sp>
      <p:sp>
        <p:nvSpPr>
          <p:cNvPr id="8" name="テキスト ボックス 7">
            <a:extLst>
              <a:ext uri="{FF2B5EF4-FFF2-40B4-BE49-F238E27FC236}">
                <a16:creationId xmlns:a16="http://schemas.microsoft.com/office/drawing/2014/main" id="{F0414C57-914C-4F47-ABAD-5653CFDB7EA9}"/>
              </a:ext>
            </a:extLst>
          </p:cNvPr>
          <p:cNvSpPr txBox="1"/>
          <p:nvPr/>
        </p:nvSpPr>
        <p:spPr>
          <a:xfrm>
            <a:off x="4840189" y="1335945"/>
            <a:ext cx="480842" cy="251795"/>
          </a:xfrm>
          <a:prstGeom prst="rect">
            <a:avLst/>
          </a:prstGeom>
          <a:no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400" i="0" u="none" strike="noStrike" kern="1200" cap="none" spc="0" normalizeH="0" baseline="0" noProof="0" dirty="0">
                <a:ln>
                  <a:noFill/>
                </a:ln>
                <a:solidFill>
                  <a:srgbClr val="1B232A"/>
                </a:solidFill>
                <a:effectLst/>
                <a:uLnTx/>
                <a:uFillTx/>
                <a:latin typeface="Meiryo UI"/>
                <a:ea typeface="Meiryo UI"/>
                <a:cs typeface="+mn-cs"/>
              </a:rPr>
              <a:t>&lt;G&gt;</a:t>
            </a:r>
            <a:endParaRPr kumimoji="1" lang="en-US" altLang="ja-JP" sz="14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12" name="矢印: 右 11">
            <a:extLst>
              <a:ext uri="{FF2B5EF4-FFF2-40B4-BE49-F238E27FC236}">
                <a16:creationId xmlns:a16="http://schemas.microsoft.com/office/drawing/2014/main" id="{8E67BFEC-82F3-4EAF-8962-5F97CE4E4ABA}"/>
              </a:ext>
            </a:extLst>
          </p:cNvPr>
          <p:cNvSpPr/>
          <p:nvPr/>
        </p:nvSpPr>
        <p:spPr>
          <a:xfrm>
            <a:off x="5445308" y="2580168"/>
            <a:ext cx="2896429" cy="188255"/>
          </a:xfrm>
          <a:prstGeom prst="rightArrow">
            <a:avLst>
              <a:gd name="adj1" fmla="val 100000"/>
              <a:gd name="adj2" fmla="val 71279"/>
            </a:avLst>
          </a:prstGeom>
          <a:solidFill>
            <a:srgbClr val="FFFF00"/>
          </a:solidFill>
          <a:ln w="19050">
            <a:solidFill>
              <a:srgbClr val="FF0000"/>
            </a:solidFill>
          </a:ln>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rPr>
              <a:t>                    　開発、テスト</a:t>
            </a:r>
          </a:p>
        </p:txBody>
      </p:sp>
      <p:sp>
        <p:nvSpPr>
          <p:cNvPr id="13" name="テキスト ボックス 12">
            <a:extLst>
              <a:ext uri="{FF2B5EF4-FFF2-40B4-BE49-F238E27FC236}">
                <a16:creationId xmlns:a16="http://schemas.microsoft.com/office/drawing/2014/main" id="{105DD8AB-A785-40AA-9933-9D22D7EFA0C7}"/>
              </a:ext>
            </a:extLst>
          </p:cNvPr>
          <p:cNvSpPr txBox="1"/>
          <p:nvPr/>
        </p:nvSpPr>
        <p:spPr>
          <a:xfrm>
            <a:off x="2977022" y="2156527"/>
            <a:ext cx="1368711" cy="374906"/>
          </a:xfrm>
          <a:prstGeom prst="rect">
            <a:avLst/>
          </a:prstGeom>
          <a:solidFill>
            <a:schemeClr val="bg1"/>
          </a:solidFill>
        </p:spPr>
        <p:txBody>
          <a:bodyPr wrap="square" lIns="18000" tIns="18000" rIns="18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100" i="0" u="none" strike="noStrike" kern="1200" cap="none" spc="0" normalizeH="0" baseline="0" noProof="0" dirty="0">
                <a:ln>
                  <a:noFill/>
                </a:ln>
                <a:solidFill>
                  <a:srgbClr val="1B232A"/>
                </a:solidFill>
                <a:effectLst/>
                <a:uLnTx/>
                <a:uFillTx/>
                <a:latin typeface="Meiryo UI"/>
                <a:ea typeface="Meiryo UI"/>
                <a:cs typeface="+mn-cs"/>
              </a:rPr>
              <a:t>KICSi GW</a:t>
            </a: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1" lang="ja-JP" altLang="en-US" sz="1100" i="0" u="none" strike="noStrike" kern="1200" cap="none" spc="0" normalizeH="0" baseline="0" noProof="0" dirty="0">
                <a:ln>
                  <a:noFill/>
                </a:ln>
                <a:solidFill>
                  <a:srgbClr val="1B232A"/>
                </a:solidFill>
                <a:effectLst/>
                <a:uLnTx/>
                <a:uFillTx/>
                <a:latin typeface="Meiryo UI"/>
                <a:ea typeface="Meiryo UI"/>
                <a:cs typeface="+mn-cs"/>
              </a:rPr>
              <a:t>詳細データ取得</a:t>
            </a:r>
            <a:r>
              <a:rPr kumimoji="1" lang="en-US" altLang="ja-JP" sz="1100" i="0" u="none" strike="noStrike" kern="1200" cap="none" spc="0" normalizeH="0" baseline="0" noProof="0" dirty="0">
                <a:ln>
                  <a:noFill/>
                </a:ln>
                <a:solidFill>
                  <a:srgbClr val="1B232A"/>
                </a:solidFill>
                <a:effectLst/>
                <a:uLnTx/>
                <a:uFillTx/>
                <a:latin typeface="Meiryo UI"/>
                <a:ea typeface="Meiryo UI"/>
                <a:cs typeface="+mn-cs"/>
              </a:rPr>
              <a:t>API</a:t>
            </a:r>
            <a:endParaRPr kumimoji="1" lang="en-US" altLang="ja-JP" sz="11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14" name="テキスト ボックス 13">
            <a:extLst>
              <a:ext uri="{FF2B5EF4-FFF2-40B4-BE49-F238E27FC236}">
                <a16:creationId xmlns:a16="http://schemas.microsoft.com/office/drawing/2014/main" id="{D2DCA03B-BD7A-495E-95B3-0E1C48F27029}"/>
              </a:ext>
            </a:extLst>
          </p:cNvPr>
          <p:cNvSpPr txBox="1"/>
          <p:nvPr/>
        </p:nvSpPr>
        <p:spPr>
          <a:xfrm>
            <a:off x="3577068" y="2568997"/>
            <a:ext cx="1697605" cy="205629"/>
          </a:xfrm>
          <a:prstGeom prst="rect">
            <a:avLst/>
          </a:prstGeom>
          <a:solidFill>
            <a:schemeClr val="bg1"/>
          </a:solidFill>
        </p:spPr>
        <p:txBody>
          <a:bodyPr wrap="square" lIns="18000" tIns="18000" rIns="18000" bIns="1800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1" lang="ja-JP" altLang="en-US" sz="1100" b="1" i="0" u="none" strike="noStrike" kern="1200" cap="none" spc="0" normalizeH="0" baseline="0" noProof="0" dirty="0">
                <a:ln>
                  <a:noFill/>
                </a:ln>
                <a:solidFill>
                  <a:srgbClr val="1B232A"/>
                </a:solidFill>
                <a:effectLst/>
                <a:uLnTx/>
                <a:uFillTx/>
                <a:latin typeface="Meiryo UI"/>
                <a:ea typeface="Meiryo UI"/>
                <a:cs typeface="+mn-cs"/>
              </a:rPr>
              <a:t>上記以外（設定画面など）</a:t>
            </a:r>
            <a:endParaRPr kumimoji="1" lang="en-US" altLang="ja-JP" sz="1100" b="1" i="0" u="none" strike="noStrike" kern="1200" cap="none" spc="0" normalizeH="0" baseline="0" noProof="0" dirty="0">
              <a:ln>
                <a:noFill/>
              </a:ln>
              <a:solidFill>
                <a:srgbClr val="1B232A"/>
              </a:solidFill>
              <a:effectLst/>
              <a:uLnTx/>
              <a:uFillTx/>
              <a:latin typeface="Meiryo UI"/>
              <a:ea typeface="Meiryo UI"/>
              <a:cs typeface="+mn-cs"/>
            </a:endParaRPr>
          </a:p>
        </p:txBody>
      </p:sp>
      <p:sp>
        <p:nvSpPr>
          <p:cNvPr id="15" name="テキスト ボックス 14">
            <a:extLst>
              <a:ext uri="{FF2B5EF4-FFF2-40B4-BE49-F238E27FC236}">
                <a16:creationId xmlns:a16="http://schemas.microsoft.com/office/drawing/2014/main" id="{74FF630D-78F1-4BFB-824F-1FD2E6F98E40}"/>
              </a:ext>
            </a:extLst>
          </p:cNvPr>
          <p:cNvSpPr txBox="1"/>
          <p:nvPr/>
        </p:nvSpPr>
        <p:spPr>
          <a:xfrm>
            <a:off x="8038285" y="2536058"/>
            <a:ext cx="480842" cy="251795"/>
          </a:xfrm>
          <a:prstGeom prst="rect">
            <a:avLst/>
          </a:prstGeom>
          <a:no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400" b="1" i="0" u="none" strike="noStrike" kern="1200" cap="none" spc="0" normalizeH="0" baseline="0" noProof="0" dirty="0">
                <a:ln>
                  <a:noFill/>
                </a:ln>
                <a:solidFill>
                  <a:schemeClr val="accent4"/>
                </a:solidFill>
                <a:effectLst/>
                <a:uLnTx/>
                <a:uFillTx/>
                <a:latin typeface="Meiryo UI"/>
                <a:ea typeface="Meiryo UI"/>
                <a:cs typeface="+mn-cs"/>
              </a:rPr>
              <a:t>&lt;G&gt;</a:t>
            </a:r>
            <a:endParaRPr kumimoji="1" lang="en-US" altLang="ja-JP" sz="1400" b="1" i="0" u="none" strike="noStrike" kern="1200" cap="none" spc="0" normalizeH="0" baseline="0" noProof="0" dirty="0">
              <a:ln>
                <a:noFill/>
              </a:ln>
              <a:solidFill>
                <a:schemeClr val="accent4"/>
              </a:solidFill>
              <a:effectLst/>
              <a:uLnTx/>
              <a:uFillTx/>
              <a:latin typeface="Meiryo UI" panose="020B0604030504040204" pitchFamily="50" charset="-128"/>
              <a:ea typeface="Meiryo UI" panose="020B0604030504040204" pitchFamily="50" charset="-128"/>
              <a:cs typeface="+mn-cs"/>
            </a:endParaRPr>
          </a:p>
        </p:txBody>
      </p:sp>
      <p:sp>
        <p:nvSpPr>
          <p:cNvPr id="16" name="テキスト ボックス 15">
            <a:extLst>
              <a:ext uri="{FF2B5EF4-FFF2-40B4-BE49-F238E27FC236}">
                <a16:creationId xmlns:a16="http://schemas.microsoft.com/office/drawing/2014/main" id="{CB49609C-3813-4F37-8A11-FC27270D3DB7}"/>
              </a:ext>
            </a:extLst>
          </p:cNvPr>
          <p:cNvSpPr txBox="1"/>
          <p:nvPr/>
        </p:nvSpPr>
        <p:spPr>
          <a:xfrm>
            <a:off x="6442030" y="2536058"/>
            <a:ext cx="480842" cy="251795"/>
          </a:xfrm>
          <a:prstGeom prst="rect">
            <a:avLst/>
          </a:prstGeom>
          <a:no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400" b="1" i="0" u="none" strike="noStrike" kern="1200" cap="none" spc="0" normalizeH="0" baseline="0" noProof="0" dirty="0">
                <a:ln>
                  <a:noFill/>
                </a:ln>
                <a:solidFill>
                  <a:srgbClr val="FF0000"/>
                </a:solidFill>
                <a:effectLst/>
                <a:uLnTx/>
                <a:uFillTx/>
                <a:latin typeface="Meiryo UI"/>
                <a:ea typeface="Meiryo UI"/>
                <a:cs typeface="+mn-cs"/>
              </a:rPr>
              <a:t>&lt;E&gt;</a:t>
            </a:r>
            <a:endParaRPr kumimoji="1" lang="en-US" altLang="ja-JP" sz="14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17" name="矢印: 右 16">
            <a:extLst>
              <a:ext uri="{FF2B5EF4-FFF2-40B4-BE49-F238E27FC236}">
                <a16:creationId xmlns:a16="http://schemas.microsoft.com/office/drawing/2014/main" id="{D42B17EA-6845-4740-8099-15C64446B451}"/>
              </a:ext>
            </a:extLst>
          </p:cNvPr>
          <p:cNvSpPr/>
          <p:nvPr/>
        </p:nvSpPr>
        <p:spPr>
          <a:xfrm>
            <a:off x="4889175" y="2959320"/>
            <a:ext cx="3424945" cy="217205"/>
          </a:xfrm>
          <a:prstGeom prst="rightArrow">
            <a:avLst>
              <a:gd name="adj1" fmla="val 100000"/>
              <a:gd name="adj2" fmla="val 64782"/>
            </a:avLst>
          </a:prstGeom>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rPr>
              <a:t>　　　　　　　　　　　仕様検討、開発、テスト</a:t>
            </a:r>
          </a:p>
        </p:txBody>
      </p:sp>
      <p:sp>
        <p:nvSpPr>
          <p:cNvPr id="19" name="テキスト ボックス 18">
            <a:extLst>
              <a:ext uri="{FF2B5EF4-FFF2-40B4-BE49-F238E27FC236}">
                <a16:creationId xmlns:a16="http://schemas.microsoft.com/office/drawing/2014/main" id="{56EBA02C-7B22-4D03-A664-ABE72B9B350A}"/>
              </a:ext>
            </a:extLst>
          </p:cNvPr>
          <p:cNvSpPr txBox="1"/>
          <p:nvPr/>
        </p:nvSpPr>
        <p:spPr>
          <a:xfrm>
            <a:off x="68320" y="689476"/>
            <a:ext cx="146862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srgbClr val="1B232A"/>
                </a:solidFill>
                <a:effectLst/>
                <a:uLnTx/>
                <a:uFillTx/>
                <a:latin typeface="Meiryo UI"/>
                <a:ea typeface="Meiryo UI"/>
                <a:cs typeface="+mn-cs"/>
              </a:rPr>
              <a:t>全体日程</a:t>
            </a:r>
            <a:endParaRPr kumimoji="1" lang="ja-JP" altLang="en-US" sz="1400" b="1" i="0" u="none" strike="noStrike" kern="1200" cap="none" spc="0" normalizeH="0" baseline="0" noProof="0" dirty="0">
              <a:ln>
                <a:noFill/>
              </a:ln>
              <a:solidFill>
                <a:srgbClr val="1B232A"/>
              </a:solidFill>
              <a:effectLst/>
              <a:uLnTx/>
              <a:uFillTx/>
              <a:latin typeface="Arial"/>
              <a:ea typeface="Meiryo UI"/>
              <a:cs typeface="+mn-cs"/>
            </a:endParaRPr>
          </a:p>
        </p:txBody>
      </p:sp>
      <p:sp>
        <p:nvSpPr>
          <p:cNvPr id="22" name="テキスト ボックス 21">
            <a:extLst>
              <a:ext uri="{FF2B5EF4-FFF2-40B4-BE49-F238E27FC236}">
                <a16:creationId xmlns:a16="http://schemas.microsoft.com/office/drawing/2014/main" id="{2D296978-43D7-4A97-B4A8-A0F5C2E2BA52}"/>
              </a:ext>
            </a:extLst>
          </p:cNvPr>
          <p:cNvSpPr txBox="1"/>
          <p:nvPr/>
        </p:nvSpPr>
        <p:spPr>
          <a:xfrm>
            <a:off x="2120718" y="2266142"/>
            <a:ext cx="838813" cy="246221"/>
          </a:xfrm>
          <a:prstGeom prst="rect">
            <a:avLst/>
          </a:prstGeom>
          <a:solidFill>
            <a:schemeClr val="bg1"/>
          </a:solidFill>
          <a:ln>
            <a:solidFill>
              <a:schemeClr val="tx1"/>
            </a:solidFill>
          </a:ln>
        </p:spPr>
        <p:txBody>
          <a:bodyPr wrap="square" rtlCol="0">
            <a:spAutoFit/>
          </a:bodyPr>
          <a:lstStyle/>
          <a:p>
            <a:pPr marL="0" marR="0" lvl="0" indent="0" algn="l" defTabSz="900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dirty="0">
                <a:ln>
                  <a:noFill/>
                </a:ln>
                <a:solidFill>
                  <a:srgbClr val="1B232A"/>
                </a:solidFill>
                <a:effectLst/>
                <a:uLnTx/>
                <a:uFillTx/>
                <a:latin typeface="Arial"/>
                <a:ea typeface="Meiryo UI"/>
                <a:cs typeface="+mn-cs"/>
              </a:rPr>
              <a:t>リリース</a:t>
            </a:r>
            <a:r>
              <a:rPr kumimoji="1" lang="en-US" altLang="ja-JP" sz="1000" b="1" i="0" u="none" strike="noStrike" kern="1200" cap="none" spc="0" normalizeH="0" baseline="0" noProof="0" dirty="0">
                <a:ln>
                  <a:noFill/>
                </a:ln>
                <a:solidFill>
                  <a:srgbClr val="1B232A"/>
                </a:solidFill>
                <a:effectLst/>
                <a:uLnTx/>
                <a:uFillTx/>
                <a:latin typeface="Arial"/>
                <a:ea typeface="Meiryo UI"/>
                <a:cs typeface="+mn-cs"/>
              </a:rPr>
              <a:t>1.1</a:t>
            </a:r>
            <a:endParaRPr kumimoji="1" lang="ja-JP" altLang="en-US" sz="1000" b="1" i="0" u="none" strike="noStrike" kern="1200" cap="none" spc="0" normalizeH="0" baseline="0" noProof="0" dirty="0">
              <a:ln>
                <a:noFill/>
              </a:ln>
              <a:solidFill>
                <a:srgbClr val="1B232A"/>
              </a:solidFill>
              <a:effectLst/>
              <a:uLnTx/>
              <a:uFillTx/>
              <a:latin typeface="Arial"/>
              <a:ea typeface="Meiryo UI"/>
              <a:cs typeface="+mn-cs"/>
            </a:endParaRPr>
          </a:p>
        </p:txBody>
      </p:sp>
      <p:sp>
        <p:nvSpPr>
          <p:cNvPr id="23" name="テキスト ボックス 22">
            <a:extLst>
              <a:ext uri="{FF2B5EF4-FFF2-40B4-BE49-F238E27FC236}">
                <a16:creationId xmlns:a16="http://schemas.microsoft.com/office/drawing/2014/main" id="{38C3C7C2-2006-4D2A-9C4D-BA077DA26209}"/>
              </a:ext>
            </a:extLst>
          </p:cNvPr>
          <p:cNvSpPr txBox="1"/>
          <p:nvPr/>
        </p:nvSpPr>
        <p:spPr>
          <a:xfrm>
            <a:off x="2774844" y="2555141"/>
            <a:ext cx="834501" cy="261610"/>
          </a:xfrm>
          <a:prstGeom prst="rect">
            <a:avLst/>
          </a:prstGeom>
          <a:solidFill>
            <a:schemeClr val="bg1"/>
          </a:solidFill>
          <a:ln>
            <a:solidFill>
              <a:schemeClr val="tx1"/>
            </a:solidFill>
          </a:ln>
        </p:spPr>
        <p:txBody>
          <a:bodyPr wrap="square" rtlCol="0">
            <a:spAutoFit/>
          </a:bodyPr>
          <a:lstStyle/>
          <a:p>
            <a:pPr marL="0" marR="0" lvl="0" indent="0" algn="l" defTabSz="900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chemeClr val="accent4"/>
                </a:solidFill>
                <a:effectLst/>
                <a:uLnTx/>
                <a:uFillTx/>
                <a:latin typeface="Arial"/>
                <a:ea typeface="Meiryo UI"/>
                <a:cs typeface="+mn-cs"/>
              </a:rPr>
              <a:t>リリース</a:t>
            </a:r>
            <a:r>
              <a:rPr kumimoji="1" lang="en-US" altLang="ja-JP" sz="1100" b="1" i="0" u="none" strike="noStrike" kern="1200" cap="none" spc="0" normalizeH="0" baseline="0" noProof="0" dirty="0">
                <a:ln>
                  <a:noFill/>
                </a:ln>
                <a:solidFill>
                  <a:schemeClr val="accent4"/>
                </a:solidFill>
                <a:effectLst/>
                <a:uLnTx/>
                <a:uFillTx/>
                <a:latin typeface="Arial"/>
                <a:ea typeface="Meiryo UI"/>
                <a:cs typeface="+mn-cs"/>
              </a:rPr>
              <a:t>1.2</a:t>
            </a:r>
            <a:endParaRPr kumimoji="1" lang="ja-JP" altLang="en-US" sz="1100" b="1" i="0" u="none" strike="noStrike" kern="1200" cap="none" spc="0" normalizeH="0" baseline="0" noProof="0" dirty="0">
              <a:ln>
                <a:noFill/>
              </a:ln>
              <a:solidFill>
                <a:schemeClr val="accent4"/>
              </a:solidFill>
              <a:effectLst/>
              <a:uLnTx/>
              <a:uFillTx/>
              <a:latin typeface="Arial"/>
              <a:ea typeface="Meiryo UI"/>
              <a:cs typeface="+mn-cs"/>
            </a:endParaRPr>
          </a:p>
        </p:txBody>
      </p:sp>
      <p:sp>
        <p:nvSpPr>
          <p:cNvPr id="24" name="テキスト ボックス 23">
            <a:extLst>
              <a:ext uri="{FF2B5EF4-FFF2-40B4-BE49-F238E27FC236}">
                <a16:creationId xmlns:a16="http://schemas.microsoft.com/office/drawing/2014/main" id="{327845BD-01D2-416B-A139-33F44BE590FE}"/>
              </a:ext>
            </a:extLst>
          </p:cNvPr>
          <p:cNvSpPr txBox="1"/>
          <p:nvPr/>
        </p:nvSpPr>
        <p:spPr>
          <a:xfrm>
            <a:off x="3938710" y="2914915"/>
            <a:ext cx="834501" cy="261610"/>
          </a:xfrm>
          <a:prstGeom prst="rect">
            <a:avLst/>
          </a:prstGeom>
          <a:solidFill>
            <a:schemeClr val="bg1"/>
          </a:solidFill>
          <a:ln>
            <a:solidFill>
              <a:schemeClr val="tx1"/>
            </a:solidFill>
          </a:ln>
        </p:spPr>
        <p:txBody>
          <a:bodyPr wrap="square" rtlCol="0">
            <a:spAutoFit/>
          </a:bodyPr>
          <a:lstStyle/>
          <a:p>
            <a:pPr marL="0" marR="0" lvl="0" indent="0" algn="l" defTabSz="90000" rtl="0" eaLnBrk="1" fontAlgn="auto" latinLnBrk="0" hangingPunct="1">
              <a:lnSpc>
                <a:spcPct val="100000"/>
              </a:lnSpc>
              <a:spcBef>
                <a:spcPts val="0"/>
              </a:spcBef>
              <a:spcAft>
                <a:spcPts val="0"/>
              </a:spcAft>
              <a:buClrTx/>
              <a:buSzTx/>
              <a:buFontTx/>
              <a:buNone/>
              <a:tabLst/>
              <a:defRPr/>
            </a:pPr>
            <a:r>
              <a:rPr kumimoji="1" lang="ja-JP" altLang="en-US" sz="1100" i="0" u="none" strike="noStrike" kern="1200" cap="none" spc="0" normalizeH="0" baseline="0" noProof="0" dirty="0">
                <a:ln>
                  <a:noFill/>
                </a:ln>
                <a:solidFill>
                  <a:srgbClr val="1B232A"/>
                </a:solidFill>
                <a:effectLst/>
                <a:uLnTx/>
                <a:uFillTx/>
                <a:latin typeface="Arial"/>
                <a:ea typeface="Meiryo UI"/>
                <a:cs typeface="+mn-cs"/>
              </a:rPr>
              <a:t>リリース</a:t>
            </a:r>
            <a:r>
              <a:rPr kumimoji="1" lang="en-US" altLang="ja-JP" sz="1100" i="0" u="none" strike="noStrike" kern="1200" cap="none" spc="0" normalizeH="0" baseline="0" noProof="0" dirty="0">
                <a:ln>
                  <a:noFill/>
                </a:ln>
                <a:solidFill>
                  <a:srgbClr val="1B232A"/>
                </a:solidFill>
                <a:effectLst/>
                <a:uLnTx/>
                <a:uFillTx/>
                <a:latin typeface="Arial"/>
                <a:ea typeface="Meiryo UI"/>
                <a:cs typeface="+mn-cs"/>
              </a:rPr>
              <a:t>1.3</a:t>
            </a:r>
            <a:endParaRPr kumimoji="1" lang="ja-JP" altLang="en-US" sz="1100" i="0" u="none" strike="noStrike" kern="1200" cap="none" spc="0" normalizeH="0" baseline="0" noProof="0" dirty="0">
              <a:ln>
                <a:noFill/>
              </a:ln>
              <a:solidFill>
                <a:srgbClr val="1B232A"/>
              </a:solidFill>
              <a:effectLst/>
              <a:uLnTx/>
              <a:uFillTx/>
              <a:latin typeface="Arial"/>
              <a:ea typeface="Meiryo UI"/>
              <a:cs typeface="+mn-cs"/>
            </a:endParaRPr>
          </a:p>
        </p:txBody>
      </p:sp>
      <p:sp>
        <p:nvSpPr>
          <p:cNvPr id="33" name="矢印: 右 32">
            <a:extLst>
              <a:ext uri="{FF2B5EF4-FFF2-40B4-BE49-F238E27FC236}">
                <a16:creationId xmlns:a16="http://schemas.microsoft.com/office/drawing/2014/main" id="{0F0755CF-5568-4B59-B105-BEF7B5277B0A}"/>
              </a:ext>
            </a:extLst>
          </p:cNvPr>
          <p:cNvSpPr/>
          <p:nvPr/>
        </p:nvSpPr>
        <p:spPr>
          <a:xfrm>
            <a:off x="6193948" y="1478379"/>
            <a:ext cx="1541484" cy="238904"/>
          </a:xfrm>
          <a:prstGeom prst="rightArrow">
            <a:avLst>
              <a:gd name="adj1" fmla="val 100000"/>
              <a:gd name="adj2" fmla="val 28649"/>
            </a:avLst>
          </a:prstGeom>
          <a:ln/>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34" name="矢印: 右 33">
            <a:extLst>
              <a:ext uri="{FF2B5EF4-FFF2-40B4-BE49-F238E27FC236}">
                <a16:creationId xmlns:a16="http://schemas.microsoft.com/office/drawing/2014/main" id="{EED426BC-1AF9-418F-B4AF-74725D7ADAEA}"/>
              </a:ext>
            </a:extLst>
          </p:cNvPr>
          <p:cNvSpPr/>
          <p:nvPr/>
        </p:nvSpPr>
        <p:spPr>
          <a:xfrm>
            <a:off x="5742763" y="1832562"/>
            <a:ext cx="823809" cy="195581"/>
          </a:xfrm>
          <a:prstGeom prst="rightArrow">
            <a:avLst>
              <a:gd name="adj1" fmla="val 100000"/>
              <a:gd name="adj2" fmla="val 57091"/>
            </a:avLst>
          </a:prstGeom>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p:txBody>
      </p:sp>
      <p:sp>
        <p:nvSpPr>
          <p:cNvPr id="35" name="矢印: 右 34">
            <a:extLst>
              <a:ext uri="{FF2B5EF4-FFF2-40B4-BE49-F238E27FC236}">
                <a16:creationId xmlns:a16="http://schemas.microsoft.com/office/drawing/2014/main" id="{40FCD428-8D61-4971-9855-131863C1EE0C}"/>
              </a:ext>
            </a:extLst>
          </p:cNvPr>
          <p:cNvSpPr/>
          <p:nvPr/>
        </p:nvSpPr>
        <p:spPr>
          <a:xfrm>
            <a:off x="6601648" y="1828017"/>
            <a:ext cx="1608437" cy="207233"/>
          </a:xfrm>
          <a:prstGeom prst="rightArrow">
            <a:avLst>
              <a:gd name="adj1" fmla="val 100000"/>
              <a:gd name="adj2" fmla="val 57091"/>
            </a:avLst>
          </a:prstGeom>
          <a:ln/>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性能改善対応</a:t>
            </a:r>
          </a:p>
        </p:txBody>
      </p:sp>
      <p:sp>
        <p:nvSpPr>
          <p:cNvPr id="36" name="矢印: 右 35">
            <a:extLst>
              <a:ext uri="{FF2B5EF4-FFF2-40B4-BE49-F238E27FC236}">
                <a16:creationId xmlns:a16="http://schemas.microsoft.com/office/drawing/2014/main" id="{294CD8FC-69D8-4F69-A2C4-C32FCE269EDD}"/>
              </a:ext>
            </a:extLst>
          </p:cNvPr>
          <p:cNvSpPr/>
          <p:nvPr/>
        </p:nvSpPr>
        <p:spPr>
          <a:xfrm>
            <a:off x="4446408" y="2308809"/>
            <a:ext cx="2717879" cy="168874"/>
          </a:xfrm>
          <a:prstGeom prst="rightArrow">
            <a:avLst>
              <a:gd name="adj1" fmla="val 100000"/>
              <a:gd name="adj2" fmla="val 57091"/>
            </a:avLst>
          </a:prstGeom>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rPr>
              <a:t>開発、テスト</a:t>
            </a:r>
          </a:p>
        </p:txBody>
      </p:sp>
      <p:sp>
        <p:nvSpPr>
          <p:cNvPr id="47" name="矢印: 右 46">
            <a:extLst>
              <a:ext uri="{FF2B5EF4-FFF2-40B4-BE49-F238E27FC236}">
                <a16:creationId xmlns:a16="http://schemas.microsoft.com/office/drawing/2014/main" id="{73B6F11A-40BC-4D86-AE50-6CD3995A8742}"/>
              </a:ext>
            </a:extLst>
          </p:cNvPr>
          <p:cNvSpPr/>
          <p:nvPr/>
        </p:nvSpPr>
        <p:spPr>
          <a:xfrm>
            <a:off x="5329994" y="1488577"/>
            <a:ext cx="863953" cy="238904"/>
          </a:xfrm>
          <a:prstGeom prst="rightArrow">
            <a:avLst>
              <a:gd name="adj1" fmla="val 100000"/>
              <a:gd name="adj2" fmla="val 28649"/>
            </a:avLst>
          </a:prstGeom>
        </p:spPr>
        <p:style>
          <a:lnRef idx="1">
            <a:schemeClr val="accent5"/>
          </a:lnRef>
          <a:fillRef idx="2">
            <a:schemeClr val="accent5"/>
          </a:fillRef>
          <a:effectRef idx="1">
            <a:schemeClr val="accent5"/>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b="1"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49" name="テキスト ボックス 48">
            <a:extLst>
              <a:ext uri="{FF2B5EF4-FFF2-40B4-BE49-F238E27FC236}">
                <a16:creationId xmlns:a16="http://schemas.microsoft.com/office/drawing/2014/main" id="{04316C8C-5BD5-4018-A701-06FBD233EE28}"/>
              </a:ext>
            </a:extLst>
          </p:cNvPr>
          <p:cNvSpPr txBox="1"/>
          <p:nvPr/>
        </p:nvSpPr>
        <p:spPr>
          <a:xfrm>
            <a:off x="7845166" y="2263636"/>
            <a:ext cx="205184"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a:t>
            </a:r>
          </a:p>
        </p:txBody>
      </p:sp>
      <p:sp>
        <p:nvSpPr>
          <p:cNvPr id="50" name="テキスト ボックス 49">
            <a:extLst>
              <a:ext uri="{FF2B5EF4-FFF2-40B4-BE49-F238E27FC236}">
                <a16:creationId xmlns:a16="http://schemas.microsoft.com/office/drawing/2014/main" id="{06A46DEF-5861-469F-9525-FFFEC34D7DB4}"/>
              </a:ext>
            </a:extLst>
          </p:cNvPr>
          <p:cNvSpPr txBox="1"/>
          <p:nvPr/>
        </p:nvSpPr>
        <p:spPr>
          <a:xfrm>
            <a:off x="8058944" y="2309769"/>
            <a:ext cx="780663"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6/20</a:t>
            </a:r>
            <a:r>
              <a:rPr kumimoji="1" lang="ja-JP" altLang="en-US" sz="120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リリース</a:t>
            </a:r>
            <a:endParaRPr kumimoji="1" lang="en-US" altLang="ja-JP" sz="120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endParaRPr>
          </a:p>
        </p:txBody>
      </p:sp>
      <p:sp>
        <p:nvSpPr>
          <p:cNvPr id="3" name="正方形/長方形 2">
            <a:extLst>
              <a:ext uri="{FF2B5EF4-FFF2-40B4-BE49-F238E27FC236}">
                <a16:creationId xmlns:a16="http://schemas.microsoft.com/office/drawing/2014/main" id="{B1ED38D0-5B92-478E-BAF7-8D1801FB1DCF}"/>
              </a:ext>
            </a:extLst>
          </p:cNvPr>
          <p:cNvSpPr/>
          <p:nvPr/>
        </p:nvSpPr>
        <p:spPr>
          <a:xfrm>
            <a:off x="4845019" y="1454951"/>
            <a:ext cx="1764908" cy="264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rgbClr val="1B232A"/>
                </a:solidFill>
                <a:latin typeface="Meiryo UI" panose="020B0604030504040204" pitchFamily="50" charset="-128"/>
                <a:ea typeface="Meiryo UI" panose="020B0604030504040204" pitchFamily="50" charset="-128"/>
              </a:rPr>
              <a:t>障害対策と</a:t>
            </a:r>
            <a:endParaRPr kumimoji="1" lang="en-US" altLang="ja-JP" sz="1100" dirty="0">
              <a:solidFill>
                <a:srgbClr val="1B232A"/>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solidFill>
                  <a:srgbClr val="1B232A"/>
                </a:solidFill>
                <a:latin typeface="Meiryo UI" panose="020B0604030504040204" pitchFamily="50" charset="-128"/>
                <a:ea typeface="Meiryo UI" panose="020B0604030504040204" pitchFamily="50" charset="-128"/>
              </a:rPr>
              <a:t>最終準備</a:t>
            </a:r>
            <a:endParaRPr kumimoji="1" lang="ja-JP" altLang="en-US" sz="11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44" name="テキスト ボックス 43">
            <a:extLst>
              <a:ext uri="{FF2B5EF4-FFF2-40B4-BE49-F238E27FC236}">
                <a16:creationId xmlns:a16="http://schemas.microsoft.com/office/drawing/2014/main" id="{73BC8FE1-D80A-4351-9C68-663288E3E6D6}"/>
              </a:ext>
            </a:extLst>
          </p:cNvPr>
          <p:cNvSpPr txBox="1"/>
          <p:nvPr/>
        </p:nvSpPr>
        <p:spPr>
          <a:xfrm>
            <a:off x="6755463" y="2259767"/>
            <a:ext cx="480842" cy="251795"/>
          </a:xfrm>
          <a:prstGeom prst="rect">
            <a:avLst/>
          </a:prstGeom>
          <a:no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400" i="0" u="none" strike="noStrike" kern="1200" cap="none" spc="0" normalizeH="0" baseline="0" noProof="0" dirty="0">
                <a:ln>
                  <a:noFill/>
                </a:ln>
                <a:solidFill>
                  <a:srgbClr val="1B232A"/>
                </a:solidFill>
                <a:effectLst/>
                <a:uLnTx/>
                <a:uFillTx/>
                <a:latin typeface="Meiryo UI"/>
                <a:ea typeface="Meiryo UI"/>
                <a:cs typeface="+mn-cs"/>
              </a:rPr>
              <a:t>&lt;G&gt;</a:t>
            </a:r>
            <a:endParaRPr kumimoji="1" lang="en-US" altLang="ja-JP" sz="14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45" name="テキスト ボックス 44">
            <a:extLst>
              <a:ext uri="{FF2B5EF4-FFF2-40B4-BE49-F238E27FC236}">
                <a16:creationId xmlns:a16="http://schemas.microsoft.com/office/drawing/2014/main" id="{F69D4BED-74DB-4047-851B-F8B8876D953A}"/>
              </a:ext>
            </a:extLst>
          </p:cNvPr>
          <p:cNvSpPr txBox="1"/>
          <p:nvPr/>
        </p:nvSpPr>
        <p:spPr>
          <a:xfrm>
            <a:off x="4276818" y="2292288"/>
            <a:ext cx="480842" cy="251795"/>
          </a:xfrm>
          <a:prstGeom prst="rect">
            <a:avLst/>
          </a:prstGeom>
          <a:no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en-US" altLang="ja-JP" sz="1400" i="0" u="none" strike="noStrike" kern="1200" cap="none" spc="0" normalizeH="0" baseline="0" noProof="0" dirty="0">
                <a:ln>
                  <a:noFill/>
                </a:ln>
                <a:solidFill>
                  <a:srgbClr val="1B232A"/>
                </a:solidFill>
                <a:effectLst/>
                <a:uLnTx/>
                <a:uFillTx/>
                <a:latin typeface="Meiryo UI"/>
                <a:ea typeface="Meiryo UI"/>
                <a:cs typeface="+mn-cs"/>
              </a:rPr>
              <a:t>&lt;E&gt;</a:t>
            </a:r>
            <a:endParaRPr kumimoji="1" lang="en-US" altLang="ja-JP" sz="14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
        <p:nvSpPr>
          <p:cNvPr id="26" name="テキスト ボックス 25">
            <a:extLst>
              <a:ext uri="{FF2B5EF4-FFF2-40B4-BE49-F238E27FC236}">
                <a16:creationId xmlns:a16="http://schemas.microsoft.com/office/drawing/2014/main" id="{44C79B79-46CC-4E6F-89AC-500411537AAD}"/>
              </a:ext>
            </a:extLst>
          </p:cNvPr>
          <p:cNvSpPr txBox="1"/>
          <p:nvPr/>
        </p:nvSpPr>
        <p:spPr>
          <a:xfrm>
            <a:off x="4658983" y="1796409"/>
            <a:ext cx="1839372" cy="276999"/>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00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effectLst/>
                <a:uLnTx/>
                <a:uFillTx/>
                <a:latin typeface="Arial"/>
                <a:ea typeface="Meiryo UI"/>
                <a:cs typeface="+mn-cs"/>
              </a:rPr>
              <a:t>性能改善検討・計画立案</a:t>
            </a:r>
          </a:p>
        </p:txBody>
      </p:sp>
      <p:sp>
        <p:nvSpPr>
          <p:cNvPr id="38" name="矢印: 右 37">
            <a:extLst>
              <a:ext uri="{FF2B5EF4-FFF2-40B4-BE49-F238E27FC236}">
                <a16:creationId xmlns:a16="http://schemas.microsoft.com/office/drawing/2014/main" id="{0C99E93B-838C-45D2-821B-7B40D28EB2B3}"/>
              </a:ext>
            </a:extLst>
          </p:cNvPr>
          <p:cNvSpPr/>
          <p:nvPr/>
        </p:nvSpPr>
        <p:spPr>
          <a:xfrm>
            <a:off x="6193946" y="1478379"/>
            <a:ext cx="259081" cy="238904"/>
          </a:xfrm>
          <a:prstGeom prst="rightArrow">
            <a:avLst>
              <a:gd name="adj1" fmla="val 100000"/>
              <a:gd name="adj2" fmla="val 28649"/>
            </a:avLst>
          </a:prstGeom>
          <a:ln w="28575">
            <a:prstDash val="sysDash"/>
          </a:ln>
        </p:spPr>
        <p:style>
          <a:lnRef idx="1">
            <a:schemeClr val="accent5"/>
          </a:lnRef>
          <a:fillRef idx="2">
            <a:schemeClr val="accent5"/>
          </a:fillRef>
          <a:effectRef idx="1">
            <a:schemeClr val="accent5"/>
          </a:effectRef>
          <a:fontRef idx="minor">
            <a:schemeClr val="dk1"/>
          </a:fontRef>
        </p:style>
        <p:txBody>
          <a:bodyPr lIns="0" tIns="0" rIns="0" bIns="0" rtlCol="0" anchor="ctr"/>
          <a:lstStyle/>
          <a:p>
            <a:pPr algn="ctr"/>
            <a:endParaRPr lang="ja-JP" altLang="en-US" sz="1200" b="1" dirty="0">
              <a:solidFill>
                <a:srgbClr val="1B232A"/>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218EFC3F-471C-452E-967A-DAFBF9CCEE23}"/>
              </a:ext>
            </a:extLst>
          </p:cNvPr>
          <p:cNvSpPr/>
          <p:nvPr/>
        </p:nvSpPr>
        <p:spPr>
          <a:xfrm>
            <a:off x="6082236" y="1469346"/>
            <a:ext cx="1764908" cy="264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地域展開</a:t>
            </a:r>
          </a:p>
        </p:txBody>
      </p:sp>
      <p:sp>
        <p:nvSpPr>
          <p:cNvPr id="42" name="テキスト ボックス 41">
            <a:extLst>
              <a:ext uri="{FF2B5EF4-FFF2-40B4-BE49-F238E27FC236}">
                <a16:creationId xmlns:a16="http://schemas.microsoft.com/office/drawing/2014/main" id="{FB7E0DCF-B9CE-4A0C-8EE9-4100B03D420C}"/>
              </a:ext>
            </a:extLst>
          </p:cNvPr>
          <p:cNvSpPr txBox="1"/>
          <p:nvPr/>
        </p:nvSpPr>
        <p:spPr>
          <a:xfrm>
            <a:off x="6510921" y="1071385"/>
            <a:ext cx="2106889" cy="282676"/>
          </a:xfrm>
          <a:prstGeom prst="rect">
            <a:avLst/>
          </a:prstGeom>
          <a:solidFill>
            <a:schemeClr val="bg1"/>
          </a:solidFill>
        </p:spPr>
        <p:txBody>
          <a:bodyPr wrap="square" rtlCol="0">
            <a:noAutofit/>
          </a:bodyPr>
          <a:lstStyle/>
          <a:p>
            <a:pPr algn="l" defTabSz="90000"/>
            <a:r>
              <a:rPr kumimoji="1" lang="en-US" altLang="ja-JP" sz="1100" dirty="0">
                <a:latin typeface="+mn-ea"/>
              </a:rPr>
              <a:t>1/17</a:t>
            </a:r>
            <a:r>
              <a:rPr kumimoji="1" lang="ja-JP" altLang="en-US" sz="1100" dirty="0">
                <a:latin typeface="+mn-ea"/>
              </a:rPr>
              <a:t>　日本</a:t>
            </a:r>
            <a:r>
              <a:rPr lang="ja-JP" altLang="en-US" sz="1100" dirty="0">
                <a:latin typeface="+mn-ea"/>
              </a:rPr>
              <a:t>リリース</a:t>
            </a:r>
            <a:endParaRPr kumimoji="1" lang="ja-JP" altLang="en-US" sz="1100" dirty="0">
              <a:latin typeface="+mn-ea"/>
            </a:endParaRPr>
          </a:p>
        </p:txBody>
      </p:sp>
      <p:cxnSp>
        <p:nvCxnSpPr>
          <p:cNvPr id="32" name="直線矢印コネクタ 31">
            <a:extLst>
              <a:ext uri="{FF2B5EF4-FFF2-40B4-BE49-F238E27FC236}">
                <a16:creationId xmlns:a16="http://schemas.microsoft.com/office/drawing/2014/main" id="{F8FA8D1F-3D12-49BB-9299-B929FF262283}"/>
              </a:ext>
            </a:extLst>
          </p:cNvPr>
          <p:cNvCxnSpPr>
            <a:cxnSpLocks/>
            <a:endCxn id="38" idx="3"/>
          </p:cNvCxnSpPr>
          <p:nvPr/>
        </p:nvCxnSpPr>
        <p:spPr>
          <a:xfrm flipH="1">
            <a:off x="6453027" y="1213236"/>
            <a:ext cx="165654" cy="3845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8E001782-D90E-48C9-BDF9-2B18597D976C}"/>
              </a:ext>
            </a:extLst>
          </p:cNvPr>
          <p:cNvCxnSpPr>
            <a:cxnSpLocks/>
            <a:stCxn id="56" idx="3"/>
            <a:endCxn id="61" idx="1"/>
          </p:cNvCxnSpPr>
          <p:nvPr/>
        </p:nvCxnSpPr>
        <p:spPr>
          <a:xfrm>
            <a:off x="8038285" y="3864165"/>
            <a:ext cx="562876" cy="454031"/>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E21F38ED-0854-4E4A-B8CB-0FFB33234017}"/>
              </a:ext>
            </a:extLst>
          </p:cNvPr>
          <p:cNvCxnSpPr>
            <a:cxnSpLocks/>
          </p:cNvCxnSpPr>
          <p:nvPr/>
        </p:nvCxnSpPr>
        <p:spPr>
          <a:xfrm>
            <a:off x="2249078" y="3537512"/>
            <a:ext cx="15142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ひし形 42">
            <a:extLst>
              <a:ext uri="{FF2B5EF4-FFF2-40B4-BE49-F238E27FC236}">
                <a16:creationId xmlns:a16="http://schemas.microsoft.com/office/drawing/2014/main" id="{644558F1-E061-4CBF-8789-E4D08169EFD1}"/>
              </a:ext>
            </a:extLst>
          </p:cNvPr>
          <p:cNvSpPr/>
          <p:nvPr/>
        </p:nvSpPr>
        <p:spPr>
          <a:xfrm>
            <a:off x="3818973" y="3473750"/>
            <a:ext cx="133105" cy="133105"/>
          </a:xfrm>
          <a:prstGeom prst="diamond">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42037A7C-9143-449E-8119-11A0A21F8A15}"/>
              </a:ext>
            </a:extLst>
          </p:cNvPr>
          <p:cNvSpPr txBox="1"/>
          <p:nvPr/>
        </p:nvSpPr>
        <p:spPr>
          <a:xfrm>
            <a:off x="4297957" y="5183215"/>
            <a:ext cx="4769829" cy="405683"/>
          </a:xfrm>
          <a:prstGeom prst="rect">
            <a:avLst/>
          </a:prstGeom>
          <a:solidFill>
            <a:schemeClr val="bg1"/>
          </a:solidFill>
        </p:spPr>
        <p:txBody>
          <a:bodyPr wrap="square" lIns="36000" tIns="18000" rIns="36000" bIns="18000" rtlCol="0">
            <a:spAutoFit/>
          </a:bodyPr>
          <a:lstStyle/>
          <a:p>
            <a:r>
              <a:rPr lang="ja-JP" altLang="en-US" sz="1200" dirty="0">
                <a:latin typeface="Meiryo UI" panose="020B0604030504040204" pitchFamily="50" charset="-128"/>
                <a:ea typeface="Meiryo UI" panose="020B0604030504040204" pitchFamily="50" charset="-128"/>
              </a:rPr>
              <a:t>既に</a:t>
            </a:r>
            <a:r>
              <a:rPr lang="en-US" altLang="ja-JP" sz="1200" dirty="0">
                <a:latin typeface="Meiryo UI" panose="020B0604030504040204" pitchFamily="50" charset="-128"/>
                <a:ea typeface="Meiryo UI" panose="020B0604030504040204" pitchFamily="50" charset="-128"/>
              </a:rPr>
              <a:t>GW</a:t>
            </a:r>
            <a:r>
              <a:rPr lang="ja-JP" altLang="en-US" sz="1200" dirty="0">
                <a:latin typeface="Meiryo UI" panose="020B0604030504040204" pitchFamily="50" charset="-128"/>
                <a:ea typeface="Meiryo UI" panose="020B0604030504040204" pitchFamily="50" charset="-128"/>
              </a:rPr>
              <a:t>搭載されている車両へ展開。</a:t>
            </a:r>
            <a:r>
              <a:rPr lang="ja-JP" altLang="en-US" sz="1200" b="1" dirty="0">
                <a:latin typeface="Meiryo UI" panose="020B0604030504040204" pitchFamily="50" charset="-128"/>
                <a:ea typeface="Meiryo UI" panose="020B0604030504040204" pitchFamily="50" charset="-128"/>
              </a:rPr>
              <a:t>特に、戦略地</a:t>
            </a:r>
            <a:r>
              <a:rPr lang="en-US" altLang="ja-JP" sz="1200" b="1" dirty="0">
                <a:latin typeface="Meiryo UI" panose="020B0604030504040204" pitchFamily="50" charset="-128"/>
                <a:ea typeface="Meiryo UI" panose="020B0604030504040204" pitchFamily="50" charset="-128"/>
              </a:rPr>
              <a:t>(PC200/500-10M0)</a:t>
            </a:r>
            <a:r>
              <a:rPr lang="ja-JP" altLang="en-US" sz="1200" dirty="0">
                <a:latin typeface="Meiryo UI" panose="020B0604030504040204" pitchFamily="50" charset="-128"/>
                <a:ea typeface="Meiryo UI" panose="020B0604030504040204" pitchFamily="50" charset="-128"/>
              </a:rPr>
              <a:t>に対しては延長保証ビジネスとの相乗効果が大きく、早期導入を目指す。</a:t>
            </a:r>
            <a:endParaRPr kumimoji="1" lang="ja-JP" altLang="en-US" sz="1200" dirty="0">
              <a:latin typeface="Meiryo UI" panose="020B0604030504040204" pitchFamily="50" charset="-128"/>
              <a:ea typeface="Meiryo UI" panose="020B0604030504040204" pitchFamily="50" charset="-128"/>
            </a:endParaRPr>
          </a:p>
        </p:txBody>
      </p:sp>
      <p:sp>
        <p:nvSpPr>
          <p:cNvPr id="52" name="テキスト ボックス 51">
            <a:extLst>
              <a:ext uri="{FF2B5EF4-FFF2-40B4-BE49-F238E27FC236}">
                <a16:creationId xmlns:a16="http://schemas.microsoft.com/office/drawing/2014/main" id="{B073A649-3B62-4ACA-BD30-F0FEC69B06CE}"/>
              </a:ext>
            </a:extLst>
          </p:cNvPr>
          <p:cNvSpPr txBox="1"/>
          <p:nvPr/>
        </p:nvSpPr>
        <p:spPr>
          <a:xfrm>
            <a:off x="1334556" y="3551678"/>
            <a:ext cx="1690219" cy="590349"/>
          </a:xfrm>
          <a:prstGeom prst="rect">
            <a:avLst/>
          </a:prstGeom>
          <a:solidFill>
            <a:schemeClr val="bg1"/>
          </a:solidFill>
        </p:spPr>
        <p:txBody>
          <a:bodyPr wrap="square" lIns="36000" tIns="18000" rIns="36000" bIns="18000" rtlCol="0">
            <a:spAutoFit/>
          </a:bodyPr>
          <a:lstStyle/>
          <a:p>
            <a:r>
              <a:rPr kumimoji="1" lang="ja-JP" altLang="en-US" sz="1200">
                <a:latin typeface="Meiryo UI" panose="020B0604030504040204" pitchFamily="50" charset="-128"/>
                <a:ea typeface="Meiryo UI" panose="020B0604030504040204" pitchFamily="50" charset="-128"/>
              </a:rPr>
              <a:t>オイル劣化センサ実装、</a:t>
            </a:r>
            <a:r>
              <a:rPr kumimoji="1" lang="en-US" altLang="ja-JP" sz="1200">
                <a:latin typeface="Meiryo UI" panose="020B0604030504040204" pitchFamily="50" charset="-128"/>
                <a:ea typeface="Meiryo UI" panose="020B0604030504040204" pitchFamily="50" charset="-128"/>
              </a:rPr>
              <a:t>Komatsu</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Edge</a:t>
            </a:r>
            <a:r>
              <a:rPr kumimoji="1" lang="ja-JP" altLang="en-US" sz="1200">
                <a:latin typeface="Meiryo UI" panose="020B0604030504040204" pitchFamily="50" charset="-128"/>
                <a:ea typeface="Meiryo UI" panose="020B0604030504040204" pitchFamily="50" charset="-128"/>
              </a:rPr>
              <a:t>車載等の準備</a:t>
            </a:r>
          </a:p>
        </p:txBody>
      </p:sp>
      <p:sp>
        <p:nvSpPr>
          <p:cNvPr id="53" name="ひし形 52">
            <a:extLst>
              <a:ext uri="{FF2B5EF4-FFF2-40B4-BE49-F238E27FC236}">
                <a16:creationId xmlns:a16="http://schemas.microsoft.com/office/drawing/2014/main" id="{1F79DF5D-49A0-4F1C-978B-D839A622529F}"/>
              </a:ext>
            </a:extLst>
          </p:cNvPr>
          <p:cNvSpPr/>
          <p:nvPr/>
        </p:nvSpPr>
        <p:spPr>
          <a:xfrm>
            <a:off x="7929096" y="3470960"/>
            <a:ext cx="133105" cy="133105"/>
          </a:xfrm>
          <a:prstGeom prst="diamond">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4" name="ひし形 53">
            <a:extLst>
              <a:ext uri="{FF2B5EF4-FFF2-40B4-BE49-F238E27FC236}">
                <a16:creationId xmlns:a16="http://schemas.microsoft.com/office/drawing/2014/main" id="{53236C80-AD60-4887-B0D5-47D424BA759C}"/>
              </a:ext>
            </a:extLst>
          </p:cNvPr>
          <p:cNvSpPr/>
          <p:nvPr/>
        </p:nvSpPr>
        <p:spPr>
          <a:xfrm>
            <a:off x="8488159" y="3470960"/>
            <a:ext cx="133105" cy="133105"/>
          </a:xfrm>
          <a:prstGeom prst="diamond">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55" name="直線矢印コネクタ 54">
            <a:extLst>
              <a:ext uri="{FF2B5EF4-FFF2-40B4-BE49-F238E27FC236}">
                <a16:creationId xmlns:a16="http://schemas.microsoft.com/office/drawing/2014/main" id="{3194D321-8E63-444C-A0B0-03CAB3A5CBE3}"/>
              </a:ext>
            </a:extLst>
          </p:cNvPr>
          <p:cNvCxnSpPr>
            <a:cxnSpLocks/>
            <a:stCxn id="54" idx="3"/>
          </p:cNvCxnSpPr>
          <p:nvPr/>
        </p:nvCxnSpPr>
        <p:spPr>
          <a:xfrm flipV="1">
            <a:off x="8621264" y="3537512"/>
            <a:ext cx="468984"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矢印: 五方向 55">
            <a:extLst>
              <a:ext uri="{FF2B5EF4-FFF2-40B4-BE49-F238E27FC236}">
                <a16:creationId xmlns:a16="http://schemas.microsoft.com/office/drawing/2014/main" id="{B25649F4-3FE7-40C0-89ED-DE4E41B4F544}"/>
              </a:ext>
            </a:extLst>
          </p:cNvPr>
          <p:cNvSpPr/>
          <p:nvPr/>
        </p:nvSpPr>
        <p:spPr>
          <a:xfrm>
            <a:off x="3916467" y="3755430"/>
            <a:ext cx="4121818" cy="217470"/>
          </a:xfrm>
          <a:prstGeom prst="homePlat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b="1">
                <a:latin typeface="Meiryo UI" panose="020B0604030504040204" pitchFamily="50" charset="-128"/>
                <a:ea typeface="Meiryo UI" panose="020B0604030504040204" pitchFamily="50" charset="-128"/>
              </a:rPr>
              <a:t>Komatsu</a:t>
            </a:r>
            <a:r>
              <a:rPr kumimoji="1" lang="ja-JP" altLang="en-US" sz="1050" b="1">
                <a:latin typeface="Meiryo UI" panose="020B0604030504040204" pitchFamily="50" charset="-128"/>
                <a:ea typeface="Meiryo UI" panose="020B0604030504040204" pitchFamily="50" charset="-128"/>
              </a:rPr>
              <a:t> </a:t>
            </a:r>
            <a:r>
              <a:rPr kumimoji="1" lang="en-US" altLang="ja-JP" sz="1050" b="1">
                <a:latin typeface="Meiryo UI" panose="020B0604030504040204" pitchFamily="50" charset="-128"/>
                <a:ea typeface="Meiryo UI" panose="020B0604030504040204" pitchFamily="50" charset="-128"/>
              </a:rPr>
              <a:t>Edge</a:t>
            </a:r>
            <a:r>
              <a:rPr kumimoji="1" lang="ja-JP" altLang="en-US" sz="1050" b="1">
                <a:latin typeface="Meiryo UI" panose="020B0604030504040204" pitchFamily="50" charset="-128"/>
                <a:ea typeface="Meiryo UI" panose="020B0604030504040204" pitchFamily="50" charset="-128"/>
              </a:rPr>
              <a:t>による試行</a:t>
            </a:r>
          </a:p>
        </p:txBody>
      </p:sp>
      <p:cxnSp>
        <p:nvCxnSpPr>
          <p:cNvPr id="57" name="直線矢印コネクタ 56">
            <a:extLst>
              <a:ext uri="{FF2B5EF4-FFF2-40B4-BE49-F238E27FC236}">
                <a16:creationId xmlns:a16="http://schemas.microsoft.com/office/drawing/2014/main" id="{1E0702A0-5E8D-445A-8115-1BCE4F82D872}"/>
              </a:ext>
            </a:extLst>
          </p:cNvPr>
          <p:cNvCxnSpPr>
            <a:cxnSpLocks/>
            <a:endCxn id="53" idx="1"/>
          </p:cNvCxnSpPr>
          <p:nvPr/>
        </p:nvCxnSpPr>
        <p:spPr>
          <a:xfrm>
            <a:off x="3993353" y="3537512"/>
            <a:ext cx="3935743"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E82EF9B1-6B2F-420C-814C-5D426AAE304B}"/>
              </a:ext>
            </a:extLst>
          </p:cNvPr>
          <p:cNvCxnSpPr>
            <a:cxnSpLocks/>
            <a:stCxn id="53" idx="3"/>
          </p:cNvCxnSpPr>
          <p:nvPr/>
        </p:nvCxnSpPr>
        <p:spPr>
          <a:xfrm>
            <a:off x="8062201" y="3537513"/>
            <a:ext cx="45385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矢印: 五方向 58">
            <a:extLst>
              <a:ext uri="{FF2B5EF4-FFF2-40B4-BE49-F238E27FC236}">
                <a16:creationId xmlns:a16="http://schemas.microsoft.com/office/drawing/2014/main" id="{881C6C22-172C-4A80-B370-D54E130AD310}"/>
              </a:ext>
            </a:extLst>
          </p:cNvPr>
          <p:cNvSpPr/>
          <p:nvPr/>
        </p:nvSpPr>
        <p:spPr>
          <a:xfrm>
            <a:off x="8038285" y="3862050"/>
            <a:ext cx="579525" cy="901547"/>
          </a:xfrm>
          <a:prstGeom prst="homePlate">
            <a:avLst>
              <a:gd name="adj" fmla="val 28755"/>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latin typeface="Meiryo UI" panose="020B0604030504040204" pitchFamily="50" charset="-128"/>
              <a:ea typeface="Meiryo UI" panose="020B0604030504040204" pitchFamily="50" charset="-128"/>
            </a:endParaRPr>
          </a:p>
        </p:txBody>
      </p:sp>
      <p:sp>
        <p:nvSpPr>
          <p:cNvPr id="60" name="テキスト ボックス 59">
            <a:extLst>
              <a:ext uri="{FF2B5EF4-FFF2-40B4-BE49-F238E27FC236}">
                <a16:creationId xmlns:a16="http://schemas.microsoft.com/office/drawing/2014/main" id="{8AE4B648-CAB8-41A2-AC3A-9C89816A1117}"/>
              </a:ext>
            </a:extLst>
          </p:cNvPr>
          <p:cNvSpPr txBox="1"/>
          <p:nvPr/>
        </p:nvSpPr>
        <p:spPr>
          <a:xfrm>
            <a:off x="699627" y="4205291"/>
            <a:ext cx="2087326" cy="1169551"/>
          </a:xfrm>
          <a:prstGeom prst="rect">
            <a:avLst/>
          </a:prstGeom>
          <a:noFill/>
          <a:ln>
            <a:solidFill>
              <a:srgbClr val="FF0000"/>
            </a:solidFill>
          </a:ln>
        </p:spPr>
        <p:txBody>
          <a:bodyPr wrap="square">
            <a:spAutoFit/>
          </a:bodyPr>
          <a:lstStyle/>
          <a:p>
            <a:r>
              <a:rPr kumimoji="1" lang="ja-JP" altLang="en-US" sz="1400" b="1">
                <a:solidFill>
                  <a:srgbClr val="0000FF"/>
                </a:solidFill>
                <a:latin typeface="Meiryo UI" panose="020B0604030504040204" pitchFamily="50" charset="-128"/>
                <a:ea typeface="Meiryo UI" panose="020B0604030504040204" pitchFamily="50" charset="-128"/>
              </a:rPr>
              <a:t>リリース</a:t>
            </a:r>
            <a:r>
              <a:rPr kumimoji="1" lang="en-US" altLang="ja-JP" sz="1400" b="1">
                <a:solidFill>
                  <a:srgbClr val="0000FF"/>
                </a:solidFill>
                <a:latin typeface="Meiryo UI" panose="020B0604030504040204" pitchFamily="50" charset="-128"/>
                <a:ea typeface="Meiryo UI" panose="020B0604030504040204" pitchFamily="50" charset="-128"/>
              </a:rPr>
              <a:t>1+α</a:t>
            </a:r>
            <a:r>
              <a:rPr kumimoji="1" lang="ja-JP" altLang="en-US" sz="1400" b="1">
                <a:solidFill>
                  <a:srgbClr val="0000FF"/>
                </a:solidFill>
                <a:latin typeface="Meiryo UI" panose="020B0604030504040204" pitchFamily="50" charset="-128"/>
                <a:ea typeface="Meiryo UI" panose="020B0604030504040204" pitchFamily="50" charset="-128"/>
              </a:rPr>
              <a:t>に合わせて</a:t>
            </a:r>
            <a:r>
              <a:rPr kumimoji="1" lang="ja-JP" altLang="en-US" sz="1400" b="1">
                <a:latin typeface="Meiryo UI" panose="020B0604030504040204" pitchFamily="50" charset="-128"/>
                <a:ea typeface="Meiryo UI" panose="020B0604030504040204" pitchFamily="50" charset="-128"/>
              </a:rPr>
              <a:t>、ビジネスモデル</a:t>
            </a:r>
            <a:r>
              <a:rPr kumimoji="1" lang="en-US" altLang="ja-JP" sz="1400" b="1">
                <a:latin typeface="Meiryo UI" panose="020B0604030504040204" pitchFamily="50" charset="-128"/>
                <a:ea typeface="Meiryo UI" panose="020B0604030504040204" pitchFamily="50" charset="-128"/>
              </a:rPr>
              <a:t>PJ</a:t>
            </a:r>
            <a:r>
              <a:rPr kumimoji="1" lang="ja-JP" altLang="en-US" sz="1400" b="1">
                <a:latin typeface="Meiryo UI" panose="020B0604030504040204" pitchFamily="50" charset="-128"/>
                <a:ea typeface="Meiryo UI" panose="020B0604030504040204" pitchFamily="50" charset="-128"/>
              </a:rPr>
              <a:t>で検討している</a:t>
            </a:r>
            <a:r>
              <a:rPr lang="ja-JP" altLang="en-US" sz="1400" b="1">
                <a:latin typeface="Meiryo UI" panose="020B0604030504040204" pitchFamily="50" charset="-128"/>
                <a:ea typeface="Meiryo UI" panose="020B0604030504040204" pitchFamily="50" charset="-128"/>
              </a:rPr>
              <a:t>延長保証ビジネスによる</a:t>
            </a:r>
            <a:r>
              <a:rPr lang="ja-JP" altLang="en-US" sz="1400" b="1">
                <a:solidFill>
                  <a:srgbClr val="0000FF"/>
                </a:solidFill>
                <a:latin typeface="Meiryo UI" panose="020B0604030504040204" pitchFamily="50" charset="-128"/>
                <a:ea typeface="Meiryo UI" panose="020B0604030504040204" pitchFamily="50" charset="-128"/>
              </a:rPr>
              <a:t>効果刈り取りの本格化</a:t>
            </a:r>
            <a:r>
              <a:rPr lang="ja-JP" altLang="en-US" sz="1400" b="1">
                <a:latin typeface="Meiryo UI" panose="020B0604030504040204" pitchFamily="50" charset="-128"/>
                <a:ea typeface="Meiryo UI" panose="020B0604030504040204" pitchFamily="50" charset="-128"/>
              </a:rPr>
              <a:t>を実施</a:t>
            </a:r>
            <a:endParaRPr kumimoji="1" lang="en-US" altLang="ja-JP" sz="1400" b="1">
              <a:latin typeface="Meiryo UI" panose="020B0604030504040204" pitchFamily="50" charset="-128"/>
              <a:ea typeface="Meiryo UI" panose="020B0604030504040204" pitchFamily="50" charset="-128"/>
            </a:endParaRPr>
          </a:p>
        </p:txBody>
      </p:sp>
      <p:sp>
        <p:nvSpPr>
          <p:cNvPr id="61" name="矢印: 五方向 60">
            <a:extLst>
              <a:ext uri="{FF2B5EF4-FFF2-40B4-BE49-F238E27FC236}">
                <a16:creationId xmlns:a16="http://schemas.microsoft.com/office/drawing/2014/main" id="{C1302E23-F761-45A9-BF1E-78EE44B74861}"/>
              </a:ext>
            </a:extLst>
          </p:cNvPr>
          <p:cNvSpPr/>
          <p:nvPr/>
        </p:nvSpPr>
        <p:spPr>
          <a:xfrm>
            <a:off x="8601161" y="3872798"/>
            <a:ext cx="556681" cy="890795"/>
          </a:xfrm>
          <a:prstGeom prst="homePlate">
            <a:avLst>
              <a:gd name="adj" fmla="val 24579"/>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dirty="0">
              <a:latin typeface="Meiryo UI" panose="020B0604030504040204" pitchFamily="50" charset="-128"/>
              <a:ea typeface="Meiryo UI" panose="020B0604030504040204" pitchFamily="50" charset="-128"/>
            </a:endParaRPr>
          </a:p>
        </p:txBody>
      </p:sp>
      <p:sp>
        <p:nvSpPr>
          <p:cNvPr id="62" name="矢印: 五方向 61">
            <a:extLst>
              <a:ext uri="{FF2B5EF4-FFF2-40B4-BE49-F238E27FC236}">
                <a16:creationId xmlns:a16="http://schemas.microsoft.com/office/drawing/2014/main" id="{86B933E3-BB86-43C7-9309-E0B90E580A42}"/>
              </a:ext>
            </a:extLst>
          </p:cNvPr>
          <p:cNvSpPr/>
          <p:nvPr/>
        </p:nvSpPr>
        <p:spPr>
          <a:xfrm>
            <a:off x="4889175" y="4312823"/>
            <a:ext cx="2258463" cy="616401"/>
          </a:xfrm>
          <a:prstGeom prst="homePlate">
            <a:avLst>
              <a:gd name="adj" fmla="val 11790"/>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b="1">
                <a:latin typeface="Meiryo UI" panose="020B0604030504040204" pitchFamily="50" charset="-128"/>
                <a:ea typeface="Meiryo UI" panose="020B0604030504040204" pitchFamily="50" charset="-128"/>
              </a:rPr>
              <a:t>展開地域、機種、日程明確化</a:t>
            </a:r>
          </a:p>
        </p:txBody>
      </p:sp>
      <p:sp>
        <p:nvSpPr>
          <p:cNvPr id="63" name="矢印: 五方向 62">
            <a:extLst>
              <a:ext uri="{FF2B5EF4-FFF2-40B4-BE49-F238E27FC236}">
                <a16:creationId xmlns:a16="http://schemas.microsoft.com/office/drawing/2014/main" id="{30B91423-4BF4-435F-B0A7-9E8F63BF2324}"/>
              </a:ext>
            </a:extLst>
          </p:cNvPr>
          <p:cNvSpPr/>
          <p:nvPr/>
        </p:nvSpPr>
        <p:spPr>
          <a:xfrm>
            <a:off x="7810334" y="4809009"/>
            <a:ext cx="579525" cy="301030"/>
          </a:xfrm>
          <a:prstGeom prst="homePlate">
            <a:avLst>
              <a:gd name="adj" fmla="val 24687"/>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b="1">
              <a:latin typeface="Meiryo UI" panose="020B0604030504040204" pitchFamily="50" charset="-128"/>
              <a:ea typeface="Meiryo UI" panose="020B0604030504040204" pitchFamily="50" charset="-128"/>
            </a:endParaRPr>
          </a:p>
        </p:txBody>
      </p:sp>
      <p:sp>
        <p:nvSpPr>
          <p:cNvPr id="64" name="矢印: 五方向 63">
            <a:extLst>
              <a:ext uri="{FF2B5EF4-FFF2-40B4-BE49-F238E27FC236}">
                <a16:creationId xmlns:a16="http://schemas.microsoft.com/office/drawing/2014/main" id="{30AC5F4C-2177-412E-9909-CFD7E1AFF9E3}"/>
              </a:ext>
            </a:extLst>
          </p:cNvPr>
          <p:cNvSpPr/>
          <p:nvPr/>
        </p:nvSpPr>
        <p:spPr>
          <a:xfrm>
            <a:off x="7164287" y="4809010"/>
            <a:ext cx="935892" cy="301030"/>
          </a:xfrm>
          <a:prstGeom prst="homePlate">
            <a:avLst>
              <a:gd name="adj" fmla="val 24687"/>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Meiryo UI" panose="020B0604030504040204" pitchFamily="50" charset="-128"/>
                <a:ea typeface="Meiryo UI" panose="020B0604030504040204" pitchFamily="50" charset="-128"/>
              </a:rPr>
              <a:t>地域ごと教育</a:t>
            </a:r>
          </a:p>
        </p:txBody>
      </p:sp>
      <p:sp>
        <p:nvSpPr>
          <p:cNvPr id="65" name="テキスト ボックス 64">
            <a:extLst>
              <a:ext uri="{FF2B5EF4-FFF2-40B4-BE49-F238E27FC236}">
                <a16:creationId xmlns:a16="http://schemas.microsoft.com/office/drawing/2014/main" id="{90E3AE33-2109-44D2-9D47-A8980BEFC429}"/>
              </a:ext>
            </a:extLst>
          </p:cNvPr>
          <p:cNvSpPr txBox="1"/>
          <p:nvPr/>
        </p:nvSpPr>
        <p:spPr>
          <a:xfrm>
            <a:off x="3051958" y="4255803"/>
            <a:ext cx="1693332" cy="775015"/>
          </a:xfrm>
          <a:prstGeom prst="rect">
            <a:avLst/>
          </a:prstGeom>
          <a:solidFill>
            <a:schemeClr val="bg1"/>
          </a:solidFill>
        </p:spPr>
        <p:txBody>
          <a:bodyPr wrap="square" lIns="36000" tIns="18000" rIns="36000" bIns="18000" rtlCol="0">
            <a:spAutoFit/>
          </a:bodyPr>
          <a:lstStyle/>
          <a:p>
            <a:r>
              <a:rPr kumimoji="1" lang="en-US" altLang="ja-JP" sz="1200" dirty="0">
                <a:latin typeface="Meiryo UI" panose="020B0604030504040204" pitchFamily="50" charset="-128"/>
                <a:ea typeface="Meiryo UI" panose="020B0604030504040204" pitchFamily="50" charset="-128"/>
              </a:rPr>
              <a:t>Komatsu</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Edge</a:t>
            </a:r>
            <a:r>
              <a:rPr kumimoji="1" lang="ja-JP" altLang="en-US" sz="1200" dirty="0">
                <a:latin typeface="Meiryo UI" panose="020B0604030504040204" pitchFamily="50" charset="-128"/>
                <a:ea typeface="Meiryo UI" panose="020B0604030504040204" pitchFamily="50" charset="-128"/>
              </a:rPr>
              <a:t>（サービス用ツール）、オイル劣化センサを活用したビジネスモデル試行</a:t>
            </a:r>
            <a:r>
              <a:rPr lang="ja-JP" altLang="en-US" sz="1200" dirty="0">
                <a:latin typeface="Meiryo UI" panose="020B0604030504040204" pitchFamily="50" charset="-128"/>
                <a:ea typeface="Meiryo UI" panose="020B0604030504040204" pitchFamily="50" charset="-128"/>
              </a:rPr>
              <a:t>（日本国内）</a:t>
            </a:r>
            <a:endParaRPr kumimoji="1" lang="ja-JP" altLang="en-US" sz="1200" dirty="0">
              <a:latin typeface="Meiryo UI" panose="020B0604030504040204" pitchFamily="50" charset="-128"/>
              <a:ea typeface="Meiryo UI" panose="020B0604030504040204" pitchFamily="50" charset="-128"/>
            </a:endParaRPr>
          </a:p>
        </p:txBody>
      </p:sp>
      <p:sp>
        <p:nvSpPr>
          <p:cNvPr id="66" name="テキスト ボックス 65">
            <a:extLst>
              <a:ext uri="{FF2B5EF4-FFF2-40B4-BE49-F238E27FC236}">
                <a16:creationId xmlns:a16="http://schemas.microsoft.com/office/drawing/2014/main" id="{1B627501-5A9A-4E0D-808D-A491D7AA3032}"/>
              </a:ext>
            </a:extLst>
          </p:cNvPr>
          <p:cNvSpPr txBox="1"/>
          <p:nvPr/>
        </p:nvSpPr>
        <p:spPr>
          <a:xfrm>
            <a:off x="8471365" y="2534497"/>
            <a:ext cx="205184"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schemeClr val="accent4"/>
                </a:solidFill>
                <a:effectLst/>
                <a:uLnTx/>
                <a:uFillTx/>
                <a:latin typeface="Meiryo UI" panose="020B0604030504040204" pitchFamily="50" charset="-128"/>
                <a:ea typeface="Meiryo UI" panose="020B0604030504040204" pitchFamily="50" charset="-128"/>
                <a:cs typeface="+mn-cs"/>
              </a:rPr>
              <a:t>◆</a:t>
            </a:r>
          </a:p>
        </p:txBody>
      </p:sp>
      <p:sp>
        <p:nvSpPr>
          <p:cNvPr id="67" name="テキスト ボックス 66">
            <a:extLst>
              <a:ext uri="{FF2B5EF4-FFF2-40B4-BE49-F238E27FC236}">
                <a16:creationId xmlns:a16="http://schemas.microsoft.com/office/drawing/2014/main" id="{41481ECD-5084-46D8-9AD1-3F73C23AE1D1}"/>
              </a:ext>
            </a:extLst>
          </p:cNvPr>
          <p:cNvSpPr txBox="1"/>
          <p:nvPr/>
        </p:nvSpPr>
        <p:spPr>
          <a:xfrm>
            <a:off x="8676549" y="2580315"/>
            <a:ext cx="476092"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dirty="0">
                <a:ln>
                  <a:noFill/>
                </a:ln>
                <a:solidFill>
                  <a:schemeClr val="accent4"/>
                </a:solidFill>
                <a:effectLst/>
                <a:uLnTx/>
                <a:uFillTx/>
                <a:latin typeface="Meiryo UI" panose="020B0604030504040204" pitchFamily="50" charset="-128"/>
                <a:ea typeface="Meiryo UI" panose="020B0604030504040204" pitchFamily="50" charset="-128"/>
                <a:cs typeface="+mn-cs"/>
              </a:rPr>
              <a:t>リリース</a:t>
            </a:r>
            <a:endParaRPr kumimoji="1" lang="en-US" altLang="ja-JP" sz="1200" b="1" i="0" u="none" strike="noStrike" kern="1200" cap="none" spc="0" normalizeH="0" baseline="0" noProof="0" dirty="0">
              <a:ln>
                <a:noFill/>
              </a:ln>
              <a:solidFill>
                <a:schemeClr val="accent4"/>
              </a:solidFill>
              <a:effectLst/>
              <a:uLnTx/>
              <a:uFillTx/>
              <a:latin typeface="Meiryo UI" panose="020B0604030504040204" pitchFamily="50" charset="-128"/>
              <a:ea typeface="Meiryo UI" panose="020B0604030504040204" pitchFamily="50" charset="-128"/>
              <a:cs typeface="+mn-cs"/>
            </a:endParaRPr>
          </a:p>
        </p:txBody>
      </p:sp>
      <p:sp>
        <p:nvSpPr>
          <p:cNvPr id="69" name="矢印: 五方向 68">
            <a:extLst>
              <a:ext uri="{FF2B5EF4-FFF2-40B4-BE49-F238E27FC236}">
                <a16:creationId xmlns:a16="http://schemas.microsoft.com/office/drawing/2014/main" id="{3E48D224-D529-42FA-91F3-110A56B5E4D7}"/>
              </a:ext>
            </a:extLst>
          </p:cNvPr>
          <p:cNvSpPr/>
          <p:nvPr/>
        </p:nvSpPr>
        <p:spPr>
          <a:xfrm>
            <a:off x="8530850" y="3895673"/>
            <a:ext cx="830868" cy="833560"/>
          </a:xfrm>
          <a:prstGeom prst="homePlat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Meiryo UI" panose="020B0604030504040204" pitchFamily="50" charset="-128"/>
                <a:ea typeface="Meiryo UI" panose="020B0604030504040204" pitchFamily="50" charset="-128"/>
              </a:rPr>
              <a:t>フル機能活用による更なる効率化</a:t>
            </a:r>
          </a:p>
        </p:txBody>
      </p:sp>
      <p:sp>
        <p:nvSpPr>
          <p:cNvPr id="70" name="矢印: 五方向 69">
            <a:extLst>
              <a:ext uri="{FF2B5EF4-FFF2-40B4-BE49-F238E27FC236}">
                <a16:creationId xmlns:a16="http://schemas.microsoft.com/office/drawing/2014/main" id="{829CBE18-73CF-4589-A74C-7E643F02D7CD}"/>
              </a:ext>
            </a:extLst>
          </p:cNvPr>
          <p:cNvSpPr/>
          <p:nvPr/>
        </p:nvSpPr>
        <p:spPr>
          <a:xfrm>
            <a:off x="7925890" y="3971085"/>
            <a:ext cx="871055" cy="710150"/>
          </a:xfrm>
          <a:prstGeom prst="homePlat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Meiryo UI" panose="020B0604030504040204" pitchFamily="50" charset="-128"/>
                <a:ea typeface="Meiryo UI" panose="020B0604030504040204" pitchFamily="50" charset="-128"/>
              </a:rPr>
              <a:t>次世代</a:t>
            </a:r>
            <a:r>
              <a:rPr kumimoji="1" lang="en-US" altLang="ja-JP" sz="1050" b="1" dirty="0">
                <a:solidFill>
                  <a:schemeClr val="bg1"/>
                </a:solidFill>
                <a:latin typeface="Meiryo UI" panose="020B0604030504040204" pitchFamily="50" charset="-128"/>
                <a:ea typeface="Meiryo UI" panose="020B0604030504040204" pitchFamily="50" charset="-128"/>
              </a:rPr>
              <a:t>KOMTRAX</a:t>
            </a:r>
            <a:r>
              <a:rPr kumimoji="1" lang="ja-JP" altLang="en-US" sz="1050" b="1" dirty="0">
                <a:solidFill>
                  <a:schemeClr val="bg1"/>
                </a:solidFill>
                <a:latin typeface="Meiryo UI" panose="020B0604030504040204" pitchFamily="50" charset="-128"/>
                <a:ea typeface="Meiryo UI" panose="020B0604030504040204" pitchFamily="50" charset="-128"/>
              </a:rPr>
              <a:t>によるビジネス拡大</a:t>
            </a:r>
          </a:p>
        </p:txBody>
      </p:sp>
      <p:sp>
        <p:nvSpPr>
          <p:cNvPr id="71" name="テキスト ボックス 70">
            <a:extLst>
              <a:ext uri="{FF2B5EF4-FFF2-40B4-BE49-F238E27FC236}">
                <a16:creationId xmlns:a16="http://schemas.microsoft.com/office/drawing/2014/main" id="{6CCA19BB-78AE-4DAD-943C-94B0BBC0762C}"/>
              </a:ext>
            </a:extLst>
          </p:cNvPr>
          <p:cNvSpPr txBox="1"/>
          <p:nvPr/>
        </p:nvSpPr>
        <p:spPr>
          <a:xfrm>
            <a:off x="3848276" y="2078287"/>
            <a:ext cx="857084" cy="251795"/>
          </a:xfrm>
          <a:prstGeom prst="rect">
            <a:avLst/>
          </a:prstGeom>
          <a:noFill/>
        </p:spPr>
        <p:txBody>
          <a:bodyPr wrap="square" lIns="18000" tIns="18000" rIns="18000" bIns="180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1" lang="ja-JP" altLang="en-US" sz="1400" i="0" u="none" strike="noStrike" kern="1200" cap="none" spc="0" normalizeH="0" baseline="0" noProof="0" dirty="0">
                <a:ln>
                  <a:noFill/>
                </a:ln>
                <a:solidFill>
                  <a:srgbClr val="1B232A"/>
                </a:solidFill>
                <a:effectLst/>
                <a:uLnTx/>
                <a:uFillTx/>
                <a:latin typeface="Meiryo UI"/>
                <a:ea typeface="Meiryo UI"/>
                <a:cs typeface="+mn-cs"/>
              </a:rPr>
              <a:t>全体</a:t>
            </a:r>
            <a:r>
              <a:rPr kumimoji="1" lang="en-US" altLang="ja-JP" sz="1400" i="0" u="none" strike="noStrike" kern="1200" cap="none" spc="0" normalizeH="0" baseline="0" noProof="0" dirty="0">
                <a:ln>
                  <a:noFill/>
                </a:ln>
                <a:solidFill>
                  <a:srgbClr val="1B232A"/>
                </a:solidFill>
                <a:effectLst/>
                <a:uLnTx/>
                <a:uFillTx/>
                <a:latin typeface="Meiryo UI"/>
                <a:ea typeface="Meiryo UI"/>
                <a:cs typeface="+mn-cs"/>
              </a:rPr>
              <a:t>&lt;E&gt;</a:t>
            </a:r>
            <a:endParaRPr kumimoji="1" lang="en-US" altLang="ja-JP" sz="1400" i="0" u="none" strike="noStrike" kern="1200" cap="none" spc="0" normalizeH="0" baseline="0" noProof="0" dirty="0">
              <a:ln>
                <a:noFill/>
              </a:ln>
              <a:solidFill>
                <a:srgbClr val="1B232A"/>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741467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p:txBody>
          <a:bodyPr anchor="ctr"/>
          <a:lstStyle/>
          <a:p>
            <a:pPr marL="0" indent="0" algn="ctr">
              <a:buNone/>
            </a:pPr>
            <a:r>
              <a:rPr lang="en-US" altLang="ja-JP" sz="3200" b="1" dirty="0"/>
              <a:t>End</a:t>
            </a:r>
          </a:p>
        </p:txBody>
      </p:sp>
    </p:spTree>
    <p:extLst>
      <p:ext uri="{BB962C8B-B14F-4D97-AF65-F5344CB8AC3E}">
        <p14:creationId xmlns:p14="http://schemas.microsoft.com/office/powerpoint/2010/main" val="2975109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3AE1632D-120F-4549-A679-BC4FF9BEDBF7}"/>
              </a:ext>
            </a:extLst>
          </p:cNvPr>
          <p:cNvSpPr>
            <a:spLocks noGrp="1"/>
          </p:cNvSpPr>
          <p:nvPr>
            <p:ph type="body" sz="quarter" idx="10"/>
          </p:nvPr>
        </p:nvSpPr>
        <p:spPr/>
        <p:txBody>
          <a:bodyPr/>
          <a:lstStyle/>
          <a:p>
            <a:r>
              <a:rPr lang="en-US" altLang="ja-JP" dirty="0"/>
              <a:t>Appendix</a:t>
            </a:r>
            <a:endParaRPr lang="ja-JP" altLang="en-US" dirty="0"/>
          </a:p>
        </p:txBody>
      </p:sp>
    </p:spTree>
    <p:extLst>
      <p:ext uri="{BB962C8B-B14F-4D97-AF65-F5344CB8AC3E}">
        <p14:creationId xmlns:p14="http://schemas.microsoft.com/office/powerpoint/2010/main" val="20942230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8FA002E-30D7-4EE9-86F5-97DC556A58E7}"/>
              </a:ext>
            </a:extLst>
          </p:cNvPr>
          <p:cNvSpPr>
            <a:spLocks noGrp="1"/>
          </p:cNvSpPr>
          <p:nvPr>
            <p:ph idx="1"/>
          </p:nvPr>
        </p:nvSpPr>
        <p:spPr>
          <a:xfrm>
            <a:off x="178212" y="574893"/>
            <a:ext cx="3346223" cy="3246587"/>
          </a:xfrm>
        </p:spPr>
        <p:txBody>
          <a:bodyPr/>
          <a:lstStyle/>
          <a:p>
            <a:pPr marL="0" indent="0">
              <a:buNone/>
            </a:pPr>
            <a:r>
              <a:rPr lang="ja-JP" altLang="en-US" b="1" dirty="0"/>
              <a:t>アクセスレベルについて</a:t>
            </a:r>
            <a:endParaRPr lang="en-US" altLang="ja-JP" b="1" dirty="0"/>
          </a:p>
          <a:p>
            <a:pPr marL="0" indent="0">
              <a:buNone/>
            </a:pPr>
            <a:endParaRPr lang="en-US" altLang="ja-JP" b="1" dirty="0"/>
          </a:p>
          <a:p>
            <a:pPr marL="0" indent="0">
              <a:buNone/>
            </a:pPr>
            <a:r>
              <a:rPr lang="ja-JP" altLang="en-US" b="1" dirty="0"/>
              <a:t>カスタマイズ定義は</a:t>
            </a:r>
            <a:r>
              <a:rPr lang="en-US" altLang="ja-JP" b="1" dirty="0"/>
              <a:t>4</a:t>
            </a:r>
            <a:r>
              <a:rPr lang="ja-JP" altLang="en-US" b="1" dirty="0"/>
              <a:t>つの定義から成る</a:t>
            </a:r>
            <a:endParaRPr lang="en-US" altLang="ja-JP" b="1" dirty="0"/>
          </a:p>
          <a:p>
            <a:pPr marL="0" indent="0">
              <a:buNone/>
            </a:pPr>
            <a:r>
              <a:rPr lang="en-US" altLang="ja-JP" b="1" dirty="0"/>
              <a:t>	</a:t>
            </a:r>
            <a:r>
              <a:rPr lang="ja-JP" altLang="en-US" sz="1200" b="1" dirty="0"/>
              <a:t>共通定義・加工定義・送信定義・条件定義</a:t>
            </a:r>
            <a:endParaRPr lang="en-US" altLang="ja-JP" sz="1200" b="1" dirty="0"/>
          </a:p>
          <a:p>
            <a:pPr marL="0" indent="0">
              <a:buNone/>
            </a:pPr>
            <a:endParaRPr lang="en-US" altLang="ja-JP" b="1" dirty="0"/>
          </a:p>
          <a:p>
            <a:pPr marL="0" indent="0">
              <a:buNone/>
            </a:pPr>
            <a:r>
              <a:rPr lang="ja-JP" altLang="en-US" b="1" dirty="0"/>
              <a:t>共通定義中のアクセス権限にて、</a:t>
            </a:r>
            <a:endParaRPr lang="en-US" altLang="ja-JP" b="1" dirty="0"/>
          </a:p>
          <a:p>
            <a:pPr marL="0" indent="0">
              <a:buNone/>
            </a:pPr>
            <a:r>
              <a:rPr lang="ja-JP" altLang="en-US" b="1" dirty="0"/>
              <a:t>カスタマイズデータにアクセスするのに必要な権限が定められる</a:t>
            </a:r>
            <a:endParaRPr lang="en-US" altLang="ja-JP" b="1" dirty="0"/>
          </a:p>
          <a:p>
            <a:pPr marL="0" indent="0">
              <a:buNone/>
            </a:pPr>
            <a:endParaRPr lang="en-US" altLang="ja-JP" b="1" dirty="0"/>
          </a:p>
        </p:txBody>
      </p:sp>
      <p:graphicFrame>
        <p:nvGraphicFramePr>
          <p:cNvPr id="7" name="表 6">
            <a:extLst>
              <a:ext uri="{FF2B5EF4-FFF2-40B4-BE49-F238E27FC236}">
                <a16:creationId xmlns:a16="http://schemas.microsoft.com/office/drawing/2014/main" id="{15DB9704-8F15-4F18-8BB4-5BB01DFD72D4}"/>
              </a:ext>
            </a:extLst>
          </p:cNvPr>
          <p:cNvGraphicFramePr>
            <a:graphicFrameLocks noGrp="1"/>
          </p:cNvGraphicFramePr>
          <p:nvPr/>
        </p:nvGraphicFramePr>
        <p:xfrm>
          <a:off x="3702882" y="764705"/>
          <a:ext cx="5184576" cy="2868840"/>
        </p:xfrm>
        <a:graphic>
          <a:graphicData uri="http://schemas.openxmlformats.org/drawingml/2006/table">
            <a:tbl>
              <a:tblPr firstRow="1" bandRow="1"/>
              <a:tblGrid>
                <a:gridCol w="230505">
                  <a:extLst>
                    <a:ext uri="{9D8B030D-6E8A-4147-A177-3AD203B41FA5}">
                      <a16:colId xmlns:a16="http://schemas.microsoft.com/office/drawing/2014/main" val="455260174"/>
                    </a:ext>
                  </a:extLst>
                </a:gridCol>
                <a:gridCol w="1785719">
                  <a:extLst>
                    <a:ext uri="{9D8B030D-6E8A-4147-A177-3AD203B41FA5}">
                      <a16:colId xmlns:a16="http://schemas.microsoft.com/office/drawing/2014/main" val="3381546856"/>
                    </a:ext>
                  </a:extLst>
                </a:gridCol>
                <a:gridCol w="648072">
                  <a:extLst>
                    <a:ext uri="{9D8B030D-6E8A-4147-A177-3AD203B41FA5}">
                      <a16:colId xmlns:a16="http://schemas.microsoft.com/office/drawing/2014/main" val="3429726976"/>
                    </a:ext>
                  </a:extLst>
                </a:gridCol>
                <a:gridCol w="2520280">
                  <a:extLst>
                    <a:ext uri="{9D8B030D-6E8A-4147-A177-3AD203B41FA5}">
                      <a16:colId xmlns:a16="http://schemas.microsoft.com/office/drawing/2014/main" val="3423430550"/>
                    </a:ext>
                  </a:extLst>
                </a:gridCol>
              </a:tblGrid>
              <a:tr h="178550">
                <a:tc rowSpan="2" gridSpan="2">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400" b="1" dirty="0">
                          <a:solidFill>
                            <a:schemeClr val="bg1"/>
                          </a:solidFill>
                          <a:latin typeface="+mn-ea"/>
                          <a:ea typeface="+mn-ea"/>
                        </a:rPr>
                        <a:t>共通定義</a:t>
                      </a:r>
                    </a:p>
                  </a:txBody>
                  <a:tcPr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solidFill>
                  </a:tcPr>
                </a:tc>
                <a:tc rowSpan="2" hMerge="1">
                  <a:txBody>
                    <a:bodyPr/>
                    <a:lstStyle/>
                    <a:p>
                      <a:endParaRPr kumimoji="1" lang="ja-JP" altLang="en-US" sz="1100" dirty="0">
                        <a:ln>
                          <a:solidFill>
                            <a:schemeClr val="tx1"/>
                          </a:solidFill>
                        </a:ln>
                        <a:solidFill>
                          <a:schemeClr val="tx1"/>
                        </a:solidFill>
                        <a:latin typeface="+mn-ea"/>
                        <a:ea typeface="+mn-ea"/>
                      </a:endParaRPr>
                    </a:p>
                  </a:txBody>
                  <a:tcPr>
                    <a:lnL w="12700" cap="flat" cmpd="sng" algn="ctr">
                      <a:solidFill>
                        <a:sysClr val="windowText" lastClr="000000"/>
                      </a:solidFill>
                      <a:prstDash val="solid"/>
                      <a:round/>
                      <a:headEnd type="none" w="med" len="med"/>
                      <a:tailEnd type="none" w="med" len="med"/>
                    </a:lnL>
                    <a:solidFill>
                      <a:schemeClr val="tx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100" dirty="0">
                        <a:ln>
                          <a:solidFill>
                            <a:schemeClr val="tx1"/>
                          </a:solidFill>
                        </a:ln>
                        <a:solidFill>
                          <a:schemeClr val="tx1"/>
                        </a:solidFill>
                        <a:latin typeface="+mn-ea"/>
                        <a:ea typeface="+mn-ea"/>
                      </a:endParaRPr>
                    </a:p>
                  </a:txBody>
                  <a:tcPr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100" dirty="0">
                        <a:ln>
                          <a:solidFill>
                            <a:schemeClr val="tx1"/>
                          </a:solidFill>
                        </a:ln>
                        <a:solidFill>
                          <a:schemeClr val="tx1"/>
                        </a:solidFill>
                        <a:latin typeface="+mn-ea"/>
                        <a:ea typeface="+mn-ea"/>
                      </a:endParaRPr>
                    </a:p>
                  </a:txBody>
                  <a:tcPr marB="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solidFill>
                  </a:tcPr>
                </a:tc>
                <a:extLst>
                  <a:ext uri="{0D108BD9-81ED-4DB2-BD59-A6C34878D82A}">
                    <a16:rowId xmlns:a16="http://schemas.microsoft.com/office/drawing/2014/main" val="957906594"/>
                  </a:ext>
                </a:extLst>
              </a:tr>
              <a:tr h="238999">
                <a:tc gridSpan="2" vMerge="1">
                  <a:txBody>
                    <a:bodyPr/>
                    <a:lstStyle/>
                    <a:p>
                      <a:endParaRPr kumimoji="1" lang="ja-JP" altLang="en-US" sz="1100" dirty="0">
                        <a:solidFill>
                          <a:schemeClr val="tx1"/>
                        </a:solidFill>
                        <a:latin typeface="+mn-ea"/>
                        <a:ea typeface="+mn-ea"/>
                      </a:endParaRPr>
                    </a:p>
                  </a:txBody>
                  <a:tcPr>
                    <a:solidFill>
                      <a:schemeClr val="tx1"/>
                    </a:solidFill>
                  </a:tcPr>
                </a:tc>
                <a:tc hMerge="1" vMerge="1">
                  <a:txBody>
                    <a:bodyPr/>
                    <a:lstStyle/>
                    <a:p>
                      <a:endParaRPr kumimoji="1" lang="ja-JP" altLang="en-US" sz="1100" dirty="0">
                        <a:ln>
                          <a:solidFill>
                            <a:schemeClr val="tx1"/>
                          </a:solidFill>
                        </a:ln>
                        <a:solidFill>
                          <a:schemeClr val="tx1"/>
                        </a:solidFill>
                        <a:latin typeface="+mn-ea"/>
                        <a:ea typeface="+mn-ea"/>
                      </a:endParaRPr>
                    </a:p>
                  </a:txBody>
                  <a:tcPr>
                    <a:solidFill>
                      <a:schemeClr val="tx1"/>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dirty="0">
                          <a:ln>
                            <a:solidFill>
                              <a:schemeClr val="tx1"/>
                            </a:solidFill>
                          </a:ln>
                          <a:solidFill>
                            <a:schemeClr val="tx1"/>
                          </a:solidFill>
                          <a:latin typeface="+mn-ea"/>
                          <a:ea typeface="+mn-ea"/>
                        </a:rPr>
                        <a:t>ﾃﾞｰﾀ型</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dirty="0">
                          <a:ln>
                            <a:solidFill>
                              <a:schemeClr val="tx1"/>
                            </a:solidFill>
                          </a:ln>
                          <a:solidFill>
                            <a:schemeClr val="tx1"/>
                          </a:solidFill>
                          <a:latin typeface="+mn-ea"/>
                          <a:ea typeface="+mn-ea"/>
                        </a:rPr>
                        <a:t>備　考</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23588303"/>
                  </a:ext>
                </a:extLst>
              </a:tr>
              <a:tr h="221066">
                <a:tc>
                  <a:txBody>
                    <a:bodyPr/>
                    <a:lstStyle/>
                    <a:p>
                      <a:endParaRPr kumimoji="1" lang="ja-JP" altLang="en-US" sz="1100" dirty="0">
                        <a:solidFill>
                          <a:schemeClr val="accent6">
                            <a:lumMod val="75000"/>
                          </a:schemeClr>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dirty="0">
                          <a:solidFill>
                            <a:srgbClr val="0000FF"/>
                          </a:solidFill>
                          <a:latin typeface="+mn-ea"/>
                          <a:ea typeface="+mn-ea"/>
                        </a:rPr>
                        <a:t>設定シーケンス番号</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ja-JP" altLang="en-US" sz="1100" dirty="0">
                          <a:solidFill>
                            <a:schemeClr val="tx1"/>
                          </a:solidFill>
                          <a:latin typeface="+mn-ea"/>
                          <a:ea typeface="+mn-ea"/>
                        </a:rPr>
                        <a:t>整数</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dirty="0">
                          <a:solidFill>
                            <a:schemeClr val="tx1"/>
                          </a:solidFill>
                          <a:latin typeface="+mn-ea"/>
                          <a:ea typeface="+mn-ea"/>
                        </a:rPr>
                        <a:t>カスタマイズ設定の車両内シーケンス番号</a:t>
                      </a: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7002258"/>
                  </a:ext>
                </a:extLst>
              </a:tr>
              <a:tr h="221066">
                <a:tc>
                  <a:txBody>
                    <a:bodyPr/>
                    <a:lstStyle/>
                    <a:p>
                      <a:endParaRPr kumimoji="1" lang="ja-JP" altLang="en-US" sz="1100" dirty="0">
                        <a:solidFill>
                          <a:schemeClr val="accent6">
                            <a:lumMod val="75000"/>
                          </a:schemeClr>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1" dirty="0">
                          <a:solidFill>
                            <a:schemeClr val="tx1"/>
                          </a:solidFill>
                          <a:latin typeface="+mn-ea"/>
                          <a:ea typeface="+mn-ea"/>
                        </a:rPr>
                        <a:t>コマンド</a:t>
                      </a:r>
                      <a:r>
                        <a:rPr kumimoji="1" lang="en-US" altLang="ja-JP" sz="1100" b="1" dirty="0">
                          <a:solidFill>
                            <a:schemeClr val="tx1"/>
                          </a:solidFill>
                          <a:latin typeface="+mn-ea"/>
                          <a:ea typeface="+mn-ea"/>
                        </a:rPr>
                        <a:t>ID</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ja-JP" altLang="en-US" sz="1100" dirty="0">
                          <a:solidFill>
                            <a:schemeClr val="tx1"/>
                          </a:solidFill>
                          <a:latin typeface="+mn-ea"/>
                          <a:ea typeface="+mn-ea"/>
                        </a:rPr>
                        <a:t>文字列</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dirty="0">
                          <a:solidFill>
                            <a:schemeClr val="tx1"/>
                          </a:solidFill>
                          <a:latin typeface="+mn-ea"/>
                          <a:ea typeface="+mn-ea"/>
                        </a:rPr>
                        <a:t>送信の際に使用するコマンド</a:t>
                      </a:r>
                      <a:r>
                        <a:rPr kumimoji="1" lang="en-US" altLang="ja-JP" sz="1100" dirty="0">
                          <a:solidFill>
                            <a:schemeClr val="tx1"/>
                          </a:solidFill>
                          <a:latin typeface="+mn-ea"/>
                          <a:ea typeface="+mn-ea"/>
                        </a:rPr>
                        <a:t>ID</a:t>
                      </a:r>
                      <a:r>
                        <a:rPr kumimoji="1" lang="ja-JP" altLang="en-US" sz="1100" dirty="0">
                          <a:solidFill>
                            <a:schemeClr val="tx1"/>
                          </a:solidFill>
                          <a:latin typeface="+mn-ea"/>
                          <a:ea typeface="+mn-ea"/>
                        </a:rPr>
                        <a:t>（</a:t>
                      </a:r>
                      <a:r>
                        <a:rPr kumimoji="1" lang="en-US" altLang="ja-JP" sz="1100" dirty="0">
                          <a:solidFill>
                            <a:schemeClr val="tx1"/>
                          </a:solidFill>
                          <a:latin typeface="+mn-ea"/>
                          <a:ea typeface="+mn-ea"/>
                        </a:rPr>
                        <a:t>4</a:t>
                      </a:r>
                      <a:r>
                        <a:rPr kumimoji="1" lang="ja-JP" altLang="en-US" sz="1100" dirty="0">
                          <a:solidFill>
                            <a:schemeClr val="tx1"/>
                          </a:solidFill>
                          <a:latin typeface="+mn-ea"/>
                          <a:ea typeface="+mn-ea"/>
                        </a:rPr>
                        <a:t>文字）</a:t>
                      </a:r>
                    </a:p>
                  </a:txBody>
                  <a:tcPr marL="72000" marR="36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6013157"/>
                  </a:ext>
                </a:extLst>
              </a:tr>
              <a:tr h="221066">
                <a:tc>
                  <a:txBody>
                    <a:bodyPr/>
                    <a:lstStyle/>
                    <a:p>
                      <a:endParaRPr kumimoji="1" lang="ja-JP" altLang="en-US"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p>
                      <a:r>
                        <a:rPr kumimoji="1" lang="ja-JP" altLang="en-US" sz="1100" b="1" dirty="0">
                          <a:solidFill>
                            <a:schemeClr val="tx1"/>
                          </a:solidFill>
                          <a:latin typeface="+mn-ea"/>
                          <a:ea typeface="+mn-ea"/>
                        </a:rPr>
                        <a:t>カスタマイズ定義</a:t>
                      </a:r>
                      <a:r>
                        <a:rPr kumimoji="1" lang="en-US" altLang="ja-JP" sz="1100" b="1" dirty="0">
                          <a:solidFill>
                            <a:schemeClr val="tx1"/>
                          </a:solidFill>
                          <a:latin typeface="+mn-ea"/>
                          <a:ea typeface="+mn-ea"/>
                        </a:rPr>
                        <a:t>ID</a:t>
                      </a:r>
                      <a:endParaRPr kumimoji="1" lang="ja-JP" altLang="en-US" sz="1100" b="1" dirty="0">
                        <a:solidFill>
                          <a:schemeClr val="tx1"/>
                        </a:solidFill>
                        <a:latin typeface="+mn-ea"/>
                        <a:ea typeface="+mn-ea"/>
                      </a:endParaRP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100" dirty="0">
                          <a:solidFill>
                            <a:schemeClr val="tx1"/>
                          </a:solidFill>
                          <a:latin typeface="+mn-ea"/>
                          <a:ea typeface="+mn-ea"/>
                        </a:rPr>
                        <a:t>整数</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100" dirty="0">
                          <a:solidFill>
                            <a:schemeClr val="tx1"/>
                          </a:solidFill>
                          <a:latin typeface="+mn-ea"/>
                          <a:ea typeface="+mn-ea"/>
                        </a:rPr>
                        <a:t>カスタマイズ定義を特定する</a:t>
                      </a:r>
                      <a:r>
                        <a:rPr kumimoji="1" lang="en-US" altLang="ja-JP" sz="1100" dirty="0">
                          <a:solidFill>
                            <a:schemeClr val="tx1"/>
                          </a:solidFill>
                          <a:latin typeface="+mn-ea"/>
                          <a:ea typeface="+mn-ea"/>
                        </a:rPr>
                        <a:t>ID</a:t>
                      </a:r>
                      <a:endParaRPr kumimoji="1" lang="ja-JP" altLang="en-US" sz="1100" dirty="0">
                        <a:solidFill>
                          <a:schemeClr val="tx1"/>
                        </a:solidFill>
                        <a:latin typeface="+mn-ea"/>
                        <a:ea typeface="+mn-ea"/>
                      </a:endParaRP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1398746"/>
                  </a:ext>
                </a:extLst>
              </a:tr>
              <a:tr h="221066">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100" dirty="0">
                        <a:solidFill>
                          <a:schemeClr val="tx1"/>
                        </a:solidFill>
                        <a:highlight>
                          <a:srgbClr val="000000"/>
                        </a:highlight>
                        <a:latin typeface="+mn-ea"/>
                        <a:ea typeface="+mn-ea"/>
                      </a:endParaRPr>
                    </a:p>
                  </a:txBody>
                  <a:tcPr marT="36000" marB="36000">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kern="1200" dirty="0">
                          <a:solidFill>
                            <a:srgbClr val="0000FF"/>
                          </a:solidFill>
                          <a:latin typeface="+mn-ea"/>
                          <a:ea typeface="Meiryo UI"/>
                          <a:cs typeface="+mn-cs"/>
                        </a:rPr>
                        <a:t>更新回数</a:t>
                      </a:r>
                    </a:p>
                  </a:txBody>
                  <a:tcPr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algn="ctr"/>
                      <a:r>
                        <a:rPr kumimoji="1" lang="ja-JP" altLang="en-US" sz="1100" dirty="0">
                          <a:solidFill>
                            <a:schemeClr val="tx1"/>
                          </a:solidFill>
                          <a:latin typeface="+mn-ea"/>
                          <a:ea typeface="+mn-ea"/>
                        </a:rPr>
                        <a:t>整数</a:t>
                      </a:r>
                    </a:p>
                  </a:txBody>
                  <a:tcPr marL="36000" marR="36000" marT="36000" marB="36000">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dirty="0">
                          <a:solidFill>
                            <a:schemeClr val="tx1"/>
                          </a:solidFill>
                          <a:latin typeface="+mn-ea"/>
                          <a:ea typeface="+mn-ea"/>
                        </a:rPr>
                        <a:t>共通定義の更新回数（サーバで管理）</a:t>
                      </a:r>
                    </a:p>
                  </a:txBody>
                  <a:tcPr marL="72000" marT="36000" marB="36000">
                    <a:lnL w="12700" cmpd="sng">
                      <a:solidFill>
                        <a:sysClr val="windowText" lastClr="000000"/>
                      </a:solidFill>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93353850"/>
                  </a:ext>
                </a:extLst>
              </a:tr>
              <a:tr h="221066">
                <a:tc>
                  <a:txBody>
                    <a:bodyPr/>
                    <a:lstStyle/>
                    <a:p>
                      <a:endParaRPr kumimoji="1" lang="en-US" altLang="ja-JP"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dirty="0">
                          <a:solidFill>
                            <a:srgbClr val="0000FF"/>
                          </a:solidFill>
                          <a:latin typeface="+mn-ea"/>
                          <a:ea typeface="+mn-ea"/>
                        </a:rPr>
                        <a:t>カスタマイズ開始日時</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文字列</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en-US" altLang="ja-JP" sz="1100" dirty="0">
                          <a:solidFill>
                            <a:schemeClr val="tx1"/>
                          </a:solidFill>
                          <a:latin typeface="+mn-ea"/>
                          <a:ea typeface="+mn-ea"/>
                        </a:rPr>
                        <a:t>UTC</a:t>
                      </a:r>
                      <a:r>
                        <a:rPr kumimoji="1" lang="ja-JP" altLang="en-US" sz="1100" dirty="0">
                          <a:solidFill>
                            <a:schemeClr val="tx1"/>
                          </a:solidFill>
                          <a:latin typeface="+mn-ea"/>
                          <a:ea typeface="+mn-ea"/>
                        </a:rPr>
                        <a:t>表記：</a:t>
                      </a:r>
                      <a:r>
                        <a:rPr kumimoji="1" lang="en-US" altLang="ja-JP" sz="1100" dirty="0" err="1">
                          <a:solidFill>
                            <a:schemeClr val="tx1"/>
                          </a:solidFill>
                          <a:latin typeface="+mn-ea"/>
                          <a:ea typeface="+mn-ea"/>
                        </a:rPr>
                        <a:t>yyyyMMddTHHmmssZ</a:t>
                      </a:r>
                      <a:endParaRPr kumimoji="1" lang="ja-JP" altLang="en-US" sz="1100" dirty="0">
                        <a:solidFill>
                          <a:schemeClr val="tx1"/>
                        </a:solidFill>
                        <a:latin typeface="+mn-ea"/>
                        <a:ea typeface="+mn-ea"/>
                      </a:endParaRP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85711912"/>
                  </a:ext>
                </a:extLst>
              </a:tr>
              <a:tr h="221066">
                <a:tc>
                  <a:txBody>
                    <a:bodyPr/>
                    <a:lstStyle/>
                    <a:p>
                      <a:endParaRPr kumimoji="1" lang="en-US" altLang="ja-JP"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dirty="0">
                          <a:solidFill>
                            <a:srgbClr val="0000FF"/>
                          </a:solidFill>
                          <a:latin typeface="+mn-ea"/>
                          <a:ea typeface="+mn-ea"/>
                        </a:rPr>
                        <a:t>カスタマイズ終了日時</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文字列</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tx1"/>
                          </a:solidFill>
                          <a:latin typeface="+mn-ea"/>
                          <a:ea typeface="Meiryo UI"/>
                          <a:cs typeface="+mn-cs"/>
                        </a:rPr>
                        <a:t>UTC</a:t>
                      </a:r>
                      <a:r>
                        <a:rPr kumimoji="1" lang="ja-JP" altLang="en-US" sz="1100" kern="1200" dirty="0">
                          <a:solidFill>
                            <a:schemeClr val="tx1"/>
                          </a:solidFill>
                          <a:latin typeface="+mn-ea"/>
                          <a:ea typeface="Meiryo UI"/>
                          <a:cs typeface="+mn-cs"/>
                        </a:rPr>
                        <a:t>表記：</a:t>
                      </a:r>
                      <a:r>
                        <a:rPr kumimoji="1" lang="en-US" altLang="ja-JP" sz="1100" kern="1200" dirty="0" err="1">
                          <a:solidFill>
                            <a:schemeClr val="tx1"/>
                          </a:solidFill>
                          <a:latin typeface="+mn-ea"/>
                          <a:ea typeface="Meiryo UI"/>
                          <a:cs typeface="+mn-cs"/>
                        </a:rPr>
                        <a:t>yyyyMMddTHHmmssZ</a:t>
                      </a:r>
                      <a:endParaRPr kumimoji="1" lang="ja-JP" altLang="en-US" sz="1100" kern="1200" dirty="0">
                        <a:solidFill>
                          <a:schemeClr val="tx1"/>
                        </a:solidFill>
                        <a:latin typeface="+mn-ea"/>
                        <a:ea typeface="Meiryo UI"/>
                        <a:cs typeface="+mn-cs"/>
                      </a:endParaRP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141096064"/>
                  </a:ext>
                </a:extLst>
              </a:tr>
              <a:tr h="221066">
                <a:tc>
                  <a:txBody>
                    <a:bodyPr/>
                    <a:lstStyle/>
                    <a:p>
                      <a:endParaRPr kumimoji="1" lang="en-US" altLang="ja-JP"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0" dirty="0">
                          <a:solidFill>
                            <a:srgbClr val="0000FF"/>
                          </a:solidFill>
                          <a:latin typeface="+mn-ea"/>
                          <a:ea typeface="+mn-ea"/>
                        </a:rPr>
                        <a:t>有効／無効</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整数</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dirty="0">
                          <a:solidFill>
                            <a:schemeClr val="tx1"/>
                          </a:solidFill>
                          <a:latin typeface="+mn-ea"/>
                          <a:ea typeface="+mn-ea"/>
                        </a:rPr>
                        <a:t>１：定義が有効、０：定義が無効</a:t>
                      </a:r>
                      <a:endParaRPr kumimoji="1" lang="en-US" altLang="ja-JP" sz="1100" dirty="0">
                        <a:solidFill>
                          <a:schemeClr val="tx1"/>
                        </a:solidFill>
                        <a:latin typeface="+mn-ea"/>
                        <a:ea typeface="+mn-ea"/>
                      </a:endParaRP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49481918"/>
                  </a:ext>
                </a:extLst>
              </a:tr>
              <a:tr h="221066">
                <a:tc>
                  <a:txBody>
                    <a:bodyPr/>
                    <a:lstStyle/>
                    <a:p>
                      <a:endParaRPr kumimoji="1" lang="en-US" altLang="ja-JP"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1" dirty="0">
                          <a:solidFill>
                            <a:schemeClr val="tx1"/>
                          </a:solidFill>
                          <a:latin typeface="+mn-ea"/>
                          <a:ea typeface="+mn-ea"/>
                        </a:rPr>
                        <a:t>優先度</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整数</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en-US" altLang="ja-JP" sz="1100" dirty="0">
                          <a:solidFill>
                            <a:schemeClr val="tx1"/>
                          </a:solidFill>
                          <a:latin typeface="+mn-ea"/>
                          <a:ea typeface="+mn-ea"/>
                        </a:rPr>
                        <a:t>10:</a:t>
                      </a:r>
                      <a:r>
                        <a:rPr kumimoji="1" lang="ja-JP" altLang="en-US" sz="1100" dirty="0">
                          <a:solidFill>
                            <a:schemeClr val="tx1"/>
                          </a:solidFill>
                          <a:latin typeface="+mn-ea"/>
                          <a:ea typeface="+mn-ea"/>
                        </a:rPr>
                        <a:t>高、</a:t>
                      </a:r>
                      <a:r>
                        <a:rPr kumimoji="1" lang="en-US" altLang="ja-JP" sz="1100" dirty="0">
                          <a:solidFill>
                            <a:schemeClr val="tx1"/>
                          </a:solidFill>
                          <a:latin typeface="+mn-ea"/>
                          <a:ea typeface="+mn-ea"/>
                        </a:rPr>
                        <a:t>20:</a:t>
                      </a:r>
                      <a:r>
                        <a:rPr kumimoji="1" lang="ja-JP" altLang="en-US" sz="1100" dirty="0">
                          <a:solidFill>
                            <a:schemeClr val="tx1"/>
                          </a:solidFill>
                          <a:latin typeface="+mn-ea"/>
                          <a:ea typeface="+mn-ea"/>
                        </a:rPr>
                        <a:t>中、</a:t>
                      </a:r>
                      <a:r>
                        <a:rPr kumimoji="1" lang="en-US" altLang="ja-JP" sz="1100" dirty="0">
                          <a:solidFill>
                            <a:schemeClr val="tx1"/>
                          </a:solidFill>
                          <a:latin typeface="+mn-ea"/>
                          <a:ea typeface="+mn-ea"/>
                        </a:rPr>
                        <a:t>30:</a:t>
                      </a:r>
                      <a:r>
                        <a:rPr kumimoji="1" lang="ja-JP" altLang="en-US" sz="1100" dirty="0">
                          <a:solidFill>
                            <a:schemeClr val="tx1"/>
                          </a:solidFill>
                          <a:latin typeface="+mn-ea"/>
                          <a:ea typeface="+mn-ea"/>
                        </a:rPr>
                        <a:t>低</a:t>
                      </a: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5097724"/>
                  </a:ext>
                </a:extLst>
              </a:tr>
              <a:tr h="221066">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1" dirty="0">
                          <a:solidFill>
                            <a:schemeClr val="tx1"/>
                          </a:solidFill>
                          <a:latin typeface="+mn-ea"/>
                          <a:ea typeface="+mn-ea"/>
                        </a:rPr>
                        <a:t>カスタマイズ定義バージョン</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chemeClr val="tx1"/>
                          </a:solidFill>
                          <a:effectLst/>
                          <a:uLnTx/>
                          <a:uFillTx/>
                          <a:latin typeface="+mn-ea"/>
                          <a:ea typeface="+mn-ea"/>
                          <a:cs typeface="+mn-cs"/>
                        </a:rPr>
                        <a:t>文字列</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en-US" altLang="ja-JP" sz="1100" dirty="0">
                          <a:solidFill>
                            <a:schemeClr val="tx1"/>
                          </a:solidFill>
                          <a:latin typeface="+mn-ea"/>
                          <a:ea typeface="+mn-ea"/>
                        </a:rPr>
                        <a:t>X.X.X.X</a:t>
                      </a:r>
                      <a:r>
                        <a:rPr kumimoji="1" lang="ja-JP" altLang="en-US" sz="1100" dirty="0">
                          <a:solidFill>
                            <a:schemeClr val="tx1"/>
                          </a:solidFill>
                          <a:latin typeface="+mn-ea"/>
                          <a:ea typeface="+mn-ea"/>
                        </a:rPr>
                        <a:t>　のように４つ</a:t>
                      </a: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488406"/>
                  </a:ext>
                </a:extLst>
              </a:tr>
              <a:tr h="221066">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endParaRPr kumimoji="1" lang="ja-JP" altLang="en-US" sz="1100" dirty="0">
                        <a:solidFill>
                          <a:schemeClr val="tx1"/>
                        </a:solidFill>
                        <a:highlight>
                          <a:srgbClr val="000000"/>
                        </a:highlight>
                        <a:latin typeface="+mn-ea"/>
                        <a:ea typeface="+mn-ea"/>
                      </a:endParaRPr>
                    </a:p>
                  </a:txBody>
                  <a:tcPr marT="36000" marB="36000">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Text" lastClr="000000"/>
                    </a:solid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ja-JP" altLang="en-US" sz="1100" b="1" dirty="0">
                          <a:solidFill>
                            <a:schemeClr val="tx1"/>
                          </a:solidFill>
                          <a:highlight>
                            <a:srgbClr val="FFFF00"/>
                          </a:highlight>
                          <a:latin typeface="+mn-ea"/>
                          <a:ea typeface="+mn-ea"/>
                        </a:rPr>
                        <a:t>アクセス権限</a:t>
                      </a:r>
                    </a:p>
                  </a:txBody>
                  <a:tcPr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dirty="0">
                          <a:ln>
                            <a:noFill/>
                          </a:ln>
                          <a:solidFill>
                            <a:schemeClr val="tx1"/>
                          </a:solidFill>
                          <a:effectLst/>
                          <a:highlight>
                            <a:srgbClr val="FFFF00"/>
                          </a:highlight>
                          <a:uLnTx/>
                          <a:uFillTx/>
                          <a:latin typeface="+mn-ea"/>
                          <a:ea typeface="+mn-ea"/>
                          <a:cs typeface="+mn-cs"/>
                        </a:rPr>
                        <a:t>整数</a:t>
                      </a:r>
                    </a:p>
                  </a:txBody>
                  <a:tcPr marL="36000" marR="36000" marT="36000" marB="3600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Meiryo UI"/>
                        </a:defRPr>
                      </a:lvl1pPr>
                      <a:lvl2pPr marL="457200" algn="l" defTabSz="914400" rtl="0" eaLnBrk="1" latinLnBrk="0" hangingPunct="1">
                        <a:defRPr kumimoji="1" sz="1800" kern="1200">
                          <a:solidFill>
                            <a:schemeClr val="tx1"/>
                          </a:solidFill>
                          <a:latin typeface="Arial"/>
                          <a:ea typeface="Meiryo UI"/>
                        </a:defRPr>
                      </a:lvl2pPr>
                      <a:lvl3pPr marL="914400" algn="l" defTabSz="914400" rtl="0" eaLnBrk="1" latinLnBrk="0" hangingPunct="1">
                        <a:defRPr kumimoji="1" sz="1800" kern="1200">
                          <a:solidFill>
                            <a:schemeClr val="tx1"/>
                          </a:solidFill>
                          <a:latin typeface="Arial"/>
                          <a:ea typeface="Meiryo UI"/>
                        </a:defRPr>
                      </a:lvl3pPr>
                      <a:lvl4pPr marL="1371600" algn="l" defTabSz="914400" rtl="0" eaLnBrk="1" latinLnBrk="0" hangingPunct="1">
                        <a:defRPr kumimoji="1" sz="1800" kern="1200">
                          <a:solidFill>
                            <a:schemeClr val="tx1"/>
                          </a:solidFill>
                          <a:latin typeface="Arial"/>
                          <a:ea typeface="Meiryo UI"/>
                        </a:defRPr>
                      </a:lvl4pPr>
                      <a:lvl5pPr marL="1828800" algn="l" defTabSz="914400" rtl="0" eaLnBrk="1" latinLnBrk="0" hangingPunct="1">
                        <a:defRPr kumimoji="1" sz="1800" kern="1200">
                          <a:solidFill>
                            <a:schemeClr val="tx1"/>
                          </a:solidFill>
                          <a:latin typeface="Arial"/>
                          <a:ea typeface="Meiryo UI"/>
                        </a:defRPr>
                      </a:lvl5pPr>
                      <a:lvl6pPr marL="2286000" algn="l" defTabSz="914400" rtl="0" eaLnBrk="1" latinLnBrk="0" hangingPunct="1">
                        <a:defRPr kumimoji="1" sz="1800" kern="1200">
                          <a:solidFill>
                            <a:schemeClr val="tx1"/>
                          </a:solidFill>
                          <a:latin typeface="Arial"/>
                          <a:ea typeface="Meiryo UI"/>
                        </a:defRPr>
                      </a:lvl6pPr>
                      <a:lvl7pPr marL="2743200" algn="l" defTabSz="914400" rtl="0" eaLnBrk="1" latinLnBrk="0" hangingPunct="1">
                        <a:defRPr kumimoji="1" sz="1800" kern="1200">
                          <a:solidFill>
                            <a:schemeClr val="tx1"/>
                          </a:solidFill>
                          <a:latin typeface="Arial"/>
                          <a:ea typeface="Meiryo UI"/>
                        </a:defRPr>
                      </a:lvl7pPr>
                      <a:lvl8pPr marL="3200400" algn="l" defTabSz="914400" rtl="0" eaLnBrk="1" latinLnBrk="0" hangingPunct="1">
                        <a:defRPr kumimoji="1" sz="1800" kern="1200">
                          <a:solidFill>
                            <a:schemeClr val="tx1"/>
                          </a:solidFill>
                          <a:latin typeface="Arial"/>
                          <a:ea typeface="Meiryo UI"/>
                        </a:defRPr>
                      </a:lvl8pPr>
                      <a:lvl9pPr marL="3657600" algn="l" defTabSz="914400" rtl="0" eaLnBrk="1" latinLnBrk="0" hangingPunct="1">
                        <a:defRPr kumimoji="1" sz="1800" kern="1200">
                          <a:solidFill>
                            <a:schemeClr val="tx1"/>
                          </a:solidFill>
                          <a:latin typeface="Arial"/>
                          <a:ea typeface="Meiryo UI"/>
                        </a:defRPr>
                      </a:lvl9pPr>
                    </a:lstStyle>
                    <a:p>
                      <a:r>
                        <a:rPr kumimoji="1" lang="en-US" altLang="ja-JP" sz="1100" dirty="0">
                          <a:solidFill>
                            <a:schemeClr val="tx1"/>
                          </a:solidFill>
                          <a:highlight>
                            <a:srgbClr val="FFFF00"/>
                          </a:highlight>
                          <a:latin typeface="+mn-ea"/>
                          <a:ea typeface="+mn-ea"/>
                        </a:rPr>
                        <a:t>64</a:t>
                      </a:r>
                      <a:r>
                        <a:rPr kumimoji="1" lang="ja-JP" altLang="en-US" sz="1100" dirty="0">
                          <a:solidFill>
                            <a:schemeClr val="tx1"/>
                          </a:solidFill>
                          <a:highlight>
                            <a:srgbClr val="FFFF00"/>
                          </a:highlight>
                          <a:latin typeface="+mn-ea"/>
                          <a:ea typeface="+mn-ea"/>
                        </a:rPr>
                        <a:t>段階のアクセス権</a:t>
                      </a:r>
                    </a:p>
                  </a:txBody>
                  <a:tcPr marL="72000" marT="36000" marB="36000">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269125555"/>
                  </a:ext>
                </a:extLst>
              </a:tr>
            </a:tbl>
          </a:graphicData>
        </a:graphic>
      </p:graphicFrame>
      <p:sp>
        <p:nvSpPr>
          <p:cNvPr id="8" name="四角形: メモ 7">
            <a:extLst>
              <a:ext uri="{FF2B5EF4-FFF2-40B4-BE49-F238E27FC236}">
                <a16:creationId xmlns:a16="http://schemas.microsoft.com/office/drawing/2014/main" id="{F30BF5B2-0552-4C22-ACB1-04F0D21A835D}"/>
              </a:ext>
            </a:extLst>
          </p:cNvPr>
          <p:cNvSpPr/>
          <p:nvPr/>
        </p:nvSpPr>
        <p:spPr>
          <a:xfrm flipV="1">
            <a:off x="1715264" y="4666908"/>
            <a:ext cx="1146484" cy="1490747"/>
          </a:xfrm>
          <a:prstGeom prst="foldedCorner">
            <a:avLst>
              <a:gd name="adj" fmla="val 15811"/>
            </a:avLst>
          </a:prstGeom>
          <a:solidFill>
            <a:sysClr val="window" lastClr="FFFFFF"/>
          </a:solidFill>
          <a:ln w="1905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9" name="テキスト ボックス 8">
            <a:extLst>
              <a:ext uri="{FF2B5EF4-FFF2-40B4-BE49-F238E27FC236}">
                <a16:creationId xmlns:a16="http://schemas.microsoft.com/office/drawing/2014/main" id="{CB033751-38E6-4C91-96DA-21081928D5C0}"/>
              </a:ext>
            </a:extLst>
          </p:cNvPr>
          <p:cNvSpPr txBox="1"/>
          <p:nvPr/>
        </p:nvSpPr>
        <p:spPr>
          <a:xfrm>
            <a:off x="1737362" y="4758256"/>
            <a:ext cx="1005403" cy="1308050"/>
          </a:xfrm>
          <a:prstGeom prst="rect">
            <a:avLst/>
          </a:prstGeom>
          <a:noFill/>
        </p:spPr>
        <p:txBody>
          <a:bodyPr wrap="none" rtlCol="0">
            <a:spAutoFit/>
          </a:bodyPr>
          <a:lstStyle/>
          <a:p>
            <a:r>
              <a:rPr lang="ja-JP" altLang="en-US" sz="1600" b="1" dirty="0">
                <a:solidFill>
                  <a:srgbClr val="FF0000"/>
                </a:solidFill>
                <a:latin typeface="+mn-ea"/>
              </a:rPr>
              <a:t>共通定義</a:t>
            </a:r>
            <a:endParaRPr lang="en-US" altLang="ja-JP" sz="1600" b="1" dirty="0">
              <a:solidFill>
                <a:srgbClr val="FF0000"/>
              </a:solidFill>
              <a:latin typeface="+mn-ea"/>
            </a:endParaRPr>
          </a:p>
          <a:p>
            <a:pPr>
              <a:spcBef>
                <a:spcPts val="600"/>
              </a:spcBef>
            </a:pPr>
            <a:r>
              <a:rPr lang="ja-JP" altLang="en-US" sz="1600" b="1" dirty="0">
                <a:latin typeface="+mn-ea"/>
              </a:rPr>
              <a:t>加工定義</a:t>
            </a:r>
            <a:endParaRPr lang="en-US" altLang="ja-JP" sz="1600" b="1" dirty="0">
              <a:latin typeface="+mn-ea"/>
            </a:endParaRPr>
          </a:p>
          <a:p>
            <a:pPr>
              <a:spcBef>
                <a:spcPts val="600"/>
              </a:spcBef>
            </a:pPr>
            <a:r>
              <a:rPr lang="ja-JP" altLang="en-US" sz="1600" b="1" dirty="0">
                <a:latin typeface="+mn-ea"/>
              </a:rPr>
              <a:t>送信定義</a:t>
            </a:r>
            <a:endParaRPr lang="en-US" altLang="ja-JP" sz="1600" b="1" dirty="0">
              <a:latin typeface="+mn-ea"/>
            </a:endParaRPr>
          </a:p>
          <a:p>
            <a:pPr>
              <a:spcBef>
                <a:spcPts val="600"/>
              </a:spcBef>
            </a:pPr>
            <a:r>
              <a:rPr lang="ja-JP" altLang="en-US" sz="1600" b="1" dirty="0">
                <a:latin typeface="+mn-ea"/>
              </a:rPr>
              <a:t>条件定義</a:t>
            </a:r>
          </a:p>
        </p:txBody>
      </p:sp>
      <p:sp>
        <p:nvSpPr>
          <p:cNvPr id="10" name="フリーフォーム: 図形 9">
            <a:extLst>
              <a:ext uri="{FF2B5EF4-FFF2-40B4-BE49-F238E27FC236}">
                <a16:creationId xmlns:a16="http://schemas.microsoft.com/office/drawing/2014/main" id="{79E108ED-1D63-4C53-BDD3-8695C9F935F7}"/>
              </a:ext>
            </a:extLst>
          </p:cNvPr>
          <p:cNvSpPr/>
          <p:nvPr/>
        </p:nvSpPr>
        <p:spPr>
          <a:xfrm flipV="1">
            <a:off x="2694770" y="3642653"/>
            <a:ext cx="1005402" cy="1621805"/>
          </a:xfrm>
          <a:custGeom>
            <a:avLst/>
            <a:gdLst>
              <a:gd name="connsiteX0" fmla="*/ 0 w 797522"/>
              <a:gd name="connsiteY0" fmla="*/ 0 h 3815730"/>
              <a:gd name="connsiteX1" fmla="*/ 378135 w 797522"/>
              <a:gd name="connsiteY1" fmla="*/ 0 h 3815730"/>
              <a:gd name="connsiteX2" fmla="*/ 797522 w 797522"/>
              <a:gd name="connsiteY2" fmla="*/ 3815730 h 3815730"/>
            </a:gdLst>
            <a:ahLst/>
            <a:cxnLst>
              <a:cxn ang="0">
                <a:pos x="connsiteX0" y="connsiteY0"/>
              </a:cxn>
              <a:cxn ang="0">
                <a:pos x="connsiteX1" y="connsiteY1"/>
              </a:cxn>
              <a:cxn ang="0">
                <a:pos x="connsiteX2" y="connsiteY2"/>
              </a:cxn>
            </a:cxnLst>
            <a:rect l="l" t="t" r="r" b="b"/>
            <a:pathLst>
              <a:path w="797522" h="3815730">
                <a:moveTo>
                  <a:pt x="0" y="0"/>
                </a:moveTo>
                <a:lnTo>
                  <a:pt x="378135" y="0"/>
                </a:lnTo>
                <a:lnTo>
                  <a:pt x="797522" y="3815730"/>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フリーフォーム: 図形 10">
            <a:extLst>
              <a:ext uri="{FF2B5EF4-FFF2-40B4-BE49-F238E27FC236}">
                <a16:creationId xmlns:a16="http://schemas.microsoft.com/office/drawing/2014/main" id="{77B4FC2E-7B18-4969-892B-BC070F5E8B7A}"/>
              </a:ext>
            </a:extLst>
          </p:cNvPr>
          <p:cNvSpPr/>
          <p:nvPr/>
        </p:nvSpPr>
        <p:spPr>
          <a:xfrm>
            <a:off x="2662956" y="764704"/>
            <a:ext cx="1037216" cy="4180158"/>
          </a:xfrm>
          <a:custGeom>
            <a:avLst/>
            <a:gdLst>
              <a:gd name="connsiteX0" fmla="*/ 0 w 804397"/>
              <a:gd name="connsiteY0" fmla="*/ 75627 h 75627"/>
              <a:gd name="connsiteX1" fmla="*/ 391885 w 804397"/>
              <a:gd name="connsiteY1" fmla="*/ 75627 h 75627"/>
              <a:gd name="connsiteX2" fmla="*/ 804397 w 804397"/>
              <a:gd name="connsiteY2" fmla="*/ 0 h 75627"/>
            </a:gdLst>
            <a:ahLst/>
            <a:cxnLst>
              <a:cxn ang="0">
                <a:pos x="connsiteX0" y="connsiteY0"/>
              </a:cxn>
              <a:cxn ang="0">
                <a:pos x="connsiteX1" y="connsiteY1"/>
              </a:cxn>
              <a:cxn ang="0">
                <a:pos x="connsiteX2" y="connsiteY2"/>
              </a:cxn>
            </a:cxnLst>
            <a:rect l="l" t="t" r="r" b="b"/>
            <a:pathLst>
              <a:path w="804397" h="75627">
                <a:moveTo>
                  <a:pt x="0" y="75627"/>
                </a:moveTo>
                <a:lnTo>
                  <a:pt x="391885" y="75627"/>
                </a:lnTo>
                <a:lnTo>
                  <a:pt x="804397" y="0"/>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フリーフォーム: 図形 11">
            <a:extLst>
              <a:ext uri="{FF2B5EF4-FFF2-40B4-BE49-F238E27FC236}">
                <a16:creationId xmlns:a16="http://schemas.microsoft.com/office/drawing/2014/main" id="{48ECECC1-8CDF-4420-950C-109EA839A36A}"/>
              </a:ext>
            </a:extLst>
          </p:cNvPr>
          <p:cNvSpPr/>
          <p:nvPr/>
        </p:nvSpPr>
        <p:spPr>
          <a:xfrm>
            <a:off x="2694768" y="5904411"/>
            <a:ext cx="1005404" cy="275764"/>
          </a:xfrm>
          <a:custGeom>
            <a:avLst/>
            <a:gdLst>
              <a:gd name="connsiteX0" fmla="*/ 0 w 797522"/>
              <a:gd name="connsiteY0" fmla="*/ 0 h 3815730"/>
              <a:gd name="connsiteX1" fmla="*/ 378135 w 797522"/>
              <a:gd name="connsiteY1" fmla="*/ 0 h 3815730"/>
              <a:gd name="connsiteX2" fmla="*/ 797522 w 797522"/>
              <a:gd name="connsiteY2" fmla="*/ 3815730 h 3815730"/>
            </a:gdLst>
            <a:ahLst/>
            <a:cxnLst>
              <a:cxn ang="0">
                <a:pos x="connsiteX0" y="connsiteY0"/>
              </a:cxn>
              <a:cxn ang="0">
                <a:pos x="connsiteX1" y="connsiteY1"/>
              </a:cxn>
              <a:cxn ang="0">
                <a:pos x="connsiteX2" y="connsiteY2"/>
              </a:cxn>
            </a:cxnLst>
            <a:rect l="l" t="t" r="r" b="b"/>
            <a:pathLst>
              <a:path w="797522" h="3815730">
                <a:moveTo>
                  <a:pt x="0" y="0"/>
                </a:moveTo>
                <a:lnTo>
                  <a:pt x="378135" y="0"/>
                </a:lnTo>
                <a:lnTo>
                  <a:pt x="797522" y="3815730"/>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E77A644-D60C-4C07-A82D-53FE55F754BA}"/>
              </a:ext>
            </a:extLst>
          </p:cNvPr>
          <p:cNvSpPr txBox="1"/>
          <p:nvPr/>
        </p:nvSpPr>
        <p:spPr>
          <a:xfrm>
            <a:off x="1483638" y="4302972"/>
            <a:ext cx="1609736" cy="338554"/>
          </a:xfrm>
          <a:prstGeom prst="rect">
            <a:avLst/>
          </a:prstGeom>
          <a:noFill/>
        </p:spPr>
        <p:txBody>
          <a:bodyPr wrap="none" rtlCol="0">
            <a:spAutoFit/>
          </a:bodyPr>
          <a:lstStyle/>
          <a:p>
            <a:r>
              <a:rPr kumimoji="1" lang="ja-JP" altLang="en-US" sz="1600" b="1" dirty="0">
                <a:latin typeface="+mn-ea"/>
              </a:rPr>
              <a:t>カスタマイズ定義</a:t>
            </a:r>
          </a:p>
        </p:txBody>
      </p:sp>
      <p:graphicFrame>
        <p:nvGraphicFramePr>
          <p:cNvPr id="14" name="表 13">
            <a:extLst>
              <a:ext uri="{FF2B5EF4-FFF2-40B4-BE49-F238E27FC236}">
                <a16:creationId xmlns:a16="http://schemas.microsoft.com/office/drawing/2014/main" id="{D8E75B5C-509C-4642-B002-ECDA10836C36}"/>
              </a:ext>
            </a:extLst>
          </p:cNvPr>
          <p:cNvGraphicFramePr>
            <a:graphicFrameLocks noGrp="1"/>
          </p:cNvGraphicFramePr>
          <p:nvPr/>
        </p:nvGraphicFramePr>
        <p:xfrm>
          <a:off x="3700173" y="3632809"/>
          <a:ext cx="5187285" cy="2547366"/>
        </p:xfrm>
        <a:graphic>
          <a:graphicData uri="http://schemas.openxmlformats.org/drawingml/2006/table">
            <a:tbl>
              <a:tblPr firstRow="1" bandRow="1">
                <a:tableStyleId>{5940675A-B579-460E-94D1-54222C63F5DA}</a:tableStyleId>
              </a:tblPr>
              <a:tblGrid>
                <a:gridCol w="211465">
                  <a:extLst>
                    <a:ext uri="{9D8B030D-6E8A-4147-A177-3AD203B41FA5}">
                      <a16:colId xmlns:a16="http://schemas.microsoft.com/office/drawing/2014/main" val="1277609708"/>
                    </a:ext>
                  </a:extLst>
                </a:gridCol>
                <a:gridCol w="4975820">
                  <a:extLst>
                    <a:ext uri="{9D8B030D-6E8A-4147-A177-3AD203B41FA5}">
                      <a16:colId xmlns:a16="http://schemas.microsoft.com/office/drawing/2014/main" val="1162243649"/>
                    </a:ext>
                  </a:extLst>
                </a:gridCol>
              </a:tblGrid>
              <a:tr h="236268">
                <a:tc gridSpan="2">
                  <a:txBody>
                    <a:bodyPr/>
                    <a:lstStyle/>
                    <a:p>
                      <a:r>
                        <a:rPr kumimoji="1" lang="ja-JP" altLang="en-US" sz="1200" b="1" dirty="0">
                          <a:solidFill>
                            <a:schemeClr val="bg1"/>
                          </a:solidFill>
                          <a:latin typeface="+mn-ea"/>
                          <a:ea typeface="+mn-ea"/>
                        </a:rPr>
                        <a:t>加工定義</a:t>
                      </a:r>
                    </a:p>
                  </a:txBody>
                  <a:tcPr>
                    <a:solidFill>
                      <a:schemeClr val="tx1"/>
                    </a:solidFill>
                  </a:tcPr>
                </a:tc>
                <a:tc hMerge="1">
                  <a:txBody>
                    <a:bodyPr/>
                    <a:lstStyle/>
                    <a:p>
                      <a:endParaRPr kumimoji="1" lang="ja-JP" altLang="en-US" sz="1100" dirty="0">
                        <a:latin typeface="+mn-ea"/>
                        <a:ea typeface="+mn-ea"/>
                      </a:endParaRPr>
                    </a:p>
                  </a:txBody>
                  <a:tcPr>
                    <a:solidFill>
                      <a:schemeClr val="tx1"/>
                    </a:solidFill>
                  </a:tcPr>
                </a:tc>
                <a:extLst>
                  <a:ext uri="{0D108BD9-81ED-4DB2-BD59-A6C34878D82A}">
                    <a16:rowId xmlns:a16="http://schemas.microsoft.com/office/drawing/2014/main" val="397027994"/>
                  </a:ext>
                </a:extLst>
              </a:tr>
              <a:tr h="236268">
                <a:tc>
                  <a:txBody>
                    <a:bodyPr/>
                    <a:lstStyle/>
                    <a:p>
                      <a:endParaRPr kumimoji="1" lang="ja-JP" altLang="en-US" sz="1100" dirty="0">
                        <a:latin typeface="+mn-ea"/>
                        <a:ea typeface="+mn-ea"/>
                      </a:endParaRPr>
                    </a:p>
                  </a:txBody>
                  <a:tcPr>
                    <a:solidFill>
                      <a:schemeClr val="tx1"/>
                    </a:solidFill>
                  </a:tcPr>
                </a:tc>
                <a:tc>
                  <a:txBody>
                    <a:bodyPr/>
                    <a:lstStyle/>
                    <a:p>
                      <a:pPr marL="92075" indent="-92075">
                        <a:lnSpc>
                          <a:spcPct val="85000"/>
                        </a:lnSpc>
                        <a:buFont typeface="Arial" panose="020B0604020202020204" pitchFamily="34" charset="0"/>
                        <a:buChar char="•"/>
                      </a:pPr>
                      <a:r>
                        <a:rPr kumimoji="1" lang="ja-JP" altLang="en-US" sz="1100" dirty="0">
                          <a:latin typeface="+mn-ea"/>
                          <a:ea typeface="+mn-ea"/>
                        </a:rPr>
                        <a:t>どのタイプのデータとして取るか（</a:t>
                      </a:r>
                      <a:r>
                        <a:rPr kumimoji="1" lang="en-US" altLang="ja-JP" sz="1100" dirty="0">
                          <a:latin typeface="+mn-ea"/>
                          <a:ea typeface="+mn-ea"/>
                        </a:rPr>
                        <a:t>Trend/History/Map/Snap</a:t>
                      </a:r>
                      <a:r>
                        <a:rPr kumimoji="1" lang="ja-JP" altLang="en-US" sz="1100" dirty="0">
                          <a:latin typeface="+mn-ea"/>
                          <a:ea typeface="+mn-ea"/>
                        </a:rPr>
                        <a:t>）</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データ定義リスト</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加工の方法（</a:t>
                      </a:r>
                      <a:r>
                        <a:rPr kumimoji="1" lang="en-US" altLang="ja-JP" sz="1100" dirty="0">
                          <a:latin typeface="+mn-ea"/>
                          <a:ea typeface="+mn-ea"/>
                        </a:rPr>
                        <a:t>AVE,</a:t>
                      </a:r>
                      <a:r>
                        <a:rPr kumimoji="1" lang="ja-JP" altLang="en-US" sz="1100" dirty="0">
                          <a:latin typeface="+mn-ea"/>
                          <a:ea typeface="+mn-ea"/>
                        </a:rPr>
                        <a:t> </a:t>
                      </a:r>
                      <a:r>
                        <a:rPr kumimoji="1" lang="en-US" altLang="ja-JP" sz="1100" dirty="0">
                          <a:latin typeface="+mn-ea"/>
                          <a:ea typeface="+mn-ea"/>
                        </a:rPr>
                        <a:t>MAX</a:t>
                      </a:r>
                      <a:r>
                        <a:rPr kumimoji="1" lang="ja-JP" altLang="en-US" sz="1100" dirty="0">
                          <a:latin typeface="+mn-ea"/>
                          <a:ea typeface="+mn-ea"/>
                        </a:rPr>
                        <a:t>、）</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加工開始／終了条件</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データサンプリング周期</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集計条件</a:t>
                      </a:r>
                      <a:endParaRPr kumimoji="1" lang="en-US" altLang="ja-JP" sz="1100" dirty="0">
                        <a:latin typeface="+mn-ea"/>
                        <a:ea typeface="+mn-ea"/>
                      </a:endParaRPr>
                    </a:p>
                  </a:txBody>
                  <a:tcPr/>
                </a:tc>
                <a:extLst>
                  <a:ext uri="{0D108BD9-81ED-4DB2-BD59-A6C34878D82A}">
                    <a16:rowId xmlns:a16="http://schemas.microsoft.com/office/drawing/2014/main" val="4107609754"/>
                  </a:ext>
                </a:extLst>
              </a:tr>
              <a:tr h="236268">
                <a:tc gridSpan="2">
                  <a:txBody>
                    <a:bodyPr/>
                    <a:lstStyle/>
                    <a:p>
                      <a:r>
                        <a:rPr kumimoji="1" lang="ja-JP" altLang="en-US" sz="1200" b="1" dirty="0">
                          <a:solidFill>
                            <a:schemeClr val="bg1"/>
                          </a:solidFill>
                          <a:latin typeface="+mn-ea"/>
                          <a:ea typeface="+mn-ea"/>
                        </a:rPr>
                        <a:t>送信定義</a:t>
                      </a:r>
                    </a:p>
                  </a:txBody>
                  <a:tcPr>
                    <a:solidFill>
                      <a:schemeClr val="tx1"/>
                    </a:solidFill>
                  </a:tcPr>
                </a:tc>
                <a:tc hMerge="1">
                  <a:txBody>
                    <a:bodyPr/>
                    <a:lstStyle/>
                    <a:p>
                      <a:endParaRPr kumimoji="1" lang="ja-JP" altLang="en-US" sz="1100" dirty="0">
                        <a:latin typeface="+mn-ea"/>
                        <a:ea typeface="+mn-ea"/>
                      </a:endParaRPr>
                    </a:p>
                  </a:txBody>
                  <a:tcPr/>
                </a:tc>
                <a:extLst>
                  <a:ext uri="{0D108BD9-81ED-4DB2-BD59-A6C34878D82A}">
                    <a16:rowId xmlns:a16="http://schemas.microsoft.com/office/drawing/2014/main" val="1056768526"/>
                  </a:ext>
                </a:extLst>
              </a:tr>
              <a:tr h="236268">
                <a:tc>
                  <a:txBody>
                    <a:bodyPr/>
                    <a:lstStyle/>
                    <a:p>
                      <a:endParaRPr kumimoji="1" lang="ja-JP" altLang="en-US" sz="1100" dirty="0">
                        <a:latin typeface="+mn-ea"/>
                        <a:ea typeface="+mn-ea"/>
                      </a:endParaRPr>
                    </a:p>
                  </a:txBody>
                  <a:tcPr>
                    <a:solidFill>
                      <a:schemeClr val="tx1"/>
                    </a:solidFill>
                  </a:tcPr>
                </a:tc>
                <a:tc>
                  <a:txBody>
                    <a:bodyPr/>
                    <a:lstStyle/>
                    <a:p>
                      <a:pPr marL="92075" indent="-92075">
                        <a:lnSpc>
                          <a:spcPct val="85000"/>
                        </a:lnSpc>
                        <a:buFont typeface="Arial" panose="020B0604020202020204" pitchFamily="34" charset="0"/>
                        <a:buChar char="•"/>
                      </a:pPr>
                      <a:r>
                        <a:rPr kumimoji="1" lang="ja-JP" altLang="en-US" sz="1100" dirty="0">
                          <a:latin typeface="+mn-ea"/>
                          <a:ea typeface="+mn-ea"/>
                        </a:rPr>
                        <a:t>送信ﾀｲﾐﾝｸﾞ（定期、ｲﾍﾞﾝﾄ条件）</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送信先</a:t>
                      </a:r>
                      <a:endParaRPr kumimoji="1" lang="en-US" altLang="ja-JP" sz="1100" dirty="0">
                        <a:latin typeface="+mn-ea"/>
                        <a:ea typeface="+mn-ea"/>
                      </a:endParaRPr>
                    </a:p>
                    <a:p>
                      <a:pPr marL="92075" indent="-92075">
                        <a:lnSpc>
                          <a:spcPct val="85000"/>
                        </a:lnSpc>
                        <a:buFont typeface="Arial" panose="020B0604020202020204" pitchFamily="34" charset="0"/>
                        <a:buChar char="•"/>
                      </a:pPr>
                      <a:r>
                        <a:rPr kumimoji="1" lang="ja-JP" altLang="en-US" sz="1100" dirty="0">
                          <a:latin typeface="+mn-ea"/>
                          <a:ea typeface="+mn-ea"/>
                        </a:rPr>
                        <a:t>送信経路（</a:t>
                      </a:r>
                      <a:r>
                        <a:rPr kumimoji="1" lang="en-US" altLang="ja-JP" sz="1100" dirty="0">
                          <a:latin typeface="+mn-ea"/>
                          <a:ea typeface="+mn-ea"/>
                        </a:rPr>
                        <a:t>HTTP,SMS,SBD</a:t>
                      </a:r>
                      <a:r>
                        <a:rPr kumimoji="1" lang="ja-JP" altLang="en-US" sz="1100" dirty="0">
                          <a:latin typeface="+mn-ea"/>
                          <a:ea typeface="+mn-ea"/>
                        </a:rPr>
                        <a:t>、</a:t>
                      </a:r>
                      <a:r>
                        <a:rPr kumimoji="1" lang="en-US" altLang="ja-JP" sz="1100" dirty="0">
                          <a:latin typeface="+mn-ea"/>
                          <a:ea typeface="+mn-ea"/>
                        </a:rPr>
                        <a:t>)</a:t>
                      </a:r>
                      <a:endParaRPr kumimoji="1" lang="ja-JP" altLang="en-US" sz="1100" dirty="0">
                        <a:latin typeface="+mn-ea"/>
                        <a:ea typeface="+mn-ea"/>
                      </a:endParaRPr>
                    </a:p>
                  </a:txBody>
                  <a:tcPr/>
                </a:tc>
                <a:extLst>
                  <a:ext uri="{0D108BD9-81ED-4DB2-BD59-A6C34878D82A}">
                    <a16:rowId xmlns:a16="http://schemas.microsoft.com/office/drawing/2014/main" val="3580023999"/>
                  </a:ext>
                </a:extLst>
              </a:tr>
              <a:tr h="236268">
                <a:tc gridSpan="2">
                  <a:txBody>
                    <a:bodyPr/>
                    <a:lstStyle/>
                    <a:p>
                      <a:r>
                        <a:rPr kumimoji="1" lang="ja-JP" altLang="en-US" sz="1200" b="1" dirty="0">
                          <a:solidFill>
                            <a:schemeClr val="bg1"/>
                          </a:solidFill>
                          <a:latin typeface="+mn-ea"/>
                          <a:ea typeface="+mn-ea"/>
                        </a:rPr>
                        <a:t>条件定義</a:t>
                      </a:r>
                    </a:p>
                  </a:txBody>
                  <a:tcPr>
                    <a:solidFill>
                      <a:schemeClr val="tx1"/>
                    </a:solidFill>
                  </a:tcPr>
                </a:tc>
                <a:tc hMerge="1">
                  <a:txBody>
                    <a:bodyPr/>
                    <a:lstStyle/>
                    <a:p>
                      <a:endParaRPr kumimoji="1" lang="ja-JP" altLang="en-US" sz="1100" dirty="0">
                        <a:latin typeface="+mn-ea"/>
                        <a:ea typeface="+mn-ea"/>
                      </a:endParaRPr>
                    </a:p>
                  </a:txBody>
                  <a:tcPr/>
                </a:tc>
                <a:extLst>
                  <a:ext uri="{0D108BD9-81ED-4DB2-BD59-A6C34878D82A}">
                    <a16:rowId xmlns:a16="http://schemas.microsoft.com/office/drawing/2014/main" val="1968059057"/>
                  </a:ext>
                </a:extLst>
              </a:tr>
              <a:tr h="236268">
                <a:tc>
                  <a:txBody>
                    <a:bodyPr/>
                    <a:lstStyle/>
                    <a:p>
                      <a:endParaRPr kumimoji="1" lang="ja-JP" altLang="en-US" sz="1100" dirty="0">
                        <a:latin typeface="+mn-ea"/>
                        <a:ea typeface="+mn-ea"/>
                      </a:endParaRPr>
                    </a:p>
                  </a:txBody>
                  <a:tcPr>
                    <a:solidFill>
                      <a:schemeClr val="tx1"/>
                    </a:solidFill>
                  </a:tcPr>
                </a:tc>
                <a:tc>
                  <a:txBody>
                    <a:bodyPr/>
                    <a:lstStyle/>
                    <a:p>
                      <a:pPr marL="87313" marR="0" lvl="0" indent="-873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dirty="0">
                          <a:latin typeface="+mn-ea"/>
                          <a:ea typeface="+mn-ea"/>
                        </a:rPr>
                        <a:t>集計他に使われる条件関数定義</a:t>
                      </a:r>
                    </a:p>
                  </a:txBody>
                  <a:tcPr/>
                </a:tc>
                <a:extLst>
                  <a:ext uri="{0D108BD9-81ED-4DB2-BD59-A6C34878D82A}">
                    <a16:rowId xmlns:a16="http://schemas.microsoft.com/office/drawing/2014/main" val="249144610"/>
                  </a:ext>
                </a:extLst>
              </a:tr>
            </a:tbl>
          </a:graphicData>
        </a:graphic>
      </p:graphicFrame>
      <p:sp>
        <p:nvSpPr>
          <p:cNvPr id="15" name="テキスト ボックス 14">
            <a:extLst>
              <a:ext uri="{FF2B5EF4-FFF2-40B4-BE49-F238E27FC236}">
                <a16:creationId xmlns:a16="http://schemas.microsoft.com/office/drawing/2014/main" id="{520A3EFB-DBE9-4426-8803-A999625139FE}"/>
              </a:ext>
            </a:extLst>
          </p:cNvPr>
          <p:cNvSpPr txBox="1"/>
          <p:nvPr/>
        </p:nvSpPr>
        <p:spPr>
          <a:xfrm>
            <a:off x="3026398" y="6224007"/>
            <a:ext cx="5889754" cy="313932"/>
          </a:xfrm>
          <a:prstGeom prst="rect">
            <a:avLst/>
          </a:prstGeom>
          <a:noFill/>
        </p:spPr>
        <p:txBody>
          <a:bodyPr wrap="none" rtlCol="0">
            <a:spAutoFit/>
          </a:bodyPr>
          <a:lstStyle/>
          <a:p>
            <a:pPr marL="285750" indent="-285750">
              <a:lnSpc>
                <a:spcPct val="90000"/>
              </a:lnSpc>
              <a:buFont typeface="Meiryo UI" panose="020B0604030504040204" pitchFamily="50" charset="-128"/>
              <a:buChar char="※"/>
            </a:pPr>
            <a:r>
              <a:rPr kumimoji="1" lang="ja-JP" altLang="en-US" sz="1600" dirty="0">
                <a:solidFill>
                  <a:srgbClr val="0000FF"/>
                </a:solidFill>
              </a:rPr>
              <a:t>青字項目は実際に車両にカスタマイズ定義が設定される際に決まる</a:t>
            </a:r>
          </a:p>
        </p:txBody>
      </p:sp>
      <p:sp>
        <p:nvSpPr>
          <p:cNvPr id="16" name="フリーフォーム: 図形 15">
            <a:extLst>
              <a:ext uri="{FF2B5EF4-FFF2-40B4-BE49-F238E27FC236}">
                <a16:creationId xmlns:a16="http://schemas.microsoft.com/office/drawing/2014/main" id="{F61D4E24-BF3E-4A4E-899F-4AF1D5489FE0}"/>
              </a:ext>
            </a:extLst>
          </p:cNvPr>
          <p:cNvSpPr/>
          <p:nvPr/>
        </p:nvSpPr>
        <p:spPr>
          <a:xfrm flipV="1">
            <a:off x="2651859" y="4988693"/>
            <a:ext cx="1005402" cy="596122"/>
          </a:xfrm>
          <a:custGeom>
            <a:avLst/>
            <a:gdLst>
              <a:gd name="connsiteX0" fmla="*/ 0 w 797522"/>
              <a:gd name="connsiteY0" fmla="*/ 0 h 3815730"/>
              <a:gd name="connsiteX1" fmla="*/ 378135 w 797522"/>
              <a:gd name="connsiteY1" fmla="*/ 0 h 3815730"/>
              <a:gd name="connsiteX2" fmla="*/ 797522 w 797522"/>
              <a:gd name="connsiteY2" fmla="*/ 3815730 h 3815730"/>
            </a:gdLst>
            <a:ahLst/>
            <a:cxnLst>
              <a:cxn ang="0">
                <a:pos x="connsiteX0" y="connsiteY0"/>
              </a:cxn>
              <a:cxn ang="0">
                <a:pos x="connsiteX1" y="connsiteY1"/>
              </a:cxn>
              <a:cxn ang="0">
                <a:pos x="connsiteX2" y="connsiteY2"/>
              </a:cxn>
            </a:cxnLst>
            <a:rect l="l" t="t" r="r" b="b"/>
            <a:pathLst>
              <a:path w="797522" h="3815730">
                <a:moveTo>
                  <a:pt x="0" y="0"/>
                </a:moveTo>
                <a:lnTo>
                  <a:pt x="378135" y="0"/>
                </a:lnTo>
                <a:lnTo>
                  <a:pt x="797522" y="3815730"/>
                </a:lnTo>
              </a:path>
            </a:pathLst>
          </a:custGeom>
          <a:no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Title 1">
            <a:extLst>
              <a:ext uri="{FF2B5EF4-FFF2-40B4-BE49-F238E27FC236}">
                <a16:creationId xmlns:a16="http://schemas.microsoft.com/office/drawing/2014/main" id="{1543154C-7C4F-43B7-93C4-CB1C4A47777D}"/>
              </a:ext>
            </a:extLst>
          </p:cNvPr>
          <p:cNvSpPr>
            <a:spLocks noGrp="1"/>
          </p:cNvSpPr>
          <p:nvPr>
            <p:ph type="title"/>
          </p:nvPr>
        </p:nvSpPr>
        <p:spPr>
          <a:xfrm>
            <a:off x="192024" y="126001"/>
            <a:ext cx="8750808" cy="396000"/>
          </a:xfrm>
        </p:spPr>
        <p:txBody>
          <a:bodyPr/>
          <a:lstStyle/>
          <a:p>
            <a:r>
              <a:rPr lang="ja-JP" altLang="en-US" dirty="0"/>
              <a:t>補足 アクセスレベルについて</a:t>
            </a:r>
          </a:p>
        </p:txBody>
      </p:sp>
    </p:spTree>
    <p:extLst>
      <p:ext uri="{BB962C8B-B14F-4D97-AF65-F5344CB8AC3E}">
        <p14:creationId xmlns:p14="http://schemas.microsoft.com/office/powerpoint/2010/main" val="4160017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91844A5-7747-4B53-BF3D-7E224DAA3DEC}"/>
              </a:ext>
            </a:extLst>
          </p:cNvPr>
          <p:cNvSpPr/>
          <p:nvPr/>
        </p:nvSpPr>
        <p:spPr>
          <a:xfrm>
            <a:off x="179512" y="2008963"/>
            <a:ext cx="1008112" cy="720080"/>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ja-JP" altLang="en-US" sz="1400" b="1" dirty="0">
                <a:latin typeface="+mn-ea"/>
              </a:rPr>
              <a:t>開発者</a:t>
            </a:r>
          </a:p>
        </p:txBody>
      </p:sp>
      <p:sp>
        <p:nvSpPr>
          <p:cNvPr id="8" name="正方形/長方形 7">
            <a:extLst>
              <a:ext uri="{FF2B5EF4-FFF2-40B4-BE49-F238E27FC236}">
                <a16:creationId xmlns:a16="http://schemas.microsoft.com/office/drawing/2014/main" id="{6528F136-C01D-4F79-BFF7-737E2AB6C307}"/>
              </a:ext>
            </a:extLst>
          </p:cNvPr>
          <p:cNvSpPr/>
          <p:nvPr/>
        </p:nvSpPr>
        <p:spPr>
          <a:xfrm>
            <a:off x="179512" y="2729045"/>
            <a:ext cx="1008112" cy="720080"/>
          </a:xfrm>
          <a:prstGeom prst="rect">
            <a:avLst/>
          </a:prstGeom>
          <a:solidFill>
            <a:srgbClr val="A6A6A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KLTD</a:t>
            </a:r>
            <a:r>
              <a:rPr kumimoji="1" lang="ja-JP" altLang="en-US" sz="1400" b="1" dirty="0">
                <a:latin typeface="+mn-ea"/>
              </a:rPr>
              <a:t>一般</a:t>
            </a:r>
          </a:p>
        </p:txBody>
      </p:sp>
      <p:sp>
        <p:nvSpPr>
          <p:cNvPr id="9" name="正方形/長方形 8">
            <a:extLst>
              <a:ext uri="{FF2B5EF4-FFF2-40B4-BE49-F238E27FC236}">
                <a16:creationId xmlns:a16="http://schemas.microsoft.com/office/drawing/2014/main" id="{CE9B5EE0-A198-4BE4-99BA-42F6C008FC78}"/>
              </a:ext>
            </a:extLst>
          </p:cNvPr>
          <p:cNvSpPr/>
          <p:nvPr/>
        </p:nvSpPr>
        <p:spPr>
          <a:xfrm>
            <a:off x="179512" y="3449127"/>
            <a:ext cx="1008112" cy="720080"/>
          </a:xfrm>
          <a:prstGeom prst="rect">
            <a:avLst/>
          </a:prstGeom>
          <a:solidFill>
            <a:srgbClr val="FFC00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lnSpc>
                <a:spcPct val="90000"/>
              </a:lnSpc>
            </a:pPr>
            <a:r>
              <a:rPr kumimoji="1" lang="ja-JP" altLang="en-US" sz="1400" b="1" dirty="0">
                <a:latin typeface="+mn-ea"/>
              </a:rPr>
              <a:t>現法</a:t>
            </a:r>
          </a:p>
        </p:txBody>
      </p:sp>
      <p:sp>
        <p:nvSpPr>
          <p:cNvPr id="10" name="正方形/長方形 9">
            <a:extLst>
              <a:ext uri="{FF2B5EF4-FFF2-40B4-BE49-F238E27FC236}">
                <a16:creationId xmlns:a16="http://schemas.microsoft.com/office/drawing/2014/main" id="{7E3A942B-DB24-4A65-BEF5-A1C48C30D6D4}"/>
              </a:ext>
            </a:extLst>
          </p:cNvPr>
          <p:cNvSpPr/>
          <p:nvPr/>
        </p:nvSpPr>
        <p:spPr>
          <a:xfrm>
            <a:off x="179512" y="4169208"/>
            <a:ext cx="1008112" cy="72008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ja-JP" altLang="en-US" sz="1400" b="1" dirty="0">
                <a:latin typeface="+mn-ea"/>
              </a:rPr>
              <a:t>代理店</a:t>
            </a:r>
            <a:endParaRPr kumimoji="1" lang="en-US" altLang="ja-JP" sz="1400" b="1" dirty="0">
              <a:latin typeface="+mn-ea"/>
            </a:endParaRPr>
          </a:p>
          <a:p>
            <a:pPr algn="ctr">
              <a:lnSpc>
                <a:spcPct val="90000"/>
              </a:lnSpc>
            </a:pPr>
            <a:r>
              <a:rPr kumimoji="1" lang="ja-JP" altLang="en-US" sz="1200" b="1" dirty="0">
                <a:latin typeface="+mn-ea"/>
              </a:rPr>
              <a:t>（全データ）</a:t>
            </a:r>
          </a:p>
        </p:txBody>
      </p:sp>
      <p:sp>
        <p:nvSpPr>
          <p:cNvPr id="104" name="正方形/長方形 103">
            <a:extLst>
              <a:ext uri="{FF2B5EF4-FFF2-40B4-BE49-F238E27FC236}">
                <a16:creationId xmlns:a16="http://schemas.microsoft.com/office/drawing/2014/main" id="{C82E6B9B-A505-4DFF-9CDC-BC154DE2937F}"/>
              </a:ext>
            </a:extLst>
          </p:cNvPr>
          <p:cNvSpPr/>
          <p:nvPr/>
        </p:nvSpPr>
        <p:spPr>
          <a:xfrm>
            <a:off x="1662706" y="1953432"/>
            <a:ext cx="515473" cy="469755"/>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X</a:t>
            </a:r>
            <a:endParaRPr kumimoji="1" lang="ja-JP" altLang="en-US" sz="1400" b="1" dirty="0">
              <a:latin typeface="+mn-ea"/>
            </a:endParaRPr>
          </a:p>
        </p:txBody>
      </p:sp>
      <p:pic>
        <p:nvPicPr>
          <p:cNvPr id="129" name="図 128" descr="挿絵 が含まれている画像&#10;&#10;自動的に生成された説明">
            <a:extLst>
              <a:ext uri="{FF2B5EF4-FFF2-40B4-BE49-F238E27FC236}">
                <a16:creationId xmlns:a16="http://schemas.microsoft.com/office/drawing/2014/main" id="{D45217AB-FEDA-4670-87FD-79E11A026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8601" y="2108631"/>
            <a:ext cx="535982" cy="497698"/>
          </a:xfrm>
          <a:prstGeom prst="rect">
            <a:avLst/>
          </a:prstGeom>
        </p:spPr>
      </p:pic>
      <p:pic>
        <p:nvPicPr>
          <p:cNvPr id="131" name="図 130" descr="挿絵 が含まれている画像&#10;&#10;自動的に生成された説明">
            <a:extLst>
              <a:ext uri="{FF2B5EF4-FFF2-40B4-BE49-F238E27FC236}">
                <a16:creationId xmlns:a16="http://schemas.microsoft.com/office/drawing/2014/main" id="{99269118-47D4-4487-8D88-58523921B2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4917" y="2847707"/>
            <a:ext cx="478350" cy="584650"/>
          </a:xfrm>
          <a:prstGeom prst="rect">
            <a:avLst/>
          </a:prstGeom>
        </p:spPr>
      </p:pic>
      <p:pic>
        <p:nvPicPr>
          <p:cNvPr id="133" name="図 132" descr="挿絵 が含まれている画像&#10;&#10;自動的に生成された説明">
            <a:extLst>
              <a:ext uri="{FF2B5EF4-FFF2-40B4-BE49-F238E27FC236}">
                <a16:creationId xmlns:a16="http://schemas.microsoft.com/office/drawing/2014/main" id="{DC09473A-C7FE-411E-96BB-6D7B55FA54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73295" y="4512798"/>
            <a:ext cx="429972" cy="623585"/>
          </a:xfrm>
          <a:prstGeom prst="rect">
            <a:avLst/>
          </a:prstGeom>
        </p:spPr>
      </p:pic>
      <p:pic>
        <p:nvPicPr>
          <p:cNvPr id="168" name="図 167" descr="食品 が含まれている画像&#10;&#10;自動的に生成された説明">
            <a:extLst>
              <a:ext uri="{FF2B5EF4-FFF2-40B4-BE49-F238E27FC236}">
                <a16:creationId xmlns:a16="http://schemas.microsoft.com/office/drawing/2014/main" id="{81137369-8895-4541-B2F8-939D324983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6279" y="5656245"/>
            <a:ext cx="585846" cy="563226"/>
          </a:xfrm>
          <a:prstGeom prst="rect">
            <a:avLst/>
          </a:prstGeom>
        </p:spPr>
      </p:pic>
      <p:pic>
        <p:nvPicPr>
          <p:cNvPr id="94" name="図 93">
            <a:extLst>
              <a:ext uri="{FF2B5EF4-FFF2-40B4-BE49-F238E27FC236}">
                <a16:creationId xmlns:a16="http://schemas.microsoft.com/office/drawing/2014/main" id="{C62F8CF2-2C9C-4BA9-BF5E-BD254D145648}"/>
              </a:ext>
            </a:extLst>
          </p:cNvPr>
          <p:cNvPicPr>
            <a:picLocks noChangeAspect="1"/>
          </p:cNvPicPr>
          <p:nvPr/>
        </p:nvPicPr>
        <p:blipFill>
          <a:blip r:embed="rId6"/>
          <a:stretch>
            <a:fillRect/>
          </a:stretch>
        </p:blipFill>
        <p:spPr>
          <a:xfrm>
            <a:off x="4051917" y="1954736"/>
            <a:ext cx="1352550" cy="866775"/>
          </a:xfrm>
          <a:prstGeom prst="rect">
            <a:avLst/>
          </a:prstGeom>
        </p:spPr>
      </p:pic>
      <p:pic>
        <p:nvPicPr>
          <p:cNvPr id="92" name="図 91">
            <a:extLst>
              <a:ext uri="{FF2B5EF4-FFF2-40B4-BE49-F238E27FC236}">
                <a16:creationId xmlns:a16="http://schemas.microsoft.com/office/drawing/2014/main" id="{D2783297-5D6C-44AB-A153-BF153EA91323}"/>
              </a:ext>
            </a:extLst>
          </p:cNvPr>
          <p:cNvPicPr>
            <a:picLocks noChangeAspect="1"/>
          </p:cNvPicPr>
          <p:nvPr/>
        </p:nvPicPr>
        <p:blipFill>
          <a:blip r:embed="rId7"/>
          <a:stretch>
            <a:fillRect/>
          </a:stretch>
        </p:blipFill>
        <p:spPr>
          <a:xfrm>
            <a:off x="4777270" y="2208091"/>
            <a:ext cx="472470" cy="457549"/>
          </a:xfrm>
          <a:prstGeom prst="rect">
            <a:avLst/>
          </a:prstGeom>
          <a:solidFill>
            <a:schemeClr val="accent1"/>
          </a:solidFill>
        </p:spPr>
      </p:pic>
      <p:pic>
        <p:nvPicPr>
          <p:cNvPr id="95" name="図 94">
            <a:extLst>
              <a:ext uri="{FF2B5EF4-FFF2-40B4-BE49-F238E27FC236}">
                <a16:creationId xmlns:a16="http://schemas.microsoft.com/office/drawing/2014/main" id="{3145C483-569E-4427-A112-21289EA502CA}"/>
              </a:ext>
            </a:extLst>
          </p:cNvPr>
          <p:cNvPicPr>
            <a:picLocks noChangeAspect="1"/>
          </p:cNvPicPr>
          <p:nvPr/>
        </p:nvPicPr>
        <p:blipFill>
          <a:blip r:embed="rId7"/>
          <a:stretch>
            <a:fillRect/>
          </a:stretch>
        </p:blipFill>
        <p:spPr>
          <a:xfrm>
            <a:off x="4506183" y="2239979"/>
            <a:ext cx="472470" cy="457549"/>
          </a:xfrm>
          <a:prstGeom prst="rect">
            <a:avLst/>
          </a:prstGeom>
          <a:solidFill>
            <a:schemeClr val="accent1"/>
          </a:solidFill>
        </p:spPr>
      </p:pic>
      <p:pic>
        <p:nvPicPr>
          <p:cNvPr id="96" name="図 95">
            <a:extLst>
              <a:ext uri="{FF2B5EF4-FFF2-40B4-BE49-F238E27FC236}">
                <a16:creationId xmlns:a16="http://schemas.microsoft.com/office/drawing/2014/main" id="{5EAAB81B-6071-445C-A928-ED32ADC49520}"/>
              </a:ext>
            </a:extLst>
          </p:cNvPr>
          <p:cNvPicPr>
            <a:picLocks noChangeAspect="1"/>
          </p:cNvPicPr>
          <p:nvPr/>
        </p:nvPicPr>
        <p:blipFill>
          <a:blip r:embed="rId7"/>
          <a:stretch>
            <a:fillRect/>
          </a:stretch>
        </p:blipFill>
        <p:spPr>
          <a:xfrm>
            <a:off x="4235097" y="2271868"/>
            <a:ext cx="472470" cy="457549"/>
          </a:xfrm>
          <a:prstGeom prst="rect">
            <a:avLst/>
          </a:prstGeom>
          <a:solidFill>
            <a:schemeClr val="accent1"/>
          </a:solidFill>
        </p:spPr>
      </p:pic>
      <p:pic>
        <p:nvPicPr>
          <p:cNvPr id="98" name="図 97">
            <a:extLst>
              <a:ext uri="{FF2B5EF4-FFF2-40B4-BE49-F238E27FC236}">
                <a16:creationId xmlns:a16="http://schemas.microsoft.com/office/drawing/2014/main" id="{95150CFA-70F5-4E16-8EA7-2FA9D2CF72D3}"/>
              </a:ext>
            </a:extLst>
          </p:cNvPr>
          <p:cNvPicPr>
            <a:picLocks noChangeAspect="1"/>
          </p:cNvPicPr>
          <p:nvPr/>
        </p:nvPicPr>
        <p:blipFill>
          <a:blip r:embed="rId6"/>
          <a:stretch>
            <a:fillRect/>
          </a:stretch>
        </p:blipFill>
        <p:spPr>
          <a:xfrm>
            <a:off x="4051917" y="2851868"/>
            <a:ext cx="1352550" cy="866775"/>
          </a:xfrm>
          <a:prstGeom prst="rect">
            <a:avLst/>
          </a:prstGeom>
        </p:spPr>
      </p:pic>
      <p:pic>
        <p:nvPicPr>
          <p:cNvPr id="99" name="図 98">
            <a:extLst>
              <a:ext uri="{FF2B5EF4-FFF2-40B4-BE49-F238E27FC236}">
                <a16:creationId xmlns:a16="http://schemas.microsoft.com/office/drawing/2014/main" id="{6F48127F-0A51-4506-8420-DB866A4E46A5}"/>
              </a:ext>
            </a:extLst>
          </p:cNvPr>
          <p:cNvPicPr>
            <a:picLocks noChangeAspect="1"/>
          </p:cNvPicPr>
          <p:nvPr/>
        </p:nvPicPr>
        <p:blipFill>
          <a:blip r:embed="rId6"/>
          <a:stretch>
            <a:fillRect/>
          </a:stretch>
        </p:blipFill>
        <p:spPr>
          <a:xfrm>
            <a:off x="4051917" y="3924780"/>
            <a:ext cx="1352550" cy="866775"/>
          </a:xfrm>
          <a:prstGeom prst="rect">
            <a:avLst/>
          </a:prstGeom>
        </p:spPr>
      </p:pic>
      <p:pic>
        <p:nvPicPr>
          <p:cNvPr id="108" name="図 107">
            <a:extLst>
              <a:ext uri="{FF2B5EF4-FFF2-40B4-BE49-F238E27FC236}">
                <a16:creationId xmlns:a16="http://schemas.microsoft.com/office/drawing/2014/main" id="{6EA829E1-AC11-4C30-85BD-3BC9EEB2CC74}"/>
              </a:ext>
            </a:extLst>
          </p:cNvPr>
          <p:cNvPicPr>
            <a:picLocks noChangeAspect="1"/>
          </p:cNvPicPr>
          <p:nvPr/>
        </p:nvPicPr>
        <p:blipFill>
          <a:blip r:embed="rId7"/>
          <a:stretch>
            <a:fillRect/>
          </a:stretch>
        </p:blipFill>
        <p:spPr>
          <a:xfrm>
            <a:off x="4641726" y="3132257"/>
            <a:ext cx="472470" cy="457549"/>
          </a:xfrm>
          <a:prstGeom prst="rect">
            <a:avLst/>
          </a:prstGeom>
          <a:solidFill>
            <a:schemeClr val="accent1"/>
          </a:solidFill>
        </p:spPr>
      </p:pic>
      <p:pic>
        <p:nvPicPr>
          <p:cNvPr id="109" name="図 108">
            <a:extLst>
              <a:ext uri="{FF2B5EF4-FFF2-40B4-BE49-F238E27FC236}">
                <a16:creationId xmlns:a16="http://schemas.microsoft.com/office/drawing/2014/main" id="{5EE9B66C-04D3-46E7-B1DD-35B32783D7E7}"/>
              </a:ext>
            </a:extLst>
          </p:cNvPr>
          <p:cNvPicPr>
            <a:picLocks noChangeAspect="1"/>
          </p:cNvPicPr>
          <p:nvPr/>
        </p:nvPicPr>
        <p:blipFill>
          <a:blip r:embed="rId7"/>
          <a:stretch>
            <a:fillRect/>
          </a:stretch>
        </p:blipFill>
        <p:spPr>
          <a:xfrm>
            <a:off x="4370640" y="3164146"/>
            <a:ext cx="472470" cy="457549"/>
          </a:xfrm>
          <a:prstGeom prst="rect">
            <a:avLst/>
          </a:prstGeom>
          <a:solidFill>
            <a:schemeClr val="accent1"/>
          </a:solidFill>
        </p:spPr>
      </p:pic>
      <p:pic>
        <p:nvPicPr>
          <p:cNvPr id="111" name="図 110">
            <a:extLst>
              <a:ext uri="{FF2B5EF4-FFF2-40B4-BE49-F238E27FC236}">
                <a16:creationId xmlns:a16="http://schemas.microsoft.com/office/drawing/2014/main" id="{B707AE1D-3371-4816-9AE1-65CEA3E0A851}"/>
              </a:ext>
            </a:extLst>
          </p:cNvPr>
          <p:cNvPicPr>
            <a:picLocks noChangeAspect="1"/>
          </p:cNvPicPr>
          <p:nvPr/>
        </p:nvPicPr>
        <p:blipFill>
          <a:blip r:embed="rId7"/>
          <a:stretch>
            <a:fillRect/>
          </a:stretch>
        </p:blipFill>
        <p:spPr>
          <a:xfrm>
            <a:off x="4797894" y="4150419"/>
            <a:ext cx="472470" cy="457549"/>
          </a:xfrm>
          <a:prstGeom prst="rect">
            <a:avLst/>
          </a:prstGeom>
          <a:solidFill>
            <a:schemeClr val="accent1"/>
          </a:solidFill>
        </p:spPr>
      </p:pic>
      <p:pic>
        <p:nvPicPr>
          <p:cNvPr id="112" name="図 111">
            <a:extLst>
              <a:ext uri="{FF2B5EF4-FFF2-40B4-BE49-F238E27FC236}">
                <a16:creationId xmlns:a16="http://schemas.microsoft.com/office/drawing/2014/main" id="{B44BF864-7145-4C84-A4F5-72BA8792696B}"/>
              </a:ext>
            </a:extLst>
          </p:cNvPr>
          <p:cNvPicPr>
            <a:picLocks noChangeAspect="1"/>
          </p:cNvPicPr>
          <p:nvPr/>
        </p:nvPicPr>
        <p:blipFill>
          <a:blip r:embed="rId7"/>
          <a:stretch>
            <a:fillRect/>
          </a:stretch>
        </p:blipFill>
        <p:spPr>
          <a:xfrm>
            <a:off x="4526807" y="4182307"/>
            <a:ext cx="472470" cy="457549"/>
          </a:xfrm>
          <a:prstGeom prst="rect">
            <a:avLst/>
          </a:prstGeom>
          <a:solidFill>
            <a:schemeClr val="accent1"/>
          </a:solidFill>
        </p:spPr>
      </p:pic>
      <p:pic>
        <p:nvPicPr>
          <p:cNvPr id="113" name="図 112">
            <a:extLst>
              <a:ext uri="{FF2B5EF4-FFF2-40B4-BE49-F238E27FC236}">
                <a16:creationId xmlns:a16="http://schemas.microsoft.com/office/drawing/2014/main" id="{4B717997-91C4-46F8-8058-A4A1463C8713}"/>
              </a:ext>
            </a:extLst>
          </p:cNvPr>
          <p:cNvPicPr>
            <a:picLocks noChangeAspect="1"/>
          </p:cNvPicPr>
          <p:nvPr/>
        </p:nvPicPr>
        <p:blipFill>
          <a:blip r:embed="rId7"/>
          <a:stretch>
            <a:fillRect/>
          </a:stretch>
        </p:blipFill>
        <p:spPr>
          <a:xfrm>
            <a:off x="4255721" y="4214196"/>
            <a:ext cx="472470" cy="457549"/>
          </a:xfrm>
          <a:prstGeom prst="rect">
            <a:avLst/>
          </a:prstGeom>
          <a:solidFill>
            <a:schemeClr val="accent1"/>
          </a:solidFill>
        </p:spPr>
      </p:pic>
      <p:sp>
        <p:nvSpPr>
          <p:cNvPr id="174" name="テキスト ボックス 173">
            <a:extLst>
              <a:ext uri="{FF2B5EF4-FFF2-40B4-BE49-F238E27FC236}">
                <a16:creationId xmlns:a16="http://schemas.microsoft.com/office/drawing/2014/main" id="{F625984A-C713-42CB-8A16-0910783F71F9}"/>
              </a:ext>
            </a:extLst>
          </p:cNvPr>
          <p:cNvSpPr txBox="1"/>
          <p:nvPr/>
        </p:nvSpPr>
        <p:spPr>
          <a:xfrm>
            <a:off x="7240927" y="2544495"/>
            <a:ext cx="646331" cy="276999"/>
          </a:xfrm>
          <a:prstGeom prst="rect">
            <a:avLst/>
          </a:prstGeom>
          <a:noFill/>
        </p:spPr>
        <p:txBody>
          <a:bodyPr wrap="none" rtlCol="0">
            <a:spAutoFit/>
          </a:bodyPr>
          <a:lstStyle/>
          <a:p>
            <a:r>
              <a:rPr kumimoji="1" lang="ja-JP" altLang="en-US" sz="1200" dirty="0">
                <a:latin typeface="+mn-ea"/>
              </a:rPr>
              <a:t>開発者</a:t>
            </a:r>
          </a:p>
        </p:txBody>
      </p:sp>
      <p:sp>
        <p:nvSpPr>
          <p:cNvPr id="175" name="テキスト ボックス 174">
            <a:extLst>
              <a:ext uri="{FF2B5EF4-FFF2-40B4-BE49-F238E27FC236}">
                <a16:creationId xmlns:a16="http://schemas.microsoft.com/office/drawing/2014/main" id="{B43766F9-A7CC-4E57-933C-30F3EA65C3EB}"/>
              </a:ext>
            </a:extLst>
          </p:cNvPr>
          <p:cNvSpPr txBox="1"/>
          <p:nvPr/>
        </p:nvSpPr>
        <p:spPr>
          <a:xfrm>
            <a:off x="7185750" y="3363449"/>
            <a:ext cx="878510" cy="276999"/>
          </a:xfrm>
          <a:prstGeom prst="rect">
            <a:avLst/>
          </a:prstGeom>
          <a:noFill/>
        </p:spPr>
        <p:txBody>
          <a:bodyPr wrap="none" rtlCol="0">
            <a:spAutoFit/>
          </a:bodyPr>
          <a:lstStyle/>
          <a:p>
            <a:r>
              <a:rPr kumimoji="1" lang="en-US" altLang="ja-JP" sz="1200" dirty="0">
                <a:latin typeface="+mn-ea"/>
              </a:rPr>
              <a:t>KLTD</a:t>
            </a:r>
            <a:r>
              <a:rPr kumimoji="1" lang="ja-JP" altLang="en-US" sz="1200" dirty="0">
                <a:latin typeface="+mn-ea"/>
              </a:rPr>
              <a:t>一般</a:t>
            </a:r>
          </a:p>
        </p:txBody>
      </p:sp>
      <p:sp>
        <p:nvSpPr>
          <p:cNvPr id="177" name="テキスト ボックス 176">
            <a:extLst>
              <a:ext uri="{FF2B5EF4-FFF2-40B4-BE49-F238E27FC236}">
                <a16:creationId xmlns:a16="http://schemas.microsoft.com/office/drawing/2014/main" id="{842E2DA8-E207-4B64-BA4F-FF5C08567612}"/>
              </a:ext>
            </a:extLst>
          </p:cNvPr>
          <p:cNvSpPr txBox="1"/>
          <p:nvPr/>
        </p:nvSpPr>
        <p:spPr>
          <a:xfrm>
            <a:off x="7185750" y="5099292"/>
            <a:ext cx="492443" cy="276999"/>
          </a:xfrm>
          <a:prstGeom prst="rect">
            <a:avLst/>
          </a:prstGeom>
          <a:noFill/>
        </p:spPr>
        <p:txBody>
          <a:bodyPr wrap="none" rtlCol="0">
            <a:spAutoFit/>
          </a:bodyPr>
          <a:lstStyle/>
          <a:p>
            <a:r>
              <a:rPr kumimoji="1" lang="ja-JP" altLang="en-US" sz="1200" dirty="0">
                <a:latin typeface="+mn-ea"/>
              </a:rPr>
              <a:t>現法</a:t>
            </a:r>
          </a:p>
        </p:txBody>
      </p:sp>
      <p:sp>
        <p:nvSpPr>
          <p:cNvPr id="178" name="テキスト ボックス 177">
            <a:extLst>
              <a:ext uri="{FF2B5EF4-FFF2-40B4-BE49-F238E27FC236}">
                <a16:creationId xmlns:a16="http://schemas.microsoft.com/office/drawing/2014/main" id="{42305010-4270-4B61-82BA-4552BBE70A45}"/>
              </a:ext>
            </a:extLst>
          </p:cNvPr>
          <p:cNvSpPr txBox="1"/>
          <p:nvPr/>
        </p:nvSpPr>
        <p:spPr>
          <a:xfrm>
            <a:off x="7185750" y="6187288"/>
            <a:ext cx="1002197" cy="461665"/>
          </a:xfrm>
          <a:prstGeom prst="rect">
            <a:avLst/>
          </a:prstGeom>
          <a:noFill/>
        </p:spPr>
        <p:txBody>
          <a:bodyPr wrap="none" rtlCol="0">
            <a:spAutoFit/>
          </a:bodyPr>
          <a:lstStyle/>
          <a:p>
            <a:r>
              <a:rPr lang="ja-JP" altLang="en-US" sz="1200" dirty="0">
                <a:latin typeface="+mn-ea"/>
              </a:rPr>
              <a:t>代理店</a:t>
            </a:r>
            <a:endParaRPr lang="en-US" altLang="ja-JP" sz="1200" dirty="0">
              <a:latin typeface="+mn-ea"/>
            </a:endParaRPr>
          </a:p>
          <a:p>
            <a:r>
              <a:rPr lang="ja-JP" altLang="en-US" sz="1200" dirty="0">
                <a:latin typeface="+mn-ea"/>
              </a:rPr>
              <a:t>（全データ）</a:t>
            </a:r>
            <a:endParaRPr kumimoji="1" lang="ja-JP" altLang="en-US" sz="1200" dirty="0">
              <a:latin typeface="+mn-ea"/>
            </a:endParaRPr>
          </a:p>
        </p:txBody>
      </p:sp>
      <p:sp>
        <p:nvSpPr>
          <p:cNvPr id="44" name="テキスト ボックス 43">
            <a:extLst>
              <a:ext uri="{FF2B5EF4-FFF2-40B4-BE49-F238E27FC236}">
                <a16:creationId xmlns:a16="http://schemas.microsoft.com/office/drawing/2014/main" id="{C78AD125-0E36-4186-B07D-659832718EB3}"/>
              </a:ext>
            </a:extLst>
          </p:cNvPr>
          <p:cNvSpPr txBox="1"/>
          <p:nvPr/>
        </p:nvSpPr>
        <p:spPr>
          <a:xfrm>
            <a:off x="1344686" y="1609482"/>
            <a:ext cx="1252266" cy="276999"/>
          </a:xfrm>
          <a:prstGeom prst="rect">
            <a:avLst/>
          </a:prstGeom>
          <a:noFill/>
        </p:spPr>
        <p:txBody>
          <a:bodyPr wrap="none" rtlCol="0">
            <a:spAutoFit/>
          </a:bodyPr>
          <a:lstStyle/>
          <a:p>
            <a:r>
              <a:rPr kumimoji="1" lang="ja-JP" altLang="en-US" sz="1200" b="1" dirty="0">
                <a:solidFill>
                  <a:srgbClr val="C00000"/>
                </a:solidFill>
                <a:latin typeface="+mn-ea"/>
              </a:rPr>
              <a:t>カスタマイズ定義</a:t>
            </a:r>
          </a:p>
        </p:txBody>
      </p:sp>
      <p:sp>
        <p:nvSpPr>
          <p:cNvPr id="124" name="テキスト ボックス 123">
            <a:extLst>
              <a:ext uri="{FF2B5EF4-FFF2-40B4-BE49-F238E27FC236}">
                <a16:creationId xmlns:a16="http://schemas.microsoft.com/office/drawing/2014/main" id="{90821D3E-8235-41B1-874D-529A1ADF22B0}"/>
              </a:ext>
            </a:extLst>
          </p:cNvPr>
          <p:cNvSpPr txBox="1"/>
          <p:nvPr/>
        </p:nvSpPr>
        <p:spPr>
          <a:xfrm>
            <a:off x="3844425" y="1609482"/>
            <a:ext cx="1560042" cy="276999"/>
          </a:xfrm>
          <a:prstGeom prst="rect">
            <a:avLst/>
          </a:prstGeom>
          <a:noFill/>
        </p:spPr>
        <p:txBody>
          <a:bodyPr wrap="none" rtlCol="0">
            <a:spAutoFit/>
          </a:bodyPr>
          <a:lstStyle/>
          <a:p>
            <a:r>
              <a:rPr kumimoji="1" lang="ja-JP" altLang="en-US" sz="1200" b="1" dirty="0">
                <a:solidFill>
                  <a:srgbClr val="0000FF"/>
                </a:solidFill>
                <a:latin typeface="+mn-ea"/>
              </a:rPr>
              <a:t>カスタマイズ用途定義</a:t>
            </a:r>
          </a:p>
        </p:txBody>
      </p:sp>
      <p:cxnSp>
        <p:nvCxnSpPr>
          <p:cNvPr id="128" name="直線コネクタ 127">
            <a:extLst>
              <a:ext uri="{FF2B5EF4-FFF2-40B4-BE49-F238E27FC236}">
                <a16:creationId xmlns:a16="http://schemas.microsoft.com/office/drawing/2014/main" id="{01A36CB4-C4FC-4BC0-9C4F-925B4795F9B6}"/>
              </a:ext>
            </a:extLst>
          </p:cNvPr>
          <p:cNvCxnSpPr>
            <a:cxnSpLocks/>
            <a:stCxn id="94" idx="1"/>
            <a:endCxn id="104" idx="3"/>
          </p:cNvCxnSpPr>
          <p:nvPr/>
        </p:nvCxnSpPr>
        <p:spPr>
          <a:xfrm flipH="1" flipV="1">
            <a:off x="2178179" y="2188310"/>
            <a:ext cx="1873738" cy="1998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83293565-184A-46BE-85BC-72A05FA7A654}"/>
              </a:ext>
            </a:extLst>
          </p:cNvPr>
          <p:cNvCxnSpPr>
            <a:cxnSpLocks/>
            <a:stCxn id="94" idx="1"/>
            <a:endCxn id="134" idx="3"/>
          </p:cNvCxnSpPr>
          <p:nvPr/>
        </p:nvCxnSpPr>
        <p:spPr>
          <a:xfrm flipH="1">
            <a:off x="2178179" y="2388124"/>
            <a:ext cx="1873738" cy="449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テキスト ボックス 160">
            <a:extLst>
              <a:ext uri="{FF2B5EF4-FFF2-40B4-BE49-F238E27FC236}">
                <a16:creationId xmlns:a16="http://schemas.microsoft.com/office/drawing/2014/main" id="{9DCC9652-33F4-46F3-B205-A531A56167B2}"/>
              </a:ext>
            </a:extLst>
          </p:cNvPr>
          <p:cNvSpPr txBox="1"/>
          <p:nvPr/>
        </p:nvSpPr>
        <p:spPr>
          <a:xfrm>
            <a:off x="4463621" y="2001731"/>
            <a:ext cx="263214" cy="4099584"/>
          </a:xfrm>
          <a:prstGeom prst="rect">
            <a:avLst/>
          </a:prstGeom>
          <a:noFill/>
        </p:spPr>
        <p:txBody>
          <a:bodyPr wrap="none" rtlCol="0">
            <a:spAutoFit/>
          </a:bodyPr>
          <a:lstStyle/>
          <a:p>
            <a:r>
              <a:rPr kumimoji="1" lang="en-US" altLang="ja-JP" sz="1200" b="1" dirty="0">
                <a:solidFill>
                  <a:srgbClr val="0000FF"/>
                </a:solidFill>
              </a:rPr>
              <a:t>1</a:t>
            </a:r>
          </a:p>
          <a:p>
            <a:endParaRPr lang="en-US" altLang="ja-JP" sz="1200" b="1" dirty="0">
              <a:solidFill>
                <a:srgbClr val="0000FF"/>
              </a:solidFill>
            </a:endParaRPr>
          </a:p>
          <a:p>
            <a:endParaRPr kumimoji="1" lang="en-US" altLang="ja-JP" sz="1200" b="1" dirty="0">
              <a:solidFill>
                <a:srgbClr val="0000FF"/>
              </a:solidFill>
            </a:endParaRPr>
          </a:p>
          <a:p>
            <a:endParaRPr lang="en-US" altLang="ja-JP" sz="1200" b="1" dirty="0">
              <a:solidFill>
                <a:srgbClr val="0000FF"/>
              </a:solidFill>
            </a:endParaRPr>
          </a:p>
          <a:p>
            <a:pPr>
              <a:lnSpc>
                <a:spcPct val="95000"/>
              </a:lnSpc>
            </a:pPr>
            <a:endParaRPr kumimoji="1" lang="en-US" altLang="ja-JP" sz="1200" b="1" dirty="0">
              <a:solidFill>
                <a:srgbClr val="0000FF"/>
              </a:solidFill>
            </a:endParaRPr>
          </a:p>
          <a:p>
            <a:r>
              <a:rPr lang="en-US" altLang="ja-JP" sz="1200" b="1" dirty="0">
                <a:solidFill>
                  <a:srgbClr val="0000FF"/>
                </a:solidFill>
              </a:rPr>
              <a:t>2</a:t>
            </a:r>
          </a:p>
          <a:p>
            <a:endParaRPr kumimoji="1" lang="en-US" altLang="ja-JP" sz="1200" b="1" dirty="0">
              <a:solidFill>
                <a:srgbClr val="0000FF"/>
              </a:solidFill>
            </a:endParaRPr>
          </a:p>
          <a:p>
            <a:endParaRPr lang="en-US" altLang="ja-JP" sz="1200" b="1" dirty="0">
              <a:solidFill>
                <a:srgbClr val="0000FF"/>
              </a:solidFill>
            </a:endParaRPr>
          </a:p>
          <a:p>
            <a:endParaRPr kumimoji="1" lang="en-US" altLang="ja-JP" sz="1200" b="1" dirty="0">
              <a:solidFill>
                <a:srgbClr val="0000FF"/>
              </a:solidFill>
            </a:endParaRPr>
          </a:p>
          <a:p>
            <a:pPr>
              <a:lnSpc>
                <a:spcPct val="85000"/>
              </a:lnSpc>
            </a:pPr>
            <a:endParaRPr lang="en-US" altLang="ja-JP" sz="1200" b="1" dirty="0">
              <a:solidFill>
                <a:srgbClr val="0000FF"/>
              </a:solidFill>
            </a:endParaRPr>
          </a:p>
          <a:p>
            <a:endParaRPr kumimoji="1" lang="en-US" altLang="ja-JP" sz="1200" b="1" dirty="0">
              <a:solidFill>
                <a:srgbClr val="0000FF"/>
              </a:solidFill>
            </a:endParaRPr>
          </a:p>
          <a:p>
            <a:r>
              <a:rPr kumimoji="1" lang="en-US" altLang="ja-JP" sz="1200" b="1" dirty="0">
                <a:solidFill>
                  <a:srgbClr val="0000FF"/>
                </a:solidFill>
              </a:rPr>
              <a:t>3</a:t>
            </a:r>
          </a:p>
          <a:p>
            <a:endParaRPr lang="en-US" altLang="ja-JP" sz="1200" b="1" dirty="0">
              <a:solidFill>
                <a:srgbClr val="0000FF"/>
              </a:solidFill>
            </a:endParaRPr>
          </a:p>
          <a:p>
            <a:endParaRPr kumimoji="1" lang="en-US" altLang="ja-JP" sz="1200" b="1" dirty="0">
              <a:solidFill>
                <a:srgbClr val="0000FF"/>
              </a:solidFill>
            </a:endParaRPr>
          </a:p>
          <a:p>
            <a:endParaRPr lang="en-US" altLang="ja-JP" sz="1200" b="1" dirty="0">
              <a:solidFill>
                <a:srgbClr val="0000FF"/>
              </a:solidFill>
            </a:endParaRPr>
          </a:p>
          <a:p>
            <a:endParaRPr kumimoji="1" lang="en-US" altLang="ja-JP" sz="1200" b="1" dirty="0">
              <a:solidFill>
                <a:srgbClr val="0000FF"/>
              </a:solidFill>
            </a:endParaRPr>
          </a:p>
          <a:p>
            <a:endParaRPr lang="en-US" altLang="ja-JP" sz="1200" b="1" dirty="0">
              <a:solidFill>
                <a:srgbClr val="0000FF"/>
              </a:solidFill>
            </a:endParaRPr>
          </a:p>
          <a:p>
            <a:endParaRPr kumimoji="1" lang="en-US" altLang="ja-JP" sz="1200" b="1" dirty="0">
              <a:solidFill>
                <a:srgbClr val="0000FF"/>
              </a:solidFill>
            </a:endParaRPr>
          </a:p>
          <a:p>
            <a:endParaRPr lang="en-US" altLang="ja-JP" sz="1200" b="1" dirty="0">
              <a:solidFill>
                <a:srgbClr val="0000FF"/>
              </a:solidFill>
            </a:endParaRPr>
          </a:p>
          <a:p>
            <a:endParaRPr kumimoji="1" lang="en-US" altLang="ja-JP" sz="1200" b="1" dirty="0">
              <a:solidFill>
                <a:srgbClr val="0000FF"/>
              </a:solidFill>
            </a:endParaRPr>
          </a:p>
          <a:p>
            <a:pPr>
              <a:lnSpc>
                <a:spcPct val="90000"/>
              </a:lnSpc>
            </a:pPr>
            <a:endParaRPr lang="en-US" altLang="ja-JP" sz="1200" b="1" dirty="0">
              <a:solidFill>
                <a:srgbClr val="0000FF"/>
              </a:solidFill>
            </a:endParaRPr>
          </a:p>
          <a:p>
            <a:endParaRPr kumimoji="1" lang="en-US" altLang="ja-JP" sz="1200" b="1" dirty="0">
              <a:solidFill>
                <a:srgbClr val="0000FF"/>
              </a:solidFill>
            </a:endParaRPr>
          </a:p>
        </p:txBody>
      </p:sp>
      <p:sp>
        <p:nvSpPr>
          <p:cNvPr id="102" name="テキスト ボックス 101">
            <a:extLst>
              <a:ext uri="{FF2B5EF4-FFF2-40B4-BE49-F238E27FC236}">
                <a16:creationId xmlns:a16="http://schemas.microsoft.com/office/drawing/2014/main" id="{B3611850-B1AF-40B8-93E9-C932CDC655CA}"/>
              </a:ext>
            </a:extLst>
          </p:cNvPr>
          <p:cNvSpPr txBox="1"/>
          <p:nvPr/>
        </p:nvSpPr>
        <p:spPr>
          <a:xfrm>
            <a:off x="3965451" y="1863995"/>
            <a:ext cx="1352549" cy="246221"/>
          </a:xfrm>
          <a:prstGeom prst="rect">
            <a:avLst/>
          </a:prstGeom>
          <a:noFill/>
        </p:spPr>
        <p:txBody>
          <a:bodyPr wrap="square" rtlCol="0">
            <a:spAutoFit/>
          </a:bodyPr>
          <a:lstStyle/>
          <a:p>
            <a:r>
              <a:rPr kumimoji="1" lang="ja-JP" altLang="en-US" sz="1000" b="1" dirty="0">
                <a:latin typeface="Meiryo UI" pitchFamily="50" charset="-128"/>
                <a:ea typeface="Meiryo UI" pitchFamily="50" charset="-128"/>
                <a:cs typeface="Meiryo UI" pitchFamily="50" charset="-128"/>
              </a:rPr>
              <a:t>開発用詳細解析</a:t>
            </a:r>
          </a:p>
        </p:txBody>
      </p:sp>
      <p:sp>
        <p:nvSpPr>
          <p:cNvPr id="163" name="テキスト ボックス 162">
            <a:extLst>
              <a:ext uri="{FF2B5EF4-FFF2-40B4-BE49-F238E27FC236}">
                <a16:creationId xmlns:a16="http://schemas.microsoft.com/office/drawing/2014/main" id="{9F6625B4-6690-4845-994D-40C1DEC60AFF}"/>
              </a:ext>
            </a:extLst>
          </p:cNvPr>
          <p:cNvSpPr txBox="1"/>
          <p:nvPr/>
        </p:nvSpPr>
        <p:spPr>
          <a:xfrm>
            <a:off x="3965451" y="2749762"/>
            <a:ext cx="1352549" cy="246221"/>
          </a:xfrm>
          <a:prstGeom prst="rect">
            <a:avLst/>
          </a:prstGeom>
          <a:noFill/>
        </p:spPr>
        <p:txBody>
          <a:bodyPr wrap="square" rtlCol="0">
            <a:spAutoFit/>
          </a:bodyPr>
          <a:lstStyle/>
          <a:p>
            <a:r>
              <a:rPr kumimoji="1" lang="ja-JP" altLang="en-US" sz="1000" b="1" dirty="0">
                <a:latin typeface="Meiryo UI" pitchFamily="50" charset="-128"/>
                <a:ea typeface="Meiryo UI" pitchFamily="50" charset="-128"/>
                <a:cs typeface="Meiryo UI" pitchFamily="50" charset="-128"/>
              </a:rPr>
              <a:t>故障診断</a:t>
            </a:r>
            <a:r>
              <a:rPr kumimoji="1" lang="en-US" altLang="ja-JP" sz="1000" b="1" dirty="0">
                <a:latin typeface="Meiryo UI" pitchFamily="50" charset="-128"/>
                <a:ea typeface="Meiryo UI" pitchFamily="50" charset="-128"/>
                <a:cs typeface="Meiryo UI" pitchFamily="50" charset="-128"/>
              </a:rPr>
              <a:t>A</a:t>
            </a:r>
            <a:endParaRPr kumimoji="1" lang="ja-JP" altLang="en-US" sz="1000" b="1" dirty="0">
              <a:latin typeface="Meiryo UI" pitchFamily="50" charset="-128"/>
              <a:ea typeface="Meiryo UI" pitchFamily="50" charset="-128"/>
              <a:cs typeface="Meiryo UI" pitchFamily="50" charset="-128"/>
            </a:endParaRPr>
          </a:p>
        </p:txBody>
      </p:sp>
      <p:sp>
        <p:nvSpPr>
          <p:cNvPr id="164" name="テキスト ボックス 163">
            <a:extLst>
              <a:ext uri="{FF2B5EF4-FFF2-40B4-BE49-F238E27FC236}">
                <a16:creationId xmlns:a16="http://schemas.microsoft.com/office/drawing/2014/main" id="{BCF51C0A-666B-468C-B171-68F939AB4D44}"/>
              </a:ext>
            </a:extLst>
          </p:cNvPr>
          <p:cNvSpPr txBox="1"/>
          <p:nvPr/>
        </p:nvSpPr>
        <p:spPr>
          <a:xfrm>
            <a:off x="3965451" y="3768193"/>
            <a:ext cx="1352549" cy="246221"/>
          </a:xfrm>
          <a:prstGeom prst="rect">
            <a:avLst/>
          </a:prstGeom>
          <a:noFill/>
        </p:spPr>
        <p:txBody>
          <a:bodyPr wrap="square" rtlCol="0">
            <a:spAutoFit/>
          </a:bodyPr>
          <a:lstStyle/>
          <a:p>
            <a:r>
              <a:rPr kumimoji="1" lang="ja-JP" altLang="en-US" sz="1000" b="1" dirty="0">
                <a:latin typeface="Meiryo UI" pitchFamily="50" charset="-128"/>
                <a:ea typeface="Meiryo UI" pitchFamily="50" charset="-128"/>
                <a:cs typeface="Meiryo UI" pitchFamily="50" charset="-128"/>
              </a:rPr>
              <a:t>オペトレ</a:t>
            </a:r>
          </a:p>
        </p:txBody>
      </p:sp>
      <p:sp>
        <p:nvSpPr>
          <p:cNvPr id="127" name="タイトル 4">
            <a:extLst>
              <a:ext uri="{FF2B5EF4-FFF2-40B4-BE49-F238E27FC236}">
                <a16:creationId xmlns:a16="http://schemas.microsoft.com/office/drawing/2014/main" id="{0758A944-79A4-49E9-8A71-7BEBFD2EB570}"/>
              </a:ext>
            </a:extLst>
          </p:cNvPr>
          <p:cNvSpPr txBox="1">
            <a:spLocks/>
          </p:cNvSpPr>
          <p:nvPr/>
        </p:nvSpPr>
        <p:spPr>
          <a:xfrm>
            <a:off x="192024" y="126001"/>
            <a:ext cx="8750808" cy="396000"/>
          </a:xfrm>
          <a:prstGeom prst="rect">
            <a:avLst/>
          </a:prstGeom>
        </p:spPr>
        <p:txBody>
          <a:bodyPr/>
          <a:lstStyle>
            <a:lvl1pPr algn="l" defTabSz="914400" rtl="0" eaLnBrk="1" latinLnBrk="0" hangingPunct="1">
              <a:lnSpc>
                <a:spcPct val="90000"/>
              </a:lnSpc>
              <a:spcBef>
                <a:spcPct val="0"/>
              </a:spcBef>
              <a:buNone/>
              <a:defRPr sz="2000" b="1" kern="1200">
                <a:solidFill>
                  <a:schemeClr val="bg1"/>
                </a:solidFill>
                <a:latin typeface="+mj-lt"/>
                <a:ea typeface="+mj-ea"/>
                <a:cs typeface="+mj-cs"/>
              </a:defRPr>
            </a:lvl1pPr>
          </a:lstStyle>
          <a:p>
            <a:r>
              <a:rPr kumimoji="1" lang="ja-JP" altLang="en-US" sz="2000" b="1" dirty="0">
                <a:solidFill>
                  <a:schemeClr val="bg1"/>
                </a:solidFill>
                <a:latin typeface="+mn-ea"/>
              </a:rPr>
              <a:t>参考）カスタマイズ定義のアクセスレベルについて</a:t>
            </a:r>
          </a:p>
        </p:txBody>
      </p:sp>
      <p:sp>
        <p:nvSpPr>
          <p:cNvPr id="198" name="コンテンツ プレースホルダー 4">
            <a:extLst>
              <a:ext uri="{FF2B5EF4-FFF2-40B4-BE49-F238E27FC236}">
                <a16:creationId xmlns:a16="http://schemas.microsoft.com/office/drawing/2014/main" id="{BF701D98-1F94-4840-A713-DFECA6609A81}"/>
              </a:ext>
            </a:extLst>
          </p:cNvPr>
          <p:cNvSpPr txBox="1">
            <a:spLocks/>
          </p:cNvSpPr>
          <p:nvPr/>
        </p:nvSpPr>
        <p:spPr>
          <a:xfrm>
            <a:off x="192024" y="612000"/>
            <a:ext cx="8750808" cy="850838"/>
          </a:xfrm>
          <a:prstGeom prst="rect">
            <a:avLst/>
          </a:prstGeom>
        </p:spPr>
        <p:txBody>
          <a:bodyPr/>
          <a:lstStyle>
            <a:lvl1pPr marL="180000" indent="-180000" algn="l" defTabSz="90000" rtl="0" eaLnBrk="1" latinLnBrk="0" hangingPunct="1">
              <a:lnSpc>
                <a:spcPct val="100000"/>
              </a:lnSpc>
              <a:spcBef>
                <a:spcPts val="1000"/>
              </a:spcBef>
              <a:spcAft>
                <a:spcPts val="0"/>
              </a:spcAft>
              <a:buClrTx/>
              <a:buSzPct val="95000"/>
              <a:buFont typeface="Arial" panose="020B0604020202020204" pitchFamily="34" charset="0"/>
              <a:buChar char="●"/>
              <a:tabLst>
                <a:tab pos="179388" algn="l"/>
              </a:tabLst>
              <a:defRPr sz="1400" b="0" kern="1200">
                <a:solidFill>
                  <a:schemeClr val="tx1"/>
                </a:solidFill>
                <a:latin typeface="+mn-lt"/>
                <a:ea typeface="+mn-ea"/>
                <a:cs typeface="+mn-cs"/>
              </a:defRPr>
            </a:lvl1pPr>
            <a:lvl2pPr marL="360000" indent="-180000" algn="l" defTabSz="90000" rtl="0" eaLnBrk="1" latinLnBrk="0" hangingPunct="1">
              <a:lnSpc>
                <a:spcPct val="90000"/>
              </a:lnSpc>
              <a:spcBef>
                <a:spcPts val="500"/>
              </a:spcBef>
              <a:spcAft>
                <a:spcPts val="0"/>
              </a:spcAft>
              <a:buSzPct val="100000"/>
              <a:buFont typeface="Calibri" panose="020F0502020204030204" pitchFamily="34" charset="0"/>
              <a:buChar char="○"/>
              <a:defRPr sz="1200" kern="1200">
                <a:solidFill>
                  <a:schemeClr val="tx1"/>
                </a:solidFill>
                <a:latin typeface="+mn-lt"/>
                <a:ea typeface="+mn-ea"/>
                <a:cs typeface="+mn-cs"/>
              </a:defRPr>
            </a:lvl2pPr>
            <a:lvl3pPr marL="504000" indent="-144000" algn="l" defTabSz="90000" rtl="0" eaLnBrk="1" latinLnBrk="0" hangingPunct="1">
              <a:lnSpc>
                <a:spcPct val="90000"/>
              </a:lnSpc>
              <a:spcBef>
                <a:spcPts val="500"/>
              </a:spcBef>
              <a:spcAft>
                <a:spcPts val="0"/>
              </a:spcAft>
              <a:buSzPct val="100000"/>
              <a:buFont typeface="Wingdings" panose="05000000000000000000" pitchFamily="2" charset="2"/>
              <a:buChar char="§"/>
              <a:defRPr sz="1100" kern="1200">
                <a:solidFill>
                  <a:schemeClr val="tx1"/>
                </a:solidFill>
                <a:latin typeface="+mn-lt"/>
                <a:ea typeface="+mn-ea"/>
                <a:cs typeface="+mn-cs"/>
              </a:defRPr>
            </a:lvl3pPr>
            <a:lvl4pPr marL="684000" indent="-144000" algn="l" defTabSz="90000" rtl="0" eaLnBrk="1" latinLnBrk="0" hangingPunct="1">
              <a:lnSpc>
                <a:spcPct val="90000"/>
              </a:lnSpc>
              <a:spcBef>
                <a:spcPts val="500"/>
              </a:spcBef>
              <a:spcAft>
                <a:spcPts val="0"/>
              </a:spcAft>
              <a:buSzPct val="100000"/>
              <a:buFont typeface="Arial" panose="020B0604020202020204" pitchFamily="34" charset="0"/>
              <a:buChar char="›"/>
              <a:defRPr sz="1000" kern="1200">
                <a:solidFill>
                  <a:schemeClr val="tx1"/>
                </a:solidFill>
                <a:latin typeface="+mn-lt"/>
                <a:ea typeface="+mn-ea"/>
                <a:cs typeface="+mn-cs"/>
              </a:defRPr>
            </a:lvl4pPr>
            <a:lvl5pPr marL="792000" indent="-108000" algn="l" defTabSz="90000"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r>
              <a:rPr lang="ja-JP" altLang="en-US" dirty="0"/>
              <a:t>ユーザのアクセス権限とカスタマイズ定義のアクセス権限を照合して、データ取得</a:t>
            </a:r>
            <a:r>
              <a:rPr lang="en-US" altLang="ja-JP" dirty="0"/>
              <a:t>/</a:t>
            </a:r>
            <a:r>
              <a:rPr lang="ja-JP" altLang="en-US" dirty="0"/>
              <a:t>参照可否が決まる</a:t>
            </a:r>
            <a:endParaRPr lang="en-US" altLang="ja-JP" dirty="0"/>
          </a:p>
          <a:p>
            <a:pPr fontAlgn="auto"/>
            <a:r>
              <a:rPr lang="ja-JP" altLang="en-US" dirty="0">
                <a:solidFill>
                  <a:srgbClr val="FF0000"/>
                </a:solidFill>
              </a:rPr>
              <a:t>ユーザにカスタマイズ定義のアクセス権限を割り振る機能については、</a:t>
            </a:r>
            <a:r>
              <a:rPr lang="en-US" altLang="ja-JP" dirty="0">
                <a:solidFill>
                  <a:srgbClr val="FF0000"/>
                </a:solidFill>
              </a:rPr>
              <a:t>R1.2</a:t>
            </a:r>
            <a:r>
              <a:rPr lang="ja-JP" altLang="en-US" dirty="0">
                <a:solidFill>
                  <a:srgbClr val="FF0000"/>
                </a:solidFill>
              </a:rPr>
              <a:t>開発で検討する</a:t>
            </a:r>
            <a:endParaRPr lang="en-US" altLang="ja-JP" dirty="0">
              <a:solidFill>
                <a:srgbClr val="FF0000"/>
              </a:solidFill>
            </a:endParaRPr>
          </a:p>
          <a:p>
            <a:pPr lvl="1" fontAlgn="auto"/>
            <a:r>
              <a:rPr lang="ja-JP" altLang="en-US" dirty="0">
                <a:solidFill>
                  <a:srgbClr val="FF0000"/>
                </a:solidFill>
              </a:rPr>
              <a:t>（</a:t>
            </a:r>
            <a:r>
              <a:rPr lang="en-US" altLang="ja-JP" dirty="0">
                <a:solidFill>
                  <a:srgbClr val="FF0000"/>
                </a:solidFill>
              </a:rPr>
              <a:t>R1.1</a:t>
            </a:r>
            <a:r>
              <a:rPr lang="ja-JP" altLang="en-US" dirty="0">
                <a:solidFill>
                  <a:srgbClr val="FF0000"/>
                </a:solidFill>
              </a:rPr>
              <a:t>時点では、</a:t>
            </a:r>
            <a:r>
              <a:rPr lang="en-US" altLang="ja-JP" dirty="0">
                <a:solidFill>
                  <a:srgbClr val="FF0000"/>
                </a:solidFill>
              </a:rPr>
              <a:t>API</a:t>
            </a:r>
            <a:r>
              <a:rPr lang="ja-JP" altLang="en-US" dirty="0">
                <a:solidFill>
                  <a:srgbClr val="FF0000"/>
                </a:solidFill>
              </a:rPr>
              <a:t>実行ユーザを強制的に代理店（全データ）とする。）</a:t>
            </a:r>
            <a:endParaRPr lang="en-US" altLang="ja-JP" dirty="0">
              <a:solidFill>
                <a:srgbClr val="FF0000"/>
              </a:solidFill>
            </a:endParaRPr>
          </a:p>
        </p:txBody>
      </p:sp>
      <p:sp>
        <p:nvSpPr>
          <p:cNvPr id="134" name="正方形/長方形 133">
            <a:extLst>
              <a:ext uri="{FF2B5EF4-FFF2-40B4-BE49-F238E27FC236}">
                <a16:creationId xmlns:a16="http://schemas.microsoft.com/office/drawing/2014/main" id="{8A188D34-2633-4B5D-BABA-ED9077E3FAC5}"/>
              </a:ext>
            </a:extLst>
          </p:cNvPr>
          <p:cNvSpPr/>
          <p:nvPr/>
        </p:nvSpPr>
        <p:spPr>
          <a:xfrm>
            <a:off x="1662706" y="2602900"/>
            <a:ext cx="515473" cy="469755"/>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Y</a:t>
            </a:r>
            <a:endParaRPr kumimoji="1" lang="ja-JP" altLang="en-US" sz="1400" b="1" dirty="0">
              <a:latin typeface="+mn-ea"/>
            </a:endParaRPr>
          </a:p>
        </p:txBody>
      </p:sp>
      <p:sp>
        <p:nvSpPr>
          <p:cNvPr id="135" name="正方形/長方形 134">
            <a:extLst>
              <a:ext uri="{FF2B5EF4-FFF2-40B4-BE49-F238E27FC236}">
                <a16:creationId xmlns:a16="http://schemas.microsoft.com/office/drawing/2014/main" id="{D98EF839-2B0C-413F-91AE-8000EFD14557}"/>
              </a:ext>
            </a:extLst>
          </p:cNvPr>
          <p:cNvSpPr/>
          <p:nvPr/>
        </p:nvSpPr>
        <p:spPr>
          <a:xfrm>
            <a:off x="1662706" y="3363449"/>
            <a:ext cx="515473" cy="480278"/>
          </a:xfrm>
          <a:prstGeom prst="rect">
            <a:avLst/>
          </a:prstGeom>
          <a:solidFill>
            <a:srgbClr val="A6A6A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A</a:t>
            </a:r>
            <a:endParaRPr kumimoji="1" lang="ja-JP" altLang="en-US" sz="1400" b="1" dirty="0">
              <a:latin typeface="+mn-ea"/>
            </a:endParaRPr>
          </a:p>
        </p:txBody>
      </p:sp>
      <p:sp>
        <p:nvSpPr>
          <p:cNvPr id="136" name="正方形/長方形 135">
            <a:extLst>
              <a:ext uri="{FF2B5EF4-FFF2-40B4-BE49-F238E27FC236}">
                <a16:creationId xmlns:a16="http://schemas.microsoft.com/office/drawing/2014/main" id="{C4B502B2-E238-452D-9304-FA5729346408}"/>
              </a:ext>
            </a:extLst>
          </p:cNvPr>
          <p:cNvSpPr/>
          <p:nvPr/>
        </p:nvSpPr>
        <p:spPr>
          <a:xfrm>
            <a:off x="1662706" y="4056172"/>
            <a:ext cx="515473" cy="480278"/>
          </a:xfrm>
          <a:prstGeom prst="rect">
            <a:avLst/>
          </a:prstGeom>
          <a:solidFill>
            <a:srgbClr val="A6A6A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B</a:t>
            </a:r>
            <a:endParaRPr kumimoji="1" lang="ja-JP" altLang="en-US" sz="1400" b="1" dirty="0">
              <a:latin typeface="+mn-ea"/>
            </a:endParaRPr>
          </a:p>
        </p:txBody>
      </p:sp>
      <p:sp>
        <p:nvSpPr>
          <p:cNvPr id="137" name="正方形/長方形 136">
            <a:extLst>
              <a:ext uri="{FF2B5EF4-FFF2-40B4-BE49-F238E27FC236}">
                <a16:creationId xmlns:a16="http://schemas.microsoft.com/office/drawing/2014/main" id="{CB296344-1257-42A5-B85A-9ECC9F0A73DE}"/>
              </a:ext>
            </a:extLst>
          </p:cNvPr>
          <p:cNvSpPr/>
          <p:nvPr/>
        </p:nvSpPr>
        <p:spPr>
          <a:xfrm>
            <a:off x="1662706" y="4717486"/>
            <a:ext cx="515473" cy="480278"/>
          </a:xfrm>
          <a:prstGeom prst="rect">
            <a:avLst/>
          </a:prstGeom>
          <a:solidFill>
            <a:srgbClr val="A6A6A6"/>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C</a:t>
            </a:r>
            <a:endParaRPr kumimoji="1" lang="ja-JP" altLang="en-US" sz="1400" b="1" dirty="0">
              <a:latin typeface="+mn-ea"/>
            </a:endParaRPr>
          </a:p>
        </p:txBody>
      </p:sp>
      <p:sp>
        <p:nvSpPr>
          <p:cNvPr id="138" name="正方形/長方形 137">
            <a:extLst>
              <a:ext uri="{FF2B5EF4-FFF2-40B4-BE49-F238E27FC236}">
                <a16:creationId xmlns:a16="http://schemas.microsoft.com/office/drawing/2014/main" id="{7D6C6CDC-AA10-4EF7-A39C-2ABDA49AE7DA}"/>
              </a:ext>
            </a:extLst>
          </p:cNvPr>
          <p:cNvSpPr/>
          <p:nvPr/>
        </p:nvSpPr>
        <p:spPr>
          <a:xfrm>
            <a:off x="1658165" y="5393836"/>
            <a:ext cx="515474" cy="440126"/>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K</a:t>
            </a:r>
            <a:endParaRPr kumimoji="1" lang="ja-JP" altLang="en-US" sz="1200" b="1" dirty="0">
              <a:latin typeface="+mn-ea"/>
            </a:endParaRPr>
          </a:p>
        </p:txBody>
      </p:sp>
      <p:sp>
        <p:nvSpPr>
          <p:cNvPr id="139" name="正方形/長方形 138">
            <a:extLst>
              <a:ext uri="{FF2B5EF4-FFF2-40B4-BE49-F238E27FC236}">
                <a16:creationId xmlns:a16="http://schemas.microsoft.com/office/drawing/2014/main" id="{B2C8437A-268C-4294-94C4-C868D7D8CFCE}"/>
              </a:ext>
            </a:extLst>
          </p:cNvPr>
          <p:cNvSpPr/>
          <p:nvPr/>
        </p:nvSpPr>
        <p:spPr>
          <a:xfrm>
            <a:off x="1658165" y="6103337"/>
            <a:ext cx="515474" cy="440126"/>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lnSpc>
                <a:spcPct val="90000"/>
              </a:lnSpc>
            </a:pPr>
            <a:r>
              <a:rPr kumimoji="1" lang="en-US" altLang="ja-JP" sz="1400" b="1" dirty="0">
                <a:latin typeface="+mn-ea"/>
              </a:rPr>
              <a:t>L</a:t>
            </a:r>
            <a:endParaRPr kumimoji="1" lang="ja-JP" altLang="en-US" sz="1200" b="1" dirty="0">
              <a:latin typeface="+mn-ea"/>
            </a:endParaRPr>
          </a:p>
        </p:txBody>
      </p:sp>
      <p:cxnSp>
        <p:nvCxnSpPr>
          <p:cNvPr id="140" name="直線コネクタ 139">
            <a:extLst>
              <a:ext uri="{FF2B5EF4-FFF2-40B4-BE49-F238E27FC236}">
                <a16:creationId xmlns:a16="http://schemas.microsoft.com/office/drawing/2014/main" id="{32781DE8-36EC-4068-8DEA-4FD72052AD87}"/>
              </a:ext>
            </a:extLst>
          </p:cNvPr>
          <p:cNvCxnSpPr>
            <a:cxnSpLocks/>
            <a:stCxn id="98" idx="1"/>
            <a:endCxn id="135" idx="3"/>
          </p:cNvCxnSpPr>
          <p:nvPr/>
        </p:nvCxnSpPr>
        <p:spPr>
          <a:xfrm flipH="1">
            <a:off x="2178179" y="3285256"/>
            <a:ext cx="1873738" cy="3183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BF6C190B-1BCD-4AF1-B86C-6B40DEABA12B}"/>
              </a:ext>
            </a:extLst>
          </p:cNvPr>
          <p:cNvCxnSpPr>
            <a:cxnSpLocks/>
            <a:stCxn id="98" idx="1"/>
            <a:endCxn id="136" idx="3"/>
          </p:cNvCxnSpPr>
          <p:nvPr/>
        </p:nvCxnSpPr>
        <p:spPr>
          <a:xfrm flipH="1">
            <a:off x="2178179" y="3285256"/>
            <a:ext cx="1873738" cy="10110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C46CF242-9013-493F-8647-5D5C08D4A88E}"/>
              </a:ext>
            </a:extLst>
          </p:cNvPr>
          <p:cNvCxnSpPr>
            <a:cxnSpLocks/>
            <a:stCxn id="98" idx="1"/>
            <a:endCxn id="137" idx="3"/>
          </p:cNvCxnSpPr>
          <p:nvPr/>
        </p:nvCxnSpPr>
        <p:spPr>
          <a:xfrm flipH="1">
            <a:off x="2178179" y="3285256"/>
            <a:ext cx="1873738" cy="167236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線コネクタ 143">
            <a:extLst>
              <a:ext uri="{FF2B5EF4-FFF2-40B4-BE49-F238E27FC236}">
                <a16:creationId xmlns:a16="http://schemas.microsoft.com/office/drawing/2014/main" id="{D9413BD5-5DF5-4017-BBBC-0B8AC03778BB}"/>
              </a:ext>
            </a:extLst>
          </p:cNvPr>
          <p:cNvCxnSpPr>
            <a:cxnSpLocks/>
            <a:stCxn id="99" idx="1"/>
            <a:endCxn id="138" idx="3"/>
          </p:cNvCxnSpPr>
          <p:nvPr/>
        </p:nvCxnSpPr>
        <p:spPr>
          <a:xfrm flipH="1">
            <a:off x="2173639" y="4358168"/>
            <a:ext cx="1878278" cy="125573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A25E622F-9292-429F-B195-ADFE7E5AF70F}"/>
              </a:ext>
            </a:extLst>
          </p:cNvPr>
          <p:cNvCxnSpPr>
            <a:cxnSpLocks/>
            <a:stCxn id="99" idx="1"/>
            <a:endCxn id="139" idx="3"/>
          </p:cNvCxnSpPr>
          <p:nvPr/>
        </p:nvCxnSpPr>
        <p:spPr>
          <a:xfrm flipH="1">
            <a:off x="2173639" y="4358168"/>
            <a:ext cx="1878278" cy="196523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29A54E4A-BD40-4AA3-AA92-26DD644E14DA}"/>
              </a:ext>
            </a:extLst>
          </p:cNvPr>
          <p:cNvCxnSpPr>
            <a:cxnSpLocks/>
            <a:stCxn id="129" idx="1"/>
            <a:endCxn id="94" idx="3"/>
          </p:cNvCxnSpPr>
          <p:nvPr/>
        </p:nvCxnSpPr>
        <p:spPr>
          <a:xfrm flipH="1">
            <a:off x="5404467" y="2357480"/>
            <a:ext cx="1864134" cy="306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a:extLst>
              <a:ext uri="{FF2B5EF4-FFF2-40B4-BE49-F238E27FC236}">
                <a16:creationId xmlns:a16="http://schemas.microsoft.com/office/drawing/2014/main" id="{43A91B26-4F10-484C-979D-620CF62B9125}"/>
              </a:ext>
            </a:extLst>
          </p:cNvPr>
          <p:cNvCxnSpPr>
            <a:cxnSpLocks/>
            <a:stCxn id="129" idx="1"/>
            <a:endCxn id="98" idx="3"/>
          </p:cNvCxnSpPr>
          <p:nvPr/>
        </p:nvCxnSpPr>
        <p:spPr>
          <a:xfrm flipH="1">
            <a:off x="5404467" y="2357480"/>
            <a:ext cx="1864134" cy="927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B681C8C5-A586-477D-819C-6C0A8664CCC5}"/>
              </a:ext>
            </a:extLst>
          </p:cNvPr>
          <p:cNvCxnSpPr>
            <a:cxnSpLocks/>
            <a:stCxn id="131" idx="1"/>
            <a:endCxn id="98" idx="3"/>
          </p:cNvCxnSpPr>
          <p:nvPr/>
        </p:nvCxnSpPr>
        <p:spPr>
          <a:xfrm flipH="1">
            <a:off x="5404467" y="3140032"/>
            <a:ext cx="1920450" cy="1452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線コネクタ 156">
            <a:extLst>
              <a:ext uri="{FF2B5EF4-FFF2-40B4-BE49-F238E27FC236}">
                <a16:creationId xmlns:a16="http://schemas.microsoft.com/office/drawing/2014/main" id="{0578A8DD-656E-43C2-9525-9494B85DC234}"/>
              </a:ext>
            </a:extLst>
          </p:cNvPr>
          <p:cNvCxnSpPr>
            <a:cxnSpLocks/>
            <a:stCxn id="129" idx="1"/>
            <a:endCxn id="99" idx="3"/>
          </p:cNvCxnSpPr>
          <p:nvPr/>
        </p:nvCxnSpPr>
        <p:spPr>
          <a:xfrm flipH="1">
            <a:off x="5404467" y="2357480"/>
            <a:ext cx="1864134" cy="20006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線コネクタ 159">
            <a:extLst>
              <a:ext uri="{FF2B5EF4-FFF2-40B4-BE49-F238E27FC236}">
                <a16:creationId xmlns:a16="http://schemas.microsoft.com/office/drawing/2014/main" id="{92953E31-58A8-4BFB-B25F-87CF196AB174}"/>
              </a:ext>
            </a:extLst>
          </p:cNvPr>
          <p:cNvCxnSpPr>
            <a:cxnSpLocks/>
            <a:stCxn id="131" idx="1"/>
            <a:endCxn id="99" idx="3"/>
          </p:cNvCxnSpPr>
          <p:nvPr/>
        </p:nvCxnSpPr>
        <p:spPr>
          <a:xfrm flipH="1">
            <a:off x="5404467" y="3140032"/>
            <a:ext cx="1920450" cy="12181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線コネクタ 168">
            <a:extLst>
              <a:ext uri="{FF2B5EF4-FFF2-40B4-BE49-F238E27FC236}">
                <a16:creationId xmlns:a16="http://schemas.microsoft.com/office/drawing/2014/main" id="{3A1F8007-6B1E-4832-B111-13DEE3D0FE5E}"/>
              </a:ext>
            </a:extLst>
          </p:cNvPr>
          <p:cNvCxnSpPr>
            <a:cxnSpLocks/>
            <a:stCxn id="133" idx="1"/>
            <a:endCxn id="99" idx="3"/>
          </p:cNvCxnSpPr>
          <p:nvPr/>
        </p:nvCxnSpPr>
        <p:spPr>
          <a:xfrm flipH="1" flipV="1">
            <a:off x="5404467" y="4358168"/>
            <a:ext cx="1968828" cy="4664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線コネクタ 175">
            <a:extLst>
              <a:ext uri="{FF2B5EF4-FFF2-40B4-BE49-F238E27FC236}">
                <a16:creationId xmlns:a16="http://schemas.microsoft.com/office/drawing/2014/main" id="{EFA86D02-BFA3-44B2-A1E7-3A152093D052}"/>
              </a:ext>
            </a:extLst>
          </p:cNvPr>
          <p:cNvCxnSpPr>
            <a:cxnSpLocks/>
            <a:stCxn id="168" idx="1"/>
            <a:endCxn id="99" idx="3"/>
          </p:cNvCxnSpPr>
          <p:nvPr/>
        </p:nvCxnSpPr>
        <p:spPr>
          <a:xfrm flipH="1" flipV="1">
            <a:off x="5404467" y="4358168"/>
            <a:ext cx="1791812" cy="15796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9" name="図 178">
            <a:extLst>
              <a:ext uri="{FF2B5EF4-FFF2-40B4-BE49-F238E27FC236}">
                <a16:creationId xmlns:a16="http://schemas.microsoft.com/office/drawing/2014/main" id="{D109DB48-0197-4418-AC7F-AB9E8F05DC5C}"/>
              </a:ext>
            </a:extLst>
          </p:cNvPr>
          <p:cNvPicPr>
            <a:picLocks noChangeAspect="1"/>
          </p:cNvPicPr>
          <p:nvPr/>
        </p:nvPicPr>
        <p:blipFill>
          <a:blip r:embed="rId6"/>
          <a:stretch>
            <a:fillRect/>
          </a:stretch>
        </p:blipFill>
        <p:spPr>
          <a:xfrm>
            <a:off x="4051917" y="5157154"/>
            <a:ext cx="1352550" cy="866775"/>
          </a:xfrm>
          <a:prstGeom prst="rect">
            <a:avLst/>
          </a:prstGeom>
        </p:spPr>
      </p:pic>
      <p:pic>
        <p:nvPicPr>
          <p:cNvPr id="184" name="図 183">
            <a:extLst>
              <a:ext uri="{FF2B5EF4-FFF2-40B4-BE49-F238E27FC236}">
                <a16:creationId xmlns:a16="http://schemas.microsoft.com/office/drawing/2014/main" id="{1C059729-D637-4BE4-AC40-1F09442A247D}"/>
              </a:ext>
            </a:extLst>
          </p:cNvPr>
          <p:cNvPicPr>
            <a:picLocks noChangeAspect="1"/>
          </p:cNvPicPr>
          <p:nvPr/>
        </p:nvPicPr>
        <p:blipFill>
          <a:blip r:embed="rId7"/>
          <a:stretch>
            <a:fillRect/>
          </a:stretch>
        </p:blipFill>
        <p:spPr>
          <a:xfrm>
            <a:off x="4797894" y="5382793"/>
            <a:ext cx="472470" cy="457549"/>
          </a:xfrm>
          <a:prstGeom prst="rect">
            <a:avLst/>
          </a:prstGeom>
          <a:solidFill>
            <a:schemeClr val="accent1"/>
          </a:solidFill>
        </p:spPr>
      </p:pic>
      <p:pic>
        <p:nvPicPr>
          <p:cNvPr id="200" name="図 199">
            <a:extLst>
              <a:ext uri="{FF2B5EF4-FFF2-40B4-BE49-F238E27FC236}">
                <a16:creationId xmlns:a16="http://schemas.microsoft.com/office/drawing/2014/main" id="{5CCA8051-A5EB-4247-B192-B9F26872301A}"/>
              </a:ext>
            </a:extLst>
          </p:cNvPr>
          <p:cNvPicPr>
            <a:picLocks noChangeAspect="1"/>
          </p:cNvPicPr>
          <p:nvPr/>
        </p:nvPicPr>
        <p:blipFill>
          <a:blip r:embed="rId7"/>
          <a:stretch>
            <a:fillRect/>
          </a:stretch>
        </p:blipFill>
        <p:spPr>
          <a:xfrm>
            <a:off x="4526807" y="5414681"/>
            <a:ext cx="472470" cy="457549"/>
          </a:xfrm>
          <a:prstGeom prst="rect">
            <a:avLst/>
          </a:prstGeom>
          <a:solidFill>
            <a:schemeClr val="accent1"/>
          </a:solidFill>
        </p:spPr>
      </p:pic>
      <p:pic>
        <p:nvPicPr>
          <p:cNvPr id="201" name="図 200">
            <a:extLst>
              <a:ext uri="{FF2B5EF4-FFF2-40B4-BE49-F238E27FC236}">
                <a16:creationId xmlns:a16="http://schemas.microsoft.com/office/drawing/2014/main" id="{3F5AC8C7-7CA0-4066-AB5E-7333E2FB90B3}"/>
              </a:ext>
            </a:extLst>
          </p:cNvPr>
          <p:cNvPicPr>
            <a:picLocks noChangeAspect="1"/>
          </p:cNvPicPr>
          <p:nvPr/>
        </p:nvPicPr>
        <p:blipFill>
          <a:blip r:embed="rId7"/>
          <a:stretch>
            <a:fillRect/>
          </a:stretch>
        </p:blipFill>
        <p:spPr>
          <a:xfrm>
            <a:off x="4255721" y="5446570"/>
            <a:ext cx="472470" cy="457549"/>
          </a:xfrm>
          <a:prstGeom prst="rect">
            <a:avLst/>
          </a:prstGeom>
          <a:solidFill>
            <a:schemeClr val="accent1"/>
          </a:solidFill>
        </p:spPr>
      </p:pic>
      <p:sp>
        <p:nvSpPr>
          <p:cNvPr id="202" name="テキスト ボックス 201">
            <a:extLst>
              <a:ext uri="{FF2B5EF4-FFF2-40B4-BE49-F238E27FC236}">
                <a16:creationId xmlns:a16="http://schemas.microsoft.com/office/drawing/2014/main" id="{5B472800-FD1A-49EC-9E24-94EE83AD7972}"/>
              </a:ext>
            </a:extLst>
          </p:cNvPr>
          <p:cNvSpPr txBox="1"/>
          <p:nvPr/>
        </p:nvSpPr>
        <p:spPr>
          <a:xfrm>
            <a:off x="3965451" y="5000567"/>
            <a:ext cx="1352549" cy="246221"/>
          </a:xfrm>
          <a:prstGeom prst="rect">
            <a:avLst/>
          </a:prstGeom>
          <a:noFill/>
        </p:spPr>
        <p:txBody>
          <a:bodyPr wrap="square" rtlCol="0">
            <a:spAutoFit/>
          </a:bodyPr>
          <a:lstStyle/>
          <a:p>
            <a:r>
              <a:rPr kumimoji="1" lang="ja-JP" altLang="en-US" sz="1000" b="1" dirty="0">
                <a:latin typeface="Meiryo UI" pitchFamily="50" charset="-128"/>
                <a:ea typeface="Meiryo UI" pitchFamily="50" charset="-128"/>
                <a:cs typeface="Meiryo UI" pitchFamily="50" charset="-128"/>
              </a:rPr>
              <a:t>オペトレ</a:t>
            </a:r>
          </a:p>
        </p:txBody>
      </p:sp>
      <p:cxnSp>
        <p:nvCxnSpPr>
          <p:cNvPr id="203" name="直線コネクタ 202">
            <a:extLst>
              <a:ext uri="{FF2B5EF4-FFF2-40B4-BE49-F238E27FC236}">
                <a16:creationId xmlns:a16="http://schemas.microsoft.com/office/drawing/2014/main" id="{72FD5313-36E9-40F0-A3C3-B9F8B80A75ED}"/>
              </a:ext>
            </a:extLst>
          </p:cNvPr>
          <p:cNvCxnSpPr>
            <a:cxnSpLocks/>
            <a:stCxn id="179" idx="1"/>
            <a:endCxn id="134" idx="3"/>
          </p:cNvCxnSpPr>
          <p:nvPr/>
        </p:nvCxnSpPr>
        <p:spPr>
          <a:xfrm flipH="1" flipV="1">
            <a:off x="2178179" y="2837778"/>
            <a:ext cx="1873738" cy="27527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a:extLst>
              <a:ext uri="{FF2B5EF4-FFF2-40B4-BE49-F238E27FC236}">
                <a16:creationId xmlns:a16="http://schemas.microsoft.com/office/drawing/2014/main" id="{39A79A62-CDA4-42D5-A352-B90C333B2A7F}"/>
              </a:ext>
            </a:extLst>
          </p:cNvPr>
          <p:cNvCxnSpPr>
            <a:cxnSpLocks/>
            <a:stCxn id="179" idx="1"/>
            <a:endCxn id="139" idx="3"/>
          </p:cNvCxnSpPr>
          <p:nvPr/>
        </p:nvCxnSpPr>
        <p:spPr>
          <a:xfrm flipH="1">
            <a:off x="2173639" y="5590542"/>
            <a:ext cx="1878278" cy="732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A2666351-AC95-424E-AA2C-7E574BDD2693}"/>
              </a:ext>
            </a:extLst>
          </p:cNvPr>
          <p:cNvCxnSpPr>
            <a:cxnSpLocks/>
            <a:stCxn id="129" idx="1"/>
            <a:endCxn id="179" idx="3"/>
          </p:cNvCxnSpPr>
          <p:nvPr/>
        </p:nvCxnSpPr>
        <p:spPr>
          <a:xfrm flipH="1">
            <a:off x="5404467" y="2357480"/>
            <a:ext cx="1864134" cy="32330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6" name="吹き出し: 四角形 205">
            <a:extLst>
              <a:ext uri="{FF2B5EF4-FFF2-40B4-BE49-F238E27FC236}">
                <a16:creationId xmlns:a16="http://schemas.microsoft.com/office/drawing/2014/main" id="{D6245AD3-B741-4A65-9B40-E1F8CEE4FEC1}"/>
              </a:ext>
            </a:extLst>
          </p:cNvPr>
          <p:cNvSpPr/>
          <p:nvPr/>
        </p:nvSpPr>
        <p:spPr>
          <a:xfrm>
            <a:off x="3071674" y="6146869"/>
            <a:ext cx="3898687" cy="686827"/>
          </a:xfrm>
          <a:prstGeom prst="wedgeRectCallout">
            <a:avLst>
              <a:gd name="adj1" fmla="val -13590"/>
              <a:gd name="adj2" fmla="val -69483"/>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kumimoji="1" lang="ja-JP" altLang="en-US" sz="1100" dirty="0"/>
              <a:t>自分のアクセス権限より上位のアクセス権限が設定されたカスタマイズ定義が含まれるカスタマイズ用途定義は、</a:t>
            </a:r>
            <a:r>
              <a:rPr kumimoji="1" lang="en-US" altLang="ja-JP" sz="1100" dirty="0"/>
              <a:t>API</a:t>
            </a:r>
            <a:r>
              <a:rPr kumimoji="1" lang="ja-JP" altLang="en-US" sz="1100" dirty="0"/>
              <a:t>で取得できない</a:t>
            </a:r>
            <a:endParaRPr kumimoji="1" lang="en-US" altLang="ja-JP" sz="1100" dirty="0"/>
          </a:p>
          <a:p>
            <a:r>
              <a:rPr kumimoji="1" lang="ja-JP" altLang="en-US" sz="1100" dirty="0"/>
              <a:t>（</a:t>
            </a:r>
            <a:r>
              <a:rPr kumimoji="1" lang="en-US" altLang="ja-JP" sz="1100" dirty="0"/>
              <a:t>API</a:t>
            </a:r>
            <a:r>
              <a:rPr kumimoji="1" lang="ja-JP" altLang="en-US" sz="1100" dirty="0"/>
              <a:t>はそのカスタマイズ用途定義のデータをひとつも返却しない。）</a:t>
            </a:r>
            <a:endParaRPr kumimoji="1" lang="en-US" altLang="ja-JP" sz="1100" dirty="0"/>
          </a:p>
        </p:txBody>
      </p:sp>
      <p:cxnSp>
        <p:nvCxnSpPr>
          <p:cNvPr id="207" name="直線コネクタ 206">
            <a:extLst>
              <a:ext uri="{FF2B5EF4-FFF2-40B4-BE49-F238E27FC236}">
                <a16:creationId xmlns:a16="http://schemas.microsoft.com/office/drawing/2014/main" id="{315D53E4-499A-49D1-8452-5F329B9164E7}"/>
              </a:ext>
            </a:extLst>
          </p:cNvPr>
          <p:cNvCxnSpPr>
            <a:cxnSpLocks/>
            <a:stCxn id="168" idx="1"/>
            <a:endCxn id="179" idx="3"/>
          </p:cNvCxnSpPr>
          <p:nvPr/>
        </p:nvCxnSpPr>
        <p:spPr>
          <a:xfrm flipH="1" flipV="1">
            <a:off x="5404467" y="5590542"/>
            <a:ext cx="1791812" cy="34731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2" name="乗算記号 61">
            <a:extLst>
              <a:ext uri="{FF2B5EF4-FFF2-40B4-BE49-F238E27FC236}">
                <a16:creationId xmlns:a16="http://schemas.microsoft.com/office/drawing/2014/main" id="{A794C322-EC79-425A-9DB6-E0F3EDDC7603}"/>
              </a:ext>
            </a:extLst>
          </p:cNvPr>
          <p:cNvSpPr/>
          <p:nvPr/>
        </p:nvSpPr>
        <p:spPr>
          <a:xfrm>
            <a:off x="6008421" y="5516989"/>
            <a:ext cx="529690" cy="466423"/>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01206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634C17-2C85-4D0C-B837-EEBF5F2488E9}"/>
              </a:ext>
            </a:extLst>
          </p:cNvPr>
          <p:cNvSpPr>
            <a:spLocks noGrp="1"/>
          </p:cNvSpPr>
          <p:nvPr>
            <p:ph type="title"/>
          </p:nvPr>
        </p:nvSpPr>
        <p:spPr/>
        <p:txBody>
          <a:bodyPr/>
          <a:lstStyle/>
          <a:p>
            <a:r>
              <a:rPr kumimoji="1" lang="ja-JP" altLang="en-US" dirty="0"/>
              <a:t>参考）カスタマイズ定義のアクセスレベルについて</a:t>
            </a:r>
          </a:p>
        </p:txBody>
      </p:sp>
      <p:graphicFrame>
        <p:nvGraphicFramePr>
          <p:cNvPr id="9" name="表 8">
            <a:extLst>
              <a:ext uri="{FF2B5EF4-FFF2-40B4-BE49-F238E27FC236}">
                <a16:creationId xmlns:a16="http://schemas.microsoft.com/office/drawing/2014/main" id="{F876A5D6-9355-47DD-A52E-0FE22D576C97}"/>
              </a:ext>
            </a:extLst>
          </p:cNvPr>
          <p:cNvGraphicFramePr>
            <a:graphicFrameLocks noGrp="1"/>
          </p:cNvGraphicFramePr>
          <p:nvPr/>
        </p:nvGraphicFramePr>
        <p:xfrm>
          <a:off x="1" y="557286"/>
          <a:ext cx="9144000" cy="2571050"/>
        </p:xfrm>
        <a:graphic>
          <a:graphicData uri="http://schemas.openxmlformats.org/drawingml/2006/table">
            <a:tbl>
              <a:tblPr firstRow="1" bandRow="1">
                <a:tableStyleId>{5C22544A-7EE6-4342-B048-85BDC9FD1C3A}</a:tableStyleId>
              </a:tblPr>
              <a:tblGrid>
                <a:gridCol w="892493">
                  <a:extLst>
                    <a:ext uri="{9D8B030D-6E8A-4147-A177-3AD203B41FA5}">
                      <a16:colId xmlns:a16="http://schemas.microsoft.com/office/drawing/2014/main" val="2211214399"/>
                    </a:ext>
                  </a:extLst>
                </a:gridCol>
                <a:gridCol w="1330627">
                  <a:extLst>
                    <a:ext uri="{9D8B030D-6E8A-4147-A177-3AD203B41FA5}">
                      <a16:colId xmlns:a16="http://schemas.microsoft.com/office/drawing/2014/main" val="475535378"/>
                    </a:ext>
                  </a:extLst>
                </a:gridCol>
                <a:gridCol w="3214839">
                  <a:extLst>
                    <a:ext uri="{9D8B030D-6E8A-4147-A177-3AD203B41FA5}">
                      <a16:colId xmlns:a16="http://schemas.microsoft.com/office/drawing/2014/main" val="279865560"/>
                    </a:ext>
                  </a:extLst>
                </a:gridCol>
                <a:gridCol w="3706041">
                  <a:extLst>
                    <a:ext uri="{9D8B030D-6E8A-4147-A177-3AD203B41FA5}">
                      <a16:colId xmlns:a16="http://schemas.microsoft.com/office/drawing/2014/main" val="948842321"/>
                    </a:ext>
                  </a:extLst>
                </a:gridCol>
              </a:tblGrid>
              <a:tr h="250783">
                <a:tc>
                  <a:txBody>
                    <a:bodyPr/>
                    <a:lstStyle/>
                    <a:p>
                      <a:r>
                        <a:rPr kumimoji="1" lang="ja-JP" altLang="en-US" sz="1000">
                          <a:latin typeface="Meiryo UI" panose="020B0604030504040204" pitchFamily="50" charset="-128"/>
                          <a:ea typeface="Meiryo UI" panose="020B0604030504040204" pitchFamily="50" charset="-128"/>
                        </a:rPr>
                        <a:t>アクセス権限</a:t>
                      </a:r>
                      <a:r>
                        <a:rPr kumimoji="1" lang="en-US" altLang="ja-JP" sz="1000">
                          <a:latin typeface="Meiryo UI" panose="020B0604030504040204" pitchFamily="50" charset="-128"/>
                          <a:ea typeface="Meiryo UI" panose="020B0604030504040204" pitchFamily="50" charset="-128"/>
                        </a:rPr>
                        <a:t>ID</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40A9A"/>
                    </a:solidFill>
                  </a:tcPr>
                </a:tc>
                <a:tc>
                  <a:txBody>
                    <a:bodyPr/>
                    <a:lstStyle/>
                    <a:p>
                      <a:r>
                        <a:rPr kumimoji="1" lang="ja-JP" altLang="en-US" sz="1000" dirty="0">
                          <a:latin typeface="Meiryo UI" panose="020B0604030504040204" pitchFamily="50" charset="-128"/>
                          <a:ea typeface="Meiryo UI" panose="020B0604030504040204" pitchFamily="50" charset="-128"/>
                        </a:rPr>
                        <a:t>大区分</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40A9A"/>
                    </a:solidFill>
                  </a:tcPr>
                </a:tc>
                <a:tc>
                  <a:txBody>
                    <a:bodyPr/>
                    <a:lstStyle/>
                    <a:p>
                      <a:r>
                        <a:rPr kumimoji="1" lang="ja-JP" altLang="en-US" sz="1000" dirty="0">
                          <a:latin typeface="Meiryo UI" panose="020B0604030504040204" pitchFamily="50" charset="-128"/>
                          <a:ea typeface="Meiryo UI" panose="020B0604030504040204" pitchFamily="50" charset="-128"/>
                        </a:rPr>
                        <a:t>権限説明</a:t>
                      </a:r>
                      <a:endParaRPr kumimoji="1" lang="en-US" altLang="ja-JP"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40A9A"/>
                    </a:solidFill>
                  </a:tcPr>
                </a:tc>
                <a:tc>
                  <a:txBody>
                    <a:bodyPr/>
                    <a:lstStyle/>
                    <a:p>
                      <a:r>
                        <a:rPr kumimoji="1" lang="ja-JP" altLang="en-US" sz="1000" dirty="0">
                          <a:latin typeface="Meiryo UI" panose="020B0604030504040204" pitchFamily="50" charset="-128"/>
                          <a:ea typeface="Meiryo UI" panose="020B0604030504040204" pitchFamily="50" charset="-128"/>
                        </a:rPr>
                        <a:t>データ例</a:t>
                      </a:r>
                      <a:endParaRPr kumimoji="1" lang="en-US" altLang="ja-JP"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40A9A"/>
                    </a:solidFill>
                  </a:tcPr>
                </a:tc>
                <a:extLst>
                  <a:ext uri="{0D108BD9-81ED-4DB2-BD59-A6C34878D82A}">
                    <a16:rowId xmlns:a16="http://schemas.microsoft.com/office/drawing/2014/main" val="2564005108"/>
                  </a:ext>
                </a:extLst>
              </a:tr>
              <a:tr h="250783">
                <a:tc>
                  <a:txBody>
                    <a:bodyPr/>
                    <a:lstStyle/>
                    <a:p>
                      <a:r>
                        <a:rPr kumimoji="1" lang="en-US" altLang="ja-JP" sz="1000" dirty="0">
                          <a:latin typeface="Meiryo UI" panose="020B0604030504040204" pitchFamily="50" charset="-128"/>
                          <a:ea typeface="Meiryo UI" panose="020B0604030504040204" pitchFamily="50" charset="-128"/>
                        </a:rPr>
                        <a:t>1</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開発者</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eiryo UI" panose="020B0604030504040204" pitchFamily="50" charset="-128"/>
                          <a:ea typeface="Meiryo UI" panose="020B0604030504040204" pitchFamily="50" charset="-128"/>
                        </a:rPr>
                        <a:t>コマツ開発者に割り振られる権限。</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eiryo UI" panose="020B0604030504040204" pitchFamily="50" charset="-128"/>
                          <a:ea typeface="Meiryo UI" panose="020B0604030504040204" pitchFamily="50" charset="-128"/>
                        </a:rPr>
                        <a:t>車体開セから要望があるような、開発者側が確認したい設計調査用データ</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3249109"/>
                  </a:ext>
                </a:extLst>
              </a:tr>
              <a:tr h="250783">
                <a:tc>
                  <a:txBody>
                    <a:bodyPr/>
                    <a:lstStyle/>
                    <a:p>
                      <a:r>
                        <a:rPr kumimoji="1" lang="en-US" altLang="ja-JP" sz="1000" dirty="0">
                          <a:latin typeface="Meiryo UI" panose="020B0604030504040204" pitchFamily="50" charset="-128"/>
                          <a:ea typeface="Meiryo UI" panose="020B0604030504040204" pitchFamily="50" charset="-128"/>
                        </a:rPr>
                        <a:t>2</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000" dirty="0">
                          <a:latin typeface="Meiryo UI" panose="020B0604030504040204" pitchFamily="50" charset="-128"/>
                          <a:ea typeface="Meiryo UI" panose="020B0604030504040204" pitchFamily="50" charset="-128"/>
                        </a:rPr>
                        <a:t>KLTD</a:t>
                      </a:r>
                      <a:r>
                        <a:rPr kumimoji="1" lang="ja-JP" altLang="en-US" sz="1000" dirty="0">
                          <a:latin typeface="Meiryo UI" panose="020B0604030504040204" pitchFamily="50" charset="-128"/>
                          <a:ea typeface="Meiryo UI" panose="020B0604030504040204" pitchFamily="50" charset="-128"/>
                        </a:rPr>
                        <a:t>一般ユーザ</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eiryo UI" panose="020B0604030504040204" pitchFamily="50" charset="-128"/>
                          <a:ea typeface="Meiryo UI" panose="020B0604030504040204" pitchFamily="50" charset="-128"/>
                        </a:rPr>
                        <a:t>開発者以外のコマツ社員に割り振られる権限。</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5029872"/>
                  </a:ext>
                </a:extLst>
              </a:tr>
              <a:tr h="147575">
                <a:tc>
                  <a:txBody>
                    <a:bodyPr/>
                    <a:lstStyle/>
                    <a:p>
                      <a:r>
                        <a:rPr kumimoji="1" lang="en-US" altLang="ja-JP" sz="1000" dirty="0">
                          <a:latin typeface="Meiryo UI" panose="020B0604030504040204" pitchFamily="50" charset="-128"/>
                          <a:ea typeface="Meiryo UI" panose="020B0604030504040204" pitchFamily="50" charset="-128"/>
                        </a:rPr>
                        <a:t>3</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現法</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現法ユーザに割り振られる権限。</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3673713"/>
                  </a:ext>
                </a:extLst>
              </a:tr>
              <a:tr h="353991">
                <a:tc>
                  <a:txBody>
                    <a:bodyPr/>
                    <a:lstStyle/>
                    <a:p>
                      <a:r>
                        <a:rPr kumimoji="1" lang="en-US" altLang="ja-JP" sz="1000" dirty="0">
                          <a:latin typeface="Meiryo UI" panose="020B0604030504040204" pitchFamily="50" charset="-128"/>
                          <a:ea typeface="Meiryo UI" panose="020B0604030504040204" pitchFamily="50" charset="-128"/>
                        </a:rPr>
                        <a:t>4</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代理店（全データ）</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すべての代理店向けデータを閲覧できる権限。</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eiryo UI" panose="020B0604030504040204" pitchFamily="50" charset="-128"/>
                          <a:ea typeface="Meiryo UI" panose="020B0604030504040204" pitchFamily="50" charset="-128"/>
                        </a:rPr>
                        <a:t>代理店関係者に見せたいデータ。</a:t>
                      </a:r>
                      <a:r>
                        <a:rPr kumimoji="1" lang="en-US" altLang="ja-JP" sz="1000" dirty="0">
                          <a:latin typeface="Meiryo UI" panose="020B0604030504040204" pitchFamily="50" charset="-128"/>
                          <a:ea typeface="Meiryo UI" panose="020B0604030504040204" pitchFamily="50" charset="-128"/>
                        </a:rPr>
                        <a:t>D65</a:t>
                      </a:r>
                      <a:r>
                        <a:rPr kumimoji="1" lang="ja-JP" altLang="en-US" sz="1000" dirty="0">
                          <a:latin typeface="Meiryo UI" panose="020B0604030504040204" pitchFamily="50" charset="-128"/>
                          <a:ea typeface="Meiryo UI" panose="020B0604030504040204" pitchFamily="50" charset="-128"/>
                        </a:rPr>
                        <a:t>の</a:t>
                      </a:r>
                      <a:r>
                        <a:rPr kumimoji="1" lang="en-US" altLang="ja-JP" sz="1000" dirty="0">
                          <a:latin typeface="Meiryo UI" panose="020B0604030504040204" pitchFamily="50" charset="-128"/>
                          <a:ea typeface="Meiryo UI" panose="020B0604030504040204" pitchFamily="50" charset="-128"/>
                        </a:rPr>
                        <a:t>PoC</a:t>
                      </a:r>
                      <a:r>
                        <a:rPr kumimoji="1" lang="ja-JP" altLang="en-US" sz="1000" dirty="0">
                          <a:latin typeface="Meiryo UI" panose="020B0604030504040204" pitchFamily="50" charset="-128"/>
                          <a:ea typeface="Meiryo UI" panose="020B0604030504040204" pitchFamily="50" charset="-128"/>
                        </a:rPr>
                        <a:t>ではこのアクセス権限を用いる。</a:t>
                      </a:r>
                      <a:r>
                        <a:rPr kumimoji="1" lang="en-US" altLang="ja-JP" sz="1000" dirty="0">
                          <a:latin typeface="Meiryo UI" panose="020B0604030504040204" pitchFamily="50" charset="-128"/>
                          <a:ea typeface="Meiryo UI" panose="020B0604030504040204" pitchFamily="50" charset="-128"/>
                        </a:rPr>
                        <a:t>R1.2</a:t>
                      </a:r>
                      <a:r>
                        <a:rPr kumimoji="1" lang="ja-JP" altLang="en-US" sz="1000" dirty="0">
                          <a:latin typeface="Meiryo UI" panose="020B0604030504040204" pitchFamily="50" charset="-128"/>
                          <a:ea typeface="Meiryo UI" panose="020B0604030504040204" pitchFamily="50" charset="-128"/>
                        </a:rPr>
                        <a:t>まではこのアクセス権限を使う必要がある。アドブルーなどの全代理店には見せたくないデータも。</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9613871"/>
                  </a:ext>
                </a:extLst>
              </a:tr>
              <a:tr h="250783">
                <a:tc>
                  <a:txBody>
                    <a:bodyPr/>
                    <a:lstStyle/>
                    <a:p>
                      <a:r>
                        <a:rPr kumimoji="1" lang="en-US" altLang="ja-JP" sz="1000" dirty="0">
                          <a:latin typeface="Meiryo UI" panose="020B0604030504040204" pitchFamily="50" charset="-128"/>
                          <a:ea typeface="Meiryo UI" panose="020B0604030504040204" pitchFamily="50" charset="-128"/>
                        </a:rPr>
                        <a:t>5</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代理店</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eiryo UI" panose="020B0604030504040204" pitchFamily="50" charset="-128"/>
                          <a:ea typeface="Meiryo UI" panose="020B0604030504040204" pitchFamily="50" charset="-128"/>
                        </a:rPr>
                        <a:t>一部代理店向けデータを閲覧させない</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Meiryo UI" panose="020B0604030504040204" pitchFamily="50" charset="-128"/>
                          <a:ea typeface="Meiryo UI" panose="020B0604030504040204" pitchFamily="50" charset="-128"/>
                        </a:rPr>
                        <a:t>全代理店ユーザに見せてよいデータ。</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2894506"/>
                  </a:ext>
                </a:extLst>
              </a:tr>
              <a:tr h="147575">
                <a:tc>
                  <a:txBody>
                    <a:bodyPr/>
                    <a:lstStyle/>
                    <a:p>
                      <a:r>
                        <a:rPr kumimoji="1" lang="en-US" altLang="ja-JP" sz="1000" dirty="0">
                          <a:latin typeface="Meiryo UI" panose="020B0604030504040204" pitchFamily="50" charset="-128"/>
                          <a:ea typeface="Meiryo UI" panose="020B0604030504040204" pitchFamily="50" charset="-128"/>
                        </a:rPr>
                        <a:t>6</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000" dirty="0">
                          <a:latin typeface="Meiryo UI" panose="020B0604030504040204" pitchFamily="50" charset="-128"/>
                          <a:ea typeface="Meiryo UI" panose="020B0604030504040204" pitchFamily="50" charset="-128"/>
                        </a:rPr>
                        <a:t>顧客</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000" dirty="0">
                          <a:latin typeface="Meiryo UI" panose="020B0604030504040204" pitchFamily="50" charset="-128"/>
                          <a:ea typeface="Meiryo UI" panose="020B0604030504040204" pitchFamily="50" charset="-128"/>
                        </a:rPr>
                        <a:t>2021</a:t>
                      </a:r>
                      <a:r>
                        <a:rPr kumimoji="1" lang="ja-JP" altLang="en-US" sz="1000" dirty="0">
                          <a:latin typeface="Meiryo UI" panose="020B0604030504040204" pitchFamily="50" charset="-128"/>
                          <a:ea typeface="Meiryo UI" panose="020B0604030504040204" pitchFamily="50" charset="-128"/>
                        </a:rPr>
                        <a:t>年</a:t>
                      </a:r>
                      <a:r>
                        <a:rPr kumimoji="1" lang="en-US" altLang="ja-JP" sz="1000" dirty="0">
                          <a:latin typeface="Meiryo UI" panose="020B0604030504040204" pitchFamily="50" charset="-128"/>
                          <a:ea typeface="Meiryo UI" panose="020B0604030504040204" pitchFamily="50" charset="-128"/>
                        </a:rPr>
                        <a:t>8</a:t>
                      </a:r>
                      <a:r>
                        <a:rPr kumimoji="1" lang="ja-JP" altLang="en-US" sz="1000" dirty="0">
                          <a:latin typeface="Meiryo UI" panose="020B0604030504040204" pitchFamily="50" charset="-128"/>
                          <a:ea typeface="Meiryo UI" panose="020B0604030504040204" pitchFamily="50" charset="-128"/>
                        </a:rPr>
                        <a:t>月時点では、この権限を使う構想はない</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000" dirty="0">
                          <a:latin typeface="Meiryo UI" panose="020B0604030504040204" pitchFamily="50" charset="-128"/>
                          <a:ea typeface="Meiryo UI" panose="020B0604030504040204" pitchFamily="50" charset="-128"/>
                        </a:rPr>
                        <a:t>2021</a:t>
                      </a:r>
                      <a:r>
                        <a:rPr kumimoji="1" lang="ja-JP" altLang="en-US" sz="1000" dirty="0">
                          <a:latin typeface="Meiryo UI" panose="020B0604030504040204" pitchFamily="50" charset="-128"/>
                          <a:ea typeface="Meiryo UI" panose="020B0604030504040204" pitchFamily="50" charset="-128"/>
                        </a:rPr>
                        <a:t>年</a:t>
                      </a:r>
                      <a:r>
                        <a:rPr kumimoji="1" lang="en-US" altLang="ja-JP" sz="1000" dirty="0">
                          <a:latin typeface="Meiryo UI" panose="020B0604030504040204" pitchFamily="50" charset="-128"/>
                          <a:ea typeface="Meiryo UI" panose="020B0604030504040204" pitchFamily="50" charset="-128"/>
                        </a:rPr>
                        <a:t>8</a:t>
                      </a:r>
                      <a:r>
                        <a:rPr kumimoji="1" lang="ja-JP" altLang="en-US" sz="1000" dirty="0">
                          <a:latin typeface="Meiryo UI" panose="020B0604030504040204" pitchFamily="50" charset="-128"/>
                          <a:ea typeface="Meiryo UI" panose="020B0604030504040204" pitchFamily="50" charset="-128"/>
                        </a:rPr>
                        <a:t>月時点では、この権限を使う構想はない</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685265"/>
                  </a:ext>
                </a:extLst>
              </a:tr>
              <a:tr h="353991">
                <a:tc>
                  <a:txBody>
                    <a:bodyPr/>
                    <a:lstStyle/>
                    <a:p>
                      <a:r>
                        <a:rPr kumimoji="1" lang="en-US" altLang="ja-JP" sz="1000" dirty="0">
                          <a:latin typeface="Meiryo UI" panose="020B0604030504040204" pitchFamily="50" charset="-128"/>
                          <a:ea typeface="Meiryo UI" panose="020B0604030504040204" pitchFamily="50" charset="-128"/>
                        </a:rPr>
                        <a:t>7</a:t>
                      </a:r>
                      <a:endParaRPr kumimoji="1" lang="ja-JP" altLang="en-US" sz="1000" dirty="0">
                        <a:latin typeface="Meiryo UI" panose="020B0604030504040204" pitchFamily="50" charset="-128"/>
                        <a:ea typeface="Meiryo UI" panose="020B0604030504040204" pitchFamily="50" charset="-128"/>
                      </a:endParaRP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000" dirty="0">
                          <a:latin typeface="Meiryo UI" panose="020B0604030504040204" pitchFamily="50" charset="-128"/>
                          <a:ea typeface="Meiryo UI" panose="020B0604030504040204" pitchFamily="50" charset="-128"/>
                        </a:rPr>
                        <a:t>ISO</a:t>
                      </a:r>
                      <a:r>
                        <a:rPr kumimoji="1" lang="ja-JP" altLang="en-US" sz="1000" dirty="0">
                          <a:latin typeface="Meiryo UI" panose="020B0604030504040204" pitchFamily="50" charset="-128"/>
                          <a:ea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rPr>
                        <a:t>API</a:t>
                      </a:r>
                      <a:r>
                        <a:rPr kumimoji="1" lang="ja-JP" altLang="en-US" sz="1000" dirty="0">
                          <a:latin typeface="Meiryo UI" panose="020B0604030504040204" pitchFamily="50" charset="-128"/>
                          <a:ea typeface="Meiryo UI" panose="020B0604030504040204" pitchFamily="50" charset="-128"/>
                        </a:rPr>
                        <a:t>相当</a:t>
                      </a:r>
                      <a:endParaRPr kumimoji="1" lang="en-US" altLang="ja-JP" sz="1000" dirty="0">
                        <a:latin typeface="Meiryo UI" panose="020B0604030504040204" pitchFamily="50" charset="-128"/>
                        <a:ea typeface="Meiryo UI" panose="020B0604030504040204" pitchFamily="50" charset="-128"/>
                      </a:endParaRPr>
                    </a:p>
                    <a:p>
                      <a:r>
                        <a:rPr kumimoji="1" lang="ja-JP" altLang="en-US" sz="1000" dirty="0">
                          <a:latin typeface="Meiryo UI" panose="020B0604030504040204" pitchFamily="50" charset="-128"/>
                          <a:ea typeface="Meiryo UI" panose="020B0604030504040204" pitchFamily="50" charset="-128"/>
                        </a:rPr>
                        <a:t>（顧客、ソフトベンダ）</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000" dirty="0">
                          <a:latin typeface="Meiryo UI" panose="020B0604030504040204" pitchFamily="50" charset="-128"/>
                          <a:ea typeface="Meiryo UI" panose="020B0604030504040204" pitchFamily="50" charset="-128"/>
                        </a:rPr>
                        <a:t>2021</a:t>
                      </a:r>
                      <a:r>
                        <a:rPr kumimoji="1" lang="ja-JP" altLang="en-US" sz="1000" dirty="0">
                          <a:latin typeface="Meiryo UI" panose="020B0604030504040204" pitchFamily="50" charset="-128"/>
                          <a:ea typeface="Meiryo UI" panose="020B0604030504040204" pitchFamily="50" charset="-128"/>
                        </a:rPr>
                        <a:t>年</a:t>
                      </a:r>
                      <a:r>
                        <a:rPr kumimoji="1" lang="en-US" altLang="ja-JP" sz="1000" dirty="0">
                          <a:latin typeface="Meiryo UI" panose="020B0604030504040204" pitchFamily="50" charset="-128"/>
                          <a:ea typeface="Meiryo UI" panose="020B0604030504040204" pitchFamily="50" charset="-128"/>
                        </a:rPr>
                        <a:t>8</a:t>
                      </a:r>
                      <a:r>
                        <a:rPr kumimoji="1" lang="ja-JP" altLang="en-US" sz="1000" dirty="0">
                          <a:latin typeface="Meiryo UI" panose="020B0604030504040204" pitchFamily="50" charset="-128"/>
                          <a:ea typeface="Meiryo UI" panose="020B0604030504040204" pitchFamily="50" charset="-128"/>
                        </a:rPr>
                        <a:t>月時点では、この権限を使う構想はない</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000" dirty="0">
                          <a:latin typeface="Meiryo UI" panose="020B0604030504040204" pitchFamily="50" charset="-128"/>
                          <a:ea typeface="Meiryo UI" panose="020B0604030504040204" pitchFamily="50" charset="-128"/>
                        </a:rPr>
                        <a:t>2021</a:t>
                      </a:r>
                      <a:r>
                        <a:rPr kumimoji="1" lang="ja-JP" altLang="en-US" sz="1000" dirty="0">
                          <a:latin typeface="Meiryo UI" panose="020B0604030504040204" pitchFamily="50" charset="-128"/>
                          <a:ea typeface="Meiryo UI" panose="020B0604030504040204" pitchFamily="50" charset="-128"/>
                        </a:rPr>
                        <a:t>年</a:t>
                      </a:r>
                      <a:r>
                        <a:rPr kumimoji="1" lang="en-US" altLang="ja-JP" sz="1000" dirty="0">
                          <a:latin typeface="Meiryo UI" panose="020B0604030504040204" pitchFamily="50" charset="-128"/>
                          <a:ea typeface="Meiryo UI" panose="020B0604030504040204" pitchFamily="50" charset="-128"/>
                        </a:rPr>
                        <a:t>8</a:t>
                      </a:r>
                      <a:r>
                        <a:rPr kumimoji="1" lang="ja-JP" altLang="en-US" sz="1000" dirty="0">
                          <a:latin typeface="Meiryo UI" panose="020B0604030504040204" pitchFamily="50" charset="-128"/>
                          <a:ea typeface="Meiryo UI" panose="020B0604030504040204" pitchFamily="50" charset="-128"/>
                        </a:rPr>
                        <a:t>月時点では、この権限を使う構想はない</a:t>
                      </a:r>
                    </a:p>
                  </a:txBody>
                  <a:tcPr marL="65515" marR="65515" marT="32757" marB="327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2679375"/>
                  </a:ext>
                </a:extLst>
              </a:tr>
            </a:tbl>
          </a:graphicData>
        </a:graphic>
      </p:graphicFrame>
      <p:graphicFrame>
        <p:nvGraphicFramePr>
          <p:cNvPr id="11" name="コンテンツ プレースホルダー 10">
            <a:extLst>
              <a:ext uri="{FF2B5EF4-FFF2-40B4-BE49-F238E27FC236}">
                <a16:creationId xmlns:a16="http://schemas.microsoft.com/office/drawing/2014/main" id="{443CB1C8-CED3-41F1-AF70-29BE1E7DDBC1}"/>
              </a:ext>
            </a:extLst>
          </p:cNvPr>
          <p:cNvGraphicFramePr>
            <a:graphicFrameLocks noGrp="1"/>
          </p:cNvGraphicFramePr>
          <p:nvPr>
            <p:ph idx="1"/>
          </p:nvPr>
        </p:nvGraphicFramePr>
        <p:xfrm>
          <a:off x="1652449" y="3167027"/>
          <a:ext cx="7091192" cy="3600099"/>
        </p:xfrm>
        <a:graphic>
          <a:graphicData uri="http://schemas.openxmlformats.org/drawingml/2006/table">
            <a:tbl>
              <a:tblPr/>
              <a:tblGrid>
                <a:gridCol w="899062">
                  <a:extLst>
                    <a:ext uri="{9D8B030D-6E8A-4147-A177-3AD203B41FA5}">
                      <a16:colId xmlns:a16="http://schemas.microsoft.com/office/drawing/2014/main" val="1321575866"/>
                    </a:ext>
                  </a:extLst>
                </a:gridCol>
                <a:gridCol w="899062">
                  <a:extLst>
                    <a:ext uri="{9D8B030D-6E8A-4147-A177-3AD203B41FA5}">
                      <a16:colId xmlns:a16="http://schemas.microsoft.com/office/drawing/2014/main" val="1008704112"/>
                    </a:ext>
                  </a:extLst>
                </a:gridCol>
                <a:gridCol w="709119">
                  <a:extLst>
                    <a:ext uri="{9D8B030D-6E8A-4147-A177-3AD203B41FA5}">
                      <a16:colId xmlns:a16="http://schemas.microsoft.com/office/drawing/2014/main" val="2793488983"/>
                    </a:ext>
                  </a:extLst>
                </a:gridCol>
                <a:gridCol w="709119">
                  <a:extLst>
                    <a:ext uri="{9D8B030D-6E8A-4147-A177-3AD203B41FA5}">
                      <a16:colId xmlns:a16="http://schemas.microsoft.com/office/drawing/2014/main" val="123897835"/>
                    </a:ext>
                  </a:extLst>
                </a:gridCol>
                <a:gridCol w="835748">
                  <a:extLst>
                    <a:ext uri="{9D8B030D-6E8A-4147-A177-3AD203B41FA5}">
                      <a16:colId xmlns:a16="http://schemas.microsoft.com/office/drawing/2014/main" val="2016594835"/>
                    </a:ext>
                  </a:extLst>
                </a:gridCol>
                <a:gridCol w="899062">
                  <a:extLst>
                    <a:ext uri="{9D8B030D-6E8A-4147-A177-3AD203B41FA5}">
                      <a16:colId xmlns:a16="http://schemas.microsoft.com/office/drawing/2014/main" val="1930841548"/>
                    </a:ext>
                  </a:extLst>
                </a:gridCol>
                <a:gridCol w="899062">
                  <a:extLst>
                    <a:ext uri="{9D8B030D-6E8A-4147-A177-3AD203B41FA5}">
                      <a16:colId xmlns:a16="http://schemas.microsoft.com/office/drawing/2014/main" val="3074685480"/>
                    </a:ext>
                  </a:extLst>
                </a:gridCol>
                <a:gridCol w="620479">
                  <a:extLst>
                    <a:ext uri="{9D8B030D-6E8A-4147-A177-3AD203B41FA5}">
                      <a16:colId xmlns:a16="http://schemas.microsoft.com/office/drawing/2014/main" val="851966432"/>
                    </a:ext>
                  </a:extLst>
                </a:gridCol>
                <a:gridCol w="620479">
                  <a:extLst>
                    <a:ext uri="{9D8B030D-6E8A-4147-A177-3AD203B41FA5}">
                      <a16:colId xmlns:a16="http://schemas.microsoft.com/office/drawing/2014/main" val="948702924"/>
                    </a:ext>
                  </a:extLst>
                </a:gridCol>
              </a:tblGrid>
              <a:tr h="236227">
                <a:tc>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a:noFill/>
                    </a:lnL>
                    <a:lnR>
                      <a:noFill/>
                    </a:lnR>
                    <a:lnT>
                      <a:noFill/>
                    </a:lnT>
                    <a:lnB>
                      <a:noFill/>
                    </a:lnB>
                  </a:tcPr>
                </a:tc>
                <a:tc>
                  <a:txBody>
                    <a:bodyPr/>
                    <a:lstStyle/>
                    <a:p>
                      <a:pPr algn="l" fontAlgn="ct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gridSpan="4">
                  <a:txBody>
                    <a:bodyPr/>
                    <a:lstStyle/>
                    <a:p>
                      <a:pPr algn="l" fontAlgn="ctr"/>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カスタマイズ定義のアクセスレベル</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9365271"/>
                  </a:ext>
                </a:extLst>
              </a:tr>
              <a:tr h="604741">
                <a:tc>
                  <a:txBody>
                    <a:bodyPr/>
                    <a:lstStyle/>
                    <a:p>
                      <a:pPr algn="l"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開発者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dirty="0">
                          <a:solidFill>
                            <a:srgbClr val="000000"/>
                          </a:solidFill>
                          <a:effectLst/>
                          <a:latin typeface="Meiryo UI" panose="020B0604030504040204" pitchFamily="50" charset="-128"/>
                          <a:ea typeface="Meiryo UI" panose="020B0604030504040204" pitchFamily="50" charset="-128"/>
                        </a:rPr>
                        <a:t>KLTD</a:t>
                      </a: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一般</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現法</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代理店</a:t>
                      </a:r>
                      <a:br>
                        <a:rPr lang="ja-JP" altLang="en-US" sz="105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（全データ）</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代理店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顧客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50" b="0" i="0" u="none" strike="noStrike">
                          <a:solidFill>
                            <a:srgbClr val="000000"/>
                          </a:solidFill>
                          <a:effectLst/>
                          <a:latin typeface="Meiryo UI" panose="020B0604030504040204" pitchFamily="50" charset="-128"/>
                          <a:ea typeface="Meiryo UI" panose="020B0604030504040204" pitchFamily="50" charset="-128"/>
                        </a:rPr>
                        <a:t>ISO API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2308983"/>
                  </a:ext>
                </a:extLst>
              </a:tr>
              <a:tr h="236227">
                <a:tc rowSpan="5">
                  <a:txBody>
                    <a:bodyPr/>
                    <a:lstStyle/>
                    <a:p>
                      <a:pPr algn="ctr" fontAlgn="t"/>
                      <a:r>
                        <a:rPr lang="ja-JP" altLang="en-US" sz="800" b="0" i="0" u="none" strike="noStrike">
                          <a:solidFill>
                            <a:srgbClr val="000000"/>
                          </a:solidFill>
                          <a:effectLst/>
                          <a:latin typeface="Meiryo UI" panose="020B0604030504040204" pitchFamily="50" charset="-128"/>
                          <a:ea typeface="Meiryo UI" panose="020B0604030504040204" pitchFamily="50" charset="-128"/>
                        </a:rPr>
                        <a:t>ユーザのアクセス権限</a:t>
                      </a:r>
                    </a:p>
                  </a:txBody>
                  <a:tcPr marL="7620" marR="7620" marT="7620" marB="0" vert="eaVert">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開発者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9634172"/>
                  </a:ext>
                </a:extLst>
              </a:tr>
              <a:tr h="359065">
                <a:tc vMerge="1">
                  <a:txBody>
                    <a:bodyPr/>
                    <a:lstStyle/>
                    <a:p>
                      <a:endParaRPr kumimoji="1" lang="ja-JP" altLang="en-US"/>
                    </a:p>
                  </a:txBody>
                  <a:tcPr/>
                </a:tc>
                <a:tc>
                  <a:txBody>
                    <a:bodyPr/>
                    <a:lstStyle/>
                    <a:p>
                      <a:pPr algn="ctr" rtl="0" fontAlgn="ctr"/>
                      <a:r>
                        <a:rPr lang="en-US" sz="1050" b="0" i="0" u="none" strike="noStrike">
                          <a:solidFill>
                            <a:srgbClr val="000000"/>
                          </a:solidFill>
                          <a:effectLst/>
                          <a:latin typeface="Meiryo UI" panose="020B0604030504040204" pitchFamily="50" charset="-128"/>
                          <a:ea typeface="Meiryo UI" panose="020B0604030504040204" pitchFamily="50" charset="-128"/>
                        </a:rPr>
                        <a:t>KLTD</a:t>
                      </a:r>
                      <a:r>
                        <a:rPr lang="ja-JP" altLang="en-US" sz="1050" b="0" i="0" u="none" strike="noStrike">
                          <a:solidFill>
                            <a:srgbClr val="000000"/>
                          </a:solidFill>
                          <a:effectLst/>
                          <a:latin typeface="Meiryo UI" panose="020B0604030504040204" pitchFamily="50" charset="-128"/>
                          <a:ea typeface="Meiryo UI" panose="020B0604030504040204" pitchFamily="50" charset="-128"/>
                        </a:rPr>
                        <a:t>一般</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2156067"/>
                  </a:ext>
                </a:extLst>
              </a:tr>
              <a:tr h="359065">
                <a:tc vMerge="1">
                  <a:txBody>
                    <a:bodyPr/>
                    <a:lstStyle/>
                    <a:p>
                      <a:endParaRPr kumimoji="1" lang="ja-JP" altLang="en-US"/>
                    </a:p>
                  </a:txBody>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現法</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1400584"/>
                  </a:ext>
                </a:extLst>
              </a:tr>
              <a:tr h="604741">
                <a:tc vMerge="1">
                  <a:txBody>
                    <a:bodyPr/>
                    <a:lstStyle/>
                    <a:p>
                      <a:endParaRPr kumimoji="1" lang="ja-JP" altLang="en-US"/>
                    </a:p>
                  </a:txBody>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代理店</a:t>
                      </a:r>
                      <a:br>
                        <a:rPr lang="ja-JP" altLang="en-US" sz="105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（全データ）</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dirty="0">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dirty="0">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5371476"/>
                  </a:ext>
                </a:extLst>
              </a:tr>
              <a:tr h="604741">
                <a:tc vMerge="1">
                  <a:txBody>
                    <a:bodyPr/>
                    <a:lstStyle/>
                    <a:p>
                      <a:endParaRPr kumimoji="1" lang="ja-JP" altLang="en-US"/>
                    </a:p>
                  </a:txBody>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代理店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dirty="0">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6958755"/>
                  </a:ext>
                </a:extLst>
              </a:tr>
              <a:tr h="359065">
                <a:tc>
                  <a:txBody>
                    <a:bodyPr/>
                    <a:lstStyle/>
                    <a:p>
                      <a:pPr algn="l" fontAlgn="t"/>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vert="eaVert">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顧客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800" b="0" i="0" u="none" strike="noStrike">
                          <a:solidFill>
                            <a:srgbClr val="000000"/>
                          </a:solidFill>
                          <a:effectLst/>
                          <a:latin typeface="Arial" panose="020B0604020202020204" pitchFamily="34" charset="0"/>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1078748"/>
                  </a:ext>
                </a:extLst>
              </a:tr>
              <a:tr h="236227">
                <a:tc>
                  <a:txBody>
                    <a:bodyPr/>
                    <a:lstStyle/>
                    <a:p>
                      <a:pPr algn="l" fontAlgn="t"/>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vert="eaVert">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n-US" sz="1050" b="0" i="0" u="none" strike="noStrike">
                          <a:solidFill>
                            <a:srgbClr val="000000"/>
                          </a:solidFill>
                          <a:effectLst/>
                          <a:latin typeface="Meiryo UI" panose="020B0604030504040204" pitchFamily="50" charset="-128"/>
                          <a:ea typeface="Meiryo UI" panose="020B0604030504040204" pitchFamily="50" charset="-128"/>
                        </a:rPr>
                        <a:t>ISO API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0884966"/>
                  </a:ext>
                </a:extLst>
              </a:tr>
            </a:tbl>
          </a:graphicData>
        </a:graphic>
      </p:graphicFrame>
      <p:sp>
        <p:nvSpPr>
          <p:cNvPr id="8" name="正方形/長方形 7">
            <a:extLst>
              <a:ext uri="{FF2B5EF4-FFF2-40B4-BE49-F238E27FC236}">
                <a16:creationId xmlns:a16="http://schemas.microsoft.com/office/drawing/2014/main" id="{E82C2C1E-3E3B-43D9-9796-19A77A15014C}"/>
              </a:ext>
            </a:extLst>
          </p:cNvPr>
          <p:cNvSpPr/>
          <p:nvPr/>
        </p:nvSpPr>
        <p:spPr>
          <a:xfrm>
            <a:off x="7332955" y="26819"/>
            <a:ext cx="1722268" cy="46539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ja-JP" altLang="en-US" b="1" dirty="0"/>
              <a:t>暫定案</a:t>
            </a:r>
          </a:p>
        </p:txBody>
      </p:sp>
    </p:spTree>
    <p:extLst>
      <p:ext uri="{BB962C8B-B14F-4D97-AF65-F5344CB8AC3E}">
        <p14:creationId xmlns:p14="http://schemas.microsoft.com/office/powerpoint/2010/main" val="2096763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BFEACF-616B-4107-9E0B-FC1ED3FCE7E2}"/>
              </a:ext>
            </a:extLst>
          </p:cNvPr>
          <p:cNvSpPr>
            <a:spLocks noGrp="1"/>
          </p:cNvSpPr>
          <p:nvPr>
            <p:ph type="title"/>
          </p:nvPr>
        </p:nvSpPr>
        <p:spPr/>
        <p:txBody>
          <a:bodyPr/>
          <a:lstStyle/>
          <a:p>
            <a:r>
              <a:rPr kumimoji="1" lang="ja-JP" altLang="en-US" dirty="0"/>
              <a:t>システム全体図</a:t>
            </a:r>
          </a:p>
        </p:txBody>
      </p:sp>
      <p:pic>
        <p:nvPicPr>
          <p:cNvPr id="7" name="図 6">
            <a:extLst>
              <a:ext uri="{FF2B5EF4-FFF2-40B4-BE49-F238E27FC236}">
                <a16:creationId xmlns:a16="http://schemas.microsoft.com/office/drawing/2014/main" id="{86BE3870-77EE-4E88-A8FF-6D18DB25365D}"/>
              </a:ext>
            </a:extLst>
          </p:cNvPr>
          <p:cNvPicPr>
            <a:picLocks noChangeAspect="1"/>
          </p:cNvPicPr>
          <p:nvPr/>
        </p:nvPicPr>
        <p:blipFill>
          <a:blip r:embed="rId2"/>
          <a:stretch>
            <a:fillRect/>
          </a:stretch>
        </p:blipFill>
        <p:spPr>
          <a:xfrm>
            <a:off x="0" y="554886"/>
            <a:ext cx="9144000" cy="5748227"/>
          </a:xfrm>
          <a:prstGeom prst="rect">
            <a:avLst/>
          </a:prstGeom>
        </p:spPr>
      </p:pic>
      <p:sp>
        <p:nvSpPr>
          <p:cNvPr id="8" name="フリーフォーム: 図形 7">
            <a:extLst>
              <a:ext uri="{FF2B5EF4-FFF2-40B4-BE49-F238E27FC236}">
                <a16:creationId xmlns:a16="http://schemas.microsoft.com/office/drawing/2014/main" id="{A8211A4E-24FF-4F1F-8CD7-2325D6231C1F}"/>
              </a:ext>
            </a:extLst>
          </p:cNvPr>
          <p:cNvSpPr/>
          <p:nvPr/>
        </p:nvSpPr>
        <p:spPr>
          <a:xfrm>
            <a:off x="4367814" y="506027"/>
            <a:ext cx="3204838" cy="4048218"/>
          </a:xfrm>
          <a:custGeom>
            <a:avLst/>
            <a:gdLst>
              <a:gd name="connsiteX0" fmla="*/ 0 w 3160450"/>
              <a:gd name="connsiteY0" fmla="*/ 53266 h 4048218"/>
              <a:gd name="connsiteX1" fmla="*/ 0 w 3160450"/>
              <a:gd name="connsiteY1" fmla="*/ 4048218 h 4048218"/>
              <a:gd name="connsiteX2" fmla="*/ 3160450 w 3160450"/>
              <a:gd name="connsiteY2" fmla="*/ 4048218 h 4048218"/>
              <a:gd name="connsiteX3" fmla="*/ 3160450 w 3160450"/>
              <a:gd name="connsiteY3" fmla="*/ 1518082 h 4048218"/>
              <a:gd name="connsiteX4" fmla="*/ 861134 w 3160450"/>
              <a:gd name="connsiteY4" fmla="*/ 1518082 h 4048218"/>
              <a:gd name="connsiteX5" fmla="*/ 861134 w 3160450"/>
              <a:gd name="connsiteY5" fmla="*/ 0 h 4048218"/>
              <a:gd name="connsiteX6" fmla="*/ 0 w 3160450"/>
              <a:gd name="connsiteY6" fmla="*/ 53266 h 4048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0450" h="4048218">
                <a:moveTo>
                  <a:pt x="0" y="53266"/>
                </a:moveTo>
                <a:lnTo>
                  <a:pt x="0" y="4048218"/>
                </a:lnTo>
                <a:lnTo>
                  <a:pt x="3160450" y="4048218"/>
                </a:lnTo>
                <a:lnTo>
                  <a:pt x="3160450" y="1518082"/>
                </a:lnTo>
                <a:lnTo>
                  <a:pt x="861134" y="1518082"/>
                </a:lnTo>
                <a:lnTo>
                  <a:pt x="861134" y="0"/>
                </a:lnTo>
                <a:lnTo>
                  <a:pt x="0" y="53266"/>
                </a:lnTo>
                <a:close/>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7B358C77-F727-4D32-96C2-248D198B6ABA}"/>
              </a:ext>
            </a:extLst>
          </p:cNvPr>
          <p:cNvGrpSpPr/>
          <p:nvPr/>
        </p:nvGrpSpPr>
        <p:grpSpPr>
          <a:xfrm>
            <a:off x="8409620" y="521272"/>
            <a:ext cx="929689" cy="750090"/>
            <a:chOff x="39303" y="1506069"/>
            <a:chExt cx="921445" cy="621602"/>
          </a:xfrm>
        </p:grpSpPr>
        <p:pic>
          <p:nvPicPr>
            <p:cNvPr id="10" name="図 9">
              <a:extLst>
                <a:ext uri="{FF2B5EF4-FFF2-40B4-BE49-F238E27FC236}">
                  <a16:creationId xmlns:a16="http://schemas.microsoft.com/office/drawing/2014/main" id="{E191049B-6333-4CD3-8822-4D657ADBDA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94" y="1506069"/>
              <a:ext cx="483609" cy="470804"/>
            </a:xfrm>
            <a:prstGeom prst="rect">
              <a:avLst/>
            </a:prstGeom>
          </p:spPr>
        </p:pic>
        <p:sp>
          <p:nvSpPr>
            <p:cNvPr id="11" name="正方形/長方形 10">
              <a:extLst>
                <a:ext uri="{FF2B5EF4-FFF2-40B4-BE49-F238E27FC236}">
                  <a16:creationId xmlns:a16="http://schemas.microsoft.com/office/drawing/2014/main" id="{1288E58C-34EE-422C-97F0-0D2616968906}"/>
                </a:ext>
              </a:extLst>
            </p:cNvPr>
            <p:cNvSpPr/>
            <p:nvPr/>
          </p:nvSpPr>
          <p:spPr>
            <a:xfrm>
              <a:off x="39303" y="1868334"/>
              <a:ext cx="921445" cy="2593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0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12" name="テキスト ボックス 11">
            <a:extLst>
              <a:ext uri="{FF2B5EF4-FFF2-40B4-BE49-F238E27FC236}">
                <a16:creationId xmlns:a16="http://schemas.microsoft.com/office/drawing/2014/main" id="{9492C782-6CCC-4F7A-9BBC-4E58F4FB54FB}"/>
              </a:ext>
            </a:extLst>
          </p:cNvPr>
          <p:cNvSpPr txBox="1"/>
          <p:nvPr/>
        </p:nvSpPr>
        <p:spPr>
          <a:xfrm>
            <a:off x="8199277" y="595602"/>
            <a:ext cx="485488"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l" defTabSz="90000"/>
            <a:r>
              <a:rPr kumimoji="1" lang="en-US" altLang="ja-JP" sz="800" dirty="0">
                <a:latin typeface="+mn-lt"/>
              </a:rPr>
              <a:t>R1+α</a:t>
            </a:r>
            <a:br>
              <a:rPr kumimoji="1" lang="en-US" altLang="ja-JP" sz="800" dirty="0">
                <a:latin typeface="+mn-lt"/>
              </a:rPr>
            </a:br>
            <a:r>
              <a:rPr kumimoji="1" lang="ja-JP" altLang="en-US" sz="800" dirty="0">
                <a:latin typeface="+mn-lt"/>
              </a:rPr>
              <a:t>新規開発アプリ</a:t>
            </a:r>
          </a:p>
        </p:txBody>
      </p:sp>
      <p:cxnSp>
        <p:nvCxnSpPr>
          <p:cNvPr id="14" name="直線矢印コネクタ 13">
            <a:extLst>
              <a:ext uri="{FF2B5EF4-FFF2-40B4-BE49-F238E27FC236}">
                <a16:creationId xmlns:a16="http://schemas.microsoft.com/office/drawing/2014/main" id="{1D4438F8-A02F-43A5-9037-05880B5819EE}"/>
              </a:ext>
            </a:extLst>
          </p:cNvPr>
          <p:cNvCxnSpPr>
            <a:cxnSpLocks/>
            <a:stCxn id="12" idx="2"/>
          </p:cNvCxnSpPr>
          <p:nvPr/>
        </p:nvCxnSpPr>
        <p:spPr>
          <a:xfrm flipH="1">
            <a:off x="7259051" y="1180377"/>
            <a:ext cx="1182970" cy="18646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272F77AC-8FE1-4289-9C3E-1A824E8F4922}"/>
              </a:ext>
            </a:extLst>
          </p:cNvPr>
          <p:cNvSpPr txBox="1"/>
          <p:nvPr/>
        </p:nvSpPr>
        <p:spPr>
          <a:xfrm>
            <a:off x="5252562" y="132235"/>
            <a:ext cx="1276643" cy="5770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l" defTabSz="90000"/>
            <a:r>
              <a:rPr kumimoji="1" lang="en-US" altLang="ja-JP" sz="1050" dirty="0">
                <a:latin typeface="+mn-lt"/>
              </a:rPr>
              <a:t>R1+α</a:t>
            </a:r>
            <a:br>
              <a:rPr kumimoji="1" lang="en-US" altLang="ja-JP" sz="1050" dirty="0">
                <a:latin typeface="+mn-lt"/>
              </a:rPr>
            </a:br>
            <a:r>
              <a:rPr kumimoji="1" lang="ja-JP" altLang="en-US" sz="1050" dirty="0">
                <a:latin typeface="+mn-lt"/>
              </a:rPr>
              <a:t>ビジネスモデル対応開発範囲</a:t>
            </a:r>
          </a:p>
        </p:txBody>
      </p:sp>
    </p:spTree>
    <p:extLst>
      <p:ext uri="{BB962C8B-B14F-4D97-AF65-F5344CB8AC3E}">
        <p14:creationId xmlns:p14="http://schemas.microsoft.com/office/powerpoint/2010/main" val="3861588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76669B2B-EDD6-49D7-B386-B97F2FD22B8A}"/>
              </a:ext>
            </a:extLst>
          </p:cNvPr>
          <p:cNvSpPr/>
          <p:nvPr/>
        </p:nvSpPr>
        <p:spPr>
          <a:xfrm>
            <a:off x="3075137" y="5013176"/>
            <a:ext cx="5911539" cy="1844824"/>
          </a:xfrm>
          <a:prstGeom prst="rect">
            <a:avLst/>
          </a:prstGeom>
          <a:ln w="28575">
            <a:solidFill>
              <a:srgbClr val="3333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8C804C1-0137-4EE6-B0D8-15F8593BAD15}"/>
              </a:ext>
            </a:extLst>
          </p:cNvPr>
          <p:cNvSpPr>
            <a:spLocks noGrp="1"/>
          </p:cNvSpPr>
          <p:nvPr>
            <p:ph type="title"/>
          </p:nvPr>
        </p:nvSpPr>
        <p:spPr>
          <a:xfrm>
            <a:off x="1835695" y="44624"/>
            <a:ext cx="6734467" cy="519956"/>
          </a:xfrm>
        </p:spPr>
        <p:txBody>
          <a:bodyPr/>
          <a:lstStyle/>
          <a:p>
            <a:r>
              <a:rPr lang="ja-JP" altLang="en-US" sz="1800" dirty="0"/>
              <a:t>トレンドデータ：</a:t>
            </a:r>
            <a:r>
              <a:rPr lang="en-US" altLang="ja-JP" sz="1800" dirty="0"/>
              <a:t>WA475-10</a:t>
            </a:r>
            <a:r>
              <a:rPr lang="ja-JP" altLang="en-US" sz="1800" dirty="0"/>
              <a:t>で実装予定の次世代データ</a:t>
            </a:r>
            <a:r>
              <a:rPr lang="en-US" altLang="ja-JP" sz="1800" dirty="0"/>
              <a:t>(</a:t>
            </a:r>
            <a:r>
              <a:rPr lang="ja-JP" altLang="en-US" sz="1800" dirty="0"/>
              <a:t>作業分類</a:t>
            </a:r>
            <a:r>
              <a:rPr lang="en-US" altLang="ja-JP" sz="1800" dirty="0"/>
              <a:t>)</a:t>
            </a:r>
            <a:endParaRPr kumimoji="1" lang="ja-JP" altLang="en-US" sz="1800" dirty="0"/>
          </a:p>
        </p:txBody>
      </p:sp>
      <p:pic>
        <p:nvPicPr>
          <p:cNvPr id="13" name="Picture 2">
            <a:extLst>
              <a:ext uri="{FF2B5EF4-FFF2-40B4-BE49-F238E27FC236}">
                <a16:creationId xmlns:a16="http://schemas.microsoft.com/office/drawing/2014/main" id="{1A668346-BC0C-4552-8D72-8774354D4B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7360" y="1552498"/>
            <a:ext cx="2464633" cy="150742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6" name="右中かっこ 15">
            <a:extLst>
              <a:ext uri="{FF2B5EF4-FFF2-40B4-BE49-F238E27FC236}">
                <a16:creationId xmlns:a16="http://schemas.microsoft.com/office/drawing/2014/main" id="{55E3E814-4B42-48DD-9725-33856E706E87}"/>
              </a:ext>
            </a:extLst>
          </p:cNvPr>
          <p:cNvSpPr/>
          <p:nvPr/>
        </p:nvSpPr>
        <p:spPr>
          <a:xfrm rot="5400000">
            <a:off x="2219499" y="3661667"/>
            <a:ext cx="288032" cy="384522"/>
          </a:xfrm>
          <a:prstGeom prst="rightBrace">
            <a:avLst>
              <a:gd name="adj1" fmla="val 8333"/>
              <a:gd name="adj2" fmla="val 5150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右中かっこ 16">
            <a:extLst>
              <a:ext uri="{FF2B5EF4-FFF2-40B4-BE49-F238E27FC236}">
                <a16:creationId xmlns:a16="http://schemas.microsoft.com/office/drawing/2014/main" id="{67AF0DD7-B491-4C1E-B3DA-6636406B42BD}"/>
              </a:ext>
            </a:extLst>
          </p:cNvPr>
          <p:cNvSpPr/>
          <p:nvPr/>
        </p:nvSpPr>
        <p:spPr>
          <a:xfrm rot="5400000">
            <a:off x="2533094" y="3945521"/>
            <a:ext cx="607106" cy="158337"/>
          </a:xfrm>
          <a:prstGeom prst="rightBrace">
            <a:avLst>
              <a:gd name="adj1" fmla="val 8333"/>
              <a:gd name="adj2" fmla="val 5150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右中かっこ 18">
            <a:extLst>
              <a:ext uri="{FF2B5EF4-FFF2-40B4-BE49-F238E27FC236}">
                <a16:creationId xmlns:a16="http://schemas.microsoft.com/office/drawing/2014/main" id="{387C2B89-DB8D-47C3-87A3-BC352014C115}"/>
              </a:ext>
            </a:extLst>
          </p:cNvPr>
          <p:cNvSpPr/>
          <p:nvPr/>
        </p:nvSpPr>
        <p:spPr>
          <a:xfrm rot="5400000">
            <a:off x="1472215" y="3604198"/>
            <a:ext cx="288032" cy="521907"/>
          </a:xfrm>
          <a:prstGeom prst="rightBrace">
            <a:avLst>
              <a:gd name="adj1" fmla="val 8333"/>
              <a:gd name="adj2" fmla="val 51504"/>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0" name="Text Box 3">
            <a:extLst>
              <a:ext uri="{FF2B5EF4-FFF2-40B4-BE49-F238E27FC236}">
                <a16:creationId xmlns:a16="http://schemas.microsoft.com/office/drawing/2014/main" id="{C0275F57-2943-4199-9836-B144AB50C24B}"/>
              </a:ext>
            </a:extLst>
          </p:cNvPr>
          <p:cNvSpPr txBox="1">
            <a:spLocks noChangeArrowheads="1"/>
          </p:cNvSpPr>
          <p:nvPr/>
        </p:nvSpPr>
        <p:spPr bwMode="auto">
          <a:xfrm>
            <a:off x="142018" y="768434"/>
            <a:ext cx="8822469" cy="646331"/>
          </a:xfrm>
          <a:prstGeom prst="rect">
            <a:avLst/>
          </a:prstGeom>
          <a:solidFill>
            <a:srgbClr val="FFFFCC"/>
          </a:solidFill>
          <a:ln w="12700">
            <a:solidFill>
              <a:schemeClr val="tx1"/>
            </a:solidFill>
            <a:miter lim="800000"/>
            <a:headEnd/>
            <a:tailEnd/>
          </a:ln>
        </p:spPr>
        <p:txBody>
          <a:bodyPr wrap="square">
            <a:spAutoFit/>
          </a:bodyPr>
          <a:lstStyle>
            <a:lvl1pPr>
              <a:defRPr kumimoji="1">
                <a:solidFill>
                  <a:schemeClr val="tx1"/>
                </a:solidFill>
                <a:latin typeface="Arial" charset="0"/>
                <a:ea typeface="ＭＳ Ｐゴシック" charset="-128"/>
              </a:defRPr>
            </a:lvl1pPr>
            <a:lvl2pPr marL="820738" indent="-285750">
              <a:defRPr kumimoji="1">
                <a:solidFill>
                  <a:schemeClr val="tx1"/>
                </a:solidFill>
                <a:latin typeface="Arial" charset="0"/>
                <a:ea typeface="ＭＳ Ｐゴシック" charset="-128"/>
              </a:defRPr>
            </a:lvl2pPr>
            <a:lvl3pPr marL="1228725" indent="-228600">
              <a:defRPr kumimoji="1">
                <a:solidFill>
                  <a:schemeClr val="tx1"/>
                </a:solidFill>
                <a:latin typeface="Arial" charset="0"/>
                <a:ea typeface="ＭＳ Ｐゴシック" charset="-128"/>
              </a:defRPr>
            </a:lvl3pPr>
            <a:lvl4pPr marL="1636713"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作業分類を実施することにより、時間、燃料消費量などの項目を作業毎に算出可能</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また、サイクルのスタート作業を定義することでサイクル毎の集計が可能</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テキスト ボックス 20">
            <a:extLst>
              <a:ext uri="{FF2B5EF4-FFF2-40B4-BE49-F238E27FC236}">
                <a16:creationId xmlns:a16="http://schemas.microsoft.com/office/drawing/2014/main" id="{A6A421F3-051B-4C13-90DD-79993DAD6C29}"/>
              </a:ext>
            </a:extLst>
          </p:cNvPr>
          <p:cNvSpPr txBox="1"/>
          <p:nvPr/>
        </p:nvSpPr>
        <p:spPr>
          <a:xfrm>
            <a:off x="1095120" y="4009168"/>
            <a:ext cx="856257" cy="276999"/>
          </a:xfrm>
          <a:prstGeom prst="rect">
            <a:avLst/>
          </a:prstGeom>
          <a:noFill/>
        </p:spPr>
        <p:txBody>
          <a:bodyPr wrap="square" rtlCol="0">
            <a:spAutoFit/>
          </a:bodyPr>
          <a:lstStyle/>
          <a:p>
            <a:r>
              <a:rPr kumimoji="1" lang="ja-JP" altLang="en-US" sz="1200" u="sng" dirty="0"/>
              <a:t>作業分類</a:t>
            </a:r>
          </a:p>
        </p:txBody>
      </p:sp>
      <p:sp>
        <p:nvSpPr>
          <p:cNvPr id="22" name="テキスト ボックス 21">
            <a:extLst>
              <a:ext uri="{FF2B5EF4-FFF2-40B4-BE49-F238E27FC236}">
                <a16:creationId xmlns:a16="http://schemas.microsoft.com/office/drawing/2014/main" id="{6CAF9DD1-D98D-4D97-88A8-0FBA24871F4B}"/>
              </a:ext>
            </a:extLst>
          </p:cNvPr>
          <p:cNvSpPr txBox="1"/>
          <p:nvPr/>
        </p:nvSpPr>
        <p:spPr>
          <a:xfrm>
            <a:off x="1793144" y="4007496"/>
            <a:ext cx="1056700" cy="276999"/>
          </a:xfrm>
          <a:prstGeom prst="rect">
            <a:avLst/>
          </a:prstGeom>
          <a:noFill/>
        </p:spPr>
        <p:txBody>
          <a:bodyPr wrap="none" rtlCol="0">
            <a:spAutoFit/>
          </a:bodyPr>
          <a:lstStyle/>
          <a:p>
            <a:r>
              <a:rPr lang="ja-JP" altLang="en-US" sz="1200" u="sng" dirty="0"/>
              <a:t>距離</a:t>
            </a:r>
            <a:r>
              <a:rPr kumimoji="1" lang="ja-JP" altLang="en-US" sz="1200" u="sng" dirty="0"/>
              <a:t>、燃費等</a:t>
            </a:r>
          </a:p>
        </p:txBody>
      </p:sp>
      <p:sp>
        <p:nvSpPr>
          <p:cNvPr id="24" name="テキスト ボックス 23">
            <a:extLst>
              <a:ext uri="{FF2B5EF4-FFF2-40B4-BE49-F238E27FC236}">
                <a16:creationId xmlns:a16="http://schemas.microsoft.com/office/drawing/2014/main" id="{1E60469F-E5E2-46B7-A580-CC034DA8335C}"/>
              </a:ext>
            </a:extLst>
          </p:cNvPr>
          <p:cNvSpPr txBox="1"/>
          <p:nvPr/>
        </p:nvSpPr>
        <p:spPr>
          <a:xfrm>
            <a:off x="1403648" y="4365104"/>
            <a:ext cx="1730173" cy="276999"/>
          </a:xfrm>
          <a:prstGeom prst="rect">
            <a:avLst/>
          </a:prstGeom>
          <a:noFill/>
        </p:spPr>
        <p:txBody>
          <a:bodyPr wrap="square" rtlCol="0">
            <a:spAutoFit/>
          </a:bodyPr>
          <a:lstStyle/>
          <a:p>
            <a:r>
              <a:rPr kumimoji="1" lang="ja-JP" altLang="en-US" sz="1200" u="sng" dirty="0"/>
              <a:t>掘削か</a:t>
            </a:r>
            <a:r>
              <a:rPr lang="ja-JP" altLang="en-US" sz="1200" u="sng" dirty="0"/>
              <a:t>かき上げ等</a:t>
            </a:r>
            <a:r>
              <a:rPr kumimoji="1" lang="ja-JP" altLang="en-US" sz="1200" u="sng" dirty="0"/>
              <a:t>判定</a:t>
            </a:r>
          </a:p>
        </p:txBody>
      </p:sp>
      <p:sp>
        <p:nvSpPr>
          <p:cNvPr id="26" name="正方形/長方形 25">
            <a:extLst>
              <a:ext uri="{FF2B5EF4-FFF2-40B4-BE49-F238E27FC236}">
                <a16:creationId xmlns:a16="http://schemas.microsoft.com/office/drawing/2014/main" id="{2A7C6D5E-F38C-4D44-84E5-AD9594526F3B}"/>
              </a:ext>
            </a:extLst>
          </p:cNvPr>
          <p:cNvSpPr/>
          <p:nvPr/>
        </p:nvSpPr>
        <p:spPr>
          <a:xfrm rot="16200000">
            <a:off x="5288381" y="2317612"/>
            <a:ext cx="1215013" cy="307777"/>
          </a:xfrm>
          <a:prstGeom prst="rect">
            <a:avLst/>
          </a:prstGeom>
        </p:spPr>
        <p:txBody>
          <a:bodyPr wrap="square">
            <a:spAutoFit/>
          </a:bodyPr>
          <a:lstStyle/>
          <a:p>
            <a:pPr algn="ctr"/>
            <a:r>
              <a:rPr lang="ja-JP" altLang="en-US" sz="1400" dirty="0">
                <a:latin typeface="Meiryo UI" panose="020B0604030504040204" pitchFamily="50" charset="-128"/>
                <a:ea typeface="Meiryo UI" panose="020B0604030504040204" pitchFamily="50" charset="-128"/>
                <a:cs typeface="Meiryo UI" panose="020B0604030504040204" pitchFamily="50" charset="-128"/>
              </a:rPr>
              <a:t>作業時</a:t>
            </a:r>
            <a:r>
              <a:rPr lang="en-US" altLang="ja-JP" sz="1400" dirty="0">
                <a:latin typeface="Meiryo UI" panose="020B0604030504040204" pitchFamily="50" charset="-128"/>
                <a:ea typeface="Meiryo UI" panose="020B0604030504040204" pitchFamily="50" charset="-128"/>
                <a:cs typeface="Meiryo UI" panose="020B0604030504040204" pitchFamily="50" charset="-128"/>
              </a:rPr>
              <a:t>(sec) </a:t>
            </a:r>
          </a:p>
        </p:txBody>
      </p:sp>
      <p:sp>
        <p:nvSpPr>
          <p:cNvPr id="27" name="正方形/長方形 26">
            <a:extLst>
              <a:ext uri="{FF2B5EF4-FFF2-40B4-BE49-F238E27FC236}">
                <a16:creationId xmlns:a16="http://schemas.microsoft.com/office/drawing/2014/main" id="{38DC83F9-17FB-4E03-BEE9-3999EF22B385}"/>
              </a:ext>
            </a:extLst>
          </p:cNvPr>
          <p:cNvSpPr/>
          <p:nvPr/>
        </p:nvSpPr>
        <p:spPr>
          <a:xfrm>
            <a:off x="6652220" y="2905199"/>
            <a:ext cx="1172492" cy="307777"/>
          </a:xfrm>
          <a:prstGeom prst="rect">
            <a:avLst/>
          </a:prstGeom>
        </p:spPr>
        <p:txBody>
          <a:bodyPr wrap="square">
            <a:spAutoFit/>
          </a:bodyPr>
          <a:lstStyle/>
          <a:p>
            <a:pPr algn="ctr"/>
            <a:r>
              <a:rPr lang="ja-JP" altLang="en-US" sz="1400" dirty="0">
                <a:latin typeface="Meiryo UI" panose="020B0604030504040204" pitchFamily="50" charset="-128"/>
                <a:ea typeface="Meiryo UI" panose="020B0604030504040204" pitchFamily="50" charset="-128"/>
                <a:cs typeface="Meiryo UI" panose="020B0604030504040204" pitchFamily="50" charset="-128"/>
              </a:rPr>
              <a:t>サイクル番号</a:t>
            </a:r>
            <a:endParaRPr lang="en-US" altLang="ja-JP" sz="1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Text Box 3">
            <a:extLst>
              <a:ext uri="{FF2B5EF4-FFF2-40B4-BE49-F238E27FC236}">
                <a16:creationId xmlns:a16="http://schemas.microsoft.com/office/drawing/2014/main" id="{7E92587E-EFB0-40BE-8453-A1627A1A57AC}"/>
              </a:ext>
            </a:extLst>
          </p:cNvPr>
          <p:cNvSpPr txBox="1">
            <a:spLocks noChangeArrowheads="1"/>
          </p:cNvSpPr>
          <p:nvPr/>
        </p:nvSpPr>
        <p:spPr bwMode="auto">
          <a:xfrm>
            <a:off x="80455" y="5119515"/>
            <a:ext cx="2917813" cy="1200329"/>
          </a:xfrm>
          <a:prstGeom prst="rect">
            <a:avLst/>
          </a:prstGeom>
          <a:solidFill>
            <a:schemeClr val="accent1">
              <a:lumMod val="20000"/>
              <a:lumOff val="80000"/>
            </a:schemeClr>
          </a:solidFill>
          <a:ln w="12700">
            <a:solidFill>
              <a:schemeClr val="tx1"/>
            </a:solidFill>
            <a:miter lim="800000"/>
            <a:headEnd/>
            <a:tailEnd/>
          </a:ln>
        </p:spPr>
        <p:txBody>
          <a:bodyPr wrap="square">
            <a:spAutoFit/>
          </a:bodyPr>
          <a:lstStyle>
            <a:lvl1pPr>
              <a:defRPr kumimoji="1">
                <a:solidFill>
                  <a:schemeClr val="tx1"/>
                </a:solidFill>
                <a:latin typeface="Arial" charset="0"/>
                <a:ea typeface="ＭＳ Ｐゴシック" charset="-128"/>
              </a:defRPr>
            </a:lvl1pPr>
            <a:lvl2pPr marL="820738" indent="-285750">
              <a:defRPr kumimoji="1">
                <a:solidFill>
                  <a:schemeClr val="tx1"/>
                </a:solidFill>
                <a:latin typeface="Arial" charset="0"/>
                <a:ea typeface="ＭＳ Ｐゴシック" charset="-128"/>
              </a:defRPr>
            </a:lvl2pPr>
            <a:lvl3pPr marL="1228725" indent="-228600">
              <a:defRPr kumimoji="1">
                <a:solidFill>
                  <a:schemeClr val="tx1"/>
                </a:solidFill>
                <a:latin typeface="Arial" charset="0"/>
                <a:ea typeface="ＭＳ Ｐゴシック" charset="-128"/>
              </a:defRPr>
            </a:lvl3pPr>
            <a:lvl4pPr marL="1636713"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上記表から必要なデータ項目を選択</a:t>
            </a:r>
            <a:r>
              <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集計し、グラフを作成</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オペ指導前後の改善を確認</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 name="角丸四角形 15">
            <a:extLst>
              <a:ext uri="{FF2B5EF4-FFF2-40B4-BE49-F238E27FC236}">
                <a16:creationId xmlns:a16="http://schemas.microsoft.com/office/drawing/2014/main" id="{6493B026-7728-4CF5-A951-40E0D2484F6F}"/>
              </a:ext>
            </a:extLst>
          </p:cNvPr>
          <p:cNvSpPr/>
          <p:nvPr/>
        </p:nvSpPr>
        <p:spPr>
          <a:xfrm>
            <a:off x="3047481" y="1525206"/>
            <a:ext cx="1410550"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作業モード時間割合</a:t>
            </a:r>
          </a:p>
        </p:txBody>
      </p:sp>
      <p:pic>
        <p:nvPicPr>
          <p:cNvPr id="33" name="Picture 2">
            <a:extLst>
              <a:ext uri="{FF2B5EF4-FFF2-40B4-BE49-F238E27FC236}">
                <a16:creationId xmlns:a16="http://schemas.microsoft.com/office/drawing/2014/main" id="{4ECB3384-5906-4E8E-9084-0487EB0DDD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1569"/>
          <a:stretch/>
        </p:blipFill>
        <p:spPr bwMode="auto">
          <a:xfrm>
            <a:off x="99202" y="1464654"/>
            <a:ext cx="2880320" cy="2256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9">
            <a:extLst>
              <a:ext uri="{FF2B5EF4-FFF2-40B4-BE49-F238E27FC236}">
                <a16:creationId xmlns:a16="http://schemas.microsoft.com/office/drawing/2014/main" id="{C33F9D3E-116A-43BF-A7F4-A5A7B7C96C6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3525" t="55031"/>
          <a:stretch/>
        </p:blipFill>
        <p:spPr bwMode="auto">
          <a:xfrm>
            <a:off x="6073735" y="2072282"/>
            <a:ext cx="2140135" cy="8971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9">
            <a:extLst>
              <a:ext uri="{FF2B5EF4-FFF2-40B4-BE49-F238E27FC236}">
                <a16:creationId xmlns:a16="http://schemas.microsoft.com/office/drawing/2014/main" id="{1523F816-3A1C-4083-A45C-ECAD4AFC728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3883" b="45497"/>
          <a:stretch/>
        </p:blipFill>
        <p:spPr bwMode="auto">
          <a:xfrm>
            <a:off x="7690322" y="1525194"/>
            <a:ext cx="1475656" cy="13800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角丸四角形 15">
            <a:extLst>
              <a:ext uri="{FF2B5EF4-FFF2-40B4-BE49-F238E27FC236}">
                <a16:creationId xmlns:a16="http://schemas.microsoft.com/office/drawing/2014/main" id="{09C5F1BF-E3A1-4E18-8EEB-0490C71994A0}"/>
              </a:ext>
            </a:extLst>
          </p:cNvPr>
          <p:cNvSpPr/>
          <p:nvPr/>
        </p:nvSpPr>
        <p:spPr>
          <a:xfrm>
            <a:off x="5873003" y="1535457"/>
            <a:ext cx="1558435"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サイクル毎の作業時間</a:t>
            </a:r>
          </a:p>
        </p:txBody>
      </p:sp>
      <p:pic>
        <p:nvPicPr>
          <p:cNvPr id="6" name="図 5" descr="文字と写真のスクリーンショット&#10;&#10;自動的に生成された説明">
            <a:extLst>
              <a:ext uri="{FF2B5EF4-FFF2-40B4-BE49-F238E27FC236}">
                <a16:creationId xmlns:a16="http://schemas.microsoft.com/office/drawing/2014/main" id="{647C4F03-FE5D-43DE-97AD-8AD6BB9A1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8149" y="5386756"/>
            <a:ext cx="2003604" cy="1436668"/>
          </a:xfrm>
          <a:prstGeom prst="rect">
            <a:avLst/>
          </a:prstGeom>
          <a:ln>
            <a:solidFill>
              <a:schemeClr val="tx1"/>
            </a:solidFill>
          </a:ln>
        </p:spPr>
      </p:pic>
      <p:pic>
        <p:nvPicPr>
          <p:cNvPr id="8" name="図 7" descr="スクリーンショットの画面&#10;&#10;自動的に生成された説明">
            <a:extLst>
              <a:ext uri="{FF2B5EF4-FFF2-40B4-BE49-F238E27FC236}">
                <a16:creationId xmlns:a16="http://schemas.microsoft.com/office/drawing/2014/main" id="{853F8EDC-CE2A-4769-83EE-171FA8D1C1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15342" y="5394669"/>
            <a:ext cx="2061885" cy="1436668"/>
          </a:xfrm>
          <a:prstGeom prst="rect">
            <a:avLst/>
          </a:prstGeom>
          <a:ln>
            <a:solidFill>
              <a:schemeClr val="tx1"/>
            </a:solidFill>
          </a:ln>
        </p:spPr>
      </p:pic>
      <p:sp>
        <p:nvSpPr>
          <p:cNvPr id="32" name="角丸四角形 15">
            <a:extLst>
              <a:ext uri="{FF2B5EF4-FFF2-40B4-BE49-F238E27FC236}">
                <a16:creationId xmlns:a16="http://schemas.microsoft.com/office/drawing/2014/main" id="{CF69BD04-7981-402A-85B4-6B8E2FC9CF23}"/>
              </a:ext>
            </a:extLst>
          </p:cNvPr>
          <p:cNvSpPr/>
          <p:nvPr/>
        </p:nvSpPr>
        <p:spPr>
          <a:xfrm>
            <a:off x="3133821" y="4876401"/>
            <a:ext cx="2003604"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掘削時アクセル開度割合分布</a:t>
            </a:r>
          </a:p>
        </p:txBody>
      </p:sp>
      <p:pic>
        <p:nvPicPr>
          <p:cNvPr id="10" name="図 9" descr="地図のスクリーンショットの画面&#10;&#10;自動的に生成された説明">
            <a:extLst>
              <a:ext uri="{FF2B5EF4-FFF2-40B4-BE49-F238E27FC236}">
                <a16:creationId xmlns:a16="http://schemas.microsoft.com/office/drawing/2014/main" id="{6370F400-8D8C-4899-BBCD-E58EB77C62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7362" y="3196634"/>
            <a:ext cx="2464632" cy="1643088"/>
          </a:xfrm>
          <a:prstGeom prst="rect">
            <a:avLst/>
          </a:prstGeom>
          <a:ln>
            <a:solidFill>
              <a:schemeClr val="tx1"/>
            </a:solidFill>
          </a:ln>
        </p:spPr>
      </p:pic>
      <p:sp>
        <p:nvSpPr>
          <p:cNvPr id="35" name="角丸四角形 15">
            <a:extLst>
              <a:ext uri="{FF2B5EF4-FFF2-40B4-BE49-F238E27FC236}">
                <a16:creationId xmlns:a16="http://schemas.microsoft.com/office/drawing/2014/main" id="{1DB7A88B-38DB-40F1-A026-C8F693BED1C1}"/>
              </a:ext>
            </a:extLst>
          </p:cNvPr>
          <p:cNvSpPr/>
          <p:nvPr/>
        </p:nvSpPr>
        <p:spPr>
          <a:xfrm>
            <a:off x="3065187" y="3140968"/>
            <a:ext cx="1063463"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掘削作業内訳</a:t>
            </a:r>
          </a:p>
        </p:txBody>
      </p:sp>
      <p:pic>
        <p:nvPicPr>
          <p:cNvPr id="15" name="図 14" descr="座る, テーブル, 表示, 水 が含まれている画像&#10;&#10;自動的に生成された説明">
            <a:extLst>
              <a:ext uri="{FF2B5EF4-FFF2-40B4-BE49-F238E27FC236}">
                <a16:creationId xmlns:a16="http://schemas.microsoft.com/office/drawing/2014/main" id="{DF77E92D-531B-4258-9D90-29771876CF9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63183" y="3212976"/>
            <a:ext cx="2406980" cy="1643088"/>
          </a:xfrm>
          <a:prstGeom prst="rect">
            <a:avLst/>
          </a:prstGeom>
          <a:ln>
            <a:solidFill>
              <a:schemeClr val="tx1"/>
            </a:solidFill>
          </a:ln>
        </p:spPr>
      </p:pic>
      <p:sp>
        <p:nvSpPr>
          <p:cNvPr id="36" name="角丸四角形 15">
            <a:extLst>
              <a:ext uri="{FF2B5EF4-FFF2-40B4-BE49-F238E27FC236}">
                <a16:creationId xmlns:a16="http://schemas.microsoft.com/office/drawing/2014/main" id="{87FDFF02-BC3B-4A7A-987C-3A10281A61E7}"/>
              </a:ext>
            </a:extLst>
          </p:cNvPr>
          <p:cNvSpPr/>
          <p:nvPr/>
        </p:nvSpPr>
        <p:spPr>
          <a:xfrm>
            <a:off x="5989674" y="3175201"/>
            <a:ext cx="1462646"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掘削時間ヒストグラム</a:t>
            </a:r>
          </a:p>
        </p:txBody>
      </p:sp>
      <p:sp>
        <p:nvSpPr>
          <p:cNvPr id="23" name="矢印: 右 22">
            <a:extLst>
              <a:ext uri="{FF2B5EF4-FFF2-40B4-BE49-F238E27FC236}">
                <a16:creationId xmlns:a16="http://schemas.microsoft.com/office/drawing/2014/main" id="{1DFA5CB2-3F34-407A-9493-E28264829E9B}"/>
              </a:ext>
            </a:extLst>
          </p:cNvPr>
          <p:cNvSpPr/>
          <p:nvPr/>
        </p:nvSpPr>
        <p:spPr>
          <a:xfrm>
            <a:off x="5833447" y="5868576"/>
            <a:ext cx="630201" cy="484632"/>
          </a:xfrm>
          <a:prstGeom prst="rightArrow">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8A198F9C-7A2A-44A7-815F-A9E0F4D4FEE2}"/>
              </a:ext>
            </a:extLst>
          </p:cNvPr>
          <p:cNvSpPr/>
          <p:nvPr/>
        </p:nvSpPr>
        <p:spPr>
          <a:xfrm>
            <a:off x="3682424" y="5222306"/>
            <a:ext cx="1194503" cy="253900"/>
          </a:xfrm>
          <a:prstGeom prst="rect">
            <a:avLst/>
          </a:prstGeom>
          <a:solidFill>
            <a:schemeClr val="accent2">
              <a:lumMod val="40000"/>
              <a:lumOff val="60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dirty="0"/>
              <a:t>オペトレ前</a:t>
            </a:r>
          </a:p>
        </p:txBody>
      </p:sp>
      <p:sp>
        <p:nvSpPr>
          <p:cNvPr id="38" name="正方形/長方形 37">
            <a:extLst>
              <a:ext uri="{FF2B5EF4-FFF2-40B4-BE49-F238E27FC236}">
                <a16:creationId xmlns:a16="http://schemas.microsoft.com/office/drawing/2014/main" id="{594D61AD-B412-4024-A4AC-087B0F012E84}"/>
              </a:ext>
            </a:extLst>
          </p:cNvPr>
          <p:cNvSpPr/>
          <p:nvPr/>
        </p:nvSpPr>
        <p:spPr>
          <a:xfrm>
            <a:off x="6638859" y="5221465"/>
            <a:ext cx="1194503" cy="253900"/>
          </a:xfrm>
          <a:prstGeom prst="rect">
            <a:avLst/>
          </a:prstGeom>
          <a:solidFill>
            <a:schemeClr val="accent1">
              <a:lumMod val="40000"/>
              <a:lumOff val="60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dirty="0"/>
              <a:t>オペトレ後</a:t>
            </a:r>
          </a:p>
        </p:txBody>
      </p:sp>
      <p:sp>
        <p:nvSpPr>
          <p:cNvPr id="39" name="楕円 38">
            <a:extLst>
              <a:ext uri="{FF2B5EF4-FFF2-40B4-BE49-F238E27FC236}">
                <a16:creationId xmlns:a16="http://schemas.microsoft.com/office/drawing/2014/main" id="{992F3A65-B9A8-48BE-92BE-13FB8CC1FF57}"/>
              </a:ext>
            </a:extLst>
          </p:cNvPr>
          <p:cNvSpPr/>
          <p:nvPr/>
        </p:nvSpPr>
        <p:spPr>
          <a:xfrm>
            <a:off x="5457595" y="5462407"/>
            <a:ext cx="247675" cy="1159184"/>
          </a:xfrm>
          <a:prstGeom prst="ellips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2" name="吹き出し: 四角形 41">
            <a:extLst>
              <a:ext uri="{FF2B5EF4-FFF2-40B4-BE49-F238E27FC236}">
                <a16:creationId xmlns:a16="http://schemas.microsoft.com/office/drawing/2014/main" id="{461907DF-4A51-4E48-862F-55AA543ED583}"/>
              </a:ext>
            </a:extLst>
          </p:cNvPr>
          <p:cNvSpPr/>
          <p:nvPr/>
        </p:nvSpPr>
        <p:spPr>
          <a:xfrm>
            <a:off x="5028621" y="5157854"/>
            <a:ext cx="1550537" cy="269977"/>
          </a:xfrm>
          <a:prstGeom prst="wedgeRectCallout">
            <a:avLst>
              <a:gd name="adj1" fmla="val -17046"/>
              <a:gd name="adj2" fmla="val 62500"/>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アクセルフルの割合多</a:t>
            </a:r>
          </a:p>
        </p:txBody>
      </p:sp>
      <p:sp>
        <p:nvSpPr>
          <p:cNvPr id="43" name="吹き出し: 四角形 42">
            <a:extLst>
              <a:ext uri="{FF2B5EF4-FFF2-40B4-BE49-F238E27FC236}">
                <a16:creationId xmlns:a16="http://schemas.microsoft.com/office/drawing/2014/main" id="{7D7C5771-BA6D-47FB-A7E4-13DD4C0860F9}"/>
              </a:ext>
            </a:extLst>
          </p:cNvPr>
          <p:cNvSpPr/>
          <p:nvPr/>
        </p:nvSpPr>
        <p:spPr>
          <a:xfrm>
            <a:off x="7824712" y="5125447"/>
            <a:ext cx="1129797" cy="311687"/>
          </a:xfrm>
          <a:prstGeom prst="wedgeRectCallout">
            <a:avLst>
              <a:gd name="adj1" fmla="val -25956"/>
              <a:gd name="adj2" fmla="val 118431"/>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指導後アクセル操作が滑らかに</a:t>
            </a:r>
          </a:p>
        </p:txBody>
      </p:sp>
      <p:sp>
        <p:nvSpPr>
          <p:cNvPr id="44" name="正方形/長方形 43">
            <a:extLst>
              <a:ext uri="{FF2B5EF4-FFF2-40B4-BE49-F238E27FC236}">
                <a16:creationId xmlns:a16="http://schemas.microsoft.com/office/drawing/2014/main" id="{8F2ABE03-2F63-4DF1-8849-D38828D70D66}"/>
              </a:ext>
            </a:extLst>
          </p:cNvPr>
          <p:cNvSpPr/>
          <p:nvPr/>
        </p:nvSpPr>
        <p:spPr>
          <a:xfrm>
            <a:off x="7691685" y="2060848"/>
            <a:ext cx="781069" cy="87237"/>
          </a:xfrm>
          <a:prstGeom prst="rect">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5" name="吹き出し: 四角形 44">
            <a:extLst>
              <a:ext uri="{FF2B5EF4-FFF2-40B4-BE49-F238E27FC236}">
                <a16:creationId xmlns:a16="http://schemas.microsoft.com/office/drawing/2014/main" id="{9EADDEA1-6C98-4185-8C1D-42CA64934E79}"/>
              </a:ext>
            </a:extLst>
          </p:cNvPr>
          <p:cNvSpPr/>
          <p:nvPr/>
        </p:nvSpPr>
        <p:spPr>
          <a:xfrm>
            <a:off x="4458032" y="1652782"/>
            <a:ext cx="1156088" cy="269977"/>
          </a:xfrm>
          <a:prstGeom prst="wedgeRectCallout">
            <a:avLst>
              <a:gd name="adj1" fmla="val -28656"/>
              <a:gd name="adj2" fmla="val 99788"/>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アイドリング多</a:t>
            </a:r>
          </a:p>
        </p:txBody>
      </p:sp>
      <p:sp>
        <p:nvSpPr>
          <p:cNvPr id="46" name="楕円 45">
            <a:extLst>
              <a:ext uri="{FF2B5EF4-FFF2-40B4-BE49-F238E27FC236}">
                <a16:creationId xmlns:a16="http://schemas.microsoft.com/office/drawing/2014/main" id="{24A00A64-2A4B-46F2-BC41-2C6DCB8484F8}"/>
              </a:ext>
            </a:extLst>
          </p:cNvPr>
          <p:cNvSpPr/>
          <p:nvPr/>
        </p:nvSpPr>
        <p:spPr>
          <a:xfrm>
            <a:off x="4515468" y="2173439"/>
            <a:ext cx="942127" cy="447754"/>
          </a:xfrm>
          <a:prstGeom prst="ellips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7" name="矢印: 下 46">
            <a:extLst>
              <a:ext uri="{FF2B5EF4-FFF2-40B4-BE49-F238E27FC236}">
                <a16:creationId xmlns:a16="http://schemas.microsoft.com/office/drawing/2014/main" id="{A4014E93-D10F-466E-9C8D-91B40DED5C83}"/>
              </a:ext>
            </a:extLst>
          </p:cNvPr>
          <p:cNvSpPr/>
          <p:nvPr/>
        </p:nvSpPr>
        <p:spPr>
          <a:xfrm>
            <a:off x="8195350" y="2733543"/>
            <a:ext cx="374813" cy="513303"/>
          </a:xfrm>
          <a:prstGeom prst="downArrow">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8" name="吹き出し: 四角形 47">
            <a:extLst>
              <a:ext uri="{FF2B5EF4-FFF2-40B4-BE49-F238E27FC236}">
                <a16:creationId xmlns:a16="http://schemas.microsoft.com/office/drawing/2014/main" id="{D971A7BD-78F2-454F-947F-E2A4DC96C0C6}"/>
              </a:ext>
            </a:extLst>
          </p:cNvPr>
          <p:cNvSpPr/>
          <p:nvPr/>
        </p:nvSpPr>
        <p:spPr>
          <a:xfrm>
            <a:off x="7824712" y="3482198"/>
            <a:ext cx="1156088" cy="287277"/>
          </a:xfrm>
          <a:prstGeom prst="wedgeRectCallout">
            <a:avLst>
              <a:gd name="adj1" fmla="val 7626"/>
              <a:gd name="adj2" fmla="val -45308"/>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掘削時間に着目</a:t>
            </a:r>
          </a:p>
        </p:txBody>
      </p:sp>
      <p:sp>
        <p:nvSpPr>
          <p:cNvPr id="50" name="吹き出し: 四角形 49">
            <a:extLst>
              <a:ext uri="{FF2B5EF4-FFF2-40B4-BE49-F238E27FC236}">
                <a16:creationId xmlns:a16="http://schemas.microsoft.com/office/drawing/2014/main" id="{F773ACDB-4118-44CC-A145-A2B67B42FF08}"/>
              </a:ext>
            </a:extLst>
          </p:cNvPr>
          <p:cNvSpPr/>
          <p:nvPr/>
        </p:nvSpPr>
        <p:spPr>
          <a:xfrm>
            <a:off x="4671756" y="3600261"/>
            <a:ext cx="1337794" cy="287277"/>
          </a:xfrm>
          <a:prstGeom prst="wedgeRectCallout">
            <a:avLst>
              <a:gd name="adj1" fmla="val 7626"/>
              <a:gd name="adj2" fmla="val -45308"/>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掘削作業内容確認</a:t>
            </a:r>
          </a:p>
        </p:txBody>
      </p:sp>
    </p:spTree>
    <p:extLst>
      <p:ext uri="{BB962C8B-B14F-4D97-AF65-F5344CB8AC3E}">
        <p14:creationId xmlns:p14="http://schemas.microsoft.com/office/powerpoint/2010/main" val="179734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テキスト, 地図 が含まれている画像&#10;&#10;自動的に生成された説明">
            <a:extLst>
              <a:ext uri="{FF2B5EF4-FFF2-40B4-BE49-F238E27FC236}">
                <a16:creationId xmlns:a16="http://schemas.microsoft.com/office/drawing/2014/main" id="{66BAFEB4-9D64-4315-A2A6-EEF935598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2080" y="1903158"/>
            <a:ext cx="3758787" cy="4594073"/>
          </a:xfrm>
          <a:prstGeom prst="rect">
            <a:avLst/>
          </a:prstGeom>
          <a:ln>
            <a:solidFill>
              <a:schemeClr val="tx1"/>
            </a:solidFill>
          </a:ln>
        </p:spPr>
      </p:pic>
      <p:sp>
        <p:nvSpPr>
          <p:cNvPr id="2" name="タイトル 1">
            <a:extLst>
              <a:ext uri="{FF2B5EF4-FFF2-40B4-BE49-F238E27FC236}">
                <a16:creationId xmlns:a16="http://schemas.microsoft.com/office/drawing/2014/main" id="{68C804C1-0137-4EE6-B0D8-15F8593BAD15}"/>
              </a:ext>
            </a:extLst>
          </p:cNvPr>
          <p:cNvSpPr>
            <a:spLocks noGrp="1"/>
          </p:cNvSpPr>
          <p:nvPr>
            <p:ph type="title"/>
          </p:nvPr>
        </p:nvSpPr>
        <p:spPr>
          <a:xfrm>
            <a:off x="1835696" y="44624"/>
            <a:ext cx="6624736" cy="519956"/>
          </a:xfrm>
        </p:spPr>
        <p:txBody>
          <a:bodyPr/>
          <a:lstStyle/>
          <a:p>
            <a:r>
              <a:rPr lang="ja-JP" altLang="en-US" sz="1600" dirty="0"/>
              <a:t>トレンドデータ： </a:t>
            </a:r>
            <a:r>
              <a:rPr lang="en-US" altLang="ja-JP" sz="1600" dirty="0"/>
              <a:t>WA475-10</a:t>
            </a:r>
            <a:r>
              <a:rPr lang="ja-JP" altLang="en-US" sz="1600" dirty="0"/>
              <a:t>で実装予定の次世代データ</a:t>
            </a:r>
            <a:r>
              <a:rPr lang="en-US" altLang="ja-JP" sz="1600" dirty="0"/>
              <a:t>(1s, 0.1s</a:t>
            </a:r>
            <a:r>
              <a:rPr lang="ja-JP" altLang="en-US" sz="1600" dirty="0"/>
              <a:t>データ</a:t>
            </a:r>
            <a:r>
              <a:rPr lang="en-US" altLang="ja-JP" sz="1600" dirty="0"/>
              <a:t>)</a:t>
            </a:r>
            <a:endParaRPr kumimoji="1" lang="ja-JP" altLang="en-US" sz="1600" dirty="0"/>
          </a:p>
        </p:txBody>
      </p:sp>
      <p:sp>
        <p:nvSpPr>
          <p:cNvPr id="20" name="Text Box 3">
            <a:extLst>
              <a:ext uri="{FF2B5EF4-FFF2-40B4-BE49-F238E27FC236}">
                <a16:creationId xmlns:a16="http://schemas.microsoft.com/office/drawing/2014/main" id="{C0275F57-2943-4199-9836-B144AB50C24B}"/>
              </a:ext>
            </a:extLst>
          </p:cNvPr>
          <p:cNvSpPr txBox="1">
            <a:spLocks noChangeArrowheads="1"/>
          </p:cNvSpPr>
          <p:nvPr/>
        </p:nvSpPr>
        <p:spPr bwMode="auto">
          <a:xfrm>
            <a:off x="142018" y="768434"/>
            <a:ext cx="8822469" cy="646331"/>
          </a:xfrm>
          <a:prstGeom prst="rect">
            <a:avLst/>
          </a:prstGeom>
          <a:solidFill>
            <a:srgbClr val="FFFFCC"/>
          </a:solidFill>
          <a:ln w="12700">
            <a:solidFill>
              <a:schemeClr val="tx1"/>
            </a:solidFill>
            <a:miter lim="800000"/>
            <a:headEnd/>
            <a:tailEnd/>
          </a:ln>
        </p:spPr>
        <p:txBody>
          <a:bodyPr wrap="square">
            <a:spAutoFit/>
          </a:bodyPr>
          <a:lstStyle>
            <a:lvl1pPr>
              <a:defRPr kumimoji="1">
                <a:solidFill>
                  <a:schemeClr val="tx1"/>
                </a:solidFill>
                <a:latin typeface="Arial" charset="0"/>
                <a:ea typeface="ＭＳ Ｐゴシック" charset="-128"/>
              </a:defRPr>
            </a:lvl1pPr>
            <a:lvl2pPr marL="820738" indent="-285750">
              <a:defRPr kumimoji="1">
                <a:solidFill>
                  <a:schemeClr val="tx1"/>
                </a:solidFill>
                <a:latin typeface="Arial" charset="0"/>
                <a:ea typeface="ＭＳ Ｐゴシック" charset="-128"/>
              </a:defRPr>
            </a:lvl2pPr>
            <a:lvl3pPr marL="1228725" indent="-228600">
              <a:defRPr kumimoji="1">
                <a:solidFill>
                  <a:schemeClr val="tx1"/>
                </a:solidFill>
                <a:latin typeface="Arial" charset="0"/>
                <a:ea typeface="ＭＳ Ｐゴシック" charset="-128"/>
              </a:defRPr>
            </a:lvl3pPr>
            <a:lvl4pPr marL="1636713"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作業中のより細かいデータを高頻度で取得し、詳細な車両挙動を現場で確認する。</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本件とは別に、不具合解析としての活用も検討中</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Text Box 3">
            <a:extLst>
              <a:ext uri="{FF2B5EF4-FFF2-40B4-BE49-F238E27FC236}">
                <a16:creationId xmlns:a16="http://schemas.microsoft.com/office/drawing/2014/main" id="{7E92587E-EFB0-40BE-8453-A1627A1A57AC}"/>
              </a:ext>
            </a:extLst>
          </p:cNvPr>
          <p:cNvSpPr txBox="1">
            <a:spLocks noChangeArrowheads="1"/>
          </p:cNvSpPr>
          <p:nvPr/>
        </p:nvSpPr>
        <p:spPr bwMode="auto">
          <a:xfrm>
            <a:off x="107503" y="5489401"/>
            <a:ext cx="4968553" cy="923330"/>
          </a:xfrm>
          <a:prstGeom prst="rect">
            <a:avLst/>
          </a:prstGeom>
          <a:solidFill>
            <a:schemeClr val="accent1">
              <a:lumMod val="20000"/>
              <a:lumOff val="80000"/>
            </a:schemeClr>
          </a:solidFill>
          <a:ln w="12700">
            <a:solidFill>
              <a:schemeClr val="tx1"/>
            </a:solidFill>
            <a:miter lim="800000"/>
            <a:headEnd/>
            <a:tailEnd/>
          </a:ln>
        </p:spPr>
        <p:txBody>
          <a:bodyPr wrap="square">
            <a:spAutoFit/>
          </a:bodyPr>
          <a:lstStyle>
            <a:lvl1pPr>
              <a:defRPr kumimoji="1">
                <a:solidFill>
                  <a:schemeClr val="tx1"/>
                </a:solidFill>
                <a:latin typeface="Arial" charset="0"/>
                <a:ea typeface="ＭＳ Ｐゴシック" charset="-128"/>
              </a:defRPr>
            </a:lvl1pPr>
            <a:lvl2pPr marL="820738" indent="-285750">
              <a:defRPr kumimoji="1">
                <a:solidFill>
                  <a:schemeClr val="tx1"/>
                </a:solidFill>
                <a:latin typeface="Arial" charset="0"/>
                <a:ea typeface="ＭＳ Ｐゴシック" charset="-128"/>
              </a:defRPr>
            </a:lvl2pPr>
            <a:lvl3pPr marL="1228725" indent="-228600">
              <a:defRPr kumimoji="1">
                <a:solidFill>
                  <a:schemeClr val="tx1"/>
                </a:solidFill>
                <a:latin typeface="Arial" charset="0"/>
                <a:ea typeface="ＭＳ Ｐゴシック" charset="-128"/>
              </a:defRPr>
            </a:lvl3pPr>
            <a:lvl4pPr marL="1636713" indent="-228600">
              <a:defRPr kumimoji="1">
                <a:solidFill>
                  <a:schemeClr val="tx1"/>
                </a:solidFill>
                <a:latin typeface="Arial" charset="0"/>
                <a:ea typeface="ＭＳ Ｐゴシック" charset="-128"/>
              </a:defRPr>
            </a:lvl4pPr>
            <a:lvl5pPr marL="2057400" indent="-228600">
              <a:defRPr kumimoji="1">
                <a:solidFill>
                  <a:schemeClr val="tx1"/>
                </a:solidFill>
                <a:latin typeface="Arial" charset="0"/>
                <a:ea typeface="ＭＳ Ｐゴシック" charset="-128"/>
              </a:defRPr>
            </a:lvl5pPr>
            <a:lvl6pPr marL="2514600" indent="-228600" fontAlgn="base">
              <a:spcBef>
                <a:spcPct val="0"/>
              </a:spcBef>
              <a:spcAft>
                <a:spcPct val="0"/>
              </a:spcAft>
              <a:defRPr kumimoji="1">
                <a:solidFill>
                  <a:schemeClr val="tx1"/>
                </a:solidFill>
                <a:latin typeface="Arial" charset="0"/>
                <a:ea typeface="ＭＳ Ｐゴシック" charset="-128"/>
              </a:defRPr>
            </a:lvl6pPr>
            <a:lvl7pPr marL="2971800" indent="-228600" fontAlgn="base">
              <a:spcBef>
                <a:spcPct val="0"/>
              </a:spcBef>
              <a:spcAft>
                <a:spcPct val="0"/>
              </a:spcAft>
              <a:defRPr kumimoji="1">
                <a:solidFill>
                  <a:schemeClr val="tx1"/>
                </a:solidFill>
                <a:latin typeface="Arial" charset="0"/>
                <a:ea typeface="ＭＳ Ｐゴシック" charset="-128"/>
              </a:defRPr>
            </a:lvl7pPr>
            <a:lvl8pPr marL="3429000" indent="-228600" fontAlgn="base">
              <a:spcBef>
                <a:spcPct val="0"/>
              </a:spcBef>
              <a:spcAft>
                <a:spcPct val="0"/>
              </a:spcAft>
              <a:defRPr kumimoji="1">
                <a:solidFill>
                  <a:schemeClr val="tx1"/>
                </a:solidFill>
                <a:latin typeface="Arial" charset="0"/>
                <a:ea typeface="ＭＳ Ｐゴシック" charset="-128"/>
              </a:defRPr>
            </a:lvl8pPr>
            <a:lvl9pPr marL="3886200" indent="-228600" fontAlgn="base">
              <a:spcBef>
                <a:spcPct val="0"/>
              </a:spcBef>
              <a:spcAft>
                <a:spcPct val="0"/>
              </a:spcAft>
              <a:defRPr kumimoji="1">
                <a:solidFill>
                  <a:schemeClr val="tx1"/>
                </a:solidFill>
                <a:latin typeface="Arial" charset="0"/>
                <a:ea typeface="ＭＳ Ｐゴシック" charset="-128"/>
              </a:defRPr>
            </a:lvl9pPr>
          </a:lstStyle>
          <a:p>
            <a:r>
              <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1s,0.1s</a:t>
            </a:r>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データを活用して必要な項目をレポート化</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詳細データは扱いが難しいため、活用するデータの選定が重要</a:t>
            </a:r>
            <a:endParaRPr lang="en-US" altLang="ja-JP"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9" name="図 28">
            <a:extLst>
              <a:ext uri="{FF2B5EF4-FFF2-40B4-BE49-F238E27FC236}">
                <a16:creationId xmlns:a16="http://schemas.microsoft.com/office/drawing/2014/main" id="{140FB215-84A6-488F-8760-38A759436BBD}"/>
              </a:ext>
            </a:extLst>
          </p:cNvPr>
          <p:cNvPicPr>
            <a:picLocks noChangeAspect="1"/>
          </p:cNvPicPr>
          <p:nvPr/>
        </p:nvPicPr>
        <p:blipFill>
          <a:blip r:embed="rId3"/>
          <a:stretch>
            <a:fillRect/>
          </a:stretch>
        </p:blipFill>
        <p:spPr>
          <a:xfrm>
            <a:off x="52482" y="1862415"/>
            <a:ext cx="5179087" cy="2932839"/>
          </a:xfrm>
          <a:prstGeom prst="rect">
            <a:avLst/>
          </a:prstGeom>
        </p:spPr>
      </p:pic>
      <p:sp>
        <p:nvSpPr>
          <p:cNvPr id="32" name="角丸四角形 15">
            <a:extLst>
              <a:ext uri="{FF2B5EF4-FFF2-40B4-BE49-F238E27FC236}">
                <a16:creationId xmlns:a16="http://schemas.microsoft.com/office/drawing/2014/main" id="{1D36B5F2-7A6A-4C42-85E3-E288A80B53C6}"/>
              </a:ext>
            </a:extLst>
          </p:cNvPr>
          <p:cNvSpPr/>
          <p:nvPr/>
        </p:nvSpPr>
        <p:spPr>
          <a:xfrm>
            <a:off x="87799" y="1558653"/>
            <a:ext cx="929386"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lang="ja-JP" altLang="en-US" sz="1200" dirty="0">
                <a:latin typeface="Meiryo UI" panose="020B0604030504040204" pitchFamily="50" charset="-128"/>
                <a:ea typeface="Meiryo UI" panose="020B0604030504040204" pitchFamily="50" charset="-128"/>
                <a:cs typeface="Meiryo UI" panose="020B0604030504040204" pitchFamily="50" charset="-128"/>
              </a:rPr>
              <a:t>掘削</a:t>
            </a:r>
            <a:r>
              <a:rPr kumimoji="1" lang="ja-JP" altLang="en-US" sz="1200" dirty="0">
                <a:latin typeface="Meiryo UI" panose="020B0604030504040204" pitchFamily="50" charset="-128"/>
                <a:ea typeface="Meiryo UI" panose="020B0604030504040204" pitchFamily="50" charset="-128"/>
                <a:cs typeface="Meiryo UI" panose="020B0604030504040204" pitchFamily="50" charset="-128"/>
              </a:rPr>
              <a:t>レポート</a:t>
            </a:r>
          </a:p>
        </p:txBody>
      </p:sp>
      <p:sp>
        <p:nvSpPr>
          <p:cNvPr id="33" name="角丸四角形 15">
            <a:extLst>
              <a:ext uri="{FF2B5EF4-FFF2-40B4-BE49-F238E27FC236}">
                <a16:creationId xmlns:a16="http://schemas.microsoft.com/office/drawing/2014/main" id="{57A4AF7B-A61D-47CB-9DC8-B6C4206C700E}"/>
              </a:ext>
            </a:extLst>
          </p:cNvPr>
          <p:cNvSpPr/>
          <p:nvPr/>
        </p:nvSpPr>
        <p:spPr>
          <a:xfrm>
            <a:off x="5364088" y="1558654"/>
            <a:ext cx="761475" cy="259675"/>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wrap="none" lIns="36000" tIns="0" rIns="36000" bIns="0" rtlCol="0" anchor="ctr">
            <a:spAutoFit/>
          </a:bodyPr>
          <a:lstStyle/>
          <a:p>
            <a:pPr algn="ctr"/>
            <a:r>
              <a:rPr lang="ja-JP" altLang="en-US" sz="1200" dirty="0">
                <a:latin typeface="Meiryo UI" panose="020B0604030504040204" pitchFamily="50" charset="-128"/>
                <a:ea typeface="Meiryo UI" panose="020B0604030504040204" pitchFamily="50" charset="-128"/>
                <a:cs typeface="Meiryo UI" panose="020B0604030504040204" pitchFamily="50" charset="-128"/>
              </a:rPr>
              <a:t>掘削軌跡</a:t>
            </a:r>
            <a:endParaRPr kumimoji="1" lang="ja-JP" altLang="en-US" sz="12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2326955C-A698-4979-88FC-F13FE86A0ADA}"/>
              </a:ext>
            </a:extLst>
          </p:cNvPr>
          <p:cNvSpPr/>
          <p:nvPr/>
        </p:nvSpPr>
        <p:spPr>
          <a:xfrm>
            <a:off x="5292080" y="1950268"/>
            <a:ext cx="2171739" cy="544493"/>
          </a:xfrm>
          <a:prstGeom prst="rect">
            <a:avLst/>
          </a:prstGeom>
          <a:solidFill>
            <a:schemeClr val="accent2">
              <a:lumMod val="40000"/>
              <a:lumOff val="60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dirty="0"/>
              <a:t>オペトレ前</a:t>
            </a:r>
          </a:p>
        </p:txBody>
      </p:sp>
      <p:sp>
        <p:nvSpPr>
          <p:cNvPr id="16" name="正方形/長方形 15">
            <a:extLst>
              <a:ext uri="{FF2B5EF4-FFF2-40B4-BE49-F238E27FC236}">
                <a16:creationId xmlns:a16="http://schemas.microsoft.com/office/drawing/2014/main" id="{7BE5ABF4-A2B0-4638-BE76-001DF6E8DD56}"/>
              </a:ext>
            </a:extLst>
          </p:cNvPr>
          <p:cNvSpPr/>
          <p:nvPr/>
        </p:nvSpPr>
        <p:spPr>
          <a:xfrm>
            <a:off x="5294795" y="4326358"/>
            <a:ext cx="2171739" cy="544493"/>
          </a:xfrm>
          <a:prstGeom prst="rect">
            <a:avLst/>
          </a:prstGeom>
          <a:solidFill>
            <a:schemeClr val="accent1">
              <a:lumMod val="40000"/>
              <a:lumOff val="60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dirty="0"/>
              <a:t>オペトレ</a:t>
            </a:r>
            <a:r>
              <a:rPr lang="ja-JP" altLang="en-US" dirty="0"/>
              <a:t>後</a:t>
            </a:r>
            <a:endParaRPr kumimoji="1" lang="ja-JP" altLang="en-US" dirty="0"/>
          </a:p>
        </p:txBody>
      </p:sp>
      <p:sp>
        <p:nvSpPr>
          <p:cNvPr id="17" name="吹き出し: 四角形 16">
            <a:extLst>
              <a:ext uri="{FF2B5EF4-FFF2-40B4-BE49-F238E27FC236}">
                <a16:creationId xmlns:a16="http://schemas.microsoft.com/office/drawing/2014/main" id="{C6CCDB67-8096-4ABE-BF1B-8C1419374C35}"/>
              </a:ext>
            </a:extLst>
          </p:cNvPr>
          <p:cNvSpPr/>
          <p:nvPr/>
        </p:nvSpPr>
        <p:spPr>
          <a:xfrm>
            <a:off x="7488831" y="2140483"/>
            <a:ext cx="1475656" cy="440742"/>
          </a:xfrm>
          <a:prstGeom prst="wedgeRectCallout">
            <a:avLst>
              <a:gd name="adj1" fmla="val -45049"/>
              <a:gd name="adj2" fmla="val 131570"/>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ブームを上手く活用できず手前のみ掘削</a:t>
            </a:r>
          </a:p>
        </p:txBody>
      </p:sp>
      <p:sp>
        <p:nvSpPr>
          <p:cNvPr id="18" name="吹き出し: 四角形 17">
            <a:extLst>
              <a:ext uri="{FF2B5EF4-FFF2-40B4-BE49-F238E27FC236}">
                <a16:creationId xmlns:a16="http://schemas.microsoft.com/office/drawing/2014/main" id="{84BBC922-DA0A-4D72-B857-DF91677E9B57}"/>
              </a:ext>
            </a:extLst>
          </p:cNvPr>
          <p:cNvSpPr/>
          <p:nvPr/>
        </p:nvSpPr>
        <p:spPr>
          <a:xfrm>
            <a:off x="7520872" y="4574883"/>
            <a:ext cx="1475656" cy="440742"/>
          </a:xfrm>
          <a:prstGeom prst="wedgeRectCallout">
            <a:avLst>
              <a:gd name="adj1" fmla="val -45049"/>
              <a:gd name="adj2" fmla="val 131570"/>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指導後はスムーズな掘削を実現</a:t>
            </a:r>
          </a:p>
        </p:txBody>
      </p:sp>
      <p:sp>
        <p:nvSpPr>
          <p:cNvPr id="21" name="正方形/長方形 20">
            <a:extLst>
              <a:ext uri="{FF2B5EF4-FFF2-40B4-BE49-F238E27FC236}">
                <a16:creationId xmlns:a16="http://schemas.microsoft.com/office/drawing/2014/main" id="{27C4381B-7F23-40FD-A0DD-F200F156B056}"/>
              </a:ext>
            </a:extLst>
          </p:cNvPr>
          <p:cNvSpPr/>
          <p:nvPr/>
        </p:nvSpPr>
        <p:spPr>
          <a:xfrm>
            <a:off x="5231569" y="1862414"/>
            <a:ext cx="3859949" cy="4734937"/>
          </a:xfrm>
          <a:prstGeom prst="rect">
            <a:avLst/>
          </a:prstGeom>
          <a:ln w="28575">
            <a:solidFill>
              <a:srgbClr val="3333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38A1205D-00AB-4819-ADB1-A311A2F86621}"/>
              </a:ext>
            </a:extLst>
          </p:cNvPr>
          <p:cNvSpPr/>
          <p:nvPr/>
        </p:nvSpPr>
        <p:spPr>
          <a:xfrm>
            <a:off x="1982458" y="2046347"/>
            <a:ext cx="3223242" cy="2748907"/>
          </a:xfrm>
          <a:prstGeom prst="rect">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吹き出し: 四角形 23">
            <a:extLst>
              <a:ext uri="{FF2B5EF4-FFF2-40B4-BE49-F238E27FC236}">
                <a16:creationId xmlns:a16="http://schemas.microsoft.com/office/drawing/2014/main" id="{48EE724A-799A-4508-A9D0-F285A900260C}"/>
              </a:ext>
            </a:extLst>
          </p:cNvPr>
          <p:cNvSpPr/>
          <p:nvPr/>
        </p:nvSpPr>
        <p:spPr>
          <a:xfrm>
            <a:off x="1172698" y="1536175"/>
            <a:ext cx="1885420" cy="440742"/>
          </a:xfrm>
          <a:prstGeom prst="wedgeRectCallout">
            <a:avLst>
              <a:gd name="adj1" fmla="val 46478"/>
              <a:gd name="adj2" fmla="val 70662"/>
            </a:avLst>
          </a:prstGeom>
          <a:solidFill>
            <a:schemeClr val="bg1"/>
          </a:solidFill>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100" b="1" dirty="0"/>
              <a:t>現場でトレーナーが同乗せずにレバーストロークを確認</a:t>
            </a:r>
          </a:p>
        </p:txBody>
      </p:sp>
    </p:spTree>
    <p:extLst>
      <p:ext uri="{BB962C8B-B14F-4D97-AF65-F5344CB8AC3E}">
        <p14:creationId xmlns:p14="http://schemas.microsoft.com/office/powerpoint/2010/main" val="9164995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FF841C-8CFE-4F5B-A3FD-446AF014FE7E}"/>
              </a:ext>
            </a:extLst>
          </p:cNvPr>
          <p:cNvSpPr>
            <a:spLocks noGrp="1"/>
          </p:cNvSpPr>
          <p:nvPr>
            <p:ph type="title"/>
          </p:nvPr>
        </p:nvSpPr>
        <p:spPr/>
        <p:txBody>
          <a:bodyPr/>
          <a:lstStyle/>
          <a:p>
            <a:r>
              <a:rPr lang="ja-JP" altLang="en-US" dirty="0"/>
              <a:t>マップ</a:t>
            </a:r>
            <a:r>
              <a:rPr kumimoji="1" lang="en-US" altLang="ja-JP" dirty="0"/>
              <a:t>/</a:t>
            </a:r>
            <a:r>
              <a:rPr kumimoji="1" lang="ja-JP" altLang="en-US" dirty="0"/>
              <a:t>スナップ</a:t>
            </a:r>
            <a:r>
              <a:rPr kumimoji="1" lang="en-US" altLang="ja-JP" dirty="0"/>
              <a:t>/</a:t>
            </a:r>
            <a:r>
              <a:rPr kumimoji="1" lang="ja-JP" altLang="en-US" dirty="0"/>
              <a:t>ヒストリー　データ</a:t>
            </a:r>
          </a:p>
        </p:txBody>
      </p:sp>
      <p:pic>
        <p:nvPicPr>
          <p:cNvPr id="4" name="図 3">
            <a:extLst>
              <a:ext uri="{FF2B5EF4-FFF2-40B4-BE49-F238E27FC236}">
                <a16:creationId xmlns:a16="http://schemas.microsoft.com/office/drawing/2014/main" id="{90AAA667-F6F0-4C15-838F-6D93FDB58E09}"/>
              </a:ext>
            </a:extLst>
          </p:cNvPr>
          <p:cNvPicPr>
            <a:picLocks noChangeAspect="1"/>
          </p:cNvPicPr>
          <p:nvPr/>
        </p:nvPicPr>
        <p:blipFill rotWithShape="1">
          <a:blip r:embed="rId2"/>
          <a:srcRect l="14664" t="39673"/>
          <a:stretch/>
        </p:blipFill>
        <p:spPr>
          <a:xfrm>
            <a:off x="467544" y="1029328"/>
            <a:ext cx="7704856" cy="2263966"/>
          </a:xfrm>
          <a:prstGeom prst="rect">
            <a:avLst/>
          </a:prstGeom>
        </p:spPr>
      </p:pic>
      <p:sp>
        <p:nvSpPr>
          <p:cNvPr id="5" name="テキスト ボックス 4">
            <a:extLst>
              <a:ext uri="{FF2B5EF4-FFF2-40B4-BE49-F238E27FC236}">
                <a16:creationId xmlns:a16="http://schemas.microsoft.com/office/drawing/2014/main" id="{DAAE3240-318C-4291-A33C-3EFFAB7B5F5F}"/>
              </a:ext>
            </a:extLst>
          </p:cNvPr>
          <p:cNvSpPr txBox="1"/>
          <p:nvPr/>
        </p:nvSpPr>
        <p:spPr>
          <a:xfrm>
            <a:off x="179512" y="659996"/>
            <a:ext cx="1233030" cy="369332"/>
          </a:xfrm>
          <a:prstGeom prst="rect">
            <a:avLst/>
          </a:prstGeom>
          <a:noFill/>
        </p:spPr>
        <p:txBody>
          <a:bodyPr wrap="none" rtlCol="0">
            <a:spAutoFit/>
          </a:bodyPr>
          <a:lstStyle/>
          <a:p>
            <a:r>
              <a:rPr lang="ja-JP" altLang="en-US" dirty="0">
                <a:latin typeface="Meiryo UI" pitchFamily="50" charset="-128"/>
                <a:ea typeface="Meiryo UI" pitchFamily="50" charset="-128"/>
                <a:cs typeface="Meiryo UI" pitchFamily="50" charset="-128"/>
              </a:rPr>
              <a:t>マップ</a:t>
            </a:r>
            <a:r>
              <a:rPr kumimoji="1" lang="ja-JP" altLang="en-US" dirty="0">
                <a:latin typeface="Meiryo UI" pitchFamily="50" charset="-128"/>
                <a:ea typeface="Meiryo UI" pitchFamily="50" charset="-128"/>
                <a:cs typeface="Meiryo UI" pitchFamily="50" charset="-128"/>
              </a:rPr>
              <a:t>データ</a:t>
            </a:r>
          </a:p>
        </p:txBody>
      </p:sp>
      <p:sp>
        <p:nvSpPr>
          <p:cNvPr id="6" name="テキスト ボックス 5">
            <a:extLst>
              <a:ext uri="{FF2B5EF4-FFF2-40B4-BE49-F238E27FC236}">
                <a16:creationId xmlns:a16="http://schemas.microsoft.com/office/drawing/2014/main" id="{E0582F1C-7B4E-4FAB-BE70-D477C5FDD120}"/>
              </a:ext>
            </a:extLst>
          </p:cNvPr>
          <p:cNvSpPr txBox="1"/>
          <p:nvPr/>
        </p:nvSpPr>
        <p:spPr>
          <a:xfrm>
            <a:off x="179512" y="3293294"/>
            <a:ext cx="2361544" cy="369332"/>
          </a:xfrm>
          <a:prstGeom prst="rect">
            <a:avLst/>
          </a:prstGeom>
          <a:noFill/>
        </p:spPr>
        <p:txBody>
          <a:bodyPr wrap="none" rtlCol="0">
            <a:spAutoFit/>
          </a:bodyPr>
          <a:lstStyle/>
          <a:p>
            <a:r>
              <a:rPr lang="ja-JP" altLang="en-US" dirty="0">
                <a:latin typeface="Meiryo UI" pitchFamily="50" charset="-128"/>
                <a:ea typeface="Meiryo UI" pitchFamily="50" charset="-128"/>
                <a:cs typeface="Meiryo UI" pitchFamily="50" charset="-128"/>
              </a:rPr>
              <a:t>スナップ</a:t>
            </a:r>
            <a:r>
              <a:rPr kumimoji="1" lang="en-US" altLang="ja-JP" dirty="0">
                <a:latin typeface="Meiryo UI" pitchFamily="50" charset="-128"/>
                <a:ea typeface="Meiryo UI" pitchFamily="50" charset="-128"/>
                <a:cs typeface="Meiryo UI" pitchFamily="50" charset="-128"/>
              </a:rPr>
              <a:t>/</a:t>
            </a:r>
            <a:r>
              <a:rPr kumimoji="1" lang="ja-JP" altLang="en-US" dirty="0">
                <a:latin typeface="Meiryo UI" pitchFamily="50" charset="-128"/>
                <a:ea typeface="Meiryo UI" pitchFamily="50" charset="-128"/>
                <a:cs typeface="Meiryo UI" pitchFamily="50" charset="-128"/>
              </a:rPr>
              <a:t>ヒストリーデータ</a:t>
            </a:r>
          </a:p>
        </p:txBody>
      </p:sp>
      <p:graphicFrame>
        <p:nvGraphicFramePr>
          <p:cNvPr id="7" name="グラフ 6">
            <a:extLst>
              <a:ext uri="{FF2B5EF4-FFF2-40B4-BE49-F238E27FC236}">
                <a16:creationId xmlns:a16="http://schemas.microsoft.com/office/drawing/2014/main" id="{7588513F-4ACC-4976-AB06-61AE81304C7A}"/>
              </a:ext>
            </a:extLst>
          </p:cNvPr>
          <p:cNvGraphicFramePr>
            <a:graphicFrameLocks/>
          </p:cNvGraphicFramePr>
          <p:nvPr/>
        </p:nvGraphicFramePr>
        <p:xfrm>
          <a:off x="107504" y="4005064"/>
          <a:ext cx="3600400" cy="2952328"/>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直線コネクタ 7">
            <a:extLst>
              <a:ext uri="{FF2B5EF4-FFF2-40B4-BE49-F238E27FC236}">
                <a16:creationId xmlns:a16="http://schemas.microsoft.com/office/drawing/2014/main" id="{1F2AE574-29CF-4CC1-A218-1D1BB4BF8D4A}"/>
              </a:ext>
            </a:extLst>
          </p:cNvPr>
          <p:cNvCxnSpPr>
            <a:cxnSpLocks/>
          </p:cNvCxnSpPr>
          <p:nvPr/>
        </p:nvCxnSpPr>
        <p:spPr>
          <a:xfrm>
            <a:off x="798984" y="4077072"/>
            <a:ext cx="0" cy="23042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BE9585F-AD87-4CF2-BDC6-377944DCC4AA}"/>
              </a:ext>
            </a:extLst>
          </p:cNvPr>
          <p:cNvCxnSpPr>
            <a:cxnSpLocks/>
          </p:cNvCxnSpPr>
          <p:nvPr/>
        </p:nvCxnSpPr>
        <p:spPr>
          <a:xfrm>
            <a:off x="2123728" y="4077072"/>
            <a:ext cx="0" cy="23042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D49E0761-FCEF-43C9-AD2B-F9F60B45F5F3}"/>
              </a:ext>
            </a:extLst>
          </p:cNvPr>
          <p:cNvCxnSpPr>
            <a:cxnSpLocks/>
          </p:cNvCxnSpPr>
          <p:nvPr/>
        </p:nvCxnSpPr>
        <p:spPr>
          <a:xfrm>
            <a:off x="755576" y="4293096"/>
            <a:ext cx="1368152"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5B1C53D4-ABF5-4E29-B871-2D8A614B52A9}"/>
              </a:ext>
            </a:extLst>
          </p:cNvPr>
          <p:cNvSpPr txBox="1"/>
          <p:nvPr/>
        </p:nvSpPr>
        <p:spPr>
          <a:xfrm>
            <a:off x="864110" y="3615407"/>
            <a:ext cx="1146468" cy="461665"/>
          </a:xfrm>
          <a:prstGeom prst="rect">
            <a:avLst/>
          </a:prstGeom>
          <a:noFill/>
          <a:ln>
            <a:solidFill>
              <a:schemeClr val="tx1"/>
            </a:solidFill>
          </a:ln>
        </p:spPr>
        <p:txBody>
          <a:bodyPr wrap="none" rtlCol="0">
            <a:spAutoFit/>
          </a:bodyPr>
          <a:lstStyle/>
          <a:p>
            <a:r>
              <a:rPr kumimoji="1" lang="en-US" altLang="ja-JP" sz="1200" dirty="0"/>
              <a:t>Snap</a:t>
            </a:r>
          </a:p>
          <a:p>
            <a:r>
              <a:rPr kumimoji="1" lang="ja-JP" altLang="en-US" sz="1200" dirty="0"/>
              <a:t>この区間を</a:t>
            </a:r>
            <a:r>
              <a:rPr lang="ja-JP" altLang="en-US" sz="1200" dirty="0"/>
              <a:t>取得</a:t>
            </a:r>
            <a:endParaRPr kumimoji="1" lang="ja-JP" altLang="en-US" sz="1200" dirty="0"/>
          </a:p>
        </p:txBody>
      </p:sp>
      <p:cxnSp>
        <p:nvCxnSpPr>
          <p:cNvPr id="13" name="直線コネクタ 12">
            <a:extLst>
              <a:ext uri="{FF2B5EF4-FFF2-40B4-BE49-F238E27FC236}">
                <a16:creationId xmlns:a16="http://schemas.microsoft.com/office/drawing/2014/main" id="{7C9EB19B-4BA8-4F04-923A-C7267C1276C8}"/>
              </a:ext>
            </a:extLst>
          </p:cNvPr>
          <p:cNvCxnSpPr>
            <a:cxnSpLocks/>
          </p:cNvCxnSpPr>
          <p:nvPr/>
        </p:nvCxnSpPr>
        <p:spPr>
          <a:xfrm>
            <a:off x="3275856" y="4077072"/>
            <a:ext cx="0" cy="23042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C45B9CC7-4BAF-4137-891F-111F5AC2E4C4}"/>
              </a:ext>
            </a:extLst>
          </p:cNvPr>
          <p:cNvCxnSpPr>
            <a:cxnSpLocks/>
          </p:cNvCxnSpPr>
          <p:nvPr/>
        </p:nvCxnSpPr>
        <p:spPr>
          <a:xfrm>
            <a:off x="2123728" y="4293096"/>
            <a:ext cx="1152128"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3517A84A-0CDF-4973-9996-DA07C295890C}"/>
              </a:ext>
            </a:extLst>
          </p:cNvPr>
          <p:cNvSpPr txBox="1"/>
          <p:nvPr/>
        </p:nvSpPr>
        <p:spPr>
          <a:xfrm>
            <a:off x="2158221" y="3615407"/>
            <a:ext cx="1146468" cy="461665"/>
          </a:xfrm>
          <a:prstGeom prst="rect">
            <a:avLst/>
          </a:prstGeom>
          <a:noFill/>
          <a:ln>
            <a:solidFill>
              <a:schemeClr val="tx1"/>
            </a:solidFill>
          </a:ln>
        </p:spPr>
        <p:txBody>
          <a:bodyPr wrap="none" rtlCol="0">
            <a:spAutoFit/>
          </a:bodyPr>
          <a:lstStyle/>
          <a:p>
            <a:r>
              <a:rPr kumimoji="1" lang="en-US" altLang="ja-JP" sz="1200" dirty="0"/>
              <a:t>Snap</a:t>
            </a:r>
          </a:p>
          <a:p>
            <a:r>
              <a:rPr kumimoji="1" lang="ja-JP" altLang="en-US" sz="1200" dirty="0"/>
              <a:t>この区間を</a:t>
            </a:r>
            <a:r>
              <a:rPr lang="ja-JP" altLang="en-US" sz="1200" dirty="0"/>
              <a:t>取得</a:t>
            </a:r>
            <a:endParaRPr kumimoji="1" lang="ja-JP" altLang="en-US" sz="1200" dirty="0"/>
          </a:p>
        </p:txBody>
      </p:sp>
      <p:sp>
        <p:nvSpPr>
          <p:cNvPr id="18" name="テキスト ボックス 17">
            <a:extLst>
              <a:ext uri="{FF2B5EF4-FFF2-40B4-BE49-F238E27FC236}">
                <a16:creationId xmlns:a16="http://schemas.microsoft.com/office/drawing/2014/main" id="{55C19071-1FA0-4BC0-A850-3624B9EBAB3D}"/>
              </a:ext>
            </a:extLst>
          </p:cNvPr>
          <p:cNvSpPr txBox="1"/>
          <p:nvPr/>
        </p:nvSpPr>
        <p:spPr>
          <a:xfrm>
            <a:off x="2152925" y="5535776"/>
            <a:ext cx="1295547" cy="276999"/>
          </a:xfrm>
          <a:prstGeom prst="rect">
            <a:avLst/>
          </a:prstGeom>
          <a:noFill/>
          <a:ln>
            <a:solidFill>
              <a:srgbClr val="FF0000"/>
            </a:solidFill>
          </a:ln>
        </p:spPr>
        <p:txBody>
          <a:bodyPr wrap="none" rtlCol="0">
            <a:spAutoFit/>
          </a:bodyPr>
          <a:lstStyle/>
          <a:p>
            <a:pPr algn="ctr"/>
            <a:r>
              <a:rPr kumimoji="1" lang="ja-JP" altLang="en-US" sz="1200" dirty="0"/>
              <a:t>データ取得トリガー</a:t>
            </a:r>
          </a:p>
        </p:txBody>
      </p:sp>
      <p:graphicFrame>
        <p:nvGraphicFramePr>
          <p:cNvPr id="23" name="表 23">
            <a:extLst>
              <a:ext uri="{FF2B5EF4-FFF2-40B4-BE49-F238E27FC236}">
                <a16:creationId xmlns:a16="http://schemas.microsoft.com/office/drawing/2014/main" id="{8D6BA4FD-303B-45AF-BCCF-E93E24912E17}"/>
              </a:ext>
            </a:extLst>
          </p:cNvPr>
          <p:cNvGraphicFramePr>
            <a:graphicFrameLocks noGrp="1"/>
          </p:cNvGraphicFramePr>
          <p:nvPr/>
        </p:nvGraphicFramePr>
        <p:xfrm>
          <a:off x="3635896" y="4049112"/>
          <a:ext cx="5508104" cy="1468120"/>
        </p:xfrm>
        <a:graphic>
          <a:graphicData uri="http://schemas.openxmlformats.org/drawingml/2006/table">
            <a:tbl>
              <a:tblPr firstRow="1" bandRow="1">
                <a:tableStyleId>{5C22544A-7EE6-4342-B048-85BDC9FD1C3A}</a:tableStyleId>
              </a:tblPr>
              <a:tblGrid>
                <a:gridCol w="894154">
                  <a:extLst>
                    <a:ext uri="{9D8B030D-6E8A-4147-A177-3AD203B41FA5}">
                      <a16:colId xmlns:a16="http://schemas.microsoft.com/office/drawing/2014/main" val="4106909607"/>
                    </a:ext>
                  </a:extLst>
                </a:gridCol>
                <a:gridCol w="1626126">
                  <a:extLst>
                    <a:ext uri="{9D8B030D-6E8A-4147-A177-3AD203B41FA5}">
                      <a16:colId xmlns:a16="http://schemas.microsoft.com/office/drawing/2014/main" val="2539463957"/>
                    </a:ext>
                  </a:extLst>
                </a:gridCol>
                <a:gridCol w="1744179">
                  <a:extLst>
                    <a:ext uri="{9D8B030D-6E8A-4147-A177-3AD203B41FA5}">
                      <a16:colId xmlns:a16="http://schemas.microsoft.com/office/drawing/2014/main" val="3345425387"/>
                    </a:ext>
                  </a:extLst>
                </a:gridCol>
                <a:gridCol w="1243645">
                  <a:extLst>
                    <a:ext uri="{9D8B030D-6E8A-4147-A177-3AD203B41FA5}">
                      <a16:colId xmlns:a16="http://schemas.microsoft.com/office/drawing/2014/main" val="4216554989"/>
                    </a:ext>
                  </a:extLst>
                </a:gridCol>
              </a:tblGrid>
              <a:tr h="370840">
                <a:tc>
                  <a:txBody>
                    <a:bodyPr/>
                    <a:lstStyle/>
                    <a:p>
                      <a:endParaRPr kumimoji="1" lang="ja-JP" altLang="en-US" sz="1200"/>
                    </a:p>
                  </a:txBody>
                  <a:tcPr/>
                </a:tc>
                <a:tc>
                  <a:txBody>
                    <a:bodyPr/>
                    <a:lstStyle/>
                    <a:p>
                      <a:r>
                        <a:rPr kumimoji="1" lang="ja-JP" altLang="en-US" sz="1200" dirty="0"/>
                        <a:t>概要</a:t>
                      </a:r>
                    </a:p>
                  </a:txBody>
                  <a:tcPr/>
                </a:tc>
                <a:tc>
                  <a:txBody>
                    <a:bodyPr/>
                    <a:lstStyle/>
                    <a:p>
                      <a:r>
                        <a:rPr kumimoji="1" lang="ja-JP" altLang="en-US" sz="1200" dirty="0"/>
                        <a:t>メリット</a:t>
                      </a:r>
                    </a:p>
                  </a:txBody>
                  <a:tcPr/>
                </a:tc>
                <a:tc>
                  <a:txBody>
                    <a:bodyPr/>
                    <a:lstStyle/>
                    <a:p>
                      <a:r>
                        <a:rPr kumimoji="1" lang="ja-JP" altLang="en-US" sz="1200" dirty="0"/>
                        <a:t>デメリット</a:t>
                      </a:r>
                    </a:p>
                  </a:txBody>
                  <a:tcPr/>
                </a:tc>
                <a:extLst>
                  <a:ext uri="{0D108BD9-81ED-4DB2-BD59-A6C34878D82A}">
                    <a16:rowId xmlns:a16="http://schemas.microsoft.com/office/drawing/2014/main" val="3322240437"/>
                  </a:ext>
                </a:extLst>
              </a:tr>
              <a:tr h="370840">
                <a:tc>
                  <a:txBody>
                    <a:bodyPr/>
                    <a:lstStyle/>
                    <a:p>
                      <a:r>
                        <a:rPr kumimoji="1" lang="ja-JP" altLang="en-US" sz="1200" dirty="0"/>
                        <a:t>スナップ</a:t>
                      </a:r>
                    </a:p>
                  </a:txBody>
                  <a:tcPr/>
                </a:tc>
                <a:tc>
                  <a:txBody>
                    <a:bodyPr/>
                    <a:lstStyle/>
                    <a:p>
                      <a:r>
                        <a:rPr kumimoji="1" lang="ja-JP" altLang="en-US" sz="1200" dirty="0">
                          <a:latin typeface="Meiryo UI" pitchFamily="50" charset="-128"/>
                          <a:ea typeface="Meiryo UI" pitchFamily="50" charset="-128"/>
                          <a:cs typeface="Meiryo UI" pitchFamily="50" charset="-128"/>
                        </a:rPr>
                        <a:t>トリガー発生時の前後区間のデータを取得</a:t>
                      </a:r>
                      <a:endParaRPr kumimoji="1" lang="ja-JP" altLang="en-US" sz="1200" dirty="0"/>
                    </a:p>
                  </a:txBody>
                  <a:tcPr/>
                </a:tc>
                <a:tc>
                  <a:txBody>
                    <a:bodyPr/>
                    <a:lstStyle/>
                    <a:p>
                      <a:r>
                        <a:rPr kumimoji="1" lang="ja-JP" altLang="en-US" sz="1200" dirty="0"/>
                        <a:t>発生前後の挙動を確認できる</a:t>
                      </a:r>
                    </a:p>
                  </a:txBody>
                  <a:tcPr/>
                </a:tc>
                <a:tc>
                  <a:txBody>
                    <a:bodyPr/>
                    <a:lstStyle/>
                    <a:p>
                      <a:r>
                        <a:rPr kumimoji="1" lang="ja-JP" altLang="en-US" sz="1200" dirty="0"/>
                        <a:t>通信量大</a:t>
                      </a:r>
                      <a:endParaRPr kumimoji="1" lang="en-US" altLang="ja-JP" sz="1200" dirty="0"/>
                    </a:p>
                    <a:p>
                      <a:r>
                        <a:rPr kumimoji="1" lang="ja-JP" altLang="en-US" sz="1200" dirty="0"/>
                        <a:t>端末に蓄積し</a:t>
                      </a:r>
                      <a:endParaRPr kumimoji="1" lang="en-US" altLang="ja-JP" sz="1200" dirty="0"/>
                    </a:p>
                    <a:p>
                      <a:r>
                        <a:rPr kumimoji="1" lang="ja-JP" altLang="en-US" sz="1200" dirty="0"/>
                        <a:t>必要時に取得</a:t>
                      </a:r>
                    </a:p>
                  </a:txBody>
                  <a:tcPr/>
                </a:tc>
                <a:extLst>
                  <a:ext uri="{0D108BD9-81ED-4DB2-BD59-A6C34878D82A}">
                    <a16:rowId xmlns:a16="http://schemas.microsoft.com/office/drawing/2014/main" val="3097091125"/>
                  </a:ext>
                </a:extLst>
              </a:tr>
              <a:tr h="370840">
                <a:tc>
                  <a:txBody>
                    <a:bodyPr/>
                    <a:lstStyle/>
                    <a:p>
                      <a:r>
                        <a:rPr kumimoji="1" lang="ja-JP" altLang="en-US" sz="1200" dirty="0"/>
                        <a:t>ヒストリー</a:t>
                      </a:r>
                    </a:p>
                  </a:txBody>
                  <a:tcPr/>
                </a:tc>
                <a:tc>
                  <a:txBody>
                    <a:bodyPr/>
                    <a:lstStyle/>
                    <a:p>
                      <a:r>
                        <a:rPr lang="ja-JP" altLang="en-US" sz="1200" dirty="0">
                          <a:latin typeface="Meiryo UI" pitchFamily="50" charset="-128"/>
                          <a:ea typeface="Meiryo UI" pitchFamily="50" charset="-128"/>
                          <a:cs typeface="Meiryo UI" pitchFamily="50" charset="-128"/>
                        </a:rPr>
                        <a:t>トリガー発生時のデータを取得</a:t>
                      </a:r>
                      <a:endParaRPr kumimoji="1" lang="ja-JP" altLang="en-US" sz="1200" dirty="0"/>
                    </a:p>
                  </a:txBody>
                  <a:tcPr/>
                </a:tc>
                <a:tc>
                  <a:txBody>
                    <a:bodyPr/>
                    <a:lstStyle/>
                    <a:p>
                      <a:r>
                        <a:rPr kumimoji="1" lang="ja-JP" altLang="en-US" sz="1200" dirty="0"/>
                        <a:t>通信量小のため</a:t>
                      </a:r>
                      <a:endParaRPr kumimoji="1" lang="en-US" altLang="ja-JP" sz="1200" dirty="0"/>
                    </a:p>
                    <a:p>
                      <a:r>
                        <a:rPr kumimoji="1" lang="ja-JP" altLang="en-US" sz="1200" dirty="0"/>
                        <a:t>都度発報も可能</a:t>
                      </a:r>
                    </a:p>
                  </a:txBody>
                  <a:tcPr/>
                </a:tc>
                <a:tc>
                  <a:txBody>
                    <a:bodyPr/>
                    <a:lstStyle/>
                    <a:p>
                      <a:r>
                        <a:rPr kumimoji="1" lang="ja-JP" altLang="en-US" sz="1200" dirty="0"/>
                        <a:t>前後関係不明</a:t>
                      </a:r>
                    </a:p>
                  </a:txBody>
                  <a:tcPr/>
                </a:tc>
                <a:extLst>
                  <a:ext uri="{0D108BD9-81ED-4DB2-BD59-A6C34878D82A}">
                    <a16:rowId xmlns:a16="http://schemas.microsoft.com/office/drawing/2014/main" val="57607258"/>
                  </a:ext>
                </a:extLst>
              </a:tr>
            </a:tbl>
          </a:graphicData>
        </a:graphic>
      </p:graphicFrame>
      <p:sp>
        <p:nvSpPr>
          <p:cNvPr id="25" name="テキスト ボックス 24">
            <a:extLst>
              <a:ext uri="{FF2B5EF4-FFF2-40B4-BE49-F238E27FC236}">
                <a16:creationId xmlns:a16="http://schemas.microsoft.com/office/drawing/2014/main" id="{B1BD5051-F9FA-402F-A0F5-E1992720062C}"/>
              </a:ext>
            </a:extLst>
          </p:cNvPr>
          <p:cNvSpPr txBox="1"/>
          <p:nvPr/>
        </p:nvSpPr>
        <p:spPr>
          <a:xfrm>
            <a:off x="3773029" y="5661248"/>
            <a:ext cx="4956806" cy="923330"/>
          </a:xfrm>
          <a:prstGeom prst="rect">
            <a:avLst/>
          </a:prstGeom>
          <a:noFill/>
        </p:spPr>
        <p:txBody>
          <a:bodyPr wrap="none" rtlCol="0">
            <a:spAutoFit/>
          </a:bodyPr>
          <a:lstStyle/>
          <a:p>
            <a:r>
              <a:rPr kumimoji="1" lang="ja-JP" altLang="en-US" dirty="0">
                <a:latin typeface="Meiryo UI" pitchFamily="50" charset="-128"/>
                <a:ea typeface="Meiryo UI" pitchFamily="50" charset="-128"/>
                <a:cs typeface="Meiryo UI" pitchFamily="50" charset="-128"/>
              </a:rPr>
              <a:t>利用例</a:t>
            </a:r>
            <a:endParaRPr kumimoji="1" lang="en-US" altLang="ja-JP" dirty="0">
              <a:latin typeface="Meiryo UI" pitchFamily="50" charset="-128"/>
              <a:ea typeface="Meiryo UI" pitchFamily="50" charset="-128"/>
              <a:cs typeface="Meiryo UI" pitchFamily="50" charset="-128"/>
            </a:endParaRPr>
          </a:p>
          <a:p>
            <a:r>
              <a:rPr lang="ja-JP" altLang="en-US" dirty="0">
                <a:latin typeface="Meiryo UI" pitchFamily="50" charset="-128"/>
                <a:ea typeface="Meiryo UI" pitchFamily="50" charset="-128"/>
                <a:cs typeface="Meiryo UI" pitchFamily="50" charset="-128"/>
              </a:rPr>
              <a:t>スナップ：エラー発報時の前後データ取得</a:t>
            </a:r>
            <a:endParaRPr lang="en-US" altLang="ja-JP" dirty="0">
              <a:latin typeface="Meiryo UI" pitchFamily="50" charset="-128"/>
              <a:ea typeface="Meiryo UI" pitchFamily="50" charset="-128"/>
              <a:cs typeface="Meiryo UI" pitchFamily="50" charset="-128"/>
            </a:endParaRPr>
          </a:p>
          <a:p>
            <a:r>
              <a:rPr kumimoji="1" lang="ja-JP" altLang="en-US" dirty="0">
                <a:latin typeface="Meiryo UI" pitchFamily="50" charset="-128"/>
                <a:ea typeface="Meiryo UI" pitchFamily="50" charset="-128"/>
                <a:cs typeface="Meiryo UI" pitchFamily="50" charset="-128"/>
              </a:rPr>
              <a:t>ヒストリー：省エネガイダンス発生位の位置情報取得</a:t>
            </a:r>
          </a:p>
        </p:txBody>
      </p:sp>
    </p:spTree>
    <p:extLst>
      <p:ext uri="{BB962C8B-B14F-4D97-AF65-F5344CB8AC3E}">
        <p14:creationId xmlns:p14="http://schemas.microsoft.com/office/powerpoint/2010/main" val="20275902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正方形/長方形 183">
            <a:extLst>
              <a:ext uri="{FF2B5EF4-FFF2-40B4-BE49-F238E27FC236}">
                <a16:creationId xmlns:a16="http://schemas.microsoft.com/office/drawing/2014/main" id="{46DA8D7F-1FB1-4533-8BCF-BAC537863F3C}"/>
              </a:ext>
            </a:extLst>
          </p:cNvPr>
          <p:cNvSpPr/>
          <p:nvPr/>
        </p:nvSpPr>
        <p:spPr>
          <a:xfrm>
            <a:off x="22620" y="550068"/>
            <a:ext cx="9013876" cy="608947"/>
          </a:xfrm>
          <a:prstGeom prst="rect">
            <a:avLst/>
          </a:prstGeom>
          <a:solidFill>
            <a:srgbClr val="FF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lang="en-US" altLang="ja-JP"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CAN</a:t>
            </a:r>
            <a:r>
              <a:rPr lang="ja-JP" altLang="en-US"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データ取得定義</a:t>
            </a:r>
            <a:r>
              <a:rPr lang="en-US" altLang="ja-JP"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カスタマイズ定義</a:t>
            </a:r>
            <a:r>
              <a:rPr lang="en-US" altLang="ja-JP"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は各種条件により細分化され取り扱いが困難。</a:t>
            </a:r>
            <a:endParaRPr lang="en-US" altLang="ja-JP"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lvl="0">
              <a:defRPr/>
            </a:pPr>
            <a:r>
              <a:rPr lang="ja-JP" altLang="en-US"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用途</a:t>
            </a:r>
            <a:r>
              <a:rPr lang="en-US" altLang="ja-JP"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lang="ja-JP" altLang="en-US"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目的</a:t>
            </a:r>
            <a:r>
              <a:rPr lang="en-US" altLang="ja-JP"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a:t>
            </a:r>
            <a:r>
              <a:rPr lang="ja-JP" altLang="en-US" b="1" dirty="0">
                <a:solidFill>
                  <a:srgbClr val="0000FF"/>
                </a:solidFill>
                <a:latin typeface="Meiryo UI" panose="020B0604030504040204" pitchFamily="50" charset="-128"/>
                <a:ea typeface="Meiryo UI" panose="020B0604030504040204" pitchFamily="50" charset="-128"/>
                <a:cs typeface="Meiryo UI" panose="020B0604030504040204" pitchFamily="50" charset="-128"/>
              </a:rPr>
              <a:t>ごとに定義をまとめたカスタマイズ用途定義</a:t>
            </a:r>
            <a:r>
              <a:rPr lang="ja-JP" altLang="en-US"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にて取り扱う</a:t>
            </a:r>
            <a:endParaRPr lang="en-US" altLang="ja-JP" b="1"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7" name="円柱 126">
            <a:extLst>
              <a:ext uri="{FF2B5EF4-FFF2-40B4-BE49-F238E27FC236}">
                <a16:creationId xmlns:a16="http://schemas.microsoft.com/office/drawing/2014/main" id="{47C19973-B1AF-422D-90D4-D37845CE9EDC}"/>
              </a:ext>
            </a:extLst>
          </p:cNvPr>
          <p:cNvSpPr/>
          <p:nvPr/>
        </p:nvSpPr>
        <p:spPr>
          <a:xfrm>
            <a:off x="378804" y="1271247"/>
            <a:ext cx="4104456" cy="1512168"/>
          </a:xfrm>
          <a:prstGeom prst="can">
            <a:avLst>
              <a:gd name="adj" fmla="val 11402"/>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正方形/長方形 136">
            <a:extLst>
              <a:ext uri="{FF2B5EF4-FFF2-40B4-BE49-F238E27FC236}">
                <a16:creationId xmlns:a16="http://schemas.microsoft.com/office/drawing/2014/main" id="{97F51654-36CC-49D7-BDFE-631709AA6BC9}"/>
              </a:ext>
            </a:extLst>
          </p:cNvPr>
          <p:cNvSpPr/>
          <p:nvPr/>
        </p:nvSpPr>
        <p:spPr>
          <a:xfrm>
            <a:off x="485187" y="1772045"/>
            <a:ext cx="3888432" cy="864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44" name="表 143">
            <a:extLst>
              <a:ext uri="{FF2B5EF4-FFF2-40B4-BE49-F238E27FC236}">
                <a16:creationId xmlns:a16="http://schemas.microsoft.com/office/drawing/2014/main" id="{742DFCED-70BB-4B5F-BCB5-4C15344582BA}"/>
              </a:ext>
            </a:extLst>
          </p:cNvPr>
          <p:cNvGraphicFramePr>
            <a:graphicFrameLocks noGrp="1"/>
          </p:cNvGraphicFramePr>
          <p:nvPr/>
        </p:nvGraphicFramePr>
        <p:xfrm>
          <a:off x="487167" y="1778618"/>
          <a:ext cx="3888432" cy="864096"/>
        </p:xfrm>
        <a:graphic>
          <a:graphicData uri="http://schemas.openxmlformats.org/drawingml/2006/table">
            <a:tbl>
              <a:tblPr firstRow="1" bandRow="1">
                <a:tableStyleId>{5940675A-B579-460E-94D1-54222C63F5DA}</a:tableStyleId>
              </a:tblPr>
              <a:tblGrid>
                <a:gridCol w="1041718">
                  <a:extLst>
                    <a:ext uri="{9D8B030D-6E8A-4147-A177-3AD203B41FA5}">
                      <a16:colId xmlns:a16="http://schemas.microsoft.com/office/drawing/2014/main" val="319832954"/>
                    </a:ext>
                  </a:extLst>
                </a:gridCol>
                <a:gridCol w="1082167">
                  <a:extLst>
                    <a:ext uri="{9D8B030D-6E8A-4147-A177-3AD203B41FA5}">
                      <a16:colId xmlns:a16="http://schemas.microsoft.com/office/drawing/2014/main" val="2233767674"/>
                    </a:ext>
                  </a:extLst>
                </a:gridCol>
                <a:gridCol w="1764547">
                  <a:extLst>
                    <a:ext uri="{9D8B030D-6E8A-4147-A177-3AD203B41FA5}">
                      <a16:colId xmlns:a16="http://schemas.microsoft.com/office/drawing/2014/main" val="2570085625"/>
                    </a:ext>
                  </a:extLst>
                </a:gridCol>
              </a:tblGrid>
              <a:tr h="222613">
                <a:tc>
                  <a:txBody>
                    <a:bodyPr/>
                    <a:lstStyle/>
                    <a:p>
                      <a:r>
                        <a:rPr kumimoji="1" lang="ja-JP" altLang="en-US" sz="1200" b="1" dirty="0">
                          <a:solidFill>
                            <a:schemeClr val="bg1"/>
                          </a:solidFill>
                          <a:latin typeface="+mn-ea"/>
                          <a:ea typeface="+mn-ea"/>
                        </a:rPr>
                        <a:t>用途定義</a:t>
                      </a:r>
                      <a:r>
                        <a:rPr kumimoji="1" lang="en-US" altLang="ja-JP" sz="1200" b="1" dirty="0">
                          <a:solidFill>
                            <a:schemeClr val="bg1"/>
                          </a:solidFill>
                          <a:latin typeface="+mn-ea"/>
                          <a:ea typeface="+mn-ea"/>
                        </a:rPr>
                        <a:t>ID</a:t>
                      </a:r>
                      <a:endParaRPr kumimoji="1" lang="ja-JP" altLang="en-US" sz="1200" b="1" dirty="0">
                        <a:solidFill>
                          <a:schemeClr val="bg1"/>
                        </a:solidFill>
                        <a:latin typeface="+mn-ea"/>
                        <a:ea typeface="+mn-ea"/>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solidFill>
                  </a:tcPr>
                </a:tc>
                <a:tc>
                  <a:txBody>
                    <a:bodyPr/>
                    <a:lstStyle/>
                    <a:p>
                      <a:r>
                        <a:rPr kumimoji="1" lang="ja-JP" altLang="en-US" sz="1200" b="1" dirty="0">
                          <a:solidFill>
                            <a:schemeClr val="bg1"/>
                          </a:solidFill>
                          <a:latin typeface="+mn-ea"/>
                          <a:ea typeface="+mn-ea"/>
                        </a:rPr>
                        <a:t>名　称</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solidFill>
                  </a:tcPr>
                </a:tc>
                <a:tc>
                  <a:txBody>
                    <a:bodyPr/>
                    <a:lstStyle/>
                    <a:p>
                      <a:r>
                        <a:rPr kumimoji="1" lang="ja-JP" altLang="en-US" sz="1200" b="1" dirty="0">
                          <a:solidFill>
                            <a:schemeClr val="bg1"/>
                          </a:solidFill>
                          <a:latin typeface="+mn-ea"/>
                          <a:ea typeface="+mn-ea"/>
                        </a:rPr>
                        <a:t>カスタマイズ定義</a:t>
                      </a:r>
                      <a:r>
                        <a:rPr kumimoji="1" lang="en-US" altLang="ja-JP" sz="1200" b="1" dirty="0">
                          <a:solidFill>
                            <a:schemeClr val="bg1"/>
                          </a:solidFill>
                          <a:latin typeface="+mn-ea"/>
                          <a:ea typeface="+mn-ea"/>
                        </a:rPr>
                        <a:t>ID</a:t>
                      </a:r>
                      <a:r>
                        <a:rPr kumimoji="1" lang="ja-JP" altLang="en-US" sz="1200" b="1" dirty="0">
                          <a:solidFill>
                            <a:schemeClr val="bg1"/>
                          </a:solidFill>
                          <a:latin typeface="+mn-ea"/>
                          <a:ea typeface="+mn-ea"/>
                        </a:rPr>
                        <a:t>リスト</a:t>
                      </a:r>
                    </a:p>
                  </a:txBody>
                  <a:tcPr marL="72000" marR="3600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254699678"/>
                  </a:ext>
                </a:extLst>
              </a:tr>
              <a:tr h="589776">
                <a:tc>
                  <a:txBody>
                    <a:bodyPr/>
                    <a:lstStyle/>
                    <a:p>
                      <a:r>
                        <a:rPr kumimoji="1" lang="ja-JP" altLang="en-US" sz="1200" dirty="0">
                          <a:solidFill>
                            <a:srgbClr val="C00000"/>
                          </a:solidFill>
                          <a:latin typeface="+mn-ea"/>
                          <a:ea typeface="+mn-ea"/>
                        </a:rPr>
                        <a:t>用途定義</a:t>
                      </a:r>
                      <a:r>
                        <a:rPr kumimoji="1" lang="en-US" altLang="ja-JP" sz="1200" dirty="0">
                          <a:solidFill>
                            <a:srgbClr val="C00000"/>
                          </a:solidFill>
                          <a:latin typeface="+mn-ea"/>
                          <a:ea typeface="+mn-ea"/>
                        </a:rPr>
                        <a:t>ID</a:t>
                      </a:r>
                      <a:endParaRPr kumimoji="1" lang="ja-JP" altLang="en-US" sz="1200" dirty="0">
                        <a:solidFill>
                          <a:srgbClr val="C00000"/>
                        </a:solidFill>
                        <a:latin typeface="+mn-ea"/>
                        <a:ea typeface="+mn-ea"/>
                      </a:endParaRP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kumimoji="1" lang="ja-JP" altLang="en-US" sz="1050" dirty="0">
                          <a:solidFill>
                            <a:schemeClr val="bg1">
                              <a:lumMod val="50000"/>
                            </a:schemeClr>
                          </a:solidFill>
                          <a:latin typeface="+mn-ea"/>
                          <a:ea typeface="+mn-ea"/>
                        </a:rPr>
                        <a:t>オペトレ詳細分析</a:t>
                      </a:r>
                    </a:p>
                  </a:txBody>
                  <a:tcPr marL="36000" marR="0">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tc>
                  <a:txBody>
                    <a:bodyPr/>
                    <a:lstStyle/>
                    <a:p>
                      <a:r>
                        <a:rPr kumimoji="1" lang="ja-JP" altLang="en-US" sz="1200" dirty="0">
                          <a:latin typeface="+mn-ea"/>
                          <a:ea typeface="+mn-ea"/>
                        </a:rPr>
                        <a:t>〇　□　△</a:t>
                      </a:r>
                    </a:p>
                  </a:txBody>
                  <a:tcPr>
                    <a:lnL w="12700" cap="flat" cmpd="sng" algn="ctr">
                      <a:solidFill>
                        <a:schemeClr val="accent6">
                          <a:lumMod val="50000"/>
                        </a:schemeClr>
                      </a:solidFill>
                      <a:prstDash val="solid"/>
                      <a:round/>
                      <a:headEnd type="none" w="med" len="med"/>
                      <a:tailEnd type="none" w="med" len="med"/>
                    </a:lnL>
                    <a:lnR w="12700" cap="flat" cmpd="sng" algn="ctr">
                      <a:solidFill>
                        <a:schemeClr val="accent6">
                          <a:lumMod val="50000"/>
                        </a:schemeClr>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tcPr>
                </a:tc>
                <a:extLst>
                  <a:ext uri="{0D108BD9-81ED-4DB2-BD59-A6C34878D82A}">
                    <a16:rowId xmlns:a16="http://schemas.microsoft.com/office/drawing/2014/main" val="4003686802"/>
                  </a:ext>
                </a:extLst>
              </a:tr>
            </a:tbl>
          </a:graphicData>
        </a:graphic>
      </p:graphicFrame>
      <p:sp>
        <p:nvSpPr>
          <p:cNvPr id="147" name="円柱 146">
            <a:extLst>
              <a:ext uri="{FF2B5EF4-FFF2-40B4-BE49-F238E27FC236}">
                <a16:creationId xmlns:a16="http://schemas.microsoft.com/office/drawing/2014/main" id="{D46AF50A-350B-4ECF-8DA3-3A3D1B2439A5}"/>
              </a:ext>
            </a:extLst>
          </p:cNvPr>
          <p:cNvSpPr/>
          <p:nvPr/>
        </p:nvSpPr>
        <p:spPr>
          <a:xfrm>
            <a:off x="407215" y="2923316"/>
            <a:ext cx="4104456" cy="1512168"/>
          </a:xfrm>
          <a:prstGeom prst="can">
            <a:avLst>
              <a:gd name="adj" fmla="val 11402"/>
            </a:avLst>
          </a:prstGeom>
          <a:solidFill>
            <a:srgbClr val="FFCC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テキスト ボックス 148">
            <a:extLst>
              <a:ext uri="{FF2B5EF4-FFF2-40B4-BE49-F238E27FC236}">
                <a16:creationId xmlns:a16="http://schemas.microsoft.com/office/drawing/2014/main" id="{0312209D-9362-4623-BC10-DE5479424A36}"/>
              </a:ext>
            </a:extLst>
          </p:cNvPr>
          <p:cNvSpPr txBox="1"/>
          <p:nvPr/>
        </p:nvSpPr>
        <p:spPr>
          <a:xfrm>
            <a:off x="1312812" y="4067165"/>
            <a:ext cx="2108269" cy="338554"/>
          </a:xfrm>
          <a:prstGeom prst="rect">
            <a:avLst/>
          </a:prstGeom>
          <a:noFill/>
        </p:spPr>
        <p:txBody>
          <a:bodyPr wrap="none" rtlCol="0">
            <a:spAutoFit/>
          </a:bodyPr>
          <a:lstStyle/>
          <a:p>
            <a:r>
              <a:rPr kumimoji="1" lang="ja-JP" altLang="en-US" sz="1600" b="1" dirty="0">
                <a:latin typeface="+mn-ea"/>
              </a:rPr>
              <a:t>カスタマイズ定義マスタ</a:t>
            </a:r>
          </a:p>
        </p:txBody>
      </p:sp>
      <p:sp>
        <p:nvSpPr>
          <p:cNvPr id="150" name="四角形: メモ 149">
            <a:extLst>
              <a:ext uri="{FF2B5EF4-FFF2-40B4-BE49-F238E27FC236}">
                <a16:creationId xmlns:a16="http://schemas.microsoft.com/office/drawing/2014/main" id="{EF7B8CB2-DC35-49D8-B1A2-074E3C2AA81A}"/>
              </a:ext>
            </a:extLst>
          </p:cNvPr>
          <p:cNvSpPr/>
          <p:nvPr/>
        </p:nvSpPr>
        <p:spPr>
          <a:xfrm flipV="1">
            <a:off x="1404489" y="3231475"/>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151" name="四角形: メモ 150">
            <a:extLst>
              <a:ext uri="{FF2B5EF4-FFF2-40B4-BE49-F238E27FC236}">
                <a16:creationId xmlns:a16="http://schemas.microsoft.com/office/drawing/2014/main" id="{6BF09C30-7D30-43D4-90DD-43669F2DE734}"/>
              </a:ext>
            </a:extLst>
          </p:cNvPr>
          <p:cNvSpPr/>
          <p:nvPr/>
        </p:nvSpPr>
        <p:spPr>
          <a:xfrm flipV="1">
            <a:off x="2261060" y="3231475"/>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152" name="四角形: メモ 151">
            <a:extLst>
              <a:ext uri="{FF2B5EF4-FFF2-40B4-BE49-F238E27FC236}">
                <a16:creationId xmlns:a16="http://schemas.microsoft.com/office/drawing/2014/main" id="{71EAE40F-7D14-439A-B38A-FC92DC608855}"/>
              </a:ext>
            </a:extLst>
          </p:cNvPr>
          <p:cNvSpPr/>
          <p:nvPr/>
        </p:nvSpPr>
        <p:spPr>
          <a:xfrm flipV="1">
            <a:off x="3137349" y="323988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153" name="テキスト ボックス 152">
            <a:extLst>
              <a:ext uri="{FF2B5EF4-FFF2-40B4-BE49-F238E27FC236}">
                <a16:creationId xmlns:a16="http://schemas.microsoft.com/office/drawing/2014/main" id="{A7D264A1-7BE4-4FDC-9CD8-D67B00F3C292}"/>
              </a:ext>
            </a:extLst>
          </p:cNvPr>
          <p:cNvSpPr txBox="1"/>
          <p:nvPr/>
        </p:nvSpPr>
        <p:spPr>
          <a:xfrm>
            <a:off x="1395094" y="3265660"/>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154" name="テキスト ボックス 153">
            <a:extLst>
              <a:ext uri="{FF2B5EF4-FFF2-40B4-BE49-F238E27FC236}">
                <a16:creationId xmlns:a16="http://schemas.microsoft.com/office/drawing/2014/main" id="{67D83F7E-D592-46ED-992F-7C8EFCB2700F}"/>
              </a:ext>
            </a:extLst>
          </p:cNvPr>
          <p:cNvSpPr txBox="1"/>
          <p:nvPr/>
        </p:nvSpPr>
        <p:spPr>
          <a:xfrm>
            <a:off x="2208190" y="3266983"/>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155" name="テキスト ボックス 154">
            <a:extLst>
              <a:ext uri="{FF2B5EF4-FFF2-40B4-BE49-F238E27FC236}">
                <a16:creationId xmlns:a16="http://schemas.microsoft.com/office/drawing/2014/main" id="{9E569D82-2CD3-4CD1-A966-C1F5FCDD9FCA}"/>
              </a:ext>
            </a:extLst>
          </p:cNvPr>
          <p:cNvSpPr txBox="1"/>
          <p:nvPr/>
        </p:nvSpPr>
        <p:spPr>
          <a:xfrm>
            <a:off x="3125776" y="3256983"/>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156" name="フリーフォーム: 図形 155">
            <a:extLst>
              <a:ext uri="{FF2B5EF4-FFF2-40B4-BE49-F238E27FC236}">
                <a16:creationId xmlns:a16="http://schemas.microsoft.com/office/drawing/2014/main" id="{703C85B0-AD0F-47EB-B798-C0A84DF34432}"/>
              </a:ext>
            </a:extLst>
          </p:cNvPr>
          <p:cNvSpPr/>
          <p:nvPr/>
        </p:nvSpPr>
        <p:spPr>
          <a:xfrm>
            <a:off x="1676742" y="2257073"/>
            <a:ext cx="1034729" cy="958293"/>
          </a:xfrm>
          <a:custGeom>
            <a:avLst/>
            <a:gdLst>
              <a:gd name="connsiteX0" fmla="*/ 1161907 w 1161907"/>
              <a:gd name="connsiteY0" fmla="*/ 0 h 907525"/>
              <a:gd name="connsiteX1" fmla="*/ 268132 w 1161907"/>
              <a:gd name="connsiteY1" fmla="*/ 433137 h 907525"/>
              <a:gd name="connsiteX2" fmla="*/ 0 w 1161907"/>
              <a:gd name="connsiteY2" fmla="*/ 907525 h 907525"/>
            </a:gdLst>
            <a:ahLst/>
            <a:cxnLst>
              <a:cxn ang="0">
                <a:pos x="connsiteX0" y="connsiteY0"/>
              </a:cxn>
              <a:cxn ang="0">
                <a:pos x="connsiteX1" y="connsiteY1"/>
              </a:cxn>
              <a:cxn ang="0">
                <a:pos x="connsiteX2" y="connsiteY2"/>
              </a:cxn>
            </a:cxnLst>
            <a:rect l="l" t="t" r="r" b="b"/>
            <a:pathLst>
              <a:path w="1161907" h="907525">
                <a:moveTo>
                  <a:pt x="1161907" y="0"/>
                </a:moveTo>
                <a:cubicBezTo>
                  <a:pt x="811845" y="140941"/>
                  <a:pt x="461783" y="281883"/>
                  <a:pt x="268132" y="433137"/>
                </a:cubicBezTo>
                <a:cubicBezTo>
                  <a:pt x="74481" y="584391"/>
                  <a:pt x="37240" y="745958"/>
                  <a:pt x="0" y="907525"/>
                </a:cubicBezTo>
              </a:path>
            </a:pathLst>
          </a:custGeom>
          <a:noFill/>
          <a:ln w="9525">
            <a:solidFill>
              <a:schemeClr val="accent6">
                <a:lumMod val="50000"/>
              </a:schemeClr>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8" name="フリーフォーム: 図形 157">
            <a:extLst>
              <a:ext uri="{FF2B5EF4-FFF2-40B4-BE49-F238E27FC236}">
                <a16:creationId xmlns:a16="http://schemas.microsoft.com/office/drawing/2014/main" id="{20122047-FD42-43B0-BBF1-6DFC6F0E6452}"/>
              </a:ext>
            </a:extLst>
          </p:cNvPr>
          <p:cNvSpPr/>
          <p:nvPr/>
        </p:nvSpPr>
        <p:spPr>
          <a:xfrm>
            <a:off x="2467263" y="2250500"/>
            <a:ext cx="503829" cy="964867"/>
          </a:xfrm>
          <a:custGeom>
            <a:avLst/>
            <a:gdLst>
              <a:gd name="connsiteX0" fmla="*/ 587239 w 587239"/>
              <a:gd name="connsiteY0" fmla="*/ 0 h 928150"/>
              <a:gd name="connsiteX1" fmla="*/ 78475 w 587239"/>
              <a:gd name="connsiteY1" fmla="*/ 446887 h 928150"/>
              <a:gd name="connsiteX2" fmla="*/ 9723 w 587239"/>
              <a:gd name="connsiteY2" fmla="*/ 928150 h 928150"/>
            </a:gdLst>
            <a:ahLst/>
            <a:cxnLst>
              <a:cxn ang="0">
                <a:pos x="connsiteX0" y="connsiteY0"/>
              </a:cxn>
              <a:cxn ang="0">
                <a:pos x="connsiteX1" y="connsiteY1"/>
              </a:cxn>
              <a:cxn ang="0">
                <a:pos x="connsiteX2" y="connsiteY2"/>
              </a:cxn>
            </a:cxnLst>
            <a:rect l="l" t="t" r="r" b="b"/>
            <a:pathLst>
              <a:path w="587239" h="928150">
                <a:moveTo>
                  <a:pt x="587239" y="0"/>
                </a:moveTo>
                <a:cubicBezTo>
                  <a:pt x="380983" y="146097"/>
                  <a:pt x="174728" y="292195"/>
                  <a:pt x="78475" y="446887"/>
                </a:cubicBezTo>
                <a:cubicBezTo>
                  <a:pt x="-17778" y="601579"/>
                  <a:pt x="-4028" y="764864"/>
                  <a:pt x="9723" y="928150"/>
                </a:cubicBezTo>
              </a:path>
            </a:pathLst>
          </a:custGeom>
          <a:noFill/>
          <a:ln w="9525">
            <a:solidFill>
              <a:schemeClr val="accent6">
                <a:lumMod val="50000"/>
              </a:schemeClr>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フリーフォーム: 図形 158">
            <a:extLst>
              <a:ext uri="{FF2B5EF4-FFF2-40B4-BE49-F238E27FC236}">
                <a16:creationId xmlns:a16="http://schemas.microsoft.com/office/drawing/2014/main" id="{C843E722-F46A-445A-8FB6-F79D7741F4D9}"/>
              </a:ext>
            </a:extLst>
          </p:cNvPr>
          <p:cNvSpPr/>
          <p:nvPr/>
        </p:nvSpPr>
        <p:spPr>
          <a:xfrm>
            <a:off x="3074138" y="2259716"/>
            <a:ext cx="256994" cy="976277"/>
          </a:xfrm>
          <a:custGeom>
            <a:avLst/>
            <a:gdLst>
              <a:gd name="connsiteX0" fmla="*/ 146991 w 256994"/>
              <a:gd name="connsiteY0" fmla="*/ 0 h 976277"/>
              <a:gd name="connsiteX1" fmla="*/ 2612 w 256994"/>
              <a:gd name="connsiteY1" fmla="*/ 426262 h 976277"/>
              <a:gd name="connsiteX2" fmla="*/ 256994 w 256994"/>
              <a:gd name="connsiteY2" fmla="*/ 976277 h 976277"/>
            </a:gdLst>
            <a:ahLst/>
            <a:cxnLst>
              <a:cxn ang="0">
                <a:pos x="connsiteX0" y="connsiteY0"/>
              </a:cxn>
              <a:cxn ang="0">
                <a:pos x="connsiteX1" y="connsiteY1"/>
              </a:cxn>
              <a:cxn ang="0">
                <a:pos x="connsiteX2" y="connsiteY2"/>
              </a:cxn>
            </a:cxnLst>
            <a:rect l="l" t="t" r="r" b="b"/>
            <a:pathLst>
              <a:path w="256994" h="976277">
                <a:moveTo>
                  <a:pt x="146991" y="0"/>
                </a:moveTo>
                <a:cubicBezTo>
                  <a:pt x="65634" y="131774"/>
                  <a:pt x="-15722" y="263549"/>
                  <a:pt x="2612" y="426262"/>
                </a:cubicBezTo>
                <a:cubicBezTo>
                  <a:pt x="20946" y="588975"/>
                  <a:pt x="138970" y="782626"/>
                  <a:pt x="256994" y="976277"/>
                </a:cubicBezTo>
              </a:path>
            </a:pathLst>
          </a:custGeom>
          <a:noFill/>
          <a:ln w="9525">
            <a:solidFill>
              <a:schemeClr val="accent6">
                <a:lumMod val="50000"/>
              </a:schemeClr>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2" name="グループ化 161">
            <a:extLst>
              <a:ext uri="{FF2B5EF4-FFF2-40B4-BE49-F238E27FC236}">
                <a16:creationId xmlns:a16="http://schemas.microsoft.com/office/drawing/2014/main" id="{CD88D1CE-A26F-4C2F-933C-0D672B0355D1}"/>
              </a:ext>
            </a:extLst>
          </p:cNvPr>
          <p:cNvGrpSpPr/>
          <p:nvPr/>
        </p:nvGrpSpPr>
        <p:grpSpPr>
          <a:xfrm>
            <a:off x="367592" y="1231800"/>
            <a:ext cx="2518638" cy="517902"/>
            <a:chOff x="1392436" y="725257"/>
            <a:chExt cx="2518638" cy="517902"/>
          </a:xfrm>
        </p:grpSpPr>
        <p:sp>
          <p:nvSpPr>
            <p:cNvPr id="166" name="テキスト ボックス 165">
              <a:extLst>
                <a:ext uri="{FF2B5EF4-FFF2-40B4-BE49-F238E27FC236}">
                  <a16:creationId xmlns:a16="http://schemas.microsoft.com/office/drawing/2014/main" id="{8BF6E698-C3B8-421F-96EA-53535459A283}"/>
                </a:ext>
              </a:extLst>
            </p:cNvPr>
            <p:cNvSpPr txBox="1"/>
            <p:nvPr/>
          </p:nvSpPr>
          <p:spPr>
            <a:xfrm>
              <a:off x="1392436" y="904605"/>
              <a:ext cx="2518638" cy="338554"/>
            </a:xfrm>
            <a:prstGeom prst="rect">
              <a:avLst/>
            </a:prstGeom>
            <a:noFill/>
          </p:spPr>
          <p:txBody>
            <a:bodyPr wrap="none" rtlCol="0">
              <a:spAutoFit/>
            </a:bodyPr>
            <a:lstStyle/>
            <a:p>
              <a:r>
                <a:rPr kumimoji="1" lang="ja-JP" altLang="en-US" sz="1600" b="1" dirty="0">
                  <a:latin typeface="+mn-ea"/>
                </a:rPr>
                <a:t>カスタマイズ用途定義マスタ</a:t>
              </a:r>
            </a:p>
          </p:txBody>
        </p:sp>
        <p:sp>
          <p:nvSpPr>
            <p:cNvPr id="170" name="テキスト ボックス 169">
              <a:extLst>
                <a:ext uri="{FF2B5EF4-FFF2-40B4-BE49-F238E27FC236}">
                  <a16:creationId xmlns:a16="http://schemas.microsoft.com/office/drawing/2014/main" id="{65796432-B359-4657-8839-DE289616EABA}"/>
                </a:ext>
              </a:extLst>
            </p:cNvPr>
            <p:cNvSpPr txBox="1"/>
            <p:nvPr/>
          </p:nvSpPr>
          <p:spPr>
            <a:xfrm>
              <a:off x="2443309" y="725257"/>
              <a:ext cx="925253" cy="369332"/>
            </a:xfrm>
            <a:prstGeom prst="rect">
              <a:avLst/>
            </a:prstGeom>
            <a:noFill/>
          </p:spPr>
          <p:txBody>
            <a:bodyPr wrap="none" rtlCol="0">
              <a:spAutoFit/>
            </a:bodyPr>
            <a:lstStyle/>
            <a:p>
              <a:r>
                <a:rPr kumimoji="1" lang="ja-JP" altLang="en-US" b="1" dirty="0">
                  <a:latin typeface="+mn-ea"/>
                </a:rPr>
                <a:t>・</a:t>
              </a:r>
              <a:r>
                <a:rPr kumimoji="1" lang="ja-JP" altLang="en-US" sz="1000" b="1" dirty="0">
                  <a:latin typeface="+mn-ea"/>
                </a:rPr>
                <a:t>　</a:t>
              </a:r>
              <a:r>
                <a:rPr kumimoji="1" lang="ja-JP" altLang="en-US" b="1" dirty="0">
                  <a:latin typeface="+mn-ea"/>
                </a:rPr>
                <a:t>・</a:t>
              </a:r>
              <a:r>
                <a:rPr lang="ja-JP" altLang="en-US" sz="1000" b="1" dirty="0">
                  <a:latin typeface="+mn-ea"/>
                </a:rPr>
                <a:t>　</a:t>
              </a:r>
              <a:r>
                <a:rPr kumimoji="1" lang="ja-JP" altLang="en-US" b="1" dirty="0">
                  <a:latin typeface="+mn-ea"/>
                </a:rPr>
                <a:t>・</a:t>
              </a:r>
              <a:r>
                <a:rPr lang="ja-JP" altLang="en-US" sz="1000" b="1" dirty="0">
                  <a:latin typeface="+mn-ea"/>
                </a:rPr>
                <a:t>　</a:t>
              </a:r>
              <a:r>
                <a:rPr kumimoji="1" lang="ja-JP" altLang="en-US" b="1" dirty="0">
                  <a:latin typeface="+mn-ea"/>
                </a:rPr>
                <a:t>・</a:t>
              </a:r>
            </a:p>
          </p:txBody>
        </p:sp>
      </p:grpSp>
      <p:sp>
        <p:nvSpPr>
          <p:cNvPr id="171" name="四角形: メモ 170">
            <a:extLst>
              <a:ext uri="{FF2B5EF4-FFF2-40B4-BE49-F238E27FC236}">
                <a16:creationId xmlns:a16="http://schemas.microsoft.com/office/drawing/2014/main" id="{5729029F-F78B-4F31-A0AE-54F30DCA70E7}"/>
              </a:ext>
            </a:extLst>
          </p:cNvPr>
          <p:cNvSpPr/>
          <p:nvPr/>
        </p:nvSpPr>
        <p:spPr>
          <a:xfrm flipV="1">
            <a:off x="555079" y="3227992"/>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172" name="テキスト ボックス 171">
            <a:extLst>
              <a:ext uri="{FF2B5EF4-FFF2-40B4-BE49-F238E27FC236}">
                <a16:creationId xmlns:a16="http://schemas.microsoft.com/office/drawing/2014/main" id="{C7517D46-6ED3-472B-BD96-D68EE133AA3F}"/>
              </a:ext>
            </a:extLst>
          </p:cNvPr>
          <p:cNvSpPr txBox="1"/>
          <p:nvPr/>
        </p:nvSpPr>
        <p:spPr>
          <a:xfrm>
            <a:off x="558599" y="3275931"/>
            <a:ext cx="692818" cy="276999"/>
          </a:xfrm>
          <a:prstGeom prst="rect">
            <a:avLst/>
          </a:prstGeom>
          <a:noFill/>
        </p:spPr>
        <p:txBody>
          <a:bodyPr wrap="none" rtlCol="0">
            <a:spAutoFit/>
          </a:bodyPr>
          <a:lstStyle/>
          <a:p>
            <a:r>
              <a:rPr kumimoji="1" lang="ja-JP" altLang="en-US" sz="1200" b="1" dirty="0">
                <a:solidFill>
                  <a:srgbClr val="C00000"/>
                </a:solidFill>
                <a:latin typeface="+mn-ea"/>
              </a:rPr>
              <a:t>定義</a:t>
            </a:r>
            <a:r>
              <a:rPr kumimoji="1" lang="en-US" altLang="ja-JP" sz="1200" b="1" dirty="0">
                <a:solidFill>
                  <a:srgbClr val="C00000"/>
                </a:solidFill>
                <a:latin typeface="+mn-ea"/>
              </a:rPr>
              <a:t>ID</a:t>
            </a:r>
            <a:endParaRPr kumimoji="1" lang="ja-JP" altLang="en-US" sz="1200" b="1" dirty="0">
              <a:solidFill>
                <a:srgbClr val="C00000"/>
              </a:solidFill>
              <a:latin typeface="+mn-ea"/>
            </a:endParaRPr>
          </a:p>
        </p:txBody>
      </p:sp>
      <p:sp>
        <p:nvSpPr>
          <p:cNvPr id="189" name="正方形/長方形 188">
            <a:extLst>
              <a:ext uri="{FF2B5EF4-FFF2-40B4-BE49-F238E27FC236}">
                <a16:creationId xmlns:a16="http://schemas.microsoft.com/office/drawing/2014/main" id="{5CBB3146-0341-461D-9FF4-5A485D784889}"/>
              </a:ext>
            </a:extLst>
          </p:cNvPr>
          <p:cNvSpPr/>
          <p:nvPr/>
        </p:nvSpPr>
        <p:spPr>
          <a:xfrm>
            <a:off x="520831" y="2101930"/>
            <a:ext cx="3831545" cy="178922"/>
          </a:xfrm>
          <a:prstGeom prst="rect">
            <a:avLst/>
          </a:prstGeom>
          <a:noFill/>
          <a:ln>
            <a:solidFill>
              <a:schemeClr val="accent6">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1" name="グループ化 190">
            <a:extLst>
              <a:ext uri="{FF2B5EF4-FFF2-40B4-BE49-F238E27FC236}">
                <a16:creationId xmlns:a16="http://schemas.microsoft.com/office/drawing/2014/main" id="{488BBB7C-0BB6-462B-B746-573A2A32E0CB}"/>
              </a:ext>
            </a:extLst>
          </p:cNvPr>
          <p:cNvGrpSpPr/>
          <p:nvPr/>
        </p:nvGrpSpPr>
        <p:grpSpPr>
          <a:xfrm>
            <a:off x="5375854" y="1659949"/>
            <a:ext cx="2911068" cy="2982921"/>
            <a:chOff x="4257463" y="4414629"/>
            <a:chExt cx="2080887" cy="2132249"/>
          </a:xfrm>
        </p:grpSpPr>
        <p:sp>
          <p:nvSpPr>
            <p:cNvPr id="192" name="四角形: メモ 191">
              <a:extLst>
                <a:ext uri="{FF2B5EF4-FFF2-40B4-BE49-F238E27FC236}">
                  <a16:creationId xmlns:a16="http://schemas.microsoft.com/office/drawing/2014/main" id="{44DCE3B0-138E-4FF2-90F1-9B9FA14C2DC3}"/>
                </a:ext>
              </a:extLst>
            </p:cNvPr>
            <p:cNvSpPr/>
            <p:nvPr/>
          </p:nvSpPr>
          <p:spPr>
            <a:xfrm flipV="1">
              <a:off x="4257463" y="4414629"/>
              <a:ext cx="2080887" cy="2132249"/>
            </a:xfrm>
            <a:prstGeom prst="foldedCorner">
              <a:avLst>
                <a:gd name="adj" fmla="val 10430"/>
              </a:avLst>
            </a:prstGeom>
            <a:solidFill>
              <a:sysClr val="window" lastClr="FFFFFF"/>
            </a:solidFill>
            <a:ln w="1905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pic>
          <p:nvPicPr>
            <p:cNvPr id="193" name="図 192">
              <a:extLst>
                <a:ext uri="{FF2B5EF4-FFF2-40B4-BE49-F238E27FC236}">
                  <a16:creationId xmlns:a16="http://schemas.microsoft.com/office/drawing/2014/main" id="{75BB35D2-5423-49F5-B9A2-F19C4AAB00C7}"/>
                </a:ext>
              </a:extLst>
            </p:cNvPr>
            <p:cNvPicPr>
              <a:picLocks noChangeAspect="1"/>
            </p:cNvPicPr>
            <p:nvPr/>
          </p:nvPicPr>
          <p:blipFill>
            <a:blip r:embed="rId2"/>
            <a:stretch>
              <a:fillRect/>
            </a:stretch>
          </p:blipFill>
          <p:spPr>
            <a:xfrm>
              <a:off x="4311517" y="4581205"/>
              <a:ext cx="1841496" cy="1918785"/>
            </a:xfrm>
            <a:prstGeom prst="rect">
              <a:avLst/>
            </a:prstGeom>
          </p:spPr>
        </p:pic>
      </p:grpSp>
      <p:grpSp>
        <p:nvGrpSpPr>
          <p:cNvPr id="5" name="グループ化 4">
            <a:extLst>
              <a:ext uri="{FF2B5EF4-FFF2-40B4-BE49-F238E27FC236}">
                <a16:creationId xmlns:a16="http://schemas.microsoft.com/office/drawing/2014/main" id="{A4E05C50-CE64-4405-A829-578F3022A3EC}"/>
              </a:ext>
            </a:extLst>
          </p:cNvPr>
          <p:cNvGrpSpPr/>
          <p:nvPr/>
        </p:nvGrpSpPr>
        <p:grpSpPr>
          <a:xfrm>
            <a:off x="5492229" y="5120666"/>
            <a:ext cx="3252275" cy="1366241"/>
            <a:chOff x="2846684" y="5216907"/>
            <a:chExt cx="4351955" cy="1928697"/>
          </a:xfrm>
        </p:grpSpPr>
        <p:sp>
          <p:nvSpPr>
            <p:cNvPr id="194" name="円柱 193">
              <a:extLst>
                <a:ext uri="{FF2B5EF4-FFF2-40B4-BE49-F238E27FC236}">
                  <a16:creationId xmlns:a16="http://schemas.microsoft.com/office/drawing/2014/main" id="{DAAE6CE0-8C89-4CA7-8B94-B2A4E8D0FFA2}"/>
                </a:ext>
              </a:extLst>
            </p:cNvPr>
            <p:cNvSpPr/>
            <p:nvPr/>
          </p:nvSpPr>
          <p:spPr>
            <a:xfrm>
              <a:off x="2846684" y="5216907"/>
              <a:ext cx="4351955" cy="1928697"/>
            </a:xfrm>
            <a:prstGeom prst="can">
              <a:avLst>
                <a:gd name="adj" fmla="val 11402"/>
              </a:avLst>
            </a:prstGeom>
            <a:solidFill>
              <a:srgbClr val="FFCCFF"/>
            </a:solidFill>
            <a:ln>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5" name="テキスト ボックス 194">
              <a:extLst>
                <a:ext uri="{FF2B5EF4-FFF2-40B4-BE49-F238E27FC236}">
                  <a16:creationId xmlns:a16="http://schemas.microsoft.com/office/drawing/2014/main" id="{E1291754-6773-4C0F-B0F6-B07ACA5027A4}"/>
                </a:ext>
              </a:extLst>
            </p:cNvPr>
            <p:cNvSpPr txBox="1"/>
            <p:nvPr/>
          </p:nvSpPr>
          <p:spPr>
            <a:xfrm>
              <a:off x="4005716" y="5471754"/>
              <a:ext cx="2173335" cy="391034"/>
            </a:xfrm>
            <a:prstGeom prst="rect">
              <a:avLst/>
            </a:prstGeom>
            <a:noFill/>
          </p:spPr>
          <p:txBody>
            <a:bodyPr wrap="none" rtlCol="0">
              <a:spAutoFit/>
            </a:bodyPr>
            <a:lstStyle/>
            <a:p>
              <a:r>
                <a:rPr kumimoji="1" lang="ja-JP" altLang="en-US" sz="1200" b="1" dirty="0">
                  <a:latin typeface="+mn-ea"/>
                </a:rPr>
                <a:t>カスタマイズ部品マスタ</a:t>
              </a:r>
            </a:p>
          </p:txBody>
        </p:sp>
        <p:grpSp>
          <p:nvGrpSpPr>
            <p:cNvPr id="196" name="グループ化 195">
              <a:extLst>
                <a:ext uri="{FF2B5EF4-FFF2-40B4-BE49-F238E27FC236}">
                  <a16:creationId xmlns:a16="http://schemas.microsoft.com/office/drawing/2014/main" id="{59BF2862-67CD-4D15-8533-55EBD0D0C6F5}"/>
                </a:ext>
              </a:extLst>
            </p:cNvPr>
            <p:cNvGrpSpPr/>
            <p:nvPr/>
          </p:nvGrpSpPr>
          <p:grpSpPr>
            <a:xfrm>
              <a:off x="4934453" y="6006020"/>
              <a:ext cx="1324372" cy="1024880"/>
              <a:chOff x="8220004" y="3486586"/>
              <a:chExt cx="1324372" cy="1024880"/>
            </a:xfrm>
          </p:grpSpPr>
          <p:grpSp>
            <p:nvGrpSpPr>
              <p:cNvPr id="197" name="グループ化 196">
                <a:extLst>
                  <a:ext uri="{FF2B5EF4-FFF2-40B4-BE49-F238E27FC236}">
                    <a16:creationId xmlns:a16="http://schemas.microsoft.com/office/drawing/2014/main" id="{6C5EC913-810D-4552-BDE5-772B909743BA}"/>
                  </a:ext>
                </a:extLst>
              </p:cNvPr>
              <p:cNvGrpSpPr/>
              <p:nvPr/>
            </p:nvGrpSpPr>
            <p:grpSpPr>
              <a:xfrm>
                <a:off x="8220004" y="3486586"/>
                <a:ext cx="800219" cy="720080"/>
                <a:chOff x="6633294" y="3719138"/>
                <a:chExt cx="800219" cy="720080"/>
              </a:xfrm>
            </p:grpSpPr>
            <p:sp>
              <p:nvSpPr>
                <p:cNvPr id="204" name="四角形: メモ 203">
                  <a:extLst>
                    <a:ext uri="{FF2B5EF4-FFF2-40B4-BE49-F238E27FC236}">
                      <a16:creationId xmlns:a16="http://schemas.microsoft.com/office/drawing/2014/main" id="{13480CAF-19E6-4338-82D6-4312CD6954F1}"/>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05" name="テキスト ボックス 204">
                  <a:extLst>
                    <a:ext uri="{FF2B5EF4-FFF2-40B4-BE49-F238E27FC236}">
                      <a16:creationId xmlns:a16="http://schemas.microsoft.com/office/drawing/2014/main" id="{CD337073-A587-4917-84E0-E81D4F7C6108}"/>
                    </a:ext>
                  </a:extLst>
                </p:cNvPr>
                <p:cNvSpPr txBox="1"/>
                <p:nvPr/>
              </p:nvSpPr>
              <p:spPr>
                <a:xfrm>
                  <a:off x="6633294" y="3846626"/>
                  <a:ext cx="800219" cy="276999"/>
                </a:xfrm>
                <a:prstGeom prst="rect">
                  <a:avLst/>
                </a:prstGeom>
                <a:noFill/>
              </p:spPr>
              <p:txBody>
                <a:bodyPr wrap="none" rtlCol="0">
                  <a:spAutoFit/>
                </a:bodyPr>
                <a:lstStyle/>
                <a:p>
                  <a:r>
                    <a:rPr lang="ja-JP" altLang="en-US" sz="1200" dirty="0">
                      <a:latin typeface="+mn-ea"/>
                    </a:rPr>
                    <a:t>送信</a:t>
                  </a:r>
                  <a:r>
                    <a:rPr kumimoji="1" lang="ja-JP" altLang="en-US" sz="1200" dirty="0">
                      <a:latin typeface="+mn-ea"/>
                    </a:rPr>
                    <a:t>定義</a:t>
                  </a:r>
                </a:p>
              </p:txBody>
            </p:sp>
          </p:grpSp>
          <p:grpSp>
            <p:nvGrpSpPr>
              <p:cNvPr id="198" name="グループ化 197">
                <a:extLst>
                  <a:ext uri="{FF2B5EF4-FFF2-40B4-BE49-F238E27FC236}">
                    <a16:creationId xmlns:a16="http://schemas.microsoft.com/office/drawing/2014/main" id="{FE33C340-53C3-43B3-AE56-6B8B83DF8FE9}"/>
                  </a:ext>
                </a:extLst>
              </p:cNvPr>
              <p:cNvGrpSpPr/>
              <p:nvPr/>
            </p:nvGrpSpPr>
            <p:grpSpPr>
              <a:xfrm>
                <a:off x="8372404" y="3638986"/>
                <a:ext cx="800219" cy="720080"/>
                <a:chOff x="6633294" y="3719138"/>
                <a:chExt cx="800219" cy="720080"/>
              </a:xfrm>
            </p:grpSpPr>
            <p:sp>
              <p:nvSpPr>
                <p:cNvPr id="202" name="四角形: メモ 201">
                  <a:extLst>
                    <a:ext uri="{FF2B5EF4-FFF2-40B4-BE49-F238E27FC236}">
                      <a16:creationId xmlns:a16="http://schemas.microsoft.com/office/drawing/2014/main" id="{3D7A9E78-E533-491E-91A1-0B159A6198E5}"/>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03" name="テキスト ボックス 202">
                  <a:extLst>
                    <a:ext uri="{FF2B5EF4-FFF2-40B4-BE49-F238E27FC236}">
                      <a16:creationId xmlns:a16="http://schemas.microsoft.com/office/drawing/2014/main" id="{C979AE67-8FA8-410B-8840-28E8A5CD76EC}"/>
                    </a:ext>
                  </a:extLst>
                </p:cNvPr>
                <p:cNvSpPr txBox="1"/>
                <p:nvPr/>
              </p:nvSpPr>
              <p:spPr>
                <a:xfrm>
                  <a:off x="6633294" y="3846626"/>
                  <a:ext cx="800219" cy="276999"/>
                </a:xfrm>
                <a:prstGeom prst="rect">
                  <a:avLst/>
                </a:prstGeom>
                <a:noFill/>
              </p:spPr>
              <p:txBody>
                <a:bodyPr wrap="none" rtlCol="0">
                  <a:spAutoFit/>
                </a:bodyPr>
                <a:lstStyle/>
                <a:p>
                  <a:r>
                    <a:rPr lang="ja-JP" altLang="en-US" sz="1200" dirty="0">
                      <a:latin typeface="+mn-ea"/>
                    </a:rPr>
                    <a:t>送信</a:t>
                  </a:r>
                  <a:r>
                    <a:rPr kumimoji="1" lang="ja-JP" altLang="en-US" sz="1200" dirty="0">
                      <a:latin typeface="+mn-ea"/>
                    </a:rPr>
                    <a:t>定義</a:t>
                  </a:r>
                </a:p>
              </p:txBody>
            </p:sp>
          </p:grpSp>
          <p:grpSp>
            <p:nvGrpSpPr>
              <p:cNvPr id="199" name="グループ化 198">
                <a:extLst>
                  <a:ext uri="{FF2B5EF4-FFF2-40B4-BE49-F238E27FC236}">
                    <a16:creationId xmlns:a16="http://schemas.microsoft.com/office/drawing/2014/main" id="{53FE3334-DCAD-4A9A-9E57-033A73EBDA7A}"/>
                  </a:ext>
                </a:extLst>
              </p:cNvPr>
              <p:cNvGrpSpPr/>
              <p:nvPr/>
            </p:nvGrpSpPr>
            <p:grpSpPr>
              <a:xfrm>
                <a:off x="8457852" y="3791386"/>
                <a:ext cx="1086524" cy="720080"/>
                <a:chOff x="6566342" y="3719138"/>
                <a:chExt cx="1086524" cy="720080"/>
              </a:xfrm>
            </p:grpSpPr>
            <p:sp>
              <p:nvSpPr>
                <p:cNvPr id="200" name="四角形: メモ 199">
                  <a:extLst>
                    <a:ext uri="{FF2B5EF4-FFF2-40B4-BE49-F238E27FC236}">
                      <a16:creationId xmlns:a16="http://schemas.microsoft.com/office/drawing/2014/main" id="{8F419202-DF40-479D-9F90-6BDFC040182F}"/>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01" name="テキスト ボックス 200">
                  <a:extLst>
                    <a:ext uri="{FF2B5EF4-FFF2-40B4-BE49-F238E27FC236}">
                      <a16:creationId xmlns:a16="http://schemas.microsoft.com/office/drawing/2014/main" id="{77FFE087-89B6-4472-B801-8DF29EFCE25D}"/>
                    </a:ext>
                  </a:extLst>
                </p:cNvPr>
                <p:cNvSpPr txBox="1"/>
                <p:nvPr/>
              </p:nvSpPr>
              <p:spPr>
                <a:xfrm>
                  <a:off x="6566342" y="3869033"/>
                  <a:ext cx="1086524" cy="391036"/>
                </a:xfrm>
                <a:prstGeom prst="rect">
                  <a:avLst/>
                </a:prstGeom>
                <a:noFill/>
              </p:spPr>
              <p:txBody>
                <a:bodyPr wrap="square" rtlCol="0">
                  <a:spAutoFit/>
                </a:bodyPr>
                <a:lstStyle/>
                <a:p>
                  <a:r>
                    <a:rPr lang="ja-JP" altLang="en-US" sz="1200" dirty="0">
                      <a:latin typeface="+mn-ea"/>
                    </a:rPr>
                    <a:t>送信</a:t>
                  </a:r>
                  <a:r>
                    <a:rPr kumimoji="1" lang="ja-JP" altLang="en-US" sz="1200" dirty="0">
                      <a:latin typeface="+mn-ea"/>
                    </a:rPr>
                    <a:t>定義</a:t>
                  </a:r>
                </a:p>
              </p:txBody>
            </p:sp>
          </p:grpSp>
        </p:grpSp>
        <p:grpSp>
          <p:nvGrpSpPr>
            <p:cNvPr id="206" name="グループ化 205">
              <a:extLst>
                <a:ext uri="{FF2B5EF4-FFF2-40B4-BE49-F238E27FC236}">
                  <a16:creationId xmlns:a16="http://schemas.microsoft.com/office/drawing/2014/main" id="{4DCF956A-E228-49B4-8C17-475A80891790}"/>
                </a:ext>
              </a:extLst>
            </p:cNvPr>
            <p:cNvGrpSpPr/>
            <p:nvPr/>
          </p:nvGrpSpPr>
          <p:grpSpPr>
            <a:xfrm>
              <a:off x="6020980" y="5961573"/>
              <a:ext cx="1105019" cy="1024880"/>
              <a:chOff x="6969875" y="3153607"/>
              <a:chExt cx="1105019" cy="1024880"/>
            </a:xfrm>
          </p:grpSpPr>
          <p:grpSp>
            <p:nvGrpSpPr>
              <p:cNvPr id="207" name="グループ化 206">
                <a:extLst>
                  <a:ext uri="{FF2B5EF4-FFF2-40B4-BE49-F238E27FC236}">
                    <a16:creationId xmlns:a16="http://schemas.microsoft.com/office/drawing/2014/main" id="{51296B18-3FB2-4A2B-8FF7-7F77BD8EB906}"/>
                  </a:ext>
                </a:extLst>
              </p:cNvPr>
              <p:cNvGrpSpPr/>
              <p:nvPr/>
            </p:nvGrpSpPr>
            <p:grpSpPr>
              <a:xfrm>
                <a:off x="6969875" y="3153607"/>
                <a:ext cx="800219" cy="720080"/>
                <a:chOff x="6633294" y="3719138"/>
                <a:chExt cx="800219" cy="720080"/>
              </a:xfrm>
            </p:grpSpPr>
            <p:sp>
              <p:nvSpPr>
                <p:cNvPr id="214" name="四角形: メモ 213">
                  <a:extLst>
                    <a:ext uri="{FF2B5EF4-FFF2-40B4-BE49-F238E27FC236}">
                      <a16:creationId xmlns:a16="http://schemas.microsoft.com/office/drawing/2014/main" id="{DCD198D8-10AA-4609-9924-33B432CD5F59}"/>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15" name="テキスト ボックス 214">
                  <a:extLst>
                    <a:ext uri="{FF2B5EF4-FFF2-40B4-BE49-F238E27FC236}">
                      <a16:creationId xmlns:a16="http://schemas.microsoft.com/office/drawing/2014/main" id="{A086DB81-78FF-42C8-A8FF-6C0D97B40567}"/>
                    </a:ext>
                  </a:extLst>
                </p:cNvPr>
                <p:cNvSpPr txBox="1"/>
                <p:nvPr/>
              </p:nvSpPr>
              <p:spPr>
                <a:xfrm>
                  <a:off x="6633294" y="3846626"/>
                  <a:ext cx="800219" cy="276999"/>
                </a:xfrm>
                <a:prstGeom prst="rect">
                  <a:avLst/>
                </a:prstGeom>
                <a:noFill/>
              </p:spPr>
              <p:txBody>
                <a:bodyPr wrap="none" rtlCol="0">
                  <a:spAutoFit/>
                </a:bodyPr>
                <a:lstStyle/>
                <a:p>
                  <a:r>
                    <a:rPr kumimoji="1" lang="ja-JP" altLang="en-US" sz="1200" dirty="0">
                      <a:latin typeface="+mn-ea"/>
                    </a:rPr>
                    <a:t>条件定義</a:t>
                  </a:r>
                </a:p>
              </p:txBody>
            </p:sp>
          </p:grpSp>
          <p:grpSp>
            <p:nvGrpSpPr>
              <p:cNvPr id="208" name="グループ化 207">
                <a:extLst>
                  <a:ext uri="{FF2B5EF4-FFF2-40B4-BE49-F238E27FC236}">
                    <a16:creationId xmlns:a16="http://schemas.microsoft.com/office/drawing/2014/main" id="{3B4D0B46-1D76-4B69-8D23-CF291B68AFC7}"/>
                  </a:ext>
                </a:extLst>
              </p:cNvPr>
              <p:cNvGrpSpPr/>
              <p:nvPr/>
            </p:nvGrpSpPr>
            <p:grpSpPr>
              <a:xfrm>
                <a:off x="7122275" y="3306007"/>
                <a:ext cx="800219" cy="720080"/>
                <a:chOff x="6633294" y="3719138"/>
                <a:chExt cx="800219" cy="720080"/>
              </a:xfrm>
            </p:grpSpPr>
            <p:sp>
              <p:nvSpPr>
                <p:cNvPr id="212" name="四角形: メモ 211">
                  <a:extLst>
                    <a:ext uri="{FF2B5EF4-FFF2-40B4-BE49-F238E27FC236}">
                      <a16:creationId xmlns:a16="http://schemas.microsoft.com/office/drawing/2014/main" id="{0D1CB347-6BD5-44B5-9849-2179BEDDF4F4}"/>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13" name="テキスト ボックス 212">
                  <a:extLst>
                    <a:ext uri="{FF2B5EF4-FFF2-40B4-BE49-F238E27FC236}">
                      <a16:creationId xmlns:a16="http://schemas.microsoft.com/office/drawing/2014/main" id="{952F35EE-A5F2-4D2E-88D1-39ABD9318CC7}"/>
                    </a:ext>
                  </a:extLst>
                </p:cNvPr>
                <p:cNvSpPr txBox="1"/>
                <p:nvPr/>
              </p:nvSpPr>
              <p:spPr>
                <a:xfrm>
                  <a:off x="6633294" y="3846626"/>
                  <a:ext cx="800219" cy="276999"/>
                </a:xfrm>
                <a:prstGeom prst="rect">
                  <a:avLst/>
                </a:prstGeom>
                <a:noFill/>
              </p:spPr>
              <p:txBody>
                <a:bodyPr wrap="none" rtlCol="0">
                  <a:spAutoFit/>
                </a:bodyPr>
                <a:lstStyle/>
                <a:p>
                  <a:r>
                    <a:rPr kumimoji="1" lang="ja-JP" altLang="en-US" sz="1200" dirty="0">
                      <a:latin typeface="+mn-ea"/>
                    </a:rPr>
                    <a:t>条件定義</a:t>
                  </a:r>
                </a:p>
              </p:txBody>
            </p:sp>
          </p:grpSp>
          <p:grpSp>
            <p:nvGrpSpPr>
              <p:cNvPr id="209" name="グループ化 208">
                <a:extLst>
                  <a:ext uri="{FF2B5EF4-FFF2-40B4-BE49-F238E27FC236}">
                    <a16:creationId xmlns:a16="http://schemas.microsoft.com/office/drawing/2014/main" id="{E4488FFD-0FE6-47C7-9585-AD997B551B7C}"/>
                  </a:ext>
                </a:extLst>
              </p:cNvPr>
              <p:cNvGrpSpPr/>
              <p:nvPr/>
            </p:nvGrpSpPr>
            <p:grpSpPr>
              <a:xfrm>
                <a:off x="7274675" y="3458407"/>
                <a:ext cx="800219" cy="720080"/>
                <a:chOff x="6633294" y="3719138"/>
                <a:chExt cx="800219" cy="720080"/>
              </a:xfrm>
            </p:grpSpPr>
            <p:sp>
              <p:nvSpPr>
                <p:cNvPr id="210" name="四角形: メモ 209">
                  <a:extLst>
                    <a:ext uri="{FF2B5EF4-FFF2-40B4-BE49-F238E27FC236}">
                      <a16:creationId xmlns:a16="http://schemas.microsoft.com/office/drawing/2014/main" id="{2F205512-7D37-47C5-9DA3-16370149DE40}"/>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11" name="テキスト ボックス 210">
                  <a:extLst>
                    <a:ext uri="{FF2B5EF4-FFF2-40B4-BE49-F238E27FC236}">
                      <a16:creationId xmlns:a16="http://schemas.microsoft.com/office/drawing/2014/main" id="{E70E2B38-D6DE-4E36-8E88-989D216330E4}"/>
                    </a:ext>
                  </a:extLst>
                </p:cNvPr>
                <p:cNvSpPr txBox="1"/>
                <p:nvPr/>
              </p:nvSpPr>
              <p:spPr>
                <a:xfrm>
                  <a:off x="6633294" y="3846626"/>
                  <a:ext cx="800219" cy="276999"/>
                </a:xfrm>
                <a:prstGeom prst="rect">
                  <a:avLst/>
                </a:prstGeom>
                <a:noFill/>
              </p:spPr>
              <p:txBody>
                <a:bodyPr wrap="none" rtlCol="0">
                  <a:spAutoFit/>
                </a:bodyPr>
                <a:lstStyle/>
                <a:p>
                  <a:r>
                    <a:rPr kumimoji="1" lang="ja-JP" altLang="en-US" sz="1200" dirty="0">
                      <a:latin typeface="+mn-ea"/>
                    </a:rPr>
                    <a:t>条件定義</a:t>
                  </a:r>
                </a:p>
              </p:txBody>
            </p:sp>
          </p:grpSp>
        </p:grpSp>
        <p:grpSp>
          <p:nvGrpSpPr>
            <p:cNvPr id="216" name="グループ化 215">
              <a:extLst>
                <a:ext uri="{FF2B5EF4-FFF2-40B4-BE49-F238E27FC236}">
                  <a16:creationId xmlns:a16="http://schemas.microsoft.com/office/drawing/2014/main" id="{52A8A764-3483-40D0-A8A5-215E21881670}"/>
                </a:ext>
              </a:extLst>
            </p:cNvPr>
            <p:cNvGrpSpPr/>
            <p:nvPr/>
          </p:nvGrpSpPr>
          <p:grpSpPr>
            <a:xfrm>
              <a:off x="3677034" y="5846077"/>
              <a:ext cx="1105019" cy="900750"/>
              <a:chOff x="8663889" y="3429698"/>
              <a:chExt cx="1105019" cy="900750"/>
            </a:xfrm>
          </p:grpSpPr>
          <p:grpSp>
            <p:nvGrpSpPr>
              <p:cNvPr id="217" name="グループ化 216">
                <a:extLst>
                  <a:ext uri="{FF2B5EF4-FFF2-40B4-BE49-F238E27FC236}">
                    <a16:creationId xmlns:a16="http://schemas.microsoft.com/office/drawing/2014/main" id="{E7B2AC6C-2EAC-4FEF-92C0-FA029C233E2E}"/>
                  </a:ext>
                </a:extLst>
              </p:cNvPr>
              <p:cNvGrpSpPr/>
              <p:nvPr/>
            </p:nvGrpSpPr>
            <p:grpSpPr>
              <a:xfrm>
                <a:off x="8663889" y="3429698"/>
                <a:ext cx="800219" cy="595950"/>
                <a:chOff x="6633294" y="3719138"/>
                <a:chExt cx="800219" cy="520713"/>
              </a:xfrm>
            </p:grpSpPr>
            <p:sp>
              <p:nvSpPr>
                <p:cNvPr id="224" name="四角形: メモ 223">
                  <a:extLst>
                    <a:ext uri="{FF2B5EF4-FFF2-40B4-BE49-F238E27FC236}">
                      <a16:creationId xmlns:a16="http://schemas.microsoft.com/office/drawing/2014/main" id="{A6F7CF17-C84A-4012-817A-082B7051B845}"/>
                    </a:ext>
                  </a:extLst>
                </p:cNvPr>
                <p:cNvSpPr/>
                <p:nvPr/>
              </p:nvSpPr>
              <p:spPr>
                <a:xfrm flipV="1">
                  <a:off x="6670279" y="3719138"/>
                  <a:ext cx="726250" cy="520713"/>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25" name="テキスト ボックス 224">
                  <a:extLst>
                    <a:ext uri="{FF2B5EF4-FFF2-40B4-BE49-F238E27FC236}">
                      <a16:creationId xmlns:a16="http://schemas.microsoft.com/office/drawing/2014/main" id="{178DC078-3981-4CEA-8EDE-A2B90F568CB9}"/>
                    </a:ext>
                  </a:extLst>
                </p:cNvPr>
                <p:cNvSpPr txBox="1"/>
                <p:nvPr/>
              </p:nvSpPr>
              <p:spPr>
                <a:xfrm>
                  <a:off x="6633294" y="3846626"/>
                  <a:ext cx="800219" cy="242029"/>
                </a:xfrm>
                <a:prstGeom prst="rect">
                  <a:avLst/>
                </a:prstGeom>
                <a:noFill/>
              </p:spPr>
              <p:txBody>
                <a:bodyPr wrap="none" rtlCol="0">
                  <a:spAutoFit/>
                </a:bodyPr>
                <a:lstStyle/>
                <a:p>
                  <a:r>
                    <a:rPr kumimoji="1" lang="ja-JP" altLang="en-US" sz="1200" dirty="0">
                      <a:latin typeface="+mn-ea"/>
                    </a:rPr>
                    <a:t>集計定義</a:t>
                  </a:r>
                </a:p>
              </p:txBody>
            </p:sp>
          </p:grpSp>
          <p:grpSp>
            <p:nvGrpSpPr>
              <p:cNvPr id="218" name="グループ化 217">
                <a:extLst>
                  <a:ext uri="{FF2B5EF4-FFF2-40B4-BE49-F238E27FC236}">
                    <a16:creationId xmlns:a16="http://schemas.microsoft.com/office/drawing/2014/main" id="{29F8826D-6D92-4B5E-AEE0-6AE91BA3C6EE}"/>
                  </a:ext>
                </a:extLst>
              </p:cNvPr>
              <p:cNvGrpSpPr/>
              <p:nvPr/>
            </p:nvGrpSpPr>
            <p:grpSpPr>
              <a:xfrm>
                <a:off x="8816289" y="3582098"/>
                <a:ext cx="800219" cy="595950"/>
                <a:chOff x="6633294" y="3719138"/>
                <a:chExt cx="800219" cy="520713"/>
              </a:xfrm>
            </p:grpSpPr>
            <p:sp>
              <p:nvSpPr>
                <p:cNvPr id="222" name="四角形: メモ 221">
                  <a:extLst>
                    <a:ext uri="{FF2B5EF4-FFF2-40B4-BE49-F238E27FC236}">
                      <a16:creationId xmlns:a16="http://schemas.microsoft.com/office/drawing/2014/main" id="{10DCB37A-2675-4B85-ADA1-B683AC4A62F0}"/>
                    </a:ext>
                  </a:extLst>
                </p:cNvPr>
                <p:cNvSpPr/>
                <p:nvPr/>
              </p:nvSpPr>
              <p:spPr>
                <a:xfrm flipV="1">
                  <a:off x="6670279" y="3719138"/>
                  <a:ext cx="726250" cy="520713"/>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23" name="テキスト ボックス 222">
                  <a:extLst>
                    <a:ext uri="{FF2B5EF4-FFF2-40B4-BE49-F238E27FC236}">
                      <a16:creationId xmlns:a16="http://schemas.microsoft.com/office/drawing/2014/main" id="{0A0A04FB-57DC-43E4-89C2-A052976AC7C7}"/>
                    </a:ext>
                  </a:extLst>
                </p:cNvPr>
                <p:cNvSpPr txBox="1"/>
                <p:nvPr/>
              </p:nvSpPr>
              <p:spPr>
                <a:xfrm>
                  <a:off x="6633294" y="3846626"/>
                  <a:ext cx="800219" cy="242029"/>
                </a:xfrm>
                <a:prstGeom prst="rect">
                  <a:avLst/>
                </a:prstGeom>
                <a:noFill/>
              </p:spPr>
              <p:txBody>
                <a:bodyPr wrap="none" rtlCol="0">
                  <a:spAutoFit/>
                </a:bodyPr>
                <a:lstStyle/>
                <a:p>
                  <a:r>
                    <a:rPr kumimoji="1" lang="ja-JP" altLang="en-US" sz="1200" dirty="0">
                      <a:latin typeface="+mn-ea"/>
                    </a:rPr>
                    <a:t>集計定義</a:t>
                  </a:r>
                </a:p>
              </p:txBody>
            </p:sp>
          </p:grpSp>
          <p:grpSp>
            <p:nvGrpSpPr>
              <p:cNvPr id="219" name="グループ化 218">
                <a:extLst>
                  <a:ext uri="{FF2B5EF4-FFF2-40B4-BE49-F238E27FC236}">
                    <a16:creationId xmlns:a16="http://schemas.microsoft.com/office/drawing/2014/main" id="{75586C60-B0C1-4454-BE2F-8542C4A9BFCD}"/>
                  </a:ext>
                </a:extLst>
              </p:cNvPr>
              <p:cNvGrpSpPr/>
              <p:nvPr/>
            </p:nvGrpSpPr>
            <p:grpSpPr>
              <a:xfrm>
                <a:off x="8968689" y="3734498"/>
                <a:ext cx="800219" cy="595950"/>
                <a:chOff x="6633294" y="3719138"/>
                <a:chExt cx="800219" cy="520713"/>
              </a:xfrm>
            </p:grpSpPr>
            <p:sp>
              <p:nvSpPr>
                <p:cNvPr id="220" name="四角形: メモ 219">
                  <a:extLst>
                    <a:ext uri="{FF2B5EF4-FFF2-40B4-BE49-F238E27FC236}">
                      <a16:creationId xmlns:a16="http://schemas.microsoft.com/office/drawing/2014/main" id="{22B2C71F-0CC1-4F49-8309-4A36DD83DF50}"/>
                    </a:ext>
                  </a:extLst>
                </p:cNvPr>
                <p:cNvSpPr/>
                <p:nvPr/>
              </p:nvSpPr>
              <p:spPr>
                <a:xfrm flipV="1">
                  <a:off x="6670279" y="3719138"/>
                  <a:ext cx="726250" cy="520713"/>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21" name="テキスト ボックス 220">
                  <a:extLst>
                    <a:ext uri="{FF2B5EF4-FFF2-40B4-BE49-F238E27FC236}">
                      <a16:creationId xmlns:a16="http://schemas.microsoft.com/office/drawing/2014/main" id="{38BB0227-ABE6-4918-A085-DD64B2414AEF}"/>
                    </a:ext>
                  </a:extLst>
                </p:cNvPr>
                <p:cNvSpPr txBox="1"/>
                <p:nvPr/>
              </p:nvSpPr>
              <p:spPr>
                <a:xfrm>
                  <a:off x="6633294" y="3846626"/>
                  <a:ext cx="800219" cy="242029"/>
                </a:xfrm>
                <a:prstGeom prst="rect">
                  <a:avLst/>
                </a:prstGeom>
                <a:noFill/>
              </p:spPr>
              <p:txBody>
                <a:bodyPr wrap="none" rtlCol="0">
                  <a:spAutoFit/>
                </a:bodyPr>
                <a:lstStyle/>
                <a:p>
                  <a:r>
                    <a:rPr kumimoji="1" lang="ja-JP" altLang="en-US" sz="1200" dirty="0">
                      <a:latin typeface="+mn-ea"/>
                    </a:rPr>
                    <a:t>集計定義</a:t>
                  </a:r>
                </a:p>
              </p:txBody>
            </p:sp>
          </p:grpSp>
        </p:grpSp>
        <p:grpSp>
          <p:nvGrpSpPr>
            <p:cNvPr id="226" name="グループ化 225">
              <a:extLst>
                <a:ext uri="{FF2B5EF4-FFF2-40B4-BE49-F238E27FC236}">
                  <a16:creationId xmlns:a16="http://schemas.microsoft.com/office/drawing/2014/main" id="{CEF05E4A-3FD4-4F72-82C5-5E97D452DE71}"/>
                </a:ext>
              </a:extLst>
            </p:cNvPr>
            <p:cNvGrpSpPr/>
            <p:nvPr/>
          </p:nvGrpSpPr>
          <p:grpSpPr>
            <a:xfrm>
              <a:off x="2911492" y="5975987"/>
              <a:ext cx="1105019" cy="1024880"/>
              <a:chOff x="5098601" y="5411818"/>
              <a:chExt cx="1105019" cy="1024880"/>
            </a:xfrm>
          </p:grpSpPr>
          <p:grpSp>
            <p:nvGrpSpPr>
              <p:cNvPr id="227" name="グループ化 226">
                <a:extLst>
                  <a:ext uri="{FF2B5EF4-FFF2-40B4-BE49-F238E27FC236}">
                    <a16:creationId xmlns:a16="http://schemas.microsoft.com/office/drawing/2014/main" id="{B0FE160C-8A6C-40A9-8E94-A134AC453740}"/>
                  </a:ext>
                </a:extLst>
              </p:cNvPr>
              <p:cNvGrpSpPr/>
              <p:nvPr/>
            </p:nvGrpSpPr>
            <p:grpSpPr>
              <a:xfrm>
                <a:off x="5098601" y="5411818"/>
                <a:ext cx="800219" cy="720080"/>
                <a:chOff x="6633294" y="3719138"/>
                <a:chExt cx="800219" cy="720080"/>
              </a:xfrm>
            </p:grpSpPr>
            <p:sp>
              <p:nvSpPr>
                <p:cNvPr id="234" name="四角形: メモ 233">
                  <a:extLst>
                    <a:ext uri="{FF2B5EF4-FFF2-40B4-BE49-F238E27FC236}">
                      <a16:creationId xmlns:a16="http://schemas.microsoft.com/office/drawing/2014/main" id="{539213E8-59C7-40C6-B7F4-C4F2B06E66BC}"/>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35" name="テキスト ボックス 234">
                  <a:extLst>
                    <a:ext uri="{FF2B5EF4-FFF2-40B4-BE49-F238E27FC236}">
                      <a16:creationId xmlns:a16="http://schemas.microsoft.com/office/drawing/2014/main" id="{93454E72-3330-4D86-AA9F-A07903462A16}"/>
                    </a:ext>
                  </a:extLst>
                </p:cNvPr>
                <p:cNvSpPr txBox="1"/>
                <p:nvPr/>
              </p:nvSpPr>
              <p:spPr>
                <a:xfrm>
                  <a:off x="6633294" y="3846626"/>
                  <a:ext cx="800219" cy="276999"/>
                </a:xfrm>
                <a:prstGeom prst="rect">
                  <a:avLst/>
                </a:prstGeom>
                <a:noFill/>
              </p:spPr>
              <p:txBody>
                <a:bodyPr wrap="none" rtlCol="0">
                  <a:spAutoFit/>
                </a:bodyPr>
                <a:lstStyle/>
                <a:p>
                  <a:r>
                    <a:rPr kumimoji="1" lang="ja-JP" altLang="en-US" sz="1200" dirty="0">
                      <a:latin typeface="+mn-ea"/>
                    </a:rPr>
                    <a:t>加工定義</a:t>
                  </a:r>
                </a:p>
              </p:txBody>
            </p:sp>
          </p:grpSp>
          <p:grpSp>
            <p:nvGrpSpPr>
              <p:cNvPr id="228" name="グループ化 227">
                <a:extLst>
                  <a:ext uri="{FF2B5EF4-FFF2-40B4-BE49-F238E27FC236}">
                    <a16:creationId xmlns:a16="http://schemas.microsoft.com/office/drawing/2014/main" id="{9BACB076-7FDB-473F-91D0-54533334A451}"/>
                  </a:ext>
                </a:extLst>
              </p:cNvPr>
              <p:cNvGrpSpPr/>
              <p:nvPr/>
            </p:nvGrpSpPr>
            <p:grpSpPr>
              <a:xfrm>
                <a:off x="5251001" y="5564218"/>
                <a:ext cx="800219" cy="720080"/>
                <a:chOff x="6633294" y="3719138"/>
                <a:chExt cx="800219" cy="720080"/>
              </a:xfrm>
            </p:grpSpPr>
            <p:sp>
              <p:nvSpPr>
                <p:cNvPr id="232" name="四角形: メモ 231">
                  <a:extLst>
                    <a:ext uri="{FF2B5EF4-FFF2-40B4-BE49-F238E27FC236}">
                      <a16:creationId xmlns:a16="http://schemas.microsoft.com/office/drawing/2014/main" id="{52E02465-9A0F-44F6-A497-AFC20B149FC7}"/>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33" name="テキスト ボックス 232">
                  <a:extLst>
                    <a:ext uri="{FF2B5EF4-FFF2-40B4-BE49-F238E27FC236}">
                      <a16:creationId xmlns:a16="http://schemas.microsoft.com/office/drawing/2014/main" id="{383C033F-DD39-408C-958F-D8FA5EC9BBF0}"/>
                    </a:ext>
                  </a:extLst>
                </p:cNvPr>
                <p:cNvSpPr txBox="1"/>
                <p:nvPr/>
              </p:nvSpPr>
              <p:spPr>
                <a:xfrm>
                  <a:off x="6633294" y="3846626"/>
                  <a:ext cx="800219" cy="276999"/>
                </a:xfrm>
                <a:prstGeom prst="rect">
                  <a:avLst/>
                </a:prstGeom>
                <a:noFill/>
              </p:spPr>
              <p:txBody>
                <a:bodyPr wrap="none" rtlCol="0">
                  <a:spAutoFit/>
                </a:bodyPr>
                <a:lstStyle/>
                <a:p>
                  <a:r>
                    <a:rPr kumimoji="1" lang="ja-JP" altLang="en-US" sz="1200" dirty="0">
                      <a:latin typeface="+mn-ea"/>
                    </a:rPr>
                    <a:t>加工定義</a:t>
                  </a:r>
                </a:p>
              </p:txBody>
            </p:sp>
          </p:grpSp>
          <p:grpSp>
            <p:nvGrpSpPr>
              <p:cNvPr id="229" name="グループ化 228">
                <a:extLst>
                  <a:ext uri="{FF2B5EF4-FFF2-40B4-BE49-F238E27FC236}">
                    <a16:creationId xmlns:a16="http://schemas.microsoft.com/office/drawing/2014/main" id="{2BE75B0F-F2D4-4570-8F99-EB3D60585D35}"/>
                  </a:ext>
                </a:extLst>
              </p:cNvPr>
              <p:cNvGrpSpPr/>
              <p:nvPr/>
            </p:nvGrpSpPr>
            <p:grpSpPr>
              <a:xfrm>
                <a:off x="5403401" y="5716618"/>
                <a:ext cx="800219" cy="720080"/>
                <a:chOff x="6633294" y="3719138"/>
                <a:chExt cx="800219" cy="720080"/>
              </a:xfrm>
            </p:grpSpPr>
            <p:sp>
              <p:nvSpPr>
                <p:cNvPr id="230" name="四角形: メモ 229">
                  <a:extLst>
                    <a:ext uri="{FF2B5EF4-FFF2-40B4-BE49-F238E27FC236}">
                      <a16:creationId xmlns:a16="http://schemas.microsoft.com/office/drawing/2014/main" id="{B6C70871-72AE-439F-A195-72309543A250}"/>
                    </a:ext>
                  </a:extLst>
                </p:cNvPr>
                <p:cNvSpPr/>
                <p:nvPr/>
              </p:nvSpPr>
              <p:spPr>
                <a:xfrm flipV="1">
                  <a:off x="6670279" y="3719138"/>
                  <a:ext cx="726250" cy="720080"/>
                </a:xfrm>
                <a:prstGeom prst="foldedCorner">
                  <a:avLst>
                    <a:gd name="adj" fmla="val 15811"/>
                  </a:avLst>
                </a:prstGeom>
                <a:solidFill>
                  <a:sysClr val="window" lastClr="FFFFFF"/>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2060"/>
                    </a:solidFill>
                    <a:effectLst/>
                    <a:uLnTx/>
                    <a:uFillTx/>
                    <a:latin typeface="Meiryo UI"/>
                    <a:ea typeface="Meiryo UI"/>
                    <a:cs typeface="+mn-cs"/>
                  </a:endParaRPr>
                </a:p>
              </p:txBody>
            </p:sp>
            <p:sp>
              <p:nvSpPr>
                <p:cNvPr id="231" name="テキスト ボックス 230">
                  <a:extLst>
                    <a:ext uri="{FF2B5EF4-FFF2-40B4-BE49-F238E27FC236}">
                      <a16:creationId xmlns:a16="http://schemas.microsoft.com/office/drawing/2014/main" id="{7C5D58C6-E36A-400A-97A6-CC1872E16F56}"/>
                    </a:ext>
                  </a:extLst>
                </p:cNvPr>
                <p:cNvSpPr txBox="1"/>
                <p:nvPr/>
              </p:nvSpPr>
              <p:spPr>
                <a:xfrm>
                  <a:off x="6633294" y="3846626"/>
                  <a:ext cx="800219" cy="276999"/>
                </a:xfrm>
                <a:prstGeom prst="rect">
                  <a:avLst/>
                </a:prstGeom>
                <a:noFill/>
              </p:spPr>
              <p:txBody>
                <a:bodyPr wrap="none" rtlCol="0">
                  <a:spAutoFit/>
                </a:bodyPr>
                <a:lstStyle/>
                <a:p>
                  <a:r>
                    <a:rPr kumimoji="1" lang="ja-JP" altLang="en-US" sz="1200" dirty="0">
                      <a:latin typeface="+mn-ea"/>
                    </a:rPr>
                    <a:t>加工定義</a:t>
                  </a:r>
                </a:p>
              </p:txBody>
            </p:sp>
          </p:grpSp>
        </p:grpSp>
      </p:grpSp>
      <p:sp>
        <p:nvSpPr>
          <p:cNvPr id="236" name="テキスト ボックス 235">
            <a:extLst>
              <a:ext uri="{FF2B5EF4-FFF2-40B4-BE49-F238E27FC236}">
                <a16:creationId xmlns:a16="http://schemas.microsoft.com/office/drawing/2014/main" id="{4457784B-B9CB-444E-B0B8-FFC99703982E}"/>
              </a:ext>
            </a:extLst>
          </p:cNvPr>
          <p:cNvSpPr txBox="1"/>
          <p:nvPr/>
        </p:nvSpPr>
        <p:spPr>
          <a:xfrm>
            <a:off x="5293882" y="1306057"/>
            <a:ext cx="1609736" cy="338554"/>
          </a:xfrm>
          <a:prstGeom prst="rect">
            <a:avLst/>
          </a:prstGeom>
          <a:noFill/>
        </p:spPr>
        <p:txBody>
          <a:bodyPr wrap="none" rtlCol="0">
            <a:spAutoFit/>
          </a:bodyPr>
          <a:lstStyle/>
          <a:p>
            <a:r>
              <a:rPr kumimoji="1" lang="ja-JP" altLang="en-US" sz="1600" b="1" dirty="0">
                <a:latin typeface="+mn-ea"/>
              </a:rPr>
              <a:t>カスタマイズ定義</a:t>
            </a:r>
          </a:p>
        </p:txBody>
      </p:sp>
      <p:sp>
        <p:nvSpPr>
          <p:cNvPr id="241" name="テキスト ボックス 240">
            <a:extLst>
              <a:ext uri="{FF2B5EF4-FFF2-40B4-BE49-F238E27FC236}">
                <a16:creationId xmlns:a16="http://schemas.microsoft.com/office/drawing/2014/main" id="{8C4C2F30-AC40-4753-A848-D0A31D789BF4}"/>
              </a:ext>
            </a:extLst>
          </p:cNvPr>
          <p:cNvSpPr txBox="1"/>
          <p:nvPr/>
        </p:nvSpPr>
        <p:spPr>
          <a:xfrm>
            <a:off x="378804" y="4559468"/>
            <a:ext cx="4648906" cy="1569660"/>
          </a:xfrm>
          <a:prstGeom prst="rect">
            <a:avLst/>
          </a:prstGeom>
          <a:noFill/>
        </p:spPr>
        <p:txBody>
          <a:bodyPr wrap="square" rtlCol="0">
            <a:spAutoFit/>
          </a:bodyPr>
          <a:lstStyle/>
          <a:p>
            <a:r>
              <a:rPr kumimoji="1" lang="ja-JP" altLang="en-US" sz="1600" b="1" dirty="0">
                <a:latin typeface="+mn-ea"/>
              </a:rPr>
              <a:t>複数のカスタマイズ定義を用途ごとにまとめて</a:t>
            </a:r>
            <a:endParaRPr kumimoji="1" lang="en-US" altLang="ja-JP" sz="1600" b="1" dirty="0">
              <a:latin typeface="+mn-ea"/>
            </a:endParaRPr>
          </a:p>
          <a:p>
            <a:r>
              <a:rPr kumimoji="1" lang="ja-JP" altLang="en-US" sz="1600" b="1" dirty="0">
                <a:solidFill>
                  <a:srgbClr val="140A9A"/>
                </a:solidFill>
                <a:latin typeface="+mn-ea"/>
              </a:rPr>
              <a:t>カスタマイズ用途定義</a:t>
            </a:r>
            <a:r>
              <a:rPr kumimoji="1" lang="ja-JP" altLang="en-US" sz="1600" b="1" dirty="0">
                <a:latin typeface="+mn-ea"/>
              </a:rPr>
              <a:t>とする。</a:t>
            </a:r>
            <a:endParaRPr kumimoji="1" lang="en-US" altLang="ja-JP" sz="1600" b="1" dirty="0">
              <a:latin typeface="+mn-ea"/>
            </a:endParaRPr>
          </a:p>
          <a:p>
            <a:endParaRPr kumimoji="1" lang="en-US" altLang="ja-JP" sz="1600" b="1" dirty="0">
              <a:latin typeface="+mn-ea"/>
            </a:endParaRPr>
          </a:p>
          <a:p>
            <a:r>
              <a:rPr kumimoji="1" lang="ja-JP" altLang="en-US" sz="1600" b="1" dirty="0">
                <a:latin typeface="+mn-ea"/>
              </a:rPr>
              <a:t>車両にカスタマイズ設定をおこなう際や、</a:t>
            </a:r>
            <a:endParaRPr kumimoji="1" lang="en-US" altLang="ja-JP" sz="1600" b="1" dirty="0">
              <a:latin typeface="+mn-ea"/>
            </a:endParaRPr>
          </a:p>
          <a:p>
            <a:r>
              <a:rPr kumimoji="1" lang="ja-JP" altLang="en-US" sz="1600" b="1" dirty="0">
                <a:latin typeface="+mn-ea"/>
              </a:rPr>
              <a:t>カスタマイズデータをデータベースから取得する際は、</a:t>
            </a:r>
            <a:endParaRPr kumimoji="1" lang="en-US" altLang="ja-JP" sz="1600" b="1" dirty="0">
              <a:latin typeface="+mn-ea"/>
            </a:endParaRPr>
          </a:p>
          <a:p>
            <a:r>
              <a:rPr kumimoji="1" lang="ja-JP" altLang="en-US" sz="1600" b="1" dirty="0">
                <a:latin typeface="+mn-ea"/>
              </a:rPr>
              <a:t>カスタマイズ用途定義単位でおこなえるようにする。</a:t>
            </a:r>
          </a:p>
        </p:txBody>
      </p:sp>
      <p:sp>
        <p:nvSpPr>
          <p:cNvPr id="242" name="テキスト ボックス 241">
            <a:extLst>
              <a:ext uri="{FF2B5EF4-FFF2-40B4-BE49-F238E27FC236}">
                <a16:creationId xmlns:a16="http://schemas.microsoft.com/office/drawing/2014/main" id="{9570D8BE-B7EC-469B-89BA-B78450F4C849}"/>
              </a:ext>
            </a:extLst>
          </p:cNvPr>
          <p:cNvSpPr txBox="1"/>
          <p:nvPr/>
        </p:nvSpPr>
        <p:spPr>
          <a:xfrm>
            <a:off x="5424659" y="4718153"/>
            <a:ext cx="3538636" cy="338554"/>
          </a:xfrm>
          <a:prstGeom prst="rect">
            <a:avLst/>
          </a:prstGeom>
          <a:noFill/>
        </p:spPr>
        <p:txBody>
          <a:bodyPr wrap="square" rtlCol="0">
            <a:spAutoFit/>
          </a:bodyPr>
          <a:lstStyle/>
          <a:p>
            <a:r>
              <a:rPr kumimoji="1" lang="ja-JP" altLang="en-US" sz="1600" b="1" dirty="0">
                <a:latin typeface="+mn-ea"/>
              </a:rPr>
              <a:t>カスタマイズ定義は</a:t>
            </a:r>
            <a:r>
              <a:rPr kumimoji="1" lang="en-US" altLang="ja-JP" sz="1600" b="1" dirty="0">
                <a:latin typeface="+mn-ea"/>
              </a:rPr>
              <a:t>4</a:t>
            </a:r>
            <a:r>
              <a:rPr kumimoji="1" lang="ja-JP" altLang="en-US" sz="1600" b="1" dirty="0">
                <a:latin typeface="+mn-ea"/>
              </a:rPr>
              <a:t>つの定義から成る</a:t>
            </a:r>
          </a:p>
        </p:txBody>
      </p:sp>
      <p:sp>
        <p:nvSpPr>
          <p:cNvPr id="74" name="Title 1">
            <a:extLst>
              <a:ext uri="{FF2B5EF4-FFF2-40B4-BE49-F238E27FC236}">
                <a16:creationId xmlns:a16="http://schemas.microsoft.com/office/drawing/2014/main" id="{AE062278-AF70-48DA-8C01-61BFD667B1DA}"/>
              </a:ext>
            </a:extLst>
          </p:cNvPr>
          <p:cNvSpPr txBox="1">
            <a:spLocks/>
          </p:cNvSpPr>
          <p:nvPr/>
        </p:nvSpPr>
        <p:spPr>
          <a:xfrm>
            <a:off x="192024" y="126001"/>
            <a:ext cx="8750808" cy="396000"/>
          </a:xfrm>
          <a:prstGeom prst="rect">
            <a:avLst/>
          </a:prstGeom>
        </p:spPr>
        <p:txBody>
          <a:bodyPr/>
          <a:lstStyle>
            <a:lvl1pPr algn="l" defTabSz="914400" rtl="0" eaLnBrk="1" latinLnBrk="0" hangingPunct="1">
              <a:lnSpc>
                <a:spcPct val="90000"/>
              </a:lnSpc>
              <a:spcBef>
                <a:spcPct val="0"/>
              </a:spcBef>
              <a:buNone/>
              <a:defRPr sz="2000" b="1" kern="1200">
                <a:solidFill>
                  <a:schemeClr val="bg1"/>
                </a:solidFill>
                <a:latin typeface="+mj-lt"/>
                <a:ea typeface="+mj-ea"/>
                <a:cs typeface="+mj-cs"/>
              </a:defRPr>
            </a:lvl1pPr>
          </a:lstStyle>
          <a:p>
            <a:pPr fontAlgn="auto">
              <a:spcAft>
                <a:spcPts val="0"/>
              </a:spcAft>
            </a:pPr>
            <a:r>
              <a:rPr lang="ja-JP" altLang="en-US" dirty="0"/>
              <a:t>補足 カスタマイズ用途定義について</a:t>
            </a:r>
          </a:p>
        </p:txBody>
      </p:sp>
    </p:spTree>
    <p:extLst>
      <p:ext uri="{BB962C8B-B14F-4D97-AF65-F5344CB8AC3E}">
        <p14:creationId xmlns:p14="http://schemas.microsoft.com/office/powerpoint/2010/main" val="4717353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補足　カスタマイズデータ種類について</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92024" y="612000"/>
            <a:ext cx="3243634" cy="5850000"/>
          </a:xfrm>
        </p:spPr>
        <p:txBody>
          <a:bodyPr/>
          <a:lstStyle/>
          <a:p>
            <a:pPr marL="0" indent="0">
              <a:buNone/>
            </a:pPr>
            <a:r>
              <a:rPr lang="ja-JP" altLang="en-US" b="1" dirty="0"/>
              <a:t>カスタマイズデータ種類について</a:t>
            </a:r>
            <a:endParaRPr lang="en-US" altLang="ja-JP" b="1" dirty="0"/>
          </a:p>
          <a:p>
            <a:pPr marL="0" indent="0">
              <a:buNone/>
            </a:pPr>
            <a:r>
              <a:rPr lang="ja-JP" altLang="en-US" b="1" dirty="0"/>
              <a:t>・トレンド</a:t>
            </a:r>
            <a:endParaRPr lang="en-US" altLang="ja-JP" b="1" dirty="0"/>
          </a:p>
          <a:p>
            <a:pPr marL="0" indent="0">
              <a:buNone/>
            </a:pPr>
            <a:r>
              <a:rPr lang="en-US" altLang="ja-JP" sz="1200" b="1" dirty="0"/>
              <a:t>	</a:t>
            </a:r>
            <a:r>
              <a:rPr lang="ja-JP" altLang="en-US" sz="1200" b="1" dirty="0"/>
              <a:t>複数時間分の演算結果を保持可能であり、それぞれの記録間隔毎の記録データを</a:t>
            </a:r>
            <a:r>
              <a:rPr lang="en-US" altLang="ja-JP" sz="1200" b="1" dirty="0"/>
              <a:t>1</a:t>
            </a:r>
            <a:r>
              <a:rPr lang="ja-JP" altLang="en-US" sz="1200" b="1" dirty="0"/>
              <a:t>行ずつ記録する</a:t>
            </a:r>
            <a:endParaRPr lang="en-US" altLang="ja-JP" sz="1200" b="1" dirty="0"/>
          </a:p>
          <a:p>
            <a:pPr marL="0" indent="0">
              <a:buNone/>
            </a:pPr>
            <a:r>
              <a:rPr lang="en-US" altLang="ja-JP" sz="1200" b="1" dirty="0"/>
              <a:t>	</a:t>
            </a:r>
            <a:r>
              <a:rPr lang="ja-JP" altLang="en-US" sz="1200" b="1" dirty="0"/>
              <a:t>例）計測期間内に於ける、記録間隔内のエンジン水温の最大値、最小値と、エンジン回転数の平均値を記録する。</a:t>
            </a:r>
            <a:endParaRPr lang="en-US" altLang="ja-JP" sz="1200" b="1" dirty="0"/>
          </a:p>
        </p:txBody>
      </p:sp>
      <p:pic>
        <p:nvPicPr>
          <p:cNvPr id="5" name="図 4">
            <a:extLst>
              <a:ext uri="{FF2B5EF4-FFF2-40B4-BE49-F238E27FC236}">
                <a16:creationId xmlns:a16="http://schemas.microsoft.com/office/drawing/2014/main" id="{712B7901-1C4B-482F-B83E-F1E951902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446" y="865863"/>
            <a:ext cx="4208547" cy="3151517"/>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7342C4B5-4346-42C2-9F42-4E383708B9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58" y="2914341"/>
            <a:ext cx="2781300" cy="147828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032C0BC4-B7FA-45CE-A11D-2FA2423724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653" y="4083525"/>
            <a:ext cx="7140665" cy="2554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568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補足　カスタマイズデータ種類について</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92024" y="612000"/>
            <a:ext cx="3243634" cy="5850000"/>
          </a:xfrm>
        </p:spPr>
        <p:txBody>
          <a:bodyPr/>
          <a:lstStyle/>
          <a:p>
            <a:pPr marL="0" indent="0">
              <a:buNone/>
            </a:pPr>
            <a:r>
              <a:rPr lang="ja-JP" altLang="en-US" b="1" dirty="0"/>
              <a:t>カスタマイズデータ種類について</a:t>
            </a:r>
            <a:endParaRPr lang="en-US" altLang="ja-JP" b="1" dirty="0"/>
          </a:p>
          <a:p>
            <a:pPr marL="0" indent="0">
              <a:buNone/>
            </a:pPr>
            <a:r>
              <a:rPr lang="ja-JP" altLang="en-US" b="1" dirty="0"/>
              <a:t>・ヒストリ</a:t>
            </a:r>
            <a:endParaRPr lang="en-US" altLang="ja-JP" b="1" dirty="0"/>
          </a:p>
          <a:p>
            <a:pPr marL="0" indent="0">
              <a:buNone/>
            </a:pPr>
            <a:r>
              <a:rPr lang="en-US" altLang="ja-JP" sz="1200" b="1" dirty="0"/>
              <a:t>	</a:t>
            </a:r>
            <a:r>
              <a:rPr lang="ja-JP" altLang="en-US" sz="1200" b="1" dirty="0"/>
              <a:t>期間内に発生したイベントを時系列に記録する。</a:t>
            </a:r>
            <a:endParaRPr lang="en-US" altLang="ja-JP" sz="1200" b="1" dirty="0"/>
          </a:p>
          <a:p>
            <a:pPr marL="0" indent="0">
              <a:buNone/>
            </a:pPr>
            <a:r>
              <a:rPr lang="en-US" altLang="ja-JP" sz="1200" b="1" dirty="0"/>
              <a:t>	</a:t>
            </a:r>
            <a:r>
              <a:rPr lang="ja-JP" altLang="en-US" sz="1200" b="1" dirty="0"/>
              <a:t>例）エンジン</a:t>
            </a:r>
            <a:r>
              <a:rPr lang="en-US" altLang="ja-JP" sz="1200" b="1" dirty="0"/>
              <a:t>ON</a:t>
            </a:r>
            <a:r>
              <a:rPr lang="ja-JP" altLang="en-US" sz="1200" b="1" dirty="0"/>
              <a:t>中のエンジン水温異常発生を検出）</a:t>
            </a:r>
            <a:endParaRPr lang="en-US" altLang="ja-JP" sz="1200" b="1" dirty="0"/>
          </a:p>
        </p:txBody>
      </p:sp>
      <p:pic>
        <p:nvPicPr>
          <p:cNvPr id="8" name="図 7">
            <a:extLst>
              <a:ext uri="{FF2B5EF4-FFF2-40B4-BE49-F238E27FC236}">
                <a16:creationId xmlns:a16="http://schemas.microsoft.com/office/drawing/2014/main" id="{1BA4A33C-3FF7-4DBE-BEB5-33C613461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010" y="2316480"/>
            <a:ext cx="3444240" cy="1112520"/>
          </a:xfrm>
          <a:prstGeom prst="rect">
            <a:avLst/>
          </a:prstGeom>
          <a:noFill/>
          <a:extLst>
            <a:ext uri="{909E8E84-426E-40DD-AFC4-6F175D3DCCD1}">
              <a14:hiddenFill xmlns:a14="http://schemas.microsoft.com/office/drawing/2010/main">
                <a:solidFill>
                  <a:srgbClr val="FFFFFF"/>
                </a:solidFill>
              </a14:hiddenFill>
            </a:ext>
          </a:extLst>
        </p:spPr>
      </p:pic>
      <p:pic>
        <p:nvPicPr>
          <p:cNvPr id="9" name="図 8">
            <a:extLst>
              <a:ext uri="{FF2B5EF4-FFF2-40B4-BE49-F238E27FC236}">
                <a16:creationId xmlns:a16="http://schemas.microsoft.com/office/drawing/2014/main" id="{EA23EF69-8CDE-4744-BA1B-838315FF3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2810" y="1219200"/>
            <a:ext cx="4488180" cy="2209800"/>
          </a:xfrm>
          <a:prstGeom prst="rect">
            <a:avLst/>
          </a:prstGeom>
          <a:noFill/>
          <a:extLst>
            <a:ext uri="{909E8E84-426E-40DD-AFC4-6F175D3DCCD1}">
              <a14:hiddenFill xmlns:a14="http://schemas.microsoft.com/office/drawing/2010/main">
                <a:solidFill>
                  <a:srgbClr val="FFFFFF"/>
                </a:solidFill>
              </a14:hiddenFill>
            </a:ext>
          </a:extLst>
        </p:spPr>
      </p:pic>
      <p:pic>
        <p:nvPicPr>
          <p:cNvPr id="10" name="図 9">
            <a:extLst>
              <a:ext uri="{FF2B5EF4-FFF2-40B4-BE49-F238E27FC236}">
                <a16:creationId xmlns:a16="http://schemas.microsoft.com/office/drawing/2014/main" id="{B17E6B7D-59B2-4E98-8780-1542F9724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988" y="4045480"/>
            <a:ext cx="8564880" cy="1661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4004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補足　カスタマイズデータ種類について</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92024" y="612000"/>
            <a:ext cx="3441722" cy="5850000"/>
          </a:xfrm>
        </p:spPr>
        <p:txBody>
          <a:bodyPr/>
          <a:lstStyle/>
          <a:p>
            <a:pPr marL="0" indent="0">
              <a:buNone/>
            </a:pPr>
            <a:r>
              <a:rPr lang="ja-JP" altLang="en-US" b="1" dirty="0"/>
              <a:t>カスタマイズデータ種類について</a:t>
            </a:r>
            <a:endParaRPr lang="en-US" altLang="ja-JP" b="1" dirty="0"/>
          </a:p>
          <a:p>
            <a:pPr marL="0" indent="0">
              <a:buNone/>
            </a:pPr>
            <a:r>
              <a:rPr lang="ja-JP" altLang="en-US" b="1" dirty="0"/>
              <a:t>・マップ</a:t>
            </a:r>
            <a:endParaRPr lang="en-US" altLang="ja-JP" b="1" dirty="0"/>
          </a:p>
          <a:p>
            <a:pPr marL="0" indent="0">
              <a:buNone/>
            </a:pPr>
            <a:r>
              <a:rPr lang="en-US" altLang="ja-JP" sz="1200" b="1" dirty="0"/>
              <a:t>	</a:t>
            </a:r>
            <a:r>
              <a:rPr lang="ja-JP" altLang="en-US" sz="1200" b="1" dirty="0"/>
              <a:t>指定された入力データ軸情報とした「</a:t>
            </a:r>
            <a:r>
              <a:rPr lang="en-US" altLang="ja-JP" sz="1200" b="1" dirty="0"/>
              <a:t>1</a:t>
            </a:r>
            <a:r>
              <a:rPr lang="ja-JP" altLang="en-US" sz="1200" b="1" dirty="0"/>
              <a:t>次元マップ」「</a:t>
            </a:r>
            <a:r>
              <a:rPr lang="en-US" altLang="ja-JP" sz="1200" b="1" dirty="0"/>
              <a:t>2</a:t>
            </a:r>
            <a:r>
              <a:rPr lang="ja-JP" altLang="en-US" sz="1200" b="1" dirty="0"/>
              <a:t>次元マップ」で記録する。</a:t>
            </a:r>
            <a:endParaRPr lang="en-US" altLang="ja-JP" sz="1200" b="1" dirty="0"/>
          </a:p>
          <a:p>
            <a:pPr marL="0" indent="0">
              <a:buNone/>
            </a:pPr>
            <a:r>
              <a:rPr lang="en-US" altLang="ja-JP" sz="1200" b="1" dirty="0"/>
              <a:t>	</a:t>
            </a:r>
            <a:r>
              <a:rPr lang="ja-JP" altLang="en-US" sz="1200" b="1" dirty="0"/>
              <a:t>例）エンジン</a:t>
            </a:r>
            <a:r>
              <a:rPr lang="en-US" altLang="ja-JP" sz="1200" b="1" dirty="0"/>
              <a:t>ON</a:t>
            </a:r>
            <a:r>
              <a:rPr lang="ja-JP" altLang="en-US" sz="1200" b="1" dirty="0"/>
              <a:t>中のエンジン水温異常発生を検出）</a:t>
            </a:r>
            <a:endParaRPr lang="en-US" altLang="ja-JP" sz="1200" b="1" dirty="0"/>
          </a:p>
        </p:txBody>
      </p:sp>
      <p:pic>
        <p:nvPicPr>
          <p:cNvPr id="7" name="図 6">
            <a:extLst>
              <a:ext uri="{FF2B5EF4-FFF2-40B4-BE49-F238E27FC236}">
                <a16:creationId xmlns:a16="http://schemas.microsoft.com/office/drawing/2014/main" id="{476D78BA-D808-4653-AE60-EC20065F20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6072" y="974618"/>
            <a:ext cx="4556760" cy="3307080"/>
          </a:xfrm>
          <a:prstGeom prst="rect">
            <a:avLst/>
          </a:prstGeom>
          <a:noFill/>
          <a:extLst>
            <a:ext uri="{909E8E84-426E-40DD-AFC4-6F175D3DCCD1}">
              <a14:hiddenFill xmlns:a14="http://schemas.microsoft.com/office/drawing/2010/main">
                <a:solidFill>
                  <a:srgbClr val="FFFFFF"/>
                </a:solidFill>
              </a14:hiddenFill>
            </a:ext>
          </a:extLst>
        </p:spPr>
      </p:pic>
      <p:pic>
        <p:nvPicPr>
          <p:cNvPr id="11" name="図 10">
            <a:extLst>
              <a:ext uri="{FF2B5EF4-FFF2-40B4-BE49-F238E27FC236}">
                <a16:creationId xmlns:a16="http://schemas.microsoft.com/office/drawing/2014/main" id="{05FC7BB9-C59B-48B3-AEE9-D6EB01ED5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648" y="2432100"/>
            <a:ext cx="3718560" cy="1104900"/>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a:extLst>
              <a:ext uri="{FF2B5EF4-FFF2-40B4-BE49-F238E27FC236}">
                <a16:creationId xmlns:a16="http://schemas.microsoft.com/office/drawing/2014/main" id="{62031B44-4798-4CA8-919D-C69AEBE8C3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648" y="3695940"/>
            <a:ext cx="6195060" cy="2766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628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6209-39CA-4AA0-8B60-CA930CD95111}"/>
              </a:ext>
            </a:extLst>
          </p:cNvPr>
          <p:cNvSpPr>
            <a:spLocks noGrp="1"/>
          </p:cNvSpPr>
          <p:nvPr>
            <p:ph type="title"/>
          </p:nvPr>
        </p:nvSpPr>
        <p:spPr/>
        <p:txBody>
          <a:bodyPr/>
          <a:lstStyle/>
          <a:p>
            <a:r>
              <a:rPr lang="ja-JP" altLang="en-US" dirty="0"/>
              <a:t>補足　カスタマイズデータ種類について</a:t>
            </a:r>
          </a:p>
        </p:txBody>
      </p:sp>
      <p:sp>
        <p:nvSpPr>
          <p:cNvPr id="3" name="Content Placeholder 2">
            <a:extLst>
              <a:ext uri="{FF2B5EF4-FFF2-40B4-BE49-F238E27FC236}">
                <a16:creationId xmlns:a16="http://schemas.microsoft.com/office/drawing/2014/main" id="{1CABE5F8-0A84-401F-AB38-F70AA2D30C08}"/>
              </a:ext>
            </a:extLst>
          </p:cNvPr>
          <p:cNvSpPr>
            <a:spLocks noGrp="1"/>
          </p:cNvSpPr>
          <p:nvPr>
            <p:ph idx="1"/>
          </p:nvPr>
        </p:nvSpPr>
        <p:spPr>
          <a:xfrm>
            <a:off x="192024" y="612000"/>
            <a:ext cx="3243634" cy="5850000"/>
          </a:xfrm>
        </p:spPr>
        <p:txBody>
          <a:bodyPr/>
          <a:lstStyle/>
          <a:p>
            <a:pPr marL="0" indent="0">
              <a:buNone/>
            </a:pPr>
            <a:r>
              <a:rPr lang="ja-JP" altLang="en-US" b="1" dirty="0"/>
              <a:t>カスタマイズデータ種類について</a:t>
            </a:r>
            <a:endParaRPr lang="en-US" altLang="ja-JP" b="1" dirty="0"/>
          </a:p>
          <a:p>
            <a:pPr marL="0" indent="0">
              <a:buNone/>
            </a:pPr>
            <a:r>
              <a:rPr lang="ja-JP" altLang="en-US" b="1" dirty="0"/>
              <a:t>・スナップショット</a:t>
            </a:r>
            <a:endParaRPr lang="en-US" altLang="ja-JP" b="1" dirty="0"/>
          </a:p>
          <a:p>
            <a:pPr marL="0" indent="0">
              <a:buNone/>
            </a:pPr>
            <a:r>
              <a:rPr lang="en-US" altLang="ja-JP" sz="1200" b="1" dirty="0"/>
              <a:t>	</a:t>
            </a:r>
            <a:r>
              <a:rPr lang="ja-JP" altLang="en-US" sz="1200" b="1" dirty="0"/>
              <a:t>ヒストリで記録するようなイベント（故障、変化通知、自己検出）をトリガとして発生前後のデータを記録する。</a:t>
            </a:r>
            <a:endParaRPr lang="en-US" altLang="ja-JP" sz="1200" b="1" dirty="0"/>
          </a:p>
          <a:p>
            <a:pPr marL="0" indent="0">
              <a:buNone/>
            </a:pPr>
            <a:r>
              <a:rPr lang="en-US" altLang="ja-JP" sz="1200" b="1" dirty="0"/>
              <a:t>	</a:t>
            </a:r>
            <a:r>
              <a:rPr lang="ja-JP" altLang="en-US" sz="1200" b="1" dirty="0"/>
              <a:t>例）エンジン</a:t>
            </a:r>
            <a:r>
              <a:rPr lang="en-US" altLang="ja-JP" sz="1200" b="1" dirty="0"/>
              <a:t>ON</a:t>
            </a:r>
            <a:r>
              <a:rPr lang="ja-JP" altLang="en-US" sz="1200" b="1" dirty="0"/>
              <a:t>中のエンジン水温異常発生を検出）</a:t>
            </a:r>
            <a:endParaRPr lang="en-US" altLang="ja-JP" sz="1200" b="1" dirty="0"/>
          </a:p>
        </p:txBody>
      </p:sp>
      <p:pic>
        <p:nvPicPr>
          <p:cNvPr id="7" name="図 6">
            <a:extLst>
              <a:ext uri="{FF2B5EF4-FFF2-40B4-BE49-F238E27FC236}">
                <a16:creationId xmlns:a16="http://schemas.microsoft.com/office/drawing/2014/main" id="{222DCEF6-7DE9-4565-A12F-31F387C33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194" y="2646230"/>
            <a:ext cx="3101340" cy="1287780"/>
          </a:xfrm>
          <a:prstGeom prst="rect">
            <a:avLst/>
          </a:prstGeom>
          <a:noFill/>
          <a:extLst>
            <a:ext uri="{909E8E84-426E-40DD-AFC4-6F175D3DCCD1}">
              <a14:hiddenFill xmlns:a14="http://schemas.microsoft.com/office/drawing/2010/main">
                <a:solidFill>
                  <a:srgbClr val="FFFFFF"/>
                </a:solidFill>
              </a14:hiddenFill>
            </a:ext>
          </a:extLst>
        </p:spPr>
      </p:pic>
      <p:pic>
        <p:nvPicPr>
          <p:cNvPr id="11" name="図 10">
            <a:extLst>
              <a:ext uri="{FF2B5EF4-FFF2-40B4-BE49-F238E27FC236}">
                <a16:creationId xmlns:a16="http://schemas.microsoft.com/office/drawing/2014/main" id="{FF0E406D-FD1A-49E0-8792-FDFE07B05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9875" y="725990"/>
            <a:ext cx="4488180" cy="3840480"/>
          </a:xfrm>
          <a:prstGeom prst="rect">
            <a:avLst/>
          </a:prstGeom>
          <a:noFill/>
          <a:extLst>
            <a:ext uri="{909E8E84-426E-40DD-AFC4-6F175D3DCCD1}">
              <a14:hiddenFill xmlns:a14="http://schemas.microsoft.com/office/drawing/2010/main">
                <a:solidFill>
                  <a:srgbClr val="FFFFFF"/>
                </a:solidFill>
              </a14:hiddenFill>
            </a:ext>
          </a:extLst>
        </p:spPr>
      </p:pic>
      <p:pic>
        <p:nvPicPr>
          <p:cNvPr id="12" name="図 11">
            <a:extLst>
              <a:ext uri="{FF2B5EF4-FFF2-40B4-BE49-F238E27FC236}">
                <a16:creationId xmlns:a16="http://schemas.microsoft.com/office/drawing/2014/main" id="{8523A0CB-AE5D-435D-936E-7E73777103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334" y="4057862"/>
            <a:ext cx="3736718" cy="228028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206410"/>
      </p:ext>
    </p:extLst>
  </p:cSld>
  <p:clrMapOvr>
    <a:masterClrMapping/>
  </p:clrMapOvr>
</p:sld>
</file>

<file path=ppt/theme/theme1.xml><?xml version="1.0" encoding="utf-8"?>
<a:theme xmlns:a="http://schemas.openxmlformats.org/drawingml/2006/main" name="4:3">
  <a:themeElements>
    <a:clrScheme name="Komatsu20">
      <a:dk1>
        <a:srgbClr val="1B232A"/>
      </a:dk1>
      <a:lt1>
        <a:sysClr val="window" lastClr="FFFFFF"/>
      </a:lt1>
      <a:dk2>
        <a:srgbClr val="140A9A"/>
      </a:dk2>
      <a:lt2>
        <a:srgbClr val="00A7E1"/>
      </a:lt2>
      <a:accent1>
        <a:srgbClr val="A5ABAF"/>
      </a:accent1>
      <a:accent2>
        <a:srgbClr val="FFC82F"/>
      </a:accent2>
      <a:accent3>
        <a:srgbClr val="99CCFF"/>
      </a:accent3>
      <a:accent4>
        <a:srgbClr val="FF0000"/>
      </a:accent4>
      <a:accent5>
        <a:srgbClr val="2BB673"/>
      </a:accent5>
      <a:accent6>
        <a:srgbClr val="F37021"/>
      </a:accent6>
      <a:hlink>
        <a:srgbClr val="00A7E1"/>
      </a:hlink>
      <a:folHlink>
        <a:srgbClr val="6E757A"/>
      </a:folHlink>
    </a:clrScheme>
    <a:fontScheme name="Arial/Meiryo UI">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defTabSz="90000">
          <a:defRPr sz="1400" dirty="0" smtClean="0">
            <a:latin typeface="+mn-lt"/>
          </a:defRPr>
        </a:defPPr>
      </a:lstStyle>
    </a:txDef>
  </a:objectDefaults>
  <a:extraClrSchemeLst/>
  <a:extLst>
    <a:ext uri="{05A4C25C-085E-4340-85A3-A5531E510DB2}">
      <thm15:themeFamily xmlns:thm15="http://schemas.microsoft.com/office/thememl/2012/main" name="Komatsu(4.3)" id="{2AE73FD3-616F-44BE-AFFA-B57AEAA7A762}" vid="{87163B8A-689E-44C8-98F1-A3B077096E6B}"/>
    </a:ext>
  </a:extLst>
</a:theme>
</file>

<file path=ppt/theme/theme2.xml><?xml version="1.0" encoding="utf-8"?>
<a:theme xmlns:a="http://schemas.openxmlformats.org/drawingml/2006/main" name="4:3（Confidential/社外秘）">
  <a:themeElements>
    <a:clrScheme name="Komatsu20">
      <a:dk1>
        <a:srgbClr val="1B232A"/>
      </a:dk1>
      <a:lt1>
        <a:sysClr val="window" lastClr="FFFFFF"/>
      </a:lt1>
      <a:dk2>
        <a:srgbClr val="140A9A"/>
      </a:dk2>
      <a:lt2>
        <a:srgbClr val="F37021"/>
      </a:lt2>
      <a:accent1>
        <a:srgbClr val="A5ABAF"/>
      </a:accent1>
      <a:accent2>
        <a:srgbClr val="FFC82F"/>
      </a:accent2>
      <a:accent3>
        <a:srgbClr val="99CCFF"/>
      </a:accent3>
      <a:accent4>
        <a:srgbClr val="EE3124"/>
      </a:accent4>
      <a:accent5>
        <a:srgbClr val="00A7E1"/>
      </a:accent5>
      <a:accent6>
        <a:srgbClr val="2BB673"/>
      </a:accent6>
      <a:hlink>
        <a:srgbClr val="00A7E1"/>
      </a:hlink>
      <a:folHlink>
        <a:srgbClr val="A5ABAF"/>
      </a:folHlink>
    </a:clrScheme>
    <a:fontScheme name="Arial/Meiryo UI">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350" dirty="0" smtClean="0">
            <a:latin typeface="+mn-lt"/>
          </a:defRPr>
        </a:defPPr>
      </a:lstStyle>
    </a:txDef>
  </a:objectDefaults>
  <a:extraClrSchemeLst/>
  <a:extLst>
    <a:ext uri="{05A4C25C-085E-4340-85A3-A5531E510DB2}">
      <thm15:themeFamily xmlns:thm15="http://schemas.microsoft.com/office/thememl/2012/main" name="CorpC01" id="{9010CFD3-49CD-45E0-986E-E16736EB8EB5}" vid="{BB5025AC-FC97-4560-9FDE-907D3290DFAC}"/>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917623DE060BE4FAB9C83F6700CB474" ma:contentTypeVersion="7" ma:contentTypeDescription="新しいドキュメントを作成します。" ma:contentTypeScope="" ma:versionID="248f5f93a5e1d5c4bec04a3fe91ab61c">
  <xsd:schema xmlns:xsd="http://www.w3.org/2001/XMLSchema" xmlns:xs="http://www.w3.org/2001/XMLSchema" xmlns:p="http://schemas.microsoft.com/office/2006/metadata/properties" xmlns:ns2="33d1031e-3179-4469-af0a-67bf480fd5cf" targetNamespace="http://schemas.microsoft.com/office/2006/metadata/properties" ma:root="true" ma:fieldsID="fca897877b8ebf17edf688681b6571ad" ns2:_="">
    <xsd:import namespace="33d1031e-3179-4469-af0a-67bf480fd5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d1031e-3179-4469-af0a-67bf480fd5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B4B26B-CAE1-4BAF-A8E9-36D0D440EA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d1031e-3179-4469-af0a-67bf480fd5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8882C2-F8AE-41A7-893A-A6C2201AB592}">
  <ds:schemaRef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schemas.microsoft.com/office/2006/documentManagement/types"/>
    <ds:schemaRef ds:uri="33d1031e-3179-4469-af0a-67bf480fd5cf"/>
    <ds:schemaRef ds:uri="http://purl.org/dc/terms/"/>
  </ds:schemaRefs>
</ds:datastoreItem>
</file>

<file path=customXml/itemProps3.xml><?xml version="1.0" encoding="utf-8"?>
<ds:datastoreItem xmlns:ds="http://schemas.openxmlformats.org/officeDocument/2006/customXml" ds:itemID="{403F2542-35EE-4827-853C-E49D8BD1B7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2020Komatsu</Template>
  <TotalTime>4490</TotalTime>
  <Words>6367</Words>
  <Application>Microsoft Office PowerPoint</Application>
  <PresentationFormat>画面に合わせる (4:3)</PresentationFormat>
  <Paragraphs>952</Paragraphs>
  <Slides>44</Slides>
  <Notes>8</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44</vt:i4>
      </vt:variant>
    </vt:vector>
  </HeadingPairs>
  <TitlesOfParts>
    <vt:vector size="53" baseType="lpstr">
      <vt:lpstr>Meiryo UI</vt:lpstr>
      <vt:lpstr>游ゴシック</vt:lpstr>
      <vt:lpstr>Arial</vt:lpstr>
      <vt:lpstr>Arial Narrow</vt:lpstr>
      <vt:lpstr>Calibri</vt:lpstr>
      <vt:lpstr>Calibri Light</vt:lpstr>
      <vt:lpstr>Wingdings</vt:lpstr>
      <vt:lpstr>4:3</vt:lpstr>
      <vt:lpstr>4:3（Confidential/社外秘）</vt:lpstr>
      <vt:lpstr>次世代KOMTRAXサーバ リリース1.2 ビジネスアプリ対応開発  </vt:lpstr>
      <vt:lpstr>１．開発の背景と要求仕様</vt:lpstr>
      <vt:lpstr>１．開発の背景と要求仕様</vt:lpstr>
      <vt:lpstr>１．開発の背景と要求仕様</vt:lpstr>
      <vt:lpstr>１．開発の背景と要求仕様</vt:lpstr>
      <vt:lpstr>１．開発の背景と要求仕様</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２．システム概要</vt:lpstr>
      <vt:lpstr>３．要求機能</vt:lpstr>
      <vt:lpstr>３．要求機能</vt:lpstr>
      <vt:lpstr>３．要求機能</vt:lpstr>
      <vt:lpstr>３．要求機能</vt:lpstr>
      <vt:lpstr>３．要求機能</vt:lpstr>
      <vt:lpstr>３．要求機能</vt:lpstr>
      <vt:lpstr>４．開発の進め方</vt:lpstr>
      <vt:lpstr>PowerPoint プレゼンテーション</vt:lpstr>
      <vt:lpstr>PowerPoint プレゼンテーション</vt:lpstr>
      <vt:lpstr>補足 アクセスレベルについて</vt:lpstr>
      <vt:lpstr>PowerPoint プレゼンテーション</vt:lpstr>
      <vt:lpstr>参考）カスタマイズ定義のアクセスレベルについて</vt:lpstr>
      <vt:lpstr>システム全体図</vt:lpstr>
      <vt:lpstr>トレンドデータ：WA475-10で実装予定の次世代データ(作業分類)</vt:lpstr>
      <vt:lpstr>トレンドデータ： WA475-10で実装予定の次世代データ(1s, 0.1sデータ)</vt:lpstr>
      <vt:lpstr>マップ/スナップ/ヒストリー　データ</vt:lpstr>
      <vt:lpstr>PowerPoint プレゼンテーション</vt:lpstr>
      <vt:lpstr>補足　カスタマイズデータ種類について</vt:lpstr>
      <vt:lpstr>補足　カスタマイズデータ種類について</vt:lpstr>
      <vt:lpstr>補足　カスタマイズデータ種類について</vt:lpstr>
      <vt:lpstr>補足　カスタマイズデータ種類について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Kellie Foster</dc:creator>
  <cp:lastModifiedBy>Tsukahara, Fumiya / 塚原　郁也</cp:lastModifiedBy>
  <cp:revision>192</cp:revision>
  <dcterms:created xsi:type="dcterms:W3CDTF">2020-11-04T17:21:50Z</dcterms:created>
  <dcterms:modified xsi:type="dcterms:W3CDTF">2022-02-03T07:59:20Z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0x0101001917623DE060BE4FAB9C83F6700CB474</vt:lpwstr>
  </property>
</Properties>
</file>