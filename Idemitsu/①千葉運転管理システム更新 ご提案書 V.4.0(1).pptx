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48" r:id="rId1"/>
  </p:sldMasterIdLst>
  <p:notesMasterIdLst>
    <p:notesMasterId r:id="rId83"/>
  </p:notesMasterIdLst>
  <p:handoutMasterIdLst>
    <p:handoutMasterId r:id="rId84"/>
  </p:handoutMasterIdLst>
  <p:sldIdLst>
    <p:sldId id="256" r:id="rId2"/>
    <p:sldId id="419" r:id="rId3"/>
    <p:sldId id="420" r:id="rId4"/>
    <p:sldId id="350" r:id="rId5"/>
    <p:sldId id="351" r:id="rId6"/>
    <p:sldId id="321" r:id="rId7"/>
    <p:sldId id="392" r:id="rId8"/>
    <p:sldId id="409" r:id="rId9"/>
    <p:sldId id="322" r:id="rId10"/>
    <p:sldId id="267" r:id="rId11"/>
    <p:sldId id="421" r:id="rId12"/>
    <p:sldId id="363" r:id="rId13"/>
    <p:sldId id="335" r:id="rId14"/>
    <p:sldId id="341" r:id="rId15"/>
    <p:sldId id="346" r:id="rId16"/>
    <p:sldId id="491" r:id="rId17"/>
    <p:sldId id="380" r:id="rId18"/>
    <p:sldId id="422" r:id="rId19"/>
    <p:sldId id="493" r:id="rId20"/>
    <p:sldId id="344" r:id="rId21"/>
    <p:sldId id="492" r:id="rId22"/>
    <p:sldId id="413" r:id="rId23"/>
    <p:sldId id="358" r:id="rId24"/>
    <p:sldId id="455" r:id="rId25"/>
    <p:sldId id="357" r:id="rId26"/>
    <p:sldId id="382" r:id="rId27"/>
    <p:sldId id="417" r:id="rId28"/>
    <p:sldId id="415" r:id="rId29"/>
    <p:sldId id="484" r:id="rId30"/>
    <p:sldId id="423" r:id="rId31"/>
    <p:sldId id="287" r:id="rId32"/>
    <p:sldId id="456" r:id="rId33"/>
    <p:sldId id="469" r:id="rId34"/>
    <p:sldId id="435" r:id="rId35"/>
    <p:sldId id="445" r:id="rId36"/>
    <p:sldId id="446" r:id="rId37"/>
    <p:sldId id="447" r:id="rId38"/>
    <p:sldId id="458" r:id="rId39"/>
    <p:sldId id="461" r:id="rId40"/>
    <p:sldId id="462" r:id="rId41"/>
    <p:sldId id="297" r:id="rId42"/>
    <p:sldId id="449" r:id="rId43"/>
    <p:sldId id="474" r:id="rId44"/>
    <p:sldId id="286" r:id="rId45"/>
    <p:sldId id="424" r:id="rId46"/>
    <p:sldId id="464" r:id="rId47"/>
    <p:sldId id="281" r:id="rId48"/>
    <p:sldId id="307" r:id="rId49"/>
    <p:sldId id="494" r:id="rId50"/>
    <p:sldId id="472" r:id="rId51"/>
    <p:sldId id="285" r:id="rId52"/>
    <p:sldId id="454" r:id="rId53"/>
    <p:sldId id="459" r:id="rId54"/>
    <p:sldId id="460" r:id="rId55"/>
    <p:sldId id="425" r:id="rId56"/>
    <p:sldId id="390" r:id="rId57"/>
    <p:sldId id="283" r:id="rId58"/>
    <p:sldId id="499" r:id="rId59"/>
    <p:sldId id="500" r:id="rId60"/>
    <p:sldId id="470" r:id="rId61"/>
    <p:sldId id="483" r:id="rId62"/>
    <p:sldId id="284" r:id="rId63"/>
    <p:sldId id="486" r:id="rId64"/>
    <p:sldId id="289" r:id="rId65"/>
    <p:sldId id="300" r:id="rId66"/>
    <p:sldId id="471" r:id="rId67"/>
    <p:sldId id="427" r:id="rId68"/>
    <p:sldId id="475" r:id="rId69"/>
    <p:sldId id="477" r:id="rId70"/>
    <p:sldId id="481" r:id="rId71"/>
    <p:sldId id="476" r:id="rId72"/>
    <p:sldId id="467" r:id="rId73"/>
    <p:sldId id="478" r:id="rId74"/>
    <p:sldId id="312" r:id="rId75"/>
    <p:sldId id="430" r:id="rId76"/>
    <p:sldId id="369" r:id="rId77"/>
    <p:sldId id="496" r:id="rId78"/>
    <p:sldId id="473" r:id="rId79"/>
    <p:sldId id="495" r:id="rId80"/>
    <p:sldId id="480" r:id="rId81"/>
    <p:sldId id="268" r:id="rId82"/>
  </p:sldIdLst>
  <p:sldSz cx="9144000" cy="6858000" type="screen4x3"/>
  <p:notesSz cx="6805613"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株式会社システムエグゼ" initials="MF" lastIdx="2" clrIdx="0">
    <p:extLst>
      <p:ext uri="{19B8F6BF-5375-455C-9EA6-DF929625EA0E}">
        <p15:presenceInfo xmlns:p15="http://schemas.microsoft.com/office/powerpoint/2012/main" userId="株式会社システムエグゼ"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a:srgbClr val="FFE1E1"/>
    <a:srgbClr val="F8CBAD"/>
    <a:srgbClr val="DEEBF7"/>
    <a:srgbClr val="FBE5D6"/>
    <a:srgbClr val="FFF2CC"/>
    <a:srgbClr val="E2F0D9"/>
    <a:srgbClr val="EDEDE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56" autoAdjust="0"/>
    <p:restoredTop sz="92980" autoAdjust="0"/>
  </p:normalViewPr>
  <p:slideViewPr>
    <p:cSldViewPr snapToGrid="0">
      <p:cViewPr varScale="1">
        <p:scale>
          <a:sx n="81" d="100"/>
          <a:sy n="81" d="100"/>
        </p:scale>
        <p:origin x="1517"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1" d="100"/>
          <a:sy n="61" d="100"/>
        </p:scale>
        <p:origin x="2400"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handoutMaster" Target="handoutMasters/handout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7701772893311501E-2"/>
          <c:y val="5.25991163603323E-2"/>
          <c:w val="0.81525079250115495"/>
          <c:h val="0.77231750878351102"/>
        </c:manualLayout>
      </c:layout>
      <c:barChart>
        <c:barDir val="col"/>
        <c:grouping val="clustered"/>
        <c:varyColors val="0"/>
        <c:ser>
          <c:idx val="0"/>
          <c:order val="0"/>
          <c:tx>
            <c:strRef>
              <c:f>Sheet1!$B$1</c:f>
              <c:strCache>
                <c:ptCount val="1"/>
                <c:pt idx="0">
                  <c:v>売上（単位：10億円）</c:v>
                </c:pt>
              </c:strCache>
            </c:strRef>
          </c:tx>
          <c:invertIfNegative val="0"/>
          <c:cat>
            <c:strRef>
              <c:f>Sheet1!$A$2:$A$11</c:f>
              <c:strCache>
                <c:ptCount val="10"/>
                <c:pt idx="0">
                  <c:v>2010年</c:v>
                </c:pt>
                <c:pt idx="1">
                  <c:v>2011年</c:v>
                </c:pt>
                <c:pt idx="2">
                  <c:v>2012年</c:v>
                </c:pt>
                <c:pt idx="3">
                  <c:v>2013年</c:v>
                </c:pt>
                <c:pt idx="4">
                  <c:v>2014年</c:v>
                </c:pt>
                <c:pt idx="5">
                  <c:v>2015年</c:v>
                </c:pt>
                <c:pt idx="6">
                  <c:v>2016年</c:v>
                </c:pt>
                <c:pt idx="7">
                  <c:v>2017年</c:v>
                </c:pt>
                <c:pt idx="8">
                  <c:v>2018年</c:v>
                </c:pt>
                <c:pt idx="9">
                  <c:v>2019年</c:v>
                </c:pt>
              </c:strCache>
            </c:strRef>
          </c:cat>
          <c:val>
            <c:numRef>
              <c:f>Sheet1!$B$2:$B$11</c:f>
              <c:numCache>
                <c:formatCode>General</c:formatCode>
                <c:ptCount val="10"/>
                <c:pt idx="0">
                  <c:v>3.2370000000000001</c:v>
                </c:pt>
                <c:pt idx="1">
                  <c:v>3.9020000000000001</c:v>
                </c:pt>
                <c:pt idx="2">
                  <c:v>4.3940000000000001</c:v>
                </c:pt>
                <c:pt idx="3">
                  <c:v>4.8600000000000003</c:v>
                </c:pt>
                <c:pt idx="4">
                  <c:v>6.2850000000000001</c:v>
                </c:pt>
                <c:pt idx="5">
                  <c:v>6.5949999999999998</c:v>
                </c:pt>
                <c:pt idx="6">
                  <c:v>6.8230000000000004</c:v>
                </c:pt>
                <c:pt idx="7">
                  <c:v>7.141</c:v>
                </c:pt>
                <c:pt idx="8">
                  <c:v>7.7210000000000001</c:v>
                </c:pt>
                <c:pt idx="9">
                  <c:v>8.5860000000000003</c:v>
                </c:pt>
              </c:numCache>
            </c:numRef>
          </c:val>
          <c:extLst>
            <c:ext xmlns:c16="http://schemas.microsoft.com/office/drawing/2014/chart" uri="{C3380CC4-5D6E-409C-BE32-E72D297353CC}">
              <c16:uniqueId val="{00000000-F583-4B08-ADE6-96A825063E09}"/>
            </c:ext>
          </c:extLst>
        </c:ser>
        <c:ser>
          <c:idx val="1"/>
          <c:order val="1"/>
          <c:tx>
            <c:strRef>
              <c:f>Sheet1!$C$1</c:f>
              <c:strCache>
                <c:ptCount val="1"/>
                <c:pt idx="0">
                  <c:v>経常利益（単位：億円）</c:v>
                </c:pt>
              </c:strCache>
            </c:strRef>
          </c:tx>
          <c:invertIfNegative val="0"/>
          <c:cat>
            <c:strRef>
              <c:f>Sheet1!$A$2:$A$11</c:f>
              <c:strCache>
                <c:ptCount val="10"/>
                <c:pt idx="0">
                  <c:v>2010年</c:v>
                </c:pt>
                <c:pt idx="1">
                  <c:v>2011年</c:v>
                </c:pt>
                <c:pt idx="2">
                  <c:v>2012年</c:v>
                </c:pt>
                <c:pt idx="3">
                  <c:v>2013年</c:v>
                </c:pt>
                <c:pt idx="4">
                  <c:v>2014年</c:v>
                </c:pt>
                <c:pt idx="5">
                  <c:v>2015年</c:v>
                </c:pt>
                <c:pt idx="6">
                  <c:v>2016年</c:v>
                </c:pt>
                <c:pt idx="7">
                  <c:v>2017年</c:v>
                </c:pt>
                <c:pt idx="8">
                  <c:v>2018年</c:v>
                </c:pt>
                <c:pt idx="9">
                  <c:v>2019年</c:v>
                </c:pt>
              </c:strCache>
            </c:strRef>
          </c:cat>
          <c:val>
            <c:numRef>
              <c:f>Sheet1!$C$2:$C$11</c:f>
              <c:numCache>
                <c:formatCode>General</c:formatCode>
                <c:ptCount val="10"/>
                <c:pt idx="0">
                  <c:v>1.37</c:v>
                </c:pt>
                <c:pt idx="1">
                  <c:v>2.83</c:v>
                </c:pt>
                <c:pt idx="2">
                  <c:v>2.54</c:v>
                </c:pt>
                <c:pt idx="3">
                  <c:v>2.2599999999999998</c:v>
                </c:pt>
                <c:pt idx="4">
                  <c:v>2.41</c:v>
                </c:pt>
                <c:pt idx="5">
                  <c:v>3.9</c:v>
                </c:pt>
                <c:pt idx="6">
                  <c:v>4.9000000000000004</c:v>
                </c:pt>
                <c:pt idx="7">
                  <c:v>4.05</c:v>
                </c:pt>
                <c:pt idx="8">
                  <c:v>5.07</c:v>
                </c:pt>
                <c:pt idx="9">
                  <c:v>4.59</c:v>
                </c:pt>
              </c:numCache>
            </c:numRef>
          </c:val>
          <c:extLst>
            <c:ext xmlns:c16="http://schemas.microsoft.com/office/drawing/2014/chart" uri="{C3380CC4-5D6E-409C-BE32-E72D297353CC}">
              <c16:uniqueId val="{00000001-F583-4B08-ADE6-96A825063E09}"/>
            </c:ext>
          </c:extLst>
        </c:ser>
        <c:dLbls>
          <c:showLegendKey val="0"/>
          <c:showVal val="0"/>
          <c:showCatName val="0"/>
          <c:showSerName val="0"/>
          <c:showPercent val="0"/>
          <c:showBubbleSize val="0"/>
        </c:dLbls>
        <c:gapWidth val="150"/>
        <c:axId val="117735936"/>
        <c:axId val="66253888"/>
      </c:barChart>
      <c:lineChart>
        <c:grouping val="standard"/>
        <c:varyColors val="0"/>
        <c:ser>
          <c:idx val="2"/>
          <c:order val="2"/>
          <c:tx>
            <c:strRef>
              <c:f>Sheet1!$D$1</c:f>
              <c:strCache>
                <c:ptCount val="1"/>
                <c:pt idx="0">
                  <c:v>社員数（単位：名）</c:v>
                </c:pt>
              </c:strCache>
            </c:strRef>
          </c:tx>
          <c:cat>
            <c:strRef>
              <c:f>Sheet1!$A$2:$A$11</c:f>
              <c:strCache>
                <c:ptCount val="10"/>
                <c:pt idx="0">
                  <c:v>2010年</c:v>
                </c:pt>
                <c:pt idx="1">
                  <c:v>2011年</c:v>
                </c:pt>
                <c:pt idx="2">
                  <c:v>2012年</c:v>
                </c:pt>
                <c:pt idx="3">
                  <c:v>2013年</c:v>
                </c:pt>
                <c:pt idx="4">
                  <c:v>2014年</c:v>
                </c:pt>
                <c:pt idx="5">
                  <c:v>2015年</c:v>
                </c:pt>
                <c:pt idx="6">
                  <c:v>2016年</c:v>
                </c:pt>
                <c:pt idx="7">
                  <c:v>2017年</c:v>
                </c:pt>
                <c:pt idx="8">
                  <c:v>2018年</c:v>
                </c:pt>
                <c:pt idx="9">
                  <c:v>2019年</c:v>
                </c:pt>
              </c:strCache>
            </c:strRef>
          </c:cat>
          <c:val>
            <c:numRef>
              <c:f>Sheet1!$D$2:$D$11</c:f>
              <c:numCache>
                <c:formatCode>General</c:formatCode>
                <c:ptCount val="10"/>
                <c:pt idx="0">
                  <c:v>300</c:v>
                </c:pt>
                <c:pt idx="1">
                  <c:v>342</c:v>
                </c:pt>
                <c:pt idx="2">
                  <c:v>358</c:v>
                </c:pt>
                <c:pt idx="3">
                  <c:v>374</c:v>
                </c:pt>
                <c:pt idx="4">
                  <c:v>401</c:v>
                </c:pt>
                <c:pt idx="5">
                  <c:v>447</c:v>
                </c:pt>
                <c:pt idx="6">
                  <c:v>470</c:v>
                </c:pt>
                <c:pt idx="7">
                  <c:v>506</c:v>
                </c:pt>
                <c:pt idx="8">
                  <c:v>539</c:v>
                </c:pt>
                <c:pt idx="9">
                  <c:v>591</c:v>
                </c:pt>
              </c:numCache>
            </c:numRef>
          </c:val>
          <c:smooth val="0"/>
          <c:extLst>
            <c:ext xmlns:c16="http://schemas.microsoft.com/office/drawing/2014/chart" uri="{C3380CC4-5D6E-409C-BE32-E72D297353CC}">
              <c16:uniqueId val="{00000002-F583-4B08-ADE6-96A825063E09}"/>
            </c:ext>
          </c:extLst>
        </c:ser>
        <c:dLbls>
          <c:showLegendKey val="0"/>
          <c:showVal val="0"/>
          <c:showCatName val="0"/>
          <c:showSerName val="0"/>
          <c:showPercent val="0"/>
          <c:showBubbleSize val="0"/>
        </c:dLbls>
        <c:marker val="1"/>
        <c:smooth val="0"/>
        <c:axId val="117736960"/>
        <c:axId val="66254464"/>
      </c:lineChart>
      <c:catAx>
        <c:axId val="117735936"/>
        <c:scaling>
          <c:orientation val="minMax"/>
        </c:scaling>
        <c:delete val="0"/>
        <c:axPos val="b"/>
        <c:numFmt formatCode="General" sourceLinked="0"/>
        <c:majorTickMark val="out"/>
        <c:minorTickMark val="none"/>
        <c:tickLblPos val="nextTo"/>
        <c:spPr>
          <a:ln w="3175"/>
        </c:spPr>
        <c:crossAx val="66253888"/>
        <c:crosses val="autoZero"/>
        <c:auto val="0"/>
        <c:lblAlgn val="ctr"/>
        <c:lblOffset val="100"/>
        <c:noMultiLvlLbl val="0"/>
      </c:catAx>
      <c:valAx>
        <c:axId val="66253888"/>
        <c:scaling>
          <c:orientation val="minMax"/>
          <c:min val="0"/>
        </c:scaling>
        <c:delete val="0"/>
        <c:axPos val="l"/>
        <c:majorGridlines/>
        <c:numFmt formatCode="0_);[Red]\(0\)" sourceLinked="0"/>
        <c:majorTickMark val="in"/>
        <c:minorTickMark val="none"/>
        <c:tickLblPos val="nextTo"/>
        <c:crossAx val="117735936"/>
        <c:crosses val="autoZero"/>
        <c:crossBetween val="between"/>
      </c:valAx>
      <c:valAx>
        <c:axId val="66254464"/>
        <c:scaling>
          <c:orientation val="minMax"/>
        </c:scaling>
        <c:delete val="0"/>
        <c:axPos val="r"/>
        <c:numFmt formatCode="#,##0&quot;名&quot;" sourceLinked="0"/>
        <c:majorTickMark val="out"/>
        <c:minorTickMark val="none"/>
        <c:tickLblPos val="nextTo"/>
        <c:crossAx val="117736960"/>
        <c:crosses val="max"/>
        <c:crossBetween val="between"/>
      </c:valAx>
      <c:catAx>
        <c:axId val="117736960"/>
        <c:scaling>
          <c:orientation val="minMax"/>
        </c:scaling>
        <c:delete val="1"/>
        <c:axPos val="b"/>
        <c:numFmt formatCode="General" sourceLinked="0"/>
        <c:majorTickMark val="out"/>
        <c:minorTickMark val="none"/>
        <c:tickLblPos val="none"/>
        <c:crossAx val="66254464"/>
        <c:crosses val="autoZero"/>
        <c:auto val="1"/>
        <c:lblAlgn val="ctr"/>
        <c:lblOffset val="100"/>
        <c:noMultiLvlLbl val="0"/>
      </c:catAx>
    </c:plotArea>
    <c:legend>
      <c:legendPos val="r"/>
      <c:layout>
        <c:manualLayout>
          <c:xMode val="edge"/>
          <c:yMode val="edge"/>
          <c:x val="6.8198412698412716E-2"/>
          <c:y val="2.2625308641975303E-2"/>
          <c:w val="0.40382083333333341"/>
          <c:h val="0.23032623456790124"/>
        </c:manualLayout>
      </c:layout>
      <c:overlay val="0"/>
      <c:spPr>
        <a:solidFill>
          <a:schemeClr val="bg1">
            <a:lumMod val="95000"/>
          </a:schemeClr>
        </a:solidFill>
        <a:ln>
          <a:solidFill>
            <a:schemeClr val="tx1">
              <a:lumMod val="50000"/>
              <a:lumOff val="50000"/>
            </a:schemeClr>
          </a:solidFill>
        </a:ln>
      </c:spPr>
      <c:txPr>
        <a:bodyPr/>
        <a:lstStyle/>
        <a:p>
          <a:pPr>
            <a:defRPr sz="1200"/>
          </a:pPr>
          <a:endParaRPr lang="ja-JP"/>
        </a:p>
      </c:txPr>
    </c:legend>
    <c:plotVisOnly val="1"/>
    <c:dispBlanksAs val="gap"/>
    <c:showDLblsOverMax val="0"/>
  </c:chart>
  <c:txPr>
    <a:bodyPr/>
    <a:lstStyle/>
    <a:p>
      <a:pPr>
        <a:defRPr sz="1400">
          <a:latin typeface="游ゴシック" panose="020B0400000000000000" pitchFamily="50" charset="-128"/>
          <a:ea typeface="游ゴシック" panose="020B0400000000000000" pitchFamily="50" charset="-128"/>
        </a:defRPr>
      </a:pPr>
      <a:endParaRPr lang="ja-JP"/>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4450" y="0"/>
            <a:ext cx="2949575" cy="498475"/>
          </a:xfrm>
          <a:prstGeom prst="rect">
            <a:avLst/>
          </a:prstGeom>
        </p:spPr>
        <p:txBody>
          <a:bodyPr vert="horz" lIns="91440" tIns="45720" rIns="91440" bIns="45720" rtlCol="0"/>
          <a:lstStyle>
            <a:lvl1pPr algn="r">
              <a:defRPr sz="1200"/>
            </a:lvl1pPr>
          </a:lstStyle>
          <a:p>
            <a:fld id="{36A2986F-13A2-49D6-B8C6-920CC5111872}" type="datetimeFigureOut">
              <a:rPr kumimoji="1" lang="ja-JP" altLang="en-US" smtClean="0"/>
              <a:t>2021/3/10</a:t>
            </a:fld>
            <a:endParaRPr kumimoji="1" lang="ja-JP" altLang="en-US"/>
          </a:p>
        </p:txBody>
      </p:sp>
      <p:sp>
        <p:nvSpPr>
          <p:cNvPr id="4" name="フッター プレースホルダー 3"/>
          <p:cNvSpPr>
            <a:spLocks noGrp="1"/>
          </p:cNvSpPr>
          <p:nvPr>
            <p:ph type="ftr" sz="quarter" idx="2"/>
          </p:nvPr>
        </p:nvSpPr>
        <p:spPr>
          <a:xfrm>
            <a:off x="0" y="9440863"/>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4450" y="9440863"/>
            <a:ext cx="2949575" cy="498475"/>
          </a:xfrm>
          <a:prstGeom prst="rect">
            <a:avLst/>
          </a:prstGeom>
        </p:spPr>
        <p:txBody>
          <a:bodyPr vert="horz" lIns="91440" tIns="45720" rIns="91440" bIns="45720" rtlCol="0" anchor="b"/>
          <a:lstStyle>
            <a:lvl1pPr algn="r">
              <a:defRPr sz="1200"/>
            </a:lvl1pPr>
          </a:lstStyle>
          <a:p>
            <a:fld id="{91ED9DFD-0D3B-49A2-B23E-C70DA4F20F44}" type="slidenum">
              <a:rPr kumimoji="1" lang="ja-JP" altLang="en-US" smtClean="0"/>
              <a:t>‹#›</a:t>
            </a:fld>
            <a:endParaRPr kumimoji="1" lang="ja-JP" altLang="en-US"/>
          </a:p>
        </p:txBody>
      </p:sp>
    </p:spTree>
    <p:extLst>
      <p:ext uri="{BB962C8B-B14F-4D97-AF65-F5344CB8AC3E}">
        <p14:creationId xmlns:p14="http://schemas.microsoft.com/office/powerpoint/2010/main" val="18426029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3" y="2"/>
            <a:ext cx="2949099" cy="498693"/>
          </a:xfrm>
          <a:prstGeom prst="rect">
            <a:avLst/>
          </a:prstGeom>
        </p:spPr>
        <p:txBody>
          <a:bodyPr vert="horz" lIns="91431" tIns="45716" rIns="91431" bIns="45716"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4942" y="2"/>
            <a:ext cx="2949099" cy="498693"/>
          </a:xfrm>
          <a:prstGeom prst="rect">
            <a:avLst/>
          </a:prstGeom>
        </p:spPr>
        <p:txBody>
          <a:bodyPr vert="horz" lIns="91431" tIns="45716" rIns="91431" bIns="45716" rtlCol="0"/>
          <a:lstStyle>
            <a:lvl1pPr algn="r">
              <a:defRPr sz="1200"/>
            </a:lvl1pPr>
          </a:lstStyle>
          <a:p>
            <a:fld id="{C8D63E47-C492-4389-A9D6-4B7622D85505}" type="datetimeFigureOut">
              <a:rPr kumimoji="1" lang="ja-JP" altLang="en-US" smtClean="0"/>
              <a:t>2021/3/10</a:t>
            </a:fld>
            <a:endParaRPr kumimoji="1" lang="ja-JP" altLang="en-US"/>
          </a:p>
        </p:txBody>
      </p:sp>
      <p:sp>
        <p:nvSpPr>
          <p:cNvPr id="4" name="スライド イメージ プレースホルダー 3"/>
          <p:cNvSpPr>
            <a:spLocks noGrp="1" noRot="1" noChangeAspect="1"/>
          </p:cNvSpPr>
          <p:nvPr>
            <p:ph type="sldImg" idx="2"/>
          </p:nvPr>
        </p:nvSpPr>
        <p:spPr>
          <a:xfrm>
            <a:off x="1166813" y="1243013"/>
            <a:ext cx="4471987" cy="3354387"/>
          </a:xfrm>
          <a:prstGeom prst="rect">
            <a:avLst/>
          </a:prstGeom>
          <a:noFill/>
          <a:ln w="12700">
            <a:solidFill>
              <a:prstClr val="black"/>
            </a:solidFill>
          </a:ln>
        </p:spPr>
        <p:txBody>
          <a:bodyPr vert="horz" lIns="91431" tIns="45716" rIns="91431" bIns="45716" rtlCol="0" anchor="ctr"/>
          <a:lstStyle/>
          <a:p>
            <a:endParaRPr lang="ja-JP" altLang="en-US"/>
          </a:p>
        </p:txBody>
      </p:sp>
      <p:sp>
        <p:nvSpPr>
          <p:cNvPr id="5" name="ノート プレースホルダー 4"/>
          <p:cNvSpPr>
            <a:spLocks noGrp="1"/>
          </p:cNvSpPr>
          <p:nvPr>
            <p:ph type="body" sz="quarter" idx="3"/>
          </p:nvPr>
        </p:nvSpPr>
        <p:spPr>
          <a:xfrm>
            <a:off x="680562" y="4783309"/>
            <a:ext cx="5444490" cy="3913614"/>
          </a:xfrm>
          <a:prstGeom prst="rect">
            <a:avLst/>
          </a:prstGeom>
        </p:spPr>
        <p:txBody>
          <a:bodyPr vert="horz" lIns="91431" tIns="45716" rIns="91431" bIns="45716"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3" y="9440649"/>
            <a:ext cx="2949099" cy="498692"/>
          </a:xfrm>
          <a:prstGeom prst="rect">
            <a:avLst/>
          </a:prstGeom>
        </p:spPr>
        <p:txBody>
          <a:bodyPr vert="horz" lIns="91431" tIns="45716" rIns="91431" bIns="45716"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4942" y="9440649"/>
            <a:ext cx="2949099" cy="498692"/>
          </a:xfrm>
          <a:prstGeom prst="rect">
            <a:avLst/>
          </a:prstGeom>
        </p:spPr>
        <p:txBody>
          <a:bodyPr vert="horz" lIns="91431" tIns="45716" rIns="91431" bIns="45716" rtlCol="0" anchor="b"/>
          <a:lstStyle>
            <a:lvl1pPr algn="r">
              <a:defRPr sz="1200"/>
            </a:lvl1pPr>
          </a:lstStyle>
          <a:p>
            <a:fld id="{F418B1AF-4AFD-4D71-944C-82BDB271F90A}" type="slidenum">
              <a:rPr kumimoji="1" lang="ja-JP" altLang="en-US" smtClean="0"/>
              <a:t>‹#›</a:t>
            </a:fld>
            <a:endParaRPr kumimoji="1" lang="ja-JP" altLang="en-US"/>
          </a:p>
        </p:txBody>
      </p:sp>
    </p:spTree>
    <p:extLst>
      <p:ext uri="{BB962C8B-B14F-4D97-AF65-F5344CB8AC3E}">
        <p14:creationId xmlns:p14="http://schemas.microsoft.com/office/powerpoint/2010/main" val="16230870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記載のない管理項目</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solidFill>
                  <a:schemeClr val="tx1"/>
                </a:solidFill>
                <a:latin typeface="游ゴシック" panose="020B0400000000000000" pitchFamily="50" charset="-128"/>
                <a:ea typeface="游ゴシック" panose="020B0400000000000000" pitchFamily="50" charset="-128"/>
              </a:rPr>
              <a:t>スコープ管理・コスト管理・組織管理・調達管理・ステークホルダ管理</a:t>
            </a:r>
            <a:endParaRPr lang="en-US" altLang="ja-JP" sz="1200" dirty="0">
              <a:solidFill>
                <a:schemeClr val="tx1"/>
              </a:solidFill>
              <a:latin typeface="游ゴシック" panose="020B0400000000000000" pitchFamily="50" charset="-128"/>
              <a:ea typeface="游ゴシック" panose="020B0400000000000000" pitchFamily="50" charset="-128"/>
            </a:endParaRPr>
          </a:p>
          <a:p>
            <a:endParaRPr kumimoji="1" lang="en-US" altLang="ja-JP" dirty="0"/>
          </a:p>
          <a:p>
            <a:endParaRPr kumimoji="1" lang="en-US" altLang="ja-JP" dirty="0"/>
          </a:p>
          <a:p>
            <a:r>
              <a:rPr lang="ja-JP" altLang="en-US" sz="1200" dirty="0">
                <a:latin typeface="游ゴシック" panose="020B0400000000000000" pitchFamily="50" charset="-128"/>
              </a:rPr>
              <a:t>特に右記の６つの管理項目は貴社との情報共有が重要と認識しております。また</a:t>
            </a:r>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7</a:t>
            </a:fld>
            <a:endParaRPr kumimoji="1" lang="ja-JP" altLang="en-US"/>
          </a:p>
        </p:txBody>
      </p:sp>
    </p:spTree>
    <p:extLst>
      <p:ext uri="{BB962C8B-B14F-4D97-AF65-F5344CB8AC3E}">
        <p14:creationId xmlns:p14="http://schemas.microsoft.com/office/powerpoint/2010/main" val="1382786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画像取得元：</a:t>
            </a:r>
            <a:r>
              <a:rPr kumimoji="1" lang="en-US" altLang="ja-JP" dirty="0"/>
              <a:t>https://national-flag.com/03-continent/index.html</a:t>
            </a:r>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8</a:t>
            </a:fld>
            <a:endParaRPr kumimoji="1" lang="ja-JP" altLang="en-US"/>
          </a:p>
        </p:txBody>
      </p:sp>
    </p:spTree>
    <p:extLst>
      <p:ext uri="{BB962C8B-B14F-4D97-AF65-F5344CB8AC3E}">
        <p14:creationId xmlns:p14="http://schemas.microsoft.com/office/powerpoint/2010/main" val="25819180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13</a:t>
            </a:fld>
            <a:endParaRPr kumimoji="1" lang="ja-JP" altLang="en-US"/>
          </a:p>
        </p:txBody>
      </p:sp>
    </p:spTree>
    <p:extLst>
      <p:ext uri="{BB962C8B-B14F-4D97-AF65-F5344CB8AC3E}">
        <p14:creationId xmlns:p14="http://schemas.microsoft.com/office/powerpoint/2010/main" val="3975418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31</a:t>
            </a:fld>
            <a:endParaRPr kumimoji="1" lang="ja-JP" altLang="en-US"/>
          </a:p>
        </p:txBody>
      </p:sp>
    </p:spTree>
    <p:extLst>
      <p:ext uri="{BB962C8B-B14F-4D97-AF65-F5344CB8AC3E}">
        <p14:creationId xmlns:p14="http://schemas.microsoft.com/office/powerpoint/2010/main" val="1089480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32</a:t>
            </a:fld>
            <a:endParaRPr kumimoji="1" lang="ja-JP" altLang="en-US"/>
          </a:p>
        </p:txBody>
      </p:sp>
    </p:spTree>
    <p:extLst>
      <p:ext uri="{BB962C8B-B14F-4D97-AF65-F5344CB8AC3E}">
        <p14:creationId xmlns:p14="http://schemas.microsoft.com/office/powerpoint/2010/main" val="211800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38</a:t>
            </a:fld>
            <a:endParaRPr kumimoji="1" lang="ja-JP" altLang="en-US"/>
          </a:p>
        </p:txBody>
      </p:sp>
    </p:spTree>
    <p:extLst>
      <p:ext uri="{BB962C8B-B14F-4D97-AF65-F5344CB8AC3E}">
        <p14:creationId xmlns:p14="http://schemas.microsoft.com/office/powerpoint/2010/main" val="4259043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55</a:t>
            </a:fld>
            <a:endParaRPr kumimoji="1" lang="ja-JP" altLang="en-US"/>
          </a:p>
        </p:txBody>
      </p:sp>
    </p:spTree>
    <p:extLst>
      <p:ext uri="{BB962C8B-B14F-4D97-AF65-F5344CB8AC3E}">
        <p14:creationId xmlns:p14="http://schemas.microsoft.com/office/powerpoint/2010/main" val="3541609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F418B1AF-4AFD-4D71-944C-82BDB271F90A}" type="slidenum">
              <a:rPr kumimoji="1" lang="ja-JP" altLang="en-US" smtClean="0"/>
              <a:t>61</a:t>
            </a:fld>
            <a:endParaRPr kumimoji="1" lang="ja-JP" altLang="en-US"/>
          </a:p>
        </p:txBody>
      </p:sp>
    </p:spTree>
    <p:extLst>
      <p:ext uri="{BB962C8B-B14F-4D97-AF65-F5344CB8AC3E}">
        <p14:creationId xmlns:p14="http://schemas.microsoft.com/office/powerpoint/2010/main" val="36411499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3" name="サブタイトル 2"/>
          <p:cNvSpPr>
            <a:spLocks noGrp="1"/>
          </p:cNvSpPr>
          <p:nvPr>
            <p:ph type="subTitle" idx="1"/>
          </p:nvPr>
        </p:nvSpPr>
        <p:spPr>
          <a:xfrm>
            <a:off x="2412000" y="4633401"/>
            <a:ext cx="4320000" cy="864000"/>
          </a:xfrm>
          <a:solidFill>
            <a:schemeClr val="bg1"/>
          </a:solidFill>
        </p:spPr>
        <p:txBody>
          <a:bodyPr anchor="b" anchorCtr="0">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dirty="0"/>
              <a:t>マスター サブタイトルの書式設定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4" name="テキスト ボックス 3"/>
          <p:cNvSpPr txBox="1"/>
          <p:nvPr userDrawn="1"/>
        </p:nvSpPr>
        <p:spPr>
          <a:xfrm>
            <a:off x="6630306" y="6357342"/>
            <a:ext cx="2441694" cy="427168"/>
          </a:xfrm>
          <a:prstGeom prst="rect">
            <a:avLst/>
          </a:prstGeom>
          <a:solidFill>
            <a:schemeClr val="bg1"/>
          </a:solidFill>
        </p:spPr>
        <p:txBody>
          <a:bodyPr wrap="none" rtlCol="0">
            <a:spAutoFit/>
          </a:bodyPr>
          <a:lstStyle/>
          <a:p>
            <a:pPr algn="r">
              <a:lnSpc>
                <a:spcPct val="150000"/>
              </a:lnSpc>
            </a:pPr>
            <a:r>
              <a:rPr kumimoji="1" lang="ja-JP" altLang="en-US" sz="1600" dirty="0">
                <a:latin typeface="游ゴシック" panose="020B0400000000000000" pitchFamily="50" charset="-128"/>
                <a:ea typeface="游ゴシック" panose="020B0400000000000000" pitchFamily="50" charset="-128"/>
              </a:rPr>
              <a:t>株式会社システムエグゼ</a:t>
            </a:r>
            <a:endParaRPr kumimoji="1" lang="en-US" altLang="ja-JP" sz="1600" dirty="0">
              <a:latin typeface="游ゴシック" panose="020B0400000000000000" pitchFamily="50" charset="-128"/>
              <a:ea typeface="游ゴシック" panose="020B0400000000000000" pitchFamily="50" charset="-128"/>
            </a:endParaRPr>
          </a:p>
        </p:txBody>
      </p:sp>
      <p:pic>
        <p:nvPicPr>
          <p:cNvPr id="9" name="図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29955" y="6004443"/>
            <a:ext cx="1857375" cy="328136"/>
          </a:xfrm>
          <a:prstGeom prst="rect">
            <a:avLst/>
          </a:prstGeom>
        </p:spPr>
      </p:pic>
      <p:sp>
        <p:nvSpPr>
          <p:cNvPr id="7" name="コンテンツ プレースホルダー 6"/>
          <p:cNvSpPr>
            <a:spLocks noGrp="1"/>
          </p:cNvSpPr>
          <p:nvPr>
            <p:ph sz="quarter" idx="12" hasCustomPrompt="1"/>
          </p:nvPr>
        </p:nvSpPr>
        <p:spPr>
          <a:xfrm>
            <a:off x="72000" y="144000"/>
            <a:ext cx="4320000" cy="360000"/>
          </a:xfrm>
        </p:spPr>
        <p:txBody>
          <a:bodyPr/>
          <a:lstStyle>
            <a:lvl1pPr marL="0" indent="0">
              <a:buNone/>
              <a:defRPr sz="2000"/>
            </a:lvl1pPr>
          </a:lstStyle>
          <a:p>
            <a:pPr lvl="0"/>
            <a:r>
              <a:rPr kumimoji="1" lang="ja-JP" altLang="en-US" dirty="0"/>
              <a:t>〇〇株式会社　御中</a:t>
            </a:r>
          </a:p>
        </p:txBody>
      </p:sp>
    </p:spTree>
    <p:extLst>
      <p:ext uri="{BB962C8B-B14F-4D97-AF65-F5344CB8AC3E}">
        <p14:creationId xmlns:p14="http://schemas.microsoft.com/office/powerpoint/2010/main" val="1808357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endParaRPr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lang="ja-JP" altLang="en-US" smtClean="0"/>
              <a:pPr/>
              <a:t>‹#›</a:t>
            </a:fld>
            <a:endParaRPr lang="ja-JP" altLang="en-US"/>
          </a:p>
        </p:txBody>
      </p:sp>
      <p:sp>
        <p:nvSpPr>
          <p:cNvPr id="24" name="テキスト ボックス 23"/>
          <p:cNvSpPr txBox="1"/>
          <p:nvPr/>
        </p:nvSpPr>
        <p:spPr>
          <a:xfrm>
            <a:off x="1152000" y="1116000"/>
            <a:ext cx="432000" cy="432000"/>
          </a:xfrm>
          <a:prstGeom prst="rect">
            <a:avLst/>
          </a:prstGeom>
          <a:noFill/>
        </p:spPr>
        <p:txBody>
          <a:bodyPr wrap="square" rtlCol="0">
            <a:noAutofit/>
          </a:bodyPr>
          <a:lstStyle/>
          <a:p>
            <a:pPr algn="ctr"/>
            <a:r>
              <a:rPr lang="ja-JP" altLang="en-US" sz="2400" b="1" dirty="0">
                <a:solidFill>
                  <a:srgbClr val="A01D45"/>
                </a:solidFill>
                <a:latin typeface="游ゴシック" panose="020B0400000000000000" pitchFamily="50" charset="-128"/>
                <a:ea typeface="游ゴシック" panose="020B0400000000000000" pitchFamily="50" charset="-128"/>
              </a:rPr>
              <a:t>１</a:t>
            </a:r>
            <a:endParaRPr lang="en-US" altLang="ja-JP" sz="2400" b="1" dirty="0">
              <a:solidFill>
                <a:srgbClr val="A01D45"/>
              </a:solidFill>
              <a:latin typeface="游ゴシック" panose="020B0400000000000000" pitchFamily="50" charset="-128"/>
              <a:ea typeface="游ゴシック" panose="020B0400000000000000" pitchFamily="50" charset="-128"/>
            </a:endParaRPr>
          </a:p>
        </p:txBody>
      </p:sp>
      <p:sp>
        <p:nvSpPr>
          <p:cNvPr id="22" name="テキスト ボックス 21"/>
          <p:cNvSpPr txBox="1"/>
          <p:nvPr/>
        </p:nvSpPr>
        <p:spPr>
          <a:xfrm>
            <a:off x="1152000" y="1908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2</a:t>
            </a:r>
          </a:p>
        </p:txBody>
      </p:sp>
      <p:sp>
        <p:nvSpPr>
          <p:cNvPr id="20" name="テキスト ボックス 19"/>
          <p:cNvSpPr txBox="1"/>
          <p:nvPr/>
        </p:nvSpPr>
        <p:spPr>
          <a:xfrm>
            <a:off x="1152000" y="2700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3</a:t>
            </a:r>
          </a:p>
        </p:txBody>
      </p:sp>
      <p:sp>
        <p:nvSpPr>
          <p:cNvPr id="18" name="テキスト ボックス 17"/>
          <p:cNvSpPr txBox="1"/>
          <p:nvPr/>
        </p:nvSpPr>
        <p:spPr>
          <a:xfrm>
            <a:off x="1152000" y="3492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4</a:t>
            </a:r>
          </a:p>
        </p:txBody>
      </p:sp>
      <p:sp>
        <p:nvSpPr>
          <p:cNvPr id="16" name="テキスト ボックス 15"/>
          <p:cNvSpPr txBox="1"/>
          <p:nvPr/>
        </p:nvSpPr>
        <p:spPr>
          <a:xfrm>
            <a:off x="1152000" y="4284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5</a:t>
            </a:r>
          </a:p>
        </p:txBody>
      </p:sp>
      <p:sp>
        <p:nvSpPr>
          <p:cNvPr id="14" name="テキスト ボックス 13"/>
          <p:cNvSpPr txBox="1"/>
          <p:nvPr/>
        </p:nvSpPr>
        <p:spPr>
          <a:xfrm>
            <a:off x="1152000" y="5076000"/>
            <a:ext cx="432000" cy="432000"/>
          </a:xfrm>
          <a:prstGeom prst="rect">
            <a:avLst/>
          </a:prstGeom>
          <a:noFill/>
        </p:spPr>
        <p:txBody>
          <a:bodyPr wrap="square" rtlCol="0">
            <a:noAutofit/>
          </a:bodyPr>
          <a:lstStyle/>
          <a:p>
            <a:pPr algn="ctr"/>
            <a:r>
              <a:rPr lang="ja-JP" altLang="en-US" sz="2400" b="1" dirty="0">
                <a:solidFill>
                  <a:srgbClr val="A01D45"/>
                </a:solidFill>
                <a:latin typeface="游ゴシック" panose="020B0400000000000000" pitchFamily="50" charset="-128"/>
                <a:ea typeface="游ゴシック" panose="020B0400000000000000" pitchFamily="50" charset="-128"/>
              </a:rPr>
              <a:t>・</a:t>
            </a:r>
            <a:endParaRPr lang="en-US" altLang="ja-JP" sz="2400" b="1" dirty="0">
              <a:solidFill>
                <a:srgbClr val="A01D45"/>
              </a:solidFill>
              <a:latin typeface="游ゴシック" panose="020B0400000000000000" pitchFamily="50" charset="-128"/>
              <a:ea typeface="游ゴシック" panose="020B0400000000000000" pitchFamily="50" charset="-128"/>
            </a:endParaRPr>
          </a:p>
        </p:txBody>
      </p:sp>
      <p:sp>
        <p:nvSpPr>
          <p:cNvPr id="28" name="テキスト プレースホルダー 27"/>
          <p:cNvSpPr>
            <a:spLocks noGrp="1"/>
          </p:cNvSpPr>
          <p:nvPr>
            <p:ph type="body" sz="quarter" idx="13"/>
          </p:nvPr>
        </p:nvSpPr>
        <p:spPr>
          <a:xfrm>
            <a:off x="1512000" y="1188000"/>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0" name="テキスト プレースホルダー 29"/>
          <p:cNvSpPr>
            <a:spLocks noGrp="1"/>
          </p:cNvSpPr>
          <p:nvPr>
            <p:ph type="body" sz="quarter" idx="14"/>
          </p:nvPr>
        </p:nvSpPr>
        <p:spPr>
          <a:xfrm>
            <a:off x="1512000" y="1476000"/>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1" name="テキスト プレースホルダー 27"/>
          <p:cNvSpPr>
            <a:spLocks noGrp="1"/>
          </p:cNvSpPr>
          <p:nvPr>
            <p:ph type="body" sz="quarter" idx="15"/>
          </p:nvPr>
        </p:nvSpPr>
        <p:spPr>
          <a:xfrm>
            <a:off x="1512000" y="1980000"/>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2" name="テキスト プレースホルダー 29"/>
          <p:cNvSpPr>
            <a:spLocks noGrp="1"/>
          </p:cNvSpPr>
          <p:nvPr>
            <p:ph type="body" sz="quarter" idx="16"/>
          </p:nvPr>
        </p:nvSpPr>
        <p:spPr>
          <a:xfrm>
            <a:off x="1512000" y="2268000"/>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3" name="テキスト プレースホルダー 27"/>
          <p:cNvSpPr>
            <a:spLocks noGrp="1"/>
          </p:cNvSpPr>
          <p:nvPr>
            <p:ph type="body" sz="quarter" idx="17"/>
          </p:nvPr>
        </p:nvSpPr>
        <p:spPr>
          <a:xfrm>
            <a:off x="1512000" y="2772000"/>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4" name="テキスト プレースホルダー 29"/>
          <p:cNvSpPr>
            <a:spLocks noGrp="1"/>
          </p:cNvSpPr>
          <p:nvPr>
            <p:ph type="body" sz="quarter" idx="18"/>
          </p:nvPr>
        </p:nvSpPr>
        <p:spPr>
          <a:xfrm>
            <a:off x="1512000" y="3060000"/>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5" name="テキスト プレースホルダー 27"/>
          <p:cNvSpPr>
            <a:spLocks noGrp="1"/>
          </p:cNvSpPr>
          <p:nvPr>
            <p:ph type="body" sz="quarter" idx="19"/>
          </p:nvPr>
        </p:nvSpPr>
        <p:spPr>
          <a:xfrm>
            <a:off x="1512000" y="3564000"/>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6" name="テキスト プレースホルダー 29"/>
          <p:cNvSpPr>
            <a:spLocks noGrp="1"/>
          </p:cNvSpPr>
          <p:nvPr>
            <p:ph type="body" sz="quarter" idx="20"/>
          </p:nvPr>
        </p:nvSpPr>
        <p:spPr>
          <a:xfrm>
            <a:off x="1512000" y="3852000"/>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7" name="テキスト プレースホルダー 27"/>
          <p:cNvSpPr>
            <a:spLocks noGrp="1"/>
          </p:cNvSpPr>
          <p:nvPr>
            <p:ph type="body" sz="quarter" idx="21"/>
          </p:nvPr>
        </p:nvSpPr>
        <p:spPr>
          <a:xfrm>
            <a:off x="1512000" y="4356000"/>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8" name="テキスト プレースホルダー 29"/>
          <p:cNvSpPr>
            <a:spLocks noGrp="1"/>
          </p:cNvSpPr>
          <p:nvPr>
            <p:ph type="body" sz="quarter" idx="22"/>
          </p:nvPr>
        </p:nvSpPr>
        <p:spPr>
          <a:xfrm>
            <a:off x="1512000" y="4644000"/>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9" name="テキスト プレースホルダー 27"/>
          <p:cNvSpPr>
            <a:spLocks noGrp="1"/>
          </p:cNvSpPr>
          <p:nvPr>
            <p:ph type="body" sz="quarter" idx="23"/>
          </p:nvPr>
        </p:nvSpPr>
        <p:spPr>
          <a:xfrm>
            <a:off x="1512000" y="5148000"/>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40" name="テキスト プレースホルダー 29"/>
          <p:cNvSpPr>
            <a:spLocks noGrp="1"/>
          </p:cNvSpPr>
          <p:nvPr>
            <p:ph type="body" sz="quarter" idx="24"/>
          </p:nvPr>
        </p:nvSpPr>
        <p:spPr>
          <a:xfrm>
            <a:off x="1512000" y="5436000"/>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Tree>
    <p:extLst>
      <p:ext uri="{BB962C8B-B14F-4D97-AF65-F5344CB8AC3E}">
        <p14:creationId xmlns:p14="http://schemas.microsoft.com/office/powerpoint/2010/main" val="3583693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2">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endParaRPr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lang="ja-JP" altLang="en-US" smtClean="0"/>
              <a:pPr/>
              <a:t>‹#›</a:t>
            </a:fld>
            <a:endParaRPr lang="ja-JP" altLang="en-US"/>
          </a:p>
        </p:txBody>
      </p:sp>
      <p:sp>
        <p:nvSpPr>
          <p:cNvPr id="24" name="テキスト ボックス 23"/>
          <p:cNvSpPr txBox="1"/>
          <p:nvPr/>
        </p:nvSpPr>
        <p:spPr>
          <a:xfrm>
            <a:off x="1152000" y="1861068"/>
            <a:ext cx="432000" cy="432000"/>
          </a:xfrm>
          <a:prstGeom prst="rect">
            <a:avLst/>
          </a:prstGeom>
          <a:noFill/>
        </p:spPr>
        <p:txBody>
          <a:bodyPr wrap="square" rtlCol="0">
            <a:noAutofit/>
          </a:bodyPr>
          <a:lstStyle/>
          <a:p>
            <a:pPr algn="ctr"/>
            <a:r>
              <a:rPr lang="ja-JP" altLang="en-US" sz="2400" b="1" dirty="0">
                <a:solidFill>
                  <a:srgbClr val="A01D45"/>
                </a:solidFill>
                <a:latin typeface="游ゴシック" panose="020B0400000000000000" pitchFamily="50" charset="-128"/>
                <a:ea typeface="游ゴシック" panose="020B0400000000000000" pitchFamily="50" charset="-128"/>
              </a:rPr>
              <a:t>１</a:t>
            </a:r>
            <a:endParaRPr lang="en-US" altLang="ja-JP" sz="2400" b="1" dirty="0">
              <a:solidFill>
                <a:srgbClr val="A01D45"/>
              </a:solidFill>
              <a:latin typeface="游ゴシック" panose="020B0400000000000000" pitchFamily="50" charset="-128"/>
              <a:ea typeface="游ゴシック" panose="020B0400000000000000" pitchFamily="50" charset="-128"/>
            </a:endParaRPr>
          </a:p>
        </p:txBody>
      </p:sp>
      <p:sp>
        <p:nvSpPr>
          <p:cNvPr id="22" name="テキスト ボックス 21"/>
          <p:cNvSpPr txBox="1"/>
          <p:nvPr/>
        </p:nvSpPr>
        <p:spPr>
          <a:xfrm>
            <a:off x="1152000" y="2653068"/>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2</a:t>
            </a:r>
          </a:p>
        </p:txBody>
      </p:sp>
      <p:sp>
        <p:nvSpPr>
          <p:cNvPr id="20" name="テキスト ボックス 19"/>
          <p:cNvSpPr txBox="1"/>
          <p:nvPr/>
        </p:nvSpPr>
        <p:spPr>
          <a:xfrm>
            <a:off x="1152000" y="3445068"/>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3</a:t>
            </a:r>
          </a:p>
        </p:txBody>
      </p:sp>
      <p:sp>
        <p:nvSpPr>
          <p:cNvPr id="18" name="テキスト ボックス 17"/>
          <p:cNvSpPr txBox="1"/>
          <p:nvPr/>
        </p:nvSpPr>
        <p:spPr>
          <a:xfrm>
            <a:off x="1152000" y="4237068"/>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4</a:t>
            </a:r>
          </a:p>
        </p:txBody>
      </p:sp>
      <p:sp>
        <p:nvSpPr>
          <p:cNvPr id="28" name="テキスト プレースホルダー 27"/>
          <p:cNvSpPr>
            <a:spLocks noGrp="1"/>
          </p:cNvSpPr>
          <p:nvPr>
            <p:ph type="body" sz="quarter" idx="13"/>
          </p:nvPr>
        </p:nvSpPr>
        <p:spPr>
          <a:xfrm>
            <a:off x="1512000" y="1933068"/>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0" name="テキスト プレースホルダー 29"/>
          <p:cNvSpPr>
            <a:spLocks noGrp="1"/>
          </p:cNvSpPr>
          <p:nvPr>
            <p:ph type="body" sz="quarter" idx="14"/>
          </p:nvPr>
        </p:nvSpPr>
        <p:spPr>
          <a:xfrm>
            <a:off x="1512000" y="2221068"/>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1" name="テキスト プレースホルダー 27"/>
          <p:cNvSpPr>
            <a:spLocks noGrp="1"/>
          </p:cNvSpPr>
          <p:nvPr>
            <p:ph type="body" sz="quarter" idx="15"/>
          </p:nvPr>
        </p:nvSpPr>
        <p:spPr>
          <a:xfrm>
            <a:off x="1512000" y="2725068"/>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2" name="テキスト プレースホルダー 29"/>
          <p:cNvSpPr>
            <a:spLocks noGrp="1"/>
          </p:cNvSpPr>
          <p:nvPr>
            <p:ph type="body" sz="quarter" idx="16"/>
          </p:nvPr>
        </p:nvSpPr>
        <p:spPr>
          <a:xfrm>
            <a:off x="1512000" y="3013068"/>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3" name="テキスト プレースホルダー 27"/>
          <p:cNvSpPr>
            <a:spLocks noGrp="1"/>
          </p:cNvSpPr>
          <p:nvPr>
            <p:ph type="body" sz="quarter" idx="17"/>
          </p:nvPr>
        </p:nvSpPr>
        <p:spPr>
          <a:xfrm>
            <a:off x="1512000" y="3517068"/>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4" name="テキスト プレースホルダー 29"/>
          <p:cNvSpPr>
            <a:spLocks noGrp="1"/>
          </p:cNvSpPr>
          <p:nvPr>
            <p:ph type="body" sz="quarter" idx="18"/>
          </p:nvPr>
        </p:nvSpPr>
        <p:spPr>
          <a:xfrm>
            <a:off x="1512000" y="3805068"/>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5" name="テキスト プレースホルダー 27"/>
          <p:cNvSpPr>
            <a:spLocks noGrp="1"/>
          </p:cNvSpPr>
          <p:nvPr>
            <p:ph type="body" sz="quarter" idx="19"/>
          </p:nvPr>
        </p:nvSpPr>
        <p:spPr>
          <a:xfrm>
            <a:off x="1512000" y="4309068"/>
            <a:ext cx="648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6" name="テキスト プレースホルダー 29"/>
          <p:cNvSpPr>
            <a:spLocks noGrp="1"/>
          </p:cNvSpPr>
          <p:nvPr>
            <p:ph type="body" sz="quarter" idx="20"/>
          </p:nvPr>
        </p:nvSpPr>
        <p:spPr>
          <a:xfrm>
            <a:off x="1512000" y="4597068"/>
            <a:ext cx="6480000" cy="432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Tree>
    <p:extLst>
      <p:ext uri="{BB962C8B-B14F-4D97-AF65-F5344CB8AC3E}">
        <p14:creationId xmlns:p14="http://schemas.microsoft.com/office/powerpoint/2010/main" val="593260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次3">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マスター タイトルの書式設定</a:t>
            </a:r>
          </a:p>
        </p:txBody>
      </p:sp>
      <p:sp>
        <p:nvSpPr>
          <p:cNvPr id="3" name="日付プレースホルダー 2"/>
          <p:cNvSpPr>
            <a:spLocks noGrp="1"/>
          </p:cNvSpPr>
          <p:nvPr>
            <p:ph type="dt" sz="half" idx="10"/>
          </p:nvPr>
        </p:nvSpPr>
        <p:spPr/>
        <p:txBody>
          <a:bodyPr/>
          <a:lstStyle/>
          <a:p>
            <a:endParaRPr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lang="ja-JP" altLang="en-US" smtClean="0"/>
              <a:pPr/>
              <a:t>‹#›</a:t>
            </a:fld>
            <a:endParaRPr lang="ja-JP" altLang="en-US"/>
          </a:p>
        </p:txBody>
      </p:sp>
      <p:sp>
        <p:nvSpPr>
          <p:cNvPr id="24" name="テキスト ボックス 23"/>
          <p:cNvSpPr txBox="1"/>
          <p:nvPr/>
        </p:nvSpPr>
        <p:spPr>
          <a:xfrm>
            <a:off x="720000" y="1440000"/>
            <a:ext cx="432000" cy="432000"/>
          </a:xfrm>
          <a:prstGeom prst="rect">
            <a:avLst/>
          </a:prstGeom>
          <a:noFill/>
        </p:spPr>
        <p:txBody>
          <a:bodyPr wrap="square" rtlCol="0">
            <a:noAutofit/>
          </a:bodyPr>
          <a:lstStyle/>
          <a:p>
            <a:pPr algn="ctr"/>
            <a:r>
              <a:rPr lang="ja-JP" altLang="en-US" sz="2400" b="1" dirty="0">
                <a:solidFill>
                  <a:srgbClr val="A01D45"/>
                </a:solidFill>
                <a:latin typeface="游ゴシック" panose="020B0400000000000000" pitchFamily="50" charset="-128"/>
                <a:ea typeface="游ゴシック" panose="020B0400000000000000" pitchFamily="50" charset="-128"/>
              </a:rPr>
              <a:t>１</a:t>
            </a:r>
            <a:endParaRPr lang="en-US" altLang="ja-JP" sz="2400" b="1" dirty="0">
              <a:solidFill>
                <a:srgbClr val="A01D45"/>
              </a:solidFill>
              <a:latin typeface="游ゴシック" panose="020B0400000000000000" pitchFamily="50" charset="-128"/>
              <a:ea typeface="游ゴシック" panose="020B0400000000000000" pitchFamily="50" charset="-128"/>
            </a:endParaRPr>
          </a:p>
        </p:txBody>
      </p:sp>
      <p:sp>
        <p:nvSpPr>
          <p:cNvPr id="22" name="テキスト ボックス 21"/>
          <p:cNvSpPr txBox="1"/>
          <p:nvPr/>
        </p:nvSpPr>
        <p:spPr>
          <a:xfrm>
            <a:off x="720000" y="2520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2</a:t>
            </a:r>
          </a:p>
        </p:txBody>
      </p:sp>
      <p:sp>
        <p:nvSpPr>
          <p:cNvPr id="20" name="テキスト ボックス 19"/>
          <p:cNvSpPr txBox="1"/>
          <p:nvPr/>
        </p:nvSpPr>
        <p:spPr>
          <a:xfrm>
            <a:off x="720000" y="3600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3</a:t>
            </a:r>
          </a:p>
        </p:txBody>
      </p:sp>
      <p:sp>
        <p:nvSpPr>
          <p:cNvPr id="18" name="テキスト ボックス 17"/>
          <p:cNvSpPr txBox="1"/>
          <p:nvPr/>
        </p:nvSpPr>
        <p:spPr>
          <a:xfrm>
            <a:off x="720000" y="4680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4</a:t>
            </a:r>
          </a:p>
        </p:txBody>
      </p:sp>
      <p:sp>
        <p:nvSpPr>
          <p:cNvPr id="16" name="テキスト ボックス 15"/>
          <p:cNvSpPr txBox="1"/>
          <p:nvPr/>
        </p:nvSpPr>
        <p:spPr>
          <a:xfrm>
            <a:off x="4824000" y="1440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5</a:t>
            </a:r>
          </a:p>
        </p:txBody>
      </p:sp>
      <p:sp>
        <p:nvSpPr>
          <p:cNvPr id="14" name="テキスト ボックス 13"/>
          <p:cNvSpPr txBox="1"/>
          <p:nvPr/>
        </p:nvSpPr>
        <p:spPr>
          <a:xfrm>
            <a:off x="4824000" y="4680000"/>
            <a:ext cx="432000" cy="432000"/>
          </a:xfrm>
          <a:prstGeom prst="rect">
            <a:avLst/>
          </a:prstGeom>
          <a:noFill/>
        </p:spPr>
        <p:txBody>
          <a:bodyPr wrap="square" rtlCol="0">
            <a:noAutofit/>
          </a:bodyPr>
          <a:lstStyle/>
          <a:p>
            <a:pPr algn="ctr"/>
            <a:r>
              <a:rPr lang="ja-JP" altLang="en-US" sz="2400" b="1" dirty="0">
                <a:solidFill>
                  <a:srgbClr val="A01D45"/>
                </a:solidFill>
                <a:latin typeface="游ゴシック" panose="020B0400000000000000" pitchFamily="50" charset="-128"/>
                <a:ea typeface="游ゴシック" panose="020B0400000000000000" pitchFamily="50" charset="-128"/>
              </a:rPr>
              <a:t>・</a:t>
            </a:r>
            <a:endParaRPr lang="en-US" altLang="ja-JP" sz="2400" b="1" dirty="0">
              <a:solidFill>
                <a:srgbClr val="A01D45"/>
              </a:solidFill>
              <a:latin typeface="游ゴシック" panose="020B0400000000000000" pitchFamily="50" charset="-128"/>
              <a:ea typeface="游ゴシック" panose="020B0400000000000000" pitchFamily="50" charset="-128"/>
            </a:endParaRPr>
          </a:p>
        </p:txBody>
      </p:sp>
      <p:sp>
        <p:nvSpPr>
          <p:cNvPr id="28" name="テキスト プレースホルダー 27"/>
          <p:cNvSpPr>
            <a:spLocks noGrp="1"/>
          </p:cNvSpPr>
          <p:nvPr>
            <p:ph type="body" sz="quarter" idx="13"/>
          </p:nvPr>
        </p:nvSpPr>
        <p:spPr>
          <a:xfrm>
            <a:off x="1080000" y="151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0" name="テキスト プレースホルダー 29"/>
          <p:cNvSpPr>
            <a:spLocks noGrp="1"/>
          </p:cNvSpPr>
          <p:nvPr>
            <p:ph type="body" sz="quarter" idx="14"/>
          </p:nvPr>
        </p:nvSpPr>
        <p:spPr>
          <a:xfrm>
            <a:off x="1080000" y="183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1" name="テキスト プレースホルダー 27"/>
          <p:cNvSpPr>
            <a:spLocks noGrp="1"/>
          </p:cNvSpPr>
          <p:nvPr>
            <p:ph type="body" sz="quarter" idx="15"/>
          </p:nvPr>
        </p:nvSpPr>
        <p:spPr>
          <a:xfrm>
            <a:off x="1080000" y="259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2" name="テキスト プレースホルダー 29"/>
          <p:cNvSpPr>
            <a:spLocks noGrp="1"/>
          </p:cNvSpPr>
          <p:nvPr>
            <p:ph type="body" sz="quarter" idx="16"/>
          </p:nvPr>
        </p:nvSpPr>
        <p:spPr>
          <a:xfrm>
            <a:off x="1080000" y="291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3" name="テキスト プレースホルダー 27"/>
          <p:cNvSpPr>
            <a:spLocks noGrp="1"/>
          </p:cNvSpPr>
          <p:nvPr>
            <p:ph type="body" sz="quarter" idx="17"/>
          </p:nvPr>
        </p:nvSpPr>
        <p:spPr>
          <a:xfrm>
            <a:off x="1080000" y="367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4" name="テキスト プレースホルダー 29"/>
          <p:cNvSpPr>
            <a:spLocks noGrp="1"/>
          </p:cNvSpPr>
          <p:nvPr>
            <p:ph type="body" sz="quarter" idx="18"/>
          </p:nvPr>
        </p:nvSpPr>
        <p:spPr>
          <a:xfrm>
            <a:off x="1080000" y="399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5" name="テキスト プレースホルダー 27"/>
          <p:cNvSpPr>
            <a:spLocks noGrp="1"/>
          </p:cNvSpPr>
          <p:nvPr>
            <p:ph type="body" sz="quarter" idx="19"/>
          </p:nvPr>
        </p:nvSpPr>
        <p:spPr>
          <a:xfrm>
            <a:off x="1080000" y="475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6" name="テキスト プレースホルダー 29"/>
          <p:cNvSpPr>
            <a:spLocks noGrp="1"/>
          </p:cNvSpPr>
          <p:nvPr>
            <p:ph type="body" sz="quarter" idx="20"/>
          </p:nvPr>
        </p:nvSpPr>
        <p:spPr>
          <a:xfrm>
            <a:off x="1080000" y="507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7" name="テキスト プレースホルダー 27"/>
          <p:cNvSpPr>
            <a:spLocks noGrp="1"/>
          </p:cNvSpPr>
          <p:nvPr>
            <p:ph type="body" sz="quarter" idx="21"/>
          </p:nvPr>
        </p:nvSpPr>
        <p:spPr>
          <a:xfrm>
            <a:off x="5184000" y="151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38" name="テキスト プレースホルダー 29"/>
          <p:cNvSpPr>
            <a:spLocks noGrp="1"/>
          </p:cNvSpPr>
          <p:nvPr>
            <p:ph type="body" sz="quarter" idx="22"/>
          </p:nvPr>
        </p:nvSpPr>
        <p:spPr>
          <a:xfrm>
            <a:off x="5184000" y="183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39" name="テキスト プレースホルダー 27"/>
          <p:cNvSpPr>
            <a:spLocks noGrp="1"/>
          </p:cNvSpPr>
          <p:nvPr>
            <p:ph type="body" sz="quarter" idx="23"/>
          </p:nvPr>
        </p:nvSpPr>
        <p:spPr>
          <a:xfrm>
            <a:off x="5184000" y="475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40" name="テキスト プレースホルダー 29"/>
          <p:cNvSpPr>
            <a:spLocks noGrp="1"/>
          </p:cNvSpPr>
          <p:nvPr>
            <p:ph type="body" sz="quarter" idx="24"/>
          </p:nvPr>
        </p:nvSpPr>
        <p:spPr>
          <a:xfrm>
            <a:off x="5184000" y="507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25" name="テキスト ボックス 24"/>
          <p:cNvSpPr txBox="1"/>
          <p:nvPr userDrawn="1"/>
        </p:nvSpPr>
        <p:spPr>
          <a:xfrm>
            <a:off x="4824000" y="2520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6</a:t>
            </a:r>
          </a:p>
        </p:txBody>
      </p:sp>
      <p:sp>
        <p:nvSpPr>
          <p:cNvPr id="26" name="テキスト プレースホルダー 27"/>
          <p:cNvSpPr>
            <a:spLocks noGrp="1"/>
          </p:cNvSpPr>
          <p:nvPr>
            <p:ph type="body" sz="quarter" idx="25"/>
          </p:nvPr>
        </p:nvSpPr>
        <p:spPr>
          <a:xfrm>
            <a:off x="5184000" y="259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27" name="テキスト プレースホルダー 29"/>
          <p:cNvSpPr>
            <a:spLocks noGrp="1"/>
          </p:cNvSpPr>
          <p:nvPr>
            <p:ph type="body" sz="quarter" idx="26"/>
          </p:nvPr>
        </p:nvSpPr>
        <p:spPr>
          <a:xfrm>
            <a:off x="5184000" y="291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
        <p:nvSpPr>
          <p:cNvPr id="29" name="テキスト ボックス 28"/>
          <p:cNvSpPr txBox="1"/>
          <p:nvPr userDrawn="1"/>
        </p:nvSpPr>
        <p:spPr>
          <a:xfrm>
            <a:off x="4824000" y="3600000"/>
            <a:ext cx="432000" cy="432000"/>
          </a:xfrm>
          <a:prstGeom prst="rect">
            <a:avLst/>
          </a:prstGeom>
          <a:noFill/>
        </p:spPr>
        <p:txBody>
          <a:bodyPr wrap="square" rtlCol="0">
            <a:noAutofit/>
          </a:bodyPr>
          <a:lstStyle/>
          <a:p>
            <a:pPr algn="ctr"/>
            <a:r>
              <a:rPr lang="en-US" altLang="ja-JP" sz="2400" b="1" dirty="0">
                <a:solidFill>
                  <a:srgbClr val="A01D45"/>
                </a:solidFill>
                <a:latin typeface="游ゴシック" panose="020B0400000000000000" pitchFamily="50" charset="-128"/>
                <a:ea typeface="游ゴシック" panose="020B0400000000000000" pitchFamily="50" charset="-128"/>
              </a:rPr>
              <a:t>7</a:t>
            </a:r>
          </a:p>
        </p:txBody>
      </p:sp>
      <p:sp>
        <p:nvSpPr>
          <p:cNvPr id="41" name="テキスト プレースホルダー 27"/>
          <p:cNvSpPr>
            <a:spLocks noGrp="1"/>
          </p:cNvSpPr>
          <p:nvPr>
            <p:ph type="body" sz="quarter" idx="27"/>
          </p:nvPr>
        </p:nvSpPr>
        <p:spPr>
          <a:xfrm>
            <a:off x="5184000" y="3672000"/>
            <a:ext cx="3240000" cy="252000"/>
          </a:xfrm>
        </p:spPr>
        <p:txBody>
          <a:bodyPr tIns="36000" bIns="36000"/>
          <a:lstStyle>
            <a:lvl1pPr marL="0" indent="0">
              <a:buNone/>
              <a:defRPr sz="1600" b="1"/>
            </a:lvl1pPr>
          </a:lstStyle>
          <a:p>
            <a:pPr lvl="0"/>
            <a:r>
              <a:rPr kumimoji="1" lang="ja-JP" altLang="en-US" dirty="0"/>
              <a:t>マスター テキストの書式設定</a:t>
            </a:r>
          </a:p>
        </p:txBody>
      </p:sp>
      <p:sp>
        <p:nvSpPr>
          <p:cNvPr id="42" name="テキスト プレースホルダー 29"/>
          <p:cNvSpPr>
            <a:spLocks noGrp="1"/>
          </p:cNvSpPr>
          <p:nvPr>
            <p:ph type="body" sz="quarter" idx="28"/>
          </p:nvPr>
        </p:nvSpPr>
        <p:spPr>
          <a:xfrm>
            <a:off x="5184000" y="3996000"/>
            <a:ext cx="3240000" cy="648000"/>
          </a:xfrm>
        </p:spPr>
        <p:txBody>
          <a:bodyPr tIns="0" bIns="0"/>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マスター テキストの書式設定</a:t>
            </a:r>
            <a:endParaRPr kumimoji="1" lang="en-US" altLang="ja-JP" dirty="0"/>
          </a:p>
        </p:txBody>
      </p:sp>
    </p:spTree>
    <p:extLst>
      <p:ext uri="{BB962C8B-B14F-4D97-AF65-F5344CB8AC3E}">
        <p14:creationId xmlns:p14="http://schemas.microsoft.com/office/powerpoint/2010/main" val="186978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endParaRPr kumimoji="1" lang="ja-JP" altLang="en-US"/>
          </a:p>
        </p:txBody>
      </p:sp>
      <p:sp>
        <p:nvSpPr>
          <p:cNvPr id="5" name="フッター プレースホルダー 4"/>
          <p:cNvSpPr>
            <a:spLocks noGrp="1"/>
          </p:cNvSpPr>
          <p:nvPr>
            <p:ph type="ftr" sz="quarter" idx="11"/>
          </p:nvPr>
        </p:nvSpPr>
        <p:spPr/>
        <p:txBody>
          <a:bodyPr/>
          <a:lstStyle/>
          <a:p>
            <a:r>
              <a:rPr lang="en-US" altLang="ja-JP"/>
              <a:t>Copyright© 2020 SystemEXE,Inc. all rights reserved.</a:t>
            </a:r>
            <a:endParaRPr lang="ja-JP" altLang="en-US" dirty="0"/>
          </a:p>
        </p:txBody>
      </p:sp>
      <p:sp>
        <p:nvSpPr>
          <p:cNvPr id="6" name="スライド番号プレースホルダー 5"/>
          <p:cNvSpPr>
            <a:spLocks noGrp="1"/>
          </p:cNvSpPr>
          <p:nvPr>
            <p:ph type="sldNum" sz="quarter" idx="12"/>
          </p:nvPr>
        </p:nvSpPr>
        <p:spPr/>
        <p:txBody>
          <a:bodyPr/>
          <a:lstStyle/>
          <a:p>
            <a:fld id="{74395F4E-A786-454B-9285-EF3DEA272B37}" type="slidenum">
              <a:rPr kumimoji="1" lang="ja-JP" altLang="en-US" smtClean="0"/>
              <a:t>‹#›</a:t>
            </a:fld>
            <a:endParaRPr kumimoji="1" lang="ja-JP" altLang="en-US"/>
          </a:p>
        </p:txBody>
      </p:sp>
    </p:spTree>
    <p:extLst>
      <p:ext uri="{BB962C8B-B14F-4D97-AF65-F5344CB8AC3E}">
        <p14:creationId xmlns:p14="http://schemas.microsoft.com/office/powerpoint/2010/main" val="2767323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5" name="フッター プレースホルダー 4"/>
          <p:cNvSpPr>
            <a:spLocks noGrp="1"/>
          </p:cNvSpPr>
          <p:nvPr>
            <p:ph type="ftr" sz="quarter" idx="11"/>
          </p:nvPr>
        </p:nvSpPr>
        <p:spPr/>
        <p:txBody>
          <a:bodyPr/>
          <a:lstStyle/>
          <a:p>
            <a:r>
              <a:rPr lang="en-US" altLang="ja-JP"/>
              <a:t>Copyright© 2020 SystemEXE,Inc. all rights reserved.</a:t>
            </a:r>
            <a:endParaRPr lang="ja-JP" altLang="en-US" dirty="0"/>
          </a:p>
        </p:txBody>
      </p:sp>
      <p:sp>
        <p:nvSpPr>
          <p:cNvPr id="6" name="スライド番号プレースホルダー 5"/>
          <p:cNvSpPr>
            <a:spLocks noGrp="1"/>
          </p:cNvSpPr>
          <p:nvPr>
            <p:ph type="sldNum" sz="quarter" idx="12"/>
          </p:nvPr>
        </p:nvSpPr>
        <p:spPr/>
        <p:txBody>
          <a:bodyPr/>
          <a:lstStyle/>
          <a:p>
            <a:fld id="{74395F4E-A786-454B-9285-EF3DEA272B37}" type="slidenum">
              <a:rPr kumimoji="1" lang="ja-JP" altLang="en-US" smtClean="0"/>
              <a:t>‹#›</a:t>
            </a:fld>
            <a:endParaRPr kumimoji="1" lang="ja-JP" altLang="en-US"/>
          </a:p>
        </p:txBody>
      </p:sp>
      <p:sp>
        <p:nvSpPr>
          <p:cNvPr id="7" name="正方形/長方形 6"/>
          <p:cNvSpPr/>
          <p:nvPr userDrawn="1"/>
        </p:nvSpPr>
        <p:spPr>
          <a:xfrm>
            <a:off x="0" y="609601"/>
            <a:ext cx="9144000" cy="7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8386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0/5)">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45733"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938267"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84534"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299466"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944909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1/5)">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45733"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938267"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84534"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299466"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6"/>
          <p:cNvSpPr/>
          <p:nvPr userDrawn="1"/>
        </p:nvSpPr>
        <p:spPr>
          <a:xfrm>
            <a:off x="3227107" y="5265822"/>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1</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7387015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2/5)">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45733"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938267"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84534"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299466"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6"/>
          <p:cNvSpPr/>
          <p:nvPr userDrawn="1"/>
        </p:nvSpPr>
        <p:spPr>
          <a:xfrm>
            <a:off x="3773733" y="5265822"/>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2</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125162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3/5)">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45733"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938267"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84534"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299466"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6"/>
          <p:cNvSpPr/>
          <p:nvPr userDrawn="1"/>
        </p:nvSpPr>
        <p:spPr>
          <a:xfrm>
            <a:off x="4320000" y="5265822"/>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3</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03559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4/5)">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45733"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938267"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84534"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299466"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6"/>
          <p:cNvSpPr/>
          <p:nvPr userDrawn="1"/>
        </p:nvSpPr>
        <p:spPr>
          <a:xfrm>
            <a:off x="4866267" y="5265822"/>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4</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671494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5/5)">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45733"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938267"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84534"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299466"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6"/>
          <p:cNvSpPr/>
          <p:nvPr userDrawn="1"/>
        </p:nvSpPr>
        <p:spPr>
          <a:xfrm>
            <a:off x="5414925" y="5265822"/>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5</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623496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0/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080241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セクション見出し(1/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9" name="円/楕円 16"/>
          <p:cNvSpPr/>
          <p:nvPr userDrawn="1"/>
        </p:nvSpPr>
        <p:spPr>
          <a:xfrm>
            <a:off x="2808000" y="5256000"/>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1</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0968137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セクション見出し(2/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9" name="円/楕円 16"/>
          <p:cNvSpPr/>
          <p:nvPr userDrawn="1"/>
        </p:nvSpPr>
        <p:spPr>
          <a:xfrm>
            <a:off x="3312000" y="5256000"/>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2</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5130466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セクション見出し(3/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9" name="円/楕円 16"/>
          <p:cNvSpPr/>
          <p:nvPr userDrawn="1"/>
        </p:nvSpPr>
        <p:spPr>
          <a:xfrm>
            <a:off x="3816000" y="5256000"/>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3</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886452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セクション見出し(4/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9" name="円/楕円 16"/>
          <p:cNvSpPr/>
          <p:nvPr userDrawn="1"/>
        </p:nvSpPr>
        <p:spPr>
          <a:xfrm>
            <a:off x="4320000" y="5256000"/>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4</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409600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セクション見出し(5/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9" name="円/楕円 16"/>
          <p:cNvSpPr/>
          <p:nvPr userDrawn="1"/>
        </p:nvSpPr>
        <p:spPr>
          <a:xfrm>
            <a:off x="4824000" y="5256000"/>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5</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27162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セクション見出し(6/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9" name="円/楕円 16"/>
          <p:cNvSpPr/>
          <p:nvPr userDrawn="1"/>
        </p:nvSpPr>
        <p:spPr>
          <a:xfrm>
            <a:off x="5328000" y="5256000"/>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6</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927441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セクション見出し(7/7)">
    <p:spTree>
      <p:nvGrpSpPr>
        <p:cNvPr id="1" name=""/>
        <p:cNvGrpSpPr/>
        <p:nvPr/>
      </p:nvGrpSpPr>
      <p:grpSpPr>
        <a:xfrm>
          <a:off x="0" y="0"/>
          <a:ext cx="0" cy="0"/>
          <a:chOff x="0" y="0"/>
          <a:chExt cx="0" cy="0"/>
        </a:xfrm>
      </p:grpSpPr>
      <p:sp>
        <p:nvSpPr>
          <p:cNvPr id="2" name="タイトル 1"/>
          <p:cNvSpPr>
            <a:spLocks noGrp="1"/>
          </p:cNvSpPr>
          <p:nvPr>
            <p:ph type="ctrTitle"/>
          </p:nvPr>
        </p:nvSpPr>
        <p:spPr>
          <a:xfrm>
            <a:off x="72000" y="2088000"/>
            <a:ext cx="9000000" cy="2520000"/>
          </a:xfrm>
        </p:spPr>
        <p:txBody>
          <a:bodyPr anchor="ctr" anchorCtr="0">
            <a:normAutofit/>
          </a:bodyPr>
          <a:lstStyle>
            <a:lvl1pPr algn="ctr">
              <a:lnSpc>
                <a:spcPct val="120000"/>
              </a:lnSpc>
              <a:defRPr sz="4000"/>
            </a:lvl1pPr>
          </a:lstStyle>
          <a:p>
            <a:r>
              <a:rPr kumimoji="1" lang="ja-JP" altLang="en-US" dirty="0"/>
              <a:t>マスター タイトルの書式設定</a:t>
            </a:r>
          </a:p>
        </p:txBody>
      </p:sp>
      <p:sp>
        <p:nvSpPr>
          <p:cNvPr id="5" name="フッター プレースホルダー 4"/>
          <p:cNvSpPr>
            <a:spLocks noGrp="1"/>
          </p:cNvSpPr>
          <p:nvPr>
            <p:ph type="ftr" sz="quarter" idx="11"/>
          </p:nvPr>
        </p:nvSpPr>
        <p:spPr>
          <a:xfrm>
            <a:off x="72000" y="6500068"/>
            <a:ext cx="3888000" cy="288000"/>
          </a:xfrm>
        </p:spPr>
        <p:txBody>
          <a:bodyPr/>
          <a:lstStyle/>
          <a:p>
            <a:r>
              <a:rPr lang="en-US" altLang="ja-JP"/>
              <a:t>Copyright© 2020 SystemEXE,Inc. all rights reserved.</a:t>
            </a:r>
            <a:endParaRPr lang="ja-JP" altLang="en-US" dirty="0"/>
          </a:p>
        </p:txBody>
      </p:sp>
      <p:sp>
        <p:nvSpPr>
          <p:cNvPr id="8" name="正方形/長方形 7"/>
          <p:cNvSpPr/>
          <p:nvPr userDrawn="1"/>
        </p:nvSpPr>
        <p:spPr>
          <a:xfrm>
            <a:off x="0" y="601134"/>
            <a:ext cx="9144000" cy="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p:cNvSpPr/>
          <p:nvPr userDrawn="1"/>
        </p:nvSpPr>
        <p:spPr>
          <a:xfrm>
            <a:off x="0" y="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sp>
        <p:nvSpPr>
          <p:cNvPr id="6" name="日付プレースホルダー 5"/>
          <p:cNvSpPr>
            <a:spLocks noGrp="1"/>
          </p:cNvSpPr>
          <p:nvPr>
            <p:ph type="dt" sz="half" idx="12"/>
          </p:nvPr>
        </p:nvSpPr>
        <p:spPr/>
        <p:txBody>
          <a:bodyPr/>
          <a:lstStyle/>
          <a:p>
            <a:endParaRPr lang="ja-JP" altLang="en-US" dirty="0"/>
          </a:p>
        </p:txBody>
      </p:sp>
      <p:sp>
        <p:nvSpPr>
          <p:cNvPr id="7" name="スライド番号プレースホルダー 6"/>
          <p:cNvSpPr>
            <a:spLocks noGrp="1"/>
          </p:cNvSpPr>
          <p:nvPr>
            <p:ph type="sldNum" sz="quarter" idx="13"/>
          </p:nvPr>
        </p:nvSpPr>
        <p:spPr/>
        <p:txBody>
          <a:bodyPr/>
          <a:lstStyle/>
          <a:p>
            <a:fld id="{74395F4E-A786-454B-9285-EF3DEA272B37}" type="slidenum">
              <a:rPr lang="ja-JP" altLang="en-US" smtClean="0"/>
              <a:pPr/>
              <a:t>‹#›</a:t>
            </a:fld>
            <a:endParaRPr lang="ja-JP" altLang="en-US"/>
          </a:p>
        </p:txBody>
      </p:sp>
      <p:sp>
        <p:nvSpPr>
          <p:cNvPr id="12" name="円/楕円 11"/>
          <p:cNvSpPr/>
          <p:nvPr userDrawn="1"/>
        </p:nvSpPr>
        <p:spPr>
          <a:xfrm>
            <a:off x="4392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3" name="円/楕円 12"/>
          <p:cNvSpPr/>
          <p:nvPr userDrawn="1"/>
        </p:nvSpPr>
        <p:spPr>
          <a:xfrm>
            <a:off x="3888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4" name="円/楕円 13"/>
          <p:cNvSpPr/>
          <p:nvPr userDrawn="1"/>
        </p:nvSpPr>
        <p:spPr>
          <a:xfrm>
            <a:off x="4896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5" name="円/楕円 14"/>
          <p:cNvSpPr/>
          <p:nvPr userDrawn="1"/>
        </p:nvSpPr>
        <p:spPr>
          <a:xfrm>
            <a:off x="540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6" name="円/楕円 15"/>
          <p:cNvSpPr/>
          <p:nvPr userDrawn="1"/>
        </p:nvSpPr>
        <p:spPr>
          <a:xfrm>
            <a:off x="338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7" name="円/楕円 15"/>
          <p:cNvSpPr/>
          <p:nvPr userDrawn="1"/>
        </p:nvSpPr>
        <p:spPr>
          <a:xfrm>
            <a:off x="2880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8" name="円/楕円 15"/>
          <p:cNvSpPr/>
          <p:nvPr userDrawn="1"/>
        </p:nvSpPr>
        <p:spPr>
          <a:xfrm>
            <a:off x="5904000" y="5328000"/>
            <a:ext cx="360000" cy="360000"/>
          </a:xfrm>
          <a:prstGeom prst="ellipse">
            <a:avLst/>
          </a:prstGeom>
          <a:solidFill>
            <a:schemeClr val="bg1">
              <a:lumMod val="85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0" dirty="0">
              <a:solidFill>
                <a:schemeClr val="accent3"/>
              </a:solidFill>
              <a:latin typeface="游ゴシック" panose="020B0400000000000000" pitchFamily="50" charset="-128"/>
              <a:ea typeface="游ゴシック" panose="020B0400000000000000" pitchFamily="50" charset="-128"/>
            </a:endParaRPr>
          </a:p>
        </p:txBody>
      </p:sp>
      <p:sp>
        <p:nvSpPr>
          <p:cNvPr id="19" name="円/楕円 16"/>
          <p:cNvSpPr/>
          <p:nvPr userDrawn="1"/>
        </p:nvSpPr>
        <p:spPr>
          <a:xfrm>
            <a:off x="5832000" y="5256000"/>
            <a:ext cx="504000" cy="504000"/>
          </a:xfrm>
          <a:prstGeom prst="ellipse">
            <a:avLst/>
          </a:prstGeom>
          <a:solidFill>
            <a:srgbClr val="A01D45"/>
          </a:solidFill>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600" b="1" dirty="0">
                <a:latin typeface="游ゴシック" panose="020B0400000000000000" pitchFamily="50" charset="-128"/>
                <a:ea typeface="游ゴシック" panose="020B0400000000000000" pitchFamily="50" charset="-128"/>
              </a:rPr>
              <a:t>7</a:t>
            </a: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065207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最終スライド">
    <p:spTree>
      <p:nvGrpSpPr>
        <p:cNvPr id="1" name=""/>
        <p:cNvGrpSpPr/>
        <p:nvPr/>
      </p:nvGrpSpPr>
      <p:grpSpPr>
        <a:xfrm>
          <a:off x="0" y="0"/>
          <a:ext cx="0" cy="0"/>
          <a:chOff x="0" y="0"/>
          <a:chExt cx="0" cy="0"/>
        </a:xfrm>
      </p:grpSpPr>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9" name="正方形/長方形 8"/>
          <p:cNvSpPr/>
          <p:nvPr userDrawn="1"/>
        </p:nvSpPr>
        <p:spPr>
          <a:xfrm>
            <a:off x="0" y="609601"/>
            <a:ext cx="9144000" cy="7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0" y="2980373"/>
            <a:ext cx="3429000" cy="897255"/>
          </a:xfrm>
          <a:prstGeom prst="rect">
            <a:avLst/>
          </a:prstGeom>
        </p:spPr>
      </p:pic>
      <p:sp>
        <p:nvSpPr>
          <p:cNvPr id="15" name="正方形/長方形 14"/>
          <p:cNvSpPr/>
          <p:nvPr userDrawn="1"/>
        </p:nvSpPr>
        <p:spPr>
          <a:xfrm>
            <a:off x="6951135" y="6290734"/>
            <a:ext cx="2150533" cy="522735"/>
          </a:xfrm>
          <a:prstGeom prst="rect">
            <a:avLst/>
          </a:prstGeom>
          <a:solidFill>
            <a:schemeClr val="bg1"/>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73844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144000" y="36000"/>
            <a:ext cx="8856000" cy="576000"/>
          </a:xfrm>
          <a:prstGeom prst="rect">
            <a:avLst/>
          </a:prstGeom>
        </p:spPr>
        <p:txBody>
          <a:bodyPr vert="horz" wrap="none" lIns="91440" tIns="45720" rIns="91440" bIns="45720" rtlCol="0" anchor="b" anchorCtr="0">
            <a:noAutofit/>
          </a:bodyPr>
          <a:lstStyle/>
          <a:p>
            <a:r>
              <a:rPr kumimoji="1" lang="ja-JP" altLang="en-US" dirty="0"/>
              <a:t>マスター タイトルの書式設定</a:t>
            </a:r>
          </a:p>
        </p:txBody>
      </p:sp>
      <p:sp>
        <p:nvSpPr>
          <p:cNvPr id="3" name="テキスト プレースホルダー 2"/>
          <p:cNvSpPr>
            <a:spLocks noGrp="1"/>
          </p:cNvSpPr>
          <p:nvPr>
            <p:ph type="body" idx="1"/>
          </p:nvPr>
        </p:nvSpPr>
        <p:spPr>
          <a:xfrm>
            <a:off x="144000" y="863599"/>
            <a:ext cx="8856000" cy="5508401"/>
          </a:xfrm>
          <a:prstGeom prst="rect">
            <a:avLst/>
          </a:prstGeom>
        </p:spPr>
        <p:txBody>
          <a:bodyPr vert="horz" lIns="91440" tIns="45720" rIns="91440" bIns="4572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p:cNvSpPr>
            <a:spLocks noGrp="1"/>
          </p:cNvSpPr>
          <p:nvPr>
            <p:ph type="dt" sz="half" idx="2"/>
          </p:nvPr>
        </p:nvSpPr>
        <p:spPr>
          <a:xfrm>
            <a:off x="7644731" y="36000"/>
            <a:ext cx="1368000" cy="576000"/>
          </a:xfrm>
          <a:prstGeom prst="rect">
            <a:avLst/>
          </a:prstGeom>
        </p:spPr>
        <p:txBody>
          <a:bodyPr vert="horz" lIns="91440" tIns="45720" rIns="91440" bIns="45720" rtlCol="0" anchor="b" anchorCtr="0"/>
          <a:lstStyle>
            <a:lvl1pPr algn="r">
              <a:defRPr sz="1200">
                <a:solidFill>
                  <a:schemeClr val="tx1">
                    <a:lumMod val="75000"/>
                    <a:lumOff val="25000"/>
                  </a:schemeClr>
                </a:solidFill>
                <a:latin typeface="游ゴシック" panose="020B0400000000000000" pitchFamily="50" charset="-128"/>
                <a:ea typeface="游ゴシック" panose="020B0400000000000000" pitchFamily="50" charset="-128"/>
              </a:defRPr>
            </a:lvl1pPr>
          </a:lstStyle>
          <a:p>
            <a:endParaRPr lang="ja-JP" altLang="en-US" dirty="0"/>
          </a:p>
        </p:txBody>
      </p:sp>
      <p:sp>
        <p:nvSpPr>
          <p:cNvPr id="5" name="フッター プレースホルダー 4"/>
          <p:cNvSpPr>
            <a:spLocks noGrp="1"/>
          </p:cNvSpPr>
          <p:nvPr>
            <p:ph type="ftr" sz="quarter" idx="3"/>
          </p:nvPr>
        </p:nvSpPr>
        <p:spPr>
          <a:xfrm>
            <a:off x="72000" y="6500068"/>
            <a:ext cx="3888000" cy="288000"/>
          </a:xfrm>
          <a:prstGeom prst="rect">
            <a:avLst/>
          </a:prstGeom>
        </p:spPr>
        <p:txBody>
          <a:bodyPr vert="horz" lIns="91440" tIns="45720" rIns="91440" bIns="45720" rtlCol="0" anchor="b" anchorCtr="0"/>
          <a:lstStyle>
            <a:lvl1pPr algn="l">
              <a:defRPr sz="1000">
                <a:solidFill>
                  <a:schemeClr val="tx1">
                    <a:lumMod val="75000"/>
                    <a:lumOff val="25000"/>
                  </a:schemeClr>
                </a:solidFill>
                <a:latin typeface="游ゴシック" panose="020B0400000000000000" pitchFamily="50" charset="-128"/>
                <a:ea typeface="游ゴシック" panose="020B0400000000000000" pitchFamily="50" charset="-128"/>
              </a:defRPr>
            </a:lvl1pPr>
          </a:lstStyle>
          <a:p>
            <a:r>
              <a:rPr lang="en-US" altLang="ja-JP"/>
              <a:t>Copyright© 2020 SystemEXE,Inc. all rights reserved.</a:t>
            </a:r>
            <a:endParaRPr lang="ja-JP" altLang="en-US" dirty="0"/>
          </a:p>
        </p:txBody>
      </p:sp>
      <p:sp>
        <p:nvSpPr>
          <p:cNvPr id="6" name="スライド番号プレースホルダー 5"/>
          <p:cNvSpPr>
            <a:spLocks noGrp="1"/>
          </p:cNvSpPr>
          <p:nvPr>
            <p:ph type="sldNum" sz="quarter" idx="4"/>
          </p:nvPr>
        </p:nvSpPr>
        <p:spPr>
          <a:xfrm>
            <a:off x="4212000" y="6500068"/>
            <a:ext cx="720000" cy="288000"/>
          </a:xfrm>
          <a:prstGeom prst="rect">
            <a:avLst/>
          </a:prstGeom>
        </p:spPr>
        <p:txBody>
          <a:bodyPr vert="horz" lIns="91440" tIns="45720" rIns="91440" bIns="45720" rtlCol="0" anchor="b" anchorCtr="0"/>
          <a:lstStyle>
            <a:lvl1pPr algn="ctr">
              <a:defRPr sz="1000">
                <a:solidFill>
                  <a:schemeClr val="tx1">
                    <a:lumMod val="75000"/>
                    <a:lumOff val="25000"/>
                  </a:schemeClr>
                </a:solidFill>
                <a:latin typeface="游ゴシック" panose="020B0400000000000000" pitchFamily="50" charset="-128"/>
                <a:ea typeface="游ゴシック" panose="020B0400000000000000" pitchFamily="50" charset="-128"/>
              </a:defRPr>
            </a:lvl1pPr>
          </a:lstStyle>
          <a:p>
            <a:fld id="{74395F4E-A786-454B-9285-EF3DEA272B37}" type="slidenum">
              <a:rPr lang="ja-JP" altLang="en-US" smtClean="0"/>
              <a:pPr/>
              <a:t>‹#›</a:t>
            </a:fld>
            <a:endParaRPr lang="ja-JP" altLang="en-US"/>
          </a:p>
        </p:txBody>
      </p:sp>
      <p:sp>
        <p:nvSpPr>
          <p:cNvPr id="7" name="正方形/長方形 6"/>
          <p:cNvSpPr/>
          <p:nvPr userDrawn="1"/>
        </p:nvSpPr>
        <p:spPr>
          <a:xfrm>
            <a:off x="0" y="612000"/>
            <a:ext cx="9144000" cy="36000"/>
          </a:xfrm>
          <a:prstGeom prst="rect">
            <a:avLst/>
          </a:prstGeom>
          <a:solidFill>
            <a:srgbClr val="A01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游ゴシック" panose="020B0400000000000000" pitchFamily="50" charset="-128"/>
              <a:ea typeface="游ゴシック" panose="020B0400000000000000" pitchFamily="50" charset="-128"/>
            </a:endParaRPr>
          </a:p>
        </p:txBody>
      </p:sp>
      <p:pic>
        <p:nvPicPr>
          <p:cNvPr id="9" name="図 8"/>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7155356" y="6459932"/>
            <a:ext cx="1857375" cy="328136"/>
          </a:xfrm>
          <a:prstGeom prst="rect">
            <a:avLst/>
          </a:prstGeom>
        </p:spPr>
      </p:pic>
    </p:spTree>
    <p:extLst>
      <p:ext uri="{BB962C8B-B14F-4D97-AF65-F5344CB8AC3E}">
        <p14:creationId xmlns:p14="http://schemas.microsoft.com/office/powerpoint/2010/main" val="1223076004"/>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6" r:id="rId3"/>
    <p:sldLayoutId id="2147483668" r:id="rId4"/>
    <p:sldLayoutId id="2147483650" r:id="rId5"/>
    <p:sldLayoutId id="2147483677" r:id="rId6"/>
    <p:sldLayoutId id="2147483659" r:id="rId7"/>
    <p:sldLayoutId id="2147483661" r:id="rId8"/>
    <p:sldLayoutId id="2147483662" r:id="rId9"/>
    <p:sldLayoutId id="2147483663" r:id="rId10"/>
    <p:sldLayoutId id="2147483664" r:id="rId11"/>
    <p:sldLayoutId id="2147483665" r:id="rId12"/>
    <p:sldLayoutId id="2147483669" r:id="rId13"/>
    <p:sldLayoutId id="2147483670" r:id="rId14"/>
    <p:sldLayoutId id="2147483671" r:id="rId15"/>
    <p:sldLayoutId id="2147483672" r:id="rId16"/>
    <p:sldLayoutId id="2147483673" r:id="rId17"/>
    <p:sldLayoutId id="2147483674" r:id="rId18"/>
    <p:sldLayoutId id="2147483675" r:id="rId19"/>
    <p:sldLayoutId id="2147483676" r:id="rId20"/>
    <p:sldLayoutId id="2147483656" r:id="rId21"/>
  </p:sldLayoutIdLst>
  <p:hf hdr="0" dt="0"/>
  <p:txStyles>
    <p:titleStyle>
      <a:lvl1pPr algn="l" defTabSz="914400" rtl="0" eaLnBrk="1" latinLnBrk="0" hangingPunct="1">
        <a:lnSpc>
          <a:spcPct val="90000"/>
        </a:lnSpc>
        <a:spcBef>
          <a:spcPct val="0"/>
        </a:spcBef>
        <a:buNone/>
        <a:defRPr kumimoji="1" sz="3000" b="1" kern="1200">
          <a:solidFill>
            <a:schemeClr val="tx1"/>
          </a:solidFill>
          <a:latin typeface="游ゴシック" panose="020B0400000000000000" pitchFamily="50" charset="-128"/>
          <a:ea typeface="游ゴシック" panose="020B0400000000000000" pitchFamily="50" charset="-128"/>
          <a:cs typeface="+mj-cs"/>
        </a:defRPr>
      </a:lvl1pPr>
    </p:titleStyle>
    <p:bodyStyle>
      <a:lvl1pPr marL="228600" indent="-228600" algn="l" defTabSz="914400" rtl="0" eaLnBrk="1" latinLnBrk="1" hangingPunct="1">
        <a:lnSpc>
          <a:spcPct val="100000"/>
        </a:lnSpc>
        <a:spcBef>
          <a:spcPts val="10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9.png"/><Relationship Id="rId5" Type="http://schemas.microsoft.com/office/2007/relationships/hdphoto" Target="../media/hdphoto2.wdp"/><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microsoft.com/office/2007/relationships/hdphoto" Target="../media/hdphoto6.wdp"/><Relationship Id="rId13"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2.png"/><Relationship Id="rId12" Type="http://schemas.microsoft.com/office/2007/relationships/hdphoto" Target="../media/hdphoto8.wdp"/><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microsoft.com/office/2007/relationships/hdphoto" Target="../media/hdphoto5.wdp"/><Relationship Id="rId11" Type="http://schemas.openxmlformats.org/officeDocument/2006/relationships/image" Target="../media/image14.png"/><Relationship Id="rId5" Type="http://schemas.openxmlformats.org/officeDocument/2006/relationships/image" Target="../media/image11.png"/><Relationship Id="rId10" Type="http://schemas.microsoft.com/office/2007/relationships/hdphoto" Target="../media/hdphoto7.wdp"/><Relationship Id="rId4" Type="http://schemas.microsoft.com/office/2007/relationships/hdphoto" Target="../media/hdphoto4.wdp"/><Relationship Id="rId9" Type="http://schemas.openxmlformats.org/officeDocument/2006/relationships/image" Target="../media/image13.png"/><Relationship Id="rId14" Type="http://schemas.microsoft.com/office/2007/relationships/hdphoto" Target="../media/hdphoto9.wdp"/></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hyperlink" Target="http://www.system-exe.com.v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9.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8" Type="http://schemas.microsoft.com/office/2007/relationships/hdphoto" Target="../media/hdphoto12.wdp"/><Relationship Id="rId3" Type="http://schemas.microsoft.com/office/2007/relationships/hdphoto" Target="../media/hdphoto10.wdp"/><Relationship Id="rId7" Type="http://schemas.openxmlformats.org/officeDocument/2006/relationships/image" Target="../media/image26.png"/><Relationship Id="rId2" Type="http://schemas.openxmlformats.org/officeDocument/2006/relationships/image" Target="../media/image23.png"/><Relationship Id="rId1" Type="http://schemas.openxmlformats.org/officeDocument/2006/relationships/slideLayout" Target="../slideLayouts/slideLayout5.xml"/><Relationship Id="rId6" Type="http://schemas.microsoft.com/office/2007/relationships/hdphoto" Target="../media/hdphoto11.wdp"/><Relationship Id="rId5" Type="http://schemas.openxmlformats.org/officeDocument/2006/relationships/image" Target="../media/image25.png"/><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8" Type="http://schemas.openxmlformats.org/officeDocument/2006/relationships/image" Target="../media/image30.png"/><Relationship Id="rId3" Type="http://schemas.microsoft.com/office/2007/relationships/hdphoto" Target="../media/hdphoto13.wdp"/><Relationship Id="rId7" Type="http://schemas.microsoft.com/office/2007/relationships/hdphoto" Target="../media/hdphoto15.wdp"/><Relationship Id="rId2" Type="http://schemas.openxmlformats.org/officeDocument/2006/relationships/image" Target="../media/image27.png"/><Relationship Id="rId1" Type="http://schemas.openxmlformats.org/officeDocument/2006/relationships/slideLayout" Target="../slideLayouts/slideLayout5.xml"/><Relationship Id="rId6" Type="http://schemas.openxmlformats.org/officeDocument/2006/relationships/image" Target="../media/image29.png"/><Relationship Id="rId5" Type="http://schemas.microsoft.com/office/2007/relationships/hdphoto" Target="../media/hdphoto14.wdp"/><Relationship Id="rId4" Type="http://schemas.openxmlformats.org/officeDocument/2006/relationships/image" Target="../media/image28.png"/><Relationship Id="rId9" Type="http://schemas.microsoft.com/office/2007/relationships/hdphoto" Target="../media/hdphoto16.wdp"/></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5" Type="http://schemas.openxmlformats.org/officeDocument/2006/relationships/image" Target="../media/image34.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2" Type="http://schemas.openxmlformats.org/officeDocument/2006/relationships/hyperlink" Target="http://www.system-exe.com.vn/" TargetMode="Externa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microsoft.com/office/2007/relationships/hdphoto" Target="../media/hdphoto17.wdp"/></Relationships>
</file>

<file path=ppt/slides/_rels/slide57.xml.rels><?xml version="1.0" encoding="UTF-8" standalone="yes"?>
<Relationships xmlns="http://schemas.openxmlformats.org/package/2006/relationships"><Relationship Id="rId3" Type="http://schemas.microsoft.com/office/2007/relationships/hdphoto" Target="../media/hdphoto18.wdp"/><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microsoft.com/office/2007/relationships/hdphoto" Target="../media/hdphoto19.wdp"/></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 Id="rId4" Type="http://schemas.openxmlformats.org/officeDocument/2006/relationships/image" Target="../media/image41.png"/></Relationships>
</file>

<file path=ppt/slides/_rels/slide64.xml.rels><?xml version="1.0" encoding="UTF-8" standalone="yes"?>
<Relationships xmlns="http://schemas.openxmlformats.org/package/2006/relationships"><Relationship Id="rId3" Type="http://schemas.microsoft.com/office/2007/relationships/hdphoto" Target="../media/hdphoto20.wdp"/><Relationship Id="rId7" Type="http://schemas.openxmlformats.org/officeDocument/2006/relationships/image" Target="../media/image46.png"/><Relationship Id="rId2" Type="http://schemas.openxmlformats.org/officeDocument/2006/relationships/image" Target="../media/image42.png"/><Relationship Id="rId1" Type="http://schemas.openxmlformats.org/officeDocument/2006/relationships/slideLayout" Target="../slideLayouts/slideLayout5.xml"/><Relationship Id="rId6" Type="http://schemas.openxmlformats.org/officeDocument/2006/relationships/image" Target="../media/image45.png"/><Relationship Id="rId5" Type="http://schemas.openxmlformats.org/officeDocument/2006/relationships/image" Target="../media/image44.jpg"/><Relationship Id="rId4" Type="http://schemas.openxmlformats.org/officeDocument/2006/relationships/image" Target="../media/image43.png"/></Relationships>
</file>

<file path=ppt/slides/_rels/slide65.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5.png"/><Relationship Id="rId3" Type="http://schemas.microsoft.com/office/2007/relationships/hdphoto" Target="../media/hdphoto8.wdp"/><Relationship Id="rId7" Type="http://schemas.openxmlformats.org/officeDocument/2006/relationships/image" Target="../media/image50.png"/><Relationship Id="rId12" Type="http://schemas.openxmlformats.org/officeDocument/2006/relationships/image" Target="../media/image54.pn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49.png"/><Relationship Id="rId11" Type="http://schemas.openxmlformats.org/officeDocument/2006/relationships/image" Target="../media/image53.png"/><Relationship Id="rId5" Type="http://schemas.openxmlformats.org/officeDocument/2006/relationships/image" Target="../media/image48.png"/><Relationship Id="rId10" Type="http://schemas.openxmlformats.org/officeDocument/2006/relationships/image" Target="../media/image52.png"/><Relationship Id="rId4" Type="http://schemas.openxmlformats.org/officeDocument/2006/relationships/image" Target="../media/image47.png"/><Relationship Id="rId9" Type="http://schemas.microsoft.com/office/2007/relationships/hdphoto" Target="../media/hdphoto21.wdp"/></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千葉運転管理システム更新</a:t>
            </a:r>
            <a:br>
              <a:rPr kumimoji="1" lang="en-US" altLang="ja-JP" dirty="0"/>
            </a:br>
            <a:r>
              <a:rPr lang="ja-JP" altLang="en-US" dirty="0"/>
              <a:t>に関するご提案</a:t>
            </a:r>
            <a:endParaRPr kumimoji="1" lang="ja-JP" altLang="en-US" dirty="0"/>
          </a:p>
        </p:txBody>
      </p:sp>
      <p:sp>
        <p:nvSpPr>
          <p:cNvPr id="3" name="サブタイトル 2"/>
          <p:cNvSpPr>
            <a:spLocks noGrp="1"/>
          </p:cNvSpPr>
          <p:nvPr>
            <p:ph type="subTitle" idx="1"/>
          </p:nvPr>
        </p:nvSpPr>
        <p:spPr/>
        <p:txBody>
          <a:bodyPr/>
          <a:lstStyle/>
          <a:p>
            <a:r>
              <a:rPr kumimoji="1" lang="ja-JP" altLang="en-US" dirty="0"/>
              <a:t>第 </a:t>
            </a:r>
            <a:r>
              <a:rPr lang="en-US" altLang="ja-JP" dirty="0"/>
              <a:t>3.0</a:t>
            </a:r>
            <a:r>
              <a:rPr kumimoji="1" lang="en-US" altLang="ja-JP" dirty="0"/>
              <a:t> </a:t>
            </a:r>
            <a:r>
              <a:rPr kumimoji="1" lang="ja-JP" altLang="en-US" dirty="0"/>
              <a:t>版</a:t>
            </a:r>
            <a:endParaRPr kumimoji="1" lang="en-US" altLang="ja-JP" dirty="0"/>
          </a:p>
          <a:p>
            <a:r>
              <a:rPr kumimoji="1" lang="en-US" altLang="ja-JP" dirty="0"/>
              <a:t>2020</a:t>
            </a:r>
            <a:r>
              <a:rPr kumimoji="1" lang="ja-JP" altLang="en-US" dirty="0"/>
              <a:t>年</a:t>
            </a:r>
            <a:r>
              <a:rPr lang="en-US" altLang="ja-JP" dirty="0"/>
              <a:t>8</a:t>
            </a:r>
            <a:r>
              <a:rPr lang="ja-JP" altLang="en-US" dirty="0"/>
              <a:t>月</a:t>
            </a:r>
            <a:r>
              <a:rPr lang="en-US" altLang="ja-JP" dirty="0"/>
              <a:t>3</a:t>
            </a:r>
            <a:r>
              <a:rPr lang="ja-JP" altLang="en-US" dirty="0"/>
              <a:t>日</a:t>
            </a:r>
            <a:endParaRPr kumimoji="1" lang="ja-JP" altLang="en-US" dirty="0"/>
          </a:p>
        </p:txBody>
      </p:sp>
      <p:sp>
        <p:nvSpPr>
          <p:cNvPr id="5" name="コンテンツ プレースホルダー 4"/>
          <p:cNvSpPr>
            <a:spLocks noGrp="1"/>
          </p:cNvSpPr>
          <p:nvPr>
            <p:ph sz="quarter" idx="12"/>
          </p:nvPr>
        </p:nvSpPr>
        <p:spPr/>
        <p:txBody>
          <a:bodyPr/>
          <a:lstStyle/>
          <a:p>
            <a:r>
              <a:rPr kumimoji="1" lang="ja-JP" altLang="en-US" dirty="0"/>
              <a:t>出光興産株式会社　御中</a:t>
            </a:r>
          </a:p>
        </p:txBody>
      </p:sp>
    </p:spTree>
    <p:extLst>
      <p:ext uri="{BB962C8B-B14F-4D97-AF65-F5344CB8AC3E}">
        <p14:creationId xmlns:p14="http://schemas.microsoft.com/office/powerpoint/2010/main" val="3697713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目次</a:t>
            </a:r>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2"/>
          </p:nvPr>
        </p:nvSpPr>
        <p:spPr/>
        <p:txBody>
          <a:bodyPr/>
          <a:lstStyle/>
          <a:p>
            <a:fld id="{74395F4E-A786-454B-9285-EF3DEA272B37}" type="slidenum">
              <a:rPr lang="ja-JP" altLang="en-US" smtClean="0"/>
              <a:pPr/>
              <a:t>1</a:t>
            </a:fld>
            <a:endParaRPr lang="ja-JP" altLang="en-US"/>
          </a:p>
        </p:txBody>
      </p:sp>
      <p:sp>
        <p:nvSpPr>
          <p:cNvPr id="5" name="テキスト プレースホルダー 4"/>
          <p:cNvSpPr>
            <a:spLocks noGrp="1"/>
          </p:cNvSpPr>
          <p:nvPr>
            <p:ph type="body" sz="quarter" idx="13"/>
          </p:nvPr>
        </p:nvSpPr>
        <p:spPr/>
        <p:txBody>
          <a:bodyPr/>
          <a:lstStyle/>
          <a:p>
            <a:r>
              <a:rPr lang="ja-JP" altLang="en-US" dirty="0"/>
              <a:t>ご提案のポイント</a:t>
            </a:r>
            <a:endParaRPr kumimoji="1" lang="ja-JP" altLang="en-US" dirty="0"/>
          </a:p>
        </p:txBody>
      </p:sp>
      <p:sp>
        <p:nvSpPr>
          <p:cNvPr id="6" name="テキスト プレースホルダー 5"/>
          <p:cNvSpPr>
            <a:spLocks noGrp="1"/>
          </p:cNvSpPr>
          <p:nvPr>
            <p:ph type="body" sz="quarter" idx="14"/>
          </p:nvPr>
        </p:nvSpPr>
        <p:spPr/>
        <p:txBody>
          <a:bodyPr/>
          <a:lstStyle/>
          <a:p>
            <a:r>
              <a:rPr lang="ja-JP" altLang="en-US" dirty="0"/>
              <a:t>プロジェクトの背景・目的・方針と本提案書における重要ポイントの概要となります。</a:t>
            </a:r>
          </a:p>
        </p:txBody>
      </p:sp>
      <p:sp>
        <p:nvSpPr>
          <p:cNvPr id="7" name="テキスト プレースホルダー 6"/>
          <p:cNvSpPr>
            <a:spLocks noGrp="1"/>
          </p:cNvSpPr>
          <p:nvPr>
            <p:ph type="body" sz="quarter" idx="15"/>
          </p:nvPr>
        </p:nvSpPr>
        <p:spPr/>
        <p:txBody>
          <a:bodyPr/>
          <a:lstStyle/>
          <a:p>
            <a:r>
              <a:rPr kumimoji="1" lang="ja-JP" altLang="en-US" dirty="0"/>
              <a:t>現行システムの理解</a:t>
            </a:r>
          </a:p>
        </p:txBody>
      </p:sp>
      <p:sp>
        <p:nvSpPr>
          <p:cNvPr id="8" name="テキスト プレースホルダー 7"/>
          <p:cNvSpPr>
            <a:spLocks noGrp="1"/>
          </p:cNvSpPr>
          <p:nvPr>
            <p:ph type="body" sz="quarter" idx="16"/>
          </p:nvPr>
        </p:nvSpPr>
        <p:spPr/>
        <p:txBody>
          <a:bodyPr/>
          <a:lstStyle/>
          <a:p>
            <a:r>
              <a:rPr lang="ja-JP" altLang="en-US" dirty="0"/>
              <a:t>現行のシステムについて、弊社の理解を示します。認識に齟齬がないかご確認頂きたく存じます。</a:t>
            </a:r>
            <a:endParaRPr lang="en-US" altLang="ja-JP" dirty="0"/>
          </a:p>
        </p:txBody>
      </p:sp>
      <p:sp>
        <p:nvSpPr>
          <p:cNvPr id="9" name="テキスト プレースホルダー 8"/>
          <p:cNvSpPr>
            <a:spLocks noGrp="1"/>
          </p:cNvSpPr>
          <p:nvPr>
            <p:ph type="body" sz="quarter" idx="17"/>
          </p:nvPr>
        </p:nvSpPr>
        <p:spPr/>
        <p:txBody>
          <a:bodyPr/>
          <a:lstStyle/>
          <a:p>
            <a:r>
              <a:rPr kumimoji="1" lang="ja-JP" altLang="en-US" dirty="0"/>
              <a:t>システム更新の実現方法</a:t>
            </a:r>
          </a:p>
        </p:txBody>
      </p:sp>
      <p:sp>
        <p:nvSpPr>
          <p:cNvPr id="10" name="テキスト プレースホルダー 9"/>
          <p:cNvSpPr>
            <a:spLocks noGrp="1"/>
          </p:cNvSpPr>
          <p:nvPr>
            <p:ph type="body" sz="quarter" idx="18"/>
          </p:nvPr>
        </p:nvSpPr>
        <p:spPr/>
        <p:txBody>
          <a:bodyPr/>
          <a:lstStyle/>
          <a:p>
            <a:r>
              <a:rPr kumimoji="1" lang="ja-JP" altLang="en-US" dirty="0"/>
              <a:t>システム更新後の姿を示します。現行システムからの変更点やバックアップ方式なども記載しております。</a:t>
            </a:r>
          </a:p>
        </p:txBody>
      </p:sp>
      <p:sp>
        <p:nvSpPr>
          <p:cNvPr id="11" name="テキスト プレースホルダー 10"/>
          <p:cNvSpPr>
            <a:spLocks noGrp="1"/>
          </p:cNvSpPr>
          <p:nvPr>
            <p:ph type="body" sz="quarter" idx="19"/>
          </p:nvPr>
        </p:nvSpPr>
        <p:spPr/>
        <p:txBody>
          <a:bodyPr/>
          <a:lstStyle/>
          <a:p>
            <a:r>
              <a:rPr lang="ja-JP" altLang="en-US" dirty="0"/>
              <a:t>プロジェクトの進め方</a:t>
            </a:r>
            <a:endParaRPr kumimoji="1" lang="ja-JP" altLang="en-US" dirty="0"/>
          </a:p>
        </p:txBody>
      </p:sp>
      <p:sp>
        <p:nvSpPr>
          <p:cNvPr id="12" name="テキスト プレースホルダー 11"/>
          <p:cNvSpPr>
            <a:spLocks noGrp="1"/>
          </p:cNvSpPr>
          <p:nvPr>
            <p:ph type="body" sz="quarter" idx="20"/>
          </p:nvPr>
        </p:nvSpPr>
        <p:spPr/>
        <p:txBody>
          <a:bodyPr/>
          <a:lstStyle/>
          <a:p>
            <a:r>
              <a:rPr kumimoji="1" lang="ja-JP" altLang="en-US" dirty="0"/>
              <a:t>プロジェクトの進め方についてのご説明となります。各工程ごとの重要ポイントを記載しております。</a:t>
            </a:r>
          </a:p>
        </p:txBody>
      </p:sp>
      <p:sp>
        <p:nvSpPr>
          <p:cNvPr id="13" name="テキスト プレースホルダー 12"/>
          <p:cNvSpPr>
            <a:spLocks noGrp="1"/>
          </p:cNvSpPr>
          <p:nvPr>
            <p:ph type="body" sz="quarter" idx="21"/>
          </p:nvPr>
        </p:nvSpPr>
        <p:spPr/>
        <p:txBody>
          <a:bodyPr/>
          <a:lstStyle/>
          <a:p>
            <a:r>
              <a:rPr lang="ja-JP" altLang="en-US" dirty="0"/>
              <a:t>プロジェクトの体制</a:t>
            </a:r>
            <a:endParaRPr kumimoji="1" lang="ja-JP" altLang="en-US" dirty="0"/>
          </a:p>
        </p:txBody>
      </p:sp>
      <p:sp>
        <p:nvSpPr>
          <p:cNvPr id="14" name="テキスト プレースホルダー 13"/>
          <p:cNvSpPr>
            <a:spLocks noGrp="1"/>
          </p:cNvSpPr>
          <p:nvPr>
            <p:ph type="body" sz="quarter" idx="22"/>
          </p:nvPr>
        </p:nvSpPr>
        <p:spPr/>
        <p:txBody>
          <a:bodyPr/>
          <a:lstStyle/>
          <a:p>
            <a:r>
              <a:rPr kumimoji="1" lang="ja-JP" altLang="en-US" dirty="0"/>
              <a:t>開発体制・初期流動体制・保守体制を記載します。役割と責任、責任分担等につきましても記載しております。</a:t>
            </a:r>
          </a:p>
        </p:txBody>
      </p:sp>
      <p:sp>
        <p:nvSpPr>
          <p:cNvPr id="15" name="テキスト プレースホルダー 14"/>
          <p:cNvSpPr>
            <a:spLocks noGrp="1"/>
          </p:cNvSpPr>
          <p:nvPr>
            <p:ph type="body" sz="quarter" idx="23"/>
          </p:nvPr>
        </p:nvSpPr>
        <p:spPr/>
        <p:txBody>
          <a:bodyPr/>
          <a:lstStyle/>
          <a:p>
            <a:r>
              <a:rPr kumimoji="1" lang="en-US" altLang="ja-JP" dirty="0"/>
              <a:t>Appendix</a:t>
            </a:r>
            <a:endParaRPr kumimoji="1" lang="ja-JP" altLang="en-US" dirty="0"/>
          </a:p>
        </p:txBody>
      </p:sp>
      <p:sp>
        <p:nvSpPr>
          <p:cNvPr id="16" name="テキスト プレースホルダー 15"/>
          <p:cNvSpPr>
            <a:spLocks noGrp="1"/>
          </p:cNvSpPr>
          <p:nvPr>
            <p:ph type="body" sz="quarter" idx="24"/>
          </p:nvPr>
        </p:nvSpPr>
        <p:spPr/>
        <p:txBody>
          <a:bodyPr/>
          <a:lstStyle/>
          <a:p>
            <a:r>
              <a:rPr lang="ja-JP" altLang="en-US" dirty="0"/>
              <a:t>補足資料を添付いたします。参考情報となりますが、こちらもご確認頂きますようお願いします。</a:t>
            </a:r>
          </a:p>
        </p:txBody>
      </p:sp>
      <p:sp>
        <p:nvSpPr>
          <p:cNvPr id="17" name="テキスト プレースホルダー 16"/>
          <p:cNvSpPr>
            <a:spLocks noGrp="1"/>
          </p:cNvSpPr>
          <p:nvPr>
            <p:ph type="body" sz="quarter" idx="25"/>
          </p:nvPr>
        </p:nvSpPr>
        <p:spPr/>
        <p:txBody>
          <a:bodyPr/>
          <a:lstStyle/>
          <a:p>
            <a:r>
              <a:rPr kumimoji="1" lang="ja-JP" altLang="en-US" dirty="0"/>
              <a:t>プロジェクト管理</a:t>
            </a:r>
          </a:p>
        </p:txBody>
      </p:sp>
      <p:sp>
        <p:nvSpPr>
          <p:cNvPr id="18" name="テキスト プレースホルダー 17"/>
          <p:cNvSpPr>
            <a:spLocks noGrp="1"/>
          </p:cNvSpPr>
          <p:nvPr>
            <p:ph type="body" sz="quarter" idx="26"/>
          </p:nvPr>
        </p:nvSpPr>
        <p:spPr/>
        <p:txBody>
          <a:bodyPr/>
          <a:lstStyle/>
          <a:p>
            <a:r>
              <a:rPr kumimoji="1" lang="ja-JP" altLang="en-US" dirty="0"/>
              <a:t>プロジェクト管理において、特に重要と考える</a:t>
            </a:r>
            <a:r>
              <a:rPr lang="ja-JP" altLang="en-US" dirty="0"/>
              <a:t>項目について、その実施方法をご説明いたします。</a:t>
            </a:r>
            <a:endParaRPr kumimoji="1" lang="en-US" altLang="ja-JP" dirty="0"/>
          </a:p>
        </p:txBody>
      </p:sp>
      <p:sp>
        <p:nvSpPr>
          <p:cNvPr id="19" name="テキスト プレースホルダー 18"/>
          <p:cNvSpPr>
            <a:spLocks noGrp="1"/>
          </p:cNvSpPr>
          <p:nvPr>
            <p:ph type="body" sz="quarter" idx="27"/>
          </p:nvPr>
        </p:nvSpPr>
        <p:spPr/>
        <p:txBody>
          <a:bodyPr/>
          <a:lstStyle/>
          <a:p>
            <a:r>
              <a:rPr kumimoji="1" lang="ja-JP" altLang="en-US" dirty="0"/>
              <a:t>お見積もり</a:t>
            </a:r>
          </a:p>
        </p:txBody>
      </p:sp>
      <p:sp>
        <p:nvSpPr>
          <p:cNvPr id="20" name="テキスト プレースホルダー 19"/>
          <p:cNvSpPr>
            <a:spLocks noGrp="1"/>
          </p:cNvSpPr>
          <p:nvPr>
            <p:ph type="body" sz="quarter" idx="28"/>
          </p:nvPr>
        </p:nvSpPr>
        <p:spPr/>
        <p:txBody>
          <a:bodyPr/>
          <a:lstStyle/>
          <a:p>
            <a:r>
              <a:rPr kumimoji="1" lang="ja-JP" altLang="en-US" dirty="0"/>
              <a:t>システム更新および保守にかかる工数および費用とその前提条件をご提示いたします。</a:t>
            </a:r>
          </a:p>
        </p:txBody>
      </p:sp>
    </p:spTree>
    <p:extLst>
      <p:ext uri="{BB962C8B-B14F-4D97-AF65-F5344CB8AC3E}">
        <p14:creationId xmlns:p14="http://schemas.microsoft.com/office/powerpoint/2010/main" val="36910124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a:t>ご提案のポイント</a:t>
            </a:r>
            <a:endParaRPr kumimoji="1" lang="ja-JP" altLang="en-US" dirty="0"/>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3"/>
          </p:nvPr>
        </p:nvSpPr>
        <p:spPr/>
        <p:txBody>
          <a:bodyPr/>
          <a:lstStyle/>
          <a:p>
            <a:fld id="{74395F4E-A786-454B-9285-EF3DEA272B37}" type="slidenum">
              <a:rPr lang="ja-JP" altLang="en-US" smtClean="0"/>
              <a:pPr/>
              <a:t>2</a:t>
            </a:fld>
            <a:endParaRPr lang="ja-JP" altLang="en-US"/>
          </a:p>
        </p:txBody>
      </p:sp>
    </p:spTree>
    <p:extLst>
      <p:ext uri="{BB962C8B-B14F-4D97-AF65-F5344CB8AC3E}">
        <p14:creationId xmlns:p14="http://schemas.microsoft.com/office/powerpoint/2010/main" val="3138422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プロジェクトの背景・目的</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grpSp>
        <p:nvGrpSpPr>
          <p:cNvPr id="13" name="グループ化 12"/>
          <p:cNvGrpSpPr/>
          <p:nvPr/>
        </p:nvGrpSpPr>
        <p:grpSpPr>
          <a:xfrm>
            <a:off x="576000" y="1296000"/>
            <a:ext cx="7992000" cy="288000"/>
            <a:chOff x="144000" y="3456000"/>
            <a:chExt cx="7992000" cy="288000"/>
          </a:xfrm>
        </p:grpSpPr>
        <p:sp>
          <p:nvSpPr>
            <p:cNvPr id="14" name="正方形/長方形 13"/>
            <p:cNvSpPr/>
            <p:nvPr/>
          </p:nvSpPr>
          <p:spPr>
            <a:xfrm>
              <a:off x="144000" y="3456000"/>
              <a:ext cx="7992000" cy="288000"/>
            </a:xfrm>
            <a:prstGeom prst="rect">
              <a:avLst/>
            </a:prstGeom>
            <a:solidFill>
              <a:schemeClr val="bg1">
                <a:lumMod val="95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ホームベース 14"/>
            <p:cNvSpPr/>
            <p:nvPr/>
          </p:nvSpPr>
          <p:spPr>
            <a:xfrm>
              <a:off x="144000" y="3456000"/>
              <a:ext cx="360000" cy="288000"/>
            </a:xfrm>
            <a:prstGeom prst="homePlate">
              <a:avLst/>
            </a:prstGeom>
            <a:solidFill>
              <a:schemeClr val="accent1">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11"/>
            <p:cNvSpPr txBox="1">
              <a:spLocks/>
            </p:cNvSpPr>
            <p:nvPr/>
          </p:nvSpPr>
          <p:spPr>
            <a:xfrm>
              <a:off x="504000" y="3456000"/>
              <a:ext cx="2736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プロジェクトの背景</a:t>
              </a:r>
              <a:endParaRPr lang="en-US" sz="1600" b="1" dirty="0">
                <a:solidFill>
                  <a:schemeClr val="accent1">
                    <a:lumMod val="50000"/>
                  </a:schemeClr>
                </a:solidFill>
                <a:latin typeface="游ゴシック" panose="020B0400000000000000" pitchFamily="50" charset="-128"/>
              </a:endParaRPr>
            </a:p>
          </p:txBody>
        </p:sp>
      </p:grpSp>
      <p:grpSp>
        <p:nvGrpSpPr>
          <p:cNvPr id="5" name="グループ化 4"/>
          <p:cNvGrpSpPr/>
          <p:nvPr/>
        </p:nvGrpSpPr>
        <p:grpSpPr>
          <a:xfrm>
            <a:off x="576000" y="1800000"/>
            <a:ext cx="7992000" cy="2448000"/>
            <a:chOff x="576000" y="1728000"/>
            <a:chExt cx="7992000" cy="2448000"/>
          </a:xfrm>
        </p:grpSpPr>
        <p:cxnSp>
          <p:nvCxnSpPr>
            <p:cNvPr id="20" name="直線コネクタ 19"/>
            <p:cNvCxnSpPr/>
            <p:nvPr/>
          </p:nvCxnSpPr>
          <p:spPr>
            <a:xfrm>
              <a:off x="576000" y="1728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 name="テキスト ボックス 20"/>
            <p:cNvSpPr txBox="1"/>
            <p:nvPr/>
          </p:nvSpPr>
          <p:spPr>
            <a:xfrm>
              <a:off x="648000" y="1728000"/>
              <a:ext cx="4248000" cy="338554"/>
            </a:xfrm>
            <a:prstGeom prst="rect">
              <a:avLst/>
            </a:prstGeom>
            <a:noFill/>
          </p:spPr>
          <p:txBody>
            <a:bodyPr wrap="square" rtlCol="0">
              <a:spAutoFit/>
            </a:bodyPr>
            <a:lstStyle/>
            <a:p>
              <a:r>
                <a:rPr lang="en-US" altLang="ja-JP" sz="1600" b="1" dirty="0">
                  <a:solidFill>
                    <a:schemeClr val="accent1">
                      <a:lumMod val="50000"/>
                    </a:schemeClr>
                  </a:solidFill>
                  <a:latin typeface="游ゴシック" panose="020B0400000000000000" pitchFamily="50" charset="-128"/>
                  <a:ea typeface="游ゴシック" panose="020B0400000000000000" pitchFamily="50" charset="-128"/>
                </a:rPr>
                <a:t>OS</a:t>
              </a: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および開発環境の老朽化</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2" name="テキスト ボックス 21"/>
            <p:cNvSpPr txBox="1"/>
            <p:nvPr/>
          </p:nvSpPr>
          <p:spPr>
            <a:xfrm>
              <a:off x="648000" y="2052000"/>
              <a:ext cx="7920000" cy="864000"/>
            </a:xfrm>
            <a:prstGeom prst="rect">
              <a:avLst/>
            </a:prstGeom>
            <a:noFill/>
          </p:spPr>
          <p:txBody>
            <a:bodyPr wrap="square" rtlCol="0">
              <a:noAutofit/>
            </a:bodyPr>
            <a:lstStyle/>
            <a:p>
              <a:pPr>
                <a:spcBef>
                  <a:spcPts val="600"/>
                </a:spcBef>
              </a:pPr>
              <a:r>
                <a:rPr kumimoji="1" lang="ja-JP" altLang="en-US" sz="1400" dirty="0">
                  <a:latin typeface="游ゴシック" panose="020B0400000000000000" pitchFamily="50" charset="-128"/>
                  <a:ea typeface="游ゴシック" panose="020B0400000000000000" pitchFamily="50" charset="-128"/>
                </a:rPr>
                <a:t>千葉運転管理システムが</a:t>
              </a:r>
              <a:r>
                <a:rPr kumimoji="1" lang="en-US" altLang="ja-JP" sz="1400" dirty="0">
                  <a:latin typeface="游ゴシック" panose="020B0400000000000000" pitchFamily="50" charset="-128"/>
                  <a:ea typeface="游ゴシック" panose="020B0400000000000000" pitchFamily="50" charset="-128"/>
                </a:rPr>
                <a:t>VB</a:t>
              </a:r>
              <a:r>
                <a:rPr kumimoji="1" lang="ja-JP" altLang="en-US" sz="1400" dirty="0">
                  <a:latin typeface="游ゴシック" panose="020B0400000000000000" pitchFamily="50" charset="-128"/>
                  <a:ea typeface="游ゴシック" panose="020B0400000000000000" pitchFamily="50" charset="-128"/>
                </a:rPr>
                <a:t>で開発されたアプリケーションで構成されており、</a:t>
              </a:r>
              <a:r>
                <a:rPr kumimoji="1" lang="en-US" altLang="ja-JP" sz="1400" dirty="0">
                  <a:latin typeface="游ゴシック" panose="020B0400000000000000" pitchFamily="50" charset="-128"/>
                  <a:ea typeface="游ゴシック" panose="020B0400000000000000" pitchFamily="50" charset="-128"/>
                </a:rPr>
                <a:t>Windows XP </a:t>
              </a:r>
              <a:r>
                <a:rPr kumimoji="1" lang="ja-JP" altLang="en-US" sz="1400" dirty="0">
                  <a:latin typeface="游ゴシック" panose="020B0400000000000000" pitchFamily="50" charset="-128"/>
                  <a:ea typeface="游ゴシック" panose="020B0400000000000000" pitchFamily="50" charset="-128"/>
                </a:rPr>
                <a:t>上にて稼働する仕組みとなっている。</a:t>
              </a:r>
              <a:r>
                <a:rPr kumimoji="1" lang="en-US" altLang="ja-JP" sz="1400" dirty="0">
                  <a:latin typeface="游ゴシック" panose="020B0400000000000000" pitchFamily="50" charset="-128"/>
                  <a:ea typeface="游ゴシック" panose="020B0400000000000000" pitchFamily="50" charset="-128"/>
                </a:rPr>
                <a:t>VB</a:t>
              </a:r>
              <a:r>
                <a:rPr kumimoji="1" lang="ja-JP" altLang="en-US" sz="1400" dirty="0">
                  <a:latin typeface="游ゴシック" panose="020B0400000000000000" pitchFamily="50" charset="-128"/>
                  <a:ea typeface="游ゴシック" panose="020B0400000000000000" pitchFamily="50" charset="-128"/>
                </a:rPr>
                <a:t>および</a:t>
              </a:r>
              <a:r>
                <a:rPr kumimoji="1" lang="en-US" altLang="ja-JP" sz="1400" dirty="0">
                  <a:latin typeface="游ゴシック" panose="020B0400000000000000" pitchFamily="50" charset="-128"/>
                  <a:ea typeface="游ゴシック" panose="020B0400000000000000" pitchFamily="50" charset="-128"/>
                </a:rPr>
                <a:t>Windows XP</a:t>
              </a:r>
              <a:r>
                <a:rPr lang="ja-JP" altLang="en-US" sz="1400" dirty="0">
                  <a:latin typeface="游ゴシック" panose="020B0400000000000000" pitchFamily="50" charset="-128"/>
                  <a:ea typeface="游ゴシック" panose="020B0400000000000000" pitchFamily="50" charset="-128"/>
                </a:rPr>
                <a:t> はともにマイクロソフトのサポートが終了している。</a:t>
              </a:r>
              <a:endParaRPr kumimoji="1" lang="ja-JP" altLang="en-US" sz="1400" dirty="0">
                <a:latin typeface="游ゴシック" panose="020B0400000000000000" pitchFamily="50" charset="-128"/>
                <a:ea typeface="游ゴシック" panose="020B0400000000000000" pitchFamily="50" charset="-128"/>
              </a:endParaRPr>
            </a:p>
          </p:txBody>
        </p:sp>
        <p:cxnSp>
          <p:nvCxnSpPr>
            <p:cNvPr id="23" name="直線コネクタ 22"/>
            <p:cNvCxnSpPr/>
            <p:nvPr/>
          </p:nvCxnSpPr>
          <p:spPr>
            <a:xfrm>
              <a:off x="576000" y="2988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648000" y="2988000"/>
              <a:ext cx="4248000" cy="338554"/>
            </a:xfrm>
            <a:prstGeom prst="rect">
              <a:avLst/>
            </a:prstGeom>
            <a:noFill/>
          </p:spPr>
          <p:txBody>
            <a:bodyPr wrap="square" rtlCol="0">
              <a:spAutoFit/>
            </a:bodyPr>
            <a:lstStyle/>
            <a:p>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保守</a:t>
              </a:r>
            </a:p>
          </p:txBody>
        </p:sp>
        <p:sp>
          <p:nvSpPr>
            <p:cNvPr id="25" name="テキスト ボックス 24"/>
            <p:cNvSpPr txBox="1"/>
            <p:nvPr/>
          </p:nvSpPr>
          <p:spPr>
            <a:xfrm>
              <a:off x="648000" y="3312000"/>
              <a:ext cx="7920000" cy="864000"/>
            </a:xfrm>
            <a:prstGeom prst="rect">
              <a:avLst/>
            </a:prstGeom>
            <a:noFill/>
          </p:spPr>
          <p:txBody>
            <a:bodyPr wrap="square" rtlCol="0">
              <a:noAutofit/>
            </a:bodyPr>
            <a:lstStyle/>
            <a:p>
              <a:pPr>
                <a:spcBef>
                  <a:spcPts val="600"/>
                </a:spcBef>
              </a:pPr>
              <a:r>
                <a:rPr lang="ja-JP" altLang="en-US" sz="1400" dirty="0">
                  <a:latin typeface="游ゴシック" panose="020B0400000000000000" pitchFamily="50" charset="-128"/>
                  <a:ea typeface="游ゴシック" panose="020B0400000000000000" pitchFamily="50" charset="-128"/>
                </a:rPr>
                <a:t>千葉運転管理システムは、これまで潤滑油二課が主管部門となり、保守・運用を実施してきた。システム統制の観点から、今後は、情報システム部を主管とする保守体制を構築し、保守・運用のサービスレベル向上を図る必要がある。</a:t>
              </a: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26" name="グループ化 25"/>
          <p:cNvGrpSpPr/>
          <p:nvPr/>
        </p:nvGrpSpPr>
        <p:grpSpPr>
          <a:xfrm>
            <a:off x="576000" y="4536000"/>
            <a:ext cx="7992000" cy="288000"/>
            <a:chOff x="144000" y="3456000"/>
            <a:chExt cx="7992000" cy="288000"/>
          </a:xfrm>
        </p:grpSpPr>
        <p:sp>
          <p:nvSpPr>
            <p:cNvPr id="27" name="正方形/長方形 26"/>
            <p:cNvSpPr/>
            <p:nvPr/>
          </p:nvSpPr>
          <p:spPr>
            <a:xfrm>
              <a:off x="144000" y="3456000"/>
              <a:ext cx="7992000" cy="288000"/>
            </a:xfrm>
            <a:prstGeom prst="rect">
              <a:avLst/>
            </a:prstGeom>
            <a:solidFill>
              <a:schemeClr val="bg1">
                <a:lumMod val="95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ホームベース 27"/>
            <p:cNvSpPr/>
            <p:nvPr/>
          </p:nvSpPr>
          <p:spPr>
            <a:xfrm>
              <a:off x="144000" y="3456000"/>
              <a:ext cx="360000" cy="288000"/>
            </a:xfrm>
            <a:prstGeom prst="homePlate">
              <a:avLst/>
            </a:prstGeom>
            <a:solidFill>
              <a:schemeClr val="accent1">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テキスト プレースホルダー 11"/>
            <p:cNvSpPr txBox="1">
              <a:spLocks/>
            </p:cNvSpPr>
            <p:nvPr/>
          </p:nvSpPr>
          <p:spPr>
            <a:xfrm>
              <a:off x="504000" y="3456000"/>
              <a:ext cx="2736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プロジェクトの目的</a:t>
              </a:r>
              <a:endParaRPr lang="en-US" sz="1600" b="1" dirty="0">
                <a:solidFill>
                  <a:schemeClr val="accent1">
                    <a:lumMod val="50000"/>
                  </a:schemeClr>
                </a:solidFill>
                <a:latin typeface="游ゴシック" panose="020B0400000000000000" pitchFamily="50" charset="-128"/>
              </a:endParaRPr>
            </a:p>
          </p:txBody>
        </p:sp>
      </p:grpSp>
      <p:sp>
        <p:nvSpPr>
          <p:cNvPr id="30" name="テキスト ボックス 29"/>
          <p:cNvSpPr txBox="1"/>
          <p:nvPr/>
        </p:nvSpPr>
        <p:spPr>
          <a:xfrm>
            <a:off x="576000" y="4968000"/>
            <a:ext cx="7992000" cy="864000"/>
          </a:xfrm>
          <a:prstGeom prst="rect">
            <a:avLst/>
          </a:prstGeom>
          <a:noFill/>
        </p:spPr>
        <p:txBody>
          <a:bodyPr wrap="square" rtlCol="0">
            <a:noAutofit/>
          </a:bodyPr>
          <a:lstStyle/>
          <a:p>
            <a:pPr>
              <a:spcBef>
                <a:spcPts val="600"/>
              </a:spcBef>
            </a:pPr>
            <a:r>
              <a:rPr lang="ja-JP" altLang="en-US" sz="1400" dirty="0">
                <a:latin typeface="游ゴシック" panose="020B0400000000000000" pitchFamily="50" charset="-128"/>
                <a:ea typeface="游ゴシック" panose="020B0400000000000000" pitchFamily="50" charset="-128"/>
              </a:rPr>
              <a:t>最新の環境（</a:t>
            </a:r>
            <a:r>
              <a:rPr lang="en-US" altLang="ja-JP" sz="1400" dirty="0">
                <a:latin typeface="游ゴシック" panose="020B0400000000000000" pitchFamily="50" charset="-128"/>
                <a:ea typeface="游ゴシック" panose="020B0400000000000000" pitchFamily="50" charset="-128"/>
              </a:rPr>
              <a:t>Windows Server 2019 + Oracle 19c + Windows10</a:t>
            </a:r>
            <a:r>
              <a:rPr lang="ja-JP" altLang="en-US" sz="1400" dirty="0">
                <a:latin typeface="游ゴシック" panose="020B0400000000000000" pitchFamily="50" charset="-128"/>
                <a:ea typeface="游ゴシック" panose="020B0400000000000000" pitchFamily="50" charset="-128"/>
              </a:rPr>
              <a:t>）で稼働し、かつ、最新の開発環境で構築することで、今後も持続的に使用できるよう保守性・可用性・セキュリティの向上を図る。</a:t>
            </a:r>
            <a:endParaRPr lang="en-US" altLang="ja-JP" sz="1400" dirty="0">
              <a:latin typeface="游ゴシック" panose="020B0400000000000000" pitchFamily="50" charset="-128"/>
              <a:ea typeface="游ゴシック" panose="020B0400000000000000" pitchFamily="50" charset="-128"/>
            </a:endParaRPr>
          </a:p>
          <a:p>
            <a:pPr marL="285750" indent="-285750">
              <a:spcBef>
                <a:spcPts val="600"/>
              </a:spcBef>
              <a:buFont typeface="游ゴシック" panose="020B0400000000000000" pitchFamily="50" charset="-128"/>
              <a:buChar char="※"/>
            </a:pPr>
            <a:r>
              <a:rPr lang="en-US" altLang="ja-JP" sz="1400" dirty="0">
                <a:latin typeface="游ゴシック" panose="020B0400000000000000" pitchFamily="50" charset="-128"/>
                <a:ea typeface="游ゴシック" panose="020B0400000000000000" pitchFamily="50" charset="-128"/>
              </a:rPr>
              <a:t>OS</a:t>
            </a:r>
            <a:r>
              <a:rPr lang="ja-JP" altLang="en-US" sz="1400" dirty="0">
                <a:latin typeface="游ゴシック" panose="020B0400000000000000" pitchFamily="50" charset="-128"/>
                <a:ea typeface="游ゴシック" panose="020B0400000000000000" pitchFamily="50" charset="-128"/>
              </a:rPr>
              <a:t>およびデータベース等のミドルウェアのバージョンにつきましては、貴社方針に従います。</a:t>
            </a:r>
            <a:endParaRPr kumimoji="1" lang="ja-JP" altLang="en-US" sz="1400" dirty="0">
              <a:latin typeface="游ゴシック" panose="020B0400000000000000" pitchFamily="50" charset="-128"/>
              <a:ea typeface="游ゴシック" panose="020B0400000000000000" pitchFamily="50" charset="-128"/>
            </a:endParaRPr>
          </a:p>
        </p:txBody>
      </p:sp>
      <p:sp>
        <p:nvSpPr>
          <p:cNvPr id="3" name="スライド番号プレースホルダー 2"/>
          <p:cNvSpPr>
            <a:spLocks noGrp="1"/>
          </p:cNvSpPr>
          <p:nvPr>
            <p:ph type="sldNum" sz="quarter" idx="12"/>
          </p:nvPr>
        </p:nvSpPr>
        <p:spPr/>
        <p:txBody>
          <a:bodyPr/>
          <a:lstStyle/>
          <a:p>
            <a:fld id="{74395F4E-A786-454B-9285-EF3DEA272B37}" type="slidenum">
              <a:rPr kumimoji="1" lang="ja-JP" altLang="en-US" smtClean="0"/>
              <a:t>3</a:t>
            </a:fld>
            <a:endParaRPr kumimoji="1" lang="ja-JP" altLang="en-US"/>
          </a:p>
        </p:txBody>
      </p:sp>
    </p:spTree>
    <p:extLst>
      <p:ext uri="{BB962C8B-B14F-4D97-AF65-F5344CB8AC3E}">
        <p14:creationId xmlns:p14="http://schemas.microsoft.com/office/powerpoint/2010/main" val="2000780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プロジェクトの方針</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grpSp>
        <p:nvGrpSpPr>
          <p:cNvPr id="3" name="グループ化 2"/>
          <p:cNvGrpSpPr/>
          <p:nvPr/>
        </p:nvGrpSpPr>
        <p:grpSpPr>
          <a:xfrm>
            <a:off x="0" y="1656000"/>
            <a:ext cx="9144000" cy="3600000"/>
            <a:chOff x="0" y="1080000"/>
            <a:chExt cx="9144000" cy="3600000"/>
          </a:xfrm>
          <a:solidFill>
            <a:schemeClr val="accent3">
              <a:lumMod val="20000"/>
              <a:lumOff val="80000"/>
            </a:schemeClr>
          </a:solidFill>
        </p:grpSpPr>
        <p:sp>
          <p:nvSpPr>
            <p:cNvPr id="6" name="正方形/長方形 5"/>
            <p:cNvSpPr/>
            <p:nvPr/>
          </p:nvSpPr>
          <p:spPr>
            <a:xfrm>
              <a:off x="0" y="1080000"/>
              <a:ext cx="9144000" cy="3600000"/>
            </a:xfrm>
            <a:prstGeom prst="rect">
              <a:avLst/>
            </a:prstGeom>
            <a:solidFill>
              <a:schemeClr val="accent3">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15" name="図プレースホルダー 39"/>
            <p:cNvPicPr>
              <a:picLocks noChangeAspect="1"/>
            </p:cNvPicPr>
            <p:nvPr/>
          </p:nvPicPr>
          <p:blipFill>
            <a:blip r:embed="rId2"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a:xfrm>
              <a:off x="792000" y="1368000"/>
              <a:ext cx="864000" cy="864000"/>
            </a:xfrm>
            <a:prstGeom prst="rect">
              <a:avLst/>
            </a:prstGeom>
            <a:grpFill/>
          </p:spPr>
        </p:pic>
        <p:pic>
          <p:nvPicPr>
            <p:cNvPr id="16" name="図プレースホルダー 43"/>
            <p:cNvPicPr>
              <a:picLocks noChangeAspect="1"/>
            </p:cNvPicPr>
            <p:nvPr/>
          </p:nvPicPr>
          <p:blipFill>
            <a:blip r:embed="rId3" cstate="print">
              <a:duotone>
                <a:schemeClr val="accent5">
                  <a:shade val="45000"/>
                  <a:satMod val="135000"/>
                </a:schemeClr>
                <a:prstClr val="white"/>
              </a:duotone>
              <a:extLst>
                <a:ext uri="{28A0092B-C50C-407E-A947-70E740481C1C}">
                  <a14:useLocalDpi xmlns:a14="http://schemas.microsoft.com/office/drawing/2010/main" val="0"/>
                </a:ext>
              </a:extLst>
            </a:blip>
            <a:srcRect l="59" r="59"/>
            <a:stretch>
              <a:fillRect/>
            </a:stretch>
          </p:blipFill>
          <p:spPr>
            <a:xfrm>
              <a:off x="5256000" y="1368000"/>
              <a:ext cx="864000" cy="864000"/>
            </a:xfrm>
            <a:prstGeom prst="rect">
              <a:avLst/>
            </a:prstGeom>
            <a:grpFill/>
          </p:spPr>
        </p:pic>
        <p:pic>
          <p:nvPicPr>
            <p:cNvPr id="17" name="図プレースホルダー 48"/>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rcRect l="59" r="59"/>
            <a:stretch>
              <a:fillRect/>
            </a:stretch>
          </p:blipFill>
          <p:spPr>
            <a:xfrm>
              <a:off x="7488000" y="1368000"/>
              <a:ext cx="864000" cy="864000"/>
            </a:xfrm>
            <a:prstGeom prst="rect">
              <a:avLst/>
            </a:prstGeom>
            <a:grpFill/>
          </p:spPr>
        </p:pic>
        <p:pic>
          <p:nvPicPr>
            <p:cNvPr id="18" name="図プレースホルダー 49"/>
            <p:cNvPicPr>
              <a:picLocks noChangeAspect="1"/>
            </p:cNvPicPr>
            <p:nvPr/>
          </p:nvPicPr>
          <p:blipFill>
            <a:blip r:embed="rId5" cstate="print">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a:xfrm>
              <a:off x="3024000" y="1368000"/>
              <a:ext cx="864000" cy="864000"/>
            </a:xfrm>
            <a:prstGeom prst="rect">
              <a:avLst/>
            </a:prstGeom>
            <a:grpFill/>
          </p:spPr>
        </p:pic>
        <p:sp>
          <p:nvSpPr>
            <p:cNvPr id="22" name="テキスト ボックス 21"/>
            <p:cNvSpPr txBox="1">
              <a:spLocks/>
            </p:cNvSpPr>
            <p:nvPr/>
          </p:nvSpPr>
          <p:spPr>
            <a:xfrm>
              <a:off x="144000" y="2376000"/>
              <a:ext cx="2160000" cy="288000"/>
            </a:xfrm>
            <a:prstGeom prst="rect">
              <a:avLst/>
            </a:prstGeom>
            <a:grpFill/>
          </p:spPr>
          <p:txBody>
            <a:bodyPr wrap="none" rtlCol="0" anchor="ctr">
              <a:noAutofit/>
            </a:bodyPr>
            <a:lstStyle/>
            <a:p>
              <a:pPr algn="ctr"/>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スケジュール</a:t>
              </a:r>
            </a:p>
          </p:txBody>
        </p:sp>
        <p:sp>
          <p:nvSpPr>
            <p:cNvPr id="23" name="テキスト ボックス 22"/>
            <p:cNvSpPr txBox="1">
              <a:spLocks/>
            </p:cNvSpPr>
            <p:nvPr/>
          </p:nvSpPr>
          <p:spPr>
            <a:xfrm>
              <a:off x="144000" y="2808000"/>
              <a:ext cx="2160000" cy="1584000"/>
            </a:xfrm>
            <a:prstGeom prst="rect">
              <a:avLst/>
            </a:prstGeom>
            <a:grp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プロジェクトの完了は、本稼働後の初期流動管理も含め、</a:t>
              </a:r>
              <a:r>
                <a:rPr lang="en-US" altLang="ja-JP" sz="1400" dirty="0">
                  <a:latin typeface="游ゴシック" panose="020B0400000000000000" pitchFamily="50" charset="-128"/>
                  <a:ea typeface="游ゴシック" panose="020B0400000000000000" pitchFamily="50" charset="-128"/>
                </a:rPr>
                <a:t>2022</a:t>
              </a:r>
              <a:r>
                <a:rPr lang="ja-JP" altLang="en-US" sz="1400" dirty="0">
                  <a:latin typeface="游ゴシック" panose="020B0400000000000000" pitchFamily="50" charset="-128"/>
                  <a:ea typeface="游ゴシック" panose="020B0400000000000000" pitchFamily="50" charset="-128"/>
                </a:rPr>
                <a:t>年</a:t>
              </a:r>
              <a:r>
                <a:rPr lang="en-US" altLang="ja-JP" sz="1400" dirty="0">
                  <a:latin typeface="游ゴシック" panose="020B0400000000000000" pitchFamily="50" charset="-128"/>
                  <a:ea typeface="游ゴシック" panose="020B0400000000000000" pitchFamily="50" charset="-128"/>
                </a:rPr>
                <a:t>10</a:t>
              </a:r>
              <a:r>
                <a:rPr lang="ja-JP" altLang="en-US" sz="1400" dirty="0">
                  <a:latin typeface="游ゴシック" panose="020B0400000000000000" pitchFamily="50" charset="-128"/>
                  <a:ea typeface="游ゴシック" panose="020B0400000000000000" pitchFamily="50" charset="-128"/>
                </a:rPr>
                <a:t>月末を期日とし、周辺システムを含めた全体ロードマップに沿ったスケジュールとします。</a:t>
              </a:r>
              <a:endParaRPr lang="en-US" altLang="ja-JP" sz="1400" dirty="0">
                <a:latin typeface="游ゴシック" panose="020B0400000000000000" pitchFamily="50" charset="-128"/>
                <a:ea typeface="游ゴシック" panose="020B0400000000000000" pitchFamily="50" charset="-128"/>
              </a:endParaRPr>
            </a:p>
          </p:txBody>
        </p:sp>
        <p:sp>
          <p:nvSpPr>
            <p:cNvPr id="24" name="テキスト ボックス 23"/>
            <p:cNvSpPr txBox="1">
              <a:spLocks/>
            </p:cNvSpPr>
            <p:nvPr/>
          </p:nvSpPr>
          <p:spPr>
            <a:xfrm>
              <a:off x="2376000" y="2376000"/>
              <a:ext cx="2160000" cy="288000"/>
            </a:xfrm>
            <a:prstGeom prst="rect">
              <a:avLst/>
            </a:prstGeom>
            <a:grpFill/>
          </p:spPr>
          <p:txBody>
            <a:bodyPr wrap="none" rtlCol="0" anchor="ctr">
              <a:noAutofit/>
            </a:bodyPr>
            <a:lstStyle/>
            <a:p>
              <a:pPr algn="ctr"/>
              <a:r>
                <a:rPr lang="en-US" altLang="ja-JP" sz="1600" b="1" dirty="0" err="1">
                  <a:solidFill>
                    <a:schemeClr val="accent1">
                      <a:lumMod val="50000"/>
                    </a:schemeClr>
                  </a:solidFill>
                  <a:latin typeface="游ゴシック" panose="020B0400000000000000" pitchFamily="50" charset="-128"/>
                  <a:ea typeface="游ゴシック" panose="020B0400000000000000" pitchFamily="50" charset="-128"/>
                </a:rPr>
                <a:t>VisualBasic</a:t>
              </a: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の</a:t>
              </a:r>
              <a:r>
                <a:rPr lang="en-US" altLang="ja-JP" sz="1600" b="1" dirty="0">
                  <a:solidFill>
                    <a:schemeClr val="accent1">
                      <a:lumMod val="50000"/>
                    </a:schemeClr>
                  </a:solidFill>
                  <a:latin typeface="游ゴシック" panose="020B0400000000000000" pitchFamily="50" charset="-128"/>
                  <a:ea typeface="游ゴシック" panose="020B0400000000000000" pitchFamily="50" charset="-128"/>
                </a:rPr>
                <a:t>.NET</a:t>
              </a: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化</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5" name="テキスト ボックス 24"/>
            <p:cNvSpPr txBox="1">
              <a:spLocks/>
            </p:cNvSpPr>
            <p:nvPr/>
          </p:nvSpPr>
          <p:spPr>
            <a:xfrm>
              <a:off x="2376000" y="2808000"/>
              <a:ext cx="2160000" cy="1584000"/>
            </a:xfrm>
            <a:prstGeom prst="rect">
              <a:avLst/>
            </a:prstGeom>
            <a:grpFill/>
          </p:spPr>
          <p:txBody>
            <a:bodyPr wrap="square" rtlCol="0">
              <a:noAutofit/>
            </a:bodyPr>
            <a:lstStyle/>
            <a:p>
              <a:r>
                <a:rPr lang="en-US" altLang="ja-JP" sz="1400" dirty="0">
                  <a:latin typeface="游ゴシック" panose="020B0400000000000000" pitchFamily="50" charset="-128"/>
                  <a:ea typeface="游ゴシック" panose="020B0400000000000000" pitchFamily="50" charset="-128"/>
                </a:rPr>
                <a:t>VB</a:t>
              </a:r>
              <a:r>
                <a:rPr lang="ja-JP" altLang="en-US" sz="1400" dirty="0">
                  <a:latin typeface="游ゴシック" panose="020B0400000000000000" pitchFamily="50" charset="-128"/>
                  <a:ea typeface="游ゴシック" panose="020B0400000000000000" pitchFamily="50" charset="-128"/>
                </a:rPr>
                <a:t>で構築されているプログラムを</a:t>
              </a:r>
              <a:r>
                <a:rPr lang="en-US" altLang="ja-JP" sz="1400" dirty="0">
                  <a:latin typeface="游ゴシック" panose="020B0400000000000000" pitchFamily="50" charset="-128"/>
                  <a:ea typeface="游ゴシック" panose="020B0400000000000000" pitchFamily="50" charset="-128"/>
                </a:rPr>
                <a:t>VB.NET</a:t>
              </a:r>
              <a:r>
                <a:rPr lang="ja-JP" altLang="en-US" sz="1400" dirty="0">
                  <a:latin typeface="游ゴシック" panose="020B0400000000000000" pitchFamily="50" charset="-128"/>
                  <a:ea typeface="游ゴシック" panose="020B0400000000000000" pitchFamily="50" charset="-128"/>
                </a:rPr>
                <a:t>で再構築する。アプリケーションは可能な限り統合し、</a:t>
              </a:r>
              <a:r>
                <a:rPr lang="en-US" altLang="ja-JP" sz="1400" dirty="0" err="1">
                  <a:latin typeface="游ゴシック" panose="020B0400000000000000" pitchFamily="50" charset="-128"/>
                  <a:ea typeface="游ゴシック" panose="020B0400000000000000" pitchFamily="50" charset="-128"/>
                </a:rPr>
                <a:t>ClickOnce</a:t>
              </a:r>
              <a:r>
                <a:rPr lang="ja-JP" altLang="en-US" sz="1400" dirty="0">
                  <a:latin typeface="游ゴシック" panose="020B0400000000000000" pitchFamily="50" charset="-128"/>
                  <a:ea typeface="游ゴシック" panose="020B0400000000000000" pitchFamily="50" charset="-128"/>
                </a:rPr>
                <a:t>を活用した自動バージョンアップの仕組みを導入します。</a:t>
              </a:r>
              <a:endParaRPr kumimoji="1" lang="ja-JP" altLang="en-US" sz="1400" dirty="0">
                <a:latin typeface="游ゴシック" panose="020B0400000000000000" pitchFamily="50" charset="-128"/>
                <a:ea typeface="游ゴシック" panose="020B0400000000000000" pitchFamily="50" charset="-128"/>
              </a:endParaRPr>
            </a:p>
          </p:txBody>
        </p:sp>
        <p:sp>
          <p:nvSpPr>
            <p:cNvPr id="26" name="テキスト ボックス 25"/>
            <p:cNvSpPr txBox="1">
              <a:spLocks/>
            </p:cNvSpPr>
            <p:nvPr/>
          </p:nvSpPr>
          <p:spPr>
            <a:xfrm>
              <a:off x="4608000" y="2376000"/>
              <a:ext cx="2160000" cy="288000"/>
            </a:xfrm>
            <a:prstGeom prst="rect">
              <a:avLst/>
            </a:prstGeom>
            <a:grpFill/>
          </p:spPr>
          <p:txBody>
            <a:bodyPr wrap="none" rtlCol="0" anchor="ctr">
              <a:noAutofit/>
            </a:bodyP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単純更新</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7" name="テキスト ボックス 26"/>
            <p:cNvSpPr txBox="1">
              <a:spLocks/>
            </p:cNvSpPr>
            <p:nvPr/>
          </p:nvSpPr>
          <p:spPr>
            <a:xfrm>
              <a:off x="4608000" y="2808000"/>
              <a:ext cx="2160000" cy="1584000"/>
            </a:xfrm>
            <a:prstGeom prst="rect">
              <a:avLst/>
            </a:prstGeom>
            <a:grp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アプリケーションの機能配置、変更、追加は行わず、単純更新とします。また、現行の画面レイアウトを極力踏襲し、利用者にシステムの変更を意識させません。</a:t>
              </a:r>
              <a:endParaRPr lang="en-US" altLang="ja-JP" sz="1400" dirty="0">
                <a:latin typeface="游ゴシック" panose="020B0400000000000000" pitchFamily="50" charset="-128"/>
                <a:ea typeface="游ゴシック" panose="020B0400000000000000" pitchFamily="50" charset="-128"/>
              </a:endParaRPr>
            </a:p>
          </p:txBody>
        </p:sp>
        <p:sp>
          <p:nvSpPr>
            <p:cNvPr id="28" name="テキスト ボックス 27"/>
            <p:cNvSpPr txBox="1">
              <a:spLocks/>
            </p:cNvSpPr>
            <p:nvPr/>
          </p:nvSpPr>
          <p:spPr>
            <a:xfrm>
              <a:off x="6840000" y="2376000"/>
              <a:ext cx="2160000" cy="288000"/>
            </a:xfrm>
            <a:prstGeom prst="rect">
              <a:avLst/>
            </a:prstGeom>
            <a:grpFill/>
          </p:spPr>
          <p:txBody>
            <a:bodyPr wrap="none" rtlCol="0" anchor="ctr">
              <a:noAutofit/>
            </a:bodyP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インフラの最適化</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9" name="テキスト ボックス 28"/>
            <p:cNvSpPr txBox="1">
              <a:spLocks/>
            </p:cNvSpPr>
            <p:nvPr/>
          </p:nvSpPr>
          <p:spPr>
            <a:xfrm>
              <a:off x="6840000" y="2808000"/>
              <a:ext cx="2160000" cy="1584000"/>
            </a:xfrm>
            <a:prstGeom prst="rect">
              <a:avLst/>
            </a:prstGeom>
            <a:grp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ミドルウェアを含めたインフラの最適化を行い、その環境にて稼働するシステムを構築します。</a:t>
              </a:r>
              <a:r>
                <a:rPr kumimoji="1" lang="ja-JP" altLang="en-US" sz="1400" dirty="0">
                  <a:latin typeface="游ゴシック" panose="020B0400000000000000" pitchFamily="50" charset="-128"/>
                  <a:ea typeface="游ゴシック" panose="020B0400000000000000" pitchFamily="50" charset="-128"/>
                </a:rPr>
                <a:t>但し、</a:t>
              </a:r>
              <a:r>
                <a:rPr lang="ja-JP" altLang="en-US" sz="1400" dirty="0">
                  <a:latin typeface="游ゴシック" panose="020B0400000000000000" pitchFamily="50" charset="-128"/>
                  <a:ea typeface="游ゴシック" panose="020B0400000000000000" pitchFamily="50" charset="-128"/>
                </a:rPr>
                <a:t>ハードウェア関連の設計、導入、運用は出光興産様にてお願いします。</a:t>
              </a:r>
              <a:endParaRPr kumimoji="1" lang="ja-JP" altLang="en-US" sz="1400" dirty="0">
                <a:latin typeface="游ゴシック" panose="020B0400000000000000" pitchFamily="50" charset="-128"/>
                <a:ea typeface="游ゴシック" panose="020B0400000000000000" pitchFamily="50" charset="-128"/>
              </a:endParaRPr>
            </a:p>
          </p:txBody>
        </p:sp>
      </p:grpSp>
      <p:sp>
        <p:nvSpPr>
          <p:cNvPr id="30" name="テキスト ボックス 29"/>
          <p:cNvSpPr txBox="1">
            <a:spLocks/>
          </p:cNvSpPr>
          <p:nvPr/>
        </p:nvSpPr>
        <p:spPr>
          <a:xfrm>
            <a:off x="144000" y="5904000"/>
            <a:ext cx="8856000" cy="468520"/>
          </a:xfrm>
          <a:prstGeom prst="rect">
            <a:avLst/>
          </a:prstGeom>
          <a:noFill/>
        </p:spPr>
        <p:txBody>
          <a:bodyPr wrap="none" rtlCol="0">
            <a:noAutofit/>
          </a:bodyPr>
          <a:lstStyle/>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プロジェクト方針は、プロジェクト開始時に改めて策定します。</a:t>
            </a:r>
            <a:endParaRPr lang="en-US" altLang="ja-JP" sz="1200" dirty="0">
              <a:latin typeface="游ゴシック" panose="020B0400000000000000" pitchFamily="50" charset="-128"/>
              <a:ea typeface="游ゴシック" panose="020B0400000000000000" pitchFamily="50" charset="-128"/>
            </a:endParaRPr>
          </a:p>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単純更新を原則としますが、ロット採番ルールが変更になった場合には対応いたします。</a:t>
            </a:r>
            <a:endParaRPr kumimoji="1" lang="ja-JP" altLang="en-US" sz="1200" dirty="0">
              <a:latin typeface="游ゴシック" panose="020B0400000000000000" pitchFamily="50" charset="-128"/>
              <a:ea typeface="游ゴシック" panose="020B0400000000000000" pitchFamily="50" charset="-128"/>
            </a:endParaRPr>
          </a:p>
        </p:txBody>
      </p:sp>
      <p:sp>
        <p:nvSpPr>
          <p:cNvPr id="33" name="スライド番号プレースホルダー 32"/>
          <p:cNvSpPr>
            <a:spLocks noGrp="1"/>
          </p:cNvSpPr>
          <p:nvPr>
            <p:ph type="sldNum" sz="quarter" idx="12"/>
          </p:nvPr>
        </p:nvSpPr>
        <p:spPr/>
        <p:txBody>
          <a:bodyPr/>
          <a:lstStyle/>
          <a:p>
            <a:fld id="{74395F4E-A786-454B-9285-EF3DEA272B37}" type="slidenum">
              <a:rPr kumimoji="1" lang="ja-JP" altLang="en-US" smtClean="0"/>
              <a:t>4</a:t>
            </a:fld>
            <a:endParaRPr kumimoji="1" lang="ja-JP" altLang="en-US"/>
          </a:p>
        </p:txBody>
      </p:sp>
    </p:spTree>
    <p:extLst>
      <p:ext uri="{BB962C8B-B14F-4D97-AF65-F5344CB8AC3E}">
        <p14:creationId xmlns:p14="http://schemas.microsoft.com/office/powerpoint/2010/main" val="1475619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96000" y="1872000"/>
            <a:ext cx="2448000" cy="792000"/>
          </a:xfrm>
          <a:prstGeom prst="roundRect">
            <a:avLst>
              <a:gd name="adj" fmla="val 8018"/>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2" name="タイトル 1"/>
          <p:cNvSpPr>
            <a:spLocks noGrp="1"/>
          </p:cNvSpPr>
          <p:nvPr>
            <p:ph type="title"/>
          </p:nvPr>
        </p:nvSpPr>
        <p:spPr/>
        <p:txBody>
          <a:bodyPr/>
          <a:lstStyle/>
          <a:p>
            <a:r>
              <a:rPr lang="ja-JP" altLang="en-US" dirty="0"/>
              <a:t>実績・経験を活かした高品質・高生産性</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6" name="テキスト ボックス 5"/>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弊社は、出光興産様の開発標準適用実績、類似案件の実績、</a:t>
            </a:r>
            <a:r>
              <a:rPr lang="en-US" altLang="ja-JP" sz="1400" dirty="0">
                <a:latin typeface="游ゴシック" panose="020B0400000000000000" pitchFamily="50" charset="-128"/>
                <a:ea typeface="游ゴシック" panose="020B0400000000000000" pitchFamily="50" charset="-128"/>
              </a:rPr>
              <a:t>MES</a:t>
            </a:r>
            <a:r>
              <a:rPr lang="ja-JP" altLang="en-US" sz="1400" dirty="0">
                <a:latin typeface="游ゴシック" panose="020B0400000000000000" pitchFamily="50" charset="-128"/>
                <a:ea typeface="游ゴシック" panose="020B0400000000000000" pitchFamily="50" charset="-128"/>
              </a:rPr>
              <a:t>領域での実績が多数ございます。</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これらの実績・経験を活かし、高品質で生産性の高いシステム更新を実現します。</a:t>
            </a:r>
            <a:endParaRPr kumimoji="1" lang="ja-JP" altLang="en-US" sz="1400" dirty="0">
              <a:latin typeface="游ゴシック" panose="020B0400000000000000" pitchFamily="50" charset="-128"/>
              <a:ea typeface="游ゴシック" panose="020B0400000000000000" pitchFamily="50" charset="-128"/>
            </a:endParaRPr>
          </a:p>
        </p:txBody>
      </p:sp>
      <p:sp>
        <p:nvSpPr>
          <p:cNvPr id="10" name="スライド番号プレースホルダー 9"/>
          <p:cNvSpPr>
            <a:spLocks noGrp="1"/>
          </p:cNvSpPr>
          <p:nvPr>
            <p:ph type="sldNum" sz="quarter" idx="12"/>
          </p:nvPr>
        </p:nvSpPr>
        <p:spPr/>
        <p:txBody>
          <a:bodyPr/>
          <a:lstStyle/>
          <a:p>
            <a:fld id="{74395F4E-A786-454B-9285-EF3DEA272B37}" type="slidenum">
              <a:rPr kumimoji="1" lang="ja-JP" altLang="en-US" smtClean="0"/>
              <a:t>5</a:t>
            </a:fld>
            <a:endParaRPr kumimoji="1" lang="ja-JP" altLang="en-US"/>
          </a:p>
        </p:txBody>
      </p:sp>
      <p:sp>
        <p:nvSpPr>
          <p:cNvPr id="8" name="角丸四角形 7"/>
          <p:cNvSpPr/>
          <p:nvPr/>
        </p:nvSpPr>
        <p:spPr>
          <a:xfrm>
            <a:off x="3348000" y="1872000"/>
            <a:ext cx="2448000" cy="792000"/>
          </a:xfrm>
          <a:prstGeom prst="roundRect">
            <a:avLst>
              <a:gd name="adj" fmla="val 8018"/>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12" name="図 11"/>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296727" y="2016000"/>
            <a:ext cx="502545" cy="504000"/>
          </a:xfrm>
          <a:prstGeom prst="rect">
            <a:avLst/>
          </a:prstGeom>
        </p:spPr>
      </p:pic>
      <p:sp>
        <p:nvSpPr>
          <p:cNvPr id="13" name="テキスト ボックス 12"/>
          <p:cNvSpPr txBox="1">
            <a:spLocks/>
          </p:cNvSpPr>
          <p:nvPr/>
        </p:nvSpPr>
        <p:spPr>
          <a:xfrm>
            <a:off x="216000" y="3445966"/>
            <a:ext cx="2808000" cy="2916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弊社は、貴社</a:t>
            </a:r>
            <a:r>
              <a:rPr lang="ja-JP" altLang="en-US" sz="1400" b="1" dirty="0">
                <a:solidFill>
                  <a:schemeClr val="accent1"/>
                </a:solidFill>
                <a:latin typeface="游ゴシック" panose="020B0400000000000000" pitchFamily="50" charset="-128"/>
                <a:ea typeface="游ゴシック" panose="020B0400000000000000" pitchFamily="50" charset="-128"/>
              </a:rPr>
              <a:t>「出光開発標準」の適用実績が多数</a:t>
            </a:r>
            <a:r>
              <a:rPr lang="ja-JP" altLang="en-US" sz="1400" dirty="0">
                <a:latin typeface="游ゴシック" panose="020B0400000000000000" pitchFamily="50" charset="-128"/>
                <a:ea typeface="游ゴシック" panose="020B0400000000000000" pitchFamily="50" charset="-128"/>
              </a:rPr>
              <a:t>ございます。今回の千葉運転管理システム更新につきましては、</a:t>
            </a:r>
            <a:r>
              <a:rPr lang="en-US" altLang="ja-JP" sz="1400" dirty="0">
                <a:latin typeface="游ゴシック" panose="020B0400000000000000" pitchFamily="50" charset="-128"/>
                <a:ea typeface="游ゴシック" panose="020B0400000000000000" pitchFamily="50" charset="-128"/>
              </a:rPr>
              <a:t>.NET</a:t>
            </a:r>
            <a:r>
              <a:rPr lang="ja-JP" altLang="en-US" sz="1400" dirty="0" err="1">
                <a:latin typeface="游ゴシック" panose="020B0400000000000000" pitchFamily="50" charset="-128"/>
                <a:ea typeface="游ゴシック" panose="020B0400000000000000" pitchFamily="50" charset="-128"/>
              </a:rPr>
              <a:t>での</a:t>
            </a:r>
            <a:r>
              <a:rPr lang="ja-JP" altLang="en-US" sz="1400" dirty="0">
                <a:latin typeface="游ゴシック" panose="020B0400000000000000" pitchFamily="50" charset="-128"/>
                <a:ea typeface="游ゴシック" panose="020B0400000000000000" pitchFamily="50" charset="-128"/>
              </a:rPr>
              <a:t>再構築を想定しますので、出光開発標準の内、プロセスおよびドキュメントについてを適用対象として取り組みます。</a:t>
            </a:r>
            <a:r>
              <a:rPr kumimoji="1" lang="ja-JP" altLang="en-US" sz="1400" dirty="0">
                <a:latin typeface="游ゴシック" panose="020B0400000000000000" pitchFamily="50" charset="-128"/>
                <a:ea typeface="游ゴシック" panose="020B0400000000000000" pitchFamily="50" charset="-128"/>
              </a:rPr>
              <a:t>また、</a:t>
            </a:r>
            <a:r>
              <a:rPr kumimoji="1" lang="ja-JP" altLang="en-US" sz="1400" b="1" dirty="0">
                <a:solidFill>
                  <a:schemeClr val="accent1"/>
                </a:solidFill>
                <a:latin typeface="游ゴシック" panose="020B0400000000000000" pitchFamily="50" charset="-128"/>
                <a:ea typeface="游ゴシック" panose="020B0400000000000000" pitchFamily="50" charset="-128"/>
              </a:rPr>
              <a:t>弊社千葉オフィスでは、</a:t>
            </a:r>
            <a:r>
              <a:rPr kumimoji="1" lang="en-US" altLang="ja-JP" sz="1400" b="1" dirty="0">
                <a:solidFill>
                  <a:schemeClr val="accent1"/>
                </a:solidFill>
                <a:latin typeface="游ゴシック" panose="020B0400000000000000" pitchFamily="50" charset="-128"/>
                <a:ea typeface="游ゴシック" panose="020B0400000000000000" pitchFamily="50" charset="-128"/>
              </a:rPr>
              <a:t>QMS</a:t>
            </a:r>
            <a:r>
              <a:rPr kumimoji="1" lang="ja-JP" altLang="en-US" sz="1400" b="1" dirty="0">
                <a:solidFill>
                  <a:schemeClr val="accent1"/>
                </a:solidFill>
                <a:latin typeface="游ゴシック" panose="020B0400000000000000" pitchFamily="50" charset="-128"/>
                <a:ea typeface="游ゴシック" panose="020B0400000000000000" pitchFamily="50" charset="-128"/>
              </a:rPr>
              <a:t>を取得</a:t>
            </a:r>
            <a:r>
              <a:rPr kumimoji="1" lang="ja-JP" altLang="en-US" sz="1400" dirty="0">
                <a:latin typeface="游ゴシック" panose="020B0400000000000000" pitchFamily="50" charset="-128"/>
                <a:ea typeface="游ゴシック" panose="020B0400000000000000" pitchFamily="50" charset="-128"/>
              </a:rPr>
              <a:t>しており、</a:t>
            </a:r>
            <a:r>
              <a:rPr kumimoji="1" lang="en-US" altLang="ja-JP" sz="1400" dirty="0">
                <a:latin typeface="游ゴシック" panose="020B0400000000000000" pitchFamily="50" charset="-128"/>
                <a:ea typeface="游ゴシック" panose="020B0400000000000000" pitchFamily="50" charset="-128"/>
              </a:rPr>
              <a:t>QMS</a:t>
            </a:r>
            <a:r>
              <a:rPr kumimoji="1" lang="ja-JP" altLang="en-US" sz="1400" dirty="0">
                <a:latin typeface="游ゴシック" panose="020B0400000000000000" pitchFamily="50" charset="-128"/>
                <a:ea typeface="游ゴシック" panose="020B0400000000000000" pitchFamily="50" charset="-128"/>
              </a:rPr>
              <a:t>を合わせて取り組むことでより品質の高いシステムの構築を実現します。</a:t>
            </a:r>
          </a:p>
        </p:txBody>
      </p:sp>
      <p:sp>
        <p:nvSpPr>
          <p:cNvPr id="14" name="テキスト ボックス 13"/>
          <p:cNvSpPr txBox="1">
            <a:spLocks/>
          </p:cNvSpPr>
          <p:nvPr/>
        </p:nvSpPr>
        <p:spPr>
          <a:xfrm>
            <a:off x="216000" y="2941966"/>
            <a:ext cx="2808000" cy="288000"/>
          </a:xfrm>
          <a:prstGeom prst="rect">
            <a:avLst/>
          </a:prstGeom>
          <a:noFill/>
        </p:spPr>
        <p:txBody>
          <a:bodyPr wrap="square" rtlCol="0" anchor="ctr">
            <a:noAutofit/>
          </a:bodyP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出光開発標準 ＋ </a:t>
            </a:r>
            <a:r>
              <a:rPr lang="en-US" altLang="ja-JP" sz="1600" b="1" dirty="0">
                <a:solidFill>
                  <a:schemeClr val="accent1">
                    <a:lumMod val="50000"/>
                  </a:schemeClr>
                </a:solidFill>
                <a:latin typeface="游ゴシック" panose="020B0400000000000000" pitchFamily="50" charset="-128"/>
                <a:ea typeface="游ゴシック" panose="020B0400000000000000" pitchFamily="50" charset="-128"/>
              </a:rPr>
              <a:t>QMS</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6" name="テキスト ボックス 15"/>
          <p:cNvSpPr txBox="1">
            <a:spLocks/>
          </p:cNvSpPr>
          <p:nvPr/>
        </p:nvSpPr>
        <p:spPr>
          <a:xfrm>
            <a:off x="3168000" y="3445966"/>
            <a:ext cx="2808000" cy="2916000"/>
          </a:xfrm>
          <a:prstGeom prst="rect">
            <a:avLst/>
          </a:prstGeom>
          <a:noFill/>
        </p:spPr>
        <p:txBody>
          <a:bodyPr wrap="square" rtlCol="0">
            <a:noAutofit/>
          </a:bodyPr>
          <a:lstStyle/>
          <a:p>
            <a:pPr latinLnBrk="1"/>
            <a:r>
              <a:rPr kumimoji="1" lang="ja-JP" altLang="en-US" sz="1400" dirty="0">
                <a:latin typeface="游ゴシック" panose="020B0400000000000000" pitchFamily="50" charset="-128"/>
                <a:ea typeface="游ゴシック" panose="020B0400000000000000" pitchFamily="50" charset="-128"/>
              </a:rPr>
              <a:t>弊社は、</a:t>
            </a:r>
            <a:r>
              <a:rPr kumimoji="1" lang="en-US" altLang="ja-JP" sz="1400" dirty="0">
                <a:latin typeface="游ゴシック" panose="020B0400000000000000" pitchFamily="50" charset="-128"/>
                <a:ea typeface="游ゴシック" panose="020B0400000000000000" pitchFamily="50" charset="-128"/>
              </a:rPr>
              <a:t>VB</a:t>
            </a:r>
            <a:r>
              <a:rPr lang="ja-JP" altLang="en-US"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レガシー</a:t>
            </a:r>
            <a:r>
              <a:rPr kumimoji="1" lang="en-US" altLang="ja-JP" sz="1400" dirty="0">
                <a:latin typeface="游ゴシック" panose="020B0400000000000000" pitchFamily="50" charset="-128"/>
                <a:ea typeface="游ゴシック" panose="020B0400000000000000" pitchFamily="50" charset="-128"/>
              </a:rPr>
              <a:t>ASP</a:t>
            </a:r>
            <a:r>
              <a:rPr kumimoji="1" lang="ja-JP" altLang="en-US" sz="1400" dirty="0" err="1">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Excel</a:t>
            </a:r>
            <a:r>
              <a:rPr kumimoji="1" lang="ja-JP" altLang="en-US" sz="1400" dirty="0" err="1">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Access</a:t>
            </a:r>
            <a:r>
              <a:rPr lang="ja-JP" altLang="en-US" sz="1400" dirty="0">
                <a:latin typeface="游ゴシック" panose="020B0400000000000000" pitchFamily="50" charset="-128"/>
                <a:ea typeface="游ゴシック" panose="020B0400000000000000" pitchFamily="50" charset="-128"/>
              </a:rPr>
              <a:t>など</a:t>
            </a:r>
            <a:r>
              <a:rPr kumimoji="1" lang="ja-JP" altLang="en-US" sz="1400" dirty="0">
                <a:latin typeface="游ゴシック" panose="020B0400000000000000" pitchFamily="50" charset="-128"/>
                <a:ea typeface="游ゴシック" panose="020B0400000000000000" pitchFamily="50" charset="-128"/>
              </a:rPr>
              <a:t>から、</a:t>
            </a:r>
            <a:r>
              <a:rPr lang="en-US" altLang="ja-JP" sz="1400" b="1" dirty="0">
                <a:solidFill>
                  <a:schemeClr val="accent1"/>
                </a:solidFill>
                <a:latin typeface="游ゴシック" panose="020B0400000000000000" pitchFamily="50" charset="-128"/>
                <a:ea typeface="游ゴシック" panose="020B0400000000000000" pitchFamily="50" charset="-128"/>
              </a:rPr>
              <a:t>.NET</a:t>
            </a:r>
            <a:r>
              <a:rPr lang="ja-JP" altLang="en-US" sz="1400" b="1" dirty="0">
                <a:solidFill>
                  <a:schemeClr val="accent1"/>
                </a:solidFill>
                <a:latin typeface="游ゴシック" panose="020B0400000000000000" pitchFamily="50" charset="-128"/>
                <a:ea typeface="游ゴシック" panose="020B0400000000000000" pitchFamily="50" charset="-128"/>
              </a:rPr>
              <a:t>や</a:t>
            </a:r>
            <a:r>
              <a:rPr lang="en-US" altLang="ja-JP" sz="1400" b="1" dirty="0">
                <a:solidFill>
                  <a:schemeClr val="accent1"/>
                </a:solidFill>
                <a:latin typeface="游ゴシック" panose="020B0400000000000000" pitchFamily="50" charset="-128"/>
                <a:ea typeface="游ゴシック" panose="020B0400000000000000" pitchFamily="50" charset="-128"/>
              </a:rPr>
              <a:t>JAVA</a:t>
            </a:r>
            <a:r>
              <a:rPr lang="ja-JP" altLang="en-US" sz="1400" b="1" dirty="0">
                <a:solidFill>
                  <a:schemeClr val="accent1"/>
                </a:solidFill>
                <a:latin typeface="游ゴシック" panose="020B0400000000000000" pitchFamily="50" charset="-128"/>
                <a:ea typeface="游ゴシック" panose="020B0400000000000000" pitchFamily="50" charset="-128"/>
              </a:rPr>
              <a:t>などで再構築する案件を担当した実績が多数</a:t>
            </a:r>
            <a:r>
              <a:rPr lang="ja-JP" altLang="en-US" sz="1400" dirty="0">
                <a:latin typeface="游ゴシック" panose="020B0400000000000000" pitchFamily="50" charset="-128"/>
                <a:ea typeface="游ゴシック" panose="020B0400000000000000" pitchFamily="50" charset="-128"/>
              </a:rPr>
              <a:t>ございます。</a:t>
            </a:r>
            <a:endParaRPr lang="en-US" altLang="ja-JP" sz="1400" dirty="0">
              <a:latin typeface="游ゴシック" panose="020B0400000000000000" pitchFamily="50" charset="-128"/>
              <a:ea typeface="游ゴシック" panose="020B0400000000000000" pitchFamily="50" charset="-128"/>
            </a:endParaRPr>
          </a:p>
          <a:p>
            <a:pPr latinLnBrk="1"/>
            <a:r>
              <a:rPr lang="ja-JP" altLang="en-US" sz="1400" dirty="0">
                <a:latin typeface="游ゴシック" panose="020B0400000000000000" pitchFamily="50" charset="-128"/>
                <a:ea typeface="游ゴシック" panose="020B0400000000000000" pitchFamily="50" charset="-128"/>
              </a:rPr>
              <a:t>再構築（</a:t>
            </a:r>
            <a:r>
              <a:rPr lang="en-US" altLang="ja-JP" sz="1400" dirty="0">
                <a:latin typeface="游ゴシック" panose="020B0400000000000000" pitchFamily="50" charset="-128"/>
                <a:ea typeface="游ゴシック" panose="020B0400000000000000" pitchFamily="50" charset="-128"/>
              </a:rPr>
              <a:t> .NET</a:t>
            </a:r>
            <a:r>
              <a:rPr lang="ja-JP" altLang="en-US" sz="1400" dirty="0">
                <a:latin typeface="游ゴシック" panose="020B0400000000000000" pitchFamily="50" charset="-128"/>
                <a:ea typeface="游ゴシック" panose="020B0400000000000000" pitchFamily="50" charset="-128"/>
              </a:rPr>
              <a:t>化）する際の勘所を持ち合わせているだけでなく、貴社共通基盤とのやりとりなどにつきましても知見がございます。</a:t>
            </a:r>
            <a:endParaRPr lang="en-US" altLang="ja-JP" sz="1400" dirty="0">
              <a:latin typeface="游ゴシック" panose="020B0400000000000000" pitchFamily="50" charset="-128"/>
              <a:ea typeface="游ゴシック" panose="020B0400000000000000" pitchFamily="50" charset="-128"/>
            </a:endParaRPr>
          </a:p>
          <a:p>
            <a:pPr latinLnBrk="1"/>
            <a:r>
              <a:rPr kumimoji="1" lang="ja-JP" altLang="en-US" sz="1400" dirty="0">
                <a:latin typeface="游ゴシック" panose="020B0400000000000000" pitchFamily="50" charset="-128"/>
                <a:ea typeface="游ゴシック" panose="020B0400000000000000" pitchFamily="50" charset="-128"/>
              </a:rPr>
              <a:t>詳しくは、後述の「類似案件の実績」にて一覧化しておりますのでご参照ください。</a:t>
            </a:r>
          </a:p>
        </p:txBody>
      </p:sp>
      <p:sp>
        <p:nvSpPr>
          <p:cNvPr id="17" name="テキスト ボックス 16"/>
          <p:cNvSpPr txBox="1">
            <a:spLocks/>
          </p:cNvSpPr>
          <p:nvPr/>
        </p:nvSpPr>
        <p:spPr>
          <a:xfrm>
            <a:off x="3168000" y="2941966"/>
            <a:ext cx="2808000" cy="288000"/>
          </a:xfrm>
          <a:prstGeom prst="rect">
            <a:avLst/>
          </a:prstGeom>
          <a:noFill/>
        </p:spPr>
        <p:txBody>
          <a:bodyPr wrap="square" rtlCol="0" anchor="ctr">
            <a:noAutofit/>
          </a:bodyP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類似案件の実績</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nvGrpSpPr>
          <p:cNvPr id="5" name="グループ化 4"/>
          <p:cNvGrpSpPr/>
          <p:nvPr/>
        </p:nvGrpSpPr>
        <p:grpSpPr>
          <a:xfrm>
            <a:off x="6120000" y="1872000"/>
            <a:ext cx="2808000" cy="4489966"/>
            <a:chOff x="6192000" y="1872000"/>
            <a:chExt cx="2808000" cy="4489966"/>
          </a:xfrm>
        </p:grpSpPr>
        <p:sp>
          <p:nvSpPr>
            <p:cNvPr id="9" name="角丸四角形 8"/>
            <p:cNvSpPr/>
            <p:nvPr/>
          </p:nvSpPr>
          <p:spPr>
            <a:xfrm>
              <a:off x="6408000" y="1872000"/>
              <a:ext cx="2448000" cy="792000"/>
            </a:xfrm>
            <a:prstGeom prst="roundRect">
              <a:avLst>
                <a:gd name="adj" fmla="val 8018"/>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8" name="テキスト ボックス 17"/>
            <p:cNvSpPr txBox="1">
              <a:spLocks/>
            </p:cNvSpPr>
            <p:nvPr/>
          </p:nvSpPr>
          <p:spPr>
            <a:xfrm>
              <a:off x="6192000" y="3445966"/>
              <a:ext cx="2808000" cy="2916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貴社の化学事業における品質管理および製造工程管理の領域におきまして、開発・保守を担当させて頂いております。</a:t>
              </a:r>
              <a:endParaRPr lang="en-US" altLang="ja-JP" sz="1400" dirty="0">
                <a:latin typeface="游ゴシック" panose="020B0400000000000000" pitchFamily="50" charset="-128"/>
                <a:ea typeface="游ゴシック" panose="020B0400000000000000" pitchFamily="50" charset="-128"/>
              </a:endParaRPr>
            </a:p>
            <a:p>
              <a:r>
                <a:rPr lang="ja-JP" altLang="en-US" sz="1400" dirty="0">
                  <a:latin typeface="游ゴシック" panose="020B0400000000000000" pitchFamily="50" charset="-128"/>
                  <a:ea typeface="游ゴシック" panose="020B0400000000000000" pitchFamily="50" charset="-128"/>
                </a:rPr>
                <a:t>これまでの担当実績により習得した</a:t>
              </a:r>
              <a:r>
                <a:rPr lang="en-US" altLang="ja-JP" sz="1400" dirty="0">
                  <a:latin typeface="游ゴシック" panose="020B0400000000000000" pitchFamily="50" charset="-128"/>
                  <a:ea typeface="游ゴシック" panose="020B0400000000000000" pitchFamily="50" charset="-128"/>
                </a:rPr>
                <a:t>MES</a:t>
              </a:r>
              <a:r>
                <a:rPr lang="ja-JP" altLang="en-US" sz="1400" dirty="0">
                  <a:latin typeface="游ゴシック" panose="020B0400000000000000" pitchFamily="50" charset="-128"/>
                  <a:ea typeface="游ゴシック" panose="020B0400000000000000" pitchFamily="50" charset="-128"/>
                </a:rPr>
                <a:t>の業務知識やノウハウを活かし、周辺システムとも密に連携したテスト方法をご提案します。</a:t>
              </a:r>
              <a:endParaRPr lang="en-US" altLang="ja-JP" sz="1400" dirty="0">
                <a:latin typeface="游ゴシック" panose="020B0400000000000000" pitchFamily="50" charset="-128"/>
                <a:ea typeface="游ゴシック" panose="020B0400000000000000" pitchFamily="50" charset="-128"/>
              </a:endParaRPr>
            </a:p>
            <a:p>
              <a:r>
                <a:rPr lang="ja-JP" altLang="en-US" sz="1400" dirty="0">
                  <a:latin typeface="游ゴシック" panose="020B0400000000000000" pitchFamily="50" charset="-128"/>
                  <a:ea typeface="游ゴシック" panose="020B0400000000000000" pitchFamily="50" charset="-128"/>
                </a:rPr>
                <a:t>後述の「千葉運転管理システムの位置づけ」にて弊社担当システムを表記しておりますのでご確認ください。</a:t>
              </a:r>
              <a:endParaRPr lang="en-US" altLang="ja-JP" sz="1400" dirty="0">
                <a:latin typeface="游ゴシック" panose="020B0400000000000000" pitchFamily="50" charset="-128"/>
                <a:ea typeface="游ゴシック" panose="020B0400000000000000" pitchFamily="50" charset="-128"/>
              </a:endParaRPr>
            </a:p>
          </p:txBody>
        </p:sp>
        <p:sp>
          <p:nvSpPr>
            <p:cNvPr id="19" name="テキスト ボックス 18"/>
            <p:cNvSpPr txBox="1">
              <a:spLocks/>
            </p:cNvSpPr>
            <p:nvPr/>
          </p:nvSpPr>
          <p:spPr>
            <a:xfrm>
              <a:off x="6192000" y="2941966"/>
              <a:ext cx="2808000" cy="288000"/>
            </a:xfrm>
            <a:prstGeom prst="rect">
              <a:avLst/>
            </a:prstGeom>
            <a:noFill/>
          </p:spPr>
          <p:txBody>
            <a:bodyPr wrap="square" rtlCol="0" anchor="ctr">
              <a:noAutofit/>
            </a:bodyPr>
            <a:lstStyle/>
            <a:p>
              <a:pPr algn="ctr"/>
              <a:r>
                <a:rPr lang="en-US" altLang="ja-JP" sz="1600" b="1" dirty="0">
                  <a:solidFill>
                    <a:schemeClr val="accent1">
                      <a:lumMod val="50000"/>
                    </a:schemeClr>
                  </a:solidFill>
                  <a:latin typeface="游ゴシック" panose="020B0400000000000000" pitchFamily="50" charset="-128"/>
                  <a:ea typeface="游ゴシック" panose="020B0400000000000000" pitchFamily="50" charset="-128"/>
                </a:rPr>
                <a:t>MES</a:t>
              </a: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領域の実績</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pic>
        <p:nvPicPr>
          <p:cNvPr id="20" name="図 19"/>
          <p:cNvPicPr>
            <a:picLocks noChangeAspect="1"/>
          </p:cNvPicPr>
          <p:nvPr/>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380000" y="2016000"/>
            <a:ext cx="504000" cy="504000"/>
          </a:xfrm>
          <a:prstGeom prst="rect">
            <a:avLst/>
          </a:prstGeom>
        </p:spPr>
      </p:pic>
      <p:pic>
        <p:nvPicPr>
          <p:cNvPr id="21" name="図 20"/>
          <p:cNvPicPr>
            <a:picLocks noChangeAspect="1"/>
          </p:cNvPicPr>
          <p:nvPr/>
        </p:nvPicPr>
        <p:blipFill>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338552" y="2016000"/>
            <a:ext cx="466896" cy="504000"/>
          </a:xfrm>
          <a:prstGeom prst="rect">
            <a:avLst/>
          </a:prstGeom>
        </p:spPr>
      </p:pic>
      <p:sp>
        <p:nvSpPr>
          <p:cNvPr id="22" name="テキスト ボックス 21"/>
          <p:cNvSpPr txBox="1"/>
          <p:nvPr/>
        </p:nvSpPr>
        <p:spPr>
          <a:xfrm>
            <a:off x="3931248" y="2039600"/>
            <a:ext cx="434734" cy="307777"/>
          </a:xfrm>
          <a:prstGeom prst="rect">
            <a:avLst/>
          </a:prstGeom>
          <a:noFill/>
        </p:spPr>
        <p:txBody>
          <a:bodyPr wrap="none" rtlCol="0">
            <a:spAutoFit/>
          </a:bodyPr>
          <a:lstStyle/>
          <a:p>
            <a:r>
              <a:rPr kumimoji="1" lang="en-US" altLang="ja-JP" sz="1400" b="1" dirty="0">
                <a:solidFill>
                  <a:schemeClr val="bg1"/>
                </a:solidFill>
                <a:latin typeface="游ゴシック" panose="020B0400000000000000" pitchFamily="50" charset="-128"/>
                <a:ea typeface="游ゴシック" panose="020B0400000000000000" pitchFamily="50" charset="-128"/>
              </a:rPr>
              <a:t>VB</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23" name="テキスト ボックス 22"/>
          <p:cNvSpPr txBox="1"/>
          <p:nvPr/>
        </p:nvSpPr>
        <p:spPr>
          <a:xfrm>
            <a:off x="4770280" y="2229396"/>
            <a:ext cx="609462" cy="307777"/>
          </a:xfrm>
          <a:prstGeom prst="rect">
            <a:avLst/>
          </a:prstGeom>
          <a:noFill/>
        </p:spPr>
        <p:txBody>
          <a:bodyPr wrap="none" rtlCol="0">
            <a:spAutoFit/>
          </a:bodyPr>
          <a:lstStyle/>
          <a:p>
            <a:r>
              <a:rPr kumimoji="1" lang="en-US" altLang="ja-JP" sz="1400" b="1" dirty="0">
                <a:solidFill>
                  <a:schemeClr val="bg1"/>
                </a:solidFill>
                <a:latin typeface="游ゴシック" panose="020B0400000000000000" pitchFamily="50" charset="-128"/>
                <a:ea typeface="游ゴシック" panose="020B0400000000000000" pitchFamily="50" charset="-128"/>
              </a:rPr>
              <a:t>.NET</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99741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貴社開発標準に則った</a:t>
            </a:r>
            <a:r>
              <a:rPr kumimoji="1" lang="ja-JP" altLang="en-US" dirty="0"/>
              <a:t>開発プロセス</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a:t>
            </a:fld>
            <a:endParaRPr kumimoji="1" lang="ja-JP" altLang="en-US"/>
          </a:p>
        </p:txBody>
      </p:sp>
      <p:sp>
        <p:nvSpPr>
          <p:cNvPr id="6" name="テキスト ボックス 5"/>
          <p:cNvSpPr txBox="1">
            <a:spLocks/>
          </p:cNvSpPr>
          <p:nvPr/>
        </p:nvSpPr>
        <p:spPr>
          <a:xfrm>
            <a:off x="144000" y="1080000"/>
            <a:ext cx="8856000" cy="576000"/>
          </a:xfrm>
          <a:prstGeom prst="rect">
            <a:avLst/>
          </a:prstGeom>
          <a:noFill/>
        </p:spPr>
        <p:txBody>
          <a:bodyPr wrap="square" rtlCol="0">
            <a:noAutofit/>
          </a:bodyPr>
          <a:lstStyle/>
          <a:p>
            <a:pPr algn="ctr">
              <a:lnSpc>
                <a:spcPts val="2100"/>
              </a:lnSpc>
              <a:defRPr sz="1000"/>
            </a:pPr>
            <a:r>
              <a:rPr lang="ja-JP" altLang="en-US" sz="1400" dirty="0">
                <a:latin typeface="游ゴシック" panose="020B0400000000000000" pitchFamily="50" charset="-128"/>
                <a:ea typeface="游ゴシック" panose="020B0400000000000000" pitchFamily="50" charset="-128"/>
              </a:rPr>
              <a:t>貴社「出光開発標準」に即してプロジェクトを進めてまいります。</a:t>
            </a:r>
            <a:endParaRPr lang="en-US" altLang="ja-JP" sz="1400" dirty="0">
              <a:latin typeface="游ゴシック" panose="020B0400000000000000" pitchFamily="50" charset="-128"/>
              <a:ea typeface="游ゴシック" panose="020B0400000000000000" pitchFamily="50" charset="-128"/>
            </a:endParaRPr>
          </a:p>
          <a:p>
            <a:pPr algn="ctr">
              <a:lnSpc>
                <a:spcPts val="2100"/>
              </a:lnSpc>
              <a:defRPr sz="1000"/>
            </a:pPr>
            <a:r>
              <a:rPr lang="ja-JP" altLang="en-US" sz="1400" dirty="0">
                <a:solidFill>
                  <a:srgbClr val="000000"/>
                </a:solidFill>
                <a:latin typeface="游ゴシック" panose="020B0400000000000000" pitchFamily="50" charset="-128"/>
                <a:ea typeface="游ゴシック" panose="020B0400000000000000" pitchFamily="50" charset="-128"/>
              </a:rPr>
              <a:t>それにより、貴社・弊社の両社において開発の最終目的とそこに至るまでの確認内容を明確にします。</a:t>
            </a:r>
          </a:p>
        </p:txBody>
      </p:sp>
      <p:sp>
        <p:nvSpPr>
          <p:cNvPr id="31" name="正方形/長方形 30"/>
          <p:cNvSpPr/>
          <p:nvPr/>
        </p:nvSpPr>
        <p:spPr>
          <a:xfrm>
            <a:off x="144000" y="5724000"/>
            <a:ext cx="8856644" cy="648000"/>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square" lIns="36000" tIns="0" rIns="36000" bIns="0" rtlCol="0" anchor="b"/>
          <a:lstStyle/>
          <a:p>
            <a:pPr marL="285750" indent="-2857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上記は、「出光開発標準」から抜粋させて頂き記載しております。</a:t>
            </a:r>
          </a:p>
          <a:p>
            <a:pPr marL="285750" indent="-2857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プログラム構造設計</a:t>
            </a:r>
            <a:r>
              <a:rPr lang="en-US" altLang="ja-JP" sz="1200" dirty="0">
                <a:latin typeface="游ゴシック" panose="020B0400000000000000" pitchFamily="50" charset="-128"/>
                <a:ea typeface="游ゴシック" panose="020B0400000000000000" pitchFamily="50" charset="-128"/>
              </a:rPr>
              <a:t>(PS)</a:t>
            </a:r>
            <a:r>
              <a:rPr lang="ja-JP" altLang="en-US" sz="1200" dirty="0">
                <a:latin typeface="游ゴシック" panose="020B0400000000000000" pitchFamily="50" charset="-128"/>
                <a:ea typeface="游ゴシック" panose="020B0400000000000000" pitchFamily="50" charset="-128"/>
              </a:rPr>
              <a:t>・プログラミング</a:t>
            </a:r>
            <a:r>
              <a:rPr lang="en-US" altLang="ja-JP" sz="1200" dirty="0">
                <a:latin typeface="游ゴシック" panose="020B0400000000000000" pitchFamily="50" charset="-128"/>
                <a:ea typeface="游ゴシック" panose="020B0400000000000000" pitchFamily="50" charset="-128"/>
              </a:rPr>
              <a:t>(PG)</a:t>
            </a:r>
            <a:r>
              <a:rPr lang="ja-JP" altLang="en-US" sz="1200" dirty="0">
                <a:latin typeface="游ゴシック" panose="020B0400000000000000" pitchFamily="50" charset="-128"/>
                <a:ea typeface="游ゴシック" panose="020B0400000000000000" pitchFamily="50" charset="-128"/>
              </a:rPr>
              <a:t>・プログラムテスト</a:t>
            </a:r>
            <a:r>
              <a:rPr lang="en-US" altLang="ja-JP" sz="1200" dirty="0">
                <a:latin typeface="游ゴシック" panose="020B0400000000000000" pitchFamily="50" charset="-128"/>
                <a:ea typeface="游ゴシック" panose="020B0400000000000000" pitchFamily="50" charset="-128"/>
              </a:rPr>
              <a:t>(PT)</a:t>
            </a:r>
            <a:r>
              <a:rPr lang="ja-JP" altLang="en-US" sz="1200" dirty="0">
                <a:latin typeface="游ゴシック" panose="020B0400000000000000" pitchFamily="50" charset="-128"/>
                <a:ea typeface="游ゴシック" panose="020B0400000000000000" pitchFamily="50" charset="-128"/>
              </a:rPr>
              <a:t>につきまして、本書では、以降、３つのプロセスを総称してプログラミング</a:t>
            </a:r>
            <a:r>
              <a:rPr lang="en-US" altLang="ja-JP" sz="1200" dirty="0">
                <a:latin typeface="游ゴシック" panose="020B0400000000000000" pitchFamily="50" charset="-128"/>
                <a:ea typeface="游ゴシック" panose="020B0400000000000000" pitchFamily="50" charset="-128"/>
              </a:rPr>
              <a:t>(PS/PG/PT)</a:t>
            </a:r>
            <a:r>
              <a:rPr lang="ja-JP" altLang="en-US" sz="1200" dirty="0">
                <a:latin typeface="游ゴシック" panose="020B0400000000000000" pitchFamily="50" charset="-128"/>
                <a:ea typeface="游ゴシック" panose="020B0400000000000000" pitchFamily="50" charset="-128"/>
              </a:rPr>
              <a:t>と記載します。</a:t>
            </a:r>
            <a:endParaRPr lang="en-US" altLang="ja-JP" sz="1200" dirty="0">
              <a:latin typeface="游ゴシック" panose="020B0400000000000000" pitchFamily="50" charset="-128"/>
              <a:ea typeface="游ゴシック" panose="020B0400000000000000" pitchFamily="50" charset="-128"/>
            </a:endParaRPr>
          </a:p>
        </p:txBody>
      </p:sp>
      <p:sp>
        <p:nvSpPr>
          <p:cNvPr id="7" name="角丸四角形 6"/>
          <p:cNvSpPr/>
          <p:nvPr/>
        </p:nvSpPr>
        <p:spPr>
          <a:xfrm>
            <a:off x="216000" y="1980000"/>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目的の明確化</a:t>
            </a:r>
            <a:endParaRPr kumimoji="1" lang="ja-JP" altLang="en-US" sz="1600" b="1" dirty="0">
              <a:latin typeface="游ゴシック" panose="020B0400000000000000" pitchFamily="50" charset="-128"/>
              <a:ea typeface="游ゴシック" panose="020B0400000000000000" pitchFamily="50" charset="-128"/>
            </a:endParaRPr>
          </a:p>
        </p:txBody>
      </p:sp>
      <p:sp>
        <p:nvSpPr>
          <p:cNvPr id="46" name="角丸四角形 45"/>
          <p:cNvSpPr/>
          <p:nvPr/>
        </p:nvSpPr>
        <p:spPr>
          <a:xfrm>
            <a:off x="6840000" y="1980000"/>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工程完了基準の統一</a:t>
            </a:r>
            <a:endParaRPr kumimoji="1" lang="ja-JP" altLang="en-US" sz="1600" b="1" dirty="0">
              <a:latin typeface="游ゴシック" panose="020B0400000000000000" pitchFamily="50" charset="-128"/>
              <a:ea typeface="游ゴシック" panose="020B0400000000000000" pitchFamily="50" charset="-128"/>
            </a:endParaRPr>
          </a:p>
        </p:txBody>
      </p:sp>
      <p:sp>
        <p:nvSpPr>
          <p:cNvPr id="47" name="角丸四角形 46"/>
          <p:cNvSpPr/>
          <p:nvPr/>
        </p:nvSpPr>
        <p:spPr>
          <a:xfrm>
            <a:off x="2424000" y="1980000"/>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作業漏れの防止</a:t>
            </a:r>
            <a:endParaRPr kumimoji="1" lang="ja-JP" altLang="en-US" sz="1600" b="1" dirty="0">
              <a:latin typeface="游ゴシック" panose="020B0400000000000000" pitchFamily="50" charset="-128"/>
              <a:ea typeface="游ゴシック" panose="020B0400000000000000" pitchFamily="50" charset="-128"/>
            </a:endParaRPr>
          </a:p>
        </p:txBody>
      </p:sp>
      <p:sp>
        <p:nvSpPr>
          <p:cNvPr id="48" name="角丸四角形 47"/>
          <p:cNvSpPr/>
          <p:nvPr/>
        </p:nvSpPr>
        <p:spPr>
          <a:xfrm>
            <a:off x="4632000" y="1980000"/>
            <a:ext cx="2088000" cy="576000"/>
          </a:xfrm>
          <a:prstGeom prst="roundRect">
            <a:avLst>
              <a:gd name="adj" fmla="val 11024"/>
            </a:avLst>
          </a:prstGeom>
          <a:solidFill>
            <a:schemeClr val="accent1">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役割分担の明確化</a:t>
            </a:r>
            <a:endParaRPr kumimoji="1" lang="ja-JP" altLang="en-US" sz="1600" b="1" dirty="0">
              <a:latin typeface="游ゴシック" panose="020B0400000000000000" pitchFamily="50" charset="-128"/>
              <a:ea typeface="游ゴシック" panose="020B0400000000000000" pitchFamily="50" charset="-128"/>
            </a:endParaRPr>
          </a:p>
        </p:txBody>
      </p:sp>
      <p:grpSp>
        <p:nvGrpSpPr>
          <p:cNvPr id="11" name="グループ化 10"/>
          <p:cNvGrpSpPr/>
          <p:nvPr/>
        </p:nvGrpSpPr>
        <p:grpSpPr>
          <a:xfrm>
            <a:off x="215999" y="2700000"/>
            <a:ext cx="8712000" cy="2880000"/>
            <a:chOff x="215999" y="2700000"/>
            <a:chExt cx="8712000" cy="2880000"/>
          </a:xfrm>
        </p:grpSpPr>
        <p:sp>
          <p:nvSpPr>
            <p:cNvPr id="3" name="正方形/長方形 2"/>
            <p:cNvSpPr/>
            <p:nvPr/>
          </p:nvSpPr>
          <p:spPr>
            <a:xfrm>
              <a:off x="215999" y="2700000"/>
              <a:ext cx="8712000" cy="288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cxnSp>
          <p:nvCxnSpPr>
            <p:cNvPr id="25" name="直線コネクタ 24"/>
            <p:cNvCxnSpPr/>
            <p:nvPr/>
          </p:nvCxnSpPr>
          <p:spPr>
            <a:xfrm>
              <a:off x="2958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flipH="1">
              <a:off x="5334862" y="3168001"/>
              <a:ext cx="2376000" cy="2088000"/>
            </a:xfrm>
            <a:prstGeom prst="line">
              <a:avLst/>
            </a:prstGeom>
            <a:ln w="317500" cap="rnd">
              <a:solidFill>
                <a:schemeClr val="accent2">
                  <a:lumMod val="40000"/>
                  <a:lumOff val="60000"/>
                </a:schemeClr>
              </a:solidFill>
              <a:round/>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2520000" y="3600001"/>
              <a:ext cx="1476000" cy="360000"/>
            </a:xfrm>
            <a:prstGeom prst="rect">
              <a:avLst/>
            </a:prstGeom>
            <a:noFill/>
          </p:spPr>
          <p:txBody>
            <a:bodyPr wrap="none" rtlCol="0" anchor="ctr">
              <a:noAutofit/>
            </a:bodyPr>
            <a:lstStyle/>
            <a:p>
              <a:pPr algn="r"/>
              <a:r>
                <a:rPr kumimoji="1" lang="ja-JP" altLang="en-US" sz="1400" b="1" dirty="0">
                  <a:latin typeface="游ゴシック" panose="020B0400000000000000" pitchFamily="50" charset="-128"/>
                  <a:ea typeface="游ゴシック" panose="020B0400000000000000" pitchFamily="50" charset="-128"/>
                </a:rPr>
                <a:t>ユーザインタフェース設計</a:t>
              </a:r>
              <a:r>
                <a:rPr kumimoji="1" lang="en-US" altLang="ja-JP" sz="1400" b="1" dirty="0">
                  <a:latin typeface="游ゴシック" panose="020B0400000000000000" pitchFamily="50" charset="-128"/>
                  <a:ea typeface="游ゴシック" panose="020B0400000000000000" pitchFamily="50" charset="-128"/>
                </a:rPr>
                <a:t>(UI)</a:t>
              </a:r>
              <a:endParaRPr kumimoji="1" lang="ja-JP" altLang="en-US" sz="1400" b="1" dirty="0">
                <a:latin typeface="游ゴシック" panose="020B0400000000000000" pitchFamily="50" charset="-128"/>
                <a:ea typeface="游ゴシック" panose="020B0400000000000000" pitchFamily="50" charset="-128"/>
              </a:endParaRPr>
            </a:p>
          </p:txBody>
        </p:sp>
        <p:sp>
          <p:nvSpPr>
            <p:cNvPr id="9" name="テキスト ボックス 8"/>
            <p:cNvSpPr txBox="1"/>
            <p:nvPr/>
          </p:nvSpPr>
          <p:spPr>
            <a:xfrm>
              <a:off x="3132000" y="4176000"/>
              <a:ext cx="1476000" cy="360000"/>
            </a:xfrm>
            <a:prstGeom prst="rect">
              <a:avLst/>
            </a:prstGeom>
            <a:noFill/>
          </p:spPr>
          <p:txBody>
            <a:bodyPr wrap="none" rtlCol="0" anchor="ctr">
              <a:noAutofit/>
            </a:bodyPr>
            <a:lstStyle/>
            <a:p>
              <a:pPr algn="r"/>
              <a:r>
                <a:rPr lang="ja-JP" altLang="en-US" sz="1400" b="1" dirty="0">
                  <a:latin typeface="游ゴシック" panose="020B0400000000000000" pitchFamily="50" charset="-128"/>
                  <a:ea typeface="游ゴシック" panose="020B0400000000000000" pitchFamily="50" charset="-128"/>
                </a:rPr>
                <a:t>システム構造設計</a:t>
              </a:r>
              <a:r>
                <a:rPr lang="en-US" altLang="ja-JP" sz="1400" b="1" dirty="0">
                  <a:latin typeface="游ゴシック" panose="020B0400000000000000" pitchFamily="50" charset="-128"/>
                  <a:ea typeface="游ゴシック" panose="020B0400000000000000" pitchFamily="50" charset="-128"/>
                </a:rPr>
                <a:t>(SS)</a:t>
              </a:r>
              <a:endParaRPr kumimoji="1" lang="ja-JP" altLang="en-US" sz="1400" b="1" dirty="0">
                <a:latin typeface="游ゴシック" panose="020B0400000000000000" pitchFamily="50" charset="-128"/>
                <a:ea typeface="游ゴシック" panose="020B0400000000000000" pitchFamily="50" charset="-128"/>
              </a:endParaRPr>
            </a:p>
          </p:txBody>
        </p:sp>
        <p:sp>
          <p:nvSpPr>
            <p:cNvPr id="10" name="テキスト ボックス 9"/>
            <p:cNvSpPr txBox="1"/>
            <p:nvPr/>
          </p:nvSpPr>
          <p:spPr>
            <a:xfrm>
              <a:off x="3708000" y="4752000"/>
              <a:ext cx="1476000" cy="360000"/>
            </a:xfrm>
            <a:prstGeom prst="rect">
              <a:avLst/>
            </a:prstGeom>
            <a:noFill/>
          </p:spPr>
          <p:txBody>
            <a:bodyPr wrap="none" rtlCol="0" anchor="ctr">
              <a:noAutofit/>
            </a:bodyPr>
            <a:lstStyle/>
            <a:p>
              <a:pPr algn="r"/>
              <a:r>
                <a:rPr lang="ja-JP" altLang="en-US" sz="1400" b="1" dirty="0">
                  <a:latin typeface="游ゴシック" panose="020B0400000000000000" pitchFamily="50" charset="-128"/>
                  <a:ea typeface="游ゴシック" panose="020B0400000000000000" pitchFamily="50" charset="-128"/>
                </a:rPr>
                <a:t>プログラム構造設計</a:t>
              </a:r>
              <a:r>
                <a:rPr lang="en-US" altLang="ja-JP" sz="1400" b="1" dirty="0">
                  <a:latin typeface="游ゴシック" panose="020B0400000000000000" pitchFamily="50" charset="-128"/>
                  <a:ea typeface="游ゴシック" panose="020B0400000000000000" pitchFamily="50" charset="-128"/>
                </a:rPr>
                <a:t>(PS)</a:t>
              </a:r>
              <a:endParaRPr kumimoji="1" lang="ja-JP" altLang="en-US" sz="1400" b="1" dirty="0">
                <a:latin typeface="游ゴシック" panose="020B0400000000000000" pitchFamily="50" charset="-128"/>
                <a:ea typeface="游ゴシック" panose="020B0400000000000000" pitchFamily="50" charset="-128"/>
              </a:endParaRPr>
            </a:p>
          </p:txBody>
        </p:sp>
        <p:sp>
          <p:nvSpPr>
            <p:cNvPr id="12" name="テキスト ボックス 11"/>
            <p:cNvSpPr txBox="1"/>
            <p:nvPr/>
          </p:nvSpPr>
          <p:spPr>
            <a:xfrm>
              <a:off x="5508000" y="4752000"/>
              <a:ext cx="1476000" cy="360000"/>
            </a:xfrm>
            <a:prstGeom prst="rect">
              <a:avLst/>
            </a:prstGeom>
            <a:noFill/>
          </p:spPr>
          <p:txBody>
            <a:bodyPr wrap="none" rtlCol="0" anchor="ctr">
              <a:noAutofit/>
            </a:bodyPr>
            <a:lstStyle/>
            <a:p>
              <a:r>
                <a:rPr lang="ja-JP" altLang="en-US" sz="1400" b="1" dirty="0">
                  <a:latin typeface="游ゴシック" panose="020B0400000000000000" pitchFamily="50" charset="-128"/>
                  <a:ea typeface="游ゴシック" panose="020B0400000000000000" pitchFamily="50" charset="-128"/>
                </a:rPr>
                <a:t>プログラムテスト</a:t>
              </a:r>
              <a:r>
                <a:rPr lang="en-US" altLang="ja-JP" sz="1400" b="1" dirty="0">
                  <a:latin typeface="游ゴシック" panose="020B0400000000000000" pitchFamily="50" charset="-128"/>
                  <a:ea typeface="游ゴシック" panose="020B0400000000000000" pitchFamily="50" charset="-128"/>
                </a:rPr>
                <a:t>(PT)</a:t>
              </a:r>
              <a:endParaRPr kumimoji="1" lang="ja-JP" altLang="en-US" sz="1400" b="1" dirty="0">
                <a:latin typeface="游ゴシック" panose="020B0400000000000000" pitchFamily="50" charset="-128"/>
                <a:ea typeface="游ゴシック" panose="020B0400000000000000" pitchFamily="50" charset="-128"/>
              </a:endParaRPr>
            </a:p>
          </p:txBody>
        </p:sp>
        <p:sp>
          <p:nvSpPr>
            <p:cNvPr id="13" name="テキスト ボックス 12"/>
            <p:cNvSpPr txBox="1"/>
            <p:nvPr/>
          </p:nvSpPr>
          <p:spPr>
            <a:xfrm>
              <a:off x="6084000" y="4176000"/>
              <a:ext cx="1476000" cy="360000"/>
            </a:xfrm>
            <a:prstGeom prst="rect">
              <a:avLst/>
            </a:prstGeom>
            <a:noFill/>
          </p:spPr>
          <p:txBody>
            <a:bodyPr wrap="none" rtlCol="0" anchor="ctr">
              <a:noAutofit/>
            </a:bodyPr>
            <a:lstStyle/>
            <a:p>
              <a:r>
                <a:rPr lang="ja-JP" altLang="en-US" sz="1400" b="1" dirty="0">
                  <a:latin typeface="游ゴシック" panose="020B0400000000000000" pitchFamily="50" charset="-128"/>
                  <a:ea typeface="游ゴシック" panose="020B0400000000000000" pitchFamily="50" charset="-128"/>
                </a:rPr>
                <a:t>結合テスト</a:t>
              </a:r>
              <a:r>
                <a:rPr lang="en-US" altLang="ja-JP" sz="1400" b="1" dirty="0">
                  <a:latin typeface="游ゴシック" panose="020B0400000000000000" pitchFamily="50" charset="-128"/>
                  <a:ea typeface="游ゴシック" panose="020B0400000000000000" pitchFamily="50" charset="-128"/>
                </a:rPr>
                <a:t>(IT)</a:t>
              </a:r>
              <a:endParaRPr kumimoji="1" lang="ja-JP" altLang="en-US" sz="1400" b="1" dirty="0">
                <a:latin typeface="游ゴシック" panose="020B0400000000000000" pitchFamily="50" charset="-128"/>
                <a:ea typeface="游ゴシック" panose="020B0400000000000000" pitchFamily="50" charset="-128"/>
              </a:endParaRPr>
            </a:p>
          </p:txBody>
        </p:sp>
        <p:sp>
          <p:nvSpPr>
            <p:cNvPr id="14" name="テキスト ボックス 13"/>
            <p:cNvSpPr txBox="1"/>
            <p:nvPr/>
          </p:nvSpPr>
          <p:spPr>
            <a:xfrm>
              <a:off x="6660000" y="3600001"/>
              <a:ext cx="1476000" cy="360000"/>
            </a:xfrm>
            <a:prstGeom prst="rect">
              <a:avLst/>
            </a:prstGeom>
            <a:noFill/>
          </p:spPr>
          <p:txBody>
            <a:bodyPr wrap="none" rtlCol="0" anchor="ctr">
              <a:noAutofit/>
            </a:bodyPr>
            <a:lstStyle/>
            <a:p>
              <a:r>
                <a:rPr lang="ja-JP" altLang="en-US" sz="1400" b="1" dirty="0">
                  <a:latin typeface="游ゴシック" panose="020B0400000000000000" pitchFamily="50" charset="-128"/>
                  <a:ea typeface="游ゴシック" panose="020B0400000000000000" pitchFamily="50" charset="-128"/>
                </a:rPr>
                <a:t>システムテスト</a:t>
              </a:r>
              <a:r>
                <a:rPr lang="en-US" altLang="ja-JP" sz="1400" b="1" dirty="0">
                  <a:latin typeface="游ゴシック" panose="020B0400000000000000" pitchFamily="50" charset="-128"/>
                  <a:ea typeface="游ゴシック" panose="020B0400000000000000" pitchFamily="50" charset="-128"/>
                </a:rPr>
                <a:t>(ST)</a:t>
              </a:r>
              <a:endParaRPr kumimoji="1" lang="ja-JP" altLang="en-US" sz="1400" b="1" dirty="0">
                <a:latin typeface="游ゴシック" panose="020B0400000000000000" pitchFamily="50" charset="-128"/>
                <a:ea typeface="游ゴシック" panose="020B0400000000000000" pitchFamily="50" charset="-128"/>
              </a:endParaRPr>
            </a:p>
          </p:txBody>
        </p:sp>
        <p:sp>
          <p:nvSpPr>
            <p:cNvPr id="16" name="テキスト ボックス 15"/>
            <p:cNvSpPr txBox="1"/>
            <p:nvPr/>
          </p:nvSpPr>
          <p:spPr>
            <a:xfrm>
              <a:off x="432000" y="2808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業務</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7" name="テキスト ボックス 16"/>
            <p:cNvSpPr txBox="1"/>
            <p:nvPr/>
          </p:nvSpPr>
          <p:spPr>
            <a:xfrm>
              <a:off x="432000" y="3384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システム</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8" name="テキスト ボックス 17"/>
            <p:cNvSpPr txBox="1"/>
            <p:nvPr/>
          </p:nvSpPr>
          <p:spPr>
            <a:xfrm>
              <a:off x="432000" y="3960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プロセス</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21" name="直線コネクタ 20"/>
            <p:cNvCxnSpPr/>
            <p:nvPr/>
          </p:nvCxnSpPr>
          <p:spPr>
            <a:xfrm>
              <a:off x="431999" y="3384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コネクタ 21"/>
            <p:cNvCxnSpPr/>
            <p:nvPr/>
          </p:nvCxnSpPr>
          <p:spPr>
            <a:xfrm>
              <a:off x="432000" y="3960001"/>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a:off x="432000" y="4536000"/>
              <a:ext cx="8280000" cy="0"/>
            </a:xfrm>
            <a:prstGeom prst="line">
              <a:avLst/>
            </a:prstGeom>
            <a:ln w="19050">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33" name="テキスト ボックス 32"/>
            <p:cNvSpPr txBox="1"/>
            <p:nvPr/>
          </p:nvSpPr>
          <p:spPr>
            <a:xfrm>
              <a:off x="1944000" y="3024000"/>
              <a:ext cx="1476000" cy="360000"/>
            </a:xfrm>
            <a:prstGeom prst="rect">
              <a:avLst/>
            </a:prstGeom>
            <a:noFill/>
          </p:spPr>
          <p:txBody>
            <a:bodyPr wrap="none" rtlCol="0" anchor="ctr">
              <a:noAutofit/>
            </a:bodyPr>
            <a:lstStyle/>
            <a:p>
              <a:pPr algn="r"/>
              <a:r>
                <a:rPr kumimoji="1" lang="ja-JP" altLang="en-US" sz="1400" b="1" dirty="0">
                  <a:latin typeface="游ゴシック" panose="020B0400000000000000" pitchFamily="50" charset="-128"/>
                  <a:ea typeface="游ゴシック" panose="020B0400000000000000" pitchFamily="50" charset="-128"/>
                </a:rPr>
                <a:t>システム方式設計</a:t>
              </a:r>
              <a:r>
                <a:rPr kumimoji="1" lang="en-US" altLang="ja-JP" sz="1400" b="1" dirty="0">
                  <a:latin typeface="游ゴシック" panose="020B0400000000000000" pitchFamily="50" charset="-128"/>
                  <a:ea typeface="游ゴシック" panose="020B0400000000000000" pitchFamily="50" charset="-128"/>
                </a:rPr>
                <a:t>(SA)</a:t>
              </a:r>
              <a:endParaRPr kumimoji="1" lang="ja-JP" altLang="en-US" sz="1400" b="1" dirty="0">
                <a:latin typeface="游ゴシック" panose="020B0400000000000000" pitchFamily="50" charset="-128"/>
                <a:ea typeface="游ゴシック" panose="020B0400000000000000" pitchFamily="50" charset="-128"/>
              </a:endParaRPr>
            </a:p>
          </p:txBody>
        </p:sp>
        <p:sp>
          <p:nvSpPr>
            <p:cNvPr id="34" name="テキスト ボックス 33"/>
            <p:cNvSpPr txBox="1"/>
            <p:nvPr/>
          </p:nvSpPr>
          <p:spPr>
            <a:xfrm>
              <a:off x="7236000" y="3024000"/>
              <a:ext cx="1476000" cy="360000"/>
            </a:xfrm>
            <a:prstGeom prst="rect">
              <a:avLst/>
            </a:prstGeom>
            <a:noFill/>
          </p:spPr>
          <p:txBody>
            <a:bodyPr wrap="none" rtlCol="0" anchor="ctr">
              <a:noAutofit/>
            </a:bodyPr>
            <a:lstStyle/>
            <a:p>
              <a:r>
                <a:rPr lang="ja-JP" altLang="en-US" sz="1400" b="1" dirty="0">
                  <a:latin typeface="游ゴシック" panose="020B0400000000000000" pitchFamily="50" charset="-128"/>
                  <a:ea typeface="游ゴシック" panose="020B0400000000000000" pitchFamily="50" charset="-128"/>
                </a:rPr>
                <a:t>運用テスト</a:t>
              </a:r>
              <a:r>
                <a:rPr lang="en-US" altLang="ja-JP" sz="1400" b="1" dirty="0">
                  <a:latin typeface="游ゴシック" panose="020B0400000000000000" pitchFamily="50" charset="-128"/>
                  <a:ea typeface="游ゴシック" panose="020B0400000000000000" pitchFamily="50" charset="-128"/>
                </a:rPr>
                <a:t>(OT)</a:t>
              </a:r>
              <a:endParaRPr kumimoji="1" lang="ja-JP" altLang="en-US" sz="1400" b="1" dirty="0">
                <a:latin typeface="游ゴシック" panose="020B0400000000000000" pitchFamily="50" charset="-128"/>
                <a:ea typeface="游ゴシック" panose="020B0400000000000000" pitchFamily="50" charset="-128"/>
              </a:endParaRPr>
            </a:p>
          </p:txBody>
        </p:sp>
        <p:sp>
          <p:nvSpPr>
            <p:cNvPr id="35" name="テキスト ボックス 34"/>
            <p:cNvSpPr txBox="1"/>
            <p:nvPr/>
          </p:nvSpPr>
          <p:spPr>
            <a:xfrm>
              <a:off x="4320000" y="5040000"/>
              <a:ext cx="1476000" cy="360000"/>
            </a:xfrm>
            <a:prstGeom prst="rect">
              <a:avLst/>
            </a:prstGeom>
            <a:noFill/>
          </p:spPr>
          <p:txBody>
            <a:bodyPr wrap="none" rtlCol="0" anchor="ctr">
              <a:noAutofit/>
            </a:bodyPr>
            <a:lstStyle/>
            <a:p>
              <a:r>
                <a:rPr lang="ja-JP" altLang="en-US" sz="1400" b="1" dirty="0">
                  <a:latin typeface="游ゴシック" panose="020B0400000000000000" pitchFamily="50" charset="-128"/>
                  <a:ea typeface="游ゴシック" panose="020B0400000000000000" pitchFamily="50" charset="-128"/>
                </a:rPr>
                <a:t>プログラミング</a:t>
              </a:r>
              <a:r>
                <a:rPr lang="en-US" altLang="ja-JP" sz="1400" b="1" dirty="0">
                  <a:latin typeface="游ゴシック" panose="020B0400000000000000" pitchFamily="50" charset="-128"/>
                  <a:ea typeface="游ゴシック" panose="020B0400000000000000" pitchFamily="50" charset="-128"/>
                </a:rPr>
                <a:t>(PG)</a:t>
              </a:r>
              <a:endParaRPr kumimoji="1" lang="ja-JP" altLang="en-US" sz="1400" b="1" dirty="0">
                <a:latin typeface="游ゴシック" panose="020B0400000000000000" pitchFamily="50" charset="-128"/>
                <a:ea typeface="游ゴシック" panose="020B0400000000000000" pitchFamily="50" charset="-128"/>
              </a:endParaRPr>
            </a:p>
          </p:txBody>
        </p:sp>
        <p:cxnSp>
          <p:nvCxnSpPr>
            <p:cNvPr id="37" name="直線矢印コネクタ 36"/>
            <p:cNvCxnSpPr/>
            <p:nvPr/>
          </p:nvCxnSpPr>
          <p:spPr>
            <a:xfrm>
              <a:off x="3562885" y="3204000"/>
              <a:ext cx="352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p:cNvCxnSpPr/>
            <p:nvPr/>
          </p:nvCxnSpPr>
          <p:spPr>
            <a:xfrm>
              <a:off x="4176000" y="3780474"/>
              <a:ext cx="226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p:cNvCxnSpPr/>
            <p:nvPr/>
          </p:nvCxnSpPr>
          <p:spPr>
            <a:xfrm>
              <a:off x="4824000" y="4356000"/>
              <a:ext cx="1008000" cy="0"/>
            </a:xfrm>
            <a:prstGeom prst="straightConnector1">
              <a:avLst/>
            </a:prstGeom>
            <a:ln w="3175">
              <a:solidFill>
                <a:schemeClr val="accent3">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p:cNvSpPr txBox="1"/>
            <p:nvPr/>
          </p:nvSpPr>
          <p:spPr>
            <a:xfrm>
              <a:off x="4255078" y="2880000"/>
              <a:ext cx="2159566" cy="307777"/>
            </a:xfrm>
            <a:prstGeom prst="rect">
              <a:avLst/>
            </a:prstGeom>
            <a:noFill/>
          </p:spPr>
          <p:txBody>
            <a:bodyPr wrap="none" rtlCol="0">
              <a:spAutoFit/>
            </a:bodyPr>
            <a:lstStyle/>
            <a:p>
              <a:pPr algn="ctr"/>
              <a:r>
                <a:rPr kumimoji="1" lang="ja-JP" altLang="en-US" sz="1400" dirty="0">
                  <a:solidFill>
                    <a:schemeClr val="accent3">
                      <a:lumMod val="50000"/>
                    </a:schemeClr>
                  </a:solidFill>
                  <a:latin typeface="游ゴシック" panose="020B0400000000000000" pitchFamily="50" charset="-128"/>
                  <a:ea typeface="游ゴシック" panose="020B0400000000000000" pitchFamily="50" charset="-128"/>
                </a:rPr>
                <a:t>利用者による妥当性確認</a:t>
              </a:r>
            </a:p>
          </p:txBody>
        </p:sp>
        <p:sp>
          <p:nvSpPr>
            <p:cNvPr id="41" name="テキスト ボックス 40"/>
            <p:cNvSpPr txBox="1"/>
            <p:nvPr/>
          </p:nvSpPr>
          <p:spPr>
            <a:xfrm>
              <a:off x="4521724" y="3456000"/>
              <a:ext cx="1620957" cy="307777"/>
            </a:xfrm>
            <a:prstGeom prst="rect">
              <a:avLst/>
            </a:prstGeom>
            <a:noFill/>
          </p:spPr>
          <p:txBody>
            <a:bodyPr wrap="none" rtlCol="0">
              <a:spAutoFit/>
            </a:bodyPr>
            <a:lstStyle/>
            <a:p>
              <a:pPr algn="ctr"/>
              <a:r>
                <a:rPr kumimoji="1" lang="ja-JP" altLang="en-US" sz="1400" dirty="0">
                  <a:solidFill>
                    <a:schemeClr val="accent3">
                      <a:lumMod val="50000"/>
                    </a:schemeClr>
                  </a:solidFill>
                  <a:latin typeface="游ゴシック" panose="020B0400000000000000" pitchFamily="50" charset="-128"/>
                  <a:ea typeface="游ゴシック" panose="020B0400000000000000" pitchFamily="50" charset="-128"/>
                </a:rPr>
                <a:t>設計者による検証</a:t>
              </a:r>
            </a:p>
          </p:txBody>
        </p:sp>
        <p:sp>
          <p:nvSpPr>
            <p:cNvPr id="42" name="テキスト ボックス 41"/>
            <p:cNvSpPr txBox="1"/>
            <p:nvPr/>
          </p:nvSpPr>
          <p:spPr>
            <a:xfrm>
              <a:off x="4516406" y="4032000"/>
              <a:ext cx="1620957" cy="307777"/>
            </a:xfrm>
            <a:prstGeom prst="rect">
              <a:avLst/>
            </a:prstGeom>
            <a:noFill/>
          </p:spPr>
          <p:txBody>
            <a:bodyPr wrap="none" rtlCol="0">
              <a:spAutoFit/>
            </a:bodyPr>
            <a:lstStyle/>
            <a:p>
              <a:pPr algn="ctr"/>
              <a:r>
                <a:rPr lang="ja-JP" altLang="en-US" sz="1400" dirty="0">
                  <a:solidFill>
                    <a:schemeClr val="accent3">
                      <a:lumMod val="50000"/>
                    </a:schemeClr>
                  </a:solidFill>
                  <a:latin typeface="游ゴシック" panose="020B0400000000000000" pitchFamily="50" charset="-128"/>
                  <a:ea typeface="游ゴシック" panose="020B0400000000000000" pitchFamily="50" charset="-128"/>
                </a:rPr>
                <a:t>開発</a:t>
              </a:r>
              <a:r>
                <a:rPr kumimoji="1" lang="ja-JP" altLang="en-US" sz="1400" dirty="0">
                  <a:solidFill>
                    <a:schemeClr val="accent3">
                      <a:lumMod val="50000"/>
                    </a:schemeClr>
                  </a:solidFill>
                  <a:latin typeface="游ゴシック" panose="020B0400000000000000" pitchFamily="50" charset="-128"/>
                  <a:ea typeface="游ゴシック" panose="020B0400000000000000" pitchFamily="50" charset="-128"/>
                </a:rPr>
                <a:t>者による検証</a:t>
              </a:r>
            </a:p>
          </p:txBody>
        </p:sp>
        <p:sp>
          <p:nvSpPr>
            <p:cNvPr id="36" name="テキスト ボックス 35"/>
            <p:cNvSpPr txBox="1"/>
            <p:nvPr/>
          </p:nvSpPr>
          <p:spPr>
            <a:xfrm>
              <a:off x="431999" y="4536000"/>
              <a:ext cx="1080000" cy="360000"/>
            </a:xfrm>
            <a:prstGeom prst="rect">
              <a:avLst/>
            </a:prstGeom>
            <a:noFill/>
          </p:spPr>
          <p:txBody>
            <a:bodyPr wrap="none" rtlCol="0" anchor="ctr">
              <a:no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機能</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54174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情報共有を重視したプロジェクト管理</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a:t>
            </a:fld>
            <a:endParaRPr kumimoji="1" lang="ja-JP" altLang="en-US"/>
          </a:p>
        </p:txBody>
      </p:sp>
      <p:sp>
        <p:nvSpPr>
          <p:cNvPr id="6" name="円/楕円 30"/>
          <p:cNvSpPr/>
          <p:nvPr/>
        </p:nvSpPr>
        <p:spPr>
          <a:xfrm>
            <a:off x="216000" y="1399266"/>
            <a:ext cx="3465214" cy="3465233"/>
          </a:xfrm>
          <a:prstGeom prst="ellipse">
            <a:avLst/>
          </a:prstGeom>
          <a:gradFill>
            <a:gsLst>
              <a:gs pos="100000">
                <a:schemeClr val="accent1">
                  <a:tint val="66000"/>
                  <a:satMod val="160000"/>
                  <a:alpha val="15000"/>
                </a:schemeClr>
              </a:gs>
              <a:gs pos="50000">
                <a:schemeClr val="accent1">
                  <a:tint val="44500"/>
                  <a:satMod val="160000"/>
                  <a:alpha val="14000"/>
                </a:schemeClr>
              </a:gs>
              <a:gs pos="0">
                <a:schemeClr val="bg1"/>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円/楕円 31"/>
          <p:cNvSpPr/>
          <p:nvPr/>
        </p:nvSpPr>
        <p:spPr>
          <a:xfrm>
            <a:off x="742934" y="1926203"/>
            <a:ext cx="2411349" cy="2411362"/>
          </a:xfrm>
          <a:prstGeom prst="ellipse">
            <a:avLst/>
          </a:prstGeom>
          <a:gradFill>
            <a:gsLst>
              <a:gs pos="100000">
                <a:schemeClr val="accent1">
                  <a:tint val="66000"/>
                  <a:satMod val="160000"/>
                  <a:alpha val="38000"/>
                </a:schemeClr>
              </a:gs>
              <a:gs pos="42000">
                <a:schemeClr val="accent1">
                  <a:tint val="44500"/>
                  <a:satMod val="160000"/>
                  <a:alpha val="24000"/>
                </a:schemeClr>
              </a:gs>
              <a:gs pos="0">
                <a:schemeClr val="bg1"/>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 name="アーチ 7"/>
          <p:cNvSpPr/>
          <p:nvPr/>
        </p:nvSpPr>
        <p:spPr>
          <a:xfrm rot="4322625">
            <a:off x="298316" y="1460538"/>
            <a:ext cx="3444081" cy="3361872"/>
          </a:xfrm>
          <a:prstGeom prst="blockArc">
            <a:avLst>
              <a:gd name="adj1" fmla="val 12892196"/>
              <a:gd name="adj2" fmla="val 12320"/>
              <a:gd name="adj3" fmla="val 887"/>
            </a:avLst>
          </a:prstGeom>
          <a:solidFill>
            <a:schemeClr val="accent3">
              <a:lumMod val="40000"/>
              <a:lumOff val="6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solidFill>
            </a:endParaRPr>
          </a:p>
        </p:txBody>
      </p:sp>
      <p:sp>
        <p:nvSpPr>
          <p:cNvPr id="9" name="円/楕円 34"/>
          <p:cNvSpPr/>
          <p:nvPr/>
        </p:nvSpPr>
        <p:spPr>
          <a:xfrm>
            <a:off x="3591841" y="3073090"/>
            <a:ext cx="216000" cy="216000"/>
          </a:xfrm>
          <a:prstGeom prst="ellipse">
            <a:avLst/>
          </a:prstGeom>
          <a:solidFill>
            <a:schemeClr val="accent2"/>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0" name="円/楕円 35"/>
          <p:cNvSpPr/>
          <p:nvPr/>
        </p:nvSpPr>
        <p:spPr>
          <a:xfrm>
            <a:off x="3269483" y="2029090"/>
            <a:ext cx="216000" cy="216000"/>
          </a:xfrm>
          <a:prstGeom prst="ellipse">
            <a:avLst/>
          </a:prstGeom>
          <a:solidFill>
            <a:schemeClr val="accent1"/>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1" name="円/楕円 36"/>
          <p:cNvSpPr/>
          <p:nvPr/>
        </p:nvSpPr>
        <p:spPr>
          <a:xfrm>
            <a:off x="2429211" y="1424044"/>
            <a:ext cx="216000" cy="216000"/>
          </a:xfrm>
          <a:prstGeom prst="ellipse">
            <a:avLst/>
          </a:prstGeom>
          <a:solidFill>
            <a:schemeClr val="tx2"/>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12" name="円/楕円 37"/>
          <p:cNvSpPr/>
          <p:nvPr/>
        </p:nvSpPr>
        <p:spPr>
          <a:xfrm>
            <a:off x="3269483" y="4057197"/>
            <a:ext cx="216000" cy="216000"/>
          </a:xfrm>
          <a:prstGeom prst="ellipse">
            <a:avLst/>
          </a:prstGeom>
          <a:solidFill>
            <a:schemeClr val="accent4"/>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cxnSp>
        <p:nvCxnSpPr>
          <p:cNvPr id="14" name="直線コネクタ 13"/>
          <p:cNvCxnSpPr>
            <a:stCxn id="11" idx="6"/>
          </p:cNvCxnSpPr>
          <p:nvPr/>
        </p:nvCxnSpPr>
        <p:spPr>
          <a:xfrm>
            <a:off x="2619030" y="1518955"/>
            <a:ext cx="2040534" cy="0"/>
          </a:xfrm>
          <a:prstGeom prst="line">
            <a:avLst/>
          </a:prstGeom>
          <a:ln w="12700">
            <a:solidFill>
              <a:schemeClr val="accent3"/>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a:stCxn id="10" idx="6"/>
          </p:cNvCxnSpPr>
          <p:nvPr/>
        </p:nvCxnSpPr>
        <p:spPr>
          <a:xfrm>
            <a:off x="3459302" y="2124000"/>
            <a:ext cx="1318898" cy="0"/>
          </a:xfrm>
          <a:prstGeom prst="line">
            <a:avLst/>
          </a:prstGeom>
          <a:ln w="12700">
            <a:solidFill>
              <a:schemeClr val="accent3"/>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a:stCxn id="9" idx="6"/>
          </p:cNvCxnSpPr>
          <p:nvPr/>
        </p:nvCxnSpPr>
        <p:spPr>
          <a:xfrm>
            <a:off x="3781660" y="3168000"/>
            <a:ext cx="954371" cy="0"/>
          </a:xfrm>
          <a:prstGeom prst="line">
            <a:avLst/>
          </a:prstGeom>
          <a:ln w="12700">
            <a:solidFill>
              <a:schemeClr val="accent3"/>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a:stCxn id="12" idx="6"/>
          </p:cNvCxnSpPr>
          <p:nvPr/>
        </p:nvCxnSpPr>
        <p:spPr>
          <a:xfrm>
            <a:off x="3459302" y="4152107"/>
            <a:ext cx="1276729" cy="0"/>
          </a:xfrm>
          <a:prstGeom prst="line">
            <a:avLst/>
          </a:prstGeom>
          <a:ln w="12700">
            <a:solidFill>
              <a:schemeClr val="accent3"/>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a:off x="2524121" y="4769591"/>
            <a:ext cx="2211909" cy="0"/>
          </a:xfrm>
          <a:prstGeom prst="line">
            <a:avLst/>
          </a:prstGeom>
          <a:ln w="12700">
            <a:solidFill>
              <a:schemeClr val="accent3"/>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テキスト プレースホルダー 11"/>
          <p:cNvSpPr txBox="1">
            <a:spLocks/>
          </p:cNvSpPr>
          <p:nvPr/>
        </p:nvSpPr>
        <p:spPr>
          <a:xfrm>
            <a:off x="741600" y="2016000"/>
            <a:ext cx="2412000" cy="360000"/>
          </a:xfrm>
          <a:prstGeom prst="rect">
            <a:avLst/>
          </a:prstGeom>
        </p:spPr>
        <p:txBody>
          <a:bodyPr wrap="square" anchor="ctr">
            <a:noAutofit/>
          </a:bodyPr>
          <a:lstStyle>
            <a:lvl1pPr marL="228600" indent="-228600" algn="ctr" defTabSz="914400" rtl="0" eaLnBrk="1" latinLnBrk="1" hangingPunct="1">
              <a:lnSpc>
                <a:spcPct val="120000"/>
              </a:lnSpc>
              <a:spcBef>
                <a:spcPts val="0"/>
              </a:spcBef>
              <a:buFont typeface="Arial" panose="020B0604020202020204" pitchFamily="34" charset="0"/>
              <a:buChar char="•"/>
              <a:defRPr kumimoji="1" sz="20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solidFill>
                  <a:schemeClr val="accent1">
                    <a:lumMod val="50000"/>
                  </a:schemeClr>
                </a:solidFill>
                <a:latin typeface="游ゴシック" panose="020B0400000000000000" pitchFamily="50" charset="-128"/>
              </a:rPr>
              <a:t>プロジェクト管理</a:t>
            </a:r>
            <a:endParaRPr lang="en-US" altLang="ja-JP" b="1" dirty="0">
              <a:solidFill>
                <a:schemeClr val="accent1">
                  <a:lumMod val="50000"/>
                </a:schemeClr>
              </a:solidFill>
              <a:latin typeface="游ゴシック" panose="020B0400000000000000" pitchFamily="50" charset="-128"/>
            </a:endParaRPr>
          </a:p>
        </p:txBody>
      </p:sp>
      <p:sp>
        <p:nvSpPr>
          <p:cNvPr id="50" name="アーチ 49"/>
          <p:cNvSpPr/>
          <p:nvPr/>
        </p:nvSpPr>
        <p:spPr>
          <a:xfrm rot="6540000">
            <a:off x="270567" y="1496299"/>
            <a:ext cx="3444081" cy="3361872"/>
          </a:xfrm>
          <a:prstGeom prst="blockArc">
            <a:avLst>
              <a:gd name="adj1" fmla="val 19421893"/>
              <a:gd name="adj2" fmla="val 12320"/>
              <a:gd name="adj3" fmla="val 887"/>
            </a:avLst>
          </a:prstGeom>
          <a:solidFill>
            <a:schemeClr val="accent3">
              <a:lumMod val="40000"/>
              <a:lumOff val="6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solidFill>
                <a:schemeClr val="tx1"/>
              </a:solidFill>
            </a:endParaRPr>
          </a:p>
        </p:txBody>
      </p:sp>
      <p:sp>
        <p:nvSpPr>
          <p:cNvPr id="13" name="円/楕円 38"/>
          <p:cNvSpPr/>
          <p:nvPr/>
        </p:nvSpPr>
        <p:spPr>
          <a:xfrm>
            <a:off x="2429211" y="4674680"/>
            <a:ext cx="216000" cy="216000"/>
          </a:xfrm>
          <a:prstGeom prst="ellipse">
            <a:avLst/>
          </a:prstGeom>
          <a:solidFill>
            <a:schemeClr val="accent5"/>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1" name="円/楕円 37"/>
          <p:cNvSpPr/>
          <p:nvPr/>
        </p:nvSpPr>
        <p:spPr>
          <a:xfrm>
            <a:off x="1295999" y="4674680"/>
            <a:ext cx="216000" cy="216000"/>
          </a:xfrm>
          <a:prstGeom prst="ellipse">
            <a:avLst/>
          </a:prstGeom>
          <a:solidFill>
            <a:schemeClr val="accent6"/>
          </a:solidFill>
          <a:ln w="762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cxnSp>
        <p:nvCxnSpPr>
          <p:cNvPr id="52" name="直線コネクタ 51"/>
          <p:cNvCxnSpPr/>
          <p:nvPr/>
        </p:nvCxnSpPr>
        <p:spPr>
          <a:xfrm>
            <a:off x="2520000" y="5760000"/>
            <a:ext cx="2211909" cy="0"/>
          </a:xfrm>
          <a:prstGeom prst="line">
            <a:avLst/>
          </a:prstGeom>
          <a:ln w="12700">
            <a:solidFill>
              <a:schemeClr val="accent3"/>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線コネクタ 62"/>
          <p:cNvCxnSpPr>
            <a:stCxn id="51" idx="5"/>
          </p:cNvCxnSpPr>
          <p:nvPr/>
        </p:nvCxnSpPr>
        <p:spPr>
          <a:xfrm>
            <a:off x="1458019" y="4836702"/>
            <a:ext cx="1061981" cy="918113"/>
          </a:xfrm>
          <a:prstGeom prst="line">
            <a:avLst/>
          </a:prstGeom>
          <a:ln w="12700">
            <a:solidFill>
              <a:schemeClr val="accent3"/>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テキスト プレースホルダー 11"/>
          <p:cNvSpPr txBox="1">
            <a:spLocks/>
          </p:cNvSpPr>
          <p:nvPr/>
        </p:nvSpPr>
        <p:spPr>
          <a:xfrm>
            <a:off x="5184000" y="1008000"/>
            <a:ext cx="3744000" cy="360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進捗管理</a:t>
            </a:r>
            <a:endParaRPr lang="en-US" sz="1600" b="1" dirty="0">
              <a:solidFill>
                <a:schemeClr val="accent1">
                  <a:lumMod val="50000"/>
                </a:schemeClr>
              </a:solidFill>
              <a:latin typeface="游ゴシック" panose="020B0400000000000000" pitchFamily="50" charset="-128"/>
            </a:endParaRPr>
          </a:p>
        </p:txBody>
      </p:sp>
      <p:sp>
        <p:nvSpPr>
          <p:cNvPr id="27" name="テキスト プレースホルダー 11"/>
          <p:cNvSpPr txBox="1">
            <a:spLocks/>
          </p:cNvSpPr>
          <p:nvPr/>
        </p:nvSpPr>
        <p:spPr>
          <a:xfrm>
            <a:off x="5184000" y="1296000"/>
            <a:ext cx="3744000" cy="576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プロジェクトの作業計画と作業実績の差異を把握し適切な対処を図ります。</a:t>
            </a:r>
            <a:endParaRPr lang="en-US" sz="1400" dirty="0">
              <a:latin typeface="游ゴシック" panose="020B0400000000000000" pitchFamily="50" charset="-128"/>
            </a:endParaRPr>
          </a:p>
        </p:txBody>
      </p:sp>
      <p:sp>
        <p:nvSpPr>
          <p:cNvPr id="29" name="テキスト プレースホルダー 11"/>
          <p:cNvSpPr txBox="1">
            <a:spLocks/>
          </p:cNvSpPr>
          <p:nvPr/>
        </p:nvSpPr>
        <p:spPr>
          <a:xfrm>
            <a:off x="5184000" y="4464000"/>
            <a:ext cx="3744000" cy="360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資源管理</a:t>
            </a:r>
            <a:endParaRPr lang="en-US" sz="1600" b="1" dirty="0">
              <a:solidFill>
                <a:schemeClr val="accent1">
                  <a:lumMod val="50000"/>
                </a:schemeClr>
              </a:solidFill>
              <a:latin typeface="游ゴシック" panose="020B0400000000000000" pitchFamily="50" charset="-128"/>
            </a:endParaRPr>
          </a:p>
        </p:txBody>
      </p:sp>
      <p:sp>
        <p:nvSpPr>
          <p:cNvPr id="30" name="テキスト プレースホルダー 11"/>
          <p:cNvSpPr txBox="1">
            <a:spLocks/>
          </p:cNvSpPr>
          <p:nvPr/>
        </p:nvSpPr>
        <p:spPr>
          <a:xfrm>
            <a:off x="5184000" y="4752000"/>
            <a:ext cx="3744000" cy="576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主にプログラムソースおよびドキュメントのバージョン管理を実施します。</a:t>
            </a:r>
            <a:endParaRPr lang="en-US" sz="1400" dirty="0">
              <a:latin typeface="游ゴシック" panose="020B0400000000000000" pitchFamily="50" charset="-128"/>
            </a:endParaRPr>
          </a:p>
        </p:txBody>
      </p:sp>
      <p:sp>
        <p:nvSpPr>
          <p:cNvPr id="32" name="テキスト プレースホルダー 11"/>
          <p:cNvSpPr txBox="1">
            <a:spLocks/>
          </p:cNvSpPr>
          <p:nvPr/>
        </p:nvSpPr>
        <p:spPr>
          <a:xfrm>
            <a:off x="5184000" y="2736000"/>
            <a:ext cx="3744000" cy="360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リスク管理</a:t>
            </a:r>
            <a:endParaRPr lang="en-US" sz="1600" b="1" dirty="0">
              <a:solidFill>
                <a:schemeClr val="accent1">
                  <a:lumMod val="50000"/>
                </a:schemeClr>
              </a:solidFill>
              <a:latin typeface="游ゴシック" panose="020B0400000000000000" pitchFamily="50" charset="-128"/>
            </a:endParaRPr>
          </a:p>
        </p:txBody>
      </p:sp>
      <p:sp>
        <p:nvSpPr>
          <p:cNvPr id="33" name="テキスト プレースホルダー 11"/>
          <p:cNvSpPr txBox="1">
            <a:spLocks/>
          </p:cNvSpPr>
          <p:nvPr/>
        </p:nvSpPr>
        <p:spPr>
          <a:xfrm>
            <a:off x="5184000" y="3024000"/>
            <a:ext cx="3744000" cy="576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プロジェクトのリスクを洗い出した上で対策を講じ、顕在化しないかを監視します。</a:t>
            </a:r>
            <a:endParaRPr lang="en-US" altLang="ja-JP" sz="1400" dirty="0">
              <a:latin typeface="游ゴシック" panose="020B0400000000000000" pitchFamily="50" charset="-128"/>
            </a:endParaRPr>
          </a:p>
        </p:txBody>
      </p:sp>
      <p:sp>
        <p:nvSpPr>
          <p:cNvPr id="35" name="テキスト プレースホルダー 11"/>
          <p:cNvSpPr txBox="1">
            <a:spLocks/>
          </p:cNvSpPr>
          <p:nvPr/>
        </p:nvSpPr>
        <p:spPr>
          <a:xfrm>
            <a:off x="5184000" y="3600000"/>
            <a:ext cx="3744000" cy="360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品質管理</a:t>
            </a:r>
            <a:endParaRPr lang="en-US" sz="1600" b="1" dirty="0">
              <a:solidFill>
                <a:schemeClr val="accent1">
                  <a:lumMod val="50000"/>
                </a:schemeClr>
              </a:solidFill>
              <a:latin typeface="游ゴシック" panose="020B0400000000000000" pitchFamily="50" charset="-128"/>
            </a:endParaRPr>
          </a:p>
        </p:txBody>
      </p:sp>
      <p:sp>
        <p:nvSpPr>
          <p:cNvPr id="36" name="テキスト プレースホルダー 11"/>
          <p:cNvSpPr txBox="1">
            <a:spLocks/>
          </p:cNvSpPr>
          <p:nvPr/>
        </p:nvSpPr>
        <p:spPr>
          <a:xfrm>
            <a:off x="5184000" y="3888000"/>
            <a:ext cx="3744000" cy="576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期待される品質（要件・仕様・サービス）を実現するための活動を実施します。</a:t>
            </a:r>
            <a:endParaRPr lang="en-US" altLang="ja-JP" sz="1400" dirty="0">
              <a:latin typeface="游ゴシック" panose="020B0400000000000000" pitchFamily="50" charset="-128"/>
            </a:endParaRPr>
          </a:p>
        </p:txBody>
      </p:sp>
      <p:sp>
        <p:nvSpPr>
          <p:cNvPr id="38" name="テキスト プレースホルダー 11"/>
          <p:cNvSpPr txBox="1">
            <a:spLocks/>
          </p:cNvSpPr>
          <p:nvPr/>
        </p:nvSpPr>
        <p:spPr>
          <a:xfrm>
            <a:off x="5184000" y="1872000"/>
            <a:ext cx="3744000" cy="360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課題管理</a:t>
            </a:r>
            <a:endParaRPr lang="en-US" sz="1600" b="1" dirty="0">
              <a:solidFill>
                <a:schemeClr val="accent1">
                  <a:lumMod val="50000"/>
                </a:schemeClr>
              </a:solidFill>
              <a:latin typeface="游ゴシック" panose="020B0400000000000000" pitchFamily="50" charset="-128"/>
            </a:endParaRPr>
          </a:p>
        </p:txBody>
      </p:sp>
      <p:sp>
        <p:nvSpPr>
          <p:cNvPr id="39" name="テキスト プレースホルダー 11"/>
          <p:cNvSpPr txBox="1">
            <a:spLocks/>
          </p:cNvSpPr>
          <p:nvPr/>
        </p:nvSpPr>
        <p:spPr>
          <a:xfrm>
            <a:off x="5184000" y="2160000"/>
            <a:ext cx="3744000" cy="576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プロジェクトにて顕在化した課題を解決するための具体的な取り組みや対応を管理します。</a:t>
            </a:r>
            <a:endParaRPr lang="en-US" sz="1400" dirty="0">
              <a:latin typeface="游ゴシック" panose="020B0400000000000000" pitchFamily="50" charset="-128"/>
            </a:endParaRPr>
          </a:p>
        </p:txBody>
      </p:sp>
      <p:grpSp>
        <p:nvGrpSpPr>
          <p:cNvPr id="73" name="グループ化 72"/>
          <p:cNvGrpSpPr/>
          <p:nvPr/>
        </p:nvGrpSpPr>
        <p:grpSpPr>
          <a:xfrm>
            <a:off x="4428000" y="1111797"/>
            <a:ext cx="664360" cy="664364"/>
            <a:chOff x="4428000" y="1111797"/>
            <a:chExt cx="664360" cy="664364"/>
          </a:xfrm>
        </p:grpSpPr>
        <p:sp>
          <p:nvSpPr>
            <p:cNvPr id="20" name="円/楕円 45"/>
            <p:cNvSpPr/>
            <p:nvPr/>
          </p:nvSpPr>
          <p:spPr>
            <a:xfrm>
              <a:off x="4428000" y="1111797"/>
              <a:ext cx="664360" cy="664364"/>
            </a:xfrm>
            <a:prstGeom prst="ellipse">
              <a:avLst/>
            </a:prstGeom>
            <a:solidFill>
              <a:schemeClr val="tx2"/>
            </a:solidFill>
            <a:ln w="76200" cmpd="sng">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45" name="図 44"/>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72000" y="1260000"/>
              <a:ext cx="424673" cy="360000"/>
            </a:xfrm>
            <a:prstGeom prst="rect">
              <a:avLst/>
            </a:prstGeom>
          </p:spPr>
        </p:pic>
      </p:grpSp>
      <p:grpSp>
        <p:nvGrpSpPr>
          <p:cNvPr id="74" name="グループ化 73"/>
          <p:cNvGrpSpPr/>
          <p:nvPr/>
        </p:nvGrpSpPr>
        <p:grpSpPr>
          <a:xfrm>
            <a:off x="4428000" y="1968514"/>
            <a:ext cx="664360" cy="664364"/>
            <a:chOff x="4428000" y="1968514"/>
            <a:chExt cx="664360" cy="664364"/>
          </a:xfrm>
        </p:grpSpPr>
        <p:sp>
          <p:nvSpPr>
            <p:cNvPr id="21" name="円/楕円 46"/>
            <p:cNvSpPr/>
            <p:nvPr/>
          </p:nvSpPr>
          <p:spPr>
            <a:xfrm>
              <a:off x="4428000" y="1968514"/>
              <a:ext cx="664360" cy="664364"/>
            </a:xfrm>
            <a:prstGeom prst="ellipse">
              <a:avLst/>
            </a:prstGeom>
            <a:solidFill>
              <a:schemeClr val="accent1"/>
            </a:solidFill>
            <a:ln w="76200" cmpd="sng">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46" name="図 45"/>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08000" y="2124000"/>
              <a:ext cx="324000" cy="324469"/>
            </a:xfrm>
            <a:prstGeom prst="rect">
              <a:avLst/>
            </a:prstGeom>
          </p:spPr>
        </p:pic>
      </p:grpSp>
      <p:grpSp>
        <p:nvGrpSpPr>
          <p:cNvPr id="3" name="グループ化 2"/>
          <p:cNvGrpSpPr/>
          <p:nvPr/>
        </p:nvGrpSpPr>
        <p:grpSpPr>
          <a:xfrm>
            <a:off x="4428000" y="2835819"/>
            <a:ext cx="664360" cy="664364"/>
            <a:chOff x="4428000" y="2835819"/>
            <a:chExt cx="664360" cy="664364"/>
          </a:xfrm>
        </p:grpSpPr>
        <p:sp>
          <p:nvSpPr>
            <p:cNvPr id="19" name="円/楕円 44"/>
            <p:cNvSpPr/>
            <p:nvPr/>
          </p:nvSpPr>
          <p:spPr>
            <a:xfrm>
              <a:off x="4428000" y="2835819"/>
              <a:ext cx="664360" cy="664364"/>
            </a:xfrm>
            <a:prstGeom prst="ellipse">
              <a:avLst/>
            </a:prstGeom>
            <a:solidFill>
              <a:schemeClr val="accent2"/>
            </a:solidFill>
            <a:ln w="76200" cmpd="sng">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48" name="図 47"/>
            <p:cNvPicPr>
              <a:picLocks noChangeAspect="1"/>
            </p:cNvPicPr>
            <p:nvPr/>
          </p:nvPicPr>
          <p:blipFill>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72095" y="3046244"/>
              <a:ext cx="396000" cy="226153"/>
            </a:xfrm>
            <a:prstGeom prst="rect">
              <a:avLst/>
            </a:prstGeom>
          </p:spPr>
        </p:pic>
      </p:grpSp>
      <p:grpSp>
        <p:nvGrpSpPr>
          <p:cNvPr id="77" name="グループ化 76"/>
          <p:cNvGrpSpPr/>
          <p:nvPr/>
        </p:nvGrpSpPr>
        <p:grpSpPr>
          <a:xfrm>
            <a:off x="4428000" y="4561971"/>
            <a:ext cx="664360" cy="664364"/>
            <a:chOff x="4428000" y="4561971"/>
            <a:chExt cx="664360" cy="664364"/>
          </a:xfrm>
        </p:grpSpPr>
        <p:sp>
          <p:nvSpPr>
            <p:cNvPr id="22" name="円/楕円 47"/>
            <p:cNvSpPr/>
            <p:nvPr/>
          </p:nvSpPr>
          <p:spPr>
            <a:xfrm>
              <a:off x="4428000" y="4561971"/>
              <a:ext cx="664360" cy="664364"/>
            </a:xfrm>
            <a:prstGeom prst="ellipse">
              <a:avLst/>
            </a:prstGeom>
            <a:solidFill>
              <a:schemeClr val="accent5"/>
            </a:solidFill>
            <a:ln w="76200" cmpd="sng">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49" name="図 48"/>
            <p:cNvPicPr>
              <a:picLocks noChangeAspect="1"/>
            </p:cNvPicPr>
            <p:nvPr/>
          </p:nvPicPr>
          <p:blipFill>
            <a:blip r:embed="rId9" cstate="print">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54000" y="4714163"/>
              <a:ext cx="396000" cy="350840"/>
            </a:xfrm>
            <a:prstGeom prst="rect">
              <a:avLst/>
            </a:prstGeom>
          </p:spPr>
        </p:pic>
      </p:grpSp>
      <p:sp>
        <p:nvSpPr>
          <p:cNvPr id="55" name="テキスト プレースホルダー 11"/>
          <p:cNvSpPr txBox="1">
            <a:spLocks/>
          </p:cNvSpPr>
          <p:nvPr/>
        </p:nvSpPr>
        <p:spPr>
          <a:xfrm>
            <a:off x="5184000" y="5328000"/>
            <a:ext cx="3744000" cy="360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コミュニケーション管理</a:t>
            </a:r>
            <a:endParaRPr lang="en-US" sz="1600" b="1" dirty="0">
              <a:solidFill>
                <a:schemeClr val="accent1">
                  <a:lumMod val="50000"/>
                </a:schemeClr>
              </a:solidFill>
              <a:latin typeface="游ゴシック" panose="020B0400000000000000" pitchFamily="50" charset="-128"/>
            </a:endParaRPr>
          </a:p>
        </p:txBody>
      </p:sp>
      <p:sp>
        <p:nvSpPr>
          <p:cNvPr id="56" name="テキスト プレースホルダー 11"/>
          <p:cNvSpPr txBox="1">
            <a:spLocks/>
          </p:cNvSpPr>
          <p:nvPr/>
        </p:nvSpPr>
        <p:spPr>
          <a:xfrm>
            <a:off x="5184000" y="5616000"/>
            <a:ext cx="3744000" cy="576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プロジェクトメンバーおよびステークホルダーとのコミュニケーションを管理します。</a:t>
            </a:r>
            <a:endParaRPr lang="en-US" sz="1400" dirty="0">
              <a:latin typeface="游ゴシック" panose="020B0400000000000000" pitchFamily="50" charset="-128"/>
            </a:endParaRPr>
          </a:p>
        </p:txBody>
      </p:sp>
      <p:grpSp>
        <p:nvGrpSpPr>
          <p:cNvPr id="78" name="グループ化 77"/>
          <p:cNvGrpSpPr/>
          <p:nvPr/>
        </p:nvGrpSpPr>
        <p:grpSpPr>
          <a:xfrm>
            <a:off x="4428000" y="5425971"/>
            <a:ext cx="664360" cy="664364"/>
            <a:chOff x="4428000" y="5425971"/>
            <a:chExt cx="664360" cy="664364"/>
          </a:xfrm>
        </p:grpSpPr>
        <p:sp>
          <p:nvSpPr>
            <p:cNvPr id="53" name="円/楕円 47"/>
            <p:cNvSpPr/>
            <p:nvPr/>
          </p:nvSpPr>
          <p:spPr>
            <a:xfrm>
              <a:off x="4428000" y="5425971"/>
              <a:ext cx="664360" cy="664364"/>
            </a:xfrm>
            <a:prstGeom prst="ellipse">
              <a:avLst/>
            </a:prstGeom>
            <a:solidFill>
              <a:schemeClr val="accent6"/>
            </a:solidFill>
            <a:ln w="76200" cmpd="sng">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69" name="図 68"/>
            <p:cNvPicPr>
              <a:picLocks noChangeAspect="1"/>
            </p:cNvPicPr>
            <p:nvPr/>
          </p:nvPicPr>
          <p:blipFill>
            <a:blip r:embed="rId11" cstate="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572000" y="5580000"/>
              <a:ext cx="396000" cy="315423"/>
            </a:xfrm>
            <a:prstGeom prst="rect">
              <a:avLst/>
            </a:prstGeom>
          </p:spPr>
        </p:pic>
      </p:grpSp>
      <p:sp>
        <p:nvSpPr>
          <p:cNvPr id="70" name="テキスト プレースホルダー 11"/>
          <p:cNvSpPr txBox="1">
            <a:spLocks/>
          </p:cNvSpPr>
          <p:nvPr/>
        </p:nvSpPr>
        <p:spPr>
          <a:xfrm>
            <a:off x="432000" y="2376000"/>
            <a:ext cx="3132000" cy="1944000"/>
          </a:xfrm>
          <a:prstGeom prst="rect">
            <a:avLst/>
          </a:prstGeom>
        </p:spPr>
        <p:txBody>
          <a:bodyPr lIns="72000" rIns="72000"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a:latin typeface="游ゴシック" panose="020B0400000000000000" pitchFamily="50" charset="-128"/>
              </a:rPr>
              <a:t>PM</a:t>
            </a:r>
            <a:r>
              <a:rPr lang="ja-JP" altLang="en-US" sz="1400" dirty="0">
                <a:latin typeface="游ゴシック" panose="020B0400000000000000" pitchFamily="50" charset="-128"/>
              </a:rPr>
              <a:t>および</a:t>
            </a:r>
            <a:r>
              <a:rPr lang="en-US" altLang="ja-JP" sz="1400" dirty="0">
                <a:latin typeface="游ゴシック" panose="020B0400000000000000" pitchFamily="50" charset="-128"/>
              </a:rPr>
              <a:t>PMO</a:t>
            </a:r>
            <a:r>
              <a:rPr lang="ja-JP" altLang="en-US" sz="1400" dirty="0">
                <a:latin typeface="游ゴシック" panose="020B0400000000000000" pitchFamily="50" charset="-128"/>
              </a:rPr>
              <a:t>により統合的なプロジェクト管理を実施します。特に右記の６つの管理項目は貴社との情報共有が重要と認識しております。また、日常的なモニタリングにより計画との差異が発生した場合には速やかに是正処置を検討・実施します。</a:t>
            </a:r>
            <a:endParaRPr lang="en-US" sz="1400" dirty="0">
              <a:latin typeface="游ゴシック" panose="020B0400000000000000" pitchFamily="50" charset="-128"/>
            </a:endParaRPr>
          </a:p>
        </p:txBody>
      </p:sp>
      <p:grpSp>
        <p:nvGrpSpPr>
          <p:cNvPr id="25" name="グループ化 24"/>
          <p:cNvGrpSpPr/>
          <p:nvPr/>
        </p:nvGrpSpPr>
        <p:grpSpPr>
          <a:xfrm>
            <a:off x="4428000" y="3703128"/>
            <a:ext cx="664360" cy="664364"/>
            <a:chOff x="4428000" y="3703128"/>
            <a:chExt cx="664360" cy="664364"/>
          </a:xfrm>
        </p:grpSpPr>
        <p:sp>
          <p:nvSpPr>
            <p:cNvPr id="23" name="円/楕円 48"/>
            <p:cNvSpPr/>
            <p:nvPr/>
          </p:nvSpPr>
          <p:spPr>
            <a:xfrm>
              <a:off x="4428000" y="3703128"/>
              <a:ext cx="664360" cy="664364"/>
            </a:xfrm>
            <a:prstGeom prst="ellipse">
              <a:avLst/>
            </a:prstGeom>
            <a:solidFill>
              <a:schemeClr val="accent4"/>
            </a:solidFill>
            <a:ln w="76200" cmpd="sng">
              <a:solidFill>
                <a:schemeClr val="accent3">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pic>
          <p:nvPicPr>
            <p:cNvPr id="47" name="図 46"/>
            <p:cNvPicPr>
              <a:picLocks noChangeAspect="1"/>
            </p:cNvPicPr>
            <p:nvPr/>
          </p:nvPicPr>
          <p:blipFill>
            <a:blip r:embed="rId13" cstate="print">
              <a:extLst>
                <a:ext uri="{BEBA8EAE-BF5A-486C-A8C5-ECC9F3942E4B}">
                  <a14:imgProps xmlns:a14="http://schemas.microsoft.com/office/drawing/2010/main">
                    <a14:imgLayer r:embed="rId1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616764" y="3852000"/>
              <a:ext cx="360000" cy="348582"/>
            </a:xfrm>
            <a:prstGeom prst="rect">
              <a:avLst/>
            </a:prstGeom>
          </p:spPr>
        </p:pic>
      </p:grpSp>
    </p:spTree>
    <p:extLst>
      <p:ext uri="{BB962C8B-B14F-4D97-AF65-F5344CB8AC3E}">
        <p14:creationId xmlns:p14="http://schemas.microsoft.com/office/powerpoint/2010/main" val="2352905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オフショア開発によるコスト削減</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8</a:t>
            </a:fld>
            <a:endParaRPr kumimoji="1" lang="ja-JP" altLang="en-US"/>
          </a:p>
        </p:txBody>
      </p:sp>
      <p:pic>
        <p:nvPicPr>
          <p:cNvPr id="6" name="図 5"/>
          <p:cNvPicPr>
            <a:picLocks noChangeAspect="1"/>
          </p:cNvPicPr>
          <p:nvPr/>
        </p:nvPicPr>
        <p:blipFill rotWithShape="1">
          <a:blip r:embed="rId3" cstate="print">
            <a:extLst>
              <a:ext uri="{28A0092B-C50C-407E-A947-70E740481C1C}">
                <a14:useLocalDpi xmlns:a14="http://schemas.microsoft.com/office/drawing/2010/main" val="0"/>
              </a:ext>
            </a:extLst>
          </a:blip>
          <a:srcRect l="23725" r="22038"/>
          <a:stretch/>
        </p:blipFill>
        <p:spPr>
          <a:xfrm>
            <a:off x="144000" y="864000"/>
            <a:ext cx="1366775" cy="2520000"/>
          </a:xfrm>
          <a:prstGeom prst="rect">
            <a:avLst/>
          </a:prstGeom>
        </p:spPr>
      </p:pic>
      <p:sp>
        <p:nvSpPr>
          <p:cNvPr id="8" name="テキスト ボックス 7"/>
          <p:cNvSpPr txBox="1">
            <a:spLocks/>
          </p:cNvSpPr>
          <p:nvPr/>
        </p:nvSpPr>
        <p:spPr>
          <a:xfrm>
            <a:off x="144000" y="1080000"/>
            <a:ext cx="8856000" cy="72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弊社のグループ会社であるシステムエグゼベトナムは、</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オフショア開発における生産拠点として活動しています。</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本提案におきましても</a:t>
            </a:r>
            <a:r>
              <a:rPr lang="ja-JP" altLang="en-US" sz="1400" b="1" dirty="0">
                <a:solidFill>
                  <a:schemeClr val="accent1"/>
                </a:solidFill>
                <a:latin typeface="游ゴシック" panose="020B0400000000000000" pitchFamily="50" charset="-128"/>
                <a:ea typeface="游ゴシック" panose="020B0400000000000000" pitchFamily="50" charset="-128"/>
              </a:rPr>
              <a:t>オフショア開発を実施</a:t>
            </a:r>
            <a:r>
              <a:rPr kumimoji="1" lang="ja-JP" altLang="en-US" sz="1400" b="1" dirty="0">
                <a:solidFill>
                  <a:schemeClr val="accent1"/>
                </a:solidFill>
                <a:latin typeface="游ゴシック" panose="020B0400000000000000" pitchFamily="50" charset="-128"/>
                <a:ea typeface="游ゴシック" panose="020B0400000000000000" pitchFamily="50" charset="-128"/>
              </a:rPr>
              <a:t>することでコストの削減</a:t>
            </a:r>
            <a:r>
              <a:rPr kumimoji="1" lang="ja-JP" altLang="en-US" sz="1400" dirty="0">
                <a:latin typeface="游ゴシック" panose="020B0400000000000000" pitchFamily="50" charset="-128"/>
                <a:ea typeface="游ゴシック" panose="020B0400000000000000" pitchFamily="50" charset="-128"/>
              </a:rPr>
              <a:t>を図ります。</a:t>
            </a:r>
          </a:p>
        </p:txBody>
      </p:sp>
      <p:sp>
        <p:nvSpPr>
          <p:cNvPr id="10" name="テキスト ボックス 9"/>
          <p:cNvSpPr txBox="1">
            <a:spLocks/>
          </p:cNvSpPr>
          <p:nvPr/>
        </p:nvSpPr>
        <p:spPr>
          <a:xfrm>
            <a:off x="1584000" y="1944000"/>
            <a:ext cx="7200000" cy="1224000"/>
          </a:xfrm>
          <a:prstGeom prst="rect">
            <a:avLst/>
          </a:prstGeom>
          <a:noFill/>
        </p:spPr>
        <p:txBody>
          <a:bodyPr wrap="square" rtlCol="0" anchor="t">
            <a:noAutofit/>
          </a:bodyPr>
          <a:lstStyle/>
          <a:p>
            <a:pPr fontAlgn="base"/>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システムエグゼベトナム</a:t>
            </a:r>
            <a:endParaRPr lang="en-US" altLang="ja-JP" sz="1600" b="1" dirty="0">
              <a:solidFill>
                <a:schemeClr val="accent1">
                  <a:lumMod val="50000"/>
                </a:schemeClr>
              </a:solidFill>
              <a:latin typeface="游ゴシック" panose="020B0400000000000000" pitchFamily="50" charset="-128"/>
              <a:ea typeface="游ゴシック" panose="020B0400000000000000" pitchFamily="50" charset="-128"/>
            </a:endParaRPr>
          </a:p>
          <a:p>
            <a:pPr fontAlgn="base"/>
            <a:r>
              <a:rPr lang="ja-JP" altLang="en-US" sz="1400" b="1" dirty="0">
                <a:latin typeface="游ゴシック" panose="020B0400000000000000" pitchFamily="50" charset="-128"/>
                <a:ea typeface="游ゴシック" panose="020B0400000000000000" pitchFamily="50" charset="-128"/>
              </a:rPr>
              <a:t>社名</a:t>
            </a:r>
            <a:r>
              <a:rPr lang="ja-JP" altLang="en-US"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rPr>
              <a:t>SYSTEMEXE VIETNAM COMPANY LIMITED</a:t>
            </a:r>
          </a:p>
          <a:p>
            <a:pPr fontAlgn="base"/>
            <a:r>
              <a:rPr lang="ja-JP" altLang="en-US" sz="1400" b="1" dirty="0">
                <a:latin typeface="游ゴシック" panose="020B0400000000000000" pitchFamily="50" charset="-128"/>
                <a:ea typeface="游ゴシック" panose="020B0400000000000000" pitchFamily="50" charset="-128"/>
              </a:rPr>
              <a:t>出資</a:t>
            </a:r>
            <a:r>
              <a:rPr lang="ja-JP" altLang="en-US" sz="1400" dirty="0">
                <a:latin typeface="游ゴシック" panose="020B0400000000000000" pitchFamily="50" charset="-128"/>
                <a:ea typeface="游ゴシック" panose="020B0400000000000000" pitchFamily="50" charset="-128"/>
              </a:rPr>
              <a:t>：株式会社システムエグゼ　</a:t>
            </a:r>
            <a:r>
              <a:rPr lang="en-US" altLang="ja-JP" sz="1400" dirty="0">
                <a:latin typeface="游ゴシック" panose="020B0400000000000000" pitchFamily="50" charset="-128"/>
                <a:ea typeface="游ゴシック" panose="020B0400000000000000" pitchFamily="50" charset="-128"/>
              </a:rPr>
              <a:t>100%</a:t>
            </a:r>
            <a:r>
              <a:rPr lang="ja-JP" altLang="en-US" sz="1400" dirty="0">
                <a:latin typeface="游ゴシック" panose="020B0400000000000000" pitchFamily="50" charset="-128"/>
                <a:ea typeface="游ゴシック" panose="020B0400000000000000" pitchFamily="50" charset="-128"/>
              </a:rPr>
              <a:t>出資　</a:t>
            </a:r>
            <a:r>
              <a:rPr lang="ja-JP" altLang="en-US" sz="1400" b="1" dirty="0">
                <a:latin typeface="游ゴシック" panose="020B0400000000000000" pitchFamily="50" charset="-128"/>
                <a:ea typeface="游ゴシック" panose="020B0400000000000000" pitchFamily="50" charset="-128"/>
              </a:rPr>
              <a:t>設立</a:t>
            </a:r>
            <a:r>
              <a:rPr lang="ja-JP" altLang="en-US"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rPr>
              <a:t>2010</a:t>
            </a:r>
            <a:r>
              <a:rPr lang="ja-JP" altLang="en-US" sz="1400" dirty="0">
                <a:latin typeface="游ゴシック" panose="020B0400000000000000" pitchFamily="50" charset="-128"/>
                <a:ea typeface="游ゴシック" panose="020B0400000000000000" pitchFamily="50" charset="-128"/>
              </a:rPr>
              <a:t>年</a:t>
            </a:r>
            <a:r>
              <a:rPr lang="en-US" altLang="ja-JP" sz="1400" dirty="0">
                <a:latin typeface="游ゴシック" panose="020B0400000000000000" pitchFamily="50" charset="-128"/>
                <a:ea typeface="游ゴシック" panose="020B0400000000000000" pitchFamily="50" charset="-128"/>
              </a:rPr>
              <a:t>10</a:t>
            </a:r>
            <a:r>
              <a:rPr lang="ja-JP" altLang="en-US" sz="1400" dirty="0">
                <a:latin typeface="游ゴシック" panose="020B0400000000000000" pitchFamily="50" charset="-128"/>
                <a:ea typeface="游ゴシック" panose="020B0400000000000000" pitchFamily="50" charset="-128"/>
              </a:rPr>
              <a:t>月</a:t>
            </a:r>
            <a:r>
              <a:rPr lang="en-US" altLang="ja-JP" sz="1400" dirty="0">
                <a:latin typeface="游ゴシック" panose="020B0400000000000000" pitchFamily="50" charset="-128"/>
                <a:ea typeface="游ゴシック" panose="020B0400000000000000" pitchFamily="50" charset="-128"/>
              </a:rPr>
              <a:t>20</a:t>
            </a:r>
            <a:r>
              <a:rPr lang="ja-JP" altLang="en-US" sz="1400" dirty="0">
                <a:latin typeface="游ゴシック" panose="020B0400000000000000" pitchFamily="50" charset="-128"/>
                <a:ea typeface="游ゴシック" panose="020B0400000000000000" pitchFamily="50" charset="-128"/>
              </a:rPr>
              <a:t>日</a:t>
            </a:r>
          </a:p>
          <a:p>
            <a:pPr fontAlgn="base"/>
            <a:r>
              <a:rPr lang="ja-JP" altLang="en-US" sz="1400" b="1" dirty="0">
                <a:latin typeface="游ゴシック" panose="020B0400000000000000" pitchFamily="50" charset="-128"/>
                <a:ea typeface="游ゴシック" panose="020B0400000000000000" pitchFamily="50" charset="-128"/>
              </a:rPr>
              <a:t>所在地</a:t>
            </a:r>
            <a:r>
              <a:rPr lang="ja-JP" altLang="en-US"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rPr>
              <a:t>2F, E-Town 1, 364 Cong </a:t>
            </a:r>
            <a:r>
              <a:rPr lang="en-US" altLang="ja-JP" sz="1400" dirty="0" err="1">
                <a:latin typeface="游ゴシック" panose="020B0400000000000000" pitchFamily="50" charset="-128"/>
                <a:ea typeface="游ゴシック" panose="020B0400000000000000" pitchFamily="50" charset="-128"/>
              </a:rPr>
              <a:t>Hoa</a:t>
            </a:r>
            <a:r>
              <a:rPr lang="en-US" altLang="ja-JP" sz="1400" dirty="0">
                <a:latin typeface="游ゴシック" panose="020B0400000000000000" pitchFamily="50" charset="-128"/>
                <a:ea typeface="游ゴシック" panose="020B0400000000000000" pitchFamily="50" charset="-128"/>
              </a:rPr>
              <a:t> ST., Tan </a:t>
            </a:r>
            <a:r>
              <a:rPr lang="en-US" altLang="ja-JP" sz="1400" dirty="0" err="1">
                <a:latin typeface="游ゴシック" panose="020B0400000000000000" pitchFamily="50" charset="-128"/>
                <a:ea typeface="游ゴシック" panose="020B0400000000000000" pitchFamily="50" charset="-128"/>
              </a:rPr>
              <a:t>Binh</a:t>
            </a:r>
            <a:r>
              <a:rPr lang="en-US" altLang="ja-JP" sz="1400" dirty="0">
                <a:latin typeface="游ゴシック" panose="020B0400000000000000" pitchFamily="50" charset="-128"/>
                <a:ea typeface="游ゴシック" panose="020B0400000000000000" pitchFamily="50" charset="-128"/>
              </a:rPr>
              <a:t> Dist., Ho Chi Minh City, VIETNAM</a:t>
            </a:r>
          </a:p>
          <a:p>
            <a:pPr fontAlgn="base"/>
            <a:r>
              <a:rPr lang="en-US" altLang="ja-JP" sz="1400" b="1" dirty="0">
                <a:latin typeface="游ゴシック" panose="020B0400000000000000" pitchFamily="50" charset="-128"/>
                <a:ea typeface="游ゴシック" panose="020B0400000000000000" pitchFamily="50" charset="-128"/>
              </a:rPr>
              <a:t>TEL</a:t>
            </a:r>
            <a:r>
              <a:rPr lang="ja-JP" altLang="en-US"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rPr>
              <a:t>+84-28-3810-3385</a:t>
            </a:r>
            <a:r>
              <a:rPr lang="ja-JP" altLang="en-US" sz="1400" dirty="0">
                <a:latin typeface="游ゴシック" panose="020B0400000000000000" pitchFamily="50" charset="-128"/>
                <a:ea typeface="游ゴシック" panose="020B0400000000000000" pitchFamily="50" charset="-128"/>
              </a:rPr>
              <a:t>　</a:t>
            </a:r>
            <a:r>
              <a:rPr lang="en-US" altLang="ja-JP" sz="1400" b="1" dirty="0">
                <a:latin typeface="游ゴシック" panose="020B0400000000000000" pitchFamily="50" charset="-128"/>
                <a:ea typeface="游ゴシック" panose="020B0400000000000000" pitchFamily="50" charset="-128"/>
              </a:rPr>
              <a:t>Web</a:t>
            </a:r>
            <a:r>
              <a:rPr lang="ja-JP" altLang="en-US" sz="1400" b="1" dirty="0">
                <a:latin typeface="游ゴシック" panose="020B0400000000000000" pitchFamily="50" charset="-128"/>
                <a:ea typeface="游ゴシック" panose="020B0400000000000000" pitchFamily="50" charset="-128"/>
              </a:rPr>
              <a:t>サイト</a:t>
            </a:r>
            <a:r>
              <a:rPr lang="ja-JP" altLang="en-US"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hlinkClick r:id="rId4"/>
              </a:rPr>
              <a:t>http://www.system-exe.com.vn/</a:t>
            </a:r>
            <a:endParaRPr lang="en-US" altLang="ja-JP" sz="1400" dirty="0">
              <a:latin typeface="游ゴシック" panose="020B0400000000000000" pitchFamily="50" charset="-128"/>
              <a:ea typeface="游ゴシック" panose="020B0400000000000000" pitchFamily="50" charset="-128"/>
            </a:endParaRPr>
          </a:p>
        </p:txBody>
      </p:sp>
      <p:grpSp>
        <p:nvGrpSpPr>
          <p:cNvPr id="9" name="グループ化 8"/>
          <p:cNvGrpSpPr/>
          <p:nvPr/>
        </p:nvGrpSpPr>
        <p:grpSpPr>
          <a:xfrm>
            <a:off x="143999" y="3456000"/>
            <a:ext cx="8856001" cy="2880000"/>
            <a:chOff x="143999" y="3240000"/>
            <a:chExt cx="8856001" cy="2880000"/>
          </a:xfrm>
        </p:grpSpPr>
        <p:sp>
          <p:nvSpPr>
            <p:cNvPr id="13" name="正方形/長方形 12"/>
            <p:cNvSpPr/>
            <p:nvPr/>
          </p:nvSpPr>
          <p:spPr>
            <a:xfrm>
              <a:off x="143999" y="3600000"/>
              <a:ext cx="4356000" cy="122400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lIns="72000" tIns="72000" rIns="72000" bIns="72000" rtlCol="0" anchor="t"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latinLnBrk="1"/>
              <a:r>
                <a:rPr lang="en-US" altLang="ja-JP" sz="1400" dirty="0">
                  <a:solidFill>
                    <a:schemeClr val="tx1"/>
                  </a:solidFill>
                  <a:latin typeface="游ゴシック" panose="020B0400000000000000" pitchFamily="50" charset="-128"/>
                  <a:ea typeface="游ゴシック" panose="020B0400000000000000" pitchFamily="50" charset="-128"/>
                </a:rPr>
                <a:t>2012</a:t>
              </a:r>
              <a:r>
                <a:rPr lang="ja-JP" altLang="en-US" sz="1400" dirty="0">
                  <a:solidFill>
                    <a:schemeClr val="tx1"/>
                  </a:solidFill>
                  <a:latin typeface="游ゴシック" panose="020B0400000000000000" pitchFamily="50" charset="-128"/>
                  <a:ea typeface="游ゴシック" panose="020B0400000000000000" pitchFamily="50" charset="-128"/>
                </a:rPr>
                <a:t>年</a:t>
              </a:r>
              <a:r>
                <a:rPr lang="en-US" altLang="ja-JP" sz="1400" dirty="0">
                  <a:solidFill>
                    <a:schemeClr val="tx1"/>
                  </a:solidFill>
                  <a:latin typeface="游ゴシック" panose="020B0400000000000000" pitchFamily="50" charset="-128"/>
                  <a:ea typeface="游ゴシック" panose="020B0400000000000000" pitchFamily="50" charset="-128"/>
                </a:rPr>
                <a:t>4</a:t>
              </a:r>
              <a:r>
                <a:rPr lang="ja-JP" altLang="en-US" sz="1400" dirty="0">
                  <a:solidFill>
                    <a:schemeClr val="tx1"/>
                  </a:solidFill>
                  <a:latin typeface="游ゴシック" panose="020B0400000000000000" pitchFamily="50" charset="-128"/>
                  <a:ea typeface="游ゴシック" panose="020B0400000000000000" pitchFamily="50" charset="-128"/>
                </a:rPr>
                <a:t>月、現地では希少な</a:t>
              </a:r>
              <a:r>
                <a:rPr lang="en-US" altLang="ja-JP" sz="1400" b="1" dirty="0">
                  <a:solidFill>
                    <a:schemeClr val="accent1"/>
                  </a:solidFill>
                  <a:latin typeface="游ゴシック" panose="020B0400000000000000" pitchFamily="50" charset="-128"/>
                  <a:ea typeface="游ゴシック" panose="020B0400000000000000" pitchFamily="50" charset="-128"/>
                </a:rPr>
                <a:t>ISMS</a:t>
              </a:r>
              <a:r>
                <a:rPr lang="ja-JP" altLang="en-US" sz="1400" b="1" dirty="0">
                  <a:solidFill>
                    <a:schemeClr val="accent1"/>
                  </a:solidFill>
                  <a:latin typeface="游ゴシック" panose="020B0400000000000000" pitchFamily="50" charset="-128"/>
                  <a:ea typeface="游ゴシック" panose="020B0400000000000000" pitchFamily="50" charset="-128"/>
                </a:rPr>
                <a:t>（</a:t>
              </a:r>
              <a:r>
                <a:rPr lang="en-US" altLang="ja-JP" sz="1400" b="1" dirty="0">
                  <a:solidFill>
                    <a:schemeClr val="accent1"/>
                  </a:solidFill>
                  <a:latin typeface="游ゴシック" panose="020B0400000000000000" pitchFamily="50" charset="-128"/>
                  <a:ea typeface="游ゴシック" panose="020B0400000000000000" pitchFamily="50" charset="-128"/>
                </a:rPr>
                <a:t>ISO/IEC27001</a:t>
              </a:r>
              <a:r>
                <a:rPr lang="ja-JP" altLang="en-US" sz="1400" b="1" dirty="0">
                  <a:solidFill>
                    <a:schemeClr val="accent1"/>
                  </a:solidFill>
                  <a:latin typeface="游ゴシック" panose="020B0400000000000000" pitchFamily="50" charset="-128"/>
                  <a:ea typeface="游ゴシック" panose="020B0400000000000000" pitchFamily="50" charset="-128"/>
                </a:rPr>
                <a:t>）</a:t>
              </a:r>
              <a:r>
                <a:rPr lang="ja-JP" altLang="en-US" sz="1400" dirty="0">
                  <a:solidFill>
                    <a:schemeClr val="tx1"/>
                  </a:solidFill>
                  <a:latin typeface="游ゴシック" panose="020B0400000000000000" pitchFamily="50" charset="-128"/>
                  <a:ea typeface="游ゴシック" panose="020B0400000000000000" pitchFamily="50" charset="-128"/>
                </a:rPr>
                <a:t>を取得しました。</a:t>
              </a:r>
              <a:r>
                <a:rPr lang="en-US" altLang="ja-JP" sz="1400" dirty="0">
                  <a:solidFill>
                    <a:schemeClr val="tx1"/>
                  </a:solidFill>
                  <a:latin typeface="游ゴシック" panose="020B0400000000000000" pitchFamily="50" charset="-128"/>
                  <a:ea typeface="游ゴシック" panose="020B0400000000000000" pitchFamily="50" charset="-128"/>
                </a:rPr>
                <a:t>ID</a:t>
              </a:r>
              <a:r>
                <a:rPr lang="ja-JP" altLang="en-US" sz="1400" dirty="0">
                  <a:solidFill>
                    <a:schemeClr val="tx1"/>
                  </a:solidFill>
                  <a:latin typeface="游ゴシック" panose="020B0400000000000000" pitchFamily="50" charset="-128"/>
                  <a:ea typeface="游ゴシック" panose="020B0400000000000000" pitchFamily="50" charset="-128"/>
                </a:rPr>
                <a:t>カードによる入退室管理はもちろん、開発室への私物持ち込みもなし。日本の大手保険会社様のセキュリティ要件もクリアした現地トップクラスのセキュアな環境です。</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4680000" y="3600000"/>
              <a:ext cx="4320000" cy="248400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lIns="72000" tIns="72000" rIns="72000" bIns="72000" rtlCol="0" anchor="t"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システムエグゼベトナムでは、</a:t>
              </a:r>
              <a:r>
                <a:rPr lang="en-US" altLang="ja-JP" sz="1400" dirty="0">
                  <a:solidFill>
                    <a:schemeClr val="tx1"/>
                  </a:solidFill>
                  <a:latin typeface="游ゴシック" panose="020B0400000000000000" pitchFamily="50" charset="-128"/>
                  <a:ea typeface="游ゴシック" panose="020B0400000000000000" pitchFamily="50" charset="-128"/>
                </a:rPr>
                <a:t> ISO9001</a:t>
              </a:r>
              <a:r>
                <a:rPr lang="ja-JP" altLang="en-US" sz="1400" dirty="0">
                  <a:solidFill>
                    <a:schemeClr val="tx1"/>
                  </a:solidFill>
                  <a:latin typeface="游ゴシック" panose="020B0400000000000000" pitchFamily="50" charset="-128"/>
                  <a:ea typeface="游ゴシック" panose="020B0400000000000000" pitchFamily="50" charset="-128"/>
                </a:rPr>
                <a:t>の認証を取得している</a:t>
              </a:r>
              <a:r>
                <a:rPr lang="ja-JP" altLang="en-US" sz="1400" b="1" dirty="0">
                  <a:solidFill>
                    <a:schemeClr val="accent1"/>
                  </a:solidFill>
                  <a:latin typeface="游ゴシック" panose="020B0400000000000000" pitchFamily="50" charset="-128"/>
                  <a:ea typeface="游ゴシック" panose="020B0400000000000000" pitchFamily="50" charset="-128"/>
                </a:rPr>
                <a:t>システムエグゼの開発プロセスに準拠した開発</a:t>
              </a:r>
              <a:r>
                <a:rPr lang="ja-JP" altLang="en-US" sz="1400" dirty="0">
                  <a:solidFill>
                    <a:schemeClr val="tx1"/>
                  </a:solidFill>
                  <a:latin typeface="游ゴシック" panose="020B0400000000000000" pitchFamily="50" charset="-128"/>
                  <a:ea typeface="游ゴシック" panose="020B0400000000000000" pitchFamily="50" charset="-128"/>
                </a:rPr>
                <a:t>を行っております。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また、システムエグゼベトナムでは</a:t>
              </a:r>
              <a:r>
                <a:rPr lang="ja-JP" altLang="en-US" sz="1400" b="1" dirty="0">
                  <a:solidFill>
                    <a:schemeClr val="accent1"/>
                  </a:solidFill>
                  <a:latin typeface="游ゴシック" panose="020B0400000000000000" pitchFamily="50" charset="-128"/>
                  <a:ea typeface="游ゴシック" panose="020B0400000000000000" pitchFamily="50" charset="-128"/>
                </a:rPr>
                <a:t>年間</a:t>
              </a:r>
              <a:r>
                <a:rPr lang="en-US" altLang="ja-JP" sz="1400" b="1" dirty="0">
                  <a:solidFill>
                    <a:schemeClr val="accent1"/>
                  </a:solidFill>
                  <a:latin typeface="游ゴシック" panose="020B0400000000000000" pitchFamily="50" charset="-128"/>
                  <a:ea typeface="游ゴシック" panose="020B0400000000000000" pitchFamily="50" charset="-128"/>
                </a:rPr>
                <a:t>5,000</a:t>
              </a:r>
              <a:r>
                <a:rPr lang="ja-JP" altLang="en-US" sz="1400" b="1" dirty="0">
                  <a:solidFill>
                    <a:schemeClr val="accent1"/>
                  </a:solidFill>
                  <a:latin typeface="游ゴシック" panose="020B0400000000000000" pitchFamily="50" charset="-128"/>
                  <a:ea typeface="游ゴシック" panose="020B0400000000000000" pitchFamily="50" charset="-128"/>
                </a:rPr>
                <a:t>時間以上の日本語学習</a:t>
              </a:r>
              <a:r>
                <a:rPr lang="ja-JP" altLang="en-US" sz="1400" dirty="0">
                  <a:solidFill>
                    <a:schemeClr val="tx1"/>
                  </a:solidFill>
                  <a:latin typeface="游ゴシック" panose="020B0400000000000000" pitchFamily="50" charset="-128"/>
                  <a:ea typeface="游ゴシック" panose="020B0400000000000000" pitchFamily="50" charset="-128"/>
                </a:rPr>
                <a:t>を実施し、社員の半数近くが</a:t>
              </a:r>
              <a:r>
                <a:rPr lang="en-US" altLang="ja-JP" sz="1400" dirty="0">
                  <a:solidFill>
                    <a:schemeClr val="tx1"/>
                  </a:solidFill>
                  <a:latin typeface="游ゴシック" panose="020B0400000000000000" pitchFamily="50" charset="-128"/>
                  <a:ea typeface="游ゴシック" panose="020B0400000000000000" pitchFamily="50" charset="-128"/>
                </a:rPr>
                <a:t>JLPT</a:t>
              </a:r>
              <a:r>
                <a:rPr lang="ja-JP" altLang="en-US" sz="1400" dirty="0">
                  <a:solidFill>
                    <a:schemeClr val="tx1"/>
                  </a:solidFill>
                  <a:latin typeface="游ゴシック" panose="020B0400000000000000" pitchFamily="50" charset="-128"/>
                  <a:ea typeface="游ゴシック" panose="020B0400000000000000" pitchFamily="50" charset="-128"/>
                </a:rPr>
                <a:t>日本語能力試験の資格を保有しております。毎年日本に半年～</a:t>
              </a:r>
              <a:r>
                <a:rPr lang="en-US" altLang="ja-JP" sz="1400" dirty="0">
                  <a:solidFill>
                    <a:schemeClr val="tx1"/>
                  </a:solidFill>
                  <a:latin typeface="游ゴシック" panose="020B0400000000000000" pitchFamily="50" charset="-128"/>
                  <a:ea typeface="游ゴシック" panose="020B0400000000000000" pitchFamily="50" charset="-128"/>
                </a:rPr>
                <a:t>1</a:t>
              </a:r>
              <a:r>
                <a:rPr lang="ja-JP" altLang="en-US" sz="1400" dirty="0">
                  <a:solidFill>
                    <a:schemeClr val="tx1"/>
                  </a:solidFill>
                  <a:latin typeface="游ゴシック" panose="020B0400000000000000" pitchFamily="50" charset="-128"/>
                  <a:ea typeface="游ゴシック" panose="020B0400000000000000" pitchFamily="50" charset="-128"/>
                </a:rPr>
                <a:t>年留学させての研修も行っており、日本の業務の進め方の理解や品質への意識向上に努めています。さらに、日本のシステムエグゼで経験を積んだメンバーがベトナムに転籍しており、日本の文化が浸透してい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nvGrpSpPr>
            <p:cNvPr id="7" name="グループ化 6"/>
            <p:cNvGrpSpPr/>
            <p:nvPr/>
          </p:nvGrpSpPr>
          <p:grpSpPr>
            <a:xfrm>
              <a:off x="144000" y="3240000"/>
              <a:ext cx="4356000" cy="288000"/>
              <a:chOff x="144000" y="4288216"/>
              <a:chExt cx="4356000" cy="288000"/>
            </a:xfrm>
          </p:grpSpPr>
          <p:sp>
            <p:nvSpPr>
              <p:cNvPr id="20" name="正方形/長方形 19"/>
              <p:cNvSpPr/>
              <p:nvPr/>
            </p:nvSpPr>
            <p:spPr>
              <a:xfrm>
                <a:off x="144000" y="4288216"/>
                <a:ext cx="4356000" cy="288000"/>
              </a:xfrm>
              <a:prstGeom prst="rect">
                <a:avLst/>
              </a:prstGeom>
              <a:solidFill>
                <a:schemeClr val="bg1">
                  <a:lumMod val="95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ホームベース 20"/>
              <p:cNvSpPr/>
              <p:nvPr/>
            </p:nvSpPr>
            <p:spPr>
              <a:xfrm>
                <a:off x="144000" y="4288216"/>
                <a:ext cx="360000" cy="288000"/>
              </a:xfrm>
              <a:prstGeom prst="homePlate">
                <a:avLst/>
              </a:prstGeom>
              <a:solidFill>
                <a:schemeClr val="accent1">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プレースホルダー 11"/>
              <p:cNvSpPr txBox="1">
                <a:spLocks/>
              </p:cNvSpPr>
              <p:nvPr/>
            </p:nvSpPr>
            <p:spPr>
              <a:xfrm>
                <a:off x="504000" y="4288216"/>
                <a:ext cx="2736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強固なセキュリティ</a:t>
                </a:r>
                <a:endParaRPr lang="en-US" sz="1600" b="1" dirty="0">
                  <a:solidFill>
                    <a:schemeClr val="accent1">
                      <a:lumMod val="50000"/>
                    </a:schemeClr>
                  </a:solidFill>
                  <a:latin typeface="游ゴシック" panose="020B0400000000000000" pitchFamily="50" charset="-128"/>
                </a:endParaRPr>
              </a:p>
            </p:txBody>
          </p:sp>
        </p:grpSp>
        <p:grpSp>
          <p:nvGrpSpPr>
            <p:cNvPr id="23" name="グループ化 22"/>
            <p:cNvGrpSpPr/>
            <p:nvPr/>
          </p:nvGrpSpPr>
          <p:grpSpPr>
            <a:xfrm>
              <a:off x="4644000" y="3240000"/>
              <a:ext cx="4356000" cy="288000"/>
              <a:chOff x="144000" y="4288216"/>
              <a:chExt cx="4356000" cy="288000"/>
            </a:xfrm>
          </p:grpSpPr>
          <p:sp>
            <p:nvSpPr>
              <p:cNvPr id="24" name="正方形/長方形 23"/>
              <p:cNvSpPr/>
              <p:nvPr/>
            </p:nvSpPr>
            <p:spPr>
              <a:xfrm>
                <a:off x="144000" y="4288216"/>
                <a:ext cx="4356000" cy="288000"/>
              </a:xfrm>
              <a:prstGeom prst="rect">
                <a:avLst/>
              </a:prstGeom>
              <a:solidFill>
                <a:schemeClr val="bg1">
                  <a:lumMod val="95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ホームベース 24"/>
              <p:cNvSpPr/>
              <p:nvPr/>
            </p:nvSpPr>
            <p:spPr>
              <a:xfrm>
                <a:off x="144000" y="4288216"/>
                <a:ext cx="360000" cy="288000"/>
              </a:xfrm>
              <a:prstGeom prst="homePlate">
                <a:avLst/>
              </a:prstGeom>
              <a:solidFill>
                <a:schemeClr val="accent1">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プレースホルダー 11"/>
              <p:cNvSpPr txBox="1">
                <a:spLocks/>
              </p:cNvSpPr>
              <p:nvPr/>
            </p:nvSpPr>
            <p:spPr>
              <a:xfrm>
                <a:off x="504000" y="4288216"/>
                <a:ext cx="2736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日本文化の理解</a:t>
                </a:r>
                <a:endParaRPr lang="en-US" sz="1600" b="1" dirty="0">
                  <a:solidFill>
                    <a:schemeClr val="accent1">
                      <a:lumMod val="50000"/>
                    </a:schemeClr>
                  </a:solidFill>
                  <a:latin typeface="游ゴシック" panose="020B0400000000000000" pitchFamily="50" charset="-128"/>
                </a:endParaRPr>
              </a:p>
            </p:txBody>
          </p:sp>
        </p:grpSp>
        <p:grpSp>
          <p:nvGrpSpPr>
            <p:cNvPr id="3" name="グループ化 2"/>
            <p:cNvGrpSpPr/>
            <p:nvPr/>
          </p:nvGrpSpPr>
          <p:grpSpPr>
            <a:xfrm>
              <a:off x="144000" y="4968000"/>
              <a:ext cx="4356001" cy="1152000"/>
              <a:chOff x="324000" y="4896000"/>
              <a:chExt cx="4356001" cy="1152000"/>
            </a:xfrm>
          </p:grpSpPr>
          <p:sp>
            <p:nvSpPr>
              <p:cNvPr id="28" name="正方形/長方形 27"/>
              <p:cNvSpPr/>
              <p:nvPr/>
            </p:nvSpPr>
            <p:spPr>
              <a:xfrm>
                <a:off x="324000" y="5256000"/>
                <a:ext cx="4356000" cy="792000"/>
              </a:xfrm>
              <a:prstGeom prst="rect">
                <a:avLst/>
              </a:prstGeom>
              <a:noFill/>
              <a:ln>
                <a:noFill/>
              </a:ln>
            </p:spPr>
            <p:style>
              <a:lnRef idx="3">
                <a:schemeClr val="lt1"/>
              </a:lnRef>
              <a:fillRef idx="1">
                <a:schemeClr val="accent3"/>
              </a:fillRef>
              <a:effectRef idx="1">
                <a:schemeClr val="accent3"/>
              </a:effectRef>
              <a:fontRef idx="minor">
                <a:schemeClr val="lt1"/>
              </a:fontRef>
            </p:style>
            <p:txBody>
              <a:bodyPr lIns="72000" tIns="72000" rIns="72000" bIns="72000" rtlCol="0" anchor="t" anchorCtr="0"/>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r>
                  <a:rPr lang="ja-JP" altLang="en-US" sz="1400" dirty="0">
                    <a:solidFill>
                      <a:schemeClr val="tx1"/>
                    </a:solidFill>
                    <a:latin typeface="游ゴシック" panose="020B0400000000000000" pitchFamily="50" charset="-128"/>
                    <a:ea typeface="游ゴシック" panose="020B0400000000000000" pitchFamily="50" charset="-128"/>
                  </a:rPr>
                  <a:t>システムエグゼとの連携により、保険（生損保）、製造（生産管理）、医療といった</a:t>
                </a:r>
                <a:r>
                  <a:rPr lang="ja-JP" altLang="en-US" sz="1400" b="1" dirty="0">
                    <a:solidFill>
                      <a:schemeClr val="accent1"/>
                    </a:solidFill>
                    <a:latin typeface="游ゴシック" panose="020B0400000000000000" pitchFamily="50" charset="-128"/>
                    <a:ea typeface="游ゴシック" panose="020B0400000000000000" pitchFamily="50" charset="-128"/>
                  </a:rPr>
                  <a:t>専門業務に強いオフショア開発サービス</a:t>
                </a:r>
                <a:r>
                  <a:rPr lang="ja-JP" altLang="en-US" sz="1400" dirty="0">
                    <a:solidFill>
                      <a:schemeClr val="tx1"/>
                    </a:solidFill>
                    <a:latin typeface="游ゴシック" panose="020B0400000000000000" pitchFamily="50" charset="-128"/>
                    <a:ea typeface="游ゴシック" panose="020B0400000000000000" pitchFamily="50" charset="-128"/>
                  </a:rPr>
                  <a:t>をご提供いたしております。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nvGrpSpPr>
              <p:cNvPr id="29" name="グループ化 28"/>
              <p:cNvGrpSpPr/>
              <p:nvPr/>
            </p:nvGrpSpPr>
            <p:grpSpPr>
              <a:xfrm>
                <a:off x="324001" y="4896000"/>
                <a:ext cx="4356000" cy="288000"/>
                <a:chOff x="144000" y="4288216"/>
                <a:chExt cx="4356000" cy="288000"/>
              </a:xfrm>
            </p:grpSpPr>
            <p:sp>
              <p:nvSpPr>
                <p:cNvPr id="30" name="正方形/長方形 29"/>
                <p:cNvSpPr/>
                <p:nvPr/>
              </p:nvSpPr>
              <p:spPr>
                <a:xfrm>
                  <a:off x="144000" y="4288216"/>
                  <a:ext cx="4356000" cy="288000"/>
                </a:xfrm>
                <a:prstGeom prst="rect">
                  <a:avLst/>
                </a:prstGeom>
                <a:solidFill>
                  <a:schemeClr val="bg1">
                    <a:lumMod val="95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ホームベース 30"/>
                <p:cNvSpPr/>
                <p:nvPr/>
              </p:nvSpPr>
              <p:spPr>
                <a:xfrm>
                  <a:off x="144000" y="4288216"/>
                  <a:ext cx="360000" cy="288000"/>
                </a:xfrm>
                <a:prstGeom prst="homePlate">
                  <a:avLst/>
                </a:prstGeom>
                <a:solidFill>
                  <a:schemeClr val="accent1">
                    <a:lumMod val="60000"/>
                    <a:lumOff val="40000"/>
                  </a:schemeClr>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プレースホルダー 11"/>
                <p:cNvSpPr txBox="1">
                  <a:spLocks/>
                </p:cNvSpPr>
                <p:nvPr/>
              </p:nvSpPr>
              <p:spPr>
                <a:xfrm>
                  <a:off x="504000" y="4288216"/>
                  <a:ext cx="2736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専門業務システムの開発にも対応</a:t>
                  </a:r>
                  <a:endParaRPr lang="en-US" sz="1600" b="1" dirty="0">
                    <a:solidFill>
                      <a:schemeClr val="accent1">
                        <a:lumMod val="50000"/>
                      </a:schemeClr>
                    </a:solidFill>
                    <a:latin typeface="游ゴシック" panose="020B0400000000000000" pitchFamily="50" charset="-128"/>
                  </a:endParaRPr>
                </a:p>
              </p:txBody>
            </p:sp>
          </p:grpSp>
        </p:grpSp>
      </p:grpSp>
    </p:spTree>
    <p:extLst>
      <p:ext uri="{BB962C8B-B14F-4D97-AF65-F5344CB8AC3E}">
        <p14:creationId xmlns:p14="http://schemas.microsoft.com/office/powerpoint/2010/main" val="4037646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柔軟な対応で安定稼働をサポートする保守</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9</a:t>
            </a:fld>
            <a:endParaRPr kumimoji="1" lang="ja-JP" altLang="en-US"/>
          </a:p>
        </p:txBody>
      </p:sp>
      <p:grpSp>
        <p:nvGrpSpPr>
          <p:cNvPr id="80" name="グループ化 79"/>
          <p:cNvGrpSpPr/>
          <p:nvPr/>
        </p:nvGrpSpPr>
        <p:grpSpPr>
          <a:xfrm>
            <a:off x="4716000" y="1368000"/>
            <a:ext cx="3888000" cy="2232000"/>
            <a:chOff x="4788000" y="1152000"/>
            <a:chExt cx="3888000" cy="2232000"/>
          </a:xfrm>
        </p:grpSpPr>
        <p:sp>
          <p:nvSpPr>
            <p:cNvPr id="66" name="テキスト プレースホルダー 11"/>
            <p:cNvSpPr txBox="1">
              <a:spLocks/>
            </p:cNvSpPr>
            <p:nvPr/>
          </p:nvSpPr>
          <p:spPr>
            <a:xfrm>
              <a:off x="4788000" y="1152000"/>
              <a:ext cx="3888000" cy="2232000"/>
            </a:xfrm>
            <a:prstGeom prst="roundRect">
              <a:avLst>
                <a:gd name="adj" fmla="val 2940"/>
              </a:avLst>
            </a:prstGeom>
            <a:solidFill>
              <a:schemeClr val="accent2">
                <a:lumMod val="20000"/>
                <a:lumOff val="80000"/>
              </a:schemeClr>
            </a:solidFill>
          </p:spPr>
          <p:txBody>
            <a:bodyPr wrap="square" lIns="144000" tIns="504000" rIns="144000" bIns="36000" anchor="t">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r>
                <a:rPr lang="ja-JP" altLang="en-US" sz="1400" dirty="0">
                  <a:solidFill>
                    <a:schemeClr val="tx1"/>
                  </a:solidFill>
                  <a:latin typeface="游ゴシック" panose="020B0400000000000000" pitchFamily="50" charset="-128"/>
                </a:rPr>
                <a:t>保守作業としての工数を予め確保いたします。これにより、迅速な対応を実現します。</a:t>
              </a:r>
              <a:br>
                <a:rPr lang="en-US" altLang="ja-JP" sz="1400" dirty="0">
                  <a:solidFill>
                    <a:schemeClr val="tx1"/>
                  </a:solidFill>
                  <a:latin typeface="游ゴシック" panose="020B0400000000000000" pitchFamily="50" charset="-128"/>
                </a:rPr>
              </a:br>
              <a:endParaRPr lang="en-US" altLang="ja-JP" sz="1400" dirty="0">
                <a:solidFill>
                  <a:schemeClr val="tx1"/>
                </a:solidFill>
                <a:latin typeface="游ゴシック" panose="020B0400000000000000" pitchFamily="50" charset="-128"/>
              </a:endParaRPr>
            </a:p>
            <a:p>
              <a:pPr>
                <a:spcBef>
                  <a:spcPts val="600"/>
                </a:spcBef>
                <a:buFont typeface="游ゴシック" panose="020B0400000000000000" pitchFamily="50" charset="-128"/>
                <a:buChar char="※"/>
              </a:pPr>
              <a:r>
                <a:rPr lang="ja-JP" altLang="en-US" sz="1400" dirty="0">
                  <a:solidFill>
                    <a:schemeClr val="tx1"/>
                  </a:solidFill>
                  <a:latin typeface="游ゴシック" panose="020B0400000000000000" pitchFamily="50" charset="-128"/>
                </a:rPr>
                <a:t>保守につきましては準委任契約とさせて頂き、</a:t>
              </a:r>
              <a:r>
                <a:rPr lang="en-US" altLang="ja-JP" sz="1400" dirty="0">
                  <a:solidFill>
                    <a:schemeClr val="tx1"/>
                  </a:solidFill>
                  <a:latin typeface="游ゴシック" panose="020B0400000000000000" pitchFamily="50" charset="-128"/>
                </a:rPr>
                <a:t>1</a:t>
              </a:r>
              <a:r>
                <a:rPr lang="ja-JP" altLang="en-US" sz="1400" dirty="0">
                  <a:solidFill>
                    <a:schemeClr val="tx1"/>
                  </a:solidFill>
                  <a:latin typeface="游ゴシック" panose="020B0400000000000000" pitchFamily="50" charset="-128"/>
                </a:rPr>
                <a:t>か月間の工数の上限時間を設けさせて頂きます。</a:t>
              </a:r>
              <a:endParaRPr lang="en-US" altLang="ja-JP" sz="1400" dirty="0">
                <a:solidFill>
                  <a:schemeClr val="tx1"/>
                </a:solidFill>
                <a:latin typeface="游ゴシック" panose="020B0400000000000000" pitchFamily="50" charset="-128"/>
              </a:endParaRPr>
            </a:p>
          </p:txBody>
        </p:sp>
        <p:sp>
          <p:nvSpPr>
            <p:cNvPr id="56" name="ホームベース 55"/>
            <p:cNvSpPr/>
            <p:nvPr/>
          </p:nvSpPr>
          <p:spPr>
            <a:xfrm flipH="1">
              <a:off x="8172000" y="1224000"/>
              <a:ext cx="360000" cy="288000"/>
            </a:xfrm>
            <a:prstGeom prst="homePlate">
              <a:avLst/>
            </a:prstGeom>
            <a:solidFill>
              <a:schemeClr val="accent2"/>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プレースホルダー 11"/>
            <p:cNvSpPr txBox="1">
              <a:spLocks/>
            </p:cNvSpPr>
            <p:nvPr/>
          </p:nvSpPr>
          <p:spPr>
            <a:xfrm>
              <a:off x="4788000" y="1224000"/>
              <a:ext cx="3384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a:buNone/>
              </a:pPr>
              <a:r>
                <a:rPr lang="ja-JP" altLang="en-US" sz="1600" b="1" dirty="0">
                  <a:solidFill>
                    <a:schemeClr val="accent1">
                      <a:lumMod val="50000"/>
                    </a:schemeClr>
                  </a:solidFill>
                  <a:latin typeface="游ゴシック" panose="020B0400000000000000" pitchFamily="50" charset="-128"/>
                </a:rPr>
                <a:t>保守工数の確保</a:t>
              </a:r>
              <a:endParaRPr lang="en-US" sz="1600" b="1" dirty="0">
                <a:solidFill>
                  <a:schemeClr val="accent1">
                    <a:lumMod val="50000"/>
                  </a:schemeClr>
                </a:solidFill>
                <a:latin typeface="游ゴシック" panose="020B0400000000000000" pitchFamily="50" charset="-128"/>
              </a:endParaRPr>
            </a:p>
          </p:txBody>
        </p:sp>
      </p:grpSp>
      <p:grpSp>
        <p:nvGrpSpPr>
          <p:cNvPr id="79" name="グループ化 78"/>
          <p:cNvGrpSpPr/>
          <p:nvPr/>
        </p:nvGrpSpPr>
        <p:grpSpPr>
          <a:xfrm>
            <a:off x="4716000" y="3888000"/>
            <a:ext cx="3888000" cy="2232000"/>
            <a:chOff x="4788000" y="4176000"/>
            <a:chExt cx="3888000" cy="2232000"/>
          </a:xfrm>
        </p:grpSpPr>
        <p:sp>
          <p:nvSpPr>
            <p:cNvPr id="68" name="テキスト プレースホルダー 11"/>
            <p:cNvSpPr txBox="1">
              <a:spLocks/>
            </p:cNvSpPr>
            <p:nvPr/>
          </p:nvSpPr>
          <p:spPr>
            <a:xfrm>
              <a:off x="4788000" y="4176000"/>
              <a:ext cx="3888000" cy="2232000"/>
            </a:xfrm>
            <a:prstGeom prst="roundRect">
              <a:avLst>
                <a:gd name="adj" fmla="val 2940"/>
              </a:avLst>
            </a:prstGeom>
            <a:solidFill>
              <a:schemeClr val="accent4">
                <a:lumMod val="20000"/>
                <a:lumOff val="80000"/>
              </a:schemeClr>
            </a:solidFill>
          </p:spPr>
          <p:txBody>
            <a:bodyPr wrap="square" lIns="144000" tIns="504000" rIns="144000" bIns="36000" anchor="t">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r>
                <a:rPr lang="ja-JP" altLang="en-US" sz="1400" dirty="0">
                  <a:solidFill>
                    <a:schemeClr val="tx1"/>
                  </a:solidFill>
                  <a:latin typeface="游ゴシック" panose="020B0400000000000000" pitchFamily="50" charset="-128"/>
                </a:rPr>
                <a:t>弊社にはインフラまたは</a:t>
              </a:r>
              <a:r>
                <a:rPr lang="en-US" altLang="ja-JP" sz="1400" dirty="0">
                  <a:solidFill>
                    <a:schemeClr val="tx1"/>
                  </a:solidFill>
                  <a:latin typeface="游ゴシック" panose="020B0400000000000000" pitchFamily="50" charset="-128"/>
                </a:rPr>
                <a:t>DB</a:t>
              </a:r>
              <a:r>
                <a:rPr lang="ja-JP" altLang="en-US" sz="1400" dirty="0">
                  <a:solidFill>
                    <a:schemeClr val="tx1"/>
                  </a:solidFill>
                  <a:latin typeface="游ゴシック" panose="020B0400000000000000" pitchFamily="50" charset="-128"/>
                </a:rPr>
                <a:t>を専門とする組織がございます。アプリ開発担当部門にて解決が難しい場合に他本部協力を得ることが可能です。</a:t>
              </a:r>
              <a:endParaRPr lang="en-US" altLang="ja-JP" sz="1400" dirty="0">
                <a:solidFill>
                  <a:schemeClr val="tx1"/>
                </a:solidFill>
                <a:latin typeface="游ゴシック" panose="020B0400000000000000" pitchFamily="50" charset="-128"/>
              </a:endParaRPr>
            </a:p>
            <a:p>
              <a:pPr marL="0" indent="0">
                <a:spcBef>
                  <a:spcPts val="600"/>
                </a:spcBef>
                <a:buNone/>
              </a:pPr>
              <a:r>
                <a:rPr lang="ja-JP" altLang="en-US" sz="1400" dirty="0">
                  <a:solidFill>
                    <a:schemeClr val="tx1"/>
                  </a:solidFill>
                  <a:latin typeface="游ゴシック" panose="020B0400000000000000" pitchFamily="50" charset="-128"/>
                </a:rPr>
                <a:t>インフラおよびデータベースに関して、貴社業務を担当するチームもございます。</a:t>
              </a:r>
              <a:endParaRPr lang="en-US" sz="1400" dirty="0">
                <a:solidFill>
                  <a:schemeClr val="tx1"/>
                </a:solidFill>
                <a:latin typeface="游ゴシック" panose="020B0400000000000000" pitchFamily="50" charset="-128"/>
              </a:endParaRPr>
            </a:p>
          </p:txBody>
        </p:sp>
        <p:sp>
          <p:nvSpPr>
            <p:cNvPr id="59" name="ホームベース 58"/>
            <p:cNvSpPr/>
            <p:nvPr/>
          </p:nvSpPr>
          <p:spPr>
            <a:xfrm flipH="1">
              <a:off x="8172000" y="4248000"/>
              <a:ext cx="360000" cy="288000"/>
            </a:xfrm>
            <a:prstGeom prst="homePlate">
              <a:avLst/>
            </a:prstGeom>
            <a:solidFill>
              <a:schemeClr val="accent4"/>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テキスト プレースホルダー 11"/>
            <p:cNvSpPr txBox="1">
              <a:spLocks/>
            </p:cNvSpPr>
            <p:nvPr/>
          </p:nvSpPr>
          <p:spPr>
            <a:xfrm>
              <a:off x="4788000" y="4248000"/>
              <a:ext cx="3384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r">
                <a:buNone/>
              </a:pPr>
              <a:r>
                <a:rPr lang="ja-JP" altLang="en-US" sz="1600" b="1" dirty="0">
                  <a:solidFill>
                    <a:schemeClr val="accent1">
                      <a:lumMod val="50000"/>
                    </a:schemeClr>
                  </a:solidFill>
                  <a:latin typeface="游ゴシック" panose="020B0400000000000000" pitchFamily="50" charset="-128"/>
                </a:rPr>
                <a:t>他本部協力が可能</a:t>
              </a:r>
              <a:endParaRPr lang="en-US" sz="1600" b="1" dirty="0">
                <a:solidFill>
                  <a:schemeClr val="accent1">
                    <a:lumMod val="50000"/>
                  </a:schemeClr>
                </a:solidFill>
                <a:latin typeface="游ゴシック" panose="020B0400000000000000" pitchFamily="50" charset="-128"/>
              </a:endParaRPr>
            </a:p>
          </p:txBody>
        </p:sp>
      </p:grpSp>
      <p:grpSp>
        <p:nvGrpSpPr>
          <p:cNvPr id="81" name="グループ化 80"/>
          <p:cNvGrpSpPr/>
          <p:nvPr/>
        </p:nvGrpSpPr>
        <p:grpSpPr>
          <a:xfrm>
            <a:off x="540000" y="1368000"/>
            <a:ext cx="3888000" cy="2232000"/>
            <a:chOff x="540000" y="1152000"/>
            <a:chExt cx="3888000" cy="2232000"/>
          </a:xfrm>
        </p:grpSpPr>
        <p:sp>
          <p:nvSpPr>
            <p:cNvPr id="64" name="テキスト プレースホルダー 11"/>
            <p:cNvSpPr txBox="1">
              <a:spLocks/>
            </p:cNvSpPr>
            <p:nvPr/>
          </p:nvSpPr>
          <p:spPr>
            <a:xfrm>
              <a:off x="540000" y="1152000"/>
              <a:ext cx="3888000" cy="2232000"/>
            </a:xfrm>
            <a:prstGeom prst="roundRect">
              <a:avLst>
                <a:gd name="adj" fmla="val 2940"/>
              </a:avLst>
            </a:prstGeom>
            <a:solidFill>
              <a:schemeClr val="accent1">
                <a:lumMod val="20000"/>
                <a:lumOff val="80000"/>
              </a:schemeClr>
            </a:solidFill>
          </p:spPr>
          <p:txBody>
            <a:bodyPr wrap="square" lIns="144000" tIns="504000" rIns="144000" bIns="36000" anchor="t">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r>
                <a:rPr lang="ja-JP" altLang="en-US" sz="1400" dirty="0">
                  <a:solidFill>
                    <a:schemeClr val="tx1"/>
                  </a:solidFill>
                  <a:latin typeface="游ゴシック" panose="020B0400000000000000" pitchFamily="50" charset="-128"/>
                </a:rPr>
                <a:t>弊社千葉オフィスは、</a:t>
              </a:r>
              <a:r>
                <a:rPr lang="ja-JP" altLang="en-US" sz="1400" b="1" dirty="0">
                  <a:latin typeface="游ゴシック" panose="020B0400000000000000" pitchFamily="50" charset="-128"/>
                </a:rPr>
                <a:t>貴社へリモート接続できる環境</a:t>
              </a:r>
              <a:r>
                <a:rPr lang="ja-JP" altLang="en-US" sz="1400" dirty="0">
                  <a:solidFill>
                    <a:schemeClr val="tx1"/>
                  </a:solidFill>
                  <a:latin typeface="游ゴシック" panose="020B0400000000000000" pitchFamily="50" charset="-128"/>
                </a:rPr>
                <a:t>が整っております。そのため、弊社内からの対応作業が可能です。</a:t>
              </a:r>
              <a:endParaRPr lang="en-US" altLang="ja-JP" sz="1400" dirty="0">
                <a:solidFill>
                  <a:schemeClr val="tx1"/>
                </a:solidFill>
                <a:latin typeface="游ゴシック" panose="020B0400000000000000" pitchFamily="50" charset="-128"/>
              </a:endParaRPr>
            </a:p>
            <a:p>
              <a:pPr>
                <a:spcBef>
                  <a:spcPts val="600"/>
                </a:spcBef>
                <a:buFont typeface="游ゴシック" panose="020B0400000000000000" pitchFamily="50" charset="-128"/>
                <a:buChar char="※"/>
              </a:pPr>
              <a:r>
                <a:rPr lang="ja-JP" altLang="en-US" sz="1400" dirty="0">
                  <a:solidFill>
                    <a:schemeClr val="tx1"/>
                  </a:solidFill>
                  <a:latin typeface="游ゴシック" panose="020B0400000000000000" pitchFamily="50" charset="-128"/>
                </a:rPr>
                <a:t>別途、千葉運転管理システムにアクセスできるよう</a:t>
              </a:r>
              <a:r>
                <a:rPr lang="en-US" altLang="ja-JP" sz="1400" dirty="0">
                  <a:solidFill>
                    <a:schemeClr val="tx1"/>
                  </a:solidFill>
                  <a:latin typeface="游ゴシック" panose="020B0400000000000000" pitchFamily="50" charset="-128"/>
                </a:rPr>
                <a:t>FW</a:t>
              </a:r>
              <a:r>
                <a:rPr lang="ja-JP" altLang="en-US" sz="1400" dirty="0">
                  <a:solidFill>
                    <a:schemeClr val="tx1"/>
                  </a:solidFill>
                  <a:latin typeface="游ゴシック" panose="020B0400000000000000" pitchFamily="50" charset="-128"/>
                </a:rPr>
                <a:t>の設定を実施頂く必要があります。</a:t>
              </a:r>
              <a:endParaRPr lang="en-US" sz="1400" dirty="0">
                <a:solidFill>
                  <a:schemeClr val="tx1"/>
                </a:solidFill>
                <a:latin typeface="游ゴシック" panose="020B0400000000000000" pitchFamily="50" charset="-128"/>
              </a:endParaRPr>
            </a:p>
          </p:txBody>
        </p:sp>
        <p:sp>
          <p:nvSpPr>
            <p:cNvPr id="52" name="ホームベース 51"/>
            <p:cNvSpPr/>
            <p:nvPr/>
          </p:nvSpPr>
          <p:spPr>
            <a:xfrm>
              <a:off x="612000" y="1224000"/>
              <a:ext cx="360000" cy="288000"/>
            </a:xfrm>
            <a:prstGeom prst="homePlate">
              <a:avLst/>
            </a:prstGeom>
            <a:solidFill>
              <a:schemeClr val="accent1"/>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テキスト プレースホルダー 11"/>
            <p:cNvSpPr txBox="1">
              <a:spLocks/>
            </p:cNvSpPr>
            <p:nvPr/>
          </p:nvSpPr>
          <p:spPr>
            <a:xfrm>
              <a:off x="972000" y="1224000"/>
              <a:ext cx="3384000" cy="288000"/>
            </a:xfrm>
            <a:prstGeom prst="rect">
              <a:avLst/>
            </a:prstGeom>
            <a:noFill/>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リモート接続による保守</a:t>
              </a:r>
              <a:endParaRPr lang="en-US" sz="1600" b="1" dirty="0">
                <a:solidFill>
                  <a:schemeClr val="accent1">
                    <a:lumMod val="50000"/>
                  </a:schemeClr>
                </a:solidFill>
                <a:latin typeface="游ゴシック" panose="020B0400000000000000" pitchFamily="50" charset="-128"/>
              </a:endParaRPr>
            </a:p>
          </p:txBody>
        </p:sp>
      </p:grpSp>
      <p:grpSp>
        <p:nvGrpSpPr>
          <p:cNvPr id="78" name="グループ化 77"/>
          <p:cNvGrpSpPr/>
          <p:nvPr/>
        </p:nvGrpSpPr>
        <p:grpSpPr>
          <a:xfrm>
            <a:off x="540000" y="3888000"/>
            <a:ext cx="3888000" cy="2232000"/>
            <a:chOff x="540000" y="4104000"/>
            <a:chExt cx="3888000" cy="2232000"/>
          </a:xfrm>
        </p:grpSpPr>
        <p:sp>
          <p:nvSpPr>
            <p:cNvPr id="67" name="テキスト プレースホルダー 11"/>
            <p:cNvSpPr txBox="1">
              <a:spLocks/>
            </p:cNvSpPr>
            <p:nvPr/>
          </p:nvSpPr>
          <p:spPr>
            <a:xfrm>
              <a:off x="540000" y="4104000"/>
              <a:ext cx="3888000" cy="2232000"/>
            </a:xfrm>
            <a:prstGeom prst="roundRect">
              <a:avLst>
                <a:gd name="adj" fmla="val 2940"/>
              </a:avLst>
            </a:prstGeom>
            <a:solidFill>
              <a:schemeClr val="accent6">
                <a:lumMod val="20000"/>
                <a:lumOff val="80000"/>
              </a:schemeClr>
            </a:solidFill>
          </p:spPr>
          <p:txBody>
            <a:bodyPr wrap="square" lIns="144000" tIns="504000" rIns="144000" bIns="36000" anchor="t">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r>
                <a:rPr lang="ja-JP" altLang="en-US" sz="1400" b="1" dirty="0">
                  <a:latin typeface="游ゴシック" panose="020B0400000000000000" pitchFamily="50" charset="-128"/>
                </a:rPr>
                <a:t>貴社内での作業を可</a:t>
              </a:r>
              <a:r>
                <a:rPr lang="ja-JP" altLang="en-US" sz="1400" dirty="0">
                  <a:solidFill>
                    <a:schemeClr val="tx1"/>
                  </a:solidFill>
                  <a:latin typeface="游ゴシック" panose="020B0400000000000000" pitchFamily="50" charset="-128"/>
                </a:rPr>
                <a:t>とします。弊社千葉オフィスは、貴社千葉事業所と同じ県内にあることから比較的移動時間が少なくすみます。</a:t>
              </a:r>
              <a:endParaRPr lang="en-US" altLang="ja-JP" sz="1400" dirty="0">
                <a:solidFill>
                  <a:schemeClr val="tx1"/>
                </a:solidFill>
                <a:latin typeface="游ゴシック" panose="020B0400000000000000" pitchFamily="50" charset="-128"/>
              </a:endParaRPr>
            </a:p>
            <a:p>
              <a:pPr>
                <a:spcBef>
                  <a:spcPts val="600"/>
                </a:spcBef>
                <a:buFont typeface="游ゴシック" panose="020B0400000000000000" pitchFamily="50" charset="-128"/>
                <a:buChar char="※"/>
              </a:pPr>
              <a:r>
                <a:rPr lang="ja-JP" altLang="en-US" sz="1400" dirty="0">
                  <a:solidFill>
                    <a:schemeClr val="tx1"/>
                  </a:solidFill>
                  <a:latin typeface="游ゴシック" panose="020B0400000000000000" pitchFamily="50" charset="-128"/>
                </a:rPr>
                <a:t>貴社内での作業は、新川事務所または千葉事業所に限定させて頂きます。</a:t>
              </a:r>
              <a:endParaRPr lang="en-US" sz="1400" dirty="0">
                <a:solidFill>
                  <a:schemeClr val="tx1"/>
                </a:solidFill>
                <a:latin typeface="游ゴシック" panose="020B0400000000000000" pitchFamily="50" charset="-128"/>
              </a:endParaRPr>
            </a:p>
          </p:txBody>
        </p:sp>
        <p:sp>
          <p:nvSpPr>
            <p:cNvPr id="62" name="ホームベース 61"/>
            <p:cNvSpPr/>
            <p:nvPr/>
          </p:nvSpPr>
          <p:spPr>
            <a:xfrm>
              <a:off x="612000" y="4248000"/>
              <a:ext cx="360000" cy="288000"/>
            </a:xfrm>
            <a:prstGeom prst="homePlate">
              <a:avLst/>
            </a:prstGeom>
            <a:solidFill>
              <a:schemeClr val="accent6"/>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プレースホルダー 11"/>
            <p:cNvSpPr txBox="1">
              <a:spLocks/>
            </p:cNvSpPr>
            <p:nvPr/>
          </p:nvSpPr>
          <p:spPr>
            <a:xfrm>
              <a:off x="972000" y="4248000"/>
              <a:ext cx="3384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オンサイト対応可</a:t>
              </a:r>
              <a:endParaRPr lang="en-US" sz="1600" b="1" dirty="0">
                <a:solidFill>
                  <a:schemeClr val="accent1">
                    <a:lumMod val="50000"/>
                  </a:schemeClr>
                </a:solidFill>
                <a:latin typeface="游ゴシック" panose="020B0400000000000000" pitchFamily="50" charset="-128"/>
              </a:endParaRPr>
            </a:p>
          </p:txBody>
        </p:sp>
      </p:grpSp>
      <p:grpSp>
        <p:nvGrpSpPr>
          <p:cNvPr id="82" name="グループ化 81"/>
          <p:cNvGrpSpPr/>
          <p:nvPr/>
        </p:nvGrpSpPr>
        <p:grpSpPr>
          <a:xfrm>
            <a:off x="3960000" y="3132000"/>
            <a:ext cx="1224000" cy="1224000"/>
            <a:chOff x="3960000" y="3132000"/>
            <a:chExt cx="1224000" cy="1224000"/>
          </a:xfrm>
        </p:grpSpPr>
        <p:grpSp>
          <p:nvGrpSpPr>
            <p:cNvPr id="73" name="グループ化 72"/>
            <p:cNvGrpSpPr/>
            <p:nvPr/>
          </p:nvGrpSpPr>
          <p:grpSpPr>
            <a:xfrm>
              <a:off x="3960000" y="3132000"/>
              <a:ext cx="1224000" cy="1224000"/>
              <a:chOff x="3870000" y="4710879"/>
              <a:chExt cx="1224000" cy="1224000"/>
            </a:xfrm>
            <a:solidFill>
              <a:schemeClr val="bg1"/>
            </a:solidFill>
          </p:grpSpPr>
          <p:sp>
            <p:nvSpPr>
              <p:cNvPr id="69" name="円弧 68"/>
              <p:cNvSpPr/>
              <p:nvPr/>
            </p:nvSpPr>
            <p:spPr>
              <a:xfrm>
                <a:off x="3870000" y="4710879"/>
                <a:ext cx="1224000" cy="1224000"/>
              </a:xfrm>
              <a:prstGeom prst="arc">
                <a:avLst/>
              </a:prstGeom>
              <a:grpFill/>
              <a:ln w="1270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0" name="円弧 69"/>
              <p:cNvSpPr/>
              <p:nvPr/>
            </p:nvSpPr>
            <p:spPr>
              <a:xfrm flipH="1">
                <a:off x="3870000" y="4710879"/>
                <a:ext cx="1224000" cy="1224000"/>
              </a:xfrm>
              <a:prstGeom prst="arc">
                <a:avLst/>
              </a:prstGeom>
              <a:grpFill/>
              <a:ln w="1270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1" name="円弧 70"/>
              <p:cNvSpPr/>
              <p:nvPr/>
            </p:nvSpPr>
            <p:spPr>
              <a:xfrm flipH="1" flipV="1">
                <a:off x="3870000" y="4710879"/>
                <a:ext cx="1224000" cy="1224000"/>
              </a:xfrm>
              <a:prstGeom prst="arc">
                <a:avLst/>
              </a:prstGeom>
              <a:grpFill/>
              <a:ln w="127000">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2" name="円弧 71"/>
              <p:cNvSpPr/>
              <p:nvPr/>
            </p:nvSpPr>
            <p:spPr>
              <a:xfrm flipV="1">
                <a:off x="3870000" y="4710879"/>
                <a:ext cx="1224000" cy="1224000"/>
              </a:xfrm>
              <a:prstGeom prst="arc">
                <a:avLst/>
              </a:prstGeom>
              <a:grpFill/>
              <a:ln w="127000">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74" name="テキスト プレースホルダー 11"/>
            <p:cNvSpPr txBox="1">
              <a:spLocks/>
            </p:cNvSpPr>
            <p:nvPr/>
          </p:nvSpPr>
          <p:spPr>
            <a:xfrm>
              <a:off x="4032000" y="3456000"/>
              <a:ext cx="1080000" cy="576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2400" b="1" dirty="0">
                  <a:solidFill>
                    <a:schemeClr val="accent1">
                      <a:lumMod val="50000"/>
                    </a:schemeClr>
                  </a:solidFill>
                  <a:latin typeface="游ゴシック" panose="020B0400000000000000" pitchFamily="50" charset="-128"/>
                </a:rPr>
                <a:t>保守</a:t>
              </a:r>
              <a:endParaRPr lang="en-US" sz="2400" b="1" dirty="0">
                <a:solidFill>
                  <a:schemeClr val="accent1">
                    <a:lumMod val="50000"/>
                  </a:schemeClr>
                </a:solidFill>
                <a:latin typeface="游ゴシック" panose="020B0400000000000000" pitchFamily="50" charset="-128"/>
              </a:endParaRPr>
            </a:p>
          </p:txBody>
        </p:sp>
      </p:grpSp>
    </p:spTree>
    <p:extLst>
      <p:ext uri="{BB962C8B-B14F-4D97-AF65-F5344CB8AC3E}">
        <p14:creationId xmlns:p14="http://schemas.microsoft.com/office/powerpoint/2010/main" val="2303444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現行システムの理解</a:t>
            </a:r>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3"/>
          </p:nvPr>
        </p:nvSpPr>
        <p:spPr/>
        <p:txBody>
          <a:bodyPr/>
          <a:lstStyle/>
          <a:p>
            <a:fld id="{74395F4E-A786-454B-9285-EF3DEA272B37}" type="slidenum">
              <a:rPr lang="ja-JP" altLang="en-US" smtClean="0"/>
              <a:pPr/>
              <a:t>10</a:t>
            </a:fld>
            <a:endParaRPr lang="ja-JP" altLang="en-US"/>
          </a:p>
        </p:txBody>
      </p:sp>
    </p:spTree>
    <p:extLst>
      <p:ext uri="{BB962C8B-B14F-4D97-AF65-F5344CB8AC3E}">
        <p14:creationId xmlns:p14="http://schemas.microsoft.com/office/powerpoint/2010/main" val="2700063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千葉運転管理システム</a:t>
            </a:r>
            <a:r>
              <a:rPr kumimoji="1" lang="ja-JP" altLang="en-US" dirty="0"/>
              <a:t>の位置づけ</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11</a:t>
            </a:fld>
            <a:endParaRPr kumimoji="1" lang="ja-JP" altLang="en-US"/>
          </a:p>
        </p:txBody>
      </p:sp>
      <p:sp>
        <p:nvSpPr>
          <p:cNvPr id="75" name="テキスト ボックス 74"/>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千葉運転管理システムは、潤滑事業における千葉事業所にて稼働するシステムであり、</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生産管理・製造計画・製造指図・物流</a:t>
            </a:r>
            <a:r>
              <a:rPr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入出荷関連業務の役割を担うと認識しております。</a:t>
            </a:r>
            <a:endParaRPr kumimoji="1" lang="ja-JP" altLang="en-US" sz="1400" dirty="0">
              <a:latin typeface="游ゴシック" panose="020B0400000000000000" pitchFamily="50" charset="-128"/>
              <a:ea typeface="游ゴシック" panose="020B0400000000000000" pitchFamily="50" charset="-128"/>
            </a:endParaRPr>
          </a:p>
        </p:txBody>
      </p:sp>
      <p:sp>
        <p:nvSpPr>
          <p:cNvPr id="9" name="正方形/長方形 8"/>
          <p:cNvSpPr/>
          <p:nvPr/>
        </p:nvSpPr>
        <p:spPr>
          <a:xfrm>
            <a:off x="809356" y="2484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性能管理</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0" name="正方形/長方形 9"/>
          <p:cNvSpPr/>
          <p:nvPr/>
        </p:nvSpPr>
        <p:spPr>
          <a:xfrm>
            <a:off x="809356" y="2736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分析ﾓﾆﾀﾘﾝｸﾞ</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1" name="正方形/長方形 10"/>
          <p:cNvSpPr/>
          <p:nvPr/>
        </p:nvSpPr>
        <p:spPr>
          <a:xfrm>
            <a:off x="809356" y="2988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ﾋｽﾄﾘｱﾝ</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809356" y="3240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高度制御</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3" name="正方形/長方形 12"/>
          <p:cNvSpPr/>
          <p:nvPr/>
        </p:nvSpPr>
        <p:spPr>
          <a:xfrm>
            <a:off x="809356" y="3492000"/>
            <a:ext cx="1206000" cy="684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en-US" altLang="ja-JP" sz="1400" b="1" dirty="0">
                <a:solidFill>
                  <a:schemeClr val="bg1"/>
                </a:solidFill>
                <a:latin typeface="游ゴシック" panose="020B0400000000000000" pitchFamily="50" charset="-128"/>
                <a:ea typeface="游ゴシック" panose="020B0400000000000000" pitchFamily="50" charset="-128"/>
              </a:rPr>
              <a:t>LIMS</a:t>
            </a:r>
          </a:p>
        </p:txBody>
      </p:sp>
      <p:sp>
        <p:nvSpPr>
          <p:cNvPr id="14" name="正方形/長方形 13"/>
          <p:cNvSpPr/>
          <p:nvPr/>
        </p:nvSpPr>
        <p:spPr>
          <a:xfrm>
            <a:off x="809356" y="4212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製造仕様管理</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5" name="正方形/長方形 14"/>
          <p:cNvSpPr/>
          <p:nvPr/>
        </p:nvSpPr>
        <p:spPr>
          <a:xfrm>
            <a:off x="809356" y="4464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生産管理</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809356" y="4716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製造計画</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7" name="正方形/長方形 16"/>
          <p:cNvSpPr/>
          <p:nvPr/>
        </p:nvSpPr>
        <p:spPr>
          <a:xfrm>
            <a:off x="809356" y="4968000"/>
            <a:ext cx="1206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製造指図</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8" name="正方形/長方形 17"/>
          <p:cNvSpPr/>
          <p:nvPr/>
        </p:nvSpPr>
        <p:spPr>
          <a:xfrm>
            <a:off x="143356" y="5220000"/>
            <a:ext cx="1872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物流</a:t>
            </a:r>
            <a:r>
              <a:rPr lang="en-US" altLang="ja-JP" sz="1400" b="1" dirty="0">
                <a:solidFill>
                  <a:schemeClr val="bg1"/>
                </a:solidFill>
                <a:latin typeface="游ゴシック" panose="020B0400000000000000" pitchFamily="50" charset="-128"/>
                <a:ea typeface="游ゴシック" panose="020B0400000000000000" pitchFamily="50" charset="-128"/>
              </a:rPr>
              <a:t>/</a:t>
            </a:r>
            <a:r>
              <a:rPr lang="ja-JP" altLang="en-US" sz="1400" b="1" dirty="0">
                <a:solidFill>
                  <a:schemeClr val="bg1"/>
                </a:solidFill>
                <a:latin typeface="游ゴシック" panose="020B0400000000000000" pitchFamily="50" charset="-128"/>
                <a:ea typeface="游ゴシック" panose="020B0400000000000000" pitchFamily="50" charset="-128"/>
              </a:rPr>
              <a:t>入出荷関連業務</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19" name="正方形/長方形 18"/>
          <p:cNvSpPr/>
          <p:nvPr/>
        </p:nvSpPr>
        <p:spPr>
          <a:xfrm>
            <a:off x="143356" y="5472000"/>
            <a:ext cx="1872000" cy="216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non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倉庫関連業務</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26" name="正方形/長方形 25"/>
          <p:cNvSpPr/>
          <p:nvPr/>
        </p:nvSpPr>
        <p:spPr>
          <a:xfrm>
            <a:off x="2069517" y="2484000"/>
            <a:ext cx="5184000"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b="1" dirty="0">
                <a:latin typeface="游ゴシック" panose="020B0400000000000000" pitchFamily="50" charset="-128"/>
                <a:ea typeface="游ゴシック" panose="020B0400000000000000" pitchFamily="50" charset="-128"/>
              </a:rPr>
              <a:t>新</a:t>
            </a:r>
            <a:r>
              <a:rPr lang="en-US" altLang="ja-JP" sz="1400" b="1" dirty="0">
                <a:latin typeface="游ゴシック" panose="020B0400000000000000" pitchFamily="50" charset="-128"/>
                <a:ea typeface="游ゴシック" panose="020B0400000000000000" pitchFamily="50" charset="-128"/>
              </a:rPr>
              <a:t>IRIS</a:t>
            </a:r>
          </a:p>
        </p:txBody>
      </p:sp>
      <p:sp>
        <p:nvSpPr>
          <p:cNvPr id="27" name="正方形/長方形 26"/>
          <p:cNvSpPr/>
          <p:nvPr/>
        </p:nvSpPr>
        <p:spPr>
          <a:xfrm>
            <a:off x="2069517" y="2736000"/>
            <a:ext cx="5184000" cy="216000"/>
          </a:xfrm>
          <a:prstGeom prst="rect">
            <a:avLst/>
          </a:prstGeom>
          <a:solidFill>
            <a:schemeClr val="accent1">
              <a:lumMod val="20000"/>
              <a:lumOff val="80000"/>
            </a:schemeClr>
          </a:solidFill>
          <a:ln>
            <a:solidFill>
              <a:schemeClr val="accent1"/>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a:latin typeface="游ゴシック" panose="020B0400000000000000" pitchFamily="50" charset="-128"/>
                <a:ea typeface="游ゴシック" panose="020B0400000000000000" pitchFamily="50" charset="-128"/>
              </a:rPr>
              <a:t>XHQ</a:t>
            </a:r>
          </a:p>
        </p:txBody>
      </p:sp>
      <p:sp>
        <p:nvSpPr>
          <p:cNvPr id="28" name="正方形/長方形 27"/>
          <p:cNvSpPr/>
          <p:nvPr/>
        </p:nvSpPr>
        <p:spPr>
          <a:xfrm>
            <a:off x="2069518" y="2988000"/>
            <a:ext cx="5184000" cy="216000"/>
          </a:xfrm>
          <a:prstGeom prst="rect">
            <a:avLst/>
          </a:prstGeom>
          <a:solidFill>
            <a:schemeClr val="accent1">
              <a:lumMod val="20000"/>
              <a:lumOff val="80000"/>
            </a:schemeClr>
          </a:solidFill>
          <a:ln>
            <a:solidFill>
              <a:schemeClr val="accent1"/>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err="1">
                <a:latin typeface="游ゴシック" panose="020B0400000000000000" pitchFamily="50" charset="-128"/>
                <a:ea typeface="游ゴシック" panose="020B0400000000000000" pitchFamily="50" charset="-128"/>
              </a:rPr>
              <a:t>ePREXION</a:t>
            </a:r>
            <a:endParaRPr lang="en-US" altLang="ja-JP" sz="1400" dirty="0">
              <a:latin typeface="游ゴシック" panose="020B0400000000000000" pitchFamily="50" charset="-128"/>
              <a:ea typeface="游ゴシック" panose="020B0400000000000000" pitchFamily="50" charset="-128"/>
            </a:endParaRPr>
          </a:p>
        </p:txBody>
      </p:sp>
      <p:sp>
        <p:nvSpPr>
          <p:cNvPr id="32" name="正方形/長方形 31"/>
          <p:cNvSpPr/>
          <p:nvPr/>
        </p:nvSpPr>
        <p:spPr>
          <a:xfrm>
            <a:off x="2069517" y="3240000"/>
            <a:ext cx="5184000" cy="216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dirty="0">
                <a:latin typeface="游ゴシック" panose="020B0400000000000000" pitchFamily="50" charset="-128"/>
                <a:ea typeface="游ゴシック" panose="020B0400000000000000" pitchFamily="50" charset="-128"/>
              </a:rPr>
              <a:t>最適制御</a:t>
            </a:r>
            <a:r>
              <a:rPr lang="en-US" altLang="ja-JP" sz="1400" dirty="0">
                <a:latin typeface="游ゴシック" panose="020B0400000000000000" pitchFamily="50" charset="-128"/>
                <a:ea typeface="游ゴシック" panose="020B0400000000000000" pitchFamily="50" charset="-128"/>
              </a:rPr>
              <a:t>(PHX)</a:t>
            </a:r>
          </a:p>
        </p:txBody>
      </p:sp>
      <p:sp>
        <p:nvSpPr>
          <p:cNvPr id="33" name="正方形/長方形 32"/>
          <p:cNvSpPr/>
          <p:nvPr/>
        </p:nvSpPr>
        <p:spPr>
          <a:xfrm>
            <a:off x="3815679" y="3492000"/>
            <a:ext cx="3437837" cy="684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a:latin typeface="游ゴシック" panose="020B0400000000000000" pitchFamily="50" charset="-128"/>
                <a:ea typeface="游ゴシック" panose="020B0400000000000000" pitchFamily="50" charset="-128"/>
              </a:rPr>
              <a:t>ETS-R(</a:t>
            </a:r>
            <a:r>
              <a:rPr lang="ja-JP" altLang="en-US" sz="1400" dirty="0">
                <a:latin typeface="游ゴシック" panose="020B0400000000000000" pitchFamily="50" charset="-128"/>
                <a:ea typeface="游ゴシック" panose="020B0400000000000000" pitchFamily="50" charset="-128"/>
              </a:rPr>
              <a:t>運転管理</a:t>
            </a:r>
            <a:r>
              <a:rPr lang="en-US" altLang="ja-JP" sz="1400" dirty="0">
                <a:latin typeface="游ゴシック" panose="020B0400000000000000" pitchFamily="50" charset="-128"/>
                <a:ea typeface="游ゴシック" panose="020B0400000000000000" pitchFamily="50" charset="-128"/>
              </a:rPr>
              <a:t>)</a:t>
            </a:r>
          </a:p>
        </p:txBody>
      </p:sp>
      <p:sp>
        <p:nvSpPr>
          <p:cNvPr id="34" name="正方形/長方形 33"/>
          <p:cNvSpPr/>
          <p:nvPr/>
        </p:nvSpPr>
        <p:spPr>
          <a:xfrm>
            <a:off x="2069518" y="3492000"/>
            <a:ext cx="1691998" cy="216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a:latin typeface="游ゴシック" panose="020B0400000000000000" pitchFamily="50" charset="-128"/>
                <a:ea typeface="游ゴシック" panose="020B0400000000000000" pitchFamily="50" charset="-128"/>
              </a:rPr>
              <a:t>LIMS</a:t>
            </a:r>
            <a:r>
              <a:rPr lang="ja-JP" altLang="en-US" sz="1400" dirty="0">
                <a:latin typeface="游ゴシック" panose="020B0400000000000000" pitchFamily="50" charset="-128"/>
                <a:ea typeface="游ゴシック" panose="020B0400000000000000" pitchFamily="50" charset="-128"/>
              </a:rPr>
              <a:t>ｻｰﾊﾞ</a:t>
            </a:r>
            <a:endParaRPr lang="en-US" altLang="ja-JP" sz="1400" dirty="0">
              <a:latin typeface="游ゴシック" panose="020B0400000000000000" pitchFamily="50" charset="-128"/>
              <a:ea typeface="游ゴシック" panose="020B0400000000000000" pitchFamily="50" charset="-128"/>
            </a:endParaRPr>
          </a:p>
        </p:txBody>
      </p:sp>
      <p:sp>
        <p:nvSpPr>
          <p:cNvPr id="35" name="正方形/長方形 34"/>
          <p:cNvSpPr/>
          <p:nvPr/>
        </p:nvSpPr>
        <p:spPr>
          <a:xfrm>
            <a:off x="2069518" y="3744000"/>
            <a:ext cx="1691998" cy="432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b="1" dirty="0">
                <a:latin typeface="游ゴシック" panose="020B0400000000000000" pitchFamily="50" charset="-128"/>
                <a:ea typeface="游ゴシック" panose="020B0400000000000000" pitchFamily="50" charset="-128"/>
              </a:rPr>
              <a:t>千葉品質管理</a:t>
            </a:r>
            <a:endParaRPr lang="en-US" altLang="ja-JP" sz="1400" b="1" dirty="0">
              <a:latin typeface="游ゴシック" panose="020B0400000000000000" pitchFamily="50" charset="-128"/>
              <a:ea typeface="游ゴシック" panose="020B0400000000000000" pitchFamily="50" charset="-128"/>
            </a:endParaRPr>
          </a:p>
          <a:p>
            <a:pPr algn="ctr"/>
            <a:endParaRPr lang="en-US" altLang="ja-JP" sz="1400" b="1" dirty="0">
              <a:latin typeface="游ゴシック" panose="020B0400000000000000" pitchFamily="50" charset="-128"/>
              <a:ea typeface="游ゴシック" panose="020B0400000000000000" pitchFamily="50" charset="-128"/>
            </a:endParaRPr>
          </a:p>
        </p:txBody>
      </p:sp>
      <p:sp>
        <p:nvSpPr>
          <p:cNvPr id="40" name="正方形/長方形 39"/>
          <p:cNvSpPr/>
          <p:nvPr/>
        </p:nvSpPr>
        <p:spPr>
          <a:xfrm>
            <a:off x="2915516" y="3996000"/>
            <a:ext cx="846000" cy="180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dirty="0">
                <a:latin typeface="游ゴシック" panose="020B0400000000000000" pitchFamily="50" charset="-128"/>
                <a:ea typeface="游ゴシック" panose="020B0400000000000000" pitchFamily="50" charset="-128"/>
              </a:rPr>
              <a:t>化学品</a:t>
            </a:r>
            <a:r>
              <a:rPr lang="en-US" altLang="ja-JP" sz="1400" dirty="0">
                <a:latin typeface="游ゴシック" panose="020B0400000000000000" pitchFamily="50" charset="-128"/>
                <a:ea typeface="游ゴシック" panose="020B0400000000000000" pitchFamily="50" charset="-128"/>
              </a:rPr>
              <a:t>LAS</a:t>
            </a:r>
          </a:p>
        </p:txBody>
      </p:sp>
      <p:sp>
        <p:nvSpPr>
          <p:cNvPr id="41" name="正方形/長方形 40"/>
          <p:cNvSpPr/>
          <p:nvPr/>
        </p:nvSpPr>
        <p:spPr>
          <a:xfrm>
            <a:off x="143356" y="2483999"/>
            <a:ext cx="630000" cy="1692001"/>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squar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品質</a:t>
            </a:r>
            <a:endParaRPr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lang="ja-JP" altLang="en-US" sz="1400" b="1" dirty="0">
                <a:solidFill>
                  <a:schemeClr val="bg1"/>
                </a:solidFill>
                <a:latin typeface="游ゴシック" panose="020B0400000000000000" pitchFamily="50" charset="-128"/>
                <a:ea typeface="游ゴシック" panose="020B0400000000000000" pitchFamily="50" charset="-128"/>
              </a:rPr>
              <a:t>運転</a:t>
            </a:r>
            <a:br>
              <a:rPr lang="en-US" altLang="ja-JP" sz="1400" b="1" dirty="0">
                <a:solidFill>
                  <a:schemeClr val="bg1"/>
                </a:solidFill>
                <a:latin typeface="游ゴシック" panose="020B0400000000000000" pitchFamily="50" charset="-128"/>
                <a:ea typeface="游ゴシック" panose="020B0400000000000000" pitchFamily="50" charset="-128"/>
              </a:rPr>
            </a:br>
            <a:r>
              <a:rPr lang="ja-JP" altLang="en-US" sz="1400" b="1" dirty="0">
                <a:solidFill>
                  <a:schemeClr val="bg1"/>
                </a:solidFill>
                <a:latin typeface="游ゴシック" panose="020B0400000000000000" pitchFamily="50" charset="-128"/>
                <a:ea typeface="游ゴシック" panose="020B0400000000000000" pitchFamily="50" charset="-128"/>
              </a:rPr>
              <a:t>管理</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44" name="正方形/長方形 43"/>
          <p:cNvSpPr/>
          <p:nvPr/>
        </p:nvSpPr>
        <p:spPr>
          <a:xfrm>
            <a:off x="2069518" y="4212000"/>
            <a:ext cx="3436635" cy="216000"/>
          </a:xfrm>
          <a:prstGeom prst="rect">
            <a:avLst/>
          </a:prstGeom>
          <a:solidFill>
            <a:schemeClr val="accent3">
              <a:lumMod val="20000"/>
              <a:lumOff val="80000"/>
            </a:schemeClr>
          </a:solidFill>
          <a:ln>
            <a:solidFill>
              <a:schemeClr val="accent3"/>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dirty="0">
                <a:latin typeface="游ゴシック" panose="020B0400000000000000" pitchFamily="50" charset="-128"/>
                <a:ea typeface="游ゴシック" panose="020B0400000000000000" pitchFamily="50" charset="-128"/>
              </a:rPr>
              <a:t>無</a:t>
            </a:r>
            <a:endParaRPr lang="en-US" altLang="ja-JP" sz="1400" dirty="0">
              <a:latin typeface="游ゴシック" panose="020B0400000000000000" pitchFamily="50" charset="-128"/>
              <a:ea typeface="游ゴシック" panose="020B0400000000000000" pitchFamily="50" charset="-128"/>
            </a:endParaRPr>
          </a:p>
        </p:txBody>
      </p:sp>
      <p:sp>
        <p:nvSpPr>
          <p:cNvPr id="45" name="正方形/長方形 44"/>
          <p:cNvSpPr/>
          <p:nvPr/>
        </p:nvSpPr>
        <p:spPr>
          <a:xfrm>
            <a:off x="5561840" y="4212000"/>
            <a:ext cx="1691998" cy="216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err="1">
                <a:latin typeface="游ゴシック" panose="020B0400000000000000" pitchFamily="50" charset="-128"/>
                <a:ea typeface="游ゴシック" panose="020B0400000000000000" pitchFamily="50" charset="-128"/>
              </a:rPr>
              <a:t>OneSAP</a:t>
            </a:r>
            <a:r>
              <a:rPr lang="en-US" altLang="ja-JP" sz="1400" dirty="0">
                <a:latin typeface="游ゴシック" panose="020B0400000000000000" pitchFamily="50" charset="-128"/>
                <a:ea typeface="游ゴシック" panose="020B0400000000000000" pitchFamily="50" charset="-128"/>
              </a:rPr>
              <a:t> EHS/RM</a:t>
            </a:r>
          </a:p>
        </p:txBody>
      </p:sp>
      <p:sp>
        <p:nvSpPr>
          <p:cNvPr id="46" name="正方形/長方形 45"/>
          <p:cNvSpPr/>
          <p:nvPr/>
        </p:nvSpPr>
        <p:spPr>
          <a:xfrm>
            <a:off x="3815680" y="4464000"/>
            <a:ext cx="1691998" cy="216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err="1">
                <a:latin typeface="游ゴシック" panose="020B0400000000000000" pitchFamily="50" charset="-128"/>
                <a:ea typeface="游ゴシック" panose="020B0400000000000000" pitchFamily="50" charset="-128"/>
              </a:rPr>
              <a:t>RiCS</a:t>
            </a:r>
            <a:endParaRPr lang="en-US" altLang="ja-JP" sz="1400" dirty="0">
              <a:latin typeface="游ゴシック" panose="020B0400000000000000" pitchFamily="50" charset="-128"/>
              <a:ea typeface="游ゴシック" panose="020B0400000000000000" pitchFamily="50" charset="-128"/>
            </a:endParaRPr>
          </a:p>
        </p:txBody>
      </p:sp>
      <p:sp>
        <p:nvSpPr>
          <p:cNvPr id="47" name="正方形/長方形 46"/>
          <p:cNvSpPr/>
          <p:nvPr/>
        </p:nvSpPr>
        <p:spPr>
          <a:xfrm>
            <a:off x="2069518" y="4464000"/>
            <a:ext cx="846000"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b="1" dirty="0">
                <a:latin typeface="游ゴシック" panose="020B0400000000000000" pitchFamily="50" charset="-128"/>
                <a:ea typeface="游ゴシック" panose="020B0400000000000000" pitchFamily="50" charset="-128"/>
              </a:rPr>
              <a:t>数量確定</a:t>
            </a:r>
            <a:endParaRPr lang="en-US" altLang="ja-JP" sz="1400" b="1" dirty="0">
              <a:latin typeface="游ゴシック" panose="020B0400000000000000" pitchFamily="50" charset="-128"/>
              <a:ea typeface="游ゴシック" panose="020B0400000000000000" pitchFamily="50" charset="-128"/>
            </a:endParaRPr>
          </a:p>
        </p:txBody>
      </p:sp>
      <p:sp>
        <p:nvSpPr>
          <p:cNvPr id="48" name="正方形/長方形 47"/>
          <p:cNvSpPr/>
          <p:nvPr/>
        </p:nvSpPr>
        <p:spPr>
          <a:xfrm>
            <a:off x="2916000" y="4464000"/>
            <a:ext cx="846000"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b="1" dirty="0">
                <a:latin typeface="游ゴシック" panose="020B0400000000000000" pitchFamily="50" charset="-128"/>
                <a:ea typeface="游ゴシック" panose="020B0400000000000000" pitchFamily="50" charset="-128"/>
              </a:rPr>
              <a:t>用役管理</a:t>
            </a:r>
            <a:endParaRPr lang="en-US" altLang="ja-JP" sz="1400" b="1" dirty="0">
              <a:latin typeface="游ゴシック" panose="020B0400000000000000" pitchFamily="50" charset="-128"/>
              <a:ea typeface="游ゴシック" panose="020B0400000000000000" pitchFamily="50" charset="-128"/>
            </a:endParaRPr>
          </a:p>
        </p:txBody>
      </p:sp>
      <p:sp>
        <p:nvSpPr>
          <p:cNvPr id="49" name="正方形/長方形 48"/>
          <p:cNvSpPr/>
          <p:nvPr/>
        </p:nvSpPr>
        <p:spPr>
          <a:xfrm>
            <a:off x="2069518" y="4716000"/>
            <a:ext cx="1691998"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b="1" dirty="0">
                <a:latin typeface="游ゴシック" panose="020B0400000000000000" pitchFamily="50" charset="-128"/>
                <a:ea typeface="游ゴシック" panose="020B0400000000000000" pitchFamily="50" charset="-128"/>
              </a:rPr>
              <a:t>工場</a:t>
            </a:r>
            <a:r>
              <a:rPr lang="en-US" altLang="ja-JP" sz="1400" b="1" dirty="0">
                <a:latin typeface="游ゴシック" panose="020B0400000000000000" pitchFamily="50" charset="-128"/>
                <a:ea typeface="游ゴシック" panose="020B0400000000000000" pitchFamily="50" charset="-128"/>
              </a:rPr>
              <a:t>DB/</a:t>
            </a:r>
            <a:r>
              <a:rPr lang="ja-JP" altLang="en-US" sz="1400" b="1" dirty="0">
                <a:latin typeface="游ゴシック" panose="020B0400000000000000" pitchFamily="50" charset="-128"/>
                <a:ea typeface="游ゴシック" panose="020B0400000000000000" pitchFamily="50" charset="-128"/>
              </a:rPr>
              <a:t>ﾛｰｶﾙ</a:t>
            </a:r>
            <a:r>
              <a:rPr lang="en-US" altLang="ja-JP" sz="1400" b="1" dirty="0">
                <a:latin typeface="游ゴシック" panose="020B0400000000000000" pitchFamily="50" charset="-128"/>
                <a:ea typeface="游ゴシック" panose="020B0400000000000000" pitchFamily="50" charset="-128"/>
              </a:rPr>
              <a:t>Excel</a:t>
            </a:r>
          </a:p>
        </p:txBody>
      </p:sp>
      <p:sp>
        <p:nvSpPr>
          <p:cNvPr id="50" name="正方形/長方形 49"/>
          <p:cNvSpPr/>
          <p:nvPr/>
        </p:nvSpPr>
        <p:spPr>
          <a:xfrm>
            <a:off x="2069518" y="5220000"/>
            <a:ext cx="846000"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b="1" dirty="0">
                <a:latin typeface="游ゴシック" panose="020B0400000000000000" pitchFamily="50" charset="-128"/>
                <a:ea typeface="游ゴシック" panose="020B0400000000000000" pitchFamily="50" charset="-128"/>
              </a:rPr>
              <a:t>LMPP</a:t>
            </a:r>
            <a:r>
              <a:rPr lang="ja-JP" altLang="en-US" sz="1400" b="1" dirty="0">
                <a:latin typeface="游ゴシック" panose="020B0400000000000000" pitchFamily="50" charset="-128"/>
                <a:ea typeface="游ゴシック" panose="020B0400000000000000" pitchFamily="50" charset="-128"/>
              </a:rPr>
              <a:t>包装</a:t>
            </a:r>
            <a:endParaRPr lang="en-US" altLang="ja-JP" sz="1400" b="1" dirty="0">
              <a:latin typeface="游ゴシック" panose="020B0400000000000000" pitchFamily="50" charset="-128"/>
              <a:ea typeface="游ゴシック" panose="020B0400000000000000" pitchFamily="50" charset="-128"/>
            </a:endParaRPr>
          </a:p>
        </p:txBody>
      </p:sp>
      <p:sp>
        <p:nvSpPr>
          <p:cNvPr id="51" name="正方形/長方形 50"/>
          <p:cNvSpPr/>
          <p:nvPr/>
        </p:nvSpPr>
        <p:spPr>
          <a:xfrm>
            <a:off x="2916000" y="5220000"/>
            <a:ext cx="846000"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b="1" dirty="0">
                <a:latin typeface="游ゴシック" panose="020B0400000000000000" pitchFamily="50" charset="-128"/>
                <a:ea typeface="游ゴシック" panose="020B0400000000000000" pitchFamily="50" charset="-128"/>
              </a:rPr>
              <a:t>ﾔｰﾄﾞ操業</a:t>
            </a:r>
            <a:endParaRPr lang="en-US" altLang="ja-JP" sz="1400" b="1" dirty="0">
              <a:latin typeface="游ゴシック" panose="020B0400000000000000" pitchFamily="50" charset="-128"/>
              <a:ea typeface="游ゴシック" panose="020B0400000000000000" pitchFamily="50" charset="-128"/>
            </a:endParaRPr>
          </a:p>
        </p:txBody>
      </p:sp>
      <p:sp>
        <p:nvSpPr>
          <p:cNvPr id="52" name="正方形/長方形 51"/>
          <p:cNvSpPr/>
          <p:nvPr/>
        </p:nvSpPr>
        <p:spPr>
          <a:xfrm>
            <a:off x="3815680" y="4716000"/>
            <a:ext cx="1692000" cy="720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a:latin typeface="游ゴシック" panose="020B0400000000000000" pitchFamily="50" charset="-128"/>
                <a:ea typeface="游ゴシック" panose="020B0400000000000000" pitchFamily="50" charset="-128"/>
              </a:rPr>
              <a:t>ETS-R(</a:t>
            </a:r>
            <a:r>
              <a:rPr lang="ja-JP" altLang="en-US" sz="1400" dirty="0">
                <a:latin typeface="游ゴシック" panose="020B0400000000000000" pitchFamily="50" charset="-128"/>
                <a:ea typeface="游ゴシック" panose="020B0400000000000000" pitchFamily="50" charset="-128"/>
              </a:rPr>
              <a:t>運転管理</a:t>
            </a:r>
            <a:r>
              <a:rPr lang="en-US" altLang="ja-JP" sz="1400" dirty="0">
                <a:latin typeface="游ゴシック" panose="020B0400000000000000" pitchFamily="50" charset="-128"/>
                <a:ea typeface="游ゴシック" panose="020B0400000000000000" pitchFamily="50" charset="-128"/>
              </a:rPr>
              <a:t>)</a:t>
            </a:r>
          </a:p>
          <a:p>
            <a:pPr algn="ctr"/>
            <a:r>
              <a:rPr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一部新</a:t>
            </a:r>
            <a:r>
              <a:rPr lang="en-US" altLang="ja-JP" sz="1400" dirty="0">
                <a:latin typeface="游ゴシック" panose="020B0400000000000000" pitchFamily="50" charset="-128"/>
                <a:ea typeface="游ゴシック" panose="020B0400000000000000" pitchFamily="50" charset="-128"/>
              </a:rPr>
              <a:t>IRIS</a:t>
            </a:r>
            <a:r>
              <a:rPr lang="ja-JP" altLang="en-US" sz="1400" dirty="0" err="1">
                <a:latin typeface="游ゴシック" panose="020B0400000000000000" pitchFamily="50" charset="-128"/>
                <a:ea typeface="游ゴシック" panose="020B0400000000000000" pitchFamily="50" charset="-128"/>
              </a:rPr>
              <a:t>にて</a:t>
            </a:r>
            <a:r>
              <a:rPr lang="ja-JP" altLang="en-US" sz="1400" dirty="0">
                <a:latin typeface="游ゴシック" panose="020B0400000000000000" pitchFamily="50" charset="-128"/>
                <a:ea typeface="游ゴシック" panose="020B0400000000000000" pitchFamily="50" charset="-128"/>
              </a:rPr>
              <a:t>実施</a:t>
            </a:r>
            <a:endParaRPr lang="en-US" altLang="ja-JP" sz="1400" dirty="0">
              <a:latin typeface="游ゴシック" panose="020B0400000000000000" pitchFamily="50" charset="-128"/>
              <a:ea typeface="游ゴシック" panose="020B0400000000000000" pitchFamily="50" charset="-128"/>
            </a:endParaRPr>
          </a:p>
        </p:txBody>
      </p:sp>
      <p:sp>
        <p:nvSpPr>
          <p:cNvPr id="53" name="正方形/長方形 52"/>
          <p:cNvSpPr/>
          <p:nvPr/>
        </p:nvSpPr>
        <p:spPr>
          <a:xfrm>
            <a:off x="2069519" y="5472000"/>
            <a:ext cx="1691998"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b="1" dirty="0">
                <a:latin typeface="游ゴシック" panose="020B0400000000000000" pitchFamily="50" charset="-128"/>
                <a:ea typeface="游ゴシック" panose="020B0400000000000000" pitchFamily="50" charset="-128"/>
              </a:rPr>
              <a:t>製品倉庫ｼｽﾃﾑ</a:t>
            </a:r>
            <a:endParaRPr lang="en-US" altLang="ja-JP" sz="1400" b="1" dirty="0">
              <a:latin typeface="游ゴシック" panose="020B0400000000000000" pitchFamily="50" charset="-128"/>
              <a:ea typeface="游ゴシック" panose="020B0400000000000000" pitchFamily="50" charset="-128"/>
            </a:endParaRPr>
          </a:p>
        </p:txBody>
      </p:sp>
      <p:sp>
        <p:nvSpPr>
          <p:cNvPr id="54" name="正方形/長方形 53"/>
          <p:cNvSpPr/>
          <p:nvPr/>
        </p:nvSpPr>
        <p:spPr>
          <a:xfrm>
            <a:off x="5561840" y="4464000"/>
            <a:ext cx="1691676" cy="972000"/>
          </a:xfrm>
          <a:prstGeom prst="rect">
            <a:avLst/>
          </a:prstGeom>
          <a:solidFill>
            <a:schemeClr val="accent2"/>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600" b="1" dirty="0">
                <a:solidFill>
                  <a:schemeClr val="bg1"/>
                </a:solidFill>
                <a:latin typeface="游ゴシック" panose="020B0400000000000000" pitchFamily="50" charset="-128"/>
                <a:ea typeface="游ゴシック" panose="020B0400000000000000" pitchFamily="50" charset="-128"/>
              </a:rPr>
              <a:t>千葉運転管理</a:t>
            </a:r>
            <a:endParaRPr lang="en-US" altLang="ja-JP" sz="1600" b="1" dirty="0">
              <a:solidFill>
                <a:schemeClr val="bg1"/>
              </a:solidFill>
              <a:latin typeface="游ゴシック" panose="020B0400000000000000" pitchFamily="50" charset="-128"/>
              <a:ea typeface="游ゴシック" panose="020B0400000000000000" pitchFamily="50" charset="-128"/>
            </a:endParaRPr>
          </a:p>
        </p:txBody>
      </p:sp>
      <p:sp>
        <p:nvSpPr>
          <p:cNvPr id="56" name="正方形/長方形 55"/>
          <p:cNvSpPr/>
          <p:nvPr/>
        </p:nvSpPr>
        <p:spPr>
          <a:xfrm>
            <a:off x="5561840" y="5472000"/>
            <a:ext cx="1691676" cy="216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dirty="0">
                <a:latin typeface="游ゴシック" panose="020B0400000000000000" pitchFamily="50" charset="-128"/>
                <a:ea typeface="游ゴシック" panose="020B0400000000000000" pitchFamily="50" charset="-128"/>
              </a:rPr>
              <a:t>千葉倉庫充填管理</a:t>
            </a:r>
            <a:endParaRPr lang="en-US" altLang="ja-JP" sz="1400" dirty="0">
              <a:latin typeface="游ゴシック" panose="020B0400000000000000" pitchFamily="50" charset="-128"/>
              <a:ea typeface="游ゴシック" panose="020B0400000000000000" pitchFamily="50" charset="-128"/>
            </a:endParaRPr>
          </a:p>
        </p:txBody>
      </p:sp>
      <p:sp>
        <p:nvSpPr>
          <p:cNvPr id="58" name="正方形/長方形 57"/>
          <p:cNvSpPr/>
          <p:nvPr/>
        </p:nvSpPr>
        <p:spPr>
          <a:xfrm>
            <a:off x="3815680" y="5472000"/>
            <a:ext cx="1691998" cy="216000"/>
          </a:xfrm>
          <a:prstGeom prst="rect">
            <a:avLst/>
          </a:prstGeom>
          <a:solidFill>
            <a:schemeClr val="accent3">
              <a:lumMod val="20000"/>
              <a:lumOff val="80000"/>
            </a:schemeClr>
          </a:solidFill>
          <a:ln>
            <a:solidFill>
              <a:schemeClr val="accent3"/>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dirty="0">
                <a:latin typeface="游ゴシック" panose="020B0400000000000000" pitchFamily="50" charset="-128"/>
                <a:ea typeface="游ゴシック" panose="020B0400000000000000" pitchFamily="50" charset="-128"/>
              </a:rPr>
              <a:t>無</a:t>
            </a:r>
            <a:endParaRPr lang="en-US" altLang="ja-JP" sz="1400" dirty="0">
              <a:latin typeface="游ゴシック" panose="020B0400000000000000" pitchFamily="50" charset="-128"/>
              <a:ea typeface="游ゴシック" panose="020B0400000000000000" pitchFamily="50" charset="-128"/>
            </a:endParaRPr>
          </a:p>
        </p:txBody>
      </p:sp>
      <p:sp>
        <p:nvSpPr>
          <p:cNvPr id="59" name="正方形/長方形 58"/>
          <p:cNvSpPr/>
          <p:nvPr/>
        </p:nvSpPr>
        <p:spPr>
          <a:xfrm>
            <a:off x="7308000" y="4464000"/>
            <a:ext cx="1692000" cy="1224000"/>
          </a:xfrm>
          <a:prstGeom prst="rect">
            <a:avLst/>
          </a:prstGeom>
          <a:solidFill>
            <a:schemeClr val="accent1">
              <a:lumMod val="20000"/>
              <a:lumOff val="80000"/>
            </a:schemeClr>
          </a:solidFill>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en-US" altLang="ja-JP" sz="1400" dirty="0">
                <a:latin typeface="游ゴシック" panose="020B0400000000000000" pitchFamily="50" charset="-128"/>
                <a:ea typeface="游ゴシック" panose="020B0400000000000000" pitchFamily="50" charset="-128"/>
              </a:rPr>
              <a:t>IDEL-SCM</a:t>
            </a:r>
          </a:p>
          <a:p>
            <a:pPr algn="ctr"/>
            <a:r>
              <a:rPr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クラウド</a:t>
            </a:r>
            <a:r>
              <a:rPr lang="en-US" altLang="ja-JP" sz="1400" dirty="0">
                <a:latin typeface="游ゴシック" panose="020B0400000000000000" pitchFamily="50" charset="-128"/>
                <a:ea typeface="游ゴシック" panose="020B0400000000000000" pitchFamily="50" charset="-128"/>
              </a:rPr>
              <a:t>)</a:t>
            </a:r>
          </a:p>
        </p:txBody>
      </p:sp>
      <p:sp>
        <p:nvSpPr>
          <p:cNvPr id="60" name="正方形/長方形 59"/>
          <p:cNvSpPr/>
          <p:nvPr/>
        </p:nvSpPr>
        <p:spPr>
          <a:xfrm>
            <a:off x="143356" y="4212000"/>
            <a:ext cx="630000" cy="972000"/>
          </a:xfrm>
          <a:prstGeom prst="rect">
            <a:avLst/>
          </a:prstGeom>
          <a:solidFill>
            <a:schemeClr val="accent3"/>
          </a:solidFill>
          <a:ln>
            <a:solidFill>
              <a:schemeClr val="accent3"/>
            </a:solidFill>
          </a:ln>
        </p:spPr>
        <p:style>
          <a:lnRef idx="2">
            <a:schemeClr val="accent6"/>
          </a:lnRef>
          <a:fillRef idx="1">
            <a:schemeClr val="lt1"/>
          </a:fillRef>
          <a:effectRef idx="0">
            <a:schemeClr val="accent6"/>
          </a:effectRef>
          <a:fontRef idx="minor">
            <a:schemeClr val="dk1"/>
          </a:fontRef>
        </p:style>
        <p:txBody>
          <a:bodyPr wrap="square" lIns="36000" tIns="36000" rIns="36000" bIns="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製造</a:t>
            </a:r>
            <a:endParaRPr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lang="ja-JP" altLang="en-US" sz="1400" b="1" dirty="0">
                <a:solidFill>
                  <a:schemeClr val="bg1"/>
                </a:solidFill>
                <a:latin typeface="游ゴシック" panose="020B0400000000000000" pitchFamily="50" charset="-128"/>
                <a:ea typeface="游ゴシック" panose="020B0400000000000000" pitchFamily="50" charset="-128"/>
              </a:rPr>
              <a:t>工程</a:t>
            </a:r>
            <a:br>
              <a:rPr lang="en-US" altLang="ja-JP" sz="1400" b="1" dirty="0">
                <a:solidFill>
                  <a:schemeClr val="bg1"/>
                </a:solidFill>
                <a:latin typeface="游ゴシック" panose="020B0400000000000000" pitchFamily="50" charset="-128"/>
                <a:ea typeface="游ゴシック" panose="020B0400000000000000" pitchFamily="50" charset="-128"/>
              </a:rPr>
            </a:br>
            <a:r>
              <a:rPr lang="ja-JP" altLang="en-US" sz="1400" b="1" dirty="0">
                <a:solidFill>
                  <a:schemeClr val="bg1"/>
                </a:solidFill>
                <a:latin typeface="游ゴシック" panose="020B0400000000000000" pitchFamily="50" charset="-128"/>
                <a:ea typeface="游ゴシック" panose="020B0400000000000000" pitchFamily="50" charset="-128"/>
              </a:rPr>
              <a:t>管理</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61" name="正方形/長方形 60"/>
          <p:cNvSpPr/>
          <p:nvPr/>
        </p:nvSpPr>
        <p:spPr>
          <a:xfrm>
            <a:off x="7308000" y="2483999"/>
            <a:ext cx="1692000" cy="1944000"/>
          </a:xfrm>
          <a:prstGeom prst="rect">
            <a:avLst/>
          </a:prstGeom>
          <a:solidFill>
            <a:schemeClr val="accent3">
              <a:lumMod val="20000"/>
              <a:lumOff val="80000"/>
            </a:schemeClr>
          </a:solidFill>
          <a:ln>
            <a:solidFill>
              <a:schemeClr val="accent3"/>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dirty="0">
                <a:latin typeface="游ゴシック" panose="020B0400000000000000" pitchFamily="50" charset="-128"/>
                <a:ea typeface="游ゴシック" panose="020B0400000000000000" pitchFamily="50" charset="-128"/>
              </a:rPr>
              <a:t>無</a:t>
            </a:r>
            <a:endParaRPr lang="en-US" altLang="ja-JP" sz="1400" dirty="0">
              <a:latin typeface="游ゴシック" panose="020B0400000000000000" pitchFamily="50" charset="-128"/>
              <a:ea typeface="游ゴシック" panose="020B0400000000000000" pitchFamily="50" charset="-128"/>
            </a:endParaRPr>
          </a:p>
        </p:txBody>
      </p:sp>
      <p:sp>
        <p:nvSpPr>
          <p:cNvPr id="62" name="片側の 2 つの角を丸めた四角形 61"/>
          <p:cNvSpPr/>
          <p:nvPr/>
        </p:nvSpPr>
        <p:spPr>
          <a:xfrm>
            <a:off x="2069517" y="2160000"/>
            <a:ext cx="1692000" cy="288000"/>
          </a:xfrm>
          <a:prstGeom prst="round2Same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lIns="36000" tIns="36000" rIns="36000" bIns="0" rtlCol="0" anchor="ctr"/>
          <a:lstStyle/>
          <a:p>
            <a:pPr algn="ctr"/>
            <a:r>
              <a:rPr lang="ja-JP" altLang="en-US" sz="1600" b="1" dirty="0">
                <a:latin typeface="游ゴシック" panose="020B0400000000000000" pitchFamily="50" charset="-128"/>
                <a:ea typeface="游ゴシック" panose="020B0400000000000000" pitchFamily="50" charset="-128"/>
              </a:rPr>
              <a:t>化学事業</a:t>
            </a:r>
            <a:endParaRPr kumimoji="1" lang="ja-JP" altLang="en-US" sz="1600" b="1" dirty="0">
              <a:latin typeface="游ゴシック" panose="020B0400000000000000" pitchFamily="50" charset="-128"/>
              <a:ea typeface="游ゴシック" panose="020B0400000000000000" pitchFamily="50" charset="-128"/>
            </a:endParaRPr>
          </a:p>
        </p:txBody>
      </p:sp>
      <p:sp>
        <p:nvSpPr>
          <p:cNvPr id="63" name="片側の 2 つの角を丸めた四角形 62"/>
          <p:cNvSpPr/>
          <p:nvPr/>
        </p:nvSpPr>
        <p:spPr>
          <a:xfrm>
            <a:off x="3815678" y="2160000"/>
            <a:ext cx="1692000" cy="288000"/>
          </a:xfrm>
          <a:prstGeom prst="round2Same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lIns="36000" tIns="36000" rIns="36000" bIns="0" rtlCol="0" anchor="ctr"/>
          <a:lstStyle/>
          <a:p>
            <a:pPr algn="ctr"/>
            <a:r>
              <a:rPr lang="ja-JP" altLang="en-US" sz="1600" b="1" dirty="0">
                <a:latin typeface="游ゴシック" panose="020B0400000000000000" pitchFamily="50" charset="-128"/>
                <a:ea typeface="游ゴシック" panose="020B0400000000000000" pitchFamily="50" charset="-128"/>
              </a:rPr>
              <a:t>燃料</a:t>
            </a:r>
            <a:r>
              <a:rPr kumimoji="1" lang="ja-JP" altLang="en-US" sz="1600" b="1" dirty="0">
                <a:latin typeface="游ゴシック" panose="020B0400000000000000" pitchFamily="50" charset="-128"/>
                <a:ea typeface="游ゴシック" panose="020B0400000000000000" pitchFamily="50" charset="-128"/>
              </a:rPr>
              <a:t>事業</a:t>
            </a:r>
          </a:p>
        </p:txBody>
      </p:sp>
      <p:sp>
        <p:nvSpPr>
          <p:cNvPr id="64" name="片側の 2 つの角を丸めた四角形 63"/>
          <p:cNvSpPr/>
          <p:nvPr/>
        </p:nvSpPr>
        <p:spPr>
          <a:xfrm>
            <a:off x="5561839" y="2160000"/>
            <a:ext cx="1692000" cy="288000"/>
          </a:xfrm>
          <a:prstGeom prst="round2Same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lIns="36000" tIns="36000" rIns="36000" bIns="0" rtlCol="0" anchor="ctr"/>
          <a:lstStyle/>
          <a:p>
            <a:pPr algn="ctr"/>
            <a:r>
              <a:rPr lang="ja-JP" altLang="en-US" sz="1600" b="1" dirty="0">
                <a:latin typeface="游ゴシック" panose="020B0400000000000000" pitchFamily="50" charset="-128"/>
                <a:ea typeface="游ゴシック" panose="020B0400000000000000" pitchFamily="50" charset="-128"/>
              </a:rPr>
              <a:t>潤滑事業</a:t>
            </a:r>
            <a:endParaRPr kumimoji="1" lang="ja-JP" altLang="en-US" sz="1600" b="1" dirty="0">
              <a:latin typeface="游ゴシック" panose="020B0400000000000000" pitchFamily="50" charset="-128"/>
              <a:ea typeface="游ゴシック" panose="020B0400000000000000" pitchFamily="50" charset="-128"/>
            </a:endParaRPr>
          </a:p>
        </p:txBody>
      </p:sp>
      <p:sp>
        <p:nvSpPr>
          <p:cNvPr id="65" name="片側の 2 つの角を丸めた四角形 64"/>
          <p:cNvSpPr/>
          <p:nvPr/>
        </p:nvSpPr>
        <p:spPr>
          <a:xfrm>
            <a:off x="7308000" y="2160000"/>
            <a:ext cx="1692000" cy="288000"/>
          </a:xfrm>
          <a:prstGeom prst="round2Same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lIns="36000" tIns="36000" rIns="36000" bIns="0" rtlCol="0" anchor="ctr"/>
          <a:lstStyle/>
          <a:p>
            <a:pPr algn="ctr"/>
            <a:r>
              <a:rPr lang="ja-JP" altLang="en-US" sz="1600" b="1" dirty="0">
                <a:latin typeface="游ゴシック" panose="020B0400000000000000" pitchFamily="50" charset="-128"/>
                <a:ea typeface="游ゴシック" panose="020B0400000000000000" pitchFamily="50" charset="-128"/>
              </a:rPr>
              <a:t>電材事業</a:t>
            </a:r>
            <a:endParaRPr kumimoji="1" lang="ja-JP" altLang="en-US" sz="1600" b="1" dirty="0">
              <a:latin typeface="游ゴシック" panose="020B0400000000000000" pitchFamily="50" charset="-128"/>
              <a:ea typeface="游ゴシック" panose="020B0400000000000000" pitchFamily="50" charset="-128"/>
            </a:endParaRPr>
          </a:p>
        </p:txBody>
      </p:sp>
      <p:sp>
        <p:nvSpPr>
          <p:cNvPr id="68" name="正方形/長方形 67"/>
          <p:cNvSpPr/>
          <p:nvPr/>
        </p:nvSpPr>
        <p:spPr>
          <a:xfrm>
            <a:off x="2069518" y="4968000"/>
            <a:ext cx="1691998" cy="216000"/>
          </a:xfrm>
          <a:prstGeom prst="rect">
            <a:avLst/>
          </a:prstGeom>
          <a:solidFill>
            <a:schemeClr val="accent1">
              <a:lumMod val="20000"/>
              <a:lumOff val="80000"/>
            </a:schemeClr>
          </a:solidFill>
          <a:ln>
            <a:solidFill>
              <a:schemeClr val="accent1"/>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r>
              <a:rPr lang="ja-JP" altLang="en-US" sz="1400" dirty="0">
                <a:latin typeface="游ゴシック" panose="020B0400000000000000" pitchFamily="50" charset="-128"/>
                <a:ea typeface="游ゴシック" panose="020B0400000000000000" pitchFamily="50" charset="-128"/>
              </a:rPr>
              <a:t>運転管理</a:t>
            </a:r>
            <a:r>
              <a:rPr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化学</a:t>
            </a:r>
            <a:r>
              <a:rPr lang="en-US" altLang="ja-JP" sz="1400" dirty="0">
                <a:latin typeface="游ゴシック" panose="020B0400000000000000" pitchFamily="50" charset="-128"/>
                <a:ea typeface="游ゴシック" panose="020B0400000000000000" pitchFamily="50" charset="-128"/>
              </a:rPr>
              <a:t>)</a:t>
            </a:r>
          </a:p>
        </p:txBody>
      </p:sp>
      <p:grpSp>
        <p:nvGrpSpPr>
          <p:cNvPr id="3" name="グループ化 2"/>
          <p:cNvGrpSpPr/>
          <p:nvPr/>
        </p:nvGrpSpPr>
        <p:grpSpPr>
          <a:xfrm>
            <a:off x="2844000" y="1872000"/>
            <a:ext cx="6156000" cy="216000"/>
            <a:chOff x="2844000" y="1872000"/>
            <a:chExt cx="6156000" cy="216000"/>
          </a:xfrm>
        </p:grpSpPr>
        <p:sp>
          <p:nvSpPr>
            <p:cNvPr id="76" name="正方形/長方形 75"/>
            <p:cNvSpPr/>
            <p:nvPr/>
          </p:nvSpPr>
          <p:spPr>
            <a:xfrm>
              <a:off x="5939678" y="1872000"/>
              <a:ext cx="468000" cy="216000"/>
            </a:xfrm>
            <a:prstGeom prst="rect">
              <a:avLst/>
            </a:prstGeom>
            <a:solidFill>
              <a:schemeClr val="accent2">
                <a:lumMod val="20000"/>
                <a:lumOff val="80000"/>
              </a:schemeClr>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endParaRPr lang="en-US" altLang="ja-JP" sz="1200" b="1" dirty="0">
                <a:latin typeface="游ゴシック" panose="020B0400000000000000" pitchFamily="50" charset="-128"/>
                <a:ea typeface="游ゴシック" panose="020B0400000000000000" pitchFamily="50" charset="-128"/>
              </a:endParaRPr>
            </a:p>
          </p:txBody>
        </p:sp>
        <p:sp>
          <p:nvSpPr>
            <p:cNvPr id="77" name="正方形/長方形 76"/>
            <p:cNvSpPr/>
            <p:nvPr/>
          </p:nvSpPr>
          <p:spPr>
            <a:xfrm>
              <a:off x="3600000" y="1872000"/>
              <a:ext cx="468000" cy="216000"/>
            </a:xfrm>
            <a:prstGeom prst="rect">
              <a:avLst/>
            </a:prstGeom>
            <a:solidFill>
              <a:schemeClr val="accent2"/>
            </a:solidFill>
            <a:ln>
              <a:solidFill>
                <a:schemeClr val="accent2"/>
              </a:solid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pPr algn="ctr"/>
              <a:endParaRPr lang="en-US" altLang="ja-JP" sz="1200" b="1" dirty="0">
                <a:solidFill>
                  <a:schemeClr val="bg1"/>
                </a:solidFill>
                <a:latin typeface="游ゴシック" panose="020B0400000000000000" pitchFamily="50" charset="-128"/>
                <a:ea typeface="游ゴシック" panose="020B0400000000000000" pitchFamily="50" charset="-128"/>
              </a:endParaRPr>
            </a:p>
          </p:txBody>
        </p:sp>
        <p:sp>
          <p:nvSpPr>
            <p:cNvPr id="78" name="テキスト ボックス 77"/>
            <p:cNvSpPr txBox="1"/>
            <p:nvPr/>
          </p:nvSpPr>
          <p:spPr>
            <a:xfrm>
              <a:off x="2844000" y="1872000"/>
              <a:ext cx="646331" cy="216000"/>
            </a:xfrm>
            <a:prstGeom prst="rect">
              <a:avLst/>
            </a:prstGeom>
            <a:noFill/>
          </p:spPr>
          <p:txBody>
            <a:bodyPr wrap="none" rtlCol="0" anchor="ctr">
              <a:spAutoFit/>
            </a:bodyPr>
            <a:lstStyle/>
            <a:p>
              <a:r>
                <a:rPr kumimoji="1" lang="ja-JP" altLang="en-US" sz="1200" dirty="0">
                  <a:latin typeface="游ゴシック" panose="020B0400000000000000" pitchFamily="50" charset="-128"/>
                  <a:ea typeface="游ゴシック" panose="020B0400000000000000" pitchFamily="50" charset="-128"/>
                </a:rPr>
                <a:t>凡例：</a:t>
              </a:r>
            </a:p>
          </p:txBody>
        </p:sp>
        <p:sp>
          <p:nvSpPr>
            <p:cNvPr id="79" name="正方形/長方形 78"/>
            <p:cNvSpPr/>
            <p:nvPr/>
          </p:nvSpPr>
          <p:spPr>
            <a:xfrm>
              <a:off x="6444000" y="1872000"/>
              <a:ext cx="2556000" cy="216000"/>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ctr"/>
            <a:lstStyle/>
            <a:p>
              <a:r>
                <a:rPr lang="ja-JP" altLang="en-US" sz="1200" dirty="0">
                  <a:solidFill>
                    <a:schemeClr val="tx1"/>
                  </a:solidFill>
                  <a:latin typeface="游ゴシック" panose="020B0400000000000000" pitchFamily="50" charset="-128"/>
                  <a:ea typeface="游ゴシック" panose="020B0400000000000000" pitchFamily="50" charset="-128"/>
                </a:rPr>
                <a:t>現在、弊社が担当しているシステム</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80" name="テキスト ボックス 79"/>
            <p:cNvSpPr txBox="1"/>
            <p:nvPr/>
          </p:nvSpPr>
          <p:spPr>
            <a:xfrm>
              <a:off x="4032000" y="1872000"/>
              <a:ext cx="1728000" cy="216000"/>
            </a:xfrm>
            <a:prstGeom prst="rect">
              <a:avLst/>
            </a:prstGeom>
            <a:noFill/>
          </p:spPr>
          <p:txBody>
            <a:bodyPr wrap="none" rtlCol="0" anchor="ctr">
              <a:spAutoFit/>
            </a:bodyPr>
            <a:lstStyle/>
            <a:p>
              <a:r>
                <a:rPr kumimoji="1" lang="ja-JP" altLang="en-US" sz="1200" dirty="0">
                  <a:latin typeface="游ゴシック" panose="020B0400000000000000" pitchFamily="50" charset="-128"/>
                  <a:ea typeface="游ゴシック" panose="020B0400000000000000" pitchFamily="50" charset="-128"/>
                </a:rPr>
                <a:t>千葉運転管理システム</a:t>
              </a:r>
            </a:p>
          </p:txBody>
        </p:sp>
      </p:grpSp>
      <p:sp>
        <p:nvSpPr>
          <p:cNvPr id="55" name="正方形/長方形 54"/>
          <p:cNvSpPr/>
          <p:nvPr/>
        </p:nvSpPr>
        <p:spPr>
          <a:xfrm>
            <a:off x="144000" y="5940000"/>
            <a:ext cx="8856644" cy="432000"/>
          </a:xfrm>
          <a:prstGeom prst="rect">
            <a:avLst/>
          </a:prstGeom>
          <a:noFill/>
          <a:ln>
            <a:noFill/>
          </a:ln>
          <a:effectLst/>
        </p:spPr>
        <p:style>
          <a:lnRef idx="1">
            <a:schemeClr val="accent1"/>
          </a:lnRef>
          <a:fillRef idx="2">
            <a:schemeClr val="accent1"/>
          </a:fillRef>
          <a:effectRef idx="1">
            <a:schemeClr val="accent1"/>
          </a:effectRef>
          <a:fontRef idx="minor">
            <a:schemeClr val="dk1"/>
          </a:fontRef>
        </p:style>
        <p:txBody>
          <a:bodyPr wrap="none" lIns="36000" tIns="0" rIns="36000" bIns="0" rtlCol="0" anchor="b"/>
          <a:lstStyle/>
          <a:p>
            <a:pPr marL="285750" indent="-2857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現行</a:t>
            </a:r>
            <a:r>
              <a:rPr lang="en-US" altLang="ja-JP" sz="1200" dirty="0">
                <a:latin typeface="游ゴシック" panose="020B0400000000000000" pitchFamily="50" charset="-128"/>
                <a:ea typeface="游ゴシック" panose="020B0400000000000000" pitchFamily="50" charset="-128"/>
              </a:rPr>
              <a:t>IT</a:t>
            </a:r>
            <a:r>
              <a:rPr lang="ja-JP" altLang="en-US" sz="1200" dirty="0">
                <a:latin typeface="游ゴシック" panose="020B0400000000000000" pitchFamily="50" charset="-128"/>
                <a:ea typeface="游ゴシック" panose="020B0400000000000000" pitchFamily="50" charset="-128"/>
              </a:rPr>
              <a:t>ソリューションマップより抜粋（全社管理・設備保全・文書等資源管理は省略）</a:t>
            </a:r>
            <a:br>
              <a:rPr lang="en-US" altLang="ja-JP" sz="1200" dirty="0">
                <a:latin typeface="游ゴシック" panose="020B0400000000000000" pitchFamily="50" charset="-128"/>
                <a:ea typeface="游ゴシック" panose="020B0400000000000000" pitchFamily="50" charset="-128"/>
              </a:rPr>
            </a:br>
            <a:r>
              <a:rPr lang="ja-JP" altLang="en-US" sz="1200" dirty="0">
                <a:latin typeface="游ゴシック" panose="020B0400000000000000" pitchFamily="50" charset="-128"/>
                <a:ea typeface="游ゴシック" panose="020B0400000000000000" pitchFamily="50" charset="-128"/>
              </a:rPr>
              <a:t>千葉事業所のシステムを重点的に記載</a:t>
            </a:r>
          </a:p>
        </p:txBody>
      </p:sp>
    </p:spTree>
    <p:extLst>
      <p:ext uri="{BB962C8B-B14F-4D97-AF65-F5344CB8AC3E}">
        <p14:creationId xmlns:p14="http://schemas.microsoft.com/office/powerpoint/2010/main" val="2694839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角丸四角形 121"/>
          <p:cNvSpPr/>
          <p:nvPr/>
        </p:nvSpPr>
        <p:spPr>
          <a:xfrm>
            <a:off x="1007998" y="864000"/>
            <a:ext cx="5220001" cy="576000"/>
          </a:xfrm>
          <a:prstGeom prst="roundRect">
            <a:avLst>
              <a:gd name="adj" fmla="val 11024"/>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r>
              <a:rPr kumimoji="1" lang="ja-JP" altLang="en-US" sz="1400" b="1" dirty="0">
                <a:solidFill>
                  <a:schemeClr val="tx1"/>
                </a:solidFill>
                <a:latin typeface="游ゴシック" panose="020B0400000000000000" pitchFamily="50" charset="-128"/>
                <a:ea typeface="游ゴシック" panose="020B0400000000000000" pitchFamily="50" charset="-128"/>
              </a:rPr>
              <a:t>館林</a:t>
            </a:r>
            <a:r>
              <a:rPr kumimoji="1" lang="en-US" altLang="ja-JP" sz="1400" b="1" dirty="0">
                <a:solidFill>
                  <a:schemeClr val="tx1"/>
                </a:solidFill>
                <a:latin typeface="游ゴシック" panose="020B0400000000000000" pitchFamily="50" charset="-128"/>
                <a:ea typeface="游ゴシック" panose="020B0400000000000000" pitchFamily="50" charset="-128"/>
              </a:rPr>
              <a:t>DC</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8" name="角丸四角形 17"/>
          <p:cNvSpPr/>
          <p:nvPr/>
        </p:nvSpPr>
        <p:spPr>
          <a:xfrm>
            <a:off x="1008000" y="1656000"/>
            <a:ext cx="7992000" cy="2880000"/>
          </a:xfrm>
          <a:prstGeom prst="roundRect">
            <a:avLst>
              <a:gd name="adj" fmla="val 2205"/>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r>
              <a:rPr kumimoji="1" lang="ja-JP" altLang="en-US" sz="1400" b="1" dirty="0">
                <a:solidFill>
                  <a:schemeClr val="tx1"/>
                </a:solidFill>
                <a:latin typeface="游ゴシック" panose="020B0400000000000000" pitchFamily="50" charset="-128"/>
                <a:ea typeface="游ゴシック" panose="020B0400000000000000" pitchFamily="50" charset="-128"/>
              </a:rPr>
              <a:t>潤滑油二課事務所</a:t>
            </a:r>
          </a:p>
        </p:txBody>
      </p:sp>
      <p:sp>
        <p:nvSpPr>
          <p:cNvPr id="2" name="タイトル 1"/>
          <p:cNvSpPr>
            <a:spLocks noGrp="1"/>
          </p:cNvSpPr>
          <p:nvPr>
            <p:ph type="title"/>
          </p:nvPr>
        </p:nvSpPr>
        <p:spPr>
          <a:xfrm>
            <a:off x="144000" y="36000"/>
            <a:ext cx="8856000" cy="576000"/>
          </a:xfrm>
        </p:spPr>
        <p:txBody>
          <a:bodyPr/>
          <a:lstStyle/>
          <a:p>
            <a:r>
              <a:rPr kumimoji="1" lang="ja-JP" altLang="en-US" dirty="0"/>
              <a:t>システム構成（</a:t>
            </a:r>
            <a:r>
              <a:rPr kumimoji="1" lang="en-US" altLang="ja-JP" dirty="0" err="1"/>
              <a:t>AsIs</a:t>
            </a:r>
            <a:r>
              <a:rPr kumimoji="1" lang="ja-JP" altLang="en-US" dirty="0"/>
              <a:t>）</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12</a:t>
            </a:fld>
            <a:endParaRPr kumimoji="1" lang="ja-JP" altLang="en-US"/>
          </a:p>
        </p:txBody>
      </p:sp>
      <p:sp>
        <p:nvSpPr>
          <p:cNvPr id="85" name="角丸四角形 84"/>
          <p:cNvSpPr/>
          <p:nvPr/>
        </p:nvSpPr>
        <p:spPr>
          <a:xfrm>
            <a:off x="3096000" y="1008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en-US" altLang="ja-JP" sz="1400" dirty="0" err="1">
                <a:solidFill>
                  <a:schemeClr val="bg1"/>
                </a:solidFill>
                <a:latin typeface="游ゴシック" panose="020B0400000000000000" pitchFamily="50" charset="-128"/>
                <a:ea typeface="游ゴシック" panose="020B0400000000000000" pitchFamily="50" charset="-128"/>
              </a:rPr>
              <a:t>OneSAP</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sp>
        <p:nvSpPr>
          <p:cNvPr id="87" name="角丸四角形 86"/>
          <p:cNvSpPr/>
          <p:nvPr/>
        </p:nvSpPr>
        <p:spPr>
          <a:xfrm>
            <a:off x="1080000" y="1008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連携基盤</a:t>
            </a:r>
          </a:p>
        </p:txBody>
      </p:sp>
      <p:cxnSp>
        <p:nvCxnSpPr>
          <p:cNvPr id="96" name="直線コネクタ 95"/>
          <p:cNvCxnSpPr/>
          <p:nvPr/>
        </p:nvCxnSpPr>
        <p:spPr>
          <a:xfrm flipV="1">
            <a:off x="504000" y="1512000"/>
            <a:ext cx="8496000" cy="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H="1" flipV="1">
            <a:off x="1980000" y="1296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flipH="1" flipV="1">
            <a:off x="3996000" y="1296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p:cNvCxnSpPr/>
          <p:nvPr/>
        </p:nvCxnSpPr>
        <p:spPr>
          <a:xfrm flipV="1">
            <a:off x="504000" y="5544000"/>
            <a:ext cx="8496000" cy="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18" name="角丸四角形 117"/>
          <p:cNvSpPr/>
          <p:nvPr/>
        </p:nvSpPr>
        <p:spPr>
          <a:xfrm>
            <a:off x="7056000" y="4752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充填所</a:t>
            </a:r>
          </a:p>
        </p:txBody>
      </p:sp>
      <p:sp>
        <p:nvSpPr>
          <p:cNvPr id="120" name="角丸四角形 119"/>
          <p:cNvSpPr/>
          <p:nvPr/>
        </p:nvSpPr>
        <p:spPr>
          <a:xfrm>
            <a:off x="3024000" y="4752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出荷事務所</a:t>
            </a:r>
          </a:p>
        </p:txBody>
      </p:sp>
      <p:sp>
        <p:nvSpPr>
          <p:cNvPr id="121" name="角丸四角形 120"/>
          <p:cNvSpPr/>
          <p:nvPr/>
        </p:nvSpPr>
        <p:spPr>
          <a:xfrm>
            <a:off x="1008000" y="4752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lang="en-US" altLang="ja-JP" sz="1400" b="1" dirty="0">
                <a:solidFill>
                  <a:schemeClr val="tx1"/>
                </a:solidFill>
                <a:latin typeface="游ゴシック" panose="020B0400000000000000" pitchFamily="50" charset="-128"/>
                <a:ea typeface="游ゴシック" panose="020B0400000000000000" pitchFamily="50" charset="-128"/>
              </a:rPr>
              <a:t>CB</a:t>
            </a:r>
            <a:r>
              <a:rPr lang="ja-JP" altLang="en-US" sz="1400" b="1" dirty="0">
                <a:solidFill>
                  <a:schemeClr val="tx1"/>
                </a:solidFill>
                <a:latin typeface="游ゴシック" panose="020B0400000000000000" pitchFamily="50" charset="-128"/>
                <a:ea typeface="游ゴシック" panose="020B0400000000000000" pitchFamily="50" charset="-128"/>
              </a:rPr>
              <a:t>建屋</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05" name="角丸四角形 104"/>
          <p:cNvSpPr/>
          <p:nvPr/>
        </p:nvSpPr>
        <p:spPr>
          <a:xfrm>
            <a:off x="3096000" y="5040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lang="ja-JP" altLang="en-US" sz="1400" dirty="0">
                <a:solidFill>
                  <a:schemeClr val="bg1"/>
                </a:solidFill>
                <a:latin typeface="游ゴシック" panose="020B0400000000000000" pitchFamily="50" charset="-128"/>
                <a:ea typeface="游ゴシック" panose="020B0400000000000000" pitchFamily="50" charset="-128"/>
              </a:rPr>
              <a:t>ﾛｯﾄ</a:t>
            </a:r>
            <a:r>
              <a:rPr kumimoji="1" lang="ja-JP" altLang="en-US" sz="1400" dirty="0">
                <a:solidFill>
                  <a:schemeClr val="bg1"/>
                </a:solidFill>
                <a:latin typeface="游ゴシック" panose="020B0400000000000000" pitchFamily="50" charset="-128"/>
                <a:ea typeface="游ゴシック" panose="020B0400000000000000" pitchFamily="50" charset="-128"/>
              </a:rPr>
              <a:t>追跡ｼｽﾃﾑ</a:t>
            </a:r>
          </a:p>
        </p:txBody>
      </p:sp>
      <p:sp>
        <p:nvSpPr>
          <p:cNvPr id="107" name="角丸四角形 106"/>
          <p:cNvSpPr/>
          <p:nvPr/>
        </p:nvSpPr>
        <p:spPr>
          <a:xfrm>
            <a:off x="1080000" y="5040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添加剤</a:t>
            </a:r>
            <a:r>
              <a:rPr lang="ja-JP" altLang="en-US" sz="1400" dirty="0">
                <a:solidFill>
                  <a:schemeClr val="bg1"/>
                </a:solidFill>
                <a:latin typeface="游ゴシック" panose="020B0400000000000000" pitchFamily="50" charset="-128"/>
                <a:ea typeface="游ゴシック" panose="020B0400000000000000" pitchFamily="50" charset="-128"/>
              </a:rPr>
              <a:t>ﾛｯﾄ</a:t>
            </a:r>
            <a:r>
              <a:rPr kumimoji="1" lang="ja-JP" altLang="en-US" sz="1400" dirty="0">
                <a:solidFill>
                  <a:schemeClr val="bg1"/>
                </a:solidFill>
                <a:latin typeface="游ゴシック" panose="020B0400000000000000" pitchFamily="50" charset="-128"/>
                <a:ea typeface="游ゴシック" panose="020B0400000000000000" pitchFamily="50" charset="-128"/>
              </a:rPr>
              <a:t>管理ｼｽﾃﾑ</a:t>
            </a:r>
          </a:p>
        </p:txBody>
      </p:sp>
      <p:sp>
        <p:nvSpPr>
          <p:cNvPr id="112" name="角丸四角形 111"/>
          <p:cNvSpPr/>
          <p:nvPr/>
        </p:nvSpPr>
        <p:spPr>
          <a:xfrm>
            <a:off x="7128441" y="5040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充填管理ｼｽﾃﾑ</a:t>
            </a:r>
          </a:p>
        </p:txBody>
      </p:sp>
      <p:cxnSp>
        <p:nvCxnSpPr>
          <p:cNvPr id="38" name="直線コネクタ 37"/>
          <p:cNvCxnSpPr/>
          <p:nvPr/>
        </p:nvCxnSpPr>
        <p:spPr>
          <a:xfrm flipH="1" flipV="1">
            <a:off x="792000" y="2448000"/>
            <a:ext cx="360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0" name="正方形/長方形 39"/>
          <p:cNvSpPr/>
          <p:nvPr/>
        </p:nvSpPr>
        <p:spPr>
          <a:xfrm>
            <a:off x="6408000" y="828000"/>
            <a:ext cx="2592000" cy="64800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tIns="36000" rIns="36000" bIns="36000" rtlCol="0" anchor="t" anchorCtr="0"/>
          <a:lstStyle/>
          <a:p>
            <a:pPr marL="171450" indent="-171450">
              <a:buFont typeface="游ゴシック" panose="020B0400000000000000" pitchFamily="50" charset="-128"/>
              <a:buChar char="※"/>
            </a:pPr>
            <a:r>
              <a:rPr lang="ja-JP" altLang="en-US" sz="1200" dirty="0">
                <a:solidFill>
                  <a:schemeClr val="tx1"/>
                </a:solidFill>
                <a:latin typeface="游ゴシック" panose="020B0400000000000000" pitchFamily="50" charset="-128"/>
                <a:ea typeface="游ゴシック" panose="020B0400000000000000" pitchFamily="50" charset="-128"/>
              </a:rPr>
              <a:t>紙面の都合上、潤滑油二課事務所内のレーザープリンタ</a:t>
            </a:r>
            <a:r>
              <a:rPr lang="en-US" altLang="ja-JP" sz="1200" dirty="0">
                <a:solidFill>
                  <a:schemeClr val="tx1"/>
                </a:solidFill>
                <a:latin typeface="游ゴシック" panose="020B0400000000000000" pitchFamily="50" charset="-128"/>
                <a:ea typeface="游ゴシック" panose="020B0400000000000000" pitchFamily="50" charset="-128"/>
              </a:rPr>
              <a:t>3</a:t>
            </a:r>
            <a:r>
              <a:rPr lang="ja-JP" altLang="en-US" sz="1200" dirty="0">
                <a:solidFill>
                  <a:schemeClr val="tx1"/>
                </a:solidFill>
                <a:latin typeface="游ゴシック" panose="020B0400000000000000" pitchFamily="50" charset="-128"/>
                <a:ea typeface="游ゴシック" panose="020B0400000000000000" pitchFamily="50" charset="-128"/>
              </a:rPr>
              <a:t>台</a:t>
            </a:r>
            <a:r>
              <a:rPr lang="en-US" altLang="ja-JP" sz="1200" dirty="0">
                <a:solidFill>
                  <a:schemeClr val="tx1"/>
                </a:solidFill>
                <a:latin typeface="游ゴシック" panose="020B0400000000000000" pitchFamily="50" charset="-128"/>
                <a:ea typeface="游ゴシック" panose="020B0400000000000000" pitchFamily="50" charset="-128"/>
              </a:rPr>
              <a:t>(IP:10.1.1.200-202</a:t>
            </a:r>
            <a:r>
              <a:rPr lang="ja-JP" altLang="en-US" sz="1200" dirty="0">
                <a:solidFill>
                  <a:schemeClr val="tx1"/>
                </a:solidFill>
                <a:latin typeface="游ゴシック" panose="020B0400000000000000" pitchFamily="50" charset="-128"/>
                <a:ea typeface="游ゴシック" panose="020B0400000000000000" pitchFamily="50" charset="-128"/>
              </a:rPr>
              <a:t>）を省略</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cxnSp>
        <p:nvCxnSpPr>
          <p:cNvPr id="103" name="直線コネクタ 102"/>
          <p:cNvCxnSpPr/>
          <p:nvPr/>
        </p:nvCxnSpPr>
        <p:spPr>
          <a:xfrm flipV="1">
            <a:off x="504000" y="2952000"/>
            <a:ext cx="8352000" cy="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4" name="直線コネクタ 133"/>
          <p:cNvCxnSpPr/>
          <p:nvPr/>
        </p:nvCxnSpPr>
        <p:spPr>
          <a:xfrm flipH="1" flipV="1">
            <a:off x="5004000" y="2808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5" name="直線コネクタ 134"/>
          <p:cNvCxnSpPr/>
          <p:nvPr/>
        </p:nvCxnSpPr>
        <p:spPr>
          <a:xfrm flipH="1" flipV="1">
            <a:off x="7632000" y="2808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p:cNvCxnSpPr/>
          <p:nvPr/>
        </p:nvCxnSpPr>
        <p:spPr>
          <a:xfrm flipH="1" flipV="1">
            <a:off x="2376000" y="2952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flipH="1" flipV="1">
            <a:off x="7632000" y="2952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23" name="角丸四角形 122"/>
          <p:cNvSpPr/>
          <p:nvPr/>
        </p:nvSpPr>
        <p:spPr>
          <a:xfrm>
            <a:off x="1008000" y="5616001"/>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0" rIns="108000" bIns="0" rtlCol="0" anchor="b" anchorCtr="0"/>
          <a:lstStyle/>
          <a:p>
            <a:pPr algn="ct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24" name="角丸四角形 123"/>
          <p:cNvSpPr/>
          <p:nvPr/>
        </p:nvSpPr>
        <p:spPr>
          <a:xfrm>
            <a:off x="1080000" y="5760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en-US" altLang="ja-JP" sz="1400" dirty="0">
                <a:solidFill>
                  <a:schemeClr val="bg1"/>
                </a:solidFill>
                <a:latin typeface="游ゴシック" panose="020B0400000000000000" pitchFamily="50" charset="-128"/>
                <a:ea typeface="游ゴシック" panose="020B0400000000000000" pitchFamily="50" charset="-128"/>
              </a:rPr>
              <a:t>ETS-R(</a:t>
            </a:r>
            <a:r>
              <a:rPr lang="ja-JP" altLang="en-US" sz="1400" dirty="0">
                <a:solidFill>
                  <a:schemeClr val="bg1"/>
                </a:solidFill>
                <a:latin typeface="游ゴシック" panose="020B0400000000000000" pitchFamily="50" charset="-128"/>
                <a:ea typeface="游ゴシック" panose="020B0400000000000000" pitchFamily="50" charset="-128"/>
              </a:rPr>
              <a:t>運転管理</a:t>
            </a:r>
            <a:r>
              <a:rPr kumimoji="1" lang="en-US" altLang="ja-JP" sz="1400" dirty="0">
                <a:solidFill>
                  <a:schemeClr val="bg1"/>
                </a:solidFill>
                <a:latin typeface="游ゴシック" panose="020B0400000000000000" pitchFamily="50" charset="-128"/>
                <a:ea typeface="游ゴシック" panose="020B0400000000000000" pitchFamily="50" charset="-128"/>
              </a:rPr>
              <a:t>)</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cxnSp>
        <p:nvCxnSpPr>
          <p:cNvPr id="128" name="直線コネクタ 127"/>
          <p:cNvCxnSpPr/>
          <p:nvPr/>
        </p:nvCxnSpPr>
        <p:spPr>
          <a:xfrm flipH="1" flipV="1">
            <a:off x="1980000" y="5544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38" name="角丸四角形 137"/>
          <p:cNvSpPr/>
          <p:nvPr/>
        </p:nvSpPr>
        <p:spPr>
          <a:xfrm>
            <a:off x="3023999" y="5616001"/>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0" rIns="108000" bIns="0" rtlCol="0" anchor="b" anchorCtr="0"/>
          <a:lstStyle/>
          <a:p>
            <a:pPr algn="ct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39" name="角丸四角形 138"/>
          <p:cNvSpPr/>
          <p:nvPr/>
        </p:nvSpPr>
        <p:spPr>
          <a:xfrm>
            <a:off x="3095999" y="5760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lang="ja-JP" altLang="en-US" sz="1400" dirty="0">
                <a:solidFill>
                  <a:schemeClr val="bg1"/>
                </a:solidFill>
                <a:latin typeface="游ゴシック" panose="020B0400000000000000" pitchFamily="50" charset="-128"/>
                <a:ea typeface="游ゴシック" panose="020B0400000000000000" pitchFamily="50" charset="-128"/>
              </a:rPr>
              <a:t>潤滑油運転制御ｼｽﾃﾑ</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cxnSp>
        <p:nvCxnSpPr>
          <p:cNvPr id="113" name="直線コネクタ 112"/>
          <p:cNvCxnSpPr/>
          <p:nvPr/>
        </p:nvCxnSpPr>
        <p:spPr>
          <a:xfrm flipH="1" flipV="1">
            <a:off x="8028000" y="5328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6" name="直線コネクタ 115"/>
          <p:cNvCxnSpPr/>
          <p:nvPr/>
        </p:nvCxnSpPr>
        <p:spPr>
          <a:xfrm flipH="1" flipV="1">
            <a:off x="1980000" y="5328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5" name="直線コネクタ 114"/>
          <p:cNvCxnSpPr/>
          <p:nvPr/>
        </p:nvCxnSpPr>
        <p:spPr>
          <a:xfrm flipH="1" flipV="1">
            <a:off x="3996000" y="5328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p:nvCxnSpPr>
        <p:spPr>
          <a:xfrm flipH="1" flipV="1">
            <a:off x="3996000" y="5544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9" name="直線コネクタ 88"/>
          <p:cNvCxnSpPr/>
          <p:nvPr/>
        </p:nvCxnSpPr>
        <p:spPr>
          <a:xfrm flipH="1" flipV="1">
            <a:off x="5004000" y="2952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角丸四角形 6"/>
          <p:cNvSpPr/>
          <p:nvPr/>
        </p:nvSpPr>
        <p:spPr>
          <a:xfrm>
            <a:off x="1152000" y="2016000"/>
            <a:ext cx="2448000" cy="792000"/>
          </a:xfrm>
          <a:prstGeom prst="roundRect">
            <a:avLst>
              <a:gd name="adj" fmla="val 801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72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通信ｻｰﾊﾞ</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lang="en-US" altLang="ja-JP" sz="1200" dirty="0">
                <a:solidFill>
                  <a:schemeClr val="tx1"/>
                </a:solidFill>
                <a:latin typeface="游ゴシック" panose="020B0400000000000000" pitchFamily="50" charset="-128"/>
                <a:ea typeface="游ゴシック" panose="020B0400000000000000" pitchFamily="50" charset="-128"/>
              </a:rPr>
              <a:t>Windows Server 2003 R2</a:t>
            </a:r>
          </a:p>
        </p:txBody>
      </p:sp>
      <p:pic>
        <p:nvPicPr>
          <p:cNvPr id="15" name="図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6000" y="2088000"/>
            <a:ext cx="218508" cy="396000"/>
          </a:xfrm>
          <a:prstGeom prst="rect">
            <a:avLst/>
          </a:prstGeom>
        </p:spPr>
      </p:pic>
      <p:sp>
        <p:nvSpPr>
          <p:cNvPr id="11" name="正方形/長方形 10"/>
          <p:cNvSpPr/>
          <p:nvPr/>
        </p:nvSpPr>
        <p:spPr>
          <a:xfrm>
            <a:off x="2592000" y="2736000"/>
            <a:ext cx="936000" cy="144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10.178.145.1</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61" name="角丸四角形 60"/>
          <p:cNvSpPr/>
          <p:nvPr/>
        </p:nvSpPr>
        <p:spPr>
          <a:xfrm>
            <a:off x="3780000" y="2016000"/>
            <a:ext cx="2448000" cy="792000"/>
          </a:xfrm>
          <a:prstGeom prst="roundRect">
            <a:avLst>
              <a:gd name="adj" fmla="val 801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72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制御ｼｽﾃﾑ通信ｻｰﾊﾞ</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lang="en-US" altLang="ja-JP" sz="1200" dirty="0">
                <a:solidFill>
                  <a:schemeClr val="tx1"/>
                </a:solidFill>
                <a:latin typeface="游ゴシック" panose="020B0400000000000000" pitchFamily="50" charset="-128"/>
                <a:ea typeface="游ゴシック" panose="020B0400000000000000" pitchFamily="50" charset="-128"/>
              </a:rPr>
              <a:t>Windows Server 2003 R2</a:t>
            </a:r>
          </a:p>
        </p:txBody>
      </p:sp>
      <p:pic>
        <p:nvPicPr>
          <p:cNvPr id="62" name="図 6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24000" y="2088000"/>
            <a:ext cx="218508" cy="396000"/>
          </a:xfrm>
          <a:prstGeom prst="rect">
            <a:avLst/>
          </a:prstGeom>
        </p:spPr>
      </p:pic>
      <p:sp>
        <p:nvSpPr>
          <p:cNvPr id="117" name="正方形/長方形 116"/>
          <p:cNvSpPr/>
          <p:nvPr/>
        </p:nvSpPr>
        <p:spPr>
          <a:xfrm>
            <a:off x="5220000" y="2736000"/>
            <a:ext cx="936000" cy="144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10.1.1.60</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90" name="角丸四角形 89"/>
          <p:cNvSpPr/>
          <p:nvPr/>
        </p:nvSpPr>
        <p:spPr>
          <a:xfrm>
            <a:off x="6408000" y="2016000"/>
            <a:ext cx="2448000" cy="792000"/>
          </a:xfrm>
          <a:prstGeom prst="roundRect">
            <a:avLst>
              <a:gd name="adj" fmla="val 801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72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制御ｼｽﾃﾑ通信ｻｰﾊﾞ</a:t>
            </a:r>
            <a:endParaRPr lang="en-US" altLang="ja-JP" sz="1400" b="1" dirty="0">
              <a:solidFill>
                <a:schemeClr val="tx1"/>
              </a:solidFill>
              <a:latin typeface="游ゴシック" panose="020B0400000000000000" pitchFamily="50" charset="-128"/>
              <a:ea typeface="游ゴシック" panose="020B0400000000000000" pitchFamily="50" charset="-128"/>
            </a:endParaRPr>
          </a:p>
          <a:p>
            <a:r>
              <a:rPr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ﾊﾞｯｸｱｯﾌﾟ</a:t>
            </a:r>
            <a:r>
              <a:rPr lang="en-US" altLang="ja-JP" sz="1400" b="1" dirty="0">
                <a:solidFill>
                  <a:schemeClr val="tx1"/>
                </a:solidFill>
                <a:latin typeface="游ゴシック" panose="020B0400000000000000" pitchFamily="50" charset="-128"/>
                <a:ea typeface="游ゴシック" panose="020B0400000000000000" pitchFamily="50" charset="-128"/>
              </a:rPr>
              <a:t>)</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lang="en-US" altLang="ja-JP" sz="1200" dirty="0">
                <a:solidFill>
                  <a:schemeClr val="tx1"/>
                </a:solidFill>
                <a:latin typeface="游ゴシック" panose="020B0400000000000000" pitchFamily="50" charset="-128"/>
                <a:ea typeface="游ゴシック" panose="020B0400000000000000" pitchFamily="50" charset="-128"/>
              </a:rPr>
              <a:t>Windows Server 2003 R2</a:t>
            </a:r>
          </a:p>
        </p:txBody>
      </p:sp>
      <p:pic>
        <p:nvPicPr>
          <p:cNvPr id="91" name="図 9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2000" y="2088000"/>
            <a:ext cx="218508" cy="396000"/>
          </a:xfrm>
          <a:prstGeom prst="rect">
            <a:avLst/>
          </a:prstGeom>
        </p:spPr>
      </p:pic>
      <p:sp>
        <p:nvSpPr>
          <p:cNvPr id="125" name="正方形/長方形 124"/>
          <p:cNvSpPr/>
          <p:nvPr/>
        </p:nvSpPr>
        <p:spPr>
          <a:xfrm>
            <a:off x="7848000" y="2736000"/>
            <a:ext cx="936000" cy="144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10.1.1.51</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grpSp>
        <p:nvGrpSpPr>
          <p:cNvPr id="28" name="グループ化 27"/>
          <p:cNvGrpSpPr/>
          <p:nvPr/>
        </p:nvGrpSpPr>
        <p:grpSpPr>
          <a:xfrm>
            <a:off x="6408000" y="3096000"/>
            <a:ext cx="2448000" cy="1368000"/>
            <a:chOff x="6408000" y="3168000"/>
            <a:chExt cx="2448000" cy="1368000"/>
          </a:xfrm>
        </p:grpSpPr>
        <p:sp>
          <p:nvSpPr>
            <p:cNvPr id="19" name="角丸四角形 18"/>
            <p:cNvSpPr/>
            <p:nvPr/>
          </p:nvSpPr>
          <p:spPr>
            <a:xfrm>
              <a:off x="6408000" y="3168000"/>
              <a:ext cx="2448000" cy="1296000"/>
            </a:xfrm>
            <a:prstGeom prst="roundRect">
              <a:avLst>
                <a:gd name="adj" fmla="val 5512"/>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36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ｸﾗｲｱﾝﾄ端末</a:t>
              </a:r>
              <a:r>
                <a:rPr lang="en-US" altLang="ja-JP" sz="1400" b="1" dirty="0">
                  <a:solidFill>
                    <a:schemeClr val="tx1"/>
                  </a:solidFill>
                  <a:latin typeface="游ゴシック" panose="020B0400000000000000" pitchFamily="50" charset="-128"/>
                  <a:ea typeface="游ゴシック" panose="020B0400000000000000" pitchFamily="50" charset="-128"/>
                </a:rPr>
                <a:t>(10</a:t>
              </a:r>
              <a:r>
                <a:rPr lang="ja-JP" altLang="en-US" sz="1400" b="1" dirty="0">
                  <a:solidFill>
                    <a:schemeClr val="tx1"/>
                  </a:solidFill>
                  <a:latin typeface="游ゴシック" panose="020B0400000000000000" pitchFamily="50" charset="-128"/>
                  <a:ea typeface="游ゴシック" panose="020B0400000000000000" pitchFamily="50" charset="-128"/>
                </a:rPr>
                <a:t>台</a:t>
              </a:r>
              <a:r>
                <a:rPr lang="en-US" altLang="ja-JP" sz="1400" b="1" dirty="0">
                  <a:solidFill>
                    <a:schemeClr val="tx1"/>
                  </a:solidFill>
                  <a:latin typeface="游ゴシック" panose="020B0400000000000000" pitchFamily="50" charset="-128"/>
                  <a:ea typeface="游ゴシック" panose="020B0400000000000000" pitchFamily="50" charset="-128"/>
                </a:rPr>
                <a:t>)</a:t>
              </a:r>
            </a:p>
            <a:p>
              <a:r>
                <a:rPr kumimoji="1" lang="en-US" altLang="ja-JP" sz="1200" dirty="0">
                  <a:solidFill>
                    <a:schemeClr val="tx1"/>
                  </a:solidFill>
                  <a:latin typeface="游ゴシック" panose="020B0400000000000000" pitchFamily="50" charset="-128"/>
                  <a:ea typeface="游ゴシック" panose="020B0400000000000000" pitchFamily="50" charset="-128"/>
                </a:rPr>
                <a:t>Windows </a:t>
              </a:r>
              <a:r>
                <a:rPr lang="en-US" altLang="ja-JP" sz="1200" dirty="0">
                  <a:solidFill>
                    <a:schemeClr val="tx1"/>
                  </a:solidFill>
                  <a:latin typeface="游ゴシック" panose="020B0400000000000000" pitchFamily="50" charset="-128"/>
                  <a:ea typeface="游ゴシック" panose="020B0400000000000000" pitchFamily="50" charset="-128"/>
                </a:rPr>
                <a:t>XP Pro SP3</a:t>
              </a:r>
              <a:endParaRPr kumimoji="1" lang="en-US" altLang="ja-JP" sz="1200" dirty="0">
                <a:solidFill>
                  <a:schemeClr val="tx1"/>
                </a:solidFill>
                <a:latin typeface="游ゴシック" panose="020B0400000000000000" pitchFamily="50" charset="-128"/>
                <a:ea typeface="游ゴシック" panose="020B0400000000000000" pitchFamily="50" charset="-128"/>
              </a:endParaRPr>
            </a:p>
            <a:p>
              <a:r>
                <a:rPr lang="en-US" altLang="ja-JP" sz="1200" dirty="0">
                  <a:solidFill>
                    <a:schemeClr val="tx1"/>
                  </a:solidFill>
                  <a:latin typeface="游ゴシック" panose="020B0400000000000000" pitchFamily="50" charset="-128"/>
                  <a:ea typeface="游ゴシック" panose="020B0400000000000000" pitchFamily="50" charset="-128"/>
                </a:rPr>
                <a:t>Oracle Client 12c</a:t>
              </a:r>
            </a:p>
          </p:txBody>
        </p:sp>
        <p:sp>
          <p:nvSpPr>
            <p:cNvPr id="20" name="角丸四角形 19"/>
            <p:cNvSpPr/>
            <p:nvPr/>
          </p:nvSpPr>
          <p:spPr>
            <a:xfrm>
              <a:off x="6480000" y="4032000"/>
              <a:ext cx="2304000" cy="288000"/>
            </a:xfrm>
            <a:prstGeom prst="roundRect">
              <a:avLst>
                <a:gd name="adj" fmla="val 22049"/>
              </a:avLst>
            </a:prstGeom>
            <a:solidFill>
              <a:schemeClr val="accent2"/>
            </a:solidFill>
            <a:ln w="12700">
              <a:no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運転管理ｼｽﾃﾑ</a:t>
              </a:r>
              <a:r>
                <a:rPr lang="en-US" altLang="ja-JP" sz="1400" b="1" dirty="0">
                  <a:solidFill>
                    <a:schemeClr val="bg1"/>
                  </a:solidFill>
                  <a:latin typeface="游ゴシック" panose="020B0400000000000000" pitchFamily="50" charset="-128"/>
                  <a:ea typeface="游ゴシック" panose="020B0400000000000000" pitchFamily="50" charset="-128"/>
                </a:rPr>
                <a:t>AP</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pic>
          <p:nvPicPr>
            <p:cNvPr id="22" name="図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80000" y="3276000"/>
              <a:ext cx="365295" cy="288000"/>
            </a:xfrm>
            <a:prstGeom prst="rect">
              <a:avLst/>
            </a:prstGeom>
          </p:spPr>
        </p:pic>
        <p:sp>
          <p:nvSpPr>
            <p:cNvPr id="126" name="正方形/長方形 125"/>
            <p:cNvSpPr/>
            <p:nvPr/>
          </p:nvSpPr>
          <p:spPr>
            <a:xfrm>
              <a:off x="7848000" y="4392000"/>
              <a:ext cx="936000" cy="144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10.1.1.100-110</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grpSp>
      <p:grpSp>
        <p:nvGrpSpPr>
          <p:cNvPr id="29" name="グループ化 28"/>
          <p:cNvGrpSpPr/>
          <p:nvPr/>
        </p:nvGrpSpPr>
        <p:grpSpPr>
          <a:xfrm>
            <a:off x="3780000" y="3096000"/>
            <a:ext cx="2448000" cy="1368000"/>
            <a:chOff x="3780000" y="3168000"/>
            <a:chExt cx="2448000" cy="1368000"/>
          </a:xfrm>
        </p:grpSpPr>
        <p:sp>
          <p:nvSpPr>
            <p:cNvPr id="74" name="角丸四角形 73"/>
            <p:cNvSpPr/>
            <p:nvPr/>
          </p:nvSpPr>
          <p:spPr>
            <a:xfrm>
              <a:off x="3780000" y="3168000"/>
              <a:ext cx="2448000" cy="1296000"/>
            </a:xfrm>
            <a:prstGeom prst="roundRect">
              <a:avLst>
                <a:gd name="adj" fmla="val 5512"/>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504000" tIns="72000" rIns="72000" rtlCol="0" anchor="t" anchorCtr="0"/>
            <a:lstStyle/>
            <a:p>
              <a:r>
                <a:rPr lang="en-US" altLang="ja-JP" sz="1400" b="1" dirty="0">
                  <a:solidFill>
                    <a:schemeClr val="tx1"/>
                  </a:solidFill>
                  <a:latin typeface="游ゴシック" panose="020B0400000000000000" pitchFamily="50" charset="-128"/>
                  <a:ea typeface="游ゴシック" panose="020B0400000000000000" pitchFamily="50" charset="-128"/>
                </a:rPr>
                <a:t>DB</a:t>
              </a:r>
              <a:r>
                <a:rPr lang="ja-JP" altLang="en-US" sz="1400" b="1" dirty="0">
                  <a:solidFill>
                    <a:schemeClr val="tx1"/>
                  </a:solidFill>
                  <a:latin typeface="游ゴシック" panose="020B0400000000000000" pitchFamily="50" charset="-128"/>
                  <a:ea typeface="游ゴシック" panose="020B0400000000000000" pitchFamily="50" charset="-128"/>
                </a:rPr>
                <a:t>ｻｰﾊﾞ</a:t>
              </a:r>
              <a:r>
                <a:rPr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ﾊﾞｯｸｱｯﾌﾟ</a:t>
              </a:r>
              <a:r>
                <a:rPr lang="en-US" altLang="ja-JP" sz="1400" b="1" dirty="0">
                  <a:solidFill>
                    <a:schemeClr val="tx1"/>
                  </a:solidFill>
                  <a:latin typeface="游ゴシック" panose="020B0400000000000000" pitchFamily="50" charset="-128"/>
                  <a:ea typeface="游ゴシック" panose="020B0400000000000000" pitchFamily="50" charset="-128"/>
                </a:rPr>
                <a:t>)</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kumimoji="1" lang="en-US" altLang="ja-JP" sz="1200" dirty="0">
                  <a:solidFill>
                    <a:schemeClr val="tx1"/>
                  </a:solidFill>
                  <a:latin typeface="游ゴシック" panose="020B0400000000000000" pitchFamily="50" charset="-128"/>
                  <a:ea typeface="游ゴシック" panose="020B0400000000000000" pitchFamily="50" charset="-128"/>
                </a:rPr>
                <a:t>Windows Server 2012 R2</a:t>
              </a:r>
            </a:p>
            <a:p>
              <a:r>
                <a:rPr lang="en-US" altLang="ja-JP" sz="1200" dirty="0">
                  <a:solidFill>
                    <a:schemeClr val="tx1"/>
                  </a:solidFill>
                  <a:latin typeface="游ゴシック" panose="020B0400000000000000" pitchFamily="50" charset="-128"/>
                  <a:ea typeface="游ゴシック" panose="020B0400000000000000" pitchFamily="50" charset="-128"/>
                </a:rPr>
                <a:t>Oracle 12c</a:t>
              </a:r>
              <a:endParaRPr kumimoji="1" lang="en-US" altLang="ja-JP" sz="1200" dirty="0">
                <a:solidFill>
                  <a:schemeClr val="tx1"/>
                </a:solidFill>
                <a:latin typeface="游ゴシック" panose="020B0400000000000000" pitchFamily="50" charset="-128"/>
                <a:ea typeface="游ゴシック" panose="020B0400000000000000" pitchFamily="50" charset="-128"/>
              </a:endParaRPr>
            </a:p>
          </p:txBody>
        </p:sp>
        <p:pic>
          <p:nvPicPr>
            <p:cNvPr id="81" name="図 8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24000" y="3240000"/>
              <a:ext cx="218508" cy="396000"/>
            </a:xfrm>
            <a:prstGeom prst="rect">
              <a:avLst/>
            </a:prstGeom>
          </p:spPr>
        </p:pic>
        <p:sp>
          <p:nvSpPr>
            <p:cNvPr id="82" name="角丸四角形 81"/>
            <p:cNvSpPr/>
            <p:nvPr/>
          </p:nvSpPr>
          <p:spPr>
            <a:xfrm>
              <a:off x="3851999" y="4032000"/>
              <a:ext cx="2304000" cy="288000"/>
            </a:xfrm>
            <a:prstGeom prst="roundRect">
              <a:avLst>
                <a:gd name="adj" fmla="val 22049"/>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72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運転管理ｼｽﾃﾑ</a:t>
              </a:r>
              <a:r>
                <a:rPr lang="en-US" altLang="ja-JP" sz="1400" b="1" dirty="0">
                  <a:solidFill>
                    <a:schemeClr val="bg1"/>
                  </a:solidFill>
                  <a:latin typeface="游ゴシック" panose="020B0400000000000000" pitchFamily="50" charset="-128"/>
                  <a:ea typeface="游ゴシック" panose="020B0400000000000000" pitchFamily="50" charset="-128"/>
                </a:rPr>
                <a:t>DB(</a:t>
              </a:r>
              <a:r>
                <a:rPr lang="ja-JP" altLang="en-US" sz="1400" b="1" dirty="0">
                  <a:solidFill>
                    <a:schemeClr val="bg1"/>
                  </a:solidFill>
                  <a:latin typeface="游ゴシック" panose="020B0400000000000000" pitchFamily="50" charset="-128"/>
                  <a:ea typeface="游ゴシック" panose="020B0400000000000000" pitchFamily="50" charset="-128"/>
                </a:rPr>
                <a:t>ﾊﾞｯｸｱｯﾌﾟ</a:t>
              </a:r>
              <a:r>
                <a:rPr lang="en-US" altLang="ja-JP" sz="1400" b="1" dirty="0">
                  <a:solidFill>
                    <a:schemeClr val="bg1"/>
                  </a:solidFill>
                  <a:latin typeface="游ゴシック" panose="020B0400000000000000" pitchFamily="50" charset="-128"/>
                  <a:ea typeface="游ゴシック" panose="020B0400000000000000" pitchFamily="50" charset="-128"/>
                </a:rPr>
                <a:t>)</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27" name="正方形/長方形 126"/>
            <p:cNvSpPr/>
            <p:nvPr/>
          </p:nvSpPr>
          <p:spPr>
            <a:xfrm>
              <a:off x="5220000" y="4392000"/>
              <a:ext cx="936000" cy="144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10.1.1.21</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grpSp>
      <p:grpSp>
        <p:nvGrpSpPr>
          <p:cNvPr id="30" name="グループ化 29"/>
          <p:cNvGrpSpPr/>
          <p:nvPr/>
        </p:nvGrpSpPr>
        <p:grpSpPr>
          <a:xfrm>
            <a:off x="1152000" y="3096000"/>
            <a:ext cx="2448000" cy="1368000"/>
            <a:chOff x="1152000" y="3168000"/>
            <a:chExt cx="2448000" cy="1368000"/>
          </a:xfrm>
        </p:grpSpPr>
        <p:sp>
          <p:nvSpPr>
            <p:cNvPr id="8" name="角丸四角形 7"/>
            <p:cNvSpPr/>
            <p:nvPr/>
          </p:nvSpPr>
          <p:spPr>
            <a:xfrm>
              <a:off x="1152000" y="3168000"/>
              <a:ext cx="2448000" cy="1296000"/>
            </a:xfrm>
            <a:prstGeom prst="roundRect">
              <a:avLst>
                <a:gd name="adj" fmla="val 5512"/>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504000" tIns="72000" rIns="72000" rtlCol="0" anchor="t" anchorCtr="0"/>
            <a:lstStyle/>
            <a:p>
              <a:r>
                <a:rPr lang="en-US" altLang="ja-JP" sz="1400" b="1" dirty="0">
                  <a:solidFill>
                    <a:schemeClr val="tx1"/>
                  </a:solidFill>
                  <a:latin typeface="游ゴシック" panose="020B0400000000000000" pitchFamily="50" charset="-128"/>
                  <a:ea typeface="游ゴシック" panose="020B0400000000000000" pitchFamily="50" charset="-128"/>
                </a:rPr>
                <a:t>DB</a:t>
              </a:r>
              <a:r>
                <a:rPr lang="ja-JP" altLang="en-US" sz="1400" b="1" dirty="0">
                  <a:solidFill>
                    <a:schemeClr val="tx1"/>
                  </a:solidFill>
                  <a:latin typeface="游ゴシック" panose="020B0400000000000000" pitchFamily="50" charset="-128"/>
                  <a:ea typeface="游ゴシック" panose="020B0400000000000000" pitchFamily="50" charset="-128"/>
                </a:rPr>
                <a:t>ｻｰﾊﾞ</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kumimoji="1" lang="en-US" altLang="ja-JP" sz="1200" dirty="0">
                  <a:solidFill>
                    <a:schemeClr val="tx1"/>
                  </a:solidFill>
                  <a:latin typeface="游ゴシック" panose="020B0400000000000000" pitchFamily="50" charset="-128"/>
                  <a:ea typeface="游ゴシック" panose="020B0400000000000000" pitchFamily="50" charset="-128"/>
                </a:rPr>
                <a:t>Windows Server 2012 R2</a:t>
              </a:r>
            </a:p>
            <a:p>
              <a:r>
                <a:rPr lang="en-US" altLang="ja-JP" sz="1200" dirty="0">
                  <a:solidFill>
                    <a:schemeClr val="tx1"/>
                  </a:solidFill>
                  <a:latin typeface="游ゴシック" panose="020B0400000000000000" pitchFamily="50" charset="-128"/>
                  <a:ea typeface="游ゴシック" panose="020B0400000000000000" pitchFamily="50" charset="-128"/>
                </a:rPr>
                <a:t>Oracle 12c</a:t>
              </a:r>
            </a:p>
            <a:p>
              <a:r>
                <a:rPr kumimoji="1" lang="en-US" altLang="ja-JP" sz="1200" dirty="0">
                  <a:solidFill>
                    <a:schemeClr val="tx1"/>
                  </a:solidFill>
                  <a:latin typeface="游ゴシック" panose="020B0400000000000000" pitchFamily="50" charset="-128"/>
                  <a:ea typeface="游ゴシック" panose="020B0400000000000000" pitchFamily="50" charset="-128"/>
                </a:rPr>
                <a:t>Operation Manager</a:t>
              </a:r>
            </a:p>
          </p:txBody>
        </p:sp>
        <p:pic>
          <p:nvPicPr>
            <p:cNvPr id="10" name="図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6000" y="3240000"/>
              <a:ext cx="218508" cy="396000"/>
            </a:xfrm>
            <a:prstGeom prst="rect">
              <a:avLst/>
            </a:prstGeom>
          </p:spPr>
        </p:pic>
        <p:sp>
          <p:nvSpPr>
            <p:cNvPr id="56" name="角丸四角形 55"/>
            <p:cNvSpPr/>
            <p:nvPr/>
          </p:nvSpPr>
          <p:spPr>
            <a:xfrm>
              <a:off x="1223999" y="4032000"/>
              <a:ext cx="2304000" cy="288000"/>
            </a:xfrm>
            <a:prstGeom prst="roundRect">
              <a:avLst>
                <a:gd name="adj" fmla="val 22049"/>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72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運転管理ｼｽﾃﾑ</a:t>
              </a:r>
              <a:r>
                <a:rPr lang="en-US" altLang="ja-JP" sz="1400" b="1" dirty="0">
                  <a:solidFill>
                    <a:schemeClr val="bg1"/>
                  </a:solidFill>
                  <a:latin typeface="游ゴシック" panose="020B0400000000000000" pitchFamily="50" charset="-128"/>
                  <a:ea typeface="游ゴシック" panose="020B0400000000000000" pitchFamily="50" charset="-128"/>
                </a:rPr>
                <a:t>DB</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29" name="正方形/長方形 128"/>
            <p:cNvSpPr/>
            <p:nvPr/>
          </p:nvSpPr>
          <p:spPr>
            <a:xfrm>
              <a:off x="2592000" y="4392000"/>
              <a:ext cx="936000" cy="144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10.1.1.10</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grpSp>
      <p:sp>
        <p:nvSpPr>
          <p:cNvPr id="130" name="正方形/長方形 129"/>
          <p:cNvSpPr/>
          <p:nvPr/>
        </p:nvSpPr>
        <p:spPr>
          <a:xfrm>
            <a:off x="1872000" y="5256000"/>
            <a:ext cx="936000" cy="144000"/>
          </a:xfrm>
          <a:prstGeom prst="rect">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10.1.1.120-121</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19" name="角丸四角形 118"/>
          <p:cNvSpPr/>
          <p:nvPr/>
        </p:nvSpPr>
        <p:spPr>
          <a:xfrm>
            <a:off x="5040000" y="4752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自動倉庫</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06" name="角丸四角形 105"/>
          <p:cNvSpPr/>
          <p:nvPr/>
        </p:nvSpPr>
        <p:spPr>
          <a:xfrm>
            <a:off x="5112000" y="5040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自動倉庫ｼｽﾃﾑ</a:t>
            </a:r>
          </a:p>
        </p:txBody>
      </p:sp>
      <p:sp>
        <p:nvSpPr>
          <p:cNvPr id="132" name="正方形/長方形 131"/>
          <p:cNvSpPr/>
          <p:nvPr/>
        </p:nvSpPr>
        <p:spPr>
          <a:xfrm>
            <a:off x="7920000" y="5256000"/>
            <a:ext cx="936000" cy="144000"/>
          </a:xfrm>
          <a:prstGeom prst="rect">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10.1.4.10</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33" name="正方形/長方形 132"/>
          <p:cNvSpPr/>
          <p:nvPr/>
        </p:nvSpPr>
        <p:spPr>
          <a:xfrm>
            <a:off x="3888000" y="5976000"/>
            <a:ext cx="936000" cy="144000"/>
          </a:xfrm>
          <a:prstGeom prst="rect">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10.1.2.13</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37" name="正方形/長方形 136"/>
          <p:cNvSpPr/>
          <p:nvPr/>
        </p:nvSpPr>
        <p:spPr>
          <a:xfrm>
            <a:off x="1512000" y="5976000"/>
            <a:ext cx="1296000" cy="144000"/>
          </a:xfrm>
          <a:prstGeom prst="rect">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10.178.128.114(EAI)</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cxnSp>
        <p:nvCxnSpPr>
          <p:cNvPr id="114" name="直線コネクタ 113"/>
          <p:cNvCxnSpPr/>
          <p:nvPr/>
        </p:nvCxnSpPr>
        <p:spPr>
          <a:xfrm flipH="1" flipV="1">
            <a:off x="6012000" y="5328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31" name="正方形/長方形 130"/>
          <p:cNvSpPr/>
          <p:nvPr/>
        </p:nvSpPr>
        <p:spPr>
          <a:xfrm>
            <a:off x="5904000" y="5256000"/>
            <a:ext cx="936000" cy="144000"/>
          </a:xfrm>
          <a:prstGeom prst="rect">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tIns="0" bIns="0" rtlCol="0" anchor="t"/>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10.1.1.251</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cxnSp>
        <p:nvCxnSpPr>
          <p:cNvPr id="73" name="直線コネクタ 72"/>
          <p:cNvCxnSpPr/>
          <p:nvPr/>
        </p:nvCxnSpPr>
        <p:spPr>
          <a:xfrm flipH="1" flipV="1">
            <a:off x="504000" y="1152000"/>
            <a:ext cx="0" cy="1008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flipH="1" flipV="1">
            <a:off x="504000" y="2592000"/>
            <a:ext cx="0" cy="338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76" name="図 7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8000" y="2160000"/>
            <a:ext cx="536562" cy="432000"/>
          </a:xfrm>
          <a:prstGeom prst="rect">
            <a:avLst/>
          </a:prstGeom>
        </p:spPr>
      </p:pic>
      <p:sp>
        <p:nvSpPr>
          <p:cNvPr id="77" name="テキスト ボックス 76"/>
          <p:cNvSpPr txBox="1"/>
          <p:nvPr/>
        </p:nvSpPr>
        <p:spPr>
          <a:xfrm>
            <a:off x="72000" y="2592000"/>
            <a:ext cx="468000" cy="307777"/>
          </a:xfrm>
          <a:prstGeom prst="rect">
            <a:avLst/>
          </a:prstGeom>
          <a:noFill/>
        </p:spPr>
        <p:txBody>
          <a:bodyPr wrap="square" rtlCol="0">
            <a:spAutoFit/>
          </a:bodyPr>
          <a:lstStyle/>
          <a:p>
            <a:r>
              <a:rPr lang="en-US" altLang="ja-JP" sz="1400" dirty="0">
                <a:latin typeface="游ゴシック" panose="020B0400000000000000" pitchFamily="50" charset="-128"/>
                <a:ea typeface="游ゴシック" panose="020B0400000000000000" pitchFamily="50" charset="-128"/>
              </a:rPr>
              <a:t>FW</a:t>
            </a:r>
            <a:endParaRPr kumimoji="1" lang="ja-JP" altLang="en-US" sz="14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350425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角丸四角形 116"/>
          <p:cNvSpPr/>
          <p:nvPr/>
        </p:nvSpPr>
        <p:spPr>
          <a:xfrm>
            <a:off x="2484000" y="3600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添加剤ロット</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管理システム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62" name="角丸四角形 61"/>
          <p:cNvSpPr/>
          <p:nvPr/>
        </p:nvSpPr>
        <p:spPr>
          <a:xfrm>
            <a:off x="4104000" y="3600000"/>
            <a:ext cx="1656000" cy="1296000"/>
          </a:xfrm>
          <a:prstGeom prst="roundRect">
            <a:avLst>
              <a:gd name="adj" fmla="val 4900"/>
            </a:avLst>
          </a:prstGeom>
          <a:solidFill>
            <a:schemeClr val="accent2"/>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none" lIns="36000" rIns="36000" rtlCol="0" anchor="ctr" anchorCtr="0"/>
          <a:lstStyle/>
          <a:p>
            <a:pPr algn="ctr" latinLnBrk="1"/>
            <a:r>
              <a:rPr kumimoji="1" lang="ja-JP" altLang="en-US" sz="1600" b="1" dirty="0">
                <a:solidFill>
                  <a:schemeClr val="bg1"/>
                </a:solidFill>
                <a:latin typeface="游ゴシック" panose="020B0400000000000000" pitchFamily="50" charset="-128"/>
                <a:ea typeface="游ゴシック" panose="020B0400000000000000" pitchFamily="50" charset="-128"/>
              </a:rPr>
              <a:t>千葉運転管理</a:t>
            </a:r>
            <a:endParaRPr kumimoji="1" lang="en-US" altLang="ja-JP" sz="1600" b="1" dirty="0">
              <a:solidFill>
                <a:schemeClr val="bg1"/>
              </a:solidFill>
              <a:latin typeface="游ゴシック" panose="020B0400000000000000" pitchFamily="50" charset="-128"/>
              <a:ea typeface="游ゴシック" panose="020B0400000000000000" pitchFamily="50" charset="-128"/>
            </a:endParaRPr>
          </a:p>
          <a:p>
            <a:pPr algn="ctr" latinLnBrk="1"/>
            <a:r>
              <a:rPr kumimoji="1" lang="ja-JP" altLang="en-US" sz="1600" b="1" dirty="0">
                <a:solidFill>
                  <a:schemeClr val="bg1"/>
                </a:solidFill>
                <a:latin typeface="游ゴシック" panose="020B0400000000000000" pitchFamily="50" charset="-128"/>
                <a:ea typeface="游ゴシック" panose="020B0400000000000000" pitchFamily="50" charset="-128"/>
              </a:rPr>
              <a:t>システム</a:t>
            </a:r>
          </a:p>
        </p:txBody>
      </p:sp>
      <p:sp>
        <p:nvSpPr>
          <p:cNvPr id="2" name="タイトル 1"/>
          <p:cNvSpPr>
            <a:spLocks noGrp="1"/>
          </p:cNvSpPr>
          <p:nvPr>
            <p:ph type="title"/>
          </p:nvPr>
        </p:nvSpPr>
        <p:spPr/>
        <p:txBody>
          <a:bodyPr/>
          <a:lstStyle/>
          <a:p>
            <a:r>
              <a:rPr lang="ja-JP" altLang="en-US" dirty="0"/>
              <a:t>システム配置</a:t>
            </a:r>
            <a:r>
              <a:rPr kumimoji="1" lang="ja-JP" altLang="en-US" dirty="0"/>
              <a:t>（</a:t>
            </a:r>
            <a:r>
              <a:rPr kumimoji="1" lang="en-US" altLang="ja-JP" dirty="0" err="1"/>
              <a:t>AsIs</a:t>
            </a:r>
            <a:r>
              <a:rPr kumimoji="1" lang="ja-JP" altLang="en-US" dirty="0"/>
              <a:t>）</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13</a:t>
            </a:fld>
            <a:endParaRPr kumimoji="1" lang="ja-JP" altLang="en-US"/>
          </a:p>
        </p:txBody>
      </p:sp>
      <p:sp>
        <p:nvSpPr>
          <p:cNvPr id="6" name="角丸四角形 5"/>
          <p:cNvSpPr/>
          <p:nvPr/>
        </p:nvSpPr>
        <p:spPr>
          <a:xfrm>
            <a:off x="864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200" dirty="0">
                <a:solidFill>
                  <a:schemeClr val="bg1"/>
                </a:solidFill>
                <a:latin typeface="游ゴシック" panose="020B0400000000000000" pitchFamily="50" charset="-128"/>
                <a:ea typeface="游ゴシック" panose="020B0400000000000000" pitchFamily="50" charset="-128"/>
              </a:rPr>
              <a:t>ETS-R</a:t>
            </a:r>
          </a:p>
          <a:p>
            <a:pPr algn="ctr"/>
            <a:r>
              <a:rPr kumimoji="1" lang="en-US" altLang="ja-JP" sz="1200" dirty="0">
                <a:solidFill>
                  <a:schemeClr val="bg1"/>
                </a:solidFill>
                <a:latin typeface="游ゴシック" panose="020B0400000000000000" pitchFamily="50" charset="-128"/>
                <a:ea typeface="游ゴシック" panose="020B0400000000000000" pitchFamily="50" charset="-128"/>
              </a:rPr>
              <a:t>(</a:t>
            </a:r>
            <a:r>
              <a:rPr lang="ja-JP" altLang="en-US" sz="1200" dirty="0">
                <a:solidFill>
                  <a:schemeClr val="bg1"/>
                </a:solidFill>
                <a:latin typeface="游ゴシック" panose="020B0400000000000000" pitchFamily="50" charset="-128"/>
                <a:ea typeface="游ゴシック" panose="020B0400000000000000" pitchFamily="50" charset="-128"/>
              </a:rPr>
              <a:t>運転管理</a:t>
            </a:r>
            <a:r>
              <a:rPr kumimoji="1" lang="en-US" altLang="ja-JP" sz="1200" dirty="0">
                <a:solidFill>
                  <a:schemeClr val="bg1"/>
                </a:solidFill>
                <a:latin typeface="游ゴシック" panose="020B0400000000000000" pitchFamily="50" charset="-128"/>
                <a:ea typeface="游ゴシック" panose="020B0400000000000000" pitchFamily="50" charset="-128"/>
              </a:rPr>
              <a:t>)</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9" name="テキスト ボックス 8"/>
          <p:cNvSpPr txBox="1"/>
          <p:nvPr/>
        </p:nvSpPr>
        <p:spPr>
          <a:xfrm>
            <a:off x="5832000" y="864000"/>
            <a:ext cx="3168000" cy="1008000"/>
          </a:xfrm>
          <a:prstGeom prst="rect">
            <a:avLst/>
          </a:prstGeom>
          <a:noFill/>
        </p:spPr>
        <p:txBody>
          <a:bodyPr wrap="square" rtlCol="0" anchor="t">
            <a:noAutofit/>
          </a:bodyPr>
          <a:lstStyle/>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各システムが配置されているレベルは現段階での弊社による想定となります</a:t>
            </a:r>
            <a:r>
              <a:rPr kumimoji="1" lang="ja-JP" altLang="en-US" sz="1200" dirty="0">
                <a:latin typeface="游ゴシック" panose="020B0400000000000000" pitchFamily="50" charset="-128"/>
                <a:ea typeface="游ゴシック" panose="020B0400000000000000" pitchFamily="50" charset="-128"/>
              </a:rPr>
              <a:t>。プロジェクト開始後に改めて確認いたします。</a:t>
            </a:r>
          </a:p>
        </p:txBody>
      </p:sp>
      <p:sp>
        <p:nvSpPr>
          <p:cNvPr id="10" name="正方形/長方形 9"/>
          <p:cNvSpPr/>
          <p:nvPr/>
        </p:nvSpPr>
        <p:spPr>
          <a:xfrm>
            <a:off x="504000" y="5796000"/>
            <a:ext cx="288000" cy="540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a:latin typeface="游ゴシック" panose="020B0400000000000000" pitchFamily="50" charset="-128"/>
                <a:ea typeface="游ゴシック" panose="020B0400000000000000" pitchFamily="50" charset="-128"/>
              </a:rPr>
              <a:t>L2</a:t>
            </a:r>
            <a:endParaRPr kumimoji="1" lang="ja-JP" altLang="en-US" sz="1400" b="1" dirty="0">
              <a:latin typeface="游ゴシック" panose="020B0400000000000000" pitchFamily="50" charset="-128"/>
              <a:ea typeface="游ゴシック" panose="020B0400000000000000" pitchFamily="50" charset="-128"/>
            </a:endParaRPr>
          </a:p>
        </p:txBody>
      </p:sp>
      <p:sp>
        <p:nvSpPr>
          <p:cNvPr id="11" name="正方形/長方形 10"/>
          <p:cNvSpPr/>
          <p:nvPr/>
        </p:nvSpPr>
        <p:spPr>
          <a:xfrm>
            <a:off x="504000" y="5076000"/>
            <a:ext cx="288000" cy="648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wrap="none" lIns="36000" rIns="36000" rtlCol="0" anchor="ctr"/>
          <a:lstStyle/>
          <a:p>
            <a:pPr algn="ctr"/>
            <a:r>
              <a:rPr lang="en-US" altLang="ja-JP" sz="1400" b="1" dirty="0">
                <a:latin typeface="游ゴシック" panose="020B0400000000000000" pitchFamily="50" charset="-128"/>
                <a:ea typeface="游ゴシック" panose="020B0400000000000000" pitchFamily="50" charset="-128"/>
              </a:rPr>
              <a:t>L2.5</a:t>
            </a:r>
            <a:endParaRPr kumimoji="1" lang="ja-JP" altLang="en-US" sz="1400" b="1" dirty="0">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504000" y="3492000"/>
            <a:ext cx="288000" cy="1512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a:latin typeface="游ゴシック" panose="020B0400000000000000" pitchFamily="50" charset="-128"/>
                <a:ea typeface="游ゴシック" panose="020B0400000000000000" pitchFamily="50" charset="-128"/>
              </a:rPr>
              <a:t>L3</a:t>
            </a:r>
            <a:endParaRPr kumimoji="1" lang="ja-JP" altLang="en-US" sz="1400" b="1" dirty="0">
              <a:latin typeface="游ゴシック" panose="020B0400000000000000" pitchFamily="50" charset="-128"/>
              <a:ea typeface="游ゴシック" panose="020B0400000000000000" pitchFamily="50" charset="-128"/>
            </a:endParaRPr>
          </a:p>
        </p:txBody>
      </p:sp>
      <p:sp>
        <p:nvSpPr>
          <p:cNvPr id="13" name="正方形/長方形 12"/>
          <p:cNvSpPr/>
          <p:nvPr/>
        </p:nvSpPr>
        <p:spPr>
          <a:xfrm>
            <a:off x="504000" y="2772000"/>
            <a:ext cx="288000" cy="648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wrap="none" rtlCol="0" anchor="ctr"/>
          <a:lstStyle/>
          <a:p>
            <a:pPr algn="ctr"/>
            <a:r>
              <a:rPr lang="en-US" altLang="ja-JP" sz="1400" b="1" dirty="0">
                <a:latin typeface="游ゴシック" panose="020B0400000000000000" pitchFamily="50" charset="-128"/>
                <a:ea typeface="游ゴシック" panose="020B0400000000000000" pitchFamily="50" charset="-128"/>
              </a:rPr>
              <a:t>L3.5</a:t>
            </a:r>
            <a:endParaRPr kumimoji="1" lang="ja-JP" altLang="en-US" sz="1400" b="1" dirty="0">
              <a:latin typeface="游ゴシック" panose="020B0400000000000000" pitchFamily="50" charset="-128"/>
              <a:ea typeface="游ゴシック" panose="020B0400000000000000" pitchFamily="50" charset="-128"/>
            </a:endParaRPr>
          </a:p>
        </p:txBody>
      </p:sp>
      <p:cxnSp>
        <p:nvCxnSpPr>
          <p:cNvPr id="14" name="直線コネクタ 13"/>
          <p:cNvCxnSpPr/>
          <p:nvPr/>
        </p:nvCxnSpPr>
        <p:spPr>
          <a:xfrm>
            <a:off x="503999" y="2736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03999" y="3456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03999" y="5040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503999" y="5760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a:off x="144000" y="2016000"/>
            <a:ext cx="8856000" cy="0"/>
          </a:xfrm>
          <a:prstGeom prst="line">
            <a:avLst/>
          </a:prstGeom>
          <a:ln w="12700">
            <a:solidFill>
              <a:srgbClr val="A01D45"/>
            </a:solidFill>
            <a:prstDash val="solid"/>
          </a:ln>
        </p:spPr>
        <p:style>
          <a:lnRef idx="1">
            <a:schemeClr val="accent1"/>
          </a:lnRef>
          <a:fillRef idx="0">
            <a:schemeClr val="accent1"/>
          </a:fillRef>
          <a:effectRef idx="0">
            <a:schemeClr val="accent1"/>
          </a:effectRef>
          <a:fontRef idx="minor">
            <a:schemeClr val="tx1"/>
          </a:fontRef>
        </p:style>
      </p:cxnSp>
      <p:sp>
        <p:nvSpPr>
          <p:cNvPr id="19" name="正方形/長方形 18"/>
          <p:cNvSpPr/>
          <p:nvPr/>
        </p:nvSpPr>
        <p:spPr>
          <a:xfrm>
            <a:off x="144000" y="864000"/>
            <a:ext cx="288000" cy="1116000"/>
          </a:xfrm>
          <a:prstGeom prst="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vert="vert" wrap="none" rtlCol="0" anchor="ctr"/>
          <a:lstStyle/>
          <a:p>
            <a:pPr algn="ctr"/>
            <a:r>
              <a:rPr lang="ja-JP" altLang="en-US" sz="1400" b="1" dirty="0">
                <a:latin typeface="游ゴシック" panose="020B0400000000000000" pitchFamily="50" charset="-128"/>
                <a:ea typeface="游ゴシック" panose="020B0400000000000000" pitchFamily="50" charset="-128"/>
              </a:rPr>
              <a:t>館林</a:t>
            </a:r>
            <a:r>
              <a:rPr lang="en-US" altLang="ja-JP" sz="1400" b="1" dirty="0">
                <a:latin typeface="游ゴシック" panose="020B0400000000000000" pitchFamily="50" charset="-128"/>
                <a:ea typeface="游ゴシック" panose="020B0400000000000000" pitchFamily="50" charset="-128"/>
              </a:rPr>
              <a:t>DC</a:t>
            </a:r>
            <a:endParaRPr kumimoji="1" lang="ja-JP" altLang="en-US" sz="1400" b="1" dirty="0">
              <a:latin typeface="游ゴシック" panose="020B0400000000000000" pitchFamily="50" charset="-128"/>
              <a:ea typeface="游ゴシック" panose="020B0400000000000000" pitchFamily="50" charset="-128"/>
            </a:endParaRPr>
          </a:p>
        </p:txBody>
      </p:sp>
      <p:sp>
        <p:nvSpPr>
          <p:cNvPr id="20" name="正方形/長方形 19"/>
          <p:cNvSpPr/>
          <p:nvPr/>
        </p:nvSpPr>
        <p:spPr>
          <a:xfrm>
            <a:off x="144000" y="2052000"/>
            <a:ext cx="288000" cy="4284000"/>
          </a:xfrm>
          <a:prstGeom prst="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ja-JP" altLang="en-US" sz="1400" b="1" dirty="0">
                <a:latin typeface="游ゴシック" panose="020B0400000000000000" pitchFamily="50" charset="-128"/>
                <a:ea typeface="游ゴシック" panose="020B0400000000000000" pitchFamily="50" charset="-128"/>
              </a:rPr>
              <a:t>千葉事業所</a:t>
            </a:r>
            <a:endParaRPr kumimoji="1" lang="ja-JP" altLang="en-US" sz="1400" b="1" dirty="0">
              <a:latin typeface="游ゴシック" panose="020B0400000000000000" pitchFamily="50" charset="-128"/>
              <a:ea typeface="游ゴシック" panose="020B0400000000000000" pitchFamily="50" charset="-128"/>
            </a:endParaRPr>
          </a:p>
        </p:txBody>
      </p:sp>
      <p:sp>
        <p:nvSpPr>
          <p:cNvPr id="21" name="正方形/長方形 20"/>
          <p:cNvSpPr/>
          <p:nvPr/>
        </p:nvSpPr>
        <p:spPr>
          <a:xfrm>
            <a:off x="504000" y="864000"/>
            <a:ext cx="288000" cy="1836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a:latin typeface="游ゴシック" panose="020B0400000000000000" pitchFamily="50" charset="-128"/>
                <a:ea typeface="游ゴシック" panose="020B0400000000000000" pitchFamily="50" charset="-128"/>
              </a:rPr>
              <a:t>L4</a:t>
            </a:r>
            <a:endParaRPr kumimoji="1" lang="ja-JP" altLang="en-US" sz="1400" b="1" dirty="0">
              <a:latin typeface="游ゴシック" panose="020B0400000000000000" pitchFamily="50" charset="-128"/>
              <a:ea typeface="游ゴシック" panose="020B0400000000000000" pitchFamily="50" charset="-128"/>
            </a:endParaRPr>
          </a:p>
        </p:txBody>
      </p:sp>
      <p:sp>
        <p:nvSpPr>
          <p:cNvPr id="66" name="角丸四角形 65"/>
          <p:cNvSpPr/>
          <p:nvPr/>
        </p:nvSpPr>
        <p:spPr>
          <a:xfrm>
            <a:off x="4212000" y="8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200" dirty="0" err="1">
                <a:solidFill>
                  <a:schemeClr val="bg1"/>
                </a:solidFill>
                <a:latin typeface="游ゴシック" panose="020B0400000000000000" pitchFamily="50" charset="-128"/>
                <a:ea typeface="游ゴシック" panose="020B0400000000000000" pitchFamily="50" charset="-128"/>
              </a:rPr>
              <a:t>OneSAP</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cxnSp>
        <p:nvCxnSpPr>
          <p:cNvPr id="91" name="カギ線コネクタ 90"/>
          <p:cNvCxnSpPr>
            <a:endCxn id="117" idx="2"/>
          </p:cNvCxnSpPr>
          <p:nvPr/>
        </p:nvCxnSpPr>
        <p:spPr>
          <a:xfrm rot="10800000">
            <a:off x="3204000" y="4032000"/>
            <a:ext cx="900000" cy="144000"/>
          </a:xfrm>
          <a:prstGeom prst="bentConnector2">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95" name="角丸四角形 94"/>
          <p:cNvSpPr/>
          <p:nvPr/>
        </p:nvSpPr>
        <p:spPr>
          <a:xfrm>
            <a:off x="863999" y="5904000"/>
            <a:ext cx="3996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ja-JP" altLang="en-US" sz="1200" dirty="0">
                <a:solidFill>
                  <a:schemeClr val="bg1"/>
                </a:solidFill>
                <a:latin typeface="游ゴシック" panose="020B0400000000000000" pitchFamily="50" charset="-128"/>
                <a:ea typeface="游ゴシック" panose="020B0400000000000000" pitchFamily="50" charset="-128"/>
              </a:rPr>
              <a:t>燃料油運転制御システム</a:t>
            </a:r>
          </a:p>
        </p:txBody>
      </p:sp>
      <p:sp>
        <p:nvSpPr>
          <p:cNvPr id="112" name="角丸四角形 111"/>
          <p:cNvSpPr/>
          <p:nvPr/>
        </p:nvSpPr>
        <p:spPr>
          <a:xfrm>
            <a:off x="7560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自動倉庫</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115" name="角丸四角形 114"/>
          <p:cNvSpPr/>
          <p:nvPr/>
        </p:nvSpPr>
        <p:spPr>
          <a:xfrm>
            <a:off x="7560000" y="3600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充填管理</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116" name="角丸四角形 115"/>
          <p:cNvSpPr/>
          <p:nvPr/>
        </p:nvSpPr>
        <p:spPr>
          <a:xfrm>
            <a:off x="2484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ロット</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追跡システム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cxnSp>
        <p:nvCxnSpPr>
          <p:cNvPr id="131" name="カギ線コネクタ 130"/>
          <p:cNvCxnSpPr>
            <a:endCxn id="112" idx="0"/>
          </p:cNvCxnSpPr>
          <p:nvPr/>
        </p:nvCxnSpPr>
        <p:spPr>
          <a:xfrm>
            <a:off x="5760000" y="4320000"/>
            <a:ext cx="2520000" cy="14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4" name="カギ線コネクタ 133"/>
          <p:cNvCxnSpPr>
            <a:endCxn id="115" idx="2"/>
          </p:cNvCxnSpPr>
          <p:nvPr/>
        </p:nvCxnSpPr>
        <p:spPr>
          <a:xfrm flipV="1">
            <a:off x="5760000" y="4032000"/>
            <a:ext cx="2520000" cy="144000"/>
          </a:xfrm>
          <a:prstGeom prst="bentConnector2">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p:nvPr/>
        </p:nvCxnSpPr>
        <p:spPr>
          <a:xfrm flipH="1">
            <a:off x="1584000" y="4896000"/>
            <a:ext cx="0" cy="1008000"/>
          </a:xfrm>
          <a:prstGeom prst="straightConnector1">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9" name="角丸四角形 68"/>
          <p:cNvSpPr/>
          <p:nvPr/>
        </p:nvSpPr>
        <p:spPr>
          <a:xfrm>
            <a:off x="864000" y="5184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en-US" altLang="ja-JP" sz="1200" dirty="0">
                <a:solidFill>
                  <a:schemeClr val="tx1"/>
                </a:solidFill>
                <a:latin typeface="游ゴシック" panose="020B0400000000000000" pitchFamily="50" charset="-128"/>
                <a:ea typeface="游ゴシック" panose="020B0400000000000000" pitchFamily="50" charset="-128"/>
              </a:rPr>
              <a:t>EAI(L2.5)</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cxnSp>
        <p:nvCxnSpPr>
          <p:cNvPr id="210" name="カギ線コネクタ 209"/>
          <p:cNvCxnSpPr>
            <a:endCxn id="116" idx="0"/>
          </p:cNvCxnSpPr>
          <p:nvPr/>
        </p:nvCxnSpPr>
        <p:spPr>
          <a:xfrm rot="10800000" flipV="1">
            <a:off x="3204000" y="4320000"/>
            <a:ext cx="900000" cy="144000"/>
          </a:xfrm>
          <a:prstGeom prst="bentConnector2">
            <a:avLst/>
          </a:prstGeom>
          <a:ln w="28575">
            <a:solidFill>
              <a:schemeClr val="accent3"/>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5" name="カギ線コネクタ 214"/>
          <p:cNvCxnSpPr>
            <a:endCxn id="6" idx="0"/>
          </p:cNvCxnSpPr>
          <p:nvPr/>
        </p:nvCxnSpPr>
        <p:spPr>
          <a:xfrm rot="16200000" flipH="1" flipV="1">
            <a:off x="2754000" y="2430000"/>
            <a:ext cx="864000" cy="3204000"/>
          </a:xfrm>
          <a:prstGeom prst="bentConnector3">
            <a:avLst>
              <a:gd name="adj1" fmla="val -45793"/>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18" name="直線矢印コネクタ 217"/>
          <p:cNvCxnSpPr/>
          <p:nvPr/>
        </p:nvCxnSpPr>
        <p:spPr>
          <a:xfrm>
            <a:off x="5076000" y="1296000"/>
            <a:ext cx="0" cy="2304000"/>
          </a:xfrm>
          <a:prstGeom prst="straightConnector1">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角丸四角形 50"/>
          <p:cNvSpPr/>
          <p:nvPr/>
        </p:nvSpPr>
        <p:spPr>
          <a:xfrm>
            <a:off x="4212000" y="1440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連携基盤</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cxnSp>
        <p:nvCxnSpPr>
          <p:cNvPr id="74" name="カギ線コネクタ 73"/>
          <p:cNvCxnSpPr/>
          <p:nvPr/>
        </p:nvCxnSpPr>
        <p:spPr>
          <a:xfrm>
            <a:off x="5760000" y="4680000"/>
            <a:ext cx="936000" cy="122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1" name="角丸四角形 110"/>
          <p:cNvSpPr/>
          <p:nvPr/>
        </p:nvSpPr>
        <p:spPr>
          <a:xfrm>
            <a:off x="5940000" y="3600000"/>
            <a:ext cx="1440000" cy="1296000"/>
          </a:xfrm>
          <a:prstGeom prst="roundRect">
            <a:avLst>
              <a:gd name="adj" fmla="val 4900"/>
            </a:avLst>
          </a:prstGeom>
          <a:solidFill>
            <a:srgbClr val="DEEBF7">
              <a:alpha val="50196"/>
            </a:srgbClr>
          </a:solidFill>
          <a:ln>
            <a:solidFill>
              <a:schemeClr val="accent1"/>
            </a:solidFill>
          </a:ln>
        </p:spPr>
        <p:style>
          <a:lnRef idx="2">
            <a:schemeClr val="accent1"/>
          </a:lnRef>
          <a:fillRef idx="1">
            <a:schemeClr val="lt1"/>
          </a:fillRef>
          <a:effectRef idx="0">
            <a:schemeClr val="accent1"/>
          </a:effectRef>
          <a:fontRef idx="minor">
            <a:schemeClr val="dk1"/>
          </a:fontRef>
        </p:style>
        <p:txBody>
          <a:bodyPr wrap="non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制御システム</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通信サーバ</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sp>
        <p:nvSpPr>
          <p:cNvPr id="72" name="角丸四角形 71"/>
          <p:cNvSpPr/>
          <p:nvPr/>
        </p:nvSpPr>
        <p:spPr>
          <a:xfrm>
            <a:off x="864000" y="2880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en-US" altLang="ja-JP" sz="1200" dirty="0">
                <a:solidFill>
                  <a:schemeClr val="tx1"/>
                </a:solidFill>
                <a:latin typeface="游ゴシック" panose="020B0400000000000000" pitchFamily="50" charset="-128"/>
                <a:ea typeface="游ゴシック" panose="020B0400000000000000" pitchFamily="50" charset="-128"/>
              </a:rPr>
              <a:t>EAI(L3.5)</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22" name="角丸四角形 21"/>
          <p:cNvSpPr/>
          <p:nvPr/>
        </p:nvSpPr>
        <p:spPr>
          <a:xfrm>
            <a:off x="4212000" y="2879999"/>
            <a:ext cx="1440000" cy="432000"/>
          </a:xfrm>
          <a:prstGeom prst="roundRect">
            <a:avLst>
              <a:gd name="adj" fmla="val 14699"/>
            </a:avLst>
          </a:prstGeom>
          <a:solidFill>
            <a:srgbClr val="DEEBF7">
              <a:alpha val="50196"/>
            </a:srgbClr>
          </a:solidFill>
          <a:ln>
            <a:solidFill>
              <a:schemeClr val="accent1"/>
            </a:solidFill>
          </a:ln>
        </p:spPr>
        <p:style>
          <a:lnRef idx="2">
            <a:schemeClr val="accent1"/>
          </a:lnRef>
          <a:fillRef idx="1">
            <a:schemeClr val="lt1"/>
          </a:fillRef>
          <a:effectRef idx="0">
            <a:schemeClr val="accent1"/>
          </a:effectRef>
          <a:fontRef idx="minor">
            <a:schemeClr val="dk1"/>
          </a:fontRef>
        </p:style>
        <p:txBody>
          <a:bodyPr wrap="non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通信サーバ</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cxnSp>
        <p:nvCxnSpPr>
          <p:cNvPr id="105" name="カギ線コネクタ 104"/>
          <p:cNvCxnSpPr>
            <a:stCxn id="112" idx="2"/>
            <a:endCxn id="116" idx="2"/>
          </p:cNvCxnSpPr>
          <p:nvPr/>
        </p:nvCxnSpPr>
        <p:spPr>
          <a:xfrm rot="5400000">
            <a:off x="5742000" y="2358000"/>
            <a:ext cx="12700" cy="5076000"/>
          </a:xfrm>
          <a:prstGeom prst="bentConnector3">
            <a:avLst>
              <a:gd name="adj1" fmla="val 1800000"/>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5" name="正方形/長方形 74"/>
          <p:cNvSpPr/>
          <p:nvPr/>
        </p:nvSpPr>
        <p:spPr>
          <a:xfrm>
            <a:off x="4716000" y="2246825"/>
            <a:ext cx="720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OWFT</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21" name="正方形/長方形 120"/>
          <p:cNvSpPr/>
          <p:nvPr/>
        </p:nvSpPr>
        <p:spPr>
          <a:xfrm>
            <a:off x="7560000" y="4104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kumimoji="1" lang="ja-JP" altLang="en-US" sz="1000" dirty="0">
                <a:solidFill>
                  <a:schemeClr val="tx1"/>
                </a:solidFill>
                <a:latin typeface="游ゴシック" panose="020B0400000000000000" pitchFamily="50" charset="-128"/>
                <a:ea typeface="游ゴシック" panose="020B0400000000000000" pitchFamily="50" charset="-128"/>
              </a:rPr>
              <a:t>ﾘﾝｸ</a:t>
            </a:r>
          </a:p>
        </p:txBody>
      </p:sp>
      <p:sp>
        <p:nvSpPr>
          <p:cNvPr id="122" name="正方形/長方形 121"/>
          <p:cNvSpPr/>
          <p:nvPr/>
        </p:nvSpPr>
        <p:spPr>
          <a:xfrm>
            <a:off x="7560000" y="42564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kumimoji="1" lang="ja-JP" altLang="en-US" sz="1000" dirty="0">
                <a:solidFill>
                  <a:schemeClr val="tx1"/>
                </a:solidFill>
                <a:latin typeface="游ゴシック" panose="020B0400000000000000" pitchFamily="50" charset="-128"/>
                <a:ea typeface="游ゴシック" panose="020B0400000000000000" pitchFamily="50" charset="-128"/>
              </a:rPr>
              <a:t>ﾘﾝｸ</a:t>
            </a:r>
          </a:p>
        </p:txBody>
      </p:sp>
      <p:sp>
        <p:nvSpPr>
          <p:cNvPr id="123" name="正方形/長方形 122"/>
          <p:cNvSpPr/>
          <p:nvPr/>
        </p:nvSpPr>
        <p:spPr>
          <a:xfrm>
            <a:off x="3348000" y="4104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24" name="正方形/長方形 123"/>
          <p:cNvSpPr/>
          <p:nvPr/>
        </p:nvSpPr>
        <p:spPr>
          <a:xfrm>
            <a:off x="3348000" y="4248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26" name="正方形/長方形 125"/>
          <p:cNvSpPr/>
          <p:nvPr/>
        </p:nvSpPr>
        <p:spPr>
          <a:xfrm>
            <a:off x="6408000" y="5256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kumimoji="1" lang="ja-JP" altLang="en-US" sz="1000" dirty="0">
                <a:solidFill>
                  <a:schemeClr val="tx1"/>
                </a:solidFill>
                <a:latin typeface="游ゴシック" panose="020B0400000000000000" pitchFamily="50" charset="-128"/>
                <a:ea typeface="游ゴシック" panose="020B0400000000000000" pitchFamily="50" charset="-128"/>
              </a:rPr>
              <a:t>ﾘﾝｸ</a:t>
            </a:r>
          </a:p>
        </p:txBody>
      </p:sp>
      <p:sp>
        <p:nvSpPr>
          <p:cNvPr id="127" name="正方形/長方形 126"/>
          <p:cNvSpPr/>
          <p:nvPr/>
        </p:nvSpPr>
        <p:spPr>
          <a:xfrm>
            <a:off x="4644000" y="5040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28" name="正方形/長方形 127"/>
          <p:cNvSpPr/>
          <p:nvPr/>
        </p:nvSpPr>
        <p:spPr>
          <a:xfrm>
            <a:off x="3348000" y="3132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NAS</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48" name="角丸四角形 47"/>
          <p:cNvSpPr/>
          <p:nvPr/>
        </p:nvSpPr>
        <p:spPr>
          <a:xfrm>
            <a:off x="5004000" y="5904000"/>
            <a:ext cx="3996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ja-JP" altLang="en-US" sz="1200" dirty="0">
                <a:solidFill>
                  <a:schemeClr val="bg1"/>
                </a:solidFill>
                <a:latin typeface="游ゴシック" panose="020B0400000000000000" pitchFamily="50" charset="-128"/>
                <a:ea typeface="游ゴシック" panose="020B0400000000000000" pitchFamily="50" charset="-128"/>
              </a:rPr>
              <a:t>潤滑油運転制御システム</a:t>
            </a:r>
          </a:p>
        </p:txBody>
      </p:sp>
      <p:sp>
        <p:nvSpPr>
          <p:cNvPr id="49" name="角丸四角形吹き出し 48"/>
          <p:cNvSpPr/>
          <p:nvPr/>
        </p:nvSpPr>
        <p:spPr>
          <a:xfrm>
            <a:off x="8432857" y="720000"/>
            <a:ext cx="1407192" cy="1152000"/>
          </a:xfrm>
          <a:prstGeom prst="wedgeRoundRectCallou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00" b="1" dirty="0">
                <a:latin typeface="游ゴシック" panose="020B0400000000000000" pitchFamily="50" charset="-128"/>
                <a:ea typeface="游ゴシック" panose="020B0400000000000000" pitchFamily="50" charset="-128"/>
              </a:rPr>
              <a:t>運転制御</a:t>
            </a:r>
          </a:p>
        </p:txBody>
      </p:sp>
    </p:spTree>
    <p:extLst>
      <p:ext uri="{BB962C8B-B14F-4D97-AF65-F5344CB8AC3E}">
        <p14:creationId xmlns:p14="http://schemas.microsoft.com/office/powerpoint/2010/main" val="30254534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アプリケーションの配置</a:t>
            </a:r>
            <a:r>
              <a:rPr kumimoji="1" lang="ja-JP" altLang="en-US" dirty="0"/>
              <a:t>（</a:t>
            </a:r>
            <a:r>
              <a:rPr kumimoji="1" lang="en-US" altLang="ja-JP" dirty="0" err="1"/>
              <a:t>AsIs</a:t>
            </a:r>
            <a:r>
              <a:rPr kumimoji="1" lang="ja-JP" altLang="en-US" dirty="0"/>
              <a:t>）</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14</a:t>
            </a:fld>
            <a:endParaRPr kumimoji="1" lang="ja-JP" altLang="en-US"/>
          </a:p>
        </p:txBody>
      </p:sp>
      <p:sp>
        <p:nvSpPr>
          <p:cNvPr id="6" name="テキスト ボックス 5"/>
          <p:cNvSpPr txBox="1">
            <a:spLocks/>
          </p:cNvSpPr>
          <p:nvPr/>
        </p:nvSpPr>
        <p:spPr>
          <a:xfrm>
            <a:off x="144000" y="864000"/>
            <a:ext cx="6768000" cy="720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運転管理システムはサブシステムおよび機能によりプログラム（</a:t>
            </a:r>
            <a:r>
              <a:rPr lang="en-US" altLang="ja-JP" sz="1400" dirty="0" err="1">
                <a:latin typeface="游ゴシック" panose="020B0400000000000000" pitchFamily="50" charset="-128"/>
                <a:ea typeface="游ゴシック" panose="020B0400000000000000" pitchFamily="50" charset="-128"/>
              </a:rPr>
              <a:t>VBProject</a:t>
            </a:r>
            <a:r>
              <a:rPr lang="ja-JP" altLang="en-US" sz="1400" dirty="0">
                <a:latin typeface="游ゴシック" panose="020B0400000000000000" pitchFamily="50" charset="-128"/>
                <a:ea typeface="游ゴシック" panose="020B0400000000000000" pitchFamily="50" charset="-128"/>
              </a:rPr>
              <a:t>）が分かれており、メニュープログラム</a:t>
            </a:r>
            <a:r>
              <a:rPr lang="en-US" altLang="ja-JP" sz="1400" dirty="0">
                <a:latin typeface="游ゴシック" panose="020B0400000000000000" pitchFamily="50" charset="-128"/>
                <a:ea typeface="游ゴシック" panose="020B0400000000000000" pitchFamily="50" charset="-128"/>
              </a:rPr>
              <a:t>(CO00000D.exe)</a:t>
            </a:r>
            <a:r>
              <a:rPr lang="ja-JP" altLang="en-US" sz="1400" dirty="0">
                <a:latin typeface="游ゴシック" panose="020B0400000000000000" pitchFamily="50" charset="-128"/>
                <a:ea typeface="游ゴシック" panose="020B0400000000000000" pitchFamily="50" charset="-128"/>
              </a:rPr>
              <a:t>から各プログラムが起動される仕組みとなっております。　　　　　　　　　　　　　　　　</a:t>
            </a:r>
            <a:r>
              <a:rPr lang="en-US" altLang="ja-JP" sz="1200" dirty="0">
                <a:latin typeface="游ゴシック" panose="020B0400000000000000" pitchFamily="50" charset="-128"/>
                <a:ea typeface="游ゴシック" panose="020B0400000000000000" pitchFamily="50" charset="-128"/>
              </a:rPr>
              <a:t>※</a:t>
            </a:r>
            <a:r>
              <a:rPr lang="ja-JP" altLang="en-US" sz="1200" dirty="0">
                <a:latin typeface="游ゴシック" panose="020B0400000000000000" pitchFamily="50" charset="-128"/>
                <a:ea typeface="游ゴシック" panose="020B0400000000000000" pitchFamily="50" charset="-128"/>
              </a:rPr>
              <a:t> 下記は一例です。</a:t>
            </a:r>
            <a:endParaRPr kumimoji="1" lang="ja-JP" altLang="en-US" sz="1200" dirty="0">
              <a:latin typeface="游ゴシック" panose="020B0400000000000000" pitchFamily="50" charset="-128"/>
              <a:ea typeface="游ゴシック" panose="020B0400000000000000" pitchFamily="50" charset="-128"/>
            </a:endParaRPr>
          </a:p>
        </p:txBody>
      </p:sp>
      <p:grpSp>
        <p:nvGrpSpPr>
          <p:cNvPr id="3" name="グループ化 2"/>
          <p:cNvGrpSpPr/>
          <p:nvPr/>
        </p:nvGrpSpPr>
        <p:grpSpPr>
          <a:xfrm>
            <a:off x="2304000" y="2088000"/>
            <a:ext cx="4536000" cy="1728000"/>
            <a:chOff x="2376000" y="1980000"/>
            <a:chExt cx="4536000" cy="1728000"/>
          </a:xfrm>
        </p:grpSpPr>
        <p:sp>
          <p:nvSpPr>
            <p:cNvPr id="7" name="角丸四角形 6"/>
            <p:cNvSpPr/>
            <p:nvPr/>
          </p:nvSpPr>
          <p:spPr>
            <a:xfrm>
              <a:off x="2376000" y="1980000"/>
              <a:ext cx="4536000" cy="1728000"/>
            </a:xfrm>
            <a:prstGeom prst="roundRect">
              <a:avLst>
                <a:gd name="adj" fmla="val 4302"/>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none" lIns="36000" rIns="36000" rtlCol="0" anchor="t"/>
            <a:lstStyle/>
            <a:p>
              <a:r>
                <a:rPr lang="en-US" altLang="ja-JP" sz="1400" b="1" dirty="0">
                  <a:solidFill>
                    <a:schemeClr val="tx1"/>
                  </a:solidFill>
                  <a:latin typeface="游ゴシック" panose="020B0400000000000000" pitchFamily="50" charset="-128"/>
                  <a:ea typeface="游ゴシック" panose="020B0400000000000000" pitchFamily="50" charset="-128"/>
                </a:rPr>
                <a:t>CO00000D.exe</a:t>
              </a:r>
              <a:r>
                <a:rPr lang="ja-JP" altLang="en-US" sz="1400" b="1" dirty="0">
                  <a:solidFill>
                    <a:schemeClr val="tx1"/>
                  </a:solidFill>
                  <a:latin typeface="游ゴシック" panose="020B0400000000000000" pitchFamily="50" charset="-128"/>
                  <a:ea typeface="游ゴシック" panose="020B0400000000000000" pitchFamily="50" charset="-128"/>
                </a:rPr>
                <a:t> </a:t>
              </a:r>
              <a:r>
                <a:rPr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メニュー</a:t>
              </a:r>
              <a:r>
                <a:rPr kumimoji="1" lang="en-US" altLang="ja-JP" sz="1400" b="1" dirty="0">
                  <a:solidFill>
                    <a:schemeClr val="tx1"/>
                  </a:solidFill>
                  <a:latin typeface="游ゴシック" panose="020B0400000000000000" pitchFamily="50" charset="-128"/>
                  <a:ea typeface="游ゴシック" panose="020B0400000000000000" pitchFamily="50" charset="-128"/>
                </a:rPr>
                <a:t>)</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0" name="角丸四角形 9"/>
            <p:cNvSpPr/>
            <p:nvPr/>
          </p:nvSpPr>
          <p:spPr>
            <a:xfrm>
              <a:off x="3924000" y="2268000"/>
              <a:ext cx="1440000" cy="432000"/>
            </a:xfrm>
            <a:prstGeom prst="roundRect">
              <a:avLst>
                <a:gd name="adj" fmla="val 14699"/>
              </a:avLst>
            </a:prstGeom>
            <a:solidFill>
              <a:schemeClr val="bg1"/>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BO</a:t>
              </a:r>
              <a:r>
                <a:rPr lang="ja-JP" altLang="en-US" sz="1200" dirty="0">
                  <a:solidFill>
                    <a:schemeClr val="tx1"/>
                  </a:solidFill>
                  <a:latin typeface="游ゴシック" panose="020B0400000000000000" pitchFamily="50" charset="-128"/>
                  <a:ea typeface="游ゴシック" panose="020B0400000000000000" pitchFamily="50" charset="-128"/>
                </a:rPr>
                <a:t>荷繰／</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シフト計画</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1" name="角丸四角形 10"/>
            <p:cNvSpPr/>
            <p:nvPr/>
          </p:nvSpPr>
          <p:spPr>
            <a:xfrm>
              <a:off x="2448000" y="2268000"/>
              <a:ext cx="1440000" cy="432000"/>
            </a:xfrm>
            <a:prstGeom prst="roundRect">
              <a:avLst>
                <a:gd name="adj" fmla="val 14699"/>
              </a:avLst>
            </a:prstGeom>
            <a:solidFill>
              <a:schemeClr val="bg1"/>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受注・入出荷</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2" name="角丸四角形 11"/>
            <p:cNvSpPr/>
            <p:nvPr/>
          </p:nvSpPr>
          <p:spPr>
            <a:xfrm>
              <a:off x="5400000" y="2268000"/>
              <a:ext cx="1440000" cy="432000"/>
            </a:xfrm>
            <a:prstGeom prst="roundRect">
              <a:avLst>
                <a:gd name="adj" fmla="val 14699"/>
              </a:avLst>
            </a:prstGeom>
            <a:solidFill>
              <a:schemeClr val="bg1"/>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生産計画・発注</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4" name="角丸四角形 13"/>
            <p:cNvSpPr/>
            <p:nvPr/>
          </p:nvSpPr>
          <p:spPr>
            <a:xfrm>
              <a:off x="2448000" y="2736000"/>
              <a:ext cx="1440000" cy="432000"/>
            </a:xfrm>
            <a:prstGeom prst="roundRect">
              <a:avLst>
                <a:gd name="adj" fmla="val 14699"/>
              </a:avLst>
            </a:prstGeom>
            <a:solidFill>
              <a:schemeClr val="bg1"/>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商品管理</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5" name="角丸四角形 14"/>
            <p:cNvSpPr/>
            <p:nvPr/>
          </p:nvSpPr>
          <p:spPr>
            <a:xfrm>
              <a:off x="5400000" y="2736000"/>
              <a:ext cx="1440000" cy="432000"/>
            </a:xfrm>
            <a:prstGeom prst="roundRect">
              <a:avLst>
                <a:gd name="adj" fmla="val 14699"/>
              </a:avLst>
            </a:prstGeom>
            <a:solidFill>
              <a:schemeClr val="bg1"/>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品質管理</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6" name="角丸四角形 15"/>
            <p:cNvSpPr/>
            <p:nvPr/>
          </p:nvSpPr>
          <p:spPr>
            <a:xfrm>
              <a:off x="3924000" y="3204000"/>
              <a:ext cx="1440000" cy="432000"/>
            </a:xfrm>
            <a:prstGeom prst="roundRect">
              <a:avLst>
                <a:gd name="adj" fmla="val 14699"/>
              </a:avLst>
            </a:prstGeom>
            <a:solidFill>
              <a:schemeClr val="bg1"/>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データ検索／</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管理資料</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45" name="角丸四角形 44"/>
            <p:cNvSpPr/>
            <p:nvPr/>
          </p:nvSpPr>
          <p:spPr>
            <a:xfrm>
              <a:off x="2448000" y="3204000"/>
              <a:ext cx="1440000" cy="432000"/>
            </a:xfrm>
            <a:prstGeom prst="roundRect">
              <a:avLst>
                <a:gd name="adj" fmla="val 14699"/>
              </a:avLst>
            </a:prstGeom>
            <a:solidFill>
              <a:schemeClr val="bg1"/>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マスタ</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メンテナンス</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46" name="角丸四角形 45"/>
            <p:cNvSpPr/>
            <p:nvPr/>
          </p:nvSpPr>
          <p:spPr>
            <a:xfrm>
              <a:off x="5400000" y="3204000"/>
              <a:ext cx="1440000" cy="432000"/>
            </a:xfrm>
            <a:prstGeom prst="roundRect">
              <a:avLst>
                <a:gd name="adj" fmla="val 14699"/>
              </a:avLst>
            </a:prstGeom>
            <a:solidFill>
              <a:schemeClr val="accent3">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ja-JP" altLang="en-US" sz="1200" dirty="0">
                  <a:solidFill>
                    <a:schemeClr val="bg1">
                      <a:lumMod val="50000"/>
                    </a:schemeClr>
                  </a:solidFill>
                  <a:latin typeface="游ゴシック" panose="020B0400000000000000" pitchFamily="50" charset="-128"/>
                  <a:ea typeface="游ゴシック" panose="020B0400000000000000" pitchFamily="50" charset="-128"/>
                </a:rPr>
                <a:t>ユーティリティ</a:t>
              </a:r>
              <a:endParaRPr kumimoji="1" lang="ja-JP" altLang="en-US" sz="1200" dirty="0">
                <a:solidFill>
                  <a:schemeClr val="bg1">
                    <a:lumMod val="50000"/>
                  </a:schemeClr>
                </a:solidFill>
                <a:latin typeface="游ゴシック" panose="020B0400000000000000" pitchFamily="50" charset="-128"/>
                <a:ea typeface="游ゴシック" panose="020B0400000000000000" pitchFamily="50" charset="-128"/>
              </a:endParaRPr>
            </a:p>
          </p:txBody>
        </p:sp>
        <p:sp>
          <p:nvSpPr>
            <p:cNvPr id="47" name="角丸四角形 46"/>
            <p:cNvSpPr/>
            <p:nvPr/>
          </p:nvSpPr>
          <p:spPr>
            <a:xfrm>
              <a:off x="3924000" y="2739750"/>
              <a:ext cx="1440000" cy="432000"/>
            </a:xfrm>
            <a:prstGeom prst="roundRect">
              <a:avLst>
                <a:gd name="adj" fmla="val 14699"/>
              </a:avLst>
            </a:prstGeom>
            <a:solidFill>
              <a:schemeClr val="accent3">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grpSp>
      <p:sp>
        <p:nvSpPr>
          <p:cNvPr id="48" name="正方形/長方形 47"/>
          <p:cNvSpPr/>
          <p:nvPr/>
        </p:nvSpPr>
        <p:spPr>
          <a:xfrm>
            <a:off x="144000" y="2088000"/>
            <a:ext cx="1728000" cy="1692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受注・入出荷</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プログラム群</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30" name="角丸四角形 29"/>
          <p:cNvSpPr/>
          <p:nvPr/>
        </p:nvSpPr>
        <p:spPr>
          <a:xfrm>
            <a:off x="288000" y="2628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SH00801D.exe</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31" name="角丸四角形 30"/>
          <p:cNvSpPr/>
          <p:nvPr/>
        </p:nvSpPr>
        <p:spPr>
          <a:xfrm>
            <a:off x="288000" y="3204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SC00210D.exe</a:t>
            </a:r>
          </a:p>
        </p:txBody>
      </p:sp>
      <p:sp>
        <p:nvSpPr>
          <p:cNvPr id="32" name="角丸四角形 31"/>
          <p:cNvSpPr/>
          <p:nvPr/>
        </p:nvSpPr>
        <p:spPr>
          <a:xfrm>
            <a:off x="288000" y="2916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SH00802D.exe</a:t>
            </a:r>
          </a:p>
        </p:txBody>
      </p:sp>
      <p:sp>
        <p:nvSpPr>
          <p:cNvPr id="49" name="テキスト ボックス 48"/>
          <p:cNvSpPr txBox="1"/>
          <p:nvPr/>
        </p:nvSpPr>
        <p:spPr>
          <a:xfrm>
            <a:off x="807945" y="3456000"/>
            <a:ext cx="400110" cy="271869"/>
          </a:xfrm>
          <a:prstGeom prst="rect">
            <a:avLst/>
          </a:prstGeom>
          <a:noFill/>
        </p:spPr>
        <p:txBody>
          <a:bodyPr vert="eaVert" wrap="none" rtlCol="0">
            <a:spAutoFit/>
          </a:bodyPr>
          <a:lstStyle/>
          <a:p>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cxnSp>
        <p:nvCxnSpPr>
          <p:cNvPr id="51" name="カギ線コネクタ 50"/>
          <p:cNvCxnSpPr>
            <a:stCxn id="11" idx="1"/>
            <a:endCxn id="30" idx="3"/>
          </p:cNvCxnSpPr>
          <p:nvPr/>
        </p:nvCxnSpPr>
        <p:spPr>
          <a:xfrm rot="10800000" flipV="1">
            <a:off x="1728000" y="2592000"/>
            <a:ext cx="648000" cy="144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4" name="カギ線コネクタ 53"/>
          <p:cNvCxnSpPr>
            <a:stCxn id="11" idx="1"/>
            <a:endCxn id="32" idx="3"/>
          </p:cNvCxnSpPr>
          <p:nvPr/>
        </p:nvCxnSpPr>
        <p:spPr>
          <a:xfrm rot="10800000" flipV="1">
            <a:off x="1728000" y="2592000"/>
            <a:ext cx="648000" cy="432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57" name="カギ線コネクタ 56"/>
          <p:cNvCxnSpPr>
            <a:stCxn id="11" idx="1"/>
            <a:endCxn id="31" idx="3"/>
          </p:cNvCxnSpPr>
          <p:nvPr/>
        </p:nvCxnSpPr>
        <p:spPr>
          <a:xfrm rot="10800000" flipV="1">
            <a:off x="1728000" y="2592000"/>
            <a:ext cx="648000" cy="720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61" name="正方形/長方形 60"/>
          <p:cNvSpPr/>
          <p:nvPr/>
        </p:nvSpPr>
        <p:spPr>
          <a:xfrm>
            <a:off x="360000" y="3960000"/>
            <a:ext cx="1728000" cy="1692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商品管理</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プログラム群</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62" name="角丸四角形 61"/>
          <p:cNvSpPr/>
          <p:nvPr/>
        </p:nvSpPr>
        <p:spPr>
          <a:xfrm>
            <a:off x="504000" y="4500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PC00101D.exe</a:t>
            </a:r>
          </a:p>
        </p:txBody>
      </p:sp>
      <p:sp>
        <p:nvSpPr>
          <p:cNvPr id="63" name="角丸四角形 62"/>
          <p:cNvSpPr/>
          <p:nvPr/>
        </p:nvSpPr>
        <p:spPr>
          <a:xfrm>
            <a:off x="504000" y="5076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PC00201D.exe</a:t>
            </a:r>
          </a:p>
        </p:txBody>
      </p:sp>
      <p:sp>
        <p:nvSpPr>
          <p:cNvPr id="64" name="角丸四角形 63"/>
          <p:cNvSpPr/>
          <p:nvPr/>
        </p:nvSpPr>
        <p:spPr>
          <a:xfrm>
            <a:off x="504000" y="4788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PC00102D.exe</a:t>
            </a:r>
          </a:p>
        </p:txBody>
      </p:sp>
      <p:sp>
        <p:nvSpPr>
          <p:cNvPr id="65" name="テキスト ボックス 64"/>
          <p:cNvSpPr txBox="1"/>
          <p:nvPr/>
        </p:nvSpPr>
        <p:spPr>
          <a:xfrm>
            <a:off x="1023945" y="5328000"/>
            <a:ext cx="400110" cy="271869"/>
          </a:xfrm>
          <a:prstGeom prst="rect">
            <a:avLst/>
          </a:prstGeom>
          <a:noFill/>
        </p:spPr>
        <p:txBody>
          <a:bodyPr vert="eaVert" wrap="none" rtlCol="0">
            <a:spAutoFit/>
          </a:bodyPr>
          <a:lstStyle/>
          <a:p>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cxnSp>
        <p:nvCxnSpPr>
          <p:cNvPr id="66" name="カギ線コネクタ 65"/>
          <p:cNvCxnSpPr>
            <a:stCxn id="14" idx="1"/>
            <a:endCxn id="63" idx="3"/>
          </p:cNvCxnSpPr>
          <p:nvPr/>
        </p:nvCxnSpPr>
        <p:spPr>
          <a:xfrm rot="10800000" flipV="1">
            <a:off x="1944000" y="3060000"/>
            <a:ext cx="432000" cy="2124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2" name="カギ線コネクタ 71"/>
          <p:cNvCxnSpPr>
            <a:stCxn id="14" idx="1"/>
            <a:endCxn id="62" idx="3"/>
          </p:cNvCxnSpPr>
          <p:nvPr/>
        </p:nvCxnSpPr>
        <p:spPr>
          <a:xfrm rot="10800000" flipV="1">
            <a:off x="1944000" y="3060000"/>
            <a:ext cx="432000" cy="1548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5" name="カギ線コネクタ 74"/>
          <p:cNvCxnSpPr>
            <a:stCxn id="14" idx="1"/>
            <a:endCxn id="64" idx="3"/>
          </p:cNvCxnSpPr>
          <p:nvPr/>
        </p:nvCxnSpPr>
        <p:spPr>
          <a:xfrm rot="10800000" flipV="1">
            <a:off x="1944000" y="3060000"/>
            <a:ext cx="432000" cy="1836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84" name="正方形/長方形 83"/>
          <p:cNvSpPr/>
          <p:nvPr/>
        </p:nvSpPr>
        <p:spPr>
          <a:xfrm>
            <a:off x="2664000" y="4680000"/>
            <a:ext cx="1728000" cy="1692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108000" rIns="108000" rtlCol="0" anchor="t" anchorCtr="0"/>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マスタメンテナンス</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プログラム群</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85" name="角丸四角形 84"/>
          <p:cNvSpPr/>
          <p:nvPr/>
        </p:nvSpPr>
        <p:spPr>
          <a:xfrm>
            <a:off x="2808000" y="5220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SH00801D.exe</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86" name="角丸四角形 85"/>
          <p:cNvSpPr/>
          <p:nvPr/>
        </p:nvSpPr>
        <p:spPr>
          <a:xfrm>
            <a:off x="2808000" y="5796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SC00210D.exe</a:t>
            </a:r>
          </a:p>
        </p:txBody>
      </p:sp>
      <p:sp>
        <p:nvSpPr>
          <p:cNvPr id="87" name="角丸四角形 86"/>
          <p:cNvSpPr/>
          <p:nvPr/>
        </p:nvSpPr>
        <p:spPr>
          <a:xfrm>
            <a:off x="2808000" y="5508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SH00802D.exe</a:t>
            </a:r>
          </a:p>
        </p:txBody>
      </p:sp>
      <p:sp>
        <p:nvSpPr>
          <p:cNvPr id="88" name="テキスト ボックス 87"/>
          <p:cNvSpPr txBox="1"/>
          <p:nvPr/>
        </p:nvSpPr>
        <p:spPr>
          <a:xfrm>
            <a:off x="3327945" y="6048000"/>
            <a:ext cx="400110" cy="271869"/>
          </a:xfrm>
          <a:prstGeom prst="rect">
            <a:avLst/>
          </a:prstGeom>
          <a:noFill/>
        </p:spPr>
        <p:txBody>
          <a:bodyPr vert="eaVert" wrap="none" rtlCol="0">
            <a:spAutoFit/>
          </a:bodyPr>
          <a:lstStyle/>
          <a:p>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sp>
        <p:nvSpPr>
          <p:cNvPr id="90" name="正方形/長方形 89"/>
          <p:cNvSpPr/>
          <p:nvPr/>
        </p:nvSpPr>
        <p:spPr>
          <a:xfrm>
            <a:off x="7272000" y="2844000"/>
            <a:ext cx="1728000" cy="1692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生産計画・発注</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プログラム群</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91" name="角丸四角形 90"/>
          <p:cNvSpPr/>
          <p:nvPr/>
        </p:nvSpPr>
        <p:spPr>
          <a:xfrm>
            <a:off x="7416000" y="3384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PO40101D.exe</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92" name="角丸四角形 91"/>
          <p:cNvSpPr/>
          <p:nvPr/>
        </p:nvSpPr>
        <p:spPr>
          <a:xfrm>
            <a:off x="7416000" y="3960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PO40202D.exe</a:t>
            </a:r>
          </a:p>
        </p:txBody>
      </p:sp>
      <p:sp>
        <p:nvSpPr>
          <p:cNvPr id="93" name="角丸四角形 92"/>
          <p:cNvSpPr/>
          <p:nvPr/>
        </p:nvSpPr>
        <p:spPr>
          <a:xfrm>
            <a:off x="7416000" y="3672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PO40201R.exe</a:t>
            </a:r>
          </a:p>
        </p:txBody>
      </p:sp>
      <p:sp>
        <p:nvSpPr>
          <p:cNvPr id="94" name="テキスト ボックス 93"/>
          <p:cNvSpPr txBox="1"/>
          <p:nvPr/>
        </p:nvSpPr>
        <p:spPr>
          <a:xfrm>
            <a:off x="7935945" y="4212000"/>
            <a:ext cx="400110" cy="271869"/>
          </a:xfrm>
          <a:prstGeom prst="rect">
            <a:avLst/>
          </a:prstGeom>
          <a:noFill/>
        </p:spPr>
        <p:txBody>
          <a:bodyPr vert="eaVert" wrap="none" rtlCol="0">
            <a:spAutoFit/>
          </a:bodyPr>
          <a:lstStyle/>
          <a:p>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sp>
        <p:nvSpPr>
          <p:cNvPr id="97" name="正方形/長方形 96"/>
          <p:cNvSpPr/>
          <p:nvPr/>
        </p:nvSpPr>
        <p:spPr>
          <a:xfrm>
            <a:off x="7056000" y="4680000"/>
            <a:ext cx="1728000" cy="1692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品質管理</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プログラム群</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98" name="角丸四角形 97"/>
          <p:cNvSpPr/>
          <p:nvPr/>
        </p:nvSpPr>
        <p:spPr>
          <a:xfrm>
            <a:off x="7200000" y="5220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QU00101D.exe</a:t>
            </a:r>
          </a:p>
        </p:txBody>
      </p:sp>
      <p:sp>
        <p:nvSpPr>
          <p:cNvPr id="99" name="角丸四角形 98"/>
          <p:cNvSpPr/>
          <p:nvPr/>
        </p:nvSpPr>
        <p:spPr>
          <a:xfrm>
            <a:off x="7200000" y="5796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AK01002D.exe</a:t>
            </a:r>
          </a:p>
        </p:txBody>
      </p:sp>
      <p:sp>
        <p:nvSpPr>
          <p:cNvPr id="100" name="角丸四角形 99"/>
          <p:cNvSpPr/>
          <p:nvPr/>
        </p:nvSpPr>
        <p:spPr>
          <a:xfrm>
            <a:off x="7200000" y="5508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QU00301D.exe</a:t>
            </a:r>
          </a:p>
        </p:txBody>
      </p:sp>
      <p:sp>
        <p:nvSpPr>
          <p:cNvPr id="101" name="テキスト ボックス 100"/>
          <p:cNvSpPr txBox="1"/>
          <p:nvPr/>
        </p:nvSpPr>
        <p:spPr>
          <a:xfrm>
            <a:off x="7719945" y="6048000"/>
            <a:ext cx="400110" cy="271869"/>
          </a:xfrm>
          <a:prstGeom prst="rect">
            <a:avLst/>
          </a:prstGeom>
          <a:noFill/>
        </p:spPr>
        <p:txBody>
          <a:bodyPr vert="eaVert" wrap="none" rtlCol="0">
            <a:spAutoFit/>
          </a:bodyPr>
          <a:lstStyle/>
          <a:p>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sp>
        <p:nvSpPr>
          <p:cNvPr id="103" name="正方形/長方形 102"/>
          <p:cNvSpPr/>
          <p:nvPr/>
        </p:nvSpPr>
        <p:spPr>
          <a:xfrm>
            <a:off x="4896000" y="3960000"/>
            <a:ext cx="1728000" cy="1692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108000" rIns="10800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データ管理</a:t>
            </a:r>
            <a:r>
              <a:rPr kumimoji="1" lang="en-US" altLang="ja-JP" sz="1400" b="1" dirty="0">
                <a:solidFill>
                  <a:schemeClr val="tx1"/>
                </a:solidFill>
                <a:latin typeface="游ゴシック" panose="020B0400000000000000" pitchFamily="50" charset="-128"/>
                <a:ea typeface="游ゴシック" panose="020B0400000000000000" pitchFamily="50" charset="-128"/>
              </a:rPr>
              <a:t>/</a:t>
            </a:r>
            <a:r>
              <a:rPr kumimoji="1" lang="ja-JP" altLang="en-US" sz="1400" b="1" dirty="0">
                <a:solidFill>
                  <a:schemeClr val="tx1"/>
                </a:solidFill>
                <a:latin typeface="游ゴシック" panose="020B0400000000000000" pitchFamily="50" charset="-128"/>
                <a:ea typeface="游ゴシック" panose="020B0400000000000000" pitchFamily="50" charset="-128"/>
              </a:rPr>
              <a:t>管理資料</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プログラム群</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104" name="角丸四角形 103"/>
          <p:cNvSpPr/>
          <p:nvPr/>
        </p:nvSpPr>
        <p:spPr>
          <a:xfrm>
            <a:off x="5040000" y="4500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BO00301D.exe</a:t>
            </a:r>
          </a:p>
        </p:txBody>
      </p:sp>
      <p:sp>
        <p:nvSpPr>
          <p:cNvPr id="105" name="角丸四角形 104"/>
          <p:cNvSpPr/>
          <p:nvPr/>
        </p:nvSpPr>
        <p:spPr>
          <a:xfrm>
            <a:off x="5040000" y="5076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PO30102D.exe</a:t>
            </a:r>
          </a:p>
        </p:txBody>
      </p:sp>
      <p:sp>
        <p:nvSpPr>
          <p:cNvPr id="106" name="角丸四角形 105"/>
          <p:cNvSpPr/>
          <p:nvPr/>
        </p:nvSpPr>
        <p:spPr>
          <a:xfrm>
            <a:off x="5040000" y="4788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PO40102D.exe</a:t>
            </a:r>
          </a:p>
        </p:txBody>
      </p:sp>
      <p:sp>
        <p:nvSpPr>
          <p:cNvPr id="107" name="テキスト ボックス 106"/>
          <p:cNvSpPr txBox="1"/>
          <p:nvPr/>
        </p:nvSpPr>
        <p:spPr>
          <a:xfrm>
            <a:off x="5559945" y="5328000"/>
            <a:ext cx="400110" cy="271869"/>
          </a:xfrm>
          <a:prstGeom prst="rect">
            <a:avLst/>
          </a:prstGeom>
          <a:noFill/>
        </p:spPr>
        <p:txBody>
          <a:bodyPr vert="eaVert" wrap="none" rtlCol="0">
            <a:spAutoFit/>
          </a:bodyPr>
          <a:lstStyle/>
          <a:p>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cxnSp>
        <p:nvCxnSpPr>
          <p:cNvPr id="114" name="カギ線コネクタ 113"/>
          <p:cNvCxnSpPr>
            <a:stCxn id="12" idx="3"/>
            <a:endCxn id="91" idx="1"/>
          </p:cNvCxnSpPr>
          <p:nvPr/>
        </p:nvCxnSpPr>
        <p:spPr>
          <a:xfrm>
            <a:off x="6768000" y="2592000"/>
            <a:ext cx="648000" cy="900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17" name="カギ線コネクタ 116"/>
          <p:cNvCxnSpPr>
            <a:stCxn id="12" idx="3"/>
            <a:endCxn id="93" idx="1"/>
          </p:cNvCxnSpPr>
          <p:nvPr/>
        </p:nvCxnSpPr>
        <p:spPr>
          <a:xfrm>
            <a:off x="6768000" y="2592000"/>
            <a:ext cx="648000" cy="1188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0" name="カギ線コネクタ 119"/>
          <p:cNvCxnSpPr>
            <a:stCxn id="12" idx="3"/>
            <a:endCxn id="92" idx="1"/>
          </p:cNvCxnSpPr>
          <p:nvPr/>
        </p:nvCxnSpPr>
        <p:spPr>
          <a:xfrm>
            <a:off x="6768000" y="2592000"/>
            <a:ext cx="648000" cy="1476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3" name="カギ線コネクタ 122"/>
          <p:cNvCxnSpPr>
            <a:stCxn id="15" idx="3"/>
            <a:endCxn id="98" idx="1"/>
          </p:cNvCxnSpPr>
          <p:nvPr/>
        </p:nvCxnSpPr>
        <p:spPr>
          <a:xfrm>
            <a:off x="6768000" y="3060000"/>
            <a:ext cx="432000" cy="2268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6" name="カギ線コネクタ 125"/>
          <p:cNvCxnSpPr>
            <a:stCxn id="15" idx="3"/>
            <a:endCxn id="100" idx="1"/>
          </p:cNvCxnSpPr>
          <p:nvPr/>
        </p:nvCxnSpPr>
        <p:spPr>
          <a:xfrm>
            <a:off x="6768000" y="3060000"/>
            <a:ext cx="432000" cy="2556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29" name="カギ線コネクタ 128"/>
          <p:cNvCxnSpPr>
            <a:stCxn id="15" idx="3"/>
            <a:endCxn id="99" idx="1"/>
          </p:cNvCxnSpPr>
          <p:nvPr/>
        </p:nvCxnSpPr>
        <p:spPr>
          <a:xfrm>
            <a:off x="6768000" y="3060000"/>
            <a:ext cx="432000" cy="2844000"/>
          </a:xfrm>
          <a:prstGeom prst="bentConnector3">
            <a:avLst>
              <a:gd name="adj1" fmla="val 50000"/>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2" name="カギ線コネクタ 131"/>
          <p:cNvCxnSpPr>
            <a:stCxn id="16" idx="2"/>
            <a:endCxn id="104" idx="1"/>
          </p:cNvCxnSpPr>
          <p:nvPr/>
        </p:nvCxnSpPr>
        <p:spPr>
          <a:xfrm rot="16200000" flipH="1">
            <a:off x="4374000" y="3942000"/>
            <a:ext cx="864000" cy="468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5" name="カギ線コネクタ 134"/>
          <p:cNvCxnSpPr>
            <a:stCxn id="16" idx="2"/>
            <a:endCxn id="106" idx="1"/>
          </p:cNvCxnSpPr>
          <p:nvPr/>
        </p:nvCxnSpPr>
        <p:spPr>
          <a:xfrm rot="16200000" flipH="1">
            <a:off x="4230000" y="4086000"/>
            <a:ext cx="1152000" cy="468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8" name="カギ線コネクタ 137"/>
          <p:cNvCxnSpPr>
            <a:stCxn id="16" idx="2"/>
            <a:endCxn id="105" idx="1"/>
          </p:cNvCxnSpPr>
          <p:nvPr/>
        </p:nvCxnSpPr>
        <p:spPr>
          <a:xfrm rot="16200000" flipH="1">
            <a:off x="4086000" y="4230000"/>
            <a:ext cx="1440000" cy="468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1" name="カギ線コネクタ 140"/>
          <p:cNvCxnSpPr>
            <a:endCxn id="85" idx="1"/>
          </p:cNvCxnSpPr>
          <p:nvPr/>
        </p:nvCxnSpPr>
        <p:spPr>
          <a:xfrm rot="16200000" flipH="1">
            <a:off x="2196000" y="4716000"/>
            <a:ext cx="864000" cy="360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6" name="カギ線コネクタ 145"/>
          <p:cNvCxnSpPr>
            <a:endCxn id="87" idx="1"/>
          </p:cNvCxnSpPr>
          <p:nvPr/>
        </p:nvCxnSpPr>
        <p:spPr>
          <a:xfrm rot="16200000" flipH="1">
            <a:off x="2052000" y="4860000"/>
            <a:ext cx="1152000" cy="360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49" name="カギ線コネクタ 148"/>
          <p:cNvCxnSpPr>
            <a:endCxn id="86" idx="1"/>
          </p:cNvCxnSpPr>
          <p:nvPr/>
        </p:nvCxnSpPr>
        <p:spPr>
          <a:xfrm rot="16200000" flipH="1">
            <a:off x="1908000" y="5004000"/>
            <a:ext cx="1440000" cy="360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53" name="直線矢印コネクタ 152"/>
          <p:cNvCxnSpPr/>
          <p:nvPr/>
        </p:nvCxnSpPr>
        <p:spPr>
          <a:xfrm flipH="1">
            <a:off x="3024000" y="3744000"/>
            <a:ext cx="0" cy="288000"/>
          </a:xfrm>
          <a:prstGeom prst="straightConnector1">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2" name="正方形/長方形 161"/>
          <p:cNvSpPr/>
          <p:nvPr/>
        </p:nvSpPr>
        <p:spPr>
          <a:xfrm>
            <a:off x="7272000" y="1008000"/>
            <a:ext cx="1728000" cy="1692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108000" rIns="108000" rtlCol="0" anchor="t" anchorCtr="0"/>
          <a:lstStyle/>
          <a:p>
            <a:pPr algn="ctr"/>
            <a:r>
              <a:rPr kumimoji="1" lang="en-US" altLang="ja-JP" sz="1400" b="1" dirty="0">
                <a:solidFill>
                  <a:schemeClr val="tx1"/>
                </a:solidFill>
                <a:latin typeface="游ゴシック" panose="020B0400000000000000" pitchFamily="50" charset="-128"/>
                <a:ea typeface="游ゴシック" panose="020B0400000000000000" pitchFamily="50" charset="-128"/>
              </a:rPr>
              <a:t>BO</a:t>
            </a:r>
            <a:r>
              <a:rPr kumimoji="1" lang="ja-JP" altLang="en-US" sz="1400" b="1" dirty="0">
                <a:solidFill>
                  <a:schemeClr val="tx1"/>
                </a:solidFill>
                <a:latin typeface="游ゴシック" panose="020B0400000000000000" pitchFamily="50" charset="-128"/>
                <a:ea typeface="游ゴシック" panose="020B0400000000000000" pitchFamily="50" charset="-128"/>
              </a:rPr>
              <a:t>荷繰</a:t>
            </a:r>
            <a:r>
              <a:rPr lang="en-US" altLang="ja-JP" sz="1400" b="1" dirty="0">
                <a:solidFill>
                  <a:schemeClr val="tx1"/>
                </a:solidFill>
                <a:latin typeface="游ゴシック" panose="020B0400000000000000" pitchFamily="50" charset="-128"/>
                <a:ea typeface="游ゴシック" panose="020B0400000000000000" pitchFamily="50" charset="-128"/>
              </a:rPr>
              <a:t>/</a:t>
            </a:r>
            <a:r>
              <a:rPr kumimoji="1" lang="ja-JP" altLang="en-US" sz="1400" b="1" dirty="0">
                <a:solidFill>
                  <a:schemeClr val="tx1"/>
                </a:solidFill>
                <a:latin typeface="游ゴシック" panose="020B0400000000000000" pitchFamily="50" charset="-128"/>
                <a:ea typeface="游ゴシック" panose="020B0400000000000000" pitchFamily="50" charset="-128"/>
              </a:rPr>
              <a:t>シフト計画</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プログラム群</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163" name="角丸四角形 162"/>
          <p:cNvSpPr/>
          <p:nvPr/>
        </p:nvSpPr>
        <p:spPr>
          <a:xfrm>
            <a:off x="7416000" y="1548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BO00100D.exe</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64" name="角丸四角形 163"/>
          <p:cNvSpPr/>
          <p:nvPr/>
        </p:nvSpPr>
        <p:spPr>
          <a:xfrm>
            <a:off x="7416000" y="2124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BO00120D.exe</a:t>
            </a:r>
          </a:p>
        </p:txBody>
      </p:sp>
      <p:sp>
        <p:nvSpPr>
          <p:cNvPr id="165" name="角丸四角形 164"/>
          <p:cNvSpPr/>
          <p:nvPr/>
        </p:nvSpPr>
        <p:spPr>
          <a:xfrm>
            <a:off x="7416000" y="1836000"/>
            <a:ext cx="1440000" cy="216000"/>
          </a:xfrm>
          <a:prstGeom prst="roundRect">
            <a:avLst>
              <a:gd name="adj" fmla="val 29398"/>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squar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BO00110D.exe</a:t>
            </a:r>
          </a:p>
        </p:txBody>
      </p:sp>
      <p:sp>
        <p:nvSpPr>
          <p:cNvPr id="166" name="テキスト ボックス 165"/>
          <p:cNvSpPr txBox="1"/>
          <p:nvPr/>
        </p:nvSpPr>
        <p:spPr>
          <a:xfrm>
            <a:off x="7935945" y="2376000"/>
            <a:ext cx="400110" cy="271869"/>
          </a:xfrm>
          <a:prstGeom prst="rect">
            <a:avLst/>
          </a:prstGeom>
          <a:noFill/>
        </p:spPr>
        <p:txBody>
          <a:bodyPr vert="eaVert" wrap="none" rtlCol="0">
            <a:spAutoFit/>
          </a:bodyPr>
          <a:lstStyle/>
          <a:p>
            <a:r>
              <a:rPr kumimoji="1" lang="en-US"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cxnSp>
        <p:nvCxnSpPr>
          <p:cNvPr id="167" name="カギ線コネクタ 166"/>
          <p:cNvCxnSpPr>
            <a:stCxn id="10" idx="0"/>
            <a:endCxn id="163" idx="1"/>
          </p:cNvCxnSpPr>
          <p:nvPr/>
        </p:nvCxnSpPr>
        <p:spPr>
          <a:xfrm rot="5400000" flipH="1" flipV="1">
            <a:off x="5634000" y="594000"/>
            <a:ext cx="720000" cy="284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70" name="カギ線コネクタ 169"/>
          <p:cNvCxnSpPr>
            <a:stCxn id="10" idx="0"/>
            <a:endCxn id="165" idx="1"/>
          </p:cNvCxnSpPr>
          <p:nvPr/>
        </p:nvCxnSpPr>
        <p:spPr>
          <a:xfrm rot="5400000" flipH="1" flipV="1">
            <a:off x="5778000" y="738000"/>
            <a:ext cx="432000" cy="284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73" name="カギ線コネクタ 172"/>
          <p:cNvCxnSpPr>
            <a:stCxn id="10" idx="0"/>
            <a:endCxn id="164" idx="1"/>
          </p:cNvCxnSpPr>
          <p:nvPr/>
        </p:nvCxnSpPr>
        <p:spPr>
          <a:xfrm rot="5400000" flipH="1" flipV="1">
            <a:off x="5922000" y="882000"/>
            <a:ext cx="144000" cy="284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190" name="角丸四角形 189"/>
          <p:cNvSpPr/>
          <p:nvPr/>
        </p:nvSpPr>
        <p:spPr>
          <a:xfrm>
            <a:off x="2304000" y="4032000"/>
            <a:ext cx="1440000" cy="432000"/>
          </a:xfrm>
          <a:prstGeom prst="roundRect">
            <a:avLst>
              <a:gd name="adj" fmla="val 14699"/>
            </a:avLst>
          </a:prstGeom>
          <a:solidFill>
            <a:schemeClr val="accent2">
              <a:lumMod val="20000"/>
              <a:lumOff val="80000"/>
            </a:schemeClr>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200" dirty="0">
                <a:solidFill>
                  <a:schemeClr val="tx1"/>
                </a:solidFill>
                <a:latin typeface="游ゴシック" panose="020B0400000000000000" pitchFamily="50" charset="-128"/>
                <a:ea typeface="游ゴシック" panose="020B0400000000000000" pitchFamily="50" charset="-128"/>
              </a:rPr>
              <a:t>CO00101D.exe</a:t>
            </a:r>
            <a:r>
              <a:rPr lang="ja-JP" altLang="en-US" sz="1200" dirty="0">
                <a:solidFill>
                  <a:schemeClr val="tx1"/>
                </a:solidFill>
                <a:latin typeface="游ゴシック" panose="020B0400000000000000" pitchFamily="50" charset="-128"/>
                <a:ea typeface="游ゴシック" panose="020B0400000000000000" pitchFamily="50" charset="-128"/>
              </a:rPr>
              <a:t> </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en-US" altLang="ja-JP" sz="1200" dirty="0">
                <a:solidFill>
                  <a:schemeClr val="tx1"/>
                </a:solidFill>
                <a:latin typeface="游ゴシック" panose="020B0400000000000000" pitchFamily="50" charset="-128"/>
                <a:ea typeface="游ゴシック" panose="020B0400000000000000" pitchFamily="50" charset="-128"/>
              </a:rPr>
              <a:t>(</a:t>
            </a:r>
            <a:r>
              <a:rPr lang="ja-JP" altLang="en-US" sz="1200" dirty="0">
                <a:solidFill>
                  <a:schemeClr val="tx1"/>
                </a:solidFill>
                <a:latin typeface="游ゴシック" panose="020B0400000000000000" pitchFamily="50" charset="-128"/>
                <a:ea typeface="游ゴシック" panose="020B0400000000000000" pitchFamily="50" charset="-128"/>
              </a:rPr>
              <a:t>マスタメンテナンス</a:t>
            </a:r>
            <a:r>
              <a:rPr lang="en-US" altLang="ja-JP" sz="1200" dirty="0">
                <a:solidFill>
                  <a:schemeClr val="tx1"/>
                </a:solidFill>
                <a:latin typeface="游ゴシック" panose="020B0400000000000000" pitchFamily="50" charset="-128"/>
                <a:ea typeface="游ゴシック" panose="020B0400000000000000" pitchFamily="50" charset="-128"/>
              </a:rPr>
              <a:t>)</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631955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機能概要（</a:t>
            </a:r>
            <a:r>
              <a:rPr lang="en-US" altLang="ja-JP" dirty="0" err="1"/>
              <a:t>AsIs</a:t>
            </a:r>
            <a:r>
              <a:rPr lang="ja-JP" altLang="en-US" dirty="0"/>
              <a:t>）</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15</a:t>
            </a:fld>
            <a:endParaRPr kumimoji="1" lang="ja-JP" altLang="en-US"/>
          </a:p>
        </p:txBody>
      </p:sp>
      <p:sp>
        <p:nvSpPr>
          <p:cNvPr id="35" name="上矢印 34"/>
          <p:cNvSpPr/>
          <p:nvPr/>
        </p:nvSpPr>
        <p:spPr>
          <a:xfrm flipV="1">
            <a:off x="648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60" name="上矢印 59"/>
          <p:cNvSpPr/>
          <p:nvPr/>
        </p:nvSpPr>
        <p:spPr>
          <a:xfrm>
            <a:off x="1296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65" name="上矢印 64"/>
          <p:cNvSpPr/>
          <p:nvPr/>
        </p:nvSpPr>
        <p:spPr>
          <a:xfrm flipV="1">
            <a:off x="2832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67" name="上矢印 66"/>
          <p:cNvSpPr/>
          <p:nvPr/>
        </p:nvSpPr>
        <p:spPr>
          <a:xfrm>
            <a:off x="3480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0" name="上矢印 69"/>
          <p:cNvSpPr/>
          <p:nvPr/>
        </p:nvSpPr>
        <p:spPr>
          <a:xfrm flipV="1">
            <a:off x="5016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1" name="上矢印 70"/>
          <p:cNvSpPr/>
          <p:nvPr/>
        </p:nvSpPr>
        <p:spPr>
          <a:xfrm>
            <a:off x="5664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8" name="上矢印 77"/>
          <p:cNvSpPr/>
          <p:nvPr/>
        </p:nvSpPr>
        <p:spPr>
          <a:xfrm flipV="1">
            <a:off x="648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9" name="上矢印 78"/>
          <p:cNvSpPr/>
          <p:nvPr/>
        </p:nvSpPr>
        <p:spPr>
          <a:xfrm>
            <a:off x="1296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82" name="上矢印 81"/>
          <p:cNvSpPr/>
          <p:nvPr/>
        </p:nvSpPr>
        <p:spPr>
          <a:xfrm flipV="1">
            <a:off x="5016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87" name="上矢印 86"/>
          <p:cNvSpPr/>
          <p:nvPr/>
        </p:nvSpPr>
        <p:spPr>
          <a:xfrm flipV="1">
            <a:off x="2832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88" name="上矢印 87"/>
          <p:cNvSpPr/>
          <p:nvPr/>
        </p:nvSpPr>
        <p:spPr>
          <a:xfrm>
            <a:off x="3480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01" name="上矢印 100"/>
          <p:cNvSpPr/>
          <p:nvPr/>
        </p:nvSpPr>
        <p:spPr>
          <a:xfrm>
            <a:off x="7848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50" name="角丸四角形 49"/>
          <p:cNvSpPr/>
          <p:nvPr/>
        </p:nvSpPr>
        <p:spPr>
          <a:xfrm>
            <a:off x="144000" y="1944000"/>
            <a:ext cx="8856000" cy="3312000"/>
          </a:xfrm>
          <a:prstGeom prst="roundRect">
            <a:avLst>
              <a:gd name="adj" fmla="val 2384"/>
            </a:avLst>
          </a:prstGeom>
          <a:solidFill>
            <a:schemeClr val="accent2">
              <a:lumMod val="20000"/>
              <a:lumOff val="80000"/>
            </a:schemeClr>
          </a:solidFill>
          <a:ln w="19050">
            <a:solidFill>
              <a:schemeClr val="accent2"/>
            </a:solidFill>
          </a:ln>
        </p:spPr>
        <p:style>
          <a:lnRef idx="3">
            <a:schemeClr val="lt1"/>
          </a:lnRef>
          <a:fillRef idx="1">
            <a:schemeClr val="accent1"/>
          </a:fillRef>
          <a:effectRef idx="1">
            <a:schemeClr val="accent1"/>
          </a:effectRef>
          <a:fontRef idx="minor">
            <a:schemeClr val="lt1"/>
          </a:fontRef>
        </p:style>
        <p:txBody>
          <a:bodyPr rtlCol="0" anchor="t"/>
          <a:lstStyle/>
          <a:p>
            <a:r>
              <a:rPr lang="ja-JP" altLang="en-US" sz="1600" b="1" dirty="0">
                <a:solidFill>
                  <a:schemeClr val="tx1"/>
                </a:solidFill>
                <a:latin typeface="游ゴシック" panose="020B0400000000000000" pitchFamily="50" charset="-128"/>
                <a:ea typeface="游ゴシック" panose="020B0400000000000000" pitchFamily="50" charset="-128"/>
              </a:rPr>
              <a:t>運転管理システム</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6" name="角丸四角形 5"/>
          <p:cNvSpPr/>
          <p:nvPr/>
        </p:nvSpPr>
        <p:spPr>
          <a:xfrm>
            <a:off x="288000" y="2304000"/>
            <a:ext cx="2808000" cy="1800000"/>
          </a:xfrm>
          <a:prstGeom prst="roundRect">
            <a:avLst>
              <a:gd name="adj" fmla="val 352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受注・入出荷</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オーダー入力</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タンカー入出荷</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ローリー出荷</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詰品出荷</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ライン直送</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指図確定・送信</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9" name="角丸四角形 8"/>
          <p:cNvSpPr/>
          <p:nvPr/>
        </p:nvSpPr>
        <p:spPr>
          <a:xfrm>
            <a:off x="3168000" y="2304000"/>
            <a:ext cx="2808000" cy="1800000"/>
          </a:xfrm>
          <a:prstGeom prst="roundRect">
            <a:avLst>
              <a:gd name="adj" fmla="val 352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en-US" altLang="ja-JP" sz="1400" b="1" dirty="0">
                <a:solidFill>
                  <a:schemeClr val="tx1"/>
                </a:solidFill>
                <a:latin typeface="游ゴシック" panose="020B0400000000000000" pitchFamily="50" charset="-128"/>
                <a:ea typeface="游ゴシック" panose="020B0400000000000000" pitchFamily="50" charset="-128"/>
              </a:rPr>
              <a:t>BO</a:t>
            </a:r>
            <a:r>
              <a:rPr lang="ja-JP" altLang="en-US" sz="1400" b="1" dirty="0">
                <a:solidFill>
                  <a:schemeClr val="tx1"/>
                </a:solidFill>
                <a:latin typeface="游ゴシック" panose="020B0400000000000000" pitchFamily="50" charset="-128"/>
                <a:ea typeface="游ゴシック" panose="020B0400000000000000" pitchFamily="50" charset="-128"/>
              </a:rPr>
              <a:t>荷繰り</a:t>
            </a:r>
            <a:r>
              <a:rPr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シフト計画</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装置運転計画</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シフト指図</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en-US" altLang="ja-JP" sz="1400" dirty="0">
                <a:solidFill>
                  <a:schemeClr val="tx1"/>
                </a:solidFill>
                <a:latin typeface="游ゴシック" panose="020B0400000000000000" pitchFamily="50" charset="-128"/>
                <a:ea typeface="游ゴシック" panose="020B0400000000000000" pitchFamily="50" charset="-128"/>
              </a:rPr>
              <a:t>BO</a:t>
            </a:r>
            <a:r>
              <a:rPr kumimoji="1" lang="ja-JP" altLang="en-US" sz="1400" dirty="0">
                <a:solidFill>
                  <a:schemeClr val="tx1"/>
                </a:solidFill>
                <a:latin typeface="游ゴシック" panose="020B0400000000000000" pitchFamily="50" charset="-128"/>
                <a:ea typeface="游ゴシック" panose="020B0400000000000000" pitchFamily="50" charset="-128"/>
              </a:rPr>
              <a:t>在庫照会</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en-US" altLang="ja-JP" sz="1400" dirty="0">
                <a:solidFill>
                  <a:schemeClr val="tx1"/>
                </a:solidFill>
                <a:latin typeface="游ゴシック" panose="020B0400000000000000" pitchFamily="50" charset="-128"/>
                <a:ea typeface="游ゴシック" panose="020B0400000000000000" pitchFamily="50" charset="-128"/>
              </a:rPr>
              <a:t>BO</a:t>
            </a:r>
            <a:r>
              <a:rPr lang="ja-JP" altLang="en-US" sz="1400" dirty="0">
                <a:solidFill>
                  <a:schemeClr val="tx1"/>
                </a:solidFill>
                <a:latin typeface="游ゴシック" panose="020B0400000000000000" pitchFamily="50" charset="-128"/>
                <a:ea typeface="游ゴシック" panose="020B0400000000000000" pitchFamily="50" charset="-128"/>
              </a:rPr>
              <a:t>使用予定タンク</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1" name="角丸四角形 10"/>
          <p:cNvSpPr/>
          <p:nvPr/>
        </p:nvSpPr>
        <p:spPr>
          <a:xfrm>
            <a:off x="6048000" y="2304000"/>
            <a:ext cx="2808000" cy="1800000"/>
          </a:xfrm>
          <a:prstGeom prst="roundRect">
            <a:avLst>
              <a:gd name="adj" fmla="val 352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生産計画・発注</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製造</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ドラム充填</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ケース充填</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添加剤</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指図確定・送信</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在庫管理</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6" name="角丸四角形 15"/>
          <p:cNvSpPr/>
          <p:nvPr/>
        </p:nvSpPr>
        <p:spPr>
          <a:xfrm>
            <a:off x="288000" y="4176000"/>
            <a:ext cx="2808000" cy="936000"/>
          </a:xfrm>
          <a:prstGeom prst="roundRect">
            <a:avLst>
              <a:gd name="adj" fmla="val 6784"/>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商品管理</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伝票実績</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タンク在庫</a:t>
            </a:r>
          </a:p>
        </p:txBody>
      </p:sp>
      <p:sp>
        <p:nvSpPr>
          <p:cNvPr id="20" name="角丸四角形 19"/>
          <p:cNvSpPr/>
          <p:nvPr/>
        </p:nvSpPr>
        <p:spPr>
          <a:xfrm>
            <a:off x="3168000" y="4176000"/>
            <a:ext cx="2808000" cy="936000"/>
          </a:xfrm>
          <a:prstGeom prst="roundRect">
            <a:avLst>
              <a:gd name="adj" fmla="val 6784"/>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品質管理</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ロット台帳</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ロット試験</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3" name="角丸四角形 22"/>
          <p:cNvSpPr/>
          <p:nvPr/>
        </p:nvSpPr>
        <p:spPr>
          <a:xfrm>
            <a:off x="6048000" y="4176000"/>
            <a:ext cx="2808000" cy="936000"/>
          </a:xfrm>
          <a:prstGeom prst="roundRect">
            <a:avLst>
              <a:gd name="adj" fmla="val 6784"/>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マスタメンテナンス</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製造・充填計画担当</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grpSp>
        <p:nvGrpSpPr>
          <p:cNvPr id="31" name="グループ化 30"/>
          <p:cNvGrpSpPr/>
          <p:nvPr/>
        </p:nvGrpSpPr>
        <p:grpSpPr>
          <a:xfrm>
            <a:off x="143999" y="864000"/>
            <a:ext cx="6660000" cy="720000"/>
            <a:chOff x="143999" y="864000"/>
            <a:chExt cx="6660000" cy="720000"/>
          </a:xfrm>
        </p:grpSpPr>
        <p:sp>
          <p:nvSpPr>
            <p:cNvPr id="52" name="角丸四角形 51"/>
            <p:cNvSpPr/>
            <p:nvPr/>
          </p:nvSpPr>
          <p:spPr>
            <a:xfrm>
              <a:off x="143999" y="864000"/>
              <a:ext cx="6660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3" name="角丸四角形 2"/>
            <p:cNvSpPr/>
            <p:nvPr/>
          </p:nvSpPr>
          <p:spPr>
            <a:xfrm>
              <a:off x="288000" y="1008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err="1">
                  <a:solidFill>
                    <a:schemeClr val="bg1"/>
                  </a:solidFill>
                  <a:latin typeface="游ゴシック" panose="020B0400000000000000" pitchFamily="50" charset="-128"/>
                  <a:ea typeface="游ゴシック" panose="020B0400000000000000" pitchFamily="50" charset="-128"/>
                </a:rPr>
                <a:t>OneSAP</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en-US" altLang="ja-JP" sz="1200" dirty="0">
                  <a:solidFill>
                    <a:schemeClr val="bg1"/>
                  </a:solidFill>
                  <a:latin typeface="游ゴシック" panose="020B0400000000000000" pitchFamily="50" charset="-128"/>
                  <a:ea typeface="游ゴシック" panose="020B0400000000000000" pitchFamily="50" charset="-128"/>
                </a:rPr>
                <a:t>※</a:t>
              </a:r>
              <a:r>
                <a:rPr lang="ja-JP" altLang="en-US" sz="1200" dirty="0">
                  <a:solidFill>
                    <a:schemeClr val="bg1"/>
                  </a:solidFill>
                  <a:latin typeface="游ゴシック" panose="020B0400000000000000" pitchFamily="50" charset="-128"/>
                  <a:ea typeface="游ゴシック" panose="020B0400000000000000" pitchFamily="50" charset="-128"/>
                </a:rPr>
                <a:t> 連携基盤経由</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30" name="角丸四角形 29"/>
            <p:cNvSpPr/>
            <p:nvPr/>
          </p:nvSpPr>
          <p:spPr>
            <a:xfrm>
              <a:off x="4656000" y="1008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充填管理システム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2472000" y="1008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bg1"/>
                  </a:solidFill>
                  <a:latin typeface="游ゴシック" panose="020B0400000000000000" pitchFamily="50" charset="-128"/>
                  <a:ea typeface="游ゴシック" panose="020B0400000000000000" pitchFamily="50" charset="-128"/>
                </a:rPr>
                <a:t>ETS-R(</a:t>
              </a:r>
              <a:r>
                <a:rPr lang="ja-JP" altLang="en-US" sz="1200" dirty="0">
                  <a:solidFill>
                    <a:schemeClr val="bg1"/>
                  </a:solidFill>
                  <a:latin typeface="游ゴシック" panose="020B0400000000000000" pitchFamily="50" charset="-128"/>
                  <a:ea typeface="游ゴシック" panose="020B0400000000000000" pitchFamily="50" charset="-128"/>
                </a:rPr>
                <a:t>運転管理</a:t>
              </a:r>
              <a:r>
                <a:rPr lang="en-US" altLang="ja-JP" sz="1200" dirty="0">
                  <a:solidFill>
                    <a:schemeClr val="bg1"/>
                  </a:solidFill>
                  <a:latin typeface="游ゴシック" panose="020B0400000000000000" pitchFamily="50" charset="-128"/>
                  <a:ea typeface="游ゴシック" panose="020B0400000000000000" pitchFamily="50" charset="-128"/>
                </a:rPr>
                <a:t>)</a:t>
              </a:r>
            </a:p>
            <a:p>
              <a:pPr algn="ctr"/>
              <a:r>
                <a:rPr kumimoji="1" lang="en-US" altLang="ja-JP" sz="1200" dirty="0">
                  <a:solidFill>
                    <a:schemeClr val="bg1"/>
                  </a:solidFill>
                  <a:latin typeface="游ゴシック" panose="020B0400000000000000" pitchFamily="50" charset="-128"/>
                  <a:ea typeface="游ゴシック" panose="020B0400000000000000" pitchFamily="50" charset="-128"/>
                </a:rPr>
                <a:t>※ EAI</a:t>
              </a:r>
              <a:r>
                <a:rPr kumimoji="1" lang="ja-JP" altLang="en-US" sz="1200" dirty="0">
                  <a:solidFill>
                    <a:schemeClr val="bg1"/>
                  </a:solidFill>
                  <a:latin typeface="游ゴシック" panose="020B0400000000000000" pitchFamily="50" charset="-128"/>
                  <a:ea typeface="游ゴシック" panose="020B0400000000000000" pitchFamily="50" charset="-128"/>
                </a:rPr>
                <a:t>サーバ経由</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grpSp>
      <p:grpSp>
        <p:nvGrpSpPr>
          <p:cNvPr id="25" name="グループ化 24"/>
          <p:cNvGrpSpPr/>
          <p:nvPr/>
        </p:nvGrpSpPr>
        <p:grpSpPr>
          <a:xfrm>
            <a:off x="144000" y="5616000"/>
            <a:ext cx="8856000" cy="720000"/>
            <a:chOff x="144000" y="5472000"/>
            <a:chExt cx="8856000" cy="720000"/>
          </a:xfrm>
        </p:grpSpPr>
        <p:sp>
          <p:nvSpPr>
            <p:cNvPr id="53" name="角丸四角形 52"/>
            <p:cNvSpPr/>
            <p:nvPr/>
          </p:nvSpPr>
          <p:spPr>
            <a:xfrm>
              <a:off x="144000" y="5472000"/>
              <a:ext cx="8856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26" name="角丸四角形 25"/>
            <p:cNvSpPr/>
            <p:nvPr/>
          </p:nvSpPr>
          <p:spPr>
            <a:xfrm>
              <a:off x="288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bg1"/>
                  </a:solidFill>
                  <a:latin typeface="游ゴシック" panose="020B0400000000000000" pitchFamily="50" charset="-128"/>
                  <a:ea typeface="游ゴシック" panose="020B0400000000000000" pitchFamily="50" charset="-128"/>
                </a:rPr>
                <a:t>潤滑油運転制御システム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27" name="角丸四角形 26"/>
            <p:cNvSpPr/>
            <p:nvPr/>
          </p:nvSpPr>
          <p:spPr>
            <a:xfrm>
              <a:off x="2472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添加剤</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ロット管理システム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29" name="角丸四角形 28"/>
            <p:cNvSpPr/>
            <p:nvPr/>
          </p:nvSpPr>
          <p:spPr>
            <a:xfrm>
              <a:off x="6840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ロット追跡システム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28" name="角丸四角形 27"/>
            <p:cNvSpPr/>
            <p:nvPr/>
          </p:nvSpPr>
          <p:spPr>
            <a:xfrm>
              <a:off x="4656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自動倉庫システム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grpSp>
      <p:grpSp>
        <p:nvGrpSpPr>
          <p:cNvPr id="40" name="グループ化 39"/>
          <p:cNvGrpSpPr/>
          <p:nvPr/>
        </p:nvGrpSpPr>
        <p:grpSpPr>
          <a:xfrm>
            <a:off x="7452000" y="720000"/>
            <a:ext cx="1467996" cy="1152000"/>
            <a:chOff x="7452000" y="864000"/>
            <a:chExt cx="1467996" cy="1152000"/>
          </a:xfrm>
        </p:grpSpPr>
        <p:sp>
          <p:nvSpPr>
            <p:cNvPr id="104" name="角丸四角形 103"/>
            <p:cNvSpPr/>
            <p:nvPr/>
          </p:nvSpPr>
          <p:spPr>
            <a:xfrm>
              <a:off x="7452000" y="864000"/>
              <a:ext cx="360000" cy="216000"/>
            </a:xfrm>
            <a:prstGeom prst="roundRect">
              <a:avLst>
                <a:gd name="adj" fmla="val 29398"/>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400" dirty="0">
                <a:solidFill>
                  <a:schemeClr val="bg1"/>
                </a:solidFill>
                <a:latin typeface="游ゴシック" panose="020B0400000000000000" pitchFamily="50" charset="-128"/>
                <a:ea typeface="游ゴシック" panose="020B0400000000000000" pitchFamily="50" charset="-128"/>
              </a:endParaRPr>
            </a:p>
          </p:txBody>
        </p:sp>
        <p:sp>
          <p:nvSpPr>
            <p:cNvPr id="105" name="角丸四角形 104"/>
            <p:cNvSpPr/>
            <p:nvPr/>
          </p:nvSpPr>
          <p:spPr>
            <a:xfrm>
              <a:off x="7452000" y="1152000"/>
              <a:ext cx="360000" cy="216000"/>
            </a:xfrm>
            <a:prstGeom prst="roundRect">
              <a:avLst>
                <a:gd name="adj" fmla="val 29398"/>
              </a:avLst>
            </a:prstGeom>
            <a:solidFill>
              <a:schemeClr val="accent2">
                <a:lumMod val="20000"/>
                <a:lumOff val="80000"/>
              </a:schemeClr>
            </a:solidFill>
            <a:ln w="19050">
              <a:solidFill>
                <a:schemeClr val="accent2"/>
              </a:solidFill>
            </a:ln>
          </p:spPr>
          <p:style>
            <a:lnRef idx="3">
              <a:schemeClr val="lt1"/>
            </a:lnRef>
            <a:fillRef idx="1">
              <a:schemeClr val="accent1"/>
            </a:fillRef>
            <a:effectRef idx="1">
              <a:schemeClr val="accent1"/>
            </a:effectRef>
            <a:fontRef idx="minor">
              <a:schemeClr val="lt1"/>
            </a:fontRef>
          </p:style>
          <p:txBody>
            <a:bodyPr rtlCol="0" anchor="t"/>
            <a:lstStyle/>
            <a:p>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06" name="上矢印 105"/>
            <p:cNvSpPr/>
            <p:nvPr/>
          </p:nvSpPr>
          <p:spPr>
            <a:xfrm rot="16200000" flipV="1">
              <a:off x="7524000" y="1692000"/>
              <a:ext cx="288000" cy="360000"/>
            </a:xfrm>
            <a:prstGeom prst="upArrow">
              <a:avLst>
                <a:gd name="adj1" fmla="val 50000"/>
                <a:gd name="adj2" fmla="val 66620"/>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37" name="テキスト ボックス 36"/>
            <p:cNvSpPr txBox="1"/>
            <p:nvPr/>
          </p:nvSpPr>
          <p:spPr>
            <a:xfrm>
              <a:off x="7812000" y="864000"/>
              <a:ext cx="800219"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周辺ｼｽﾃﾑ</a:t>
              </a:r>
              <a:endParaRPr kumimoji="1" lang="ja-JP" altLang="en-US" sz="1200" dirty="0">
                <a:latin typeface="游ゴシック" panose="020B0400000000000000" pitchFamily="50" charset="-128"/>
                <a:ea typeface="游ゴシック" panose="020B0400000000000000" pitchFamily="50" charset="-128"/>
              </a:endParaRPr>
            </a:p>
          </p:txBody>
        </p:sp>
        <p:sp>
          <p:nvSpPr>
            <p:cNvPr id="107" name="テキスト ボックス 106"/>
            <p:cNvSpPr txBox="1"/>
            <p:nvPr/>
          </p:nvSpPr>
          <p:spPr>
            <a:xfrm>
              <a:off x="7812000" y="1152000"/>
              <a:ext cx="1107996"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運転管理ｼｽﾃﾑ</a:t>
              </a:r>
              <a:endParaRPr kumimoji="1" lang="ja-JP" altLang="en-US" sz="1200" dirty="0">
                <a:latin typeface="游ゴシック" panose="020B0400000000000000" pitchFamily="50" charset="-128"/>
                <a:ea typeface="游ゴシック" panose="020B0400000000000000" pitchFamily="50" charset="-128"/>
              </a:endParaRPr>
            </a:p>
          </p:txBody>
        </p:sp>
        <p:sp>
          <p:nvSpPr>
            <p:cNvPr id="108" name="テキスト ボックス 107"/>
            <p:cNvSpPr txBox="1"/>
            <p:nvPr/>
          </p:nvSpPr>
          <p:spPr>
            <a:xfrm>
              <a:off x="7812000" y="1728000"/>
              <a:ext cx="800219"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ﾃﾞｰﾀ</a:t>
              </a:r>
              <a:r>
                <a:rPr kumimoji="1" lang="ja-JP" altLang="en-US" sz="1200" dirty="0">
                  <a:latin typeface="游ゴシック" panose="020B0400000000000000" pitchFamily="50" charset="-128"/>
                  <a:ea typeface="游ゴシック" panose="020B0400000000000000" pitchFamily="50" charset="-128"/>
                </a:rPr>
                <a:t>連携</a:t>
              </a:r>
            </a:p>
          </p:txBody>
        </p:sp>
        <p:sp>
          <p:nvSpPr>
            <p:cNvPr id="109" name="角丸四角形 108"/>
            <p:cNvSpPr/>
            <p:nvPr/>
          </p:nvSpPr>
          <p:spPr>
            <a:xfrm>
              <a:off x="7452000" y="1440000"/>
              <a:ext cx="360000" cy="216000"/>
            </a:xfrm>
            <a:prstGeom prst="roundRect">
              <a:avLst>
                <a:gd name="adj" fmla="val 2939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10" name="テキスト ボックス 109"/>
            <p:cNvSpPr txBox="1"/>
            <p:nvPr/>
          </p:nvSpPr>
          <p:spPr>
            <a:xfrm>
              <a:off x="7812000" y="1440000"/>
              <a:ext cx="800219"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主要機能</a:t>
              </a:r>
              <a:endParaRPr kumimoji="1" lang="ja-JP" altLang="en-US" sz="1200" dirty="0">
                <a:latin typeface="游ゴシック" panose="020B0400000000000000" pitchFamily="50" charset="-128"/>
                <a:ea typeface="游ゴシック" panose="020B0400000000000000" pitchFamily="50" charset="-128"/>
              </a:endParaRPr>
            </a:p>
          </p:txBody>
        </p:sp>
      </p:grpSp>
      <p:sp>
        <p:nvSpPr>
          <p:cNvPr id="61" name="上矢印 60"/>
          <p:cNvSpPr/>
          <p:nvPr/>
        </p:nvSpPr>
        <p:spPr>
          <a:xfrm rot="16200000" flipV="1">
            <a:off x="6515999" y="579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183771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機能数</a:t>
            </a:r>
            <a:r>
              <a:rPr lang="ja-JP" altLang="en-US" dirty="0"/>
              <a:t>（</a:t>
            </a:r>
            <a:r>
              <a:rPr lang="en-US" altLang="ja-JP" dirty="0" err="1"/>
              <a:t>AsIs</a:t>
            </a:r>
            <a:r>
              <a:rPr lang="ja-JP" altLang="en-US" dirty="0"/>
              <a:t>）</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16</a:t>
            </a:fld>
            <a:endParaRPr kumimoji="1" lang="ja-JP" altLang="en-US"/>
          </a:p>
        </p:txBody>
      </p:sp>
      <p:sp>
        <p:nvSpPr>
          <p:cNvPr id="3" name="テキスト ボックス 2"/>
          <p:cNvSpPr txBox="1"/>
          <p:nvPr/>
        </p:nvSpPr>
        <p:spPr>
          <a:xfrm>
            <a:off x="143999" y="5508000"/>
            <a:ext cx="8856001" cy="1015663"/>
          </a:xfrm>
          <a:prstGeom prst="rect">
            <a:avLst/>
          </a:prstGeom>
          <a:noFill/>
        </p:spPr>
        <p:txBody>
          <a:bodyPr wrap="square" rtlCol="0">
            <a:spAutoFit/>
          </a:bodyPr>
          <a:lstStyle/>
          <a:p>
            <a:pPr marL="285750" indent="-285750">
              <a:buFont typeface="游ゴシック" panose="020B0400000000000000" pitchFamily="50" charset="-128"/>
              <a:buChar char="※"/>
            </a:pPr>
            <a:r>
              <a:rPr kumimoji="1" lang="ja-JP" altLang="en-US" sz="1200" dirty="0">
                <a:latin typeface="游ゴシック" panose="020B0400000000000000" pitchFamily="50" charset="-128"/>
                <a:ea typeface="游ゴシック" panose="020B0400000000000000" pitchFamily="50" charset="-128"/>
              </a:rPr>
              <a:t>上記は、ご提供頂きましたソースファイルより算出しております。</a:t>
            </a:r>
            <a:endParaRPr kumimoji="1" lang="en-US" altLang="ja-JP" sz="1200" dirty="0">
              <a:latin typeface="游ゴシック" panose="020B0400000000000000" pitchFamily="50" charset="-128"/>
              <a:ea typeface="游ゴシック" panose="020B0400000000000000" pitchFamily="50" charset="-128"/>
            </a:endParaRPr>
          </a:p>
          <a:p>
            <a:pPr marL="285750" indent="-285750">
              <a:buFont typeface="游ゴシック" panose="020B0400000000000000" pitchFamily="50" charset="-128"/>
              <a:buChar char="※"/>
            </a:pPr>
            <a:r>
              <a:rPr kumimoji="1" lang="ja-JP" altLang="en-US" sz="1200" dirty="0">
                <a:latin typeface="游ゴシック" panose="020B0400000000000000" pitchFamily="50" charset="-128"/>
                <a:ea typeface="游ゴシック" panose="020B0400000000000000" pitchFamily="50" charset="-128"/>
              </a:rPr>
              <a:t>「</a:t>
            </a:r>
            <a:r>
              <a:rPr kumimoji="1" lang="en-US" altLang="ja-JP" sz="1200" dirty="0" err="1">
                <a:latin typeface="游ゴシック" panose="020B0400000000000000" pitchFamily="50" charset="-128"/>
                <a:ea typeface="游ゴシック" panose="020B0400000000000000" pitchFamily="50" charset="-128"/>
              </a:rPr>
              <a:t>bk</a:t>
            </a:r>
            <a:r>
              <a:rPr kumimoji="1" lang="ja-JP" altLang="en-US" sz="1200" dirty="0">
                <a:latin typeface="游ゴシック" panose="020B0400000000000000" pitchFamily="50" charset="-128"/>
                <a:ea typeface="游ゴシック" panose="020B0400000000000000" pitchFamily="50" charset="-128"/>
              </a:rPr>
              <a:t>」や「</a:t>
            </a:r>
            <a:r>
              <a:rPr kumimoji="1" lang="en-US" altLang="ja-JP" sz="1200" dirty="0" err="1">
                <a:latin typeface="游ゴシック" panose="020B0400000000000000" pitchFamily="50" charset="-128"/>
                <a:ea typeface="游ゴシック" panose="020B0400000000000000" pitchFamily="50" charset="-128"/>
              </a:rPr>
              <a:t>bak</a:t>
            </a:r>
            <a:r>
              <a:rPr kumimoji="1" lang="ja-JP" altLang="en-US" sz="1200" dirty="0">
                <a:latin typeface="游ゴシック" panose="020B0400000000000000" pitchFamily="50" charset="-128"/>
                <a:ea typeface="游ゴシック" panose="020B0400000000000000" pitchFamily="50" charset="-128"/>
              </a:rPr>
              <a:t>」などがファイル名に付加されて</a:t>
            </a:r>
            <a:r>
              <a:rPr lang="ja-JP" altLang="en-US" sz="1200" dirty="0">
                <a:latin typeface="游ゴシック" panose="020B0400000000000000" pitchFamily="50" charset="-128"/>
                <a:ea typeface="游ゴシック" panose="020B0400000000000000" pitchFamily="50" charset="-128"/>
              </a:rPr>
              <a:t>いるファイルは、</a:t>
            </a:r>
            <a:r>
              <a:rPr kumimoji="1" lang="ja-JP" altLang="en-US" sz="1200" dirty="0">
                <a:latin typeface="游ゴシック" panose="020B0400000000000000" pitchFamily="50" charset="-128"/>
                <a:ea typeface="游ゴシック" panose="020B0400000000000000" pitchFamily="50" charset="-128"/>
              </a:rPr>
              <a:t>バックアップ目的と推測できるため除外しております。</a:t>
            </a:r>
            <a:endParaRPr kumimoji="1" lang="en-US" altLang="ja-JP" sz="1200" dirty="0">
              <a:latin typeface="游ゴシック" panose="020B0400000000000000" pitchFamily="50" charset="-128"/>
              <a:ea typeface="游ゴシック" panose="020B0400000000000000" pitchFamily="50" charset="-128"/>
            </a:endParaRPr>
          </a:p>
          <a:p>
            <a:pPr marL="285750" indent="-2857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共通機能数は、</a:t>
            </a:r>
            <a:r>
              <a:rPr lang="en-US" altLang="ja-JP" sz="1200" dirty="0">
                <a:latin typeface="游ゴシック" panose="020B0400000000000000" pitchFamily="50" charset="-128"/>
                <a:ea typeface="游ゴシック" panose="020B0400000000000000" pitchFamily="50" charset="-128"/>
              </a:rPr>
              <a:t>VB</a:t>
            </a:r>
            <a:r>
              <a:rPr lang="ja-JP" altLang="en-US" sz="1200" dirty="0">
                <a:latin typeface="游ゴシック" panose="020B0400000000000000" pitchFamily="50" charset="-128"/>
                <a:ea typeface="游ゴシック" panose="020B0400000000000000" pitchFamily="50" charset="-128"/>
              </a:rPr>
              <a:t>の共通モジュール（</a:t>
            </a:r>
            <a:r>
              <a:rPr lang="en-US" altLang="ja-JP" sz="1200" dirty="0">
                <a:latin typeface="游ゴシック" panose="020B0400000000000000" pitchFamily="50" charset="-128"/>
                <a:ea typeface="游ゴシック" panose="020B0400000000000000" pitchFamily="50" charset="-128"/>
              </a:rPr>
              <a:t>bas</a:t>
            </a:r>
            <a:r>
              <a:rPr lang="ja-JP" altLang="en-US" sz="1200" dirty="0">
                <a:latin typeface="游ゴシック" panose="020B0400000000000000" pitchFamily="50" charset="-128"/>
                <a:ea typeface="游ゴシック" panose="020B0400000000000000" pitchFamily="50" charset="-128"/>
              </a:rPr>
              <a:t>ファイル）の数を記載しております。また、共通機能数には、</a:t>
            </a:r>
            <a:r>
              <a:rPr lang="en-US" altLang="ja-JP" sz="1200" dirty="0">
                <a:latin typeface="游ゴシック" panose="020B0400000000000000" pitchFamily="50" charset="-128"/>
                <a:ea typeface="游ゴシック" panose="020B0400000000000000" pitchFamily="50" charset="-128"/>
              </a:rPr>
              <a:t>bat</a:t>
            </a:r>
            <a:r>
              <a:rPr lang="ja-JP" altLang="en-US" sz="1200" dirty="0">
                <a:latin typeface="游ゴシック" panose="020B0400000000000000" pitchFamily="50" charset="-128"/>
                <a:ea typeface="游ゴシック" panose="020B0400000000000000" pitchFamily="50" charset="-128"/>
              </a:rPr>
              <a:t>ファイルの</a:t>
            </a:r>
            <a:r>
              <a:rPr lang="en-US" altLang="ja-JP" sz="1200" dirty="0">
                <a:latin typeface="游ゴシック" panose="020B0400000000000000" pitchFamily="50" charset="-128"/>
                <a:ea typeface="游ゴシック" panose="020B0400000000000000" pitchFamily="50" charset="-128"/>
              </a:rPr>
              <a:t>31</a:t>
            </a:r>
            <a:r>
              <a:rPr lang="ja-JP" altLang="en-US" sz="1200" dirty="0">
                <a:latin typeface="游ゴシック" panose="020B0400000000000000" pitchFamily="50" charset="-128"/>
                <a:ea typeface="游ゴシック" panose="020B0400000000000000" pitchFamily="50" charset="-128"/>
              </a:rPr>
              <a:t>件を含めております。</a:t>
            </a:r>
            <a:endParaRPr lang="en-US" altLang="ja-JP" sz="1200" dirty="0">
              <a:latin typeface="游ゴシック" panose="020B0400000000000000" pitchFamily="50" charset="-128"/>
              <a:ea typeface="游ゴシック" panose="020B0400000000000000" pitchFamily="50" charset="-128"/>
            </a:endParaRPr>
          </a:p>
          <a:p>
            <a:pPr marL="285750" indent="-285750">
              <a:buFont typeface="游ゴシック" panose="020B0400000000000000" pitchFamily="50" charset="-128"/>
              <a:buChar char="※"/>
            </a:pPr>
            <a:r>
              <a:rPr kumimoji="1" lang="ja-JP" altLang="en-US" sz="1200" dirty="0">
                <a:latin typeface="游ゴシック" panose="020B0400000000000000" pitchFamily="50" charset="-128"/>
                <a:ea typeface="游ゴシック" panose="020B0400000000000000" pitchFamily="50" charset="-128"/>
              </a:rPr>
              <a:t>エクセルファイルに関するものは帳票数に含めております。</a:t>
            </a:r>
          </a:p>
        </p:txBody>
      </p:sp>
      <p:grpSp>
        <p:nvGrpSpPr>
          <p:cNvPr id="14" name="グループ化 13"/>
          <p:cNvGrpSpPr/>
          <p:nvPr/>
        </p:nvGrpSpPr>
        <p:grpSpPr>
          <a:xfrm>
            <a:off x="143999" y="864000"/>
            <a:ext cx="8856001" cy="4572000"/>
            <a:chOff x="143999" y="864000"/>
            <a:chExt cx="8856001" cy="4572000"/>
          </a:xfrm>
        </p:grpSpPr>
        <p:sp>
          <p:nvSpPr>
            <p:cNvPr id="17" name="1 つの角を丸めた四角形 16"/>
            <p:cNvSpPr/>
            <p:nvPr/>
          </p:nvSpPr>
          <p:spPr>
            <a:xfrm flipH="1">
              <a:off x="143999" y="864000"/>
              <a:ext cx="2088000" cy="360000"/>
            </a:xfrm>
            <a:prstGeom prst="round1Rect">
              <a:avLst>
                <a:gd name="adj" fmla="val 17639"/>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21" name="正方形/長方形 20"/>
            <p:cNvSpPr/>
            <p:nvPr/>
          </p:nvSpPr>
          <p:spPr>
            <a:xfrm>
              <a:off x="144000" y="1260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27" name="正方形/長方形 26"/>
            <p:cNvSpPr/>
            <p:nvPr/>
          </p:nvSpPr>
          <p:spPr>
            <a:xfrm>
              <a:off x="2268000" y="126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33" name="正方形/長方形 32"/>
            <p:cNvSpPr/>
            <p:nvPr/>
          </p:nvSpPr>
          <p:spPr>
            <a:xfrm>
              <a:off x="3960000" y="126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39" name="正方形/長方形 38"/>
            <p:cNvSpPr/>
            <p:nvPr/>
          </p:nvSpPr>
          <p:spPr>
            <a:xfrm>
              <a:off x="7344000" y="126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48" name="テキスト プレースホルダー 11"/>
            <p:cNvSpPr txBox="1">
              <a:spLocks/>
            </p:cNvSpPr>
            <p:nvPr/>
          </p:nvSpPr>
          <p:spPr>
            <a:xfrm>
              <a:off x="145835" y="1260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a:solidFill>
                    <a:schemeClr val="tx1"/>
                  </a:solidFill>
                  <a:latin typeface="游ゴシック" panose="020B0400000000000000" pitchFamily="50" charset="-128"/>
                </a:rPr>
                <a:t>BO</a:t>
              </a:r>
              <a:r>
                <a:rPr lang="ja-JP" altLang="en-US" sz="1400" dirty="0">
                  <a:solidFill>
                    <a:schemeClr val="tx1"/>
                  </a:solidFill>
                  <a:latin typeface="游ゴシック" panose="020B0400000000000000" pitchFamily="50" charset="-128"/>
                </a:rPr>
                <a:t>荷繰</a:t>
              </a:r>
              <a:endParaRPr lang="en-US" sz="1400" dirty="0">
                <a:solidFill>
                  <a:schemeClr val="tx1"/>
                </a:solidFill>
                <a:latin typeface="游ゴシック" panose="020B0400000000000000" pitchFamily="50" charset="-128"/>
              </a:endParaRPr>
            </a:p>
          </p:txBody>
        </p:sp>
        <p:sp>
          <p:nvSpPr>
            <p:cNvPr id="54" name="テキスト プレースホルダー 11"/>
            <p:cNvSpPr txBox="1">
              <a:spLocks/>
            </p:cNvSpPr>
            <p:nvPr/>
          </p:nvSpPr>
          <p:spPr>
            <a:xfrm>
              <a:off x="2268000" y="126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13</a:t>
              </a:r>
            </a:p>
          </p:txBody>
        </p:sp>
        <p:sp>
          <p:nvSpPr>
            <p:cNvPr id="60" name="テキスト プレースホルダー 11"/>
            <p:cNvSpPr txBox="1">
              <a:spLocks/>
            </p:cNvSpPr>
            <p:nvPr/>
          </p:nvSpPr>
          <p:spPr>
            <a:xfrm>
              <a:off x="3960000" y="126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28</a:t>
              </a:r>
            </a:p>
          </p:txBody>
        </p:sp>
        <p:sp>
          <p:nvSpPr>
            <p:cNvPr id="66" name="テキスト プレースホルダー 11"/>
            <p:cNvSpPr txBox="1">
              <a:spLocks/>
            </p:cNvSpPr>
            <p:nvPr/>
          </p:nvSpPr>
          <p:spPr>
            <a:xfrm>
              <a:off x="7344000" y="126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36</a:t>
              </a:r>
            </a:p>
          </p:txBody>
        </p:sp>
        <p:sp>
          <p:nvSpPr>
            <p:cNvPr id="26" name="1 つの角を丸めた四角形 25"/>
            <p:cNvSpPr/>
            <p:nvPr/>
          </p:nvSpPr>
          <p:spPr>
            <a:xfrm flipH="1" flipV="1">
              <a:off x="148076" y="5148000"/>
              <a:ext cx="2088000" cy="288000"/>
            </a:xfrm>
            <a:prstGeom prst="round1Rect">
              <a:avLst>
                <a:gd name="adj" fmla="val 22049"/>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32" name="正方形/長方形 31"/>
            <p:cNvSpPr/>
            <p:nvPr/>
          </p:nvSpPr>
          <p:spPr>
            <a:xfrm>
              <a:off x="2268000" y="514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38" name="正方形/長方形 37"/>
            <p:cNvSpPr/>
            <p:nvPr/>
          </p:nvSpPr>
          <p:spPr>
            <a:xfrm>
              <a:off x="3960000" y="514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44" name="1 つの角を丸めた四角形 43"/>
            <p:cNvSpPr/>
            <p:nvPr/>
          </p:nvSpPr>
          <p:spPr>
            <a:xfrm flipV="1">
              <a:off x="7344000" y="5148000"/>
              <a:ext cx="1656000" cy="288000"/>
            </a:xfrm>
            <a:prstGeom prst="round1Rect">
              <a:avLst>
                <a:gd name="adj" fmla="val 22049"/>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dirty="0">
                <a:latin typeface="游ゴシック" panose="020B0400000000000000" pitchFamily="50" charset="-128"/>
                <a:ea typeface="游ゴシック" panose="020B0400000000000000" pitchFamily="50" charset="-128"/>
              </a:endParaRPr>
            </a:p>
          </p:txBody>
        </p:sp>
        <p:sp>
          <p:nvSpPr>
            <p:cNvPr id="53" name="テキスト プレースホルダー 11"/>
            <p:cNvSpPr txBox="1">
              <a:spLocks/>
            </p:cNvSpPr>
            <p:nvPr/>
          </p:nvSpPr>
          <p:spPr>
            <a:xfrm>
              <a:off x="149911" y="5148000"/>
              <a:ext cx="2088000" cy="288000"/>
            </a:xfrm>
            <a:prstGeom prst="rect">
              <a:avLst/>
            </a:prstGeom>
          </p:spPr>
          <p:txBody>
            <a:bodyPr wrap="none"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b="1" dirty="0">
                  <a:solidFill>
                    <a:schemeClr val="tx1"/>
                  </a:solidFill>
                  <a:latin typeface="游ゴシック" panose="020B0400000000000000" pitchFamily="50" charset="-128"/>
                </a:rPr>
                <a:t>計</a:t>
              </a:r>
              <a:endParaRPr lang="en-US" sz="1400" b="1" dirty="0">
                <a:solidFill>
                  <a:schemeClr val="tx1"/>
                </a:solidFill>
                <a:latin typeface="游ゴシック" panose="020B0400000000000000" pitchFamily="50" charset="-128"/>
              </a:endParaRPr>
            </a:p>
          </p:txBody>
        </p:sp>
        <p:sp>
          <p:nvSpPr>
            <p:cNvPr id="59" name="テキスト プレースホルダー 11"/>
            <p:cNvSpPr txBox="1">
              <a:spLocks/>
            </p:cNvSpPr>
            <p:nvPr/>
          </p:nvSpPr>
          <p:spPr>
            <a:xfrm>
              <a:off x="2268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latin typeface="游ゴシック" panose="020B0400000000000000" pitchFamily="50" charset="-128"/>
                </a:rPr>
                <a:t>197</a:t>
              </a:r>
            </a:p>
          </p:txBody>
        </p:sp>
        <p:sp>
          <p:nvSpPr>
            <p:cNvPr id="65" name="テキスト プレースホルダー 11"/>
            <p:cNvSpPr txBox="1">
              <a:spLocks/>
            </p:cNvSpPr>
            <p:nvPr/>
          </p:nvSpPr>
          <p:spPr>
            <a:xfrm>
              <a:off x="3960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latin typeface="游ゴシック" panose="020B0400000000000000" pitchFamily="50" charset="-128"/>
                </a:rPr>
                <a:t>367</a:t>
              </a:r>
            </a:p>
          </p:txBody>
        </p:sp>
        <p:sp>
          <p:nvSpPr>
            <p:cNvPr id="71" name="テキスト プレースホルダー 11"/>
            <p:cNvSpPr txBox="1">
              <a:spLocks/>
            </p:cNvSpPr>
            <p:nvPr/>
          </p:nvSpPr>
          <p:spPr>
            <a:xfrm>
              <a:off x="7344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latin typeface="游ゴシック" panose="020B0400000000000000" pitchFamily="50" charset="-128"/>
                </a:rPr>
                <a:t>605</a:t>
              </a:r>
            </a:p>
          </p:txBody>
        </p:sp>
        <p:sp>
          <p:nvSpPr>
            <p:cNvPr id="75" name="正方形/長方形 74"/>
            <p:cNvSpPr/>
            <p:nvPr/>
          </p:nvSpPr>
          <p:spPr>
            <a:xfrm>
              <a:off x="144000" y="1584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6" name="正方形/長方形 75"/>
            <p:cNvSpPr/>
            <p:nvPr/>
          </p:nvSpPr>
          <p:spPr>
            <a:xfrm>
              <a:off x="2268000" y="158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7" name="正方形/長方形 76"/>
            <p:cNvSpPr/>
            <p:nvPr/>
          </p:nvSpPr>
          <p:spPr>
            <a:xfrm>
              <a:off x="3960000" y="158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8" name="正方形/長方形 77"/>
            <p:cNvSpPr/>
            <p:nvPr/>
          </p:nvSpPr>
          <p:spPr>
            <a:xfrm>
              <a:off x="7344000" y="158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9" name="テキスト プレースホルダー 11"/>
            <p:cNvSpPr txBox="1">
              <a:spLocks/>
            </p:cNvSpPr>
            <p:nvPr/>
          </p:nvSpPr>
          <p:spPr>
            <a:xfrm>
              <a:off x="145835" y="1584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err="1">
                  <a:solidFill>
                    <a:schemeClr val="tx1"/>
                  </a:solidFill>
                  <a:latin typeface="游ゴシック" panose="020B0400000000000000" pitchFamily="50" charset="-128"/>
                </a:rPr>
                <a:t>OneSAP</a:t>
              </a:r>
              <a:endParaRPr lang="en-US" altLang="ja-JP" sz="1400" dirty="0">
                <a:solidFill>
                  <a:schemeClr val="tx1"/>
                </a:solidFill>
                <a:latin typeface="游ゴシック" panose="020B0400000000000000" pitchFamily="50" charset="-128"/>
              </a:endParaRPr>
            </a:p>
          </p:txBody>
        </p:sp>
        <p:sp>
          <p:nvSpPr>
            <p:cNvPr id="80" name="テキスト プレースホルダー 11"/>
            <p:cNvSpPr txBox="1">
              <a:spLocks/>
            </p:cNvSpPr>
            <p:nvPr/>
          </p:nvSpPr>
          <p:spPr>
            <a:xfrm>
              <a:off x="2268000" y="158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11</a:t>
              </a:r>
            </a:p>
          </p:txBody>
        </p:sp>
        <p:sp>
          <p:nvSpPr>
            <p:cNvPr id="81" name="テキスト プレースホルダー 11"/>
            <p:cNvSpPr txBox="1">
              <a:spLocks/>
            </p:cNvSpPr>
            <p:nvPr/>
          </p:nvSpPr>
          <p:spPr>
            <a:xfrm>
              <a:off x="3960000" y="158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14</a:t>
              </a:r>
            </a:p>
          </p:txBody>
        </p:sp>
        <p:sp>
          <p:nvSpPr>
            <p:cNvPr id="82" name="テキスト プレースホルダー 11"/>
            <p:cNvSpPr txBox="1">
              <a:spLocks/>
            </p:cNvSpPr>
            <p:nvPr/>
          </p:nvSpPr>
          <p:spPr>
            <a:xfrm>
              <a:off x="7344000" y="158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63</a:t>
              </a:r>
            </a:p>
          </p:txBody>
        </p:sp>
        <p:sp>
          <p:nvSpPr>
            <p:cNvPr id="93" name="正方形/長方形 92"/>
            <p:cNvSpPr/>
            <p:nvPr/>
          </p:nvSpPr>
          <p:spPr>
            <a:xfrm>
              <a:off x="144000" y="1908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4" name="正方形/長方形 93"/>
            <p:cNvSpPr/>
            <p:nvPr/>
          </p:nvSpPr>
          <p:spPr>
            <a:xfrm>
              <a:off x="2268000" y="190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5" name="正方形/長方形 94"/>
            <p:cNvSpPr/>
            <p:nvPr/>
          </p:nvSpPr>
          <p:spPr>
            <a:xfrm>
              <a:off x="3960000" y="190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6" name="正方形/長方形 95"/>
            <p:cNvSpPr/>
            <p:nvPr/>
          </p:nvSpPr>
          <p:spPr>
            <a:xfrm>
              <a:off x="7344000" y="190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7" name="テキスト プレースホルダー 11"/>
            <p:cNvSpPr txBox="1">
              <a:spLocks/>
            </p:cNvSpPr>
            <p:nvPr/>
          </p:nvSpPr>
          <p:spPr>
            <a:xfrm>
              <a:off x="145835" y="1908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a:solidFill>
                    <a:schemeClr val="tx1"/>
                  </a:solidFill>
                  <a:latin typeface="游ゴシック" panose="020B0400000000000000" pitchFamily="50" charset="-128"/>
                </a:rPr>
                <a:t>SCM</a:t>
              </a:r>
            </a:p>
          </p:txBody>
        </p:sp>
        <p:sp>
          <p:nvSpPr>
            <p:cNvPr id="98" name="テキスト プレースホルダー 11"/>
            <p:cNvSpPr txBox="1">
              <a:spLocks/>
            </p:cNvSpPr>
            <p:nvPr/>
          </p:nvSpPr>
          <p:spPr>
            <a:xfrm>
              <a:off x="2268000" y="190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16</a:t>
              </a:r>
            </a:p>
          </p:txBody>
        </p:sp>
        <p:sp>
          <p:nvSpPr>
            <p:cNvPr id="99" name="テキスト プレースホルダー 11"/>
            <p:cNvSpPr txBox="1">
              <a:spLocks/>
            </p:cNvSpPr>
            <p:nvPr/>
          </p:nvSpPr>
          <p:spPr>
            <a:xfrm>
              <a:off x="3960000" y="190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17</a:t>
              </a:r>
            </a:p>
          </p:txBody>
        </p:sp>
        <p:sp>
          <p:nvSpPr>
            <p:cNvPr id="100" name="テキスト プレースホルダー 11"/>
            <p:cNvSpPr txBox="1">
              <a:spLocks/>
            </p:cNvSpPr>
            <p:nvPr/>
          </p:nvSpPr>
          <p:spPr>
            <a:xfrm>
              <a:off x="7344000" y="190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73</a:t>
              </a:r>
            </a:p>
          </p:txBody>
        </p:sp>
        <p:sp>
          <p:nvSpPr>
            <p:cNvPr id="102" name="正方形/長方形 101"/>
            <p:cNvSpPr/>
            <p:nvPr/>
          </p:nvSpPr>
          <p:spPr>
            <a:xfrm>
              <a:off x="144000" y="2232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03" name="正方形/長方形 102"/>
            <p:cNvSpPr/>
            <p:nvPr/>
          </p:nvSpPr>
          <p:spPr>
            <a:xfrm>
              <a:off x="2268000" y="223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04" name="正方形/長方形 103"/>
            <p:cNvSpPr/>
            <p:nvPr/>
          </p:nvSpPr>
          <p:spPr>
            <a:xfrm>
              <a:off x="3960000" y="223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05" name="正方形/長方形 104"/>
            <p:cNvSpPr/>
            <p:nvPr/>
          </p:nvSpPr>
          <p:spPr>
            <a:xfrm>
              <a:off x="7344000" y="223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06" name="テキスト プレースホルダー 11"/>
            <p:cNvSpPr txBox="1">
              <a:spLocks/>
            </p:cNvSpPr>
            <p:nvPr/>
          </p:nvSpPr>
          <p:spPr>
            <a:xfrm>
              <a:off x="145835" y="2232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共通ライブラリ</a:t>
              </a:r>
              <a:endParaRPr lang="en-US" sz="1400" dirty="0">
                <a:solidFill>
                  <a:schemeClr val="tx1"/>
                </a:solidFill>
                <a:latin typeface="游ゴシック" panose="020B0400000000000000" pitchFamily="50" charset="-128"/>
              </a:endParaRPr>
            </a:p>
          </p:txBody>
        </p:sp>
        <p:sp>
          <p:nvSpPr>
            <p:cNvPr id="107" name="テキスト プレースホルダー 11"/>
            <p:cNvSpPr txBox="1">
              <a:spLocks/>
            </p:cNvSpPr>
            <p:nvPr/>
          </p:nvSpPr>
          <p:spPr>
            <a:xfrm>
              <a:off x="2268000" y="223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3</a:t>
              </a:r>
            </a:p>
          </p:txBody>
        </p:sp>
        <p:sp>
          <p:nvSpPr>
            <p:cNvPr id="108" name="テキスト プレースホルダー 11"/>
            <p:cNvSpPr txBox="1">
              <a:spLocks/>
            </p:cNvSpPr>
            <p:nvPr/>
          </p:nvSpPr>
          <p:spPr>
            <a:xfrm>
              <a:off x="3960000" y="223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a:t>
              </a:r>
            </a:p>
          </p:txBody>
        </p:sp>
        <p:sp>
          <p:nvSpPr>
            <p:cNvPr id="109" name="テキスト プレースホルダー 11"/>
            <p:cNvSpPr txBox="1">
              <a:spLocks/>
            </p:cNvSpPr>
            <p:nvPr/>
          </p:nvSpPr>
          <p:spPr>
            <a:xfrm>
              <a:off x="7344000" y="223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33</a:t>
              </a:r>
            </a:p>
          </p:txBody>
        </p:sp>
        <p:sp>
          <p:nvSpPr>
            <p:cNvPr id="120" name="正方形/長方形 119"/>
            <p:cNvSpPr/>
            <p:nvPr/>
          </p:nvSpPr>
          <p:spPr>
            <a:xfrm>
              <a:off x="144000" y="2556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21" name="正方形/長方形 120"/>
            <p:cNvSpPr/>
            <p:nvPr/>
          </p:nvSpPr>
          <p:spPr>
            <a:xfrm>
              <a:off x="2268000" y="255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22" name="正方形/長方形 121"/>
            <p:cNvSpPr/>
            <p:nvPr/>
          </p:nvSpPr>
          <p:spPr>
            <a:xfrm>
              <a:off x="3960000" y="255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23" name="正方形/長方形 122"/>
            <p:cNvSpPr/>
            <p:nvPr/>
          </p:nvSpPr>
          <p:spPr>
            <a:xfrm>
              <a:off x="7344000" y="255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24" name="テキスト プレースホルダー 11"/>
            <p:cNvSpPr txBox="1">
              <a:spLocks/>
            </p:cNvSpPr>
            <p:nvPr/>
          </p:nvSpPr>
          <p:spPr>
            <a:xfrm>
              <a:off x="145835" y="2556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在庫管理</a:t>
              </a:r>
              <a:endParaRPr lang="en-US" sz="1400" dirty="0">
                <a:solidFill>
                  <a:schemeClr val="tx1"/>
                </a:solidFill>
                <a:latin typeface="游ゴシック" panose="020B0400000000000000" pitchFamily="50" charset="-128"/>
              </a:endParaRPr>
            </a:p>
          </p:txBody>
        </p:sp>
        <p:sp>
          <p:nvSpPr>
            <p:cNvPr id="125" name="テキスト プレースホルダー 11"/>
            <p:cNvSpPr txBox="1">
              <a:spLocks/>
            </p:cNvSpPr>
            <p:nvPr/>
          </p:nvSpPr>
          <p:spPr>
            <a:xfrm>
              <a:off x="2268000" y="255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126" name="テキスト プレースホルダー 11"/>
            <p:cNvSpPr txBox="1">
              <a:spLocks/>
            </p:cNvSpPr>
            <p:nvPr/>
          </p:nvSpPr>
          <p:spPr>
            <a:xfrm>
              <a:off x="3960000" y="255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127" name="テキスト プレースホルダー 11"/>
            <p:cNvSpPr txBox="1">
              <a:spLocks/>
            </p:cNvSpPr>
            <p:nvPr/>
          </p:nvSpPr>
          <p:spPr>
            <a:xfrm>
              <a:off x="7344000" y="255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10</a:t>
              </a:r>
            </a:p>
          </p:txBody>
        </p:sp>
        <p:sp>
          <p:nvSpPr>
            <p:cNvPr id="129" name="正方形/長方形 128"/>
            <p:cNvSpPr/>
            <p:nvPr/>
          </p:nvSpPr>
          <p:spPr>
            <a:xfrm>
              <a:off x="144000" y="2880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0" name="正方形/長方形 129"/>
            <p:cNvSpPr/>
            <p:nvPr/>
          </p:nvSpPr>
          <p:spPr>
            <a:xfrm>
              <a:off x="2268000" y="288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1" name="正方形/長方形 130"/>
            <p:cNvSpPr/>
            <p:nvPr/>
          </p:nvSpPr>
          <p:spPr>
            <a:xfrm>
              <a:off x="3960000" y="288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2" name="正方形/長方形 131"/>
            <p:cNvSpPr/>
            <p:nvPr/>
          </p:nvSpPr>
          <p:spPr>
            <a:xfrm>
              <a:off x="7344000" y="288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3" name="テキスト プレースホルダー 11"/>
            <p:cNvSpPr txBox="1">
              <a:spLocks/>
            </p:cNvSpPr>
            <p:nvPr/>
          </p:nvSpPr>
          <p:spPr>
            <a:xfrm>
              <a:off x="145835" y="2880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参照検索管理資料</a:t>
              </a:r>
              <a:endParaRPr lang="en-US" sz="1400" dirty="0">
                <a:solidFill>
                  <a:schemeClr val="tx1"/>
                </a:solidFill>
                <a:latin typeface="游ゴシック" panose="020B0400000000000000" pitchFamily="50" charset="-128"/>
              </a:endParaRPr>
            </a:p>
          </p:txBody>
        </p:sp>
        <p:sp>
          <p:nvSpPr>
            <p:cNvPr id="134" name="テキスト プレースホルダー 11"/>
            <p:cNvSpPr txBox="1">
              <a:spLocks/>
            </p:cNvSpPr>
            <p:nvPr/>
          </p:nvSpPr>
          <p:spPr>
            <a:xfrm>
              <a:off x="2268000" y="288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135" name="テキスト プレースホルダー 11"/>
            <p:cNvSpPr txBox="1">
              <a:spLocks/>
            </p:cNvSpPr>
            <p:nvPr/>
          </p:nvSpPr>
          <p:spPr>
            <a:xfrm>
              <a:off x="3960000" y="288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136" name="テキスト プレースホルダー 11"/>
            <p:cNvSpPr txBox="1">
              <a:spLocks/>
            </p:cNvSpPr>
            <p:nvPr/>
          </p:nvSpPr>
          <p:spPr>
            <a:xfrm>
              <a:off x="7344000" y="288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70" name="正方形/長方形 69"/>
            <p:cNvSpPr/>
            <p:nvPr/>
          </p:nvSpPr>
          <p:spPr>
            <a:xfrm>
              <a:off x="145835" y="3204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2" name="正方形/長方形 71"/>
            <p:cNvSpPr/>
            <p:nvPr/>
          </p:nvSpPr>
          <p:spPr>
            <a:xfrm>
              <a:off x="2268000" y="320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3" name="正方形/長方形 72"/>
            <p:cNvSpPr/>
            <p:nvPr/>
          </p:nvSpPr>
          <p:spPr>
            <a:xfrm>
              <a:off x="3960000" y="320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4" name="正方形/長方形 73"/>
            <p:cNvSpPr/>
            <p:nvPr/>
          </p:nvSpPr>
          <p:spPr>
            <a:xfrm>
              <a:off x="7344000" y="320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83" name="テキスト プレースホルダー 11"/>
            <p:cNvSpPr txBox="1">
              <a:spLocks/>
            </p:cNvSpPr>
            <p:nvPr/>
          </p:nvSpPr>
          <p:spPr>
            <a:xfrm>
              <a:off x="147670" y="3204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自動倉庫</a:t>
              </a:r>
              <a:endParaRPr lang="en-US" altLang="ja-JP" sz="1400" dirty="0">
                <a:solidFill>
                  <a:schemeClr val="tx1"/>
                </a:solidFill>
                <a:latin typeface="游ゴシック" panose="020B0400000000000000" pitchFamily="50" charset="-128"/>
              </a:endParaRPr>
            </a:p>
          </p:txBody>
        </p:sp>
        <p:sp>
          <p:nvSpPr>
            <p:cNvPr id="84" name="テキスト プレースホルダー 11"/>
            <p:cNvSpPr txBox="1">
              <a:spLocks/>
            </p:cNvSpPr>
            <p:nvPr/>
          </p:nvSpPr>
          <p:spPr>
            <a:xfrm>
              <a:off x="2268000" y="320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7</a:t>
              </a:r>
            </a:p>
          </p:txBody>
        </p:sp>
        <p:sp>
          <p:nvSpPr>
            <p:cNvPr id="85" name="テキスト プレースホルダー 11"/>
            <p:cNvSpPr txBox="1">
              <a:spLocks/>
            </p:cNvSpPr>
            <p:nvPr/>
          </p:nvSpPr>
          <p:spPr>
            <a:xfrm>
              <a:off x="3960000" y="320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86" name="テキスト プレースホルダー 11"/>
            <p:cNvSpPr txBox="1">
              <a:spLocks/>
            </p:cNvSpPr>
            <p:nvPr/>
          </p:nvSpPr>
          <p:spPr>
            <a:xfrm>
              <a:off x="7344000" y="320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24</a:t>
              </a:r>
            </a:p>
          </p:txBody>
        </p:sp>
        <p:sp>
          <p:nvSpPr>
            <p:cNvPr id="87" name="正方形/長方形 86"/>
            <p:cNvSpPr/>
            <p:nvPr/>
          </p:nvSpPr>
          <p:spPr>
            <a:xfrm>
              <a:off x="145835" y="3528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88" name="正方形/長方形 87"/>
            <p:cNvSpPr/>
            <p:nvPr/>
          </p:nvSpPr>
          <p:spPr>
            <a:xfrm>
              <a:off x="2268000" y="352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89" name="正方形/長方形 88"/>
            <p:cNvSpPr/>
            <p:nvPr/>
          </p:nvSpPr>
          <p:spPr>
            <a:xfrm>
              <a:off x="3960000" y="352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0" name="正方形/長方形 89"/>
            <p:cNvSpPr/>
            <p:nvPr/>
          </p:nvSpPr>
          <p:spPr>
            <a:xfrm>
              <a:off x="7344000" y="352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1" name="テキスト プレースホルダー 11"/>
            <p:cNvSpPr txBox="1">
              <a:spLocks/>
            </p:cNvSpPr>
            <p:nvPr/>
          </p:nvSpPr>
          <p:spPr>
            <a:xfrm>
              <a:off x="147670" y="3528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受注入出荷</a:t>
              </a:r>
              <a:endParaRPr lang="en-US" sz="1400" dirty="0">
                <a:solidFill>
                  <a:schemeClr val="tx1"/>
                </a:solidFill>
                <a:latin typeface="游ゴシック" panose="020B0400000000000000" pitchFamily="50" charset="-128"/>
              </a:endParaRPr>
            </a:p>
          </p:txBody>
        </p:sp>
        <p:sp>
          <p:nvSpPr>
            <p:cNvPr id="92" name="テキスト プレースホルダー 11"/>
            <p:cNvSpPr txBox="1">
              <a:spLocks/>
            </p:cNvSpPr>
            <p:nvPr/>
          </p:nvSpPr>
          <p:spPr>
            <a:xfrm>
              <a:off x="2268000" y="352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79</a:t>
              </a:r>
            </a:p>
          </p:txBody>
        </p:sp>
        <p:sp>
          <p:nvSpPr>
            <p:cNvPr id="101" name="テキスト プレースホルダー 11"/>
            <p:cNvSpPr txBox="1">
              <a:spLocks/>
            </p:cNvSpPr>
            <p:nvPr/>
          </p:nvSpPr>
          <p:spPr>
            <a:xfrm>
              <a:off x="3960000" y="352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214</a:t>
              </a:r>
            </a:p>
          </p:txBody>
        </p:sp>
        <p:sp>
          <p:nvSpPr>
            <p:cNvPr id="110" name="テキスト プレースホルダー 11"/>
            <p:cNvSpPr txBox="1">
              <a:spLocks/>
            </p:cNvSpPr>
            <p:nvPr/>
          </p:nvSpPr>
          <p:spPr>
            <a:xfrm>
              <a:off x="7344000" y="352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229</a:t>
              </a:r>
            </a:p>
          </p:txBody>
        </p:sp>
        <p:sp>
          <p:nvSpPr>
            <p:cNvPr id="111" name="正方形/長方形 110"/>
            <p:cNvSpPr/>
            <p:nvPr/>
          </p:nvSpPr>
          <p:spPr>
            <a:xfrm>
              <a:off x="145835" y="3852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12" name="正方形/長方形 111"/>
            <p:cNvSpPr/>
            <p:nvPr/>
          </p:nvSpPr>
          <p:spPr>
            <a:xfrm>
              <a:off x="2268000" y="385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13" name="正方形/長方形 112"/>
            <p:cNvSpPr/>
            <p:nvPr/>
          </p:nvSpPr>
          <p:spPr>
            <a:xfrm>
              <a:off x="3960000" y="385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14" name="正方形/長方形 113"/>
            <p:cNvSpPr/>
            <p:nvPr/>
          </p:nvSpPr>
          <p:spPr>
            <a:xfrm>
              <a:off x="7344000" y="385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15" name="テキスト プレースホルダー 11"/>
            <p:cNvSpPr txBox="1">
              <a:spLocks/>
            </p:cNvSpPr>
            <p:nvPr/>
          </p:nvSpPr>
          <p:spPr>
            <a:xfrm>
              <a:off x="147670" y="3852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充填管理</a:t>
              </a:r>
              <a:endParaRPr lang="en-US" sz="1400" dirty="0">
                <a:solidFill>
                  <a:schemeClr val="tx1"/>
                </a:solidFill>
                <a:latin typeface="游ゴシック" panose="020B0400000000000000" pitchFamily="50" charset="-128"/>
              </a:endParaRPr>
            </a:p>
          </p:txBody>
        </p:sp>
        <p:sp>
          <p:nvSpPr>
            <p:cNvPr id="116" name="テキスト プレースホルダー 11"/>
            <p:cNvSpPr txBox="1">
              <a:spLocks/>
            </p:cNvSpPr>
            <p:nvPr/>
          </p:nvSpPr>
          <p:spPr>
            <a:xfrm>
              <a:off x="2268000" y="385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117" name="テキスト プレースホルダー 11"/>
            <p:cNvSpPr txBox="1">
              <a:spLocks/>
            </p:cNvSpPr>
            <p:nvPr/>
          </p:nvSpPr>
          <p:spPr>
            <a:xfrm>
              <a:off x="3960000" y="385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4</a:t>
              </a:r>
            </a:p>
          </p:txBody>
        </p:sp>
        <p:sp>
          <p:nvSpPr>
            <p:cNvPr id="118" name="テキスト プレースホルダー 11"/>
            <p:cNvSpPr txBox="1">
              <a:spLocks/>
            </p:cNvSpPr>
            <p:nvPr/>
          </p:nvSpPr>
          <p:spPr>
            <a:xfrm>
              <a:off x="7344000" y="385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17</a:t>
              </a:r>
            </a:p>
          </p:txBody>
        </p:sp>
        <p:sp>
          <p:nvSpPr>
            <p:cNvPr id="119" name="正方形/長方形 118"/>
            <p:cNvSpPr/>
            <p:nvPr/>
          </p:nvSpPr>
          <p:spPr>
            <a:xfrm>
              <a:off x="145835" y="4176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28" name="正方形/長方形 127"/>
            <p:cNvSpPr/>
            <p:nvPr/>
          </p:nvSpPr>
          <p:spPr>
            <a:xfrm>
              <a:off x="2268000" y="417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7" name="正方形/長方形 136"/>
            <p:cNvSpPr/>
            <p:nvPr/>
          </p:nvSpPr>
          <p:spPr>
            <a:xfrm>
              <a:off x="3960000" y="417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8" name="正方形/長方形 137"/>
            <p:cNvSpPr/>
            <p:nvPr/>
          </p:nvSpPr>
          <p:spPr>
            <a:xfrm>
              <a:off x="7344000" y="417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9" name="テキスト プレースホルダー 11"/>
            <p:cNvSpPr txBox="1">
              <a:spLocks/>
            </p:cNvSpPr>
            <p:nvPr/>
          </p:nvSpPr>
          <p:spPr>
            <a:xfrm>
              <a:off x="147670" y="4176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商品管理</a:t>
              </a:r>
              <a:endParaRPr lang="en-US" sz="1400" dirty="0">
                <a:solidFill>
                  <a:schemeClr val="tx1"/>
                </a:solidFill>
                <a:latin typeface="游ゴシック" panose="020B0400000000000000" pitchFamily="50" charset="-128"/>
              </a:endParaRPr>
            </a:p>
          </p:txBody>
        </p:sp>
        <p:sp>
          <p:nvSpPr>
            <p:cNvPr id="140" name="テキスト プレースホルダー 11"/>
            <p:cNvSpPr txBox="1">
              <a:spLocks/>
            </p:cNvSpPr>
            <p:nvPr/>
          </p:nvSpPr>
          <p:spPr>
            <a:xfrm>
              <a:off x="2268000" y="417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10</a:t>
              </a:r>
            </a:p>
          </p:txBody>
        </p:sp>
        <p:sp>
          <p:nvSpPr>
            <p:cNvPr id="141" name="テキスト プレースホルダー 11"/>
            <p:cNvSpPr txBox="1">
              <a:spLocks/>
            </p:cNvSpPr>
            <p:nvPr/>
          </p:nvSpPr>
          <p:spPr>
            <a:xfrm>
              <a:off x="3960000" y="417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16</a:t>
              </a:r>
            </a:p>
          </p:txBody>
        </p:sp>
        <p:sp>
          <p:nvSpPr>
            <p:cNvPr id="142" name="テキスト プレースホルダー 11"/>
            <p:cNvSpPr txBox="1">
              <a:spLocks/>
            </p:cNvSpPr>
            <p:nvPr/>
          </p:nvSpPr>
          <p:spPr>
            <a:xfrm>
              <a:off x="7344000" y="417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26</a:t>
              </a:r>
            </a:p>
          </p:txBody>
        </p:sp>
        <p:sp>
          <p:nvSpPr>
            <p:cNvPr id="143" name="正方形/長方形 142"/>
            <p:cNvSpPr/>
            <p:nvPr/>
          </p:nvSpPr>
          <p:spPr>
            <a:xfrm>
              <a:off x="145835" y="4500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44" name="正方形/長方形 143"/>
            <p:cNvSpPr/>
            <p:nvPr/>
          </p:nvSpPr>
          <p:spPr>
            <a:xfrm>
              <a:off x="2268000" y="450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45" name="正方形/長方形 144"/>
            <p:cNvSpPr/>
            <p:nvPr/>
          </p:nvSpPr>
          <p:spPr>
            <a:xfrm>
              <a:off x="3960000" y="450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46" name="正方形/長方形 145"/>
            <p:cNvSpPr/>
            <p:nvPr/>
          </p:nvSpPr>
          <p:spPr>
            <a:xfrm>
              <a:off x="7344000" y="450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47" name="テキスト プレースホルダー 11"/>
            <p:cNvSpPr txBox="1">
              <a:spLocks/>
            </p:cNvSpPr>
            <p:nvPr/>
          </p:nvSpPr>
          <p:spPr>
            <a:xfrm>
              <a:off x="147670" y="4500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生産発注</a:t>
              </a:r>
              <a:endParaRPr lang="en-US" sz="1400" dirty="0">
                <a:solidFill>
                  <a:schemeClr val="tx1"/>
                </a:solidFill>
                <a:latin typeface="游ゴシック" panose="020B0400000000000000" pitchFamily="50" charset="-128"/>
              </a:endParaRPr>
            </a:p>
          </p:txBody>
        </p:sp>
        <p:sp>
          <p:nvSpPr>
            <p:cNvPr id="148" name="テキスト プレースホルダー 11"/>
            <p:cNvSpPr txBox="1">
              <a:spLocks/>
            </p:cNvSpPr>
            <p:nvPr/>
          </p:nvSpPr>
          <p:spPr>
            <a:xfrm>
              <a:off x="2268000" y="45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40</a:t>
              </a:r>
            </a:p>
          </p:txBody>
        </p:sp>
        <p:sp>
          <p:nvSpPr>
            <p:cNvPr id="149" name="テキスト プレースホルダー 11"/>
            <p:cNvSpPr txBox="1">
              <a:spLocks/>
            </p:cNvSpPr>
            <p:nvPr/>
          </p:nvSpPr>
          <p:spPr>
            <a:xfrm>
              <a:off x="3960000" y="45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53</a:t>
              </a:r>
            </a:p>
          </p:txBody>
        </p:sp>
        <p:sp>
          <p:nvSpPr>
            <p:cNvPr id="150" name="テキスト プレースホルダー 11"/>
            <p:cNvSpPr txBox="1">
              <a:spLocks/>
            </p:cNvSpPr>
            <p:nvPr/>
          </p:nvSpPr>
          <p:spPr>
            <a:xfrm>
              <a:off x="7344000" y="45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79</a:t>
              </a:r>
            </a:p>
          </p:txBody>
        </p:sp>
        <p:sp>
          <p:nvSpPr>
            <p:cNvPr id="151" name="正方形/長方形 150"/>
            <p:cNvSpPr/>
            <p:nvPr/>
          </p:nvSpPr>
          <p:spPr>
            <a:xfrm>
              <a:off x="145835" y="4824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52" name="正方形/長方形 151"/>
            <p:cNvSpPr/>
            <p:nvPr/>
          </p:nvSpPr>
          <p:spPr>
            <a:xfrm>
              <a:off x="2268000" y="482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53" name="正方形/長方形 152"/>
            <p:cNvSpPr/>
            <p:nvPr/>
          </p:nvSpPr>
          <p:spPr>
            <a:xfrm>
              <a:off x="3960000" y="482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54" name="正方形/長方形 153"/>
            <p:cNvSpPr/>
            <p:nvPr/>
          </p:nvSpPr>
          <p:spPr>
            <a:xfrm>
              <a:off x="7344000" y="482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55" name="テキスト プレースホルダー 11"/>
            <p:cNvSpPr txBox="1">
              <a:spLocks/>
            </p:cNvSpPr>
            <p:nvPr/>
          </p:nvSpPr>
          <p:spPr>
            <a:xfrm>
              <a:off x="147670" y="4824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品質管理</a:t>
              </a:r>
              <a:endParaRPr lang="en-US" sz="1400" dirty="0">
                <a:solidFill>
                  <a:schemeClr val="tx1"/>
                </a:solidFill>
                <a:latin typeface="游ゴシック" panose="020B0400000000000000" pitchFamily="50" charset="-128"/>
              </a:endParaRPr>
            </a:p>
          </p:txBody>
        </p:sp>
        <p:sp>
          <p:nvSpPr>
            <p:cNvPr id="156" name="テキスト プレースホルダー 11"/>
            <p:cNvSpPr txBox="1">
              <a:spLocks/>
            </p:cNvSpPr>
            <p:nvPr/>
          </p:nvSpPr>
          <p:spPr>
            <a:xfrm>
              <a:off x="2268000" y="482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8</a:t>
              </a:r>
            </a:p>
          </p:txBody>
        </p:sp>
        <p:sp>
          <p:nvSpPr>
            <p:cNvPr id="157" name="テキスト プレースホルダー 11"/>
            <p:cNvSpPr txBox="1">
              <a:spLocks/>
            </p:cNvSpPr>
            <p:nvPr/>
          </p:nvSpPr>
          <p:spPr>
            <a:xfrm>
              <a:off x="3960000" y="482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9</a:t>
              </a:r>
            </a:p>
          </p:txBody>
        </p:sp>
        <p:sp>
          <p:nvSpPr>
            <p:cNvPr id="158" name="テキスト プレースホルダー 11"/>
            <p:cNvSpPr txBox="1">
              <a:spLocks/>
            </p:cNvSpPr>
            <p:nvPr/>
          </p:nvSpPr>
          <p:spPr>
            <a:xfrm>
              <a:off x="7344000" y="482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15</a:t>
              </a:r>
            </a:p>
          </p:txBody>
        </p:sp>
        <p:sp>
          <p:nvSpPr>
            <p:cNvPr id="18" name="正方形/長方形 17"/>
            <p:cNvSpPr/>
            <p:nvPr/>
          </p:nvSpPr>
          <p:spPr>
            <a:xfrm>
              <a:off x="2268000" y="864000"/>
              <a:ext cx="1656000" cy="360000"/>
            </a:xfrm>
            <a:prstGeom prst="rect">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19" name="正方形/長方形 18"/>
            <p:cNvSpPr/>
            <p:nvPr/>
          </p:nvSpPr>
          <p:spPr>
            <a:xfrm>
              <a:off x="3960000" y="864000"/>
              <a:ext cx="1656000" cy="360000"/>
            </a:xfrm>
            <a:prstGeom prst="rect">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20" name="1 つの角を丸めた四角形 19"/>
            <p:cNvSpPr/>
            <p:nvPr/>
          </p:nvSpPr>
          <p:spPr>
            <a:xfrm>
              <a:off x="7344000" y="864000"/>
              <a:ext cx="1656000" cy="360000"/>
            </a:xfrm>
            <a:prstGeom prst="round1Rect">
              <a:avLst>
                <a:gd name="adj" fmla="val 17639"/>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45" name="テキスト プレースホルダー 11"/>
            <p:cNvSpPr txBox="1">
              <a:spLocks/>
            </p:cNvSpPr>
            <p:nvPr/>
          </p:nvSpPr>
          <p:spPr>
            <a:xfrm>
              <a:off x="2268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プログラム数</a:t>
              </a:r>
              <a:endParaRPr lang="en-US" sz="1600" b="1" dirty="0">
                <a:latin typeface="游ゴシック" panose="020B0400000000000000" pitchFamily="50" charset="-128"/>
              </a:endParaRPr>
            </a:p>
          </p:txBody>
        </p:sp>
        <p:sp>
          <p:nvSpPr>
            <p:cNvPr id="46" name="テキスト プレースホルダー 11"/>
            <p:cNvSpPr txBox="1">
              <a:spLocks/>
            </p:cNvSpPr>
            <p:nvPr/>
          </p:nvSpPr>
          <p:spPr>
            <a:xfrm>
              <a:off x="3960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画面数</a:t>
              </a:r>
              <a:endParaRPr lang="en-US" sz="1600" b="1" dirty="0">
                <a:latin typeface="游ゴシック" panose="020B0400000000000000" pitchFamily="50" charset="-128"/>
              </a:endParaRPr>
            </a:p>
          </p:txBody>
        </p:sp>
        <p:sp>
          <p:nvSpPr>
            <p:cNvPr id="47" name="テキスト プレースホルダー 11"/>
            <p:cNvSpPr txBox="1">
              <a:spLocks/>
            </p:cNvSpPr>
            <p:nvPr/>
          </p:nvSpPr>
          <p:spPr>
            <a:xfrm>
              <a:off x="7344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共通機能数</a:t>
              </a:r>
              <a:endParaRPr lang="en-US" sz="1000" b="1" dirty="0">
                <a:latin typeface="游ゴシック" panose="020B0400000000000000" pitchFamily="50" charset="-128"/>
              </a:endParaRPr>
            </a:p>
          </p:txBody>
        </p:sp>
        <p:sp>
          <p:nvSpPr>
            <p:cNvPr id="159" name="正方形/長方形 158"/>
            <p:cNvSpPr/>
            <p:nvPr/>
          </p:nvSpPr>
          <p:spPr>
            <a:xfrm>
              <a:off x="5652000" y="864000"/>
              <a:ext cx="1656000" cy="360000"/>
            </a:xfrm>
            <a:prstGeom prst="rect">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160" name="テキスト プレースホルダー 11"/>
            <p:cNvSpPr txBox="1">
              <a:spLocks/>
            </p:cNvSpPr>
            <p:nvPr/>
          </p:nvSpPr>
          <p:spPr>
            <a:xfrm>
              <a:off x="5652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帳票数</a:t>
              </a:r>
              <a:endParaRPr lang="en-US" sz="1600" b="1" dirty="0">
                <a:latin typeface="游ゴシック" panose="020B0400000000000000" pitchFamily="50" charset="-128"/>
              </a:endParaRPr>
            </a:p>
          </p:txBody>
        </p:sp>
        <p:sp>
          <p:nvSpPr>
            <p:cNvPr id="161" name="正方形/長方形 160"/>
            <p:cNvSpPr/>
            <p:nvPr/>
          </p:nvSpPr>
          <p:spPr>
            <a:xfrm>
              <a:off x="5652000" y="126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2" name="テキスト プレースホルダー 11"/>
            <p:cNvSpPr txBox="1">
              <a:spLocks/>
            </p:cNvSpPr>
            <p:nvPr/>
          </p:nvSpPr>
          <p:spPr>
            <a:xfrm>
              <a:off x="5652000" y="126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3</a:t>
              </a:r>
            </a:p>
          </p:txBody>
        </p:sp>
        <p:sp>
          <p:nvSpPr>
            <p:cNvPr id="163" name="正方形/長方形 162"/>
            <p:cNvSpPr/>
            <p:nvPr/>
          </p:nvSpPr>
          <p:spPr>
            <a:xfrm>
              <a:off x="5652000" y="514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4" name="テキスト プレースホルダー 11"/>
            <p:cNvSpPr txBox="1">
              <a:spLocks/>
            </p:cNvSpPr>
            <p:nvPr/>
          </p:nvSpPr>
          <p:spPr>
            <a:xfrm>
              <a:off x="5652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latin typeface="游ゴシック" panose="020B0400000000000000" pitchFamily="50" charset="-128"/>
                </a:rPr>
                <a:t>83</a:t>
              </a:r>
            </a:p>
          </p:txBody>
        </p:sp>
        <p:sp>
          <p:nvSpPr>
            <p:cNvPr id="165" name="正方形/長方形 164"/>
            <p:cNvSpPr/>
            <p:nvPr/>
          </p:nvSpPr>
          <p:spPr>
            <a:xfrm>
              <a:off x="5652000" y="158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6" name="テキスト プレースホルダー 11"/>
            <p:cNvSpPr txBox="1">
              <a:spLocks/>
            </p:cNvSpPr>
            <p:nvPr/>
          </p:nvSpPr>
          <p:spPr>
            <a:xfrm>
              <a:off x="5652000" y="158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167" name="正方形/長方形 166"/>
            <p:cNvSpPr/>
            <p:nvPr/>
          </p:nvSpPr>
          <p:spPr>
            <a:xfrm>
              <a:off x="5652000" y="190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8" name="テキスト プレースホルダー 11"/>
            <p:cNvSpPr txBox="1">
              <a:spLocks/>
            </p:cNvSpPr>
            <p:nvPr/>
          </p:nvSpPr>
          <p:spPr>
            <a:xfrm>
              <a:off x="5652000" y="190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12</a:t>
              </a:r>
            </a:p>
          </p:txBody>
        </p:sp>
        <p:sp>
          <p:nvSpPr>
            <p:cNvPr id="169" name="正方形/長方形 168"/>
            <p:cNvSpPr/>
            <p:nvPr/>
          </p:nvSpPr>
          <p:spPr>
            <a:xfrm>
              <a:off x="5652000" y="223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0" name="テキスト プレースホルダー 11"/>
            <p:cNvSpPr txBox="1">
              <a:spLocks/>
            </p:cNvSpPr>
            <p:nvPr/>
          </p:nvSpPr>
          <p:spPr>
            <a:xfrm>
              <a:off x="5652000" y="223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171" name="正方形/長方形 170"/>
            <p:cNvSpPr/>
            <p:nvPr/>
          </p:nvSpPr>
          <p:spPr>
            <a:xfrm>
              <a:off x="5652000" y="255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2" name="テキスト プレースホルダー 11"/>
            <p:cNvSpPr txBox="1">
              <a:spLocks/>
            </p:cNvSpPr>
            <p:nvPr/>
          </p:nvSpPr>
          <p:spPr>
            <a:xfrm>
              <a:off x="5652000" y="255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4</a:t>
              </a:r>
            </a:p>
          </p:txBody>
        </p:sp>
        <p:sp>
          <p:nvSpPr>
            <p:cNvPr id="173" name="正方形/長方形 172"/>
            <p:cNvSpPr/>
            <p:nvPr/>
          </p:nvSpPr>
          <p:spPr>
            <a:xfrm>
              <a:off x="5652000" y="288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4" name="テキスト プレースホルダー 11"/>
            <p:cNvSpPr txBox="1">
              <a:spLocks/>
            </p:cNvSpPr>
            <p:nvPr/>
          </p:nvSpPr>
          <p:spPr>
            <a:xfrm>
              <a:off x="5652000" y="288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3</a:t>
              </a:r>
            </a:p>
          </p:txBody>
        </p:sp>
        <p:sp>
          <p:nvSpPr>
            <p:cNvPr id="175" name="正方形/長方形 174"/>
            <p:cNvSpPr/>
            <p:nvPr/>
          </p:nvSpPr>
          <p:spPr>
            <a:xfrm>
              <a:off x="5652000" y="320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6" name="テキスト プレースホルダー 11"/>
            <p:cNvSpPr txBox="1">
              <a:spLocks/>
            </p:cNvSpPr>
            <p:nvPr/>
          </p:nvSpPr>
          <p:spPr>
            <a:xfrm>
              <a:off x="5652000" y="320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a:t>
              </a:r>
            </a:p>
          </p:txBody>
        </p:sp>
        <p:sp>
          <p:nvSpPr>
            <p:cNvPr id="177" name="正方形/長方形 176"/>
            <p:cNvSpPr/>
            <p:nvPr/>
          </p:nvSpPr>
          <p:spPr>
            <a:xfrm>
              <a:off x="5652000" y="352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8" name="テキスト プレースホルダー 11"/>
            <p:cNvSpPr txBox="1">
              <a:spLocks/>
            </p:cNvSpPr>
            <p:nvPr/>
          </p:nvSpPr>
          <p:spPr>
            <a:xfrm>
              <a:off x="5652000" y="352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18</a:t>
              </a:r>
            </a:p>
          </p:txBody>
        </p:sp>
        <p:sp>
          <p:nvSpPr>
            <p:cNvPr id="179" name="正方形/長方形 178"/>
            <p:cNvSpPr/>
            <p:nvPr/>
          </p:nvSpPr>
          <p:spPr>
            <a:xfrm>
              <a:off x="5652000" y="385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0" name="テキスト プレースホルダー 11"/>
            <p:cNvSpPr txBox="1">
              <a:spLocks/>
            </p:cNvSpPr>
            <p:nvPr/>
          </p:nvSpPr>
          <p:spPr>
            <a:xfrm>
              <a:off x="5652000" y="385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181" name="正方形/長方形 180"/>
            <p:cNvSpPr/>
            <p:nvPr/>
          </p:nvSpPr>
          <p:spPr>
            <a:xfrm>
              <a:off x="5652000" y="417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2" name="テキスト プレースホルダー 11"/>
            <p:cNvSpPr txBox="1">
              <a:spLocks/>
            </p:cNvSpPr>
            <p:nvPr/>
          </p:nvSpPr>
          <p:spPr>
            <a:xfrm>
              <a:off x="5652000" y="417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8</a:t>
              </a:r>
            </a:p>
          </p:txBody>
        </p:sp>
        <p:sp>
          <p:nvSpPr>
            <p:cNvPr id="183" name="正方形/長方形 182"/>
            <p:cNvSpPr/>
            <p:nvPr/>
          </p:nvSpPr>
          <p:spPr>
            <a:xfrm>
              <a:off x="5652000" y="450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4" name="テキスト プレースホルダー 11"/>
            <p:cNvSpPr txBox="1">
              <a:spLocks/>
            </p:cNvSpPr>
            <p:nvPr/>
          </p:nvSpPr>
          <p:spPr>
            <a:xfrm>
              <a:off x="5652000" y="45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27</a:t>
              </a:r>
            </a:p>
          </p:txBody>
        </p:sp>
        <p:sp>
          <p:nvSpPr>
            <p:cNvPr id="185" name="正方形/長方形 184"/>
            <p:cNvSpPr/>
            <p:nvPr/>
          </p:nvSpPr>
          <p:spPr>
            <a:xfrm>
              <a:off x="5652000" y="482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6" name="テキスト プレースホルダー 11"/>
            <p:cNvSpPr txBox="1">
              <a:spLocks/>
            </p:cNvSpPr>
            <p:nvPr/>
          </p:nvSpPr>
          <p:spPr>
            <a:xfrm>
              <a:off x="5652000" y="482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a:t>
              </a:r>
            </a:p>
          </p:txBody>
        </p:sp>
      </p:grpSp>
    </p:spTree>
    <p:extLst>
      <p:ext uri="{BB962C8B-B14F-4D97-AF65-F5344CB8AC3E}">
        <p14:creationId xmlns:p14="http://schemas.microsoft.com/office/powerpoint/2010/main" val="3310616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システム更新の実現方法</a:t>
            </a:r>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3"/>
          </p:nvPr>
        </p:nvSpPr>
        <p:spPr/>
        <p:txBody>
          <a:bodyPr/>
          <a:lstStyle/>
          <a:p>
            <a:fld id="{74395F4E-A786-454B-9285-EF3DEA272B37}" type="slidenum">
              <a:rPr lang="ja-JP" altLang="en-US" smtClean="0"/>
              <a:pPr/>
              <a:t>17</a:t>
            </a:fld>
            <a:endParaRPr lang="ja-JP" altLang="en-US"/>
          </a:p>
        </p:txBody>
      </p:sp>
    </p:spTree>
    <p:extLst>
      <p:ext uri="{BB962C8B-B14F-4D97-AF65-F5344CB8AC3E}">
        <p14:creationId xmlns:p14="http://schemas.microsoft.com/office/powerpoint/2010/main" val="223689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角丸四角形 121"/>
          <p:cNvSpPr/>
          <p:nvPr/>
        </p:nvSpPr>
        <p:spPr>
          <a:xfrm>
            <a:off x="1007998" y="864000"/>
            <a:ext cx="5220001" cy="576000"/>
          </a:xfrm>
          <a:prstGeom prst="roundRect">
            <a:avLst>
              <a:gd name="adj" fmla="val 11024"/>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r>
              <a:rPr kumimoji="1" lang="ja-JP" altLang="en-US" sz="1400" b="1" dirty="0">
                <a:solidFill>
                  <a:schemeClr val="tx1"/>
                </a:solidFill>
                <a:latin typeface="游ゴシック" panose="020B0400000000000000" pitchFamily="50" charset="-128"/>
                <a:ea typeface="游ゴシック" panose="020B0400000000000000" pitchFamily="50" charset="-128"/>
              </a:rPr>
              <a:t>館林</a:t>
            </a:r>
            <a:r>
              <a:rPr kumimoji="1" lang="en-US" altLang="ja-JP" sz="1400" b="1" dirty="0">
                <a:solidFill>
                  <a:schemeClr val="tx1"/>
                </a:solidFill>
                <a:latin typeface="游ゴシック" panose="020B0400000000000000" pitchFamily="50" charset="-128"/>
                <a:ea typeface="游ゴシック" panose="020B0400000000000000" pitchFamily="50" charset="-128"/>
              </a:rPr>
              <a:t>DC</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8" name="角丸四角形 17"/>
          <p:cNvSpPr/>
          <p:nvPr/>
        </p:nvSpPr>
        <p:spPr>
          <a:xfrm>
            <a:off x="1008000" y="1584000"/>
            <a:ext cx="7992000" cy="3312000"/>
          </a:xfrm>
          <a:prstGeom prst="roundRect">
            <a:avLst>
              <a:gd name="adj" fmla="val 1917"/>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r>
              <a:rPr kumimoji="1" lang="ja-JP" altLang="en-US" sz="1400" b="1" dirty="0">
                <a:solidFill>
                  <a:schemeClr val="tx1"/>
                </a:solidFill>
                <a:latin typeface="游ゴシック" panose="020B0400000000000000" pitchFamily="50" charset="-128"/>
                <a:ea typeface="游ゴシック" panose="020B0400000000000000" pitchFamily="50" charset="-128"/>
              </a:rPr>
              <a:t>潤滑油二課事務所</a:t>
            </a:r>
          </a:p>
        </p:txBody>
      </p:sp>
      <p:sp>
        <p:nvSpPr>
          <p:cNvPr id="2" name="タイトル 1"/>
          <p:cNvSpPr>
            <a:spLocks noGrp="1"/>
          </p:cNvSpPr>
          <p:nvPr>
            <p:ph type="title"/>
          </p:nvPr>
        </p:nvSpPr>
        <p:spPr>
          <a:xfrm>
            <a:off x="144000" y="36000"/>
            <a:ext cx="8856000" cy="576000"/>
          </a:xfrm>
        </p:spPr>
        <p:txBody>
          <a:bodyPr/>
          <a:lstStyle/>
          <a:p>
            <a:r>
              <a:rPr kumimoji="1" lang="ja-JP" altLang="en-US" dirty="0"/>
              <a:t>システム構成（</a:t>
            </a:r>
            <a:r>
              <a:rPr lang="en-US" altLang="ja-JP" dirty="0" err="1"/>
              <a:t>ToBe</a:t>
            </a:r>
            <a:r>
              <a:rPr kumimoji="1" lang="ja-JP" altLang="en-US" dirty="0"/>
              <a:t>）</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18</a:t>
            </a:fld>
            <a:endParaRPr kumimoji="1" lang="ja-JP" altLang="en-US"/>
          </a:p>
        </p:txBody>
      </p:sp>
      <p:sp>
        <p:nvSpPr>
          <p:cNvPr id="85" name="角丸四角形 84"/>
          <p:cNvSpPr/>
          <p:nvPr/>
        </p:nvSpPr>
        <p:spPr>
          <a:xfrm>
            <a:off x="3096000" y="1008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en-US" altLang="ja-JP" sz="1400" dirty="0" err="1">
                <a:solidFill>
                  <a:schemeClr val="bg1"/>
                </a:solidFill>
                <a:latin typeface="游ゴシック" panose="020B0400000000000000" pitchFamily="50" charset="-128"/>
                <a:ea typeface="游ゴシック" panose="020B0400000000000000" pitchFamily="50" charset="-128"/>
              </a:rPr>
              <a:t>OneSAP</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sp>
        <p:nvSpPr>
          <p:cNvPr id="87" name="角丸四角形 86"/>
          <p:cNvSpPr/>
          <p:nvPr/>
        </p:nvSpPr>
        <p:spPr>
          <a:xfrm>
            <a:off x="1080000" y="1008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連携基盤</a:t>
            </a:r>
          </a:p>
        </p:txBody>
      </p:sp>
      <p:cxnSp>
        <p:nvCxnSpPr>
          <p:cNvPr id="96" name="直線コネクタ 95"/>
          <p:cNvCxnSpPr/>
          <p:nvPr/>
        </p:nvCxnSpPr>
        <p:spPr>
          <a:xfrm flipV="1">
            <a:off x="504000" y="1512000"/>
            <a:ext cx="8496000" cy="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7" name="直線コネクタ 96"/>
          <p:cNvCxnSpPr/>
          <p:nvPr/>
        </p:nvCxnSpPr>
        <p:spPr>
          <a:xfrm flipH="1" flipV="1">
            <a:off x="1980000" y="1296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8" name="直線コネクタ 97"/>
          <p:cNvCxnSpPr/>
          <p:nvPr/>
        </p:nvCxnSpPr>
        <p:spPr>
          <a:xfrm flipH="1" flipV="1">
            <a:off x="3996000" y="1296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0" name="直線コネクタ 99"/>
          <p:cNvCxnSpPr/>
          <p:nvPr/>
        </p:nvCxnSpPr>
        <p:spPr>
          <a:xfrm flipH="1" flipV="1">
            <a:off x="504000" y="1152000"/>
            <a:ext cx="0" cy="1080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40" name="正方形/長方形 39"/>
          <p:cNvSpPr/>
          <p:nvPr/>
        </p:nvSpPr>
        <p:spPr>
          <a:xfrm>
            <a:off x="6408000" y="756000"/>
            <a:ext cx="2592000" cy="61200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tIns="36000" rIns="36000" bIns="36000" rtlCol="0" anchor="t" anchorCtr="0"/>
          <a:lstStyle/>
          <a:p>
            <a:pPr marL="171450" indent="-171450">
              <a:buFont typeface="游ゴシック" panose="020B0400000000000000" pitchFamily="50" charset="-128"/>
              <a:buChar char="※"/>
            </a:pPr>
            <a:r>
              <a:rPr lang="ja-JP" altLang="en-US" sz="1200" b="1" dirty="0">
                <a:solidFill>
                  <a:srgbClr val="FF0000"/>
                </a:solidFill>
                <a:latin typeface="游ゴシック" panose="020B0400000000000000" pitchFamily="50" charset="-128"/>
                <a:ea typeface="游ゴシック" panose="020B0400000000000000" pitchFamily="50" charset="-128"/>
              </a:rPr>
              <a:t>変更点を赤字で記載</a:t>
            </a:r>
            <a:endParaRPr lang="en-US" altLang="ja-JP" sz="1200" b="1" dirty="0">
              <a:solidFill>
                <a:srgbClr val="FF0000"/>
              </a:solidFill>
              <a:latin typeface="游ゴシック" panose="020B0400000000000000" pitchFamily="50" charset="-128"/>
              <a:ea typeface="游ゴシック" panose="020B0400000000000000" pitchFamily="50" charset="-128"/>
            </a:endParaRPr>
          </a:p>
          <a:p>
            <a:pPr marL="171450" indent="-171450">
              <a:buFont typeface="游ゴシック" panose="020B0400000000000000" pitchFamily="50" charset="-128"/>
              <a:buChar char="※"/>
            </a:pPr>
            <a:r>
              <a:rPr lang="ja-JP" altLang="en-US" sz="1200" dirty="0">
                <a:solidFill>
                  <a:schemeClr val="tx1"/>
                </a:solidFill>
                <a:latin typeface="游ゴシック" panose="020B0400000000000000" pitchFamily="50" charset="-128"/>
                <a:ea typeface="游ゴシック" panose="020B0400000000000000" pitchFamily="50" charset="-128"/>
              </a:rPr>
              <a:t>紙面の都合上、潤滑油二課事務所内のレーザープリンタ</a:t>
            </a:r>
            <a:r>
              <a:rPr lang="en-US" altLang="ja-JP" sz="1200" dirty="0">
                <a:solidFill>
                  <a:schemeClr val="tx1"/>
                </a:solidFill>
                <a:latin typeface="游ゴシック" panose="020B0400000000000000" pitchFamily="50" charset="-128"/>
                <a:ea typeface="游ゴシック" panose="020B0400000000000000" pitchFamily="50" charset="-128"/>
              </a:rPr>
              <a:t>3</a:t>
            </a:r>
            <a:r>
              <a:rPr lang="ja-JP" altLang="en-US" sz="1200" dirty="0">
                <a:solidFill>
                  <a:schemeClr val="tx1"/>
                </a:solidFill>
                <a:latin typeface="游ゴシック" panose="020B0400000000000000" pitchFamily="50" charset="-128"/>
                <a:ea typeface="游ゴシック" panose="020B0400000000000000" pitchFamily="50" charset="-128"/>
              </a:rPr>
              <a:t>台を省略</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cxnSp>
        <p:nvCxnSpPr>
          <p:cNvPr id="101" name="直線コネクタ 100"/>
          <p:cNvCxnSpPr/>
          <p:nvPr/>
        </p:nvCxnSpPr>
        <p:spPr>
          <a:xfrm flipH="1" flipV="1">
            <a:off x="504000" y="2664000"/>
            <a:ext cx="0" cy="345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flipH="1" flipV="1">
            <a:off x="792000" y="2520000"/>
            <a:ext cx="360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3" name="直線コネクタ 102"/>
          <p:cNvCxnSpPr/>
          <p:nvPr/>
        </p:nvCxnSpPr>
        <p:spPr>
          <a:xfrm flipV="1">
            <a:off x="504000" y="3240000"/>
            <a:ext cx="8352000" cy="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2" name="直線コネクタ 101"/>
          <p:cNvCxnSpPr/>
          <p:nvPr/>
        </p:nvCxnSpPr>
        <p:spPr>
          <a:xfrm flipH="1" flipV="1">
            <a:off x="2376000" y="3240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6" name="直線コネクタ 135"/>
          <p:cNvCxnSpPr/>
          <p:nvPr/>
        </p:nvCxnSpPr>
        <p:spPr>
          <a:xfrm flipH="1" flipV="1">
            <a:off x="7632000" y="3240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80" name="図 7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8000" y="2232000"/>
            <a:ext cx="536562" cy="432000"/>
          </a:xfrm>
          <a:prstGeom prst="rect">
            <a:avLst/>
          </a:prstGeom>
        </p:spPr>
      </p:pic>
      <p:sp>
        <p:nvSpPr>
          <p:cNvPr id="67" name="テキスト ボックス 66"/>
          <p:cNvSpPr txBox="1"/>
          <p:nvPr/>
        </p:nvSpPr>
        <p:spPr>
          <a:xfrm>
            <a:off x="72000" y="2736000"/>
            <a:ext cx="468000" cy="307777"/>
          </a:xfrm>
          <a:prstGeom prst="rect">
            <a:avLst/>
          </a:prstGeom>
          <a:noFill/>
        </p:spPr>
        <p:txBody>
          <a:bodyPr wrap="square" rtlCol="0">
            <a:spAutoFit/>
          </a:bodyPr>
          <a:lstStyle/>
          <a:p>
            <a:r>
              <a:rPr lang="en-US" altLang="ja-JP" sz="1400" dirty="0">
                <a:latin typeface="游ゴシック" panose="020B0400000000000000" pitchFamily="50" charset="-128"/>
                <a:ea typeface="游ゴシック" panose="020B0400000000000000" pitchFamily="50" charset="-128"/>
              </a:rPr>
              <a:t>FW</a:t>
            </a:r>
            <a:endParaRPr kumimoji="1" lang="ja-JP" altLang="en-US" sz="1400" dirty="0">
              <a:latin typeface="游ゴシック" panose="020B0400000000000000" pitchFamily="50" charset="-128"/>
              <a:ea typeface="游ゴシック" panose="020B0400000000000000" pitchFamily="50" charset="-128"/>
            </a:endParaRPr>
          </a:p>
        </p:txBody>
      </p:sp>
      <p:cxnSp>
        <p:nvCxnSpPr>
          <p:cNvPr id="89" name="直線コネクタ 88"/>
          <p:cNvCxnSpPr/>
          <p:nvPr/>
        </p:nvCxnSpPr>
        <p:spPr>
          <a:xfrm flipH="1" flipV="1">
            <a:off x="5004000" y="3240000"/>
            <a:ext cx="0" cy="144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1" name="角丸四角形 60"/>
          <p:cNvSpPr/>
          <p:nvPr/>
        </p:nvSpPr>
        <p:spPr>
          <a:xfrm>
            <a:off x="5832000" y="1944000"/>
            <a:ext cx="3024000" cy="540000"/>
          </a:xfrm>
          <a:prstGeom prst="roundRect">
            <a:avLst>
              <a:gd name="adj" fmla="val 11759"/>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72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制御ｼｽﾃﾑ通信ｻｰﾊﾞ</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lang="en-US" altLang="ja-JP" sz="1200" b="1" dirty="0">
                <a:solidFill>
                  <a:srgbClr val="FF0000"/>
                </a:solidFill>
                <a:latin typeface="游ゴシック" panose="020B0400000000000000" pitchFamily="50" charset="-128"/>
                <a:ea typeface="游ゴシック" panose="020B0400000000000000" pitchFamily="50" charset="-128"/>
              </a:rPr>
              <a:t>Windows Server 2019</a:t>
            </a:r>
          </a:p>
        </p:txBody>
      </p:sp>
      <p:pic>
        <p:nvPicPr>
          <p:cNvPr id="62" name="図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000" y="2016000"/>
            <a:ext cx="218508" cy="396000"/>
          </a:xfrm>
          <a:prstGeom prst="rect">
            <a:avLst/>
          </a:prstGeom>
        </p:spPr>
      </p:pic>
      <p:sp>
        <p:nvSpPr>
          <p:cNvPr id="90" name="角丸四角形 89"/>
          <p:cNvSpPr/>
          <p:nvPr/>
        </p:nvSpPr>
        <p:spPr>
          <a:xfrm>
            <a:off x="5832000" y="2556000"/>
            <a:ext cx="3024000" cy="540000"/>
          </a:xfrm>
          <a:prstGeom prst="roundRect">
            <a:avLst>
              <a:gd name="adj" fmla="val 11759"/>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72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制御ｼｽﾃﾑ通信ｻｰﾊﾞ</a:t>
            </a:r>
            <a:r>
              <a:rPr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待機系</a:t>
            </a:r>
            <a:r>
              <a:rPr lang="en-US" altLang="ja-JP" sz="1400" b="1" dirty="0">
                <a:solidFill>
                  <a:schemeClr val="tx1"/>
                </a:solidFill>
                <a:latin typeface="游ゴシック" panose="020B0400000000000000" pitchFamily="50" charset="-128"/>
                <a:ea typeface="游ゴシック" panose="020B0400000000000000" pitchFamily="50" charset="-128"/>
              </a:rPr>
              <a:t>)</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lang="en-US" altLang="ja-JP" sz="1200" b="1" dirty="0">
                <a:solidFill>
                  <a:srgbClr val="FF0000"/>
                </a:solidFill>
                <a:latin typeface="游ゴシック" panose="020B0400000000000000" pitchFamily="50" charset="-128"/>
                <a:ea typeface="游ゴシック" panose="020B0400000000000000" pitchFamily="50" charset="-128"/>
              </a:rPr>
              <a:t>Windows Server 2019</a:t>
            </a:r>
          </a:p>
        </p:txBody>
      </p:sp>
      <p:pic>
        <p:nvPicPr>
          <p:cNvPr id="91" name="図 9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2000" y="2628000"/>
            <a:ext cx="218508" cy="396000"/>
          </a:xfrm>
          <a:prstGeom prst="rect">
            <a:avLst/>
          </a:prstGeom>
        </p:spPr>
      </p:pic>
      <p:grpSp>
        <p:nvGrpSpPr>
          <p:cNvPr id="13" name="グループ化 12"/>
          <p:cNvGrpSpPr/>
          <p:nvPr/>
        </p:nvGrpSpPr>
        <p:grpSpPr>
          <a:xfrm>
            <a:off x="1152000" y="3384000"/>
            <a:ext cx="7704000" cy="1440000"/>
            <a:chOff x="1152000" y="3240000"/>
            <a:chExt cx="7704000" cy="1440000"/>
          </a:xfrm>
        </p:grpSpPr>
        <p:sp>
          <p:nvSpPr>
            <p:cNvPr id="19" name="角丸四角形 18"/>
            <p:cNvSpPr/>
            <p:nvPr/>
          </p:nvSpPr>
          <p:spPr>
            <a:xfrm>
              <a:off x="6408000" y="3240000"/>
              <a:ext cx="2448000" cy="1440000"/>
            </a:xfrm>
            <a:prstGeom prst="roundRect">
              <a:avLst>
                <a:gd name="adj" fmla="val 4410"/>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36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ｸﾗｲｱﾝﾄ端末</a:t>
              </a:r>
              <a:r>
                <a:rPr lang="en-US" altLang="ja-JP" sz="1400" b="1" dirty="0">
                  <a:solidFill>
                    <a:schemeClr val="tx1"/>
                  </a:solidFill>
                  <a:latin typeface="游ゴシック" panose="020B0400000000000000" pitchFamily="50" charset="-128"/>
                  <a:ea typeface="游ゴシック" panose="020B0400000000000000" pitchFamily="50" charset="-128"/>
                </a:rPr>
                <a:t>(10</a:t>
              </a:r>
              <a:r>
                <a:rPr lang="ja-JP" altLang="en-US" sz="1400" b="1" dirty="0">
                  <a:solidFill>
                    <a:schemeClr val="tx1"/>
                  </a:solidFill>
                  <a:latin typeface="游ゴシック" panose="020B0400000000000000" pitchFamily="50" charset="-128"/>
                  <a:ea typeface="游ゴシック" panose="020B0400000000000000" pitchFamily="50" charset="-128"/>
                </a:rPr>
                <a:t>台</a:t>
              </a:r>
              <a:r>
                <a:rPr lang="en-US" altLang="ja-JP" sz="1400" b="1" dirty="0">
                  <a:solidFill>
                    <a:schemeClr val="tx1"/>
                  </a:solidFill>
                  <a:latin typeface="游ゴシック" panose="020B0400000000000000" pitchFamily="50" charset="-128"/>
                  <a:ea typeface="游ゴシック" panose="020B0400000000000000" pitchFamily="50" charset="-128"/>
                </a:rPr>
                <a:t>)</a:t>
              </a:r>
            </a:p>
            <a:p>
              <a:r>
                <a:rPr kumimoji="1" lang="en-US" altLang="ja-JP" sz="1200" b="1" dirty="0">
                  <a:solidFill>
                    <a:srgbClr val="FF0000"/>
                  </a:solidFill>
                  <a:latin typeface="游ゴシック" panose="020B0400000000000000" pitchFamily="50" charset="-128"/>
                  <a:ea typeface="游ゴシック" panose="020B0400000000000000" pitchFamily="50" charset="-128"/>
                </a:rPr>
                <a:t>Windows </a:t>
              </a:r>
              <a:r>
                <a:rPr lang="en-US" altLang="ja-JP" sz="1200" b="1" dirty="0">
                  <a:solidFill>
                    <a:srgbClr val="FF0000"/>
                  </a:solidFill>
                  <a:latin typeface="游ゴシック" panose="020B0400000000000000" pitchFamily="50" charset="-128"/>
                  <a:ea typeface="游ゴシック" panose="020B0400000000000000" pitchFamily="50" charset="-128"/>
                </a:rPr>
                <a:t>10</a:t>
              </a:r>
              <a:endParaRPr kumimoji="1" lang="en-US" altLang="ja-JP" sz="1200" b="1" dirty="0">
                <a:solidFill>
                  <a:srgbClr val="FF0000"/>
                </a:solidFill>
                <a:latin typeface="游ゴシック" panose="020B0400000000000000" pitchFamily="50" charset="-128"/>
                <a:ea typeface="游ゴシック" panose="020B0400000000000000" pitchFamily="50" charset="-128"/>
              </a:endParaRPr>
            </a:p>
            <a:p>
              <a:r>
                <a:rPr lang="en-US" altLang="ja-JP" sz="1200" b="1" dirty="0">
                  <a:solidFill>
                    <a:srgbClr val="FF0000"/>
                  </a:solidFill>
                  <a:latin typeface="游ゴシック" panose="020B0400000000000000" pitchFamily="50" charset="-128"/>
                  <a:ea typeface="游ゴシック" panose="020B0400000000000000" pitchFamily="50" charset="-128"/>
                </a:rPr>
                <a:t>.NET Framework 4.7.2</a:t>
              </a:r>
            </a:p>
          </p:txBody>
        </p:sp>
        <p:sp>
          <p:nvSpPr>
            <p:cNvPr id="20" name="角丸四角形 19"/>
            <p:cNvSpPr/>
            <p:nvPr/>
          </p:nvSpPr>
          <p:spPr>
            <a:xfrm>
              <a:off x="6480000" y="4320000"/>
              <a:ext cx="2304000" cy="288000"/>
            </a:xfrm>
            <a:prstGeom prst="roundRect">
              <a:avLst>
                <a:gd name="adj" fmla="val 22049"/>
              </a:avLst>
            </a:prstGeom>
            <a:solidFill>
              <a:schemeClr val="accent2"/>
            </a:solidFill>
            <a:ln w="12700">
              <a:no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運転管理ｼｽﾃﾑ</a:t>
              </a:r>
              <a:r>
                <a:rPr lang="en-US" altLang="ja-JP" sz="1400" b="1" dirty="0">
                  <a:solidFill>
                    <a:schemeClr val="bg1"/>
                  </a:solidFill>
                  <a:latin typeface="游ゴシック" panose="020B0400000000000000" pitchFamily="50" charset="-128"/>
                  <a:ea typeface="游ゴシック" panose="020B0400000000000000" pitchFamily="50" charset="-128"/>
                </a:rPr>
                <a:t>AP</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pic>
          <p:nvPicPr>
            <p:cNvPr id="22" name="図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80000" y="3348000"/>
              <a:ext cx="365295" cy="288000"/>
            </a:xfrm>
            <a:prstGeom prst="rect">
              <a:avLst/>
            </a:prstGeom>
          </p:spPr>
        </p:pic>
        <p:sp>
          <p:nvSpPr>
            <p:cNvPr id="74" name="角丸四角形 73"/>
            <p:cNvSpPr/>
            <p:nvPr/>
          </p:nvSpPr>
          <p:spPr>
            <a:xfrm>
              <a:off x="3780000" y="3240000"/>
              <a:ext cx="2448000" cy="1440000"/>
            </a:xfrm>
            <a:prstGeom prst="roundRect">
              <a:avLst>
                <a:gd name="adj" fmla="val 4410"/>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504000" tIns="72000" rIns="72000" rtlCol="0" anchor="t" anchorCtr="0"/>
            <a:lstStyle/>
            <a:p>
              <a:r>
                <a:rPr lang="en-US" altLang="ja-JP" sz="1400" b="1" dirty="0">
                  <a:solidFill>
                    <a:schemeClr val="tx1"/>
                  </a:solidFill>
                  <a:latin typeface="游ゴシック" panose="020B0400000000000000" pitchFamily="50" charset="-128"/>
                  <a:ea typeface="游ゴシック" panose="020B0400000000000000" pitchFamily="50" charset="-128"/>
                </a:rPr>
                <a:t>DB</a:t>
              </a:r>
              <a:r>
                <a:rPr lang="ja-JP" altLang="en-US" sz="1400" b="1" dirty="0">
                  <a:solidFill>
                    <a:schemeClr val="tx1"/>
                  </a:solidFill>
                  <a:latin typeface="游ゴシック" panose="020B0400000000000000" pitchFamily="50" charset="-128"/>
                  <a:ea typeface="游ゴシック" panose="020B0400000000000000" pitchFamily="50" charset="-128"/>
                </a:rPr>
                <a:t>ｻｰﾊﾞ</a:t>
              </a:r>
              <a:r>
                <a:rPr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待機系</a:t>
              </a:r>
              <a:r>
                <a:rPr lang="en-US" altLang="ja-JP" sz="1400" b="1" dirty="0">
                  <a:solidFill>
                    <a:schemeClr val="tx1"/>
                  </a:solidFill>
                  <a:latin typeface="游ゴシック" panose="020B0400000000000000" pitchFamily="50" charset="-128"/>
                  <a:ea typeface="游ゴシック" panose="020B0400000000000000" pitchFamily="50" charset="-128"/>
                </a:rPr>
                <a:t>)</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kumimoji="1" lang="en-US" altLang="ja-JP" sz="1200" b="1" dirty="0">
                  <a:solidFill>
                    <a:srgbClr val="FF0000"/>
                  </a:solidFill>
                  <a:latin typeface="游ゴシック" panose="020B0400000000000000" pitchFamily="50" charset="-128"/>
                  <a:ea typeface="游ゴシック" panose="020B0400000000000000" pitchFamily="50" charset="-128"/>
                </a:rPr>
                <a:t>Windows Server 2019</a:t>
              </a:r>
            </a:p>
            <a:p>
              <a:r>
                <a:rPr lang="en-US" altLang="ja-JP" sz="1200" b="1" dirty="0">
                  <a:solidFill>
                    <a:srgbClr val="FF0000"/>
                  </a:solidFill>
                  <a:latin typeface="游ゴシック" panose="020B0400000000000000" pitchFamily="50" charset="-128"/>
                  <a:ea typeface="游ゴシック" panose="020B0400000000000000" pitchFamily="50" charset="-128"/>
                </a:rPr>
                <a:t>Oracle 19c</a:t>
              </a:r>
            </a:p>
            <a:p>
              <a:r>
                <a:rPr kumimoji="1" lang="en-US" altLang="ja-JP" sz="1200" b="1" dirty="0">
                  <a:solidFill>
                    <a:srgbClr val="FF0000"/>
                  </a:solidFill>
                  <a:latin typeface="游ゴシック" panose="020B0400000000000000" pitchFamily="50" charset="-128"/>
                  <a:ea typeface="游ゴシック" panose="020B0400000000000000" pitchFamily="50" charset="-128"/>
                </a:rPr>
                <a:t>Operation Manager X.X</a:t>
              </a:r>
            </a:p>
            <a:p>
              <a:r>
                <a:rPr lang="en-US" altLang="ja-JP" sz="1200" b="1" dirty="0">
                  <a:solidFill>
                    <a:srgbClr val="FF0000"/>
                  </a:solidFill>
                  <a:latin typeface="游ゴシック" panose="020B0400000000000000" pitchFamily="50" charset="-128"/>
                  <a:ea typeface="游ゴシック" panose="020B0400000000000000" pitchFamily="50" charset="-128"/>
                </a:rPr>
                <a:t>IIS 10</a:t>
              </a:r>
              <a:endParaRPr kumimoji="1" lang="en-US" altLang="ja-JP" sz="1200" b="1" dirty="0">
                <a:solidFill>
                  <a:srgbClr val="FF0000"/>
                </a:solidFill>
                <a:latin typeface="游ゴシック" panose="020B0400000000000000" pitchFamily="50" charset="-128"/>
                <a:ea typeface="游ゴシック" panose="020B0400000000000000" pitchFamily="50" charset="-128"/>
              </a:endParaRPr>
            </a:p>
          </p:txBody>
        </p:sp>
        <p:pic>
          <p:nvPicPr>
            <p:cNvPr id="81" name="図 8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60000" y="3312000"/>
              <a:ext cx="218508" cy="396000"/>
            </a:xfrm>
            <a:prstGeom prst="rect">
              <a:avLst/>
            </a:prstGeom>
          </p:spPr>
        </p:pic>
        <p:sp>
          <p:nvSpPr>
            <p:cNvPr id="82" name="角丸四角形 81"/>
            <p:cNvSpPr/>
            <p:nvPr/>
          </p:nvSpPr>
          <p:spPr>
            <a:xfrm>
              <a:off x="3851999" y="4320000"/>
              <a:ext cx="2304000" cy="288000"/>
            </a:xfrm>
            <a:prstGeom prst="roundRect">
              <a:avLst>
                <a:gd name="adj" fmla="val 22049"/>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none" lIns="72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運転管理ｼｽﾃﾑ</a:t>
              </a:r>
              <a:r>
                <a:rPr lang="en-US" altLang="ja-JP" sz="1400" b="1" dirty="0">
                  <a:solidFill>
                    <a:schemeClr val="bg1"/>
                  </a:solidFill>
                  <a:latin typeface="游ゴシック" panose="020B0400000000000000" pitchFamily="50" charset="-128"/>
                  <a:ea typeface="游ゴシック" panose="020B0400000000000000" pitchFamily="50" charset="-128"/>
                </a:rPr>
                <a:t>DB(</a:t>
              </a:r>
              <a:r>
                <a:rPr lang="ja-JP" altLang="en-US" sz="1400" b="1" dirty="0">
                  <a:solidFill>
                    <a:schemeClr val="bg1"/>
                  </a:solidFill>
                  <a:latin typeface="游ゴシック" panose="020B0400000000000000" pitchFamily="50" charset="-128"/>
                  <a:ea typeface="游ゴシック" panose="020B0400000000000000" pitchFamily="50" charset="-128"/>
                </a:rPr>
                <a:t>ﾊﾞｯｸｱｯﾌﾟ</a:t>
              </a:r>
              <a:r>
                <a:rPr lang="en-US" altLang="ja-JP" sz="1400" b="1" dirty="0">
                  <a:solidFill>
                    <a:schemeClr val="bg1"/>
                  </a:solidFill>
                  <a:latin typeface="游ゴシック" panose="020B0400000000000000" pitchFamily="50" charset="-128"/>
                  <a:ea typeface="游ゴシック" panose="020B0400000000000000" pitchFamily="50" charset="-128"/>
                </a:rPr>
                <a:t>)</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8" name="角丸四角形 7"/>
            <p:cNvSpPr/>
            <p:nvPr/>
          </p:nvSpPr>
          <p:spPr>
            <a:xfrm>
              <a:off x="1152000" y="3240000"/>
              <a:ext cx="2448000" cy="1440000"/>
            </a:xfrm>
            <a:prstGeom prst="roundRect">
              <a:avLst>
                <a:gd name="adj" fmla="val 4410"/>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504000" tIns="72000" rIns="72000" rtlCol="0" anchor="t" anchorCtr="0"/>
            <a:lstStyle/>
            <a:p>
              <a:r>
                <a:rPr lang="en-US" altLang="ja-JP" sz="1400" b="1" dirty="0">
                  <a:solidFill>
                    <a:schemeClr val="tx1"/>
                  </a:solidFill>
                  <a:latin typeface="游ゴシック" panose="020B0400000000000000" pitchFamily="50" charset="-128"/>
                  <a:ea typeface="游ゴシック" panose="020B0400000000000000" pitchFamily="50" charset="-128"/>
                </a:rPr>
                <a:t>DB</a:t>
              </a:r>
              <a:r>
                <a:rPr lang="ja-JP" altLang="en-US" sz="1400" b="1" dirty="0">
                  <a:solidFill>
                    <a:schemeClr val="tx1"/>
                  </a:solidFill>
                  <a:latin typeface="游ゴシック" panose="020B0400000000000000" pitchFamily="50" charset="-128"/>
                  <a:ea typeface="游ゴシック" panose="020B0400000000000000" pitchFamily="50" charset="-128"/>
                </a:rPr>
                <a:t>ｻｰﾊﾞ</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kumimoji="1" lang="en-US" altLang="ja-JP" sz="1200" b="1" dirty="0">
                  <a:solidFill>
                    <a:srgbClr val="FF0000"/>
                  </a:solidFill>
                  <a:latin typeface="游ゴシック" panose="020B0400000000000000" pitchFamily="50" charset="-128"/>
                  <a:ea typeface="游ゴシック" panose="020B0400000000000000" pitchFamily="50" charset="-128"/>
                </a:rPr>
                <a:t>Windows Server 2019</a:t>
              </a:r>
            </a:p>
            <a:p>
              <a:r>
                <a:rPr lang="en-US" altLang="ja-JP" sz="1200" b="1" dirty="0">
                  <a:solidFill>
                    <a:srgbClr val="FF0000"/>
                  </a:solidFill>
                  <a:latin typeface="游ゴシック" panose="020B0400000000000000" pitchFamily="50" charset="-128"/>
                  <a:ea typeface="游ゴシック" panose="020B0400000000000000" pitchFamily="50" charset="-128"/>
                </a:rPr>
                <a:t>Oracle 19c</a:t>
              </a:r>
            </a:p>
            <a:p>
              <a:r>
                <a:rPr kumimoji="1" lang="en-US" altLang="ja-JP" sz="1200" b="1" dirty="0">
                  <a:solidFill>
                    <a:srgbClr val="FF0000"/>
                  </a:solidFill>
                  <a:latin typeface="游ゴシック" panose="020B0400000000000000" pitchFamily="50" charset="-128"/>
                  <a:ea typeface="游ゴシック" panose="020B0400000000000000" pitchFamily="50" charset="-128"/>
                </a:rPr>
                <a:t>Operation Manager X.X</a:t>
              </a:r>
            </a:p>
            <a:p>
              <a:r>
                <a:rPr lang="en-US" altLang="ja-JP" sz="1200" b="1" dirty="0">
                  <a:solidFill>
                    <a:srgbClr val="FF0000"/>
                  </a:solidFill>
                  <a:latin typeface="游ゴシック" panose="020B0400000000000000" pitchFamily="50" charset="-128"/>
                  <a:ea typeface="游ゴシック" panose="020B0400000000000000" pitchFamily="50" charset="-128"/>
                </a:rPr>
                <a:t>IIS 10</a:t>
              </a:r>
              <a:endParaRPr kumimoji="1" lang="en-US" altLang="ja-JP" sz="1200" b="1" dirty="0">
                <a:solidFill>
                  <a:srgbClr val="FF0000"/>
                </a:solidFill>
                <a:latin typeface="游ゴシック" panose="020B0400000000000000" pitchFamily="50" charset="-128"/>
                <a:ea typeface="游ゴシック" panose="020B0400000000000000" pitchFamily="50" charset="-128"/>
              </a:endParaRPr>
            </a:p>
          </p:txBody>
        </p:sp>
        <p:pic>
          <p:nvPicPr>
            <p:cNvPr id="10" name="図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2000" y="3312000"/>
              <a:ext cx="218508" cy="396000"/>
            </a:xfrm>
            <a:prstGeom prst="rect">
              <a:avLst/>
            </a:prstGeom>
          </p:spPr>
        </p:pic>
        <p:sp>
          <p:nvSpPr>
            <p:cNvPr id="56" name="角丸四角形 55"/>
            <p:cNvSpPr/>
            <p:nvPr/>
          </p:nvSpPr>
          <p:spPr>
            <a:xfrm>
              <a:off x="1223999" y="4320000"/>
              <a:ext cx="2304000" cy="288000"/>
            </a:xfrm>
            <a:prstGeom prst="roundRect">
              <a:avLst>
                <a:gd name="adj" fmla="val 22049"/>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lIns="72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運転管理ｼｽﾃﾑ</a:t>
              </a:r>
              <a:r>
                <a:rPr lang="en-US" altLang="ja-JP" sz="1400" b="1" dirty="0">
                  <a:solidFill>
                    <a:schemeClr val="bg1"/>
                  </a:solidFill>
                  <a:latin typeface="游ゴシック" panose="020B0400000000000000" pitchFamily="50" charset="-128"/>
                  <a:ea typeface="游ゴシック" panose="020B0400000000000000" pitchFamily="50" charset="-128"/>
                </a:rPr>
                <a:t>DB</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grpSp>
      <p:cxnSp>
        <p:nvCxnSpPr>
          <p:cNvPr id="109" name="直線コネクタ 108"/>
          <p:cNvCxnSpPr/>
          <p:nvPr/>
        </p:nvCxnSpPr>
        <p:spPr>
          <a:xfrm flipV="1">
            <a:off x="504000" y="5760000"/>
            <a:ext cx="8496000" cy="1"/>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18" name="角丸四角形 117"/>
          <p:cNvSpPr/>
          <p:nvPr/>
        </p:nvSpPr>
        <p:spPr>
          <a:xfrm>
            <a:off x="7056000" y="4968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充填所</a:t>
            </a:r>
          </a:p>
        </p:txBody>
      </p:sp>
      <p:sp>
        <p:nvSpPr>
          <p:cNvPr id="120" name="角丸四角形 119"/>
          <p:cNvSpPr/>
          <p:nvPr/>
        </p:nvSpPr>
        <p:spPr>
          <a:xfrm>
            <a:off x="3024000" y="4968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出荷事務所</a:t>
            </a:r>
          </a:p>
        </p:txBody>
      </p:sp>
      <p:sp>
        <p:nvSpPr>
          <p:cNvPr id="121" name="角丸四角形 120"/>
          <p:cNvSpPr/>
          <p:nvPr/>
        </p:nvSpPr>
        <p:spPr>
          <a:xfrm>
            <a:off x="1008000" y="4968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lang="en-US" altLang="ja-JP" sz="1400" b="1" dirty="0">
                <a:solidFill>
                  <a:schemeClr val="tx1"/>
                </a:solidFill>
                <a:latin typeface="游ゴシック" panose="020B0400000000000000" pitchFamily="50" charset="-128"/>
                <a:ea typeface="游ゴシック" panose="020B0400000000000000" pitchFamily="50" charset="-128"/>
              </a:rPr>
              <a:t>CB</a:t>
            </a:r>
            <a:r>
              <a:rPr lang="ja-JP" altLang="en-US" sz="1400" b="1" dirty="0">
                <a:solidFill>
                  <a:schemeClr val="tx1"/>
                </a:solidFill>
                <a:latin typeface="游ゴシック" panose="020B0400000000000000" pitchFamily="50" charset="-128"/>
                <a:ea typeface="游ゴシック" panose="020B0400000000000000" pitchFamily="50" charset="-128"/>
              </a:rPr>
              <a:t>建屋</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05" name="角丸四角形 104"/>
          <p:cNvSpPr/>
          <p:nvPr/>
        </p:nvSpPr>
        <p:spPr>
          <a:xfrm>
            <a:off x="3096000" y="5256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lang="ja-JP" altLang="en-US" sz="1400" dirty="0">
                <a:solidFill>
                  <a:schemeClr val="bg1"/>
                </a:solidFill>
                <a:latin typeface="游ゴシック" panose="020B0400000000000000" pitchFamily="50" charset="-128"/>
                <a:ea typeface="游ゴシック" panose="020B0400000000000000" pitchFamily="50" charset="-128"/>
              </a:rPr>
              <a:t>ﾛｯﾄ</a:t>
            </a:r>
            <a:r>
              <a:rPr kumimoji="1" lang="ja-JP" altLang="en-US" sz="1400" dirty="0">
                <a:solidFill>
                  <a:schemeClr val="bg1"/>
                </a:solidFill>
                <a:latin typeface="游ゴシック" panose="020B0400000000000000" pitchFamily="50" charset="-128"/>
                <a:ea typeface="游ゴシック" panose="020B0400000000000000" pitchFamily="50" charset="-128"/>
              </a:rPr>
              <a:t>追跡ｼｽﾃﾑ</a:t>
            </a:r>
          </a:p>
        </p:txBody>
      </p:sp>
      <p:sp>
        <p:nvSpPr>
          <p:cNvPr id="107" name="角丸四角形 106"/>
          <p:cNvSpPr/>
          <p:nvPr/>
        </p:nvSpPr>
        <p:spPr>
          <a:xfrm>
            <a:off x="1080000" y="5256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添加剤</a:t>
            </a:r>
            <a:r>
              <a:rPr lang="ja-JP" altLang="en-US" sz="1400" dirty="0">
                <a:solidFill>
                  <a:schemeClr val="bg1"/>
                </a:solidFill>
                <a:latin typeface="游ゴシック" panose="020B0400000000000000" pitchFamily="50" charset="-128"/>
                <a:ea typeface="游ゴシック" panose="020B0400000000000000" pitchFamily="50" charset="-128"/>
              </a:rPr>
              <a:t>ﾛｯﾄ</a:t>
            </a:r>
            <a:r>
              <a:rPr kumimoji="1" lang="ja-JP" altLang="en-US" sz="1400" dirty="0">
                <a:solidFill>
                  <a:schemeClr val="bg1"/>
                </a:solidFill>
                <a:latin typeface="游ゴシック" panose="020B0400000000000000" pitchFamily="50" charset="-128"/>
                <a:ea typeface="游ゴシック" panose="020B0400000000000000" pitchFamily="50" charset="-128"/>
              </a:rPr>
              <a:t>管理ｼｽﾃﾑ</a:t>
            </a:r>
          </a:p>
        </p:txBody>
      </p:sp>
      <p:sp>
        <p:nvSpPr>
          <p:cNvPr id="112" name="角丸四角形 111"/>
          <p:cNvSpPr/>
          <p:nvPr/>
        </p:nvSpPr>
        <p:spPr>
          <a:xfrm>
            <a:off x="7128441" y="5256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充填管理ｼｽﾃﾑ</a:t>
            </a:r>
          </a:p>
        </p:txBody>
      </p:sp>
      <p:sp>
        <p:nvSpPr>
          <p:cNvPr id="123" name="角丸四角形 122"/>
          <p:cNvSpPr/>
          <p:nvPr/>
        </p:nvSpPr>
        <p:spPr>
          <a:xfrm>
            <a:off x="1008000" y="5832001"/>
            <a:ext cx="1944000" cy="576000"/>
          </a:xfrm>
          <a:prstGeom prst="roundRect">
            <a:avLst>
              <a:gd name="adj" fmla="val 11024"/>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0" rIns="108000" bIns="0" rtlCol="0" anchor="b" anchorCtr="0"/>
          <a:lstStyle/>
          <a:p>
            <a:pPr algn="ct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24" name="角丸四角形 123"/>
          <p:cNvSpPr/>
          <p:nvPr/>
        </p:nvSpPr>
        <p:spPr>
          <a:xfrm>
            <a:off x="1080000" y="5976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en-US" altLang="ja-JP" sz="1400" dirty="0">
                <a:solidFill>
                  <a:schemeClr val="bg1"/>
                </a:solidFill>
                <a:latin typeface="游ゴシック" panose="020B0400000000000000" pitchFamily="50" charset="-128"/>
                <a:ea typeface="游ゴシック" panose="020B0400000000000000" pitchFamily="50" charset="-128"/>
              </a:rPr>
              <a:t>ETS-R(</a:t>
            </a:r>
            <a:r>
              <a:rPr lang="ja-JP" altLang="en-US" sz="1400" dirty="0">
                <a:solidFill>
                  <a:schemeClr val="bg1"/>
                </a:solidFill>
                <a:latin typeface="游ゴシック" panose="020B0400000000000000" pitchFamily="50" charset="-128"/>
                <a:ea typeface="游ゴシック" panose="020B0400000000000000" pitchFamily="50" charset="-128"/>
              </a:rPr>
              <a:t>運転管理</a:t>
            </a:r>
            <a:r>
              <a:rPr kumimoji="1" lang="en-US" altLang="ja-JP" sz="1400" dirty="0">
                <a:solidFill>
                  <a:schemeClr val="bg1"/>
                </a:solidFill>
                <a:latin typeface="游ゴシック" panose="020B0400000000000000" pitchFamily="50" charset="-128"/>
                <a:ea typeface="游ゴシック" panose="020B0400000000000000" pitchFamily="50" charset="-128"/>
              </a:rPr>
              <a:t>)</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cxnSp>
        <p:nvCxnSpPr>
          <p:cNvPr id="128" name="直線コネクタ 127"/>
          <p:cNvCxnSpPr/>
          <p:nvPr/>
        </p:nvCxnSpPr>
        <p:spPr>
          <a:xfrm flipH="1" flipV="1">
            <a:off x="1980000" y="5760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38" name="角丸四角形 137"/>
          <p:cNvSpPr/>
          <p:nvPr/>
        </p:nvSpPr>
        <p:spPr>
          <a:xfrm>
            <a:off x="3023999" y="5832001"/>
            <a:ext cx="1944000" cy="576000"/>
          </a:xfrm>
          <a:prstGeom prst="roundRect">
            <a:avLst>
              <a:gd name="adj" fmla="val 11024"/>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0" rIns="108000" bIns="0" rtlCol="0" anchor="b" anchorCtr="0"/>
          <a:lstStyle/>
          <a:p>
            <a:pPr algn="ct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39" name="角丸四角形 138"/>
          <p:cNvSpPr/>
          <p:nvPr/>
        </p:nvSpPr>
        <p:spPr>
          <a:xfrm>
            <a:off x="3095999" y="5976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lang="ja-JP" altLang="en-US" sz="1400" dirty="0">
                <a:solidFill>
                  <a:schemeClr val="bg1"/>
                </a:solidFill>
                <a:latin typeface="游ゴシック" panose="020B0400000000000000" pitchFamily="50" charset="-128"/>
                <a:ea typeface="游ゴシック" panose="020B0400000000000000" pitchFamily="50" charset="-128"/>
              </a:rPr>
              <a:t>潤滑油運転制御ｼｽﾃﾑ</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cxnSp>
        <p:nvCxnSpPr>
          <p:cNvPr id="113" name="直線コネクタ 112"/>
          <p:cNvCxnSpPr/>
          <p:nvPr/>
        </p:nvCxnSpPr>
        <p:spPr>
          <a:xfrm flipH="1" flipV="1">
            <a:off x="8028000" y="5544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6" name="直線コネクタ 115"/>
          <p:cNvCxnSpPr/>
          <p:nvPr/>
        </p:nvCxnSpPr>
        <p:spPr>
          <a:xfrm flipH="1" flipV="1">
            <a:off x="1980000" y="5544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15" name="直線コネクタ 114"/>
          <p:cNvCxnSpPr/>
          <p:nvPr/>
        </p:nvCxnSpPr>
        <p:spPr>
          <a:xfrm flipH="1" flipV="1">
            <a:off x="3996000" y="5544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線コネクタ 67"/>
          <p:cNvCxnSpPr/>
          <p:nvPr/>
        </p:nvCxnSpPr>
        <p:spPr>
          <a:xfrm flipH="1" flipV="1">
            <a:off x="3996000" y="5760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19" name="角丸四角形 118"/>
          <p:cNvSpPr/>
          <p:nvPr/>
        </p:nvSpPr>
        <p:spPr>
          <a:xfrm>
            <a:off x="5040000" y="4968000"/>
            <a:ext cx="1944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tIns="36000" rIns="108000" bIns="0" rtlCol="0" anchor="t" anchorCtr="0"/>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自動倉庫</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06" name="角丸四角形 105"/>
          <p:cNvSpPr/>
          <p:nvPr/>
        </p:nvSpPr>
        <p:spPr>
          <a:xfrm>
            <a:off x="5112000" y="5256000"/>
            <a:ext cx="1800000" cy="288000"/>
          </a:xfrm>
          <a:prstGeom prst="roundRect">
            <a:avLst>
              <a:gd name="adj" fmla="val 22049"/>
            </a:avLst>
          </a:prstGeom>
          <a:solidFill>
            <a:schemeClr val="accent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kumimoji="1" lang="ja-JP" altLang="en-US" sz="1400" dirty="0">
                <a:solidFill>
                  <a:schemeClr val="bg1"/>
                </a:solidFill>
                <a:latin typeface="游ゴシック" panose="020B0400000000000000" pitchFamily="50" charset="-128"/>
                <a:ea typeface="游ゴシック" panose="020B0400000000000000" pitchFamily="50" charset="-128"/>
              </a:rPr>
              <a:t>自動倉庫ｼｽﾃﾑ</a:t>
            </a:r>
          </a:p>
        </p:txBody>
      </p:sp>
      <p:cxnSp>
        <p:nvCxnSpPr>
          <p:cNvPr id="114" name="直線コネクタ 113"/>
          <p:cNvCxnSpPr/>
          <p:nvPr/>
        </p:nvCxnSpPr>
        <p:spPr>
          <a:xfrm flipH="1" flipV="1">
            <a:off x="6012000" y="5544000"/>
            <a:ext cx="0" cy="216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83" name="正方形/長方形 82"/>
          <p:cNvSpPr/>
          <p:nvPr/>
        </p:nvSpPr>
        <p:spPr>
          <a:xfrm>
            <a:off x="5112000" y="5868000"/>
            <a:ext cx="3888000" cy="576001"/>
          </a:xfrm>
          <a:prstGeom prst="rect">
            <a:avLst/>
          </a:prstGeom>
          <a:noFill/>
          <a:ln w="12700">
            <a:noFill/>
          </a:ln>
        </p:spPr>
        <p:style>
          <a:lnRef idx="3">
            <a:schemeClr val="lt1"/>
          </a:lnRef>
          <a:fillRef idx="1">
            <a:schemeClr val="accent1"/>
          </a:fillRef>
          <a:effectRef idx="1">
            <a:schemeClr val="accent1"/>
          </a:effectRef>
          <a:fontRef idx="minor">
            <a:schemeClr val="lt1"/>
          </a:fontRef>
        </p:style>
        <p:txBody>
          <a:bodyPr lIns="36000" tIns="36000" rIns="36000" bIns="36000" rtlCol="0" anchor="b" anchorCtr="0"/>
          <a:lstStyle/>
          <a:p>
            <a:pPr marL="171450" indent="-171450">
              <a:buFont typeface="游ゴシック" panose="020B0400000000000000" pitchFamily="50" charset="-128"/>
              <a:buChar char="※"/>
            </a:pPr>
            <a:r>
              <a:rPr lang="en-US" altLang="ja-JP" sz="1200" dirty="0">
                <a:solidFill>
                  <a:schemeClr val="tx1"/>
                </a:solidFill>
                <a:latin typeface="游ゴシック" panose="020B0400000000000000" pitchFamily="50" charset="-128"/>
                <a:ea typeface="游ゴシック" panose="020B0400000000000000" pitchFamily="50" charset="-128"/>
              </a:rPr>
              <a:t>OS</a:t>
            </a:r>
            <a:r>
              <a:rPr lang="ja-JP" altLang="en-US" sz="1200" dirty="0">
                <a:solidFill>
                  <a:schemeClr val="tx1"/>
                </a:solidFill>
                <a:latin typeface="游ゴシック" panose="020B0400000000000000" pitchFamily="50" charset="-128"/>
                <a:ea typeface="游ゴシック" panose="020B0400000000000000" pitchFamily="50" charset="-128"/>
              </a:rPr>
              <a:t>およびミドルウェアのバージョンにつきまして、貴社方針と異なる場合は貴社方針に従います。</a:t>
            </a:r>
            <a:endParaRPr lang="en-US" altLang="ja-JP" sz="1200" dirty="0">
              <a:solidFill>
                <a:schemeClr val="tx1"/>
              </a:solidFill>
              <a:latin typeface="游ゴシック" panose="020B0400000000000000" pitchFamily="50" charset="-128"/>
              <a:ea typeface="游ゴシック" panose="020B0400000000000000" pitchFamily="50" charset="-128"/>
            </a:endParaRPr>
          </a:p>
        </p:txBody>
      </p:sp>
      <p:grpSp>
        <p:nvGrpSpPr>
          <p:cNvPr id="24" name="グループ化 23"/>
          <p:cNvGrpSpPr/>
          <p:nvPr/>
        </p:nvGrpSpPr>
        <p:grpSpPr>
          <a:xfrm>
            <a:off x="1296000" y="1944000"/>
            <a:ext cx="4176000" cy="540000"/>
            <a:chOff x="1224000" y="1944000"/>
            <a:chExt cx="4176000" cy="540000"/>
          </a:xfrm>
        </p:grpSpPr>
        <p:sp>
          <p:nvSpPr>
            <p:cNvPr id="7" name="角丸四角形 6"/>
            <p:cNvSpPr/>
            <p:nvPr/>
          </p:nvSpPr>
          <p:spPr>
            <a:xfrm>
              <a:off x="1224000" y="1944000"/>
              <a:ext cx="4176000" cy="540000"/>
            </a:xfrm>
            <a:prstGeom prst="roundRect">
              <a:avLst>
                <a:gd name="adj" fmla="val 11759"/>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72000" rtlCol="0" anchor="t" anchorCtr="0"/>
            <a:lstStyle/>
            <a:p>
              <a:r>
                <a:rPr lang="ja-JP" altLang="en-US" sz="1400" b="1" dirty="0">
                  <a:solidFill>
                    <a:schemeClr val="tx1"/>
                  </a:solidFill>
                  <a:latin typeface="游ゴシック" panose="020B0400000000000000" pitchFamily="50" charset="-128"/>
                  <a:ea typeface="游ゴシック" panose="020B0400000000000000" pitchFamily="50" charset="-128"/>
                </a:rPr>
                <a:t>通信ｻｰﾊﾞ</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lang="en-US" altLang="ja-JP" sz="1200" b="1" dirty="0">
                  <a:solidFill>
                    <a:srgbClr val="FF0000"/>
                  </a:solidFill>
                  <a:latin typeface="游ゴシック" panose="020B0400000000000000" pitchFamily="50" charset="-128"/>
                  <a:ea typeface="游ゴシック" panose="020B0400000000000000" pitchFamily="50" charset="-128"/>
                </a:rPr>
                <a:t>Windows Server 2019</a:t>
              </a:r>
              <a:r>
                <a:rPr lang="ja-JP" altLang="en-US" sz="1200" b="1" dirty="0">
                  <a:solidFill>
                    <a:srgbClr val="FF0000"/>
                  </a:solidFill>
                  <a:latin typeface="游ゴシック" panose="020B0400000000000000" pitchFamily="50" charset="-128"/>
                  <a:ea typeface="游ゴシック" panose="020B0400000000000000" pitchFamily="50" charset="-128"/>
                </a:rPr>
                <a:t>　</a:t>
              </a:r>
              <a:r>
                <a:rPr lang="en-US" altLang="ja-JP" sz="1200" b="1" dirty="0">
                  <a:solidFill>
                    <a:srgbClr val="FF0000"/>
                  </a:solidFill>
                  <a:latin typeface="游ゴシック" panose="020B0400000000000000" pitchFamily="50" charset="-128"/>
                  <a:ea typeface="游ゴシック" panose="020B0400000000000000" pitchFamily="50" charset="-128"/>
                </a:rPr>
                <a:t>Operation Manager V16</a:t>
              </a:r>
            </a:p>
          </p:txBody>
        </p:sp>
        <p:pic>
          <p:nvPicPr>
            <p:cNvPr id="15" name="図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4000" y="2016000"/>
              <a:ext cx="218508" cy="396000"/>
            </a:xfrm>
            <a:prstGeom prst="rect">
              <a:avLst/>
            </a:prstGeom>
          </p:spPr>
        </p:pic>
      </p:grpSp>
      <p:grpSp>
        <p:nvGrpSpPr>
          <p:cNvPr id="23" name="グループ化 22"/>
          <p:cNvGrpSpPr/>
          <p:nvPr/>
        </p:nvGrpSpPr>
        <p:grpSpPr>
          <a:xfrm>
            <a:off x="1296000" y="2556000"/>
            <a:ext cx="4176000" cy="540000"/>
            <a:chOff x="1224000" y="2556000"/>
            <a:chExt cx="4176000" cy="540000"/>
          </a:xfrm>
        </p:grpSpPr>
        <p:sp>
          <p:nvSpPr>
            <p:cNvPr id="70" name="角丸四角形 69"/>
            <p:cNvSpPr/>
            <p:nvPr/>
          </p:nvSpPr>
          <p:spPr>
            <a:xfrm>
              <a:off x="1224000" y="2556000"/>
              <a:ext cx="4176000" cy="540000"/>
            </a:xfrm>
            <a:prstGeom prst="roundRect">
              <a:avLst>
                <a:gd name="adj" fmla="val 11759"/>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504000" tIns="72000" rIns="72000" rtlCol="0" anchor="t" anchorCtr="0"/>
            <a:lstStyle/>
            <a:p>
              <a:r>
                <a:rPr lang="ja-JP" altLang="en-US" sz="1400" b="1" dirty="0">
                  <a:solidFill>
                    <a:srgbClr val="FF0000"/>
                  </a:solidFill>
                  <a:latin typeface="游ゴシック" panose="020B0400000000000000" pitchFamily="50" charset="-128"/>
                  <a:ea typeface="游ゴシック" panose="020B0400000000000000" pitchFamily="50" charset="-128"/>
                </a:rPr>
                <a:t>通信ｻｰﾊﾞ</a:t>
              </a:r>
              <a:r>
                <a:rPr lang="en-US" altLang="ja-JP" sz="1400" b="1" dirty="0">
                  <a:solidFill>
                    <a:srgbClr val="FF0000"/>
                  </a:solidFill>
                  <a:latin typeface="游ゴシック" panose="020B0400000000000000" pitchFamily="50" charset="-128"/>
                  <a:ea typeface="游ゴシック" panose="020B0400000000000000" pitchFamily="50" charset="-128"/>
                </a:rPr>
                <a:t>(</a:t>
              </a:r>
              <a:r>
                <a:rPr lang="ja-JP" altLang="en-US" sz="1400" b="1" dirty="0">
                  <a:solidFill>
                    <a:srgbClr val="FF0000"/>
                  </a:solidFill>
                  <a:latin typeface="游ゴシック" panose="020B0400000000000000" pitchFamily="50" charset="-128"/>
                  <a:ea typeface="游ゴシック" panose="020B0400000000000000" pitchFamily="50" charset="-128"/>
                </a:rPr>
                <a:t>待機系</a:t>
              </a:r>
              <a:r>
                <a:rPr lang="en-US" altLang="ja-JP" sz="1400" b="1" dirty="0">
                  <a:solidFill>
                    <a:srgbClr val="FF0000"/>
                  </a:solidFill>
                  <a:latin typeface="游ゴシック" panose="020B0400000000000000" pitchFamily="50" charset="-128"/>
                  <a:ea typeface="游ゴシック" panose="020B0400000000000000" pitchFamily="50" charset="-128"/>
                </a:rPr>
                <a:t>)</a:t>
              </a:r>
              <a:endParaRPr kumimoji="1" lang="en-US" altLang="ja-JP" sz="1400" b="1" dirty="0">
                <a:solidFill>
                  <a:srgbClr val="FF0000"/>
                </a:solidFill>
                <a:latin typeface="游ゴシック" panose="020B0400000000000000" pitchFamily="50" charset="-128"/>
                <a:ea typeface="游ゴシック" panose="020B0400000000000000" pitchFamily="50" charset="-128"/>
              </a:endParaRPr>
            </a:p>
            <a:p>
              <a:r>
                <a:rPr lang="en-US" altLang="ja-JP" sz="1200" b="1" dirty="0">
                  <a:solidFill>
                    <a:srgbClr val="FF0000"/>
                  </a:solidFill>
                  <a:latin typeface="游ゴシック" panose="020B0400000000000000" pitchFamily="50" charset="-128"/>
                  <a:ea typeface="游ゴシック" panose="020B0400000000000000" pitchFamily="50" charset="-128"/>
                </a:rPr>
                <a:t>Windows Server 2019</a:t>
              </a:r>
              <a:r>
                <a:rPr lang="ja-JP" altLang="en-US" sz="1200" b="1" dirty="0">
                  <a:solidFill>
                    <a:srgbClr val="FF0000"/>
                  </a:solidFill>
                  <a:latin typeface="游ゴシック" panose="020B0400000000000000" pitchFamily="50" charset="-128"/>
                  <a:ea typeface="游ゴシック" panose="020B0400000000000000" pitchFamily="50" charset="-128"/>
                </a:rPr>
                <a:t>　</a:t>
              </a:r>
              <a:r>
                <a:rPr lang="en-US" altLang="ja-JP" sz="1200" b="1" dirty="0">
                  <a:solidFill>
                    <a:srgbClr val="FF0000"/>
                  </a:solidFill>
                  <a:latin typeface="游ゴシック" panose="020B0400000000000000" pitchFamily="50" charset="-128"/>
                  <a:ea typeface="游ゴシック" panose="020B0400000000000000" pitchFamily="50" charset="-128"/>
                </a:rPr>
                <a:t>Operation Manager V16</a:t>
              </a:r>
            </a:p>
          </p:txBody>
        </p:sp>
        <p:pic>
          <p:nvPicPr>
            <p:cNvPr id="71" name="図 70"/>
            <p:cNvPicPr>
              <a:picLocks noChangeAspect="1"/>
            </p:cNvPicPr>
            <p:nvPr/>
          </p:nvPicPr>
          <p:blipFill>
            <a:blip r:embed="rId3" cstate="print">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404000" y="2628000"/>
              <a:ext cx="218508" cy="396000"/>
            </a:xfrm>
            <a:prstGeom prst="rect">
              <a:avLst/>
            </a:prstGeom>
          </p:spPr>
        </p:pic>
      </p:grpSp>
      <p:cxnSp>
        <p:nvCxnSpPr>
          <p:cNvPr id="75" name="直線コネクタ 74"/>
          <p:cNvCxnSpPr/>
          <p:nvPr/>
        </p:nvCxnSpPr>
        <p:spPr>
          <a:xfrm flipH="1" flipV="1">
            <a:off x="1152000" y="2196000"/>
            <a:ext cx="0" cy="612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6" name="直線コネクタ 75"/>
          <p:cNvCxnSpPr/>
          <p:nvPr/>
        </p:nvCxnSpPr>
        <p:spPr>
          <a:xfrm flipH="1" flipV="1">
            <a:off x="1152000" y="2196000"/>
            <a:ext cx="144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7" name="直線コネクタ 76"/>
          <p:cNvCxnSpPr/>
          <p:nvPr/>
        </p:nvCxnSpPr>
        <p:spPr>
          <a:xfrm flipH="1" flipV="1">
            <a:off x="1152000" y="2808000"/>
            <a:ext cx="144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直線コネクタ 77"/>
          <p:cNvCxnSpPr/>
          <p:nvPr/>
        </p:nvCxnSpPr>
        <p:spPr>
          <a:xfrm flipH="1" flipV="1">
            <a:off x="5688000" y="2232000"/>
            <a:ext cx="144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9" name="直線コネクタ 78"/>
          <p:cNvCxnSpPr/>
          <p:nvPr/>
        </p:nvCxnSpPr>
        <p:spPr>
          <a:xfrm flipH="1" flipV="1">
            <a:off x="5688000" y="2808000"/>
            <a:ext cx="144000"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4" name="直線コネクタ 83"/>
          <p:cNvCxnSpPr/>
          <p:nvPr/>
        </p:nvCxnSpPr>
        <p:spPr>
          <a:xfrm flipH="1" flipV="1">
            <a:off x="5688000" y="2232000"/>
            <a:ext cx="0" cy="100800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86" name="線吹き出し 1 (枠付き) 85"/>
          <p:cNvSpPr/>
          <p:nvPr/>
        </p:nvSpPr>
        <p:spPr>
          <a:xfrm flipH="1">
            <a:off x="4104000" y="1403999"/>
            <a:ext cx="2664000" cy="432000"/>
          </a:xfrm>
          <a:prstGeom prst="borderCallout1">
            <a:avLst>
              <a:gd name="adj1" fmla="val 48862"/>
              <a:gd name="adj2" fmla="val 99958"/>
              <a:gd name="adj3" fmla="val 265992"/>
              <a:gd name="adj4" fmla="val 130906"/>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r>
              <a:rPr lang="ja-JP" altLang="en-US" sz="1200" dirty="0">
                <a:solidFill>
                  <a:schemeClr val="tx1"/>
                </a:solidFill>
                <a:latin typeface="游ゴシック" panose="020B0400000000000000" pitchFamily="50" charset="-128"/>
                <a:ea typeface="游ゴシック" panose="020B0400000000000000" pitchFamily="50" charset="-128"/>
              </a:rPr>
              <a:t>通信サーバの待機系を用意頂くことを想定しております。</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80677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角丸四角形 116"/>
          <p:cNvSpPr/>
          <p:nvPr/>
        </p:nvSpPr>
        <p:spPr>
          <a:xfrm>
            <a:off x="2484000" y="3600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添加剤ロット</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管理システム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62" name="角丸四角形 61"/>
          <p:cNvSpPr/>
          <p:nvPr/>
        </p:nvSpPr>
        <p:spPr>
          <a:xfrm>
            <a:off x="4104000" y="3600000"/>
            <a:ext cx="1656000" cy="1296000"/>
          </a:xfrm>
          <a:prstGeom prst="roundRect">
            <a:avLst>
              <a:gd name="adj" fmla="val 4900"/>
            </a:avLst>
          </a:prstGeom>
          <a:solidFill>
            <a:schemeClr val="accent2"/>
          </a:solidFill>
          <a:ln w="9525">
            <a:solidFill>
              <a:schemeClr val="accent2"/>
            </a:solidFill>
          </a:ln>
        </p:spPr>
        <p:style>
          <a:lnRef idx="3">
            <a:schemeClr val="lt1"/>
          </a:lnRef>
          <a:fillRef idx="1">
            <a:schemeClr val="accent1"/>
          </a:fillRef>
          <a:effectRef idx="1">
            <a:schemeClr val="accent1"/>
          </a:effectRef>
          <a:fontRef idx="minor">
            <a:schemeClr val="lt1"/>
          </a:fontRef>
        </p:style>
        <p:txBody>
          <a:bodyPr wrap="none" lIns="36000" rIns="36000" rtlCol="0" anchor="ctr" anchorCtr="0"/>
          <a:lstStyle/>
          <a:p>
            <a:pPr algn="ctr" latinLnBrk="1"/>
            <a:r>
              <a:rPr kumimoji="1" lang="ja-JP" altLang="en-US" sz="1600" b="1" dirty="0">
                <a:solidFill>
                  <a:schemeClr val="bg1"/>
                </a:solidFill>
                <a:latin typeface="游ゴシック" panose="020B0400000000000000" pitchFamily="50" charset="-128"/>
                <a:ea typeface="游ゴシック" panose="020B0400000000000000" pitchFamily="50" charset="-128"/>
              </a:rPr>
              <a:t>千葉運転管理</a:t>
            </a:r>
            <a:endParaRPr kumimoji="1" lang="en-US" altLang="ja-JP" sz="1600" b="1" dirty="0">
              <a:solidFill>
                <a:schemeClr val="bg1"/>
              </a:solidFill>
              <a:latin typeface="游ゴシック" panose="020B0400000000000000" pitchFamily="50" charset="-128"/>
              <a:ea typeface="游ゴシック" panose="020B0400000000000000" pitchFamily="50" charset="-128"/>
            </a:endParaRPr>
          </a:p>
          <a:p>
            <a:pPr algn="ctr" latinLnBrk="1"/>
            <a:r>
              <a:rPr kumimoji="1" lang="ja-JP" altLang="en-US" sz="1600" b="1" dirty="0">
                <a:solidFill>
                  <a:schemeClr val="bg1"/>
                </a:solidFill>
                <a:latin typeface="游ゴシック" panose="020B0400000000000000" pitchFamily="50" charset="-128"/>
                <a:ea typeface="游ゴシック" panose="020B0400000000000000" pitchFamily="50" charset="-128"/>
              </a:rPr>
              <a:t>システム</a:t>
            </a:r>
          </a:p>
        </p:txBody>
      </p:sp>
      <p:sp>
        <p:nvSpPr>
          <p:cNvPr id="2" name="タイトル 1"/>
          <p:cNvSpPr>
            <a:spLocks noGrp="1"/>
          </p:cNvSpPr>
          <p:nvPr>
            <p:ph type="title"/>
          </p:nvPr>
        </p:nvSpPr>
        <p:spPr/>
        <p:txBody>
          <a:bodyPr/>
          <a:lstStyle/>
          <a:p>
            <a:r>
              <a:rPr lang="ja-JP" altLang="en-US" dirty="0"/>
              <a:t>システム配置</a:t>
            </a:r>
            <a:r>
              <a:rPr kumimoji="1" lang="ja-JP" altLang="en-US" dirty="0"/>
              <a:t>（</a:t>
            </a:r>
            <a:r>
              <a:rPr lang="en-US" altLang="ja-JP" dirty="0" err="1"/>
              <a:t>ToBe</a:t>
            </a:r>
            <a:r>
              <a:rPr kumimoji="1" lang="ja-JP" altLang="en-US" dirty="0"/>
              <a:t>）</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19</a:t>
            </a:fld>
            <a:endParaRPr kumimoji="1" lang="ja-JP" altLang="en-US"/>
          </a:p>
        </p:txBody>
      </p:sp>
      <p:sp>
        <p:nvSpPr>
          <p:cNvPr id="6" name="角丸四角形 5"/>
          <p:cNvSpPr/>
          <p:nvPr/>
        </p:nvSpPr>
        <p:spPr>
          <a:xfrm>
            <a:off x="864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200" dirty="0">
                <a:solidFill>
                  <a:schemeClr val="bg1"/>
                </a:solidFill>
                <a:latin typeface="游ゴシック" panose="020B0400000000000000" pitchFamily="50" charset="-128"/>
                <a:ea typeface="游ゴシック" panose="020B0400000000000000" pitchFamily="50" charset="-128"/>
              </a:rPr>
              <a:t>ETS-R</a:t>
            </a:r>
          </a:p>
          <a:p>
            <a:pPr algn="ctr"/>
            <a:r>
              <a:rPr kumimoji="1" lang="en-US" altLang="ja-JP" sz="1200" dirty="0">
                <a:solidFill>
                  <a:schemeClr val="bg1"/>
                </a:solidFill>
                <a:latin typeface="游ゴシック" panose="020B0400000000000000" pitchFamily="50" charset="-128"/>
                <a:ea typeface="游ゴシック" panose="020B0400000000000000" pitchFamily="50" charset="-128"/>
              </a:rPr>
              <a:t>(</a:t>
            </a:r>
            <a:r>
              <a:rPr lang="ja-JP" altLang="en-US" sz="1200" dirty="0">
                <a:solidFill>
                  <a:schemeClr val="bg1"/>
                </a:solidFill>
                <a:latin typeface="游ゴシック" panose="020B0400000000000000" pitchFamily="50" charset="-128"/>
                <a:ea typeface="游ゴシック" panose="020B0400000000000000" pitchFamily="50" charset="-128"/>
              </a:rPr>
              <a:t>運転管理</a:t>
            </a:r>
            <a:r>
              <a:rPr kumimoji="1" lang="en-US" altLang="ja-JP" sz="1200" dirty="0">
                <a:solidFill>
                  <a:schemeClr val="bg1"/>
                </a:solidFill>
                <a:latin typeface="游ゴシック" panose="020B0400000000000000" pitchFamily="50" charset="-128"/>
                <a:ea typeface="游ゴシック" panose="020B0400000000000000" pitchFamily="50" charset="-128"/>
              </a:rPr>
              <a:t>)</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9" name="テキスト ボックス 8"/>
          <p:cNvSpPr txBox="1"/>
          <p:nvPr/>
        </p:nvSpPr>
        <p:spPr>
          <a:xfrm>
            <a:off x="5832000" y="864000"/>
            <a:ext cx="3168000" cy="1008000"/>
          </a:xfrm>
          <a:prstGeom prst="rect">
            <a:avLst/>
          </a:prstGeom>
          <a:noFill/>
        </p:spPr>
        <p:txBody>
          <a:bodyPr wrap="square" rtlCol="0" anchor="t">
            <a:noAutofit/>
          </a:bodyPr>
          <a:lstStyle/>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各システムが配置されているレベルは現段階での弊社による想定</a:t>
            </a:r>
            <a:r>
              <a:rPr kumimoji="1" lang="ja-JP" altLang="en-US" sz="1200" dirty="0">
                <a:latin typeface="游ゴシック" panose="020B0400000000000000" pitchFamily="50" charset="-128"/>
                <a:ea typeface="游ゴシック" panose="020B0400000000000000" pitchFamily="50" charset="-128"/>
              </a:rPr>
              <a:t>です。プロジェクト開始後に改めて確認いたします。</a:t>
            </a:r>
          </a:p>
        </p:txBody>
      </p:sp>
      <p:sp>
        <p:nvSpPr>
          <p:cNvPr id="10" name="正方形/長方形 9"/>
          <p:cNvSpPr/>
          <p:nvPr/>
        </p:nvSpPr>
        <p:spPr>
          <a:xfrm>
            <a:off x="504000" y="5796000"/>
            <a:ext cx="288000" cy="540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a:latin typeface="游ゴシック" panose="020B0400000000000000" pitchFamily="50" charset="-128"/>
                <a:ea typeface="游ゴシック" panose="020B0400000000000000" pitchFamily="50" charset="-128"/>
              </a:rPr>
              <a:t>L2</a:t>
            </a:r>
            <a:endParaRPr kumimoji="1" lang="ja-JP" altLang="en-US" sz="1400" b="1" dirty="0">
              <a:latin typeface="游ゴシック" panose="020B0400000000000000" pitchFamily="50" charset="-128"/>
              <a:ea typeface="游ゴシック" panose="020B0400000000000000" pitchFamily="50" charset="-128"/>
            </a:endParaRPr>
          </a:p>
        </p:txBody>
      </p:sp>
      <p:sp>
        <p:nvSpPr>
          <p:cNvPr id="11" name="正方形/長方形 10"/>
          <p:cNvSpPr/>
          <p:nvPr/>
        </p:nvSpPr>
        <p:spPr>
          <a:xfrm>
            <a:off x="504000" y="5076000"/>
            <a:ext cx="288000" cy="648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wrap="none" lIns="36000" rIns="36000" rtlCol="0" anchor="ctr"/>
          <a:lstStyle/>
          <a:p>
            <a:pPr algn="ctr"/>
            <a:r>
              <a:rPr lang="en-US" altLang="ja-JP" sz="1400" b="1" dirty="0">
                <a:latin typeface="游ゴシック" panose="020B0400000000000000" pitchFamily="50" charset="-128"/>
                <a:ea typeface="游ゴシック" panose="020B0400000000000000" pitchFamily="50" charset="-128"/>
              </a:rPr>
              <a:t>L2.5</a:t>
            </a:r>
            <a:endParaRPr kumimoji="1" lang="ja-JP" altLang="en-US" sz="1400" b="1" dirty="0">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504000" y="3492000"/>
            <a:ext cx="288000" cy="1512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a:latin typeface="游ゴシック" panose="020B0400000000000000" pitchFamily="50" charset="-128"/>
                <a:ea typeface="游ゴシック" panose="020B0400000000000000" pitchFamily="50" charset="-128"/>
              </a:rPr>
              <a:t>L3</a:t>
            </a:r>
            <a:endParaRPr kumimoji="1" lang="ja-JP" altLang="en-US" sz="1400" b="1" dirty="0">
              <a:latin typeface="游ゴシック" panose="020B0400000000000000" pitchFamily="50" charset="-128"/>
              <a:ea typeface="游ゴシック" panose="020B0400000000000000" pitchFamily="50" charset="-128"/>
            </a:endParaRPr>
          </a:p>
        </p:txBody>
      </p:sp>
      <p:sp>
        <p:nvSpPr>
          <p:cNvPr id="13" name="正方形/長方形 12"/>
          <p:cNvSpPr/>
          <p:nvPr/>
        </p:nvSpPr>
        <p:spPr>
          <a:xfrm>
            <a:off x="504000" y="2772000"/>
            <a:ext cx="288000" cy="648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wrap="none" rtlCol="0" anchor="ctr"/>
          <a:lstStyle/>
          <a:p>
            <a:pPr algn="ctr"/>
            <a:r>
              <a:rPr lang="en-US" altLang="ja-JP" sz="1400" b="1" dirty="0">
                <a:latin typeface="游ゴシック" panose="020B0400000000000000" pitchFamily="50" charset="-128"/>
                <a:ea typeface="游ゴシック" panose="020B0400000000000000" pitchFamily="50" charset="-128"/>
              </a:rPr>
              <a:t>L3.5</a:t>
            </a:r>
            <a:endParaRPr kumimoji="1" lang="ja-JP" altLang="en-US" sz="1400" b="1" dirty="0">
              <a:latin typeface="游ゴシック" panose="020B0400000000000000" pitchFamily="50" charset="-128"/>
              <a:ea typeface="游ゴシック" panose="020B0400000000000000" pitchFamily="50" charset="-128"/>
            </a:endParaRPr>
          </a:p>
        </p:txBody>
      </p:sp>
      <p:cxnSp>
        <p:nvCxnSpPr>
          <p:cNvPr id="14" name="直線コネクタ 13"/>
          <p:cNvCxnSpPr/>
          <p:nvPr/>
        </p:nvCxnSpPr>
        <p:spPr>
          <a:xfrm>
            <a:off x="503999" y="2736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03999" y="3456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03999" y="5040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a:off x="503999" y="5760000"/>
            <a:ext cx="8496000" cy="0"/>
          </a:xfrm>
          <a:prstGeom prst="line">
            <a:avLst/>
          </a:prstGeom>
          <a:ln w="12700">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p:nvPr/>
        </p:nvCxnSpPr>
        <p:spPr>
          <a:xfrm>
            <a:off x="144000" y="2016000"/>
            <a:ext cx="8856000" cy="0"/>
          </a:xfrm>
          <a:prstGeom prst="line">
            <a:avLst/>
          </a:prstGeom>
          <a:ln w="12700">
            <a:solidFill>
              <a:srgbClr val="A01D45"/>
            </a:solidFill>
            <a:prstDash val="solid"/>
          </a:ln>
        </p:spPr>
        <p:style>
          <a:lnRef idx="1">
            <a:schemeClr val="accent1"/>
          </a:lnRef>
          <a:fillRef idx="0">
            <a:schemeClr val="accent1"/>
          </a:fillRef>
          <a:effectRef idx="0">
            <a:schemeClr val="accent1"/>
          </a:effectRef>
          <a:fontRef idx="minor">
            <a:schemeClr val="tx1"/>
          </a:fontRef>
        </p:style>
      </p:cxnSp>
      <p:sp>
        <p:nvSpPr>
          <p:cNvPr id="19" name="正方形/長方形 18"/>
          <p:cNvSpPr/>
          <p:nvPr/>
        </p:nvSpPr>
        <p:spPr>
          <a:xfrm>
            <a:off x="144000" y="864000"/>
            <a:ext cx="288000" cy="1116000"/>
          </a:xfrm>
          <a:prstGeom prst="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vert="vert" wrap="none" rtlCol="0" anchor="ctr"/>
          <a:lstStyle/>
          <a:p>
            <a:pPr algn="ctr"/>
            <a:r>
              <a:rPr lang="ja-JP" altLang="en-US" sz="1400" b="1" dirty="0">
                <a:latin typeface="游ゴシック" panose="020B0400000000000000" pitchFamily="50" charset="-128"/>
                <a:ea typeface="游ゴシック" panose="020B0400000000000000" pitchFamily="50" charset="-128"/>
              </a:rPr>
              <a:t>館林</a:t>
            </a:r>
            <a:r>
              <a:rPr lang="en-US" altLang="ja-JP" sz="1400" b="1" dirty="0">
                <a:latin typeface="游ゴシック" panose="020B0400000000000000" pitchFamily="50" charset="-128"/>
                <a:ea typeface="游ゴシック" panose="020B0400000000000000" pitchFamily="50" charset="-128"/>
              </a:rPr>
              <a:t>DC</a:t>
            </a:r>
            <a:endParaRPr kumimoji="1" lang="ja-JP" altLang="en-US" sz="1400" b="1" dirty="0">
              <a:latin typeface="游ゴシック" panose="020B0400000000000000" pitchFamily="50" charset="-128"/>
              <a:ea typeface="游ゴシック" panose="020B0400000000000000" pitchFamily="50" charset="-128"/>
            </a:endParaRPr>
          </a:p>
        </p:txBody>
      </p:sp>
      <p:sp>
        <p:nvSpPr>
          <p:cNvPr id="20" name="正方形/長方形 19"/>
          <p:cNvSpPr/>
          <p:nvPr/>
        </p:nvSpPr>
        <p:spPr>
          <a:xfrm>
            <a:off x="144000" y="2052000"/>
            <a:ext cx="288000" cy="4284000"/>
          </a:xfrm>
          <a:prstGeom prst="rect">
            <a:avLst/>
          </a:prstGeom>
          <a:solidFill>
            <a:schemeClr val="accent3">
              <a:lumMod val="50000"/>
            </a:schemeClr>
          </a:solidFill>
          <a:ln>
            <a:solidFill>
              <a:schemeClr val="accent3">
                <a:lumMod val="50000"/>
              </a:schemeClr>
            </a:solid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ja-JP" altLang="en-US" sz="1400" b="1" dirty="0">
                <a:latin typeface="游ゴシック" panose="020B0400000000000000" pitchFamily="50" charset="-128"/>
                <a:ea typeface="游ゴシック" panose="020B0400000000000000" pitchFamily="50" charset="-128"/>
              </a:rPr>
              <a:t>千葉事業所</a:t>
            </a:r>
            <a:endParaRPr kumimoji="1" lang="ja-JP" altLang="en-US" sz="1400" b="1" dirty="0">
              <a:latin typeface="游ゴシック" panose="020B0400000000000000" pitchFamily="50" charset="-128"/>
              <a:ea typeface="游ゴシック" panose="020B0400000000000000" pitchFamily="50" charset="-128"/>
            </a:endParaRPr>
          </a:p>
        </p:txBody>
      </p:sp>
      <p:sp>
        <p:nvSpPr>
          <p:cNvPr id="21" name="正方形/長方形 20"/>
          <p:cNvSpPr/>
          <p:nvPr/>
        </p:nvSpPr>
        <p:spPr>
          <a:xfrm>
            <a:off x="504000" y="864000"/>
            <a:ext cx="288000" cy="1836000"/>
          </a:xfrm>
          <a:prstGeom prst="rect">
            <a:avLst/>
          </a:prstGeom>
          <a:solidFill>
            <a:schemeClr val="accent3"/>
          </a:solidFill>
          <a:ln>
            <a:noFill/>
          </a:ln>
        </p:spPr>
        <p:style>
          <a:lnRef idx="3">
            <a:schemeClr val="lt1"/>
          </a:lnRef>
          <a:fillRef idx="1">
            <a:schemeClr val="accent1"/>
          </a:fillRef>
          <a:effectRef idx="1">
            <a:schemeClr val="accent1"/>
          </a:effectRef>
          <a:fontRef idx="minor">
            <a:schemeClr val="lt1"/>
          </a:fontRef>
        </p:style>
        <p:txBody>
          <a:bodyPr vert="vert" rtlCol="0" anchor="ctr"/>
          <a:lstStyle/>
          <a:p>
            <a:pPr algn="ctr"/>
            <a:r>
              <a:rPr lang="en-US" altLang="ja-JP" sz="1400" b="1" dirty="0">
                <a:latin typeface="游ゴシック" panose="020B0400000000000000" pitchFamily="50" charset="-128"/>
                <a:ea typeface="游ゴシック" panose="020B0400000000000000" pitchFamily="50" charset="-128"/>
              </a:rPr>
              <a:t>L4</a:t>
            </a:r>
            <a:endParaRPr kumimoji="1" lang="ja-JP" altLang="en-US" sz="1400" b="1" dirty="0">
              <a:latin typeface="游ゴシック" panose="020B0400000000000000" pitchFamily="50" charset="-128"/>
              <a:ea typeface="游ゴシック" panose="020B0400000000000000" pitchFamily="50" charset="-128"/>
            </a:endParaRPr>
          </a:p>
        </p:txBody>
      </p:sp>
      <p:sp>
        <p:nvSpPr>
          <p:cNvPr id="66" name="角丸四角形 65"/>
          <p:cNvSpPr/>
          <p:nvPr/>
        </p:nvSpPr>
        <p:spPr>
          <a:xfrm>
            <a:off x="4212000" y="8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200" dirty="0" err="1">
                <a:solidFill>
                  <a:schemeClr val="bg1"/>
                </a:solidFill>
                <a:latin typeface="游ゴシック" panose="020B0400000000000000" pitchFamily="50" charset="-128"/>
                <a:ea typeface="游ゴシック" panose="020B0400000000000000" pitchFamily="50" charset="-128"/>
              </a:rPr>
              <a:t>OneSAP</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cxnSp>
        <p:nvCxnSpPr>
          <p:cNvPr id="91" name="カギ線コネクタ 90"/>
          <p:cNvCxnSpPr>
            <a:endCxn id="117" idx="2"/>
          </p:cNvCxnSpPr>
          <p:nvPr/>
        </p:nvCxnSpPr>
        <p:spPr>
          <a:xfrm rot="10800000">
            <a:off x="3204000" y="4032000"/>
            <a:ext cx="900000" cy="144000"/>
          </a:xfrm>
          <a:prstGeom prst="bentConnector2">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54" name="グループ化 153"/>
          <p:cNvGrpSpPr/>
          <p:nvPr/>
        </p:nvGrpSpPr>
        <p:grpSpPr>
          <a:xfrm>
            <a:off x="7055999" y="2088000"/>
            <a:ext cx="1944000" cy="307777"/>
            <a:chOff x="7056000" y="5796000"/>
            <a:chExt cx="1944000" cy="307777"/>
          </a:xfrm>
        </p:grpSpPr>
        <p:sp>
          <p:nvSpPr>
            <p:cNvPr id="92" name="正方形/長方形 91"/>
            <p:cNvSpPr/>
            <p:nvPr/>
          </p:nvSpPr>
          <p:spPr>
            <a:xfrm>
              <a:off x="7056000" y="5832000"/>
              <a:ext cx="360000" cy="216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endParaRPr kumimoji="1" lang="ja-JP" altLang="en-US" sz="1200" b="1" dirty="0">
                <a:solidFill>
                  <a:schemeClr val="tx1"/>
                </a:solidFill>
                <a:latin typeface="游ゴシック" panose="020B0400000000000000" pitchFamily="50" charset="-128"/>
                <a:ea typeface="游ゴシック" panose="020B0400000000000000" pitchFamily="50" charset="-128"/>
              </a:endParaRPr>
            </a:p>
          </p:txBody>
        </p:sp>
        <p:sp>
          <p:nvSpPr>
            <p:cNvPr id="93" name="テキスト ボックス 92"/>
            <p:cNvSpPr txBox="1"/>
            <p:nvPr/>
          </p:nvSpPr>
          <p:spPr>
            <a:xfrm>
              <a:off x="7380000" y="5796000"/>
              <a:ext cx="1620000" cy="307777"/>
            </a:xfrm>
            <a:prstGeom prst="rect">
              <a:avLst/>
            </a:prstGeom>
            <a:noFill/>
          </p:spPr>
          <p:txBody>
            <a:bodyPr wrap="none" rtlCol="0">
              <a:noAutofit/>
            </a:bodyPr>
            <a:lstStyle/>
            <a:p>
              <a:r>
                <a:rPr kumimoji="1" lang="ja-JP" altLang="en-US" sz="1400" dirty="0">
                  <a:latin typeface="游ゴシック" panose="020B0400000000000000" pitchFamily="50" charset="-128"/>
                  <a:ea typeface="游ゴシック" panose="020B0400000000000000" pitchFamily="50" charset="-128"/>
                </a:rPr>
                <a:t>本提案の対象範囲</a:t>
              </a:r>
            </a:p>
          </p:txBody>
        </p:sp>
      </p:grpSp>
      <p:sp>
        <p:nvSpPr>
          <p:cNvPr id="112" name="角丸四角形 111"/>
          <p:cNvSpPr/>
          <p:nvPr/>
        </p:nvSpPr>
        <p:spPr>
          <a:xfrm>
            <a:off x="7560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自動倉庫</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115" name="角丸四角形 114"/>
          <p:cNvSpPr/>
          <p:nvPr/>
        </p:nvSpPr>
        <p:spPr>
          <a:xfrm>
            <a:off x="7560000" y="3600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充填管理</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sp>
        <p:nvSpPr>
          <p:cNvPr id="116" name="角丸四角形 115"/>
          <p:cNvSpPr/>
          <p:nvPr/>
        </p:nvSpPr>
        <p:spPr>
          <a:xfrm>
            <a:off x="2484000" y="4464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ロット</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追跡システム</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cxnSp>
        <p:nvCxnSpPr>
          <p:cNvPr id="131" name="カギ線コネクタ 130"/>
          <p:cNvCxnSpPr>
            <a:endCxn id="112" idx="0"/>
          </p:cNvCxnSpPr>
          <p:nvPr/>
        </p:nvCxnSpPr>
        <p:spPr>
          <a:xfrm>
            <a:off x="5760000" y="4320000"/>
            <a:ext cx="2520000" cy="14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134" name="カギ線コネクタ 133"/>
          <p:cNvCxnSpPr>
            <a:endCxn id="115" idx="2"/>
          </p:cNvCxnSpPr>
          <p:nvPr/>
        </p:nvCxnSpPr>
        <p:spPr>
          <a:xfrm flipV="1">
            <a:off x="5760000" y="4032000"/>
            <a:ext cx="2520000" cy="144000"/>
          </a:xfrm>
          <a:prstGeom prst="bentConnector2">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04" name="直線矢印コネクタ 203"/>
          <p:cNvCxnSpPr/>
          <p:nvPr/>
        </p:nvCxnSpPr>
        <p:spPr>
          <a:xfrm flipH="1">
            <a:off x="1584000" y="4896000"/>
            <a:ext cx="0" cy="1008000"/>
          </a:xfrm>
          <a:prstGeom prst="straightConnector1">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9" name="角丸四角形 68"/>
          <p:cNvSpPr/>
          <p:nvPr/>
        </p:nvSpPr>
        <p:spPr>
          <a:xfrm>
            <a:off x="864000" y="5184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en-US" altLang="ja-JP" sz="1200" dirty="0">
                <a:solidFill>
                  <a:schemeClr val="tx1"/>
                </a:solidFill>
                <a:latin typeface="游ゴシック" panose="020B0400000000000000" pitchFamily="50" charset="-128"/>
                <a:ea typeface="游ゴシック" panose="020B0400000000000000" pitchFamily="50" charset="-128"/>
              </a:rPr>
              <a:t>EAI(L2.5)</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cxnSp>
        <p:nvCxnSpPr>
          <p:cNvPr id="210" name="カギ線コネクタ 209"/>
          <p:cNvCxnSpPr>
            <a:endCxn id="116" idx="0"/>
          </p:cNvCxnSpPr>
          <p:nvPr/>
        </p:nvCxnSpPr>
        <p:spPr>
          <a:xfrm rot="10800000" flipV="1">
            <a:off x="3204000" y="4320000"/>
            <a:ext cx="900000" cy="144000"/>
          </a:xfrm>
          <a:prstGeom prst="bentConnector2">
            <a:avLst/>
          </a:prstGeom>
          <a:ln w="28575">
            <a:solidFill>
              <a:schemeClr val="accent3"/>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15" name="カギ線コネクタ 214"/>
          <p:cNvCxnSpPr>
            <a:endCxn id="6" idx="0"/>
          </p:cNvCxnSpPr>
          <p:nvPr/>
        </p:nvCxnSpPr>
        <p:spPr>
          <a:xfrm rot="16200000" flipH="1" flipV="1">
            <a:off x="2754000" y="2430000"/>
            <a:ext cx="864000" cy="3204000"/>
          </a:xfrm>
          <a:prstGeom prst="bentConnector3">
            <a:avLst>
              <a:gd name="adj1" fmla="val -45793"/>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218" name="直線矢印コネクタ 217"/>
          <p:cNvCxnSpPr/>
          <p:nvPr/>
        </p:nvCxnSpPr>
        <p:spPr>
          <a:xfrm>
            <a:off x="5076000" y="1296000"/>
            <a:ext cx="0" cy="2304000"/>
          </a:xfrm>
          <a:prstGeom prst="straightConnector1">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角丸四角形 50"/>
          <p:cNvSpPr/>
          <p:nvPr/>
        </p:nvSpPr>
        <p:spPr>
          <a:xfrm>
            <a:off x="4212000" y="1440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連携基盤</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cxnSp>
        <p:nvCxnSpPr>
          <p:cNvPr id="74" name="カギ線コネクタ 73"/>
          <p:cNvCxnSpPr/>
          <p:nvPr/>
        </p:nvCxnSpPr>
        <p:spPr>
          <a:xfrm>
            <a:off x="5760000" y="4680000"/>
            <a:ext cx="936000" cy="1224000"/>
          </a:xfrm>
          <a:prstGeom prst="bentConnector2">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sp>
        <p:nvSpPr>
          <p:cNvPr id="111" name="角丸四角形 110"/>
          <p:cNvSpPr/>
          <p:nvPr/>
        </p:nvSpPr>
        <p:spPr>
          <a:xfrm>
            <a:off x="5940000" y="4464000"/>
            <a:ext cx="1440000" cy="432000"/>
          </a:xfrm>
          <a:prstGeom prst="roundRect">
            <a:avLst>
              <a:gd name="adj" fmla="val 14699"/>
            </a:avLst>
          </a:prstGeom>
          <a:solidFill>
            <a:srgbClr val="DEEBF7">
              <a:alpha val="50196"/>
            </a:srgbClr>
          </a:solidFill>
          <a:ln>
            <a:solidFill>
              <a:schemeClr val="accent1"/>
            </a:solidFill>
            <a:prstDash val="dash"/>
          </a:ln>
        </p:spPr>
        <p:style>
          <a:lnRef idx="2">
            <a:schemeClr val="accent1"/>
          </a:lnRef>
          <a:fillRef idx="1">
            <a:schemeClr val="lt1"/>
          </a:fillRef>
          <a:effectRef idx="0">
            <a:schemeClr val="accent1"/>
          </a:effectRef>
          <a:fontRef idx="minor">
            <a:schemeClr val="dk1"/>
          </a:fontRef>
        </p:style>
        <p:txBody>
          <a:bodyPr wrap="none" lIns="36000" rIns="36000" rtlCol="0" anchor="ctr"/>
          <a:lstStyle/>
          <a:p>
            <a:pPr algn="ctr"/>
            <a:r>
              <a:rPr lang="ja-JP" altLang="en-US" sz="1200" b="1" dirty="0">
                <a:solidFill>
                  <a:srgbClr val="FF0000"/>
                </a:solidFill>
                <a:latin typeface="游ゴシック" panose="020B0400000000000000" pitchFamily="50" charset="-128"/>
                <a:ea typeface="游ゴシック" panose="020B0400000000000000" pitchFamily="50" charset="-128"/>
              </a:rPr>
              <a:t>制御システム</a:t>
            </a:r>
            <a:endParaRPr lang="en-US" altLang="ja-JP" sz="1200" b="1" dirty="0">
              <a:solidFill>
                <a:srgbClr val="FF0000"/>
              </a:solidFill>
              <a:latin typeface="游ゴシック" panose="020B0400000000000000" pitchFamily="50" charset="-128"/>
              <a:ea typeface="游ゴシック" panose="020B0400000000000000" pitchFamily="50" charset="-128"/>
            </a:endParaRPr>
          </a:p>
          <a:p>
            <a:pPr algn="ctr"/>
            <a:r>
              <a:rPr lang="ja-JP" altLang="en-US" sz="1200" b="1" dirty="0">
                <a:solidFill>
                  <a:srgbClr val="FF0000"/>
                </a:solidFill>
                <a:latin typeface="游ゴシック" panose="020B0400000000000000" pitchFamily="50" charset="-128"/>
                <a:ea typeface="游ゴシック" panose="020B0400000000000000" pitchFamily="50" charset="-128"/>
              </a:rPr>
              <a:t>通信サーバ</a:t>
            </a:r>
            <a:endParaRPr lang="en-US" altLang="ja-JP" sz="1200" b="1" dirty="0">
              <a:solidFill>
                <a:srgbClr val="FF0000"/>
              </a:solidFill>
              <a:latin typeface="游ゴシック" panose="020B0400000000000000" pitchFamily="50" charset="-128"/>
              <a:ea typeface="游ゴシック" panose="020B0400000000000000" pitchFamily="50" charset="-128"/>
            </a:endParaRPr>
          </a:p>
        </p:txBody>
      </p:sp>
      <p:sp>
        <p:nvSpPr>
          <p:cNvPr id="72" name="角丸四角形 71"/>
          <p:cNvSpPr/>
          <p:nvPr/>
        </p:nvSpPr>
        <p:spPr>
          <a:xfrm>
            <a:off x="864000" y="2880000"/>
            <a:ext cx="1440000" cy="432000"/>
          </a:xfrm>
          <a:prstGeom prst="roundRect">
            <a:avLst>
              <a:gd name="adj" fmla="val 14699"/>
            </a:avLst>
          </a:prstGeom>
          <a:solidFill>
            <a:srgbClr val="DEEBF7">
              <a:alpha val="50196"/>
            </a:srgbClr>
          </a:solidFill>
          <a:ln w="9525">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en-US" altLang="ja-JP" sz="1200" dirty="0">
                <a:solidFill>
                  <a:schemeClr val="tx1"/>
                </a:solidFill>
                <a:latin typeface="游ゴシック" panose="020B0400000000000000" pitchFamily="50" charset="-128"/>
                <a:ea typeface="游ゴシック" panose="020B0400000000000000" pitchFamily="50" charset="-128"/>
              </a:rPr>
              <a:t>EAI(L3.5)</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22" name="角丸四角形 21"/>
          <p:cNvSpPr/>
          <p:nvPr/>
        </p:nvSpPr>
        <p:spPr>
          <a:xfrm>
            <a:off x="4212000" y="2879999"/>
            <a:ext cx="1440000" cy="432000"/>
          </a:xfrm>
          <a:prstGeom prst="roundRect">
            <a:avLst>
              <a:gd name="adj" fmla="val 14699"/>
            </a:avLst>
          </a:prstGeom>
          <a:solidFill>
            <a:srgbClr val="DEEBF7">
              <a:alpha val="50196"/>
            </a:srgbClr>
          </a:solidFill>
          <a:ln>
            <a:solidFill>
              <a:schemeClr val="accent1"/>
            </a:solidFill>
          </a:ln>
        </p:spPr>
        <p:style>
          <a:lnRef idx="2">
            <a:schemeClr val="accent1"/>
          </a:lnRef>
          <a:fillRef idx="1">
            <a:schemeClr val="lt1"/>
          </a:fillRef>
          <a:effectRef idx="0">
            <a:schemeClr val="accent1"/>
          </a:effectRef>
          <a:fontRef idx="minor">
            <a:schemeClr val="dk1"/>
          </a:fontRef>
        </p:style>
        <p:txBody>
          <a:bodyPr wrap="none" lIns="36000" rIns="36000" rtlCol="0" anchor="ctr"/>
          <a:lstStyle/>
          <a:p>
            <a:pPr algn="ctr"/>
            <a:r>
              <a:rPr lang="ja-JP" altLang="en-US" sz="1200" dirty="0">
                <a:solidFill>
                  <a:schemeClr val="tx1"/>
                </a:solidFill>
                <a:latin typeface="游ゴシック" panose="020B0400000000000000" pitchFamily="50" charset="-128"/>
                <a:ea typeface="游ゴシック" panose="020B0400000000000000" pitchFamily="50" charset="-128"/>
              </a:rPr>
              <a:t>通信サーバ</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cxnSp>
        <p:nvCxnSpPr>
          <p:cNvPr id="105" name="カギ線コネクタ 104"/>
          <p:cNvCxnSpPr>
            <a:stCxn id="112" idx="2"/>
            <a:endCxn id="116" idx="2"/>
          </p:cNvCxnSpPr>
          <p:nvPr/>
        </p:nvCxnSpPr>
        <p:spPr>
          <a:xfrm rot="5400000">
            <a:off x="5742000" y="2358000"/>
            <a:ext cx="12700" cy="5076000"/>
          </a:xfrm>
          <a:prstGeom prst="bentConnector3">
            <a:avLst>
              <a:gd name="adj1" fmla="val 1800000"/>
            </a:avLst>
          </a:prstGeom>
          <a:ln w="28575">
            <a:solidFill>
              <a:schemeClr val="accent3"/>
            </a:solidFill>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5" name="正方形/長方形 74"/>
          <p:cNvSpPr/>
          <p:nvPr/>
        </p:nvSpPr>
        <p:spPr>
          <a:xfrm>
            <a:off x="4716000" y="2246825"/>
            <a:ext cx="720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ja-JP" sz="1000" b="1" dirty="0">
                <a:solidFill>
                  <a:srgbClr val="FF0000"/>
                </a:solidFill>
                <a:latin typeface="游ゴシック" panose="020B0400000000000000" pitchFamily="50" charset="-128"/>
                <a:ea typeface="游ゴシック" panose="020B0400000000000000" pitchFamily="50" charset="-128"/>
              </a:rPr>
              <a:t>NAS</a:t>
            </a:r>
            <a:endParaRPr kumimoji="1" lang="ja-JP" altLang="en-US" sz="1000" b="1" dirty="0">
              <a:solidFill>
                <a:srgbClr val="FF0000"/>
              </a:solidFill>
              <a:latin typeface="游ゴシック" panose="020B0400000000000000" pitchFamily="50" charset="-128"/>
              <a:ea typeface="游ゴシック" panose="020B0400000000000000" pitchFamily="50" charset="-128"/>
            </a:endParaRPr>
          </a:p>
        </p:txBody>
      </p:sp>
      <p:sp>
        <p:nvSpPr>
          <p:cNvPr id="121" name="正方形/長方形 120"/>
          <p:cNvSpPr/>
          <p:nvPr/>
        </p:nvSpPr>
        <p:spPr>
          <a:xfrm>
            <a:off x="7560000" y="4104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kumimoji="1" lang="ja-JP" altLang="en-US" sz="1000" dirty="0">
                <a:solidFill>
                  <a:schemeClr val="tx1"/>
                </a:solidFill>
                <a:latin typeface="游ゴシック" panose="020B0400000000000000" pitchFamily="50" charset="-128"/>
                <a:ea typeface="游ゴシック" panose="020B0400000000000000" pitchFamily="50" charset="-128"/>
              </a:rPr>
              <a:t>ﾘﾝｸ</a:t>
            </a:r>
          </a:p>
        </p:txBody>
      </p:sp>
      <p:sp>
        <p:nvSpPr>
          <p:cNvPr id="122" name="正方形/長方形 121"/>
          <p:cNvSpPr/>
          <p:nvPr/>
        </p:nvSpPr>
        <p:spPr>
          <a:xfrm>
            <a:off x="7560000" y="42564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kumimoji="1" lang="ja-JP" altLang="en-US" sz="1000" dirty="0">
                <a:solidFill>
                  <a:schemeClr val="tx1"/>
                </a:solidFill>
                <a:latin typeface="游ゴシック" panose="020B0400000000000000" pitchFamily="50" charset="-128"/>
                <a:ea typeface="游ゴシック" panose="020B0400000000000000" pitchFamily="50" charset="-128"/>
              </a:rPr>
              <a:t>ﾘﾝｸ</a:t>
            </a:r>
          </a:p>
        </p:txBody>
      </p:sp>
      <p:sp>
        <p:nvSpPr>
          <p:cNvPr id="123" name="正方形/長方形 122"/>
          <p:cNvSpPr/>
          <p:nvPr/>
        </p:nvSpPr>
        <p:spPr>
          <a:xfrm>
            <a:off x="3348000" y="4104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24" name="正方形/長方形 123"/>
          <p:cNvSpPr/>
          <p:nvPr/>
        </p:nvSpPr>
        <p:spPr>
          <a:xfrm>
            <a:off x="3348000" y="4248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26" name="正方形/長方形 125"/>
          <p:cNvSpPr/>
          <p:nvPr/>
        </p:nvSpPr>
        <p:spPr>
          <a:xfrm>
            <a:off x="6408000" y="5256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kumimoji="1" lang="ja-JP" altLang="en-US" sz="1000" dirty="0">
                <a:solidFill>
                  <a:schemeClr val="tx1"/>
                </a:solidFill>
                <a:latin typeface="游ゴシック" panose="020B0400000000000000" pitchFamily="50" charset="-128"/>
                <a:ea typeface="游ゴシック" panose="020B0400000000000000" pitchFamily="50" charset="-128"/>
              </a:rPr>
              <a:t>ﾘﾝｸ</a:t>
            </a:r>
          </a:p>
        </p:txBody>
      </p:sp>
      <p:sp>
        <p:nvSpPr>
          <p:cNvPr id="127" name="正方形/長方形 126"/>
          <p:cNvSpPr/>
          <p:nvPr/>
        </p:nvSpPr>
        <p:spPr>
          <a:xfrm>
            <a:off x="4644000" y="5040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DB</a:t>
            </a:r>
            <a:r>
              <a:rPr lang="ja-JP" altLang="en-US" sz="1000" dirty="0">
                <a:solidFill>
                  <a:schemeClr val="tx1"/>
                </a:solidFill>
                <a:latin typeface="游ゴシック" panose="020B0400000000000000" pitchFamily="50" charset="-128"/>
                <a:ea typeface="游ゴシック" panose="020B0400000000000000" pitchFamily="50" charset="-128"/>
              </a:rPr>
              <a:t>共有</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128" name="正方形/長方形 127"/>
          <p:cNvSpPr/>
          <p:nvPr/>
        </p:nvSpPr>
        <p:spPr>
          <a:xfrm>
            <a:off x="3348000" y="3132000"/>
            <a:ext cx="576000" cy="144000"/>
          </a:xfrm>
          <a:prstGeom prst="rect">
            <a:avLst/>
          </a:prstGeom>
          <a:solidFill>
            <a:schemeClr val="bg1">
              <a:alpha val="50196"/>
            </a:schemeClr>
          </a:solidFill>
          <a:ln w="12700">
            <a:solidFill>
              <a:schemeClr val="accent3">
                <a:lumMod val="40000"/>
                <a:lumOff val="60000"/>
              </a:schemeClr>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1000" dirty="0">
                <a:solidFill>
                  <a:schemeClr val="tx1"/>
                </a:solidFill>
                <a:latin typeface="游ゴシック" panose="020B0400000000000000" pitchFamily="50" charset="-128"/>
                <a:ea typeface="游ゴシック" panose="020B0400000000000000" pitchFamily="50" charset="-128"/>
              </a:rPr>
              <a:t>NAS</a:t>
            </a:r>
            <a:endParaRPr kumimoji="1" lang="ja-JP" altLang="en-US" sz="1000" dirty="0">
              <a:solidFill>
                <a:schemeClr val="tx1"/>
              </a:solidFill>
              <a:latin typeface="游ゴシック" panose="020B0400000000000000" pitchFamily="50" charset="-128"/>
              <a:ea typeface="游ゴシック" panose="020B0400000000000000" pitchFamily="50" charset="-128"/>
            </a:endParaRPr>
          </a:p>
        </p:txBody>
      </p:sp>
      <p:sp>
        <p:nvSpPr>
          <p:cNvPr id="56" name="正方形/長方形 55"/>
          <p:cNvSpPr/>
          <p:nvPr/>
        </p:nvSpPr>
        <p:spPr>
          <a:xfrm>
            <a:off x="3996000" y="2808000"/>
            <a:ext cx="3456000" cy="2160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endParaRPr kumimoji="1" lang="ja-JP" altLang="en-US" sz="1200" b="1" dirty="0">
              <a:solidFill>
                <a:schemeClr val="tx1"/>
              </a:solidFill>
              <a:latin typeface="游ゴシック" panose="020B0400000000000000" pitchFamily="50" charset="-128"/>
              <a:ea typeface="游ゴシック" panose="020B0400000000000000" pitchFamily="50" charset="-128"/>
            </a:endParaRPr>
          </a:p>
        </p:txBody>
      </p:sp>
      <p:sp>
        <p:nvSpPr>
          <p:cNvPr id="3" name="線吹き出し 1 (枠付き) 2"/>
          <p:cNvSpPr/>
          <p:nvPr/>
        </p:nvSpPr>
        <p:spPr>
          <a:xfrm flipH="1">
            <a:off x="2988000" y="5256000"/>
            <a:ext cx="3240000" cy="432000"/>
          </a:xfrm>
          <a:prstGeom prst="borderCallout1">
            <a:avLst>
              <a:gd name="adj1" fmla="val 22697"/>
              <a:gd name="adj2" fmla="val -141"/>
              <a:gd name="adj3" fmla="val -83871"/>
              <a:gd name="adj4" fmla="val -7450"/>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ja-JP" altLang="en-US" sz="1200" dirty="0">
                <a:solidFill>
                  <a:schemeClr val="tx1"/>
                </a:solidFill>
                <a:latin typeface="游ゴシック" panose="020B0400000000000000" pitchFamily="50" charset="-128"/>
                <a:ea typeface="游ゴシック" panose="020B0400000000000000" pitchFamily="50" charset="-128"/>
              </a:rPr>
              <a:t>制御システム通信サーバにつきましては、要否・役割</a:t>
            </a:r>
            <a:r>
              <a:rPr lang="ja-JP" altLang="en-US" sz="1200" dirty="0">
                <a:solidFill>
                  <a:schemeClr val="tx1"/>
                </a:solidFill>
                <a:latin typeface="游ゴシック" panose="020B0400000000000000" pitchFamily="50" charset="-128"/>
                <a:ea typeface="游ゴシック" panose="020B0400000000000000" pitchFamily="50" charset="-128"/>
              </a:rPr>
              <a:t>・配置場所</a:t>
            </a:r>
            <a:r>
              <a:rPr kumimoji="1" lang="ja-JP" altLang="en-US" sz="1200" dirty="0">
                <a:solidFill>
                  <a:schemeClr val="tx1"/>
                </a:solidFill>
                <a:latin typeface="游ゴシック" panose="020B0400000000000000" pitchFamily="50" charset="-128"/>
                <a:ea typeface="游ゴシック" panose="020B0400000000000000" pitchFamily="50" charset="-128"/>
              </a:rPr>
              <a:t>を改めて検討いたします。</a:t>
            </a:r>
          </a:p>
        </p:txBody>
      </p:sp>
      <p:sp>
        <p:nvSpPr>
          <p:cNvPr id="58" name="線吹き出し 1 (枠付き) 57"/>
          <p:cNvSpPr/>
          <p:nvPr/>
        </p:nvSpPr>
        <p:spPr>
          <a:xfrm flipH="1">
            <a:off x="1656000" y="2160000"/>
            <a:ext cx="2808000" cy="432000"/>
          </a:xfrm>
          <a:prstGeom prst="borderCallout1">
            <a:avLst>
              <a:gd name="adj1" fmla="val 22697"/>
              <a:gd name="adj2" fmla="val -141"/>
              <a:gd name="adj3" fmla="val 35859"/>
              <a:gd name="adj4" fmla="val -8982"/>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kumimoji="1" lang="en-US" altLang="ja-JP" sz="1200" dirty="0" err="1">
                <a:solidFill>
                  <a:schemeClr val="tx1"/>
                </a:solidFill>
                <a:latin typeface="游ゴシック" panose="020B0400000000000000" pitchFamily="50" charset="-128"/>
                <a:ea typeface="游ゴシック" panose="020B0400000000000000" pitchFamily="50" charset="-128"/>
              </a:rPr>
              <a:t>OneSAP</a:t>
            </a:r>
            <a:r>
              <a:rPr kumimoji="1" lang="ja-JP" altLang="en-US" sz="1200" dirty="0">
                <a:solidFill>
                  <a:schemeClr val="tx1"/>
                </a:solidFill>
                <a:latin typeface="游ゴシック" panose="020B0400000000000000" pitchFamily="50" charset="-128"/>
                <a:ea typeface="游ゴシック" panose="020B0400000000000000" pitchFamily="50" charset="-128"/>
              </a:rPr>
              <a:t>との連携方式は</a:t>
            </a:r>
            <a:r>
              <a:rPr kumimoji="1" lang="en-US" altLang="ja-JP" sz="1200" dirty="0">
                <a:solidFill>
                  <a:schemeClr val="tx1"/>
                </a:solidFill>
                <a:latin typeface="游ゴシック" panose="020B0400000000000000" pitchFamily="50" charset="-128"/>
                <a:ea typeface="游ゴシック" panose="020B0400000000000000" pitchFamily="50" charset="-128"/>
              </a:rPr>
              <a:t>OWFT</a:t>
            </a:r>
            <a:r>
              <a:rPr kumimoji="1" lang="ja-JP" altLang="en-US" sz="1200" dirty="0">
                <a:solidFill>
                  <a:schemeClr val="tx1"/>
                </a:solidFill>
                <a:latin typeface="游ゴシック" panose="020B0400000000000000" pitchFamily="50" charset="-128"/>
                <a:ea typeface="游ゴシック" panose="020B0400000000000000" pitchFamily="50" charset="-128"/>
              </a:rPr>
              <a:t>から連携</a:t>
            </a:r>
            <a:r>
              <a:rPr kumimoji="1" lang="en-US" altLang="ja-JP" sz="1200" dirty="0">
                <a:solidFill>
                  <a:schemeClr val="tx1"/>
                </a:solidFill>
                <a:latin typeface="游ゴシック" panose="020B0400000000000000" pitchFamily="50" charset="-128"/>
                <a:ea typeface="游ゴシック" panose="020B0400000000000000" pitchFamily="50" charset="-128"/>
              </a:rPr>
              <a:t>NAS</a:t>
            </a:r>
            <a:r>
              <a:rPr kumimoji="1" lang="ja-JP" altLang="en-US" sz="1200" dirty="0">
                <a:solidFill>
                  <a:schemeClr val="tx1"/>
                </a:solidFill>
                <a:latin typeface="游ゴシック" panose="020B0400000000000000" pitchFamily="50" charset="-128"/>
                <a:ea typeface="游ゴシック" panose="020B0400000000000000" pitchFamily="50" charset="-128"/>
              </a:rPr>
              <a:t>経由での連携方式に変更します。</a:t>
            </a:r>
          </a:p>
        </p:txBody>
      </p:sp>
      <p:sp>
        <p:nvSpPr>
          <p:cNvPr id="54" name="角丸四角形 53"/>
          <p:cNvSpPr/>
          <p:nvPr/>
        </p:nvSpPr>
        <p:spPr>
          <a:xfrm>
            <a:off x="863999" y="5904000"/>
            <a:ext cx="3996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ja-JP" altLang="en-US" sz="1200" dirty="0">
                <a:solidFill>
                  <a:schemeClr val="bg1"/>
                </a:solidFill>
                <a:latin typeface="游ゴシック" panose="020B0400000000000000" pitchFamily="50" charset="-128"/>
                <a:ea typeface="游ゴシック" panose="020B0400000000000000" pitchFamily="50" charset="-128"/>
              </a:rPr>
              <a:t>燃料油運転制御システム</a:t>
            </a:r>
          </a:p>
        </p:txBody>
      </p:sp>
      <p:sp>
        <p:nvSpPr>
          <p:cNvPr id="55" name="角丸四角形 54"/>
          <p:cNvSpPr/>
          <p:nvPr/>
        </p:nvSpPr>
        <p:spPr>
          <a:xfrm>
            <a:off x="5004000" y="5904000"/>
            <a:ext cx="3996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ja-JP" altLang="en-US" sz="1200" dirty="0">
                <a:solidFill>
                  <a:schemeClr val="bg1"/>
                </a:solidFill>
                <a:latin typeface="游ゴシック" panose="020B0400000000000000" pitchFamily="50" charset="-128"/>
                <a:ea typeface="游ゴシック" panose="020B0400000000000000" pitchFamily="50" charset="-128"/>
              </a:rPr>
              <a:t>潤滑油運転制御システム</a:t>
            </a:r>
          </a:p>
        </p:txBody>
      </p:sp>
    </p:spTree>
    <p:extLst>
      <p:ext uri="{BB962C8B-B14F-4D97-AF65-F5344CB8AC3E}">
        <p14:creationId xmlns:p14="http://schemas.microsoft.com/office/powerpoint/2010/main" val="2467685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機能概要（</a:t>
            </a:r>
            <a:r>
              <a:rPr lang="en-US" altLang="ja-JP" dirty="0" err="1"/>
              <a:t>ToBe</a:t>
            </a:r>
            <a:r>
              <a:rPr lang="ja-JP" altLang="en-US" dirty="0"/>
              <a:t>）</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20</a:t>
            </a:fld>
            <a:endParaRPr kumimoji="1" lang="ja-JP" altLang="en-US"/>
          </a:p>
        </p:txBody>
      </p:sp>
      <p:sp>
        <p:nvSpPr>
          <p:cNvPr id="35" name="上矢印 34"/>
          <p:cNvSpPr/>
          <p:nvPr/>
        </p:nvSpPr>
        <p:spPr>
          <a:xfrm flipV="1">
            <a:off x="648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60" name="上矢印 59"/>
          <p:cNvSpPr/>
          <p:nvPr/>
        </p:nvSpPr>
        <p:spPr>
          <a:xfrm>
            <a:off x="1296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65" name="上矢印 64"/>
          <p:cNvSpPr/>
          <p:nvPr/>
        </p:nvSpPr>
        <p:spPr>
          <a:xfrm flipV="1">
            <a:off x="2832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67" name="上矢印 66"/>
          <p:cNvSpPr/>
          <p:nvPr/>
        </p:nvSpPr>
        <p:spPr>
          <a:xfrm>
            <a:off x="3480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0" name="上矢印 69"/>
          <p:cNvSpPr/>
          <p:nvPr/>
        </p:nvSpPr>
        <p:spPr>
          <a:xfrm flipV="1">
            <a:off x="5016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1" name="上矢印 70"/>
          <p:cNvSpPr/>
          <p:nvPr/>
        </p:nvSpPr>
        <p:spPr>
          <a:xfrm>
            <a:off x="5664000" y="158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8" name="上矢印 77"/>
          <p:cNvSpPr/>
          <p:nvPr/>
        </p:nvSpPr>
        <p:spPr>
          <a:xfrm flipV="1">
            <a:off x="648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9" name="上矢印 78"/>
          <p:cNvSpPr/>
          <p:nvPr/>
        </p:nvSpPr>
        <p:spPr>
          <a:xfrm>
            <a:off x="1296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82" name="上矢印 81"/>
          <p:cNvSpPr/>
          <p:nvPr/>
        </p:nvSpPr>
        <p:spPr>
          <a:xfrm flipV="1">
            <a:off x="5016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87" name="上矢印 86"/>
          <p:cNvSpPr/>
          <p:nvPr/>
        </p:nvSpPr>
        <p:spPr>
          <a:xfrm flipV="1">
            <a:off x="2832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88" name="上矢印 87"/>
          <p:cNvSpPr/>
          <p:nvPr/>
        </p:nvSpPr>
        <p:spPr>
          <a:xfrm>
            <a:off x="3480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01" name="上矢印 100"/>
          <p:cNvSpPr/>
          <p:nvPr/>
        </p:nvSpPr>
        <p:spPr>
          <a:xfrm>
            <a:off x="7848000" y="525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50" name="角丸四角形 49"/>
          <p:cNvSpPr/>
          <p:nvPr/>
        </p:nvSpPr>
        <p:spPr>
          <a:xfrm>
            <a:off x="144000" y="1944000"/>
            <a:ext cx="8856000" cy="3312000"/>
          </a:xfrm>
          <a:prstGeom prst="roundRect">
            <a:avLst>
              <a:gd name="adj" fmla="val 2384"/>
            </a:avLst>
          </a:prstGeom>
          <a:solidFill>
            <a:schemeClr val="accent2">
              <a:lumMod val="20000"/>
              <a:lumOff val="80000"/>
            </a:schemeClr>
          </a:solidFill>
          <a:ln w="19050">
            <a:solidFill>
              <a:schemeClr val="accent2"/>
            </a:solidFill>
          </a:ln>
        </p:spPr>
        <p:style>
          <a:lnRef idx="3">
            <a:schemeClr val="lt1"/>
          </a:lnRef>
          <a:fillRef idx="1">
            <a:schemeClr val="accent1"/>
          </a:fillRef>
          <a:effectRef idx="1">
            <a:schemeClr val="accent1"/>
          </a:effectRef>
          <a:fontRef idx="minor">
            <a:schemeClr val="lt1"/>
          </a:fontRef>
        </p:style>
        <p:txBody>
          <a:bodyPr rtlCol="0" anchor="t"/>
          <a:lstStyle/>
          <a:p>
            <a:r>
              <a:rPr lang="ja-JP" altLang="en-US" sz="1600" b="1" dirty="0">
                <a:solidFill>
                  <a:schemeClr val="tx1"/>
                </a:solidFill>
                <a:latin typeface="游ゴシック" panose="020B0400000000000000" pitchFamily="50" charset="-128"/>
                <a:ea typeface="游ゴシック" panose="020B0400000000000000" pitchFamily="50" charset="-128"/>
              </a:rPr>
              <a:t>運転管理システム</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6" name="角丸四角形 5"/>
          <p:cNvSpPr/>
          <p:nvPr/>
        </p:nvSpPr>
        <p:spPr>
          <a:xfrm>
            <a:off x="288000" y="2304000"/>
            <a:ext cx="2808000" cy="1800000"/>
          </a:xfrm>
          <a:prstGeom prst="roundRect">
            <a:avLst>
              <a:gd name="adj" fmla="val 352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受注・入出荷</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オーダー入力</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タンカー入出荷</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ローリー出荷</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詰品出荷</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ライン直送</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指図確定・送信</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9" name="角丸四角形 8"/>
          <p:cNvSpPr/>
          <p:nvPr/>
        </p:nvSpPr>
        <p:spPr>
          <a:xfrm>
            <a:off x="3168000" y="2304000"/>
            <a:ext cx="2808000" cy="1800000"/>
          </a:xfrm>
          <a:prstGeom prst="roundRect">
            <a:avLst>
              <a:gd name="adj" fmla="val 352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en-US" altLang="ja-JP" sz="1400" b="1" dirty="0">
                <a:solidFill>
                  <a:schemeClr val="tx1"/>
                </a:solidFill>
                <a:latin typeface="游ゴシック" panose="020B0400000000000000" pitchFamily="50" charset="-128"/>
                <a:ea typeface="游ゴシック" panose="020B0400000000000000" pitchFamily="50" charset="-128"/>
              </a:rPr>
              <a:t>BO</a:t>
            </a:r>
            <a:r>
              <a:rPr lang="ja-JP" altLang="en-US" sz="1400" b="1" dirty="0">
                <a:solidFill>
                  <a:schemeClr val="tx1"/>
                </a:solidFill>
                <a:latin typeface="游ゴシック" panose="020B0400000000000000" pitchFamily="50" charset="-128"/>
                <a:ea typeface="游ゴシック" panose="020B0400000000000000" pitchFamily="50" charset="-128"/>
              </a:rPr>
              <a:t>荷繰り</a:t>
            </a:r>
            <a:r>
              <a:rPr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シフト計画</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装置運転計画</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シフト指図</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en-US" altLang="ja-JP" sz="1400" dirty="0">
                <a:solidFill>
                  <a:schemeClr val="tx1"/>
                </a:solidFill>
                <a:latin typeface="游ゴシック" panose="020B0400000000000000" pitchFamily="50" charset="-128"/>
                <a:ea typeface="游ゴシック" panose="020B0400000000000000" pitchFamily="50" charset="-128"/>
              </a:rPr>
              <a:t>BO</a:t>
            </a:r>
            <a:r>
              <a:rPr kumimoji="1" lang="ja-JP" altLang="en-US" sz="1400" dirty="0">
                <a:solidFill>
                  <a:schemeClr val="tx1"/>
                </a:solidFill>
                <a:latin typeface="游ゴシック" panose="020B0400000000000000" pitchFamily="50" charset="-128"/>
                <a:ea typeface="游ゴシック" panose="020B0400000000000000" pitchFamily="50" charset="-128"/>
              </a:rPr>
              <a:t>在庫照会</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en-US" altLang="ja-JP" sz="1400" dirty="0">
                <a:solidFill>
                  <a:schemeClr val="tx1"/>
                </a:solidFill>
                <a:latin typeface="游ゴシック" panose="020B0400000000000000" pitchFamily="50" charset="-128"/>
                <a:ea typeface="游ゴシック" panose="020B0400000000000000" pitchFamily="50" charset="-128"/>
              </a:rPr>
              <a:t>BO</a:t>
            </a:r>
            <a:r>
              <a:rPr lang="ja-JP" altLang="en-US" sz="1400" dirty="0">
                <a:solidFill>
                  <a:schemeClr val="tx1"/>
                </a:solidFill>
                <a:latin typeface="游ゴシック" panose="020B0400000000000000" pitchFamily="50" charset="-128"/>
                <a:ea typeface="游ゴシック" panose="020B0400000000000000" pitchFamily="50" charset="-128"/>
              </a:rPr>
              <a:t>使用予定タンク</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1" name="角丸四角形 10"/>
          <p:cNvSpPr/>
          <p:nvPr/>
        </p:nvSpPr>
        <p:spPr>
          <a:xfrm>
            <a:off x="6048000" y="2304000"/>
            <a:ext cx="2808000" cy="1800000"/>
          </a:xfrm>
          <a:prstGeom prst="roundRect">
            <a:avLst>
              <a:gd name="adj" fmla="val 352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生産計画・発注</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製造</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ドラム充填</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ケース充填</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添加剤</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指図確定・送信</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在庫管理</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6" name="角丸四角形 15"/>
          <p:cNvSpPr/>
          <p:nvPr/>
        </p:nvSpPr>
        <p:spPr>
          <a:xfrm>
            <a:off x="288000" y="4176000"/>
            <a:ext cx="2808000" cy="936000"/>
          </a:xfrm>
          <a:prstGeom prst="roundRect">
            <a:avLst>
              <a:gd name="adj" fmla="val 6784"/>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商品管理</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伝票実績</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タンク在庫</a:t>
            </a:r>
          </a:p>
        </p:txBody>
      </p:sp>
      <p:sp>
        <p:nvSpPr>
          <p:cNvPr id="20" name="角丸四角形 19"/>
          <p:cNvSpPr/>
          <p:nvPr/>
        </p:nvSpPr>
        <p:spPr>
          <a:xfrm>
            <a:off x="3168000" y="4176000"/>
            <a:ext cx="2808000" cy="936000"/>
          </a:xfrm>
          <a:prstGeom prst="roundRect">
            <a:avLst>
              <a:gd name="adj" fmla="val 6784"/>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品質管理</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ロット台帳</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ロット試験</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3" name="角丸四角形 22"/>
          <p:cNvSpPr/>
          <p:nvPr/>
        </p:nvSpPr>
        <p:spPr>
          <a:xfrm>
            <a:off x="6048000" y="4176000"/>
            <a:ext cx="2808000" cy="936000"/>
          </a:xfrm>
          <a:prstGeom prst="roundRect">
            <a:avLst>
              <a:gd name="adj" fmla="val 6784"/>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spcAft>
                <a:spcPts val="600"/>
              </a:spcAft>
            </a:pPr>
            <a:r>
              <a:rPr lang="ja-JP" altLang="en-US" sz="1400" b="1" dirty="0">
                <a:solidFill>
                  <a:schemeClr val="tx1"/>
                </a:solidFill>
                <a:latin typeface="游ゴシック" panose="020B0400000000000000" pitchFamily="50" charset="-128"/>
                <a:ea typeface="游ゴシック" panose="020B0400000000000000" pitchFamily="50" charset="-128"/>
              </a:rPr>
              <a:t>マスタメンテナンス</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製造・充填計画担当</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grpSp>
        <p:nvGrpSpPr>
          <p:cNvPr id="31" name="グループ化 30"/>
          <p:cNvGrpSpPr/>
          <p:nvPr/>
        </p:nvGrpSpPr>
        <p:grpSpPr>
          <a:xfrm>
            <a:off x="143999" y="864000"/>
            <a:ext cx="6660000" cy="720000"/>
            <a:chOff x="143999" y="864000"/>
            <a:chExt cx="6660000" cy="720000"/>
          </a:xfrm>
        </p:grpSpPr>
        <p:sp>
          <p:nvSpPr>
            <p:cNvPr id="52" name="角丸四角形 51"/>
            <p:cNvSpPr/>
            <p:nvPr/>
          </p:nvSpPr>
          <p:spPr>
            <a:xfrm>
              <a:off x="143999" y="864000"/>
              <a:ext cx="6660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3" name="角丸四角形 2"/>
            <p:cNvSpPr/>
            <p:nvPr/>
          </p:nvSpPr>
          <p:spPr>
            <a:xfrm>
              <a:off x="288000" y="1008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err="1">
                  <a:solidFill>
                    <a:schemeClr val="bg1"/>
                  </a:solidFill>
                  <a:latin typeface="游ゴシック" panose="020B0400000000000000" pitchFamily="50" charset="-128"/>
                  <a:ea typeface="游ゴシック" panose="020B0400000000000000" pitchFamily="50" charset="-128"/>
                </a:rPr>
                <a:t>OneSAP</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en-US" altLang="ja-JP" sz="1200" dirty="0">
                  <a:solidFill>
                    <a:schemeClr val="bg1"/>
                  </a:solidFill>
                  <a:latin typeface="游ゴシック" panose="020B0400000000000000" pitchFamily="50" charset="-128"/>
                  <a:ea typeface="游ゴシック" panose="020B0400000000000000" pitchFamily="50" charset="-128"/>
                </a:rPr>
                <a:t>※</a:t>
              </a:r>
              <a:r>
                <a:rPr lang="ja-JP" altLang="en-US" sz="1200" dirty="0">
                  <a:solidFill>
                    <a:schemeClr val="bg1"/>
                  </a:solidFill>
                  <a:latin typeface="游ゴシック" panose="020B0400000000000000" pitchFamily="50" charset="-128"/>
                  <a:ea typeface="游ゴシック" panose="020B0400000000000000" pitchFamily="50" charset="-128"/>
                </a:rPr>
                <a:t> 連携基盤経由</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30" name="角丸四角形 29"/>
            <p:cNvSpPr/>
            <p:nvPr/>
          </p:nvSpPr>
          <p:spPr>
            <a:xfrm>
              <a:off x="4656000" y="1008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充填管理システム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32" name="角丸四角形 31"/>
            <p:cNvSpPr/>
            <p:nvPr/>
          </p:nvSpPr>
          <p:spPr>
            <a:xfrm>
              <a:off x="2472000" y="1008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bg1"/>
                  </a:solidFill>
                  <a:latin typeface="游ゴシック" panose="020B0400000000000000" pitchFamily="50" charset="-128"/>
                  <a:ea typeface="游ゴシック" panose="020B0400000000000000" pitchFamily="50" charset="-128"/>
                </a:rPr>
                <a:t>ETS-R(</a:t>
              </a:r>
              <a:r>
                <a:rPr lang="ja-JP" altLang="en-US" sz="1200" dirty="0">
                  <a:solidFill>
                    <a:schemeClr val="bg1"/>
                  </a:solidFill>
                  <a:latin typeface="游ゴシック" panose="020B0400000000000000" pitchFamily="50" charset="-128"/>
                  <a:ea typeface="游ゴシック" panose="020B0400000000000000" pitchFamily="50" charset="-128"/>
                </a:rPr>
                <a:t>運転管理</a:t>
              </a:r>
              <a:r>
                <a:rPr lang="en-US" altLang="ja-JP" sz="1200" dirty="0">
                  <a:solidFill>
                    <a:schemeClr val="bg1"/>
                  </a:solidFill>
                  <a:latin typeface="游ゴシック" panose="020B0400000000000000" pitchFamily="50" charset="-128"/>
                  <a:ea typeface="游ゴシック" panose="020B0400000000000000" pitchFamily="50" charset="-128"/>
                </a:rPr>
                <a:t>)</a:t>
              </a:r>
            </a:p>
            <a:p>
              <a:pPr algn="ctr"/>
              <a:r>
                <a:rPr kumimoji="1" lang="en-US" altLang="ja-JP" sz="1200" dirty="0">
                  <a:solidFill>
                    <a:schemeClr val="bg1"/>
                  </a:solidFill>
                  <a:latin typeface="游ゴシック" panose="020B0400000000000000" pitchFamily="50" charset="-128"/>
                  <a:ea typeface="游ゴシック" panose="020B0400000000000000" pitchFamily="50" charset="-128"/>
                </a:rPr>
                <a:t>※ EAI</a:t>
              </a:r>
              <a:r>
                <a:rPr kumimoji="1" lang="ja-JP" altLang="en-US" sz="1200" dirty="0">
                  <a:solidFill>
                    <a:schemeClr val="bg1"/>
                  </a:solidFill>
                  <a:latin typeface="游ゴシック" panose="020B0400000000000000" pitchFamily="50" charset="-128"/>
                  <a:ea typeface="游ゴシック" panose="020B0400000000000000" pitchFamily="50" charset="-128"/>
                </a:rPr>
                <a:t>サーバ経由</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grpSp>
      <p:grpSp>
        <p:nvGrpSpPr>
          <p:cNvPr id="25" name="グループ化 24"/>
          <p:cNvGrpSpPr/>
          <p:nvPr/>
        </p:nvGrpSpPr>
        <p:grpSpPr>
          <a:xfrm>
            <a:off x="144000" y="5616000"/>
            <a:ext cx="8856000" cy="720000"/>
            <a:chOff x="144000" y="5472000"/>
            <a:chExt cx="8856000" cy="720000"/>
          </a:xfrm>
        </p:grpSpPr>
        <p:sp>
          <p:nvSpPr>
            <p:cNvPr id="53" name="角丸四角形 52"/>
            <p:cNvSpPr/>
            <p:nvPr/>
          </p:nvSpPr>
          <p:spPr>
            <a:xfrm>
              <a:off x="144000" y="5472000"/>
              <a:ext cx="8856000" cy="720000"/>
            </a:xfrm>
            <a:prstGeom prst="roundRect">
              <a:avLst>
                <a:gd name="adj" fmla="val 8819"/>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26" name="角丸四角形 25"/>
            <p:cNvSpPr/>
            <p:nvPr/>
          </p:nvSpPr>
          <p:spPr>
            <a:xfrm>
              <a:off x="288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dirty="0">
                  <a:solidFill>
                    <a:schemeClr val="bg1"/>
                  </a:solidFill>
                  <a:latin typeface="游ゴシック" panose="020B0400000000000000" pitchFamily="50" charset="-128"/>
                  <a:ea typeface="游ゴシック" panose="020B0400000000000000" pitchFamily="50" charset="-128"/>
                </a:rPr>
                <a:t>潤滑油運転制御システム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27" name="角丸四角形 26"/>
            <p:cNvSpPr/>
            <p:nvPr/>
          </p:nvSpPr>
          <p:spPr>
            <a:xfrm>
              <a:off x="2472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添加剤</a:t>
              </a:r>
              <a:endParaRPr lang="en-US" altLang="ja-JP" sz="1200" dirty="0">
                <a:solidFill>
                  <a:schemeClr val="bg1"/>
                </a:solidFill>
                <a:latin typeface="游ゴシック" panose="020B0400000000000000" pitchFamily="50" charset="-128"/>
                <a:ea typeface="游ゴシック" panose="020B0400000000000000" pitchFamily="50" charset="-128"/>
              </a:endParaRPr>
            </a:p>
            <a:p>
              <a:pPr algn="ctr"/>
              <a:r>
                <a:rPr lang="ja-JP" altLang="en-US" sz="1200" dirty="0">
                  <a:solidFill>
                    <a:schemeClr val="bg1"/>
                  </a:solidFill>
                  <a:latin typeface="游ゴシック" panose="020B0400000000000000" pitchFamily="50" charset="-128"/>
                  <a:ea typeface="游ゴシック" panose="020B0400000000000000" pitchFamily="50" charset="-128"/>
                </a:rPr>
                <a:t>ロット管理システム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29" name="角丸四角形 28"/>
            <p:cNvSpPr/>
            <p:nvPr/>
          </p:nvSpPr>
          <p:spPr>
            <a:xfrm>
              <a:off x="6840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ロット追跡システム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sp>
          <p:nvSpPr>
            <p:cNvPr id="28" name="角丸四角形 27"/>
            <p:cNvSpPr/>
            <p:nvPr/>
          </p:nvSpPr>
          <p:spPr>
            <a:xfrm>
              <a:off x="4656000" y="5616000"/>
              <a:ext cx="2016000" cy="432000"/>
            </a:xfrm>
            <a:prstGeom prst="roundRect">
              <a:avLst>
                <a:gd name="adj" fmla="val 14699"/>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自動倉庫システム</a:t>
              </a:r>
              <a:endParaRPr kumimoji="1" lang="en-US" altLang="ja-JP" sz="1200" dirty="0">
                <a:solidFill>
                  <a:schemeClr val="bg1"/>
                </a:solidFill>
                <a:latin typeface="游ゴシック" panose="020B0400000000000000" pitchFamily="50" charset="-128"/>
                <a:ea typeface="游ゴシック" panose="020B0400000000000000" pitchFamily="50" charset="-128"/>
              </a:endParaRPr>
            </a:p>
          </p:txBody>
        </p:sp>
      </p:grpSp>
      <p:grpSp>
        <p:nvGrpSpPr>
          <p:cNvPr id="40" name="グループ化 39"/>
          <p:cNvGrpSpPr/>
          <p:nvPr/>
        </p:nvGrpSpPr>
        <p:grpSpPr>
          <a:xfrm>
            <a:off x="7452000" y="720000"/>
            <a:ext cx="1467996" cy="1152000"/>
            <a:chOff x="7452000" y="864000"/>
            <a:chExt cx="1467996" cy="1152000"/>
          </a:xfrm>
        </p:grpSpPr>
        <p:sp>
          <p:nvSpPr>
            <p:cNvPr id="104" name="角丸四角形 103"/>
            <p:cNvSpPr/>
            <p:nvPr/>
          </p:nvSpPr>
          <p:spPr>
            <a:xfrm>
              <a:off x="7452000" y="864000"/>
              <a:ext cx="360000" cy="216000"/>
            </a:xfrm>
            <a:prstGeom prst="roundRect">
              <a:avLst>
                <a:gd name="adj" fmla="val 29398"/>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sz="1400" dirty="0">
                <a:solidFill>
                  <a:schemeClr val="bg1"/>
                </a:solidFill>
                <a:latin typeface="游ゴシック" panose="020B0400000000000000" pitchFamily="50" charset="-128"/>
                <a:ea typeface="游ゴシック" panose="020B0400000000000000" pitchFamily="50" charset="-128"/>
              </a:endParaRPr>
            </a:p>
          </p:txBody>
        </p:sp>
        <p:sp>
          <p:nvSpPr>
            <p:cNvPr id="105" name="角丸四角形 104"/>
            <p:cNvSpPr/>
            <p:nvPr/>
          </p:nvSpPr>
          <p:spPr>
            <a:xfrm>
              <a:off x="7452000" y="1152000"/>
              <a:ext cx="360000" cy="216000"/>
            </a:xfrm>
            <a:prstGeom prst="roundRect">
              <a:avLst>
                <a:gd name="adj" fmla="val 29398"/>
              </a:avLst>
            </a:prstGeom>
            <a:solidFill>
              <a:schemeClr val="accent2">
                <a:lumMod val="20000"/>
                <a:lumOff val="80000"/>
              </a:schemeClr>
            </a:solidFill>
            <a:ln w="19050">
              <a:solidFill>
                <a:schemeClr val="accent2"/>
              </a:solidFill>
            </a:ln>
          </p:spPr>
          <p:style>
            <a:lnRef idx="3">
              <a:schemeClr val="lt1"/>
            </a:lnRef>
            <a:fillRef idx="1">
              <a:schemeClr val="accent1"/>
            </a:fillRef>
            <a:effectRef idx="1">
              <a:schemeClr val="accent1"/>
            </a:effectRef>
            <a:fontRef idx="minor">
              <a:schemeClr val="lt1"/>
            </a:fontRef>
          </p:style>
          <p:txBody>
            <a:bodyPr rtlCol="0" anchor="t"/>
            <a:lstStyle/>
            <a:p>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106" name="上矢印 105"/>
            <p:cNvSpPr/>
            <p:nvPr/>
          </p:nvSpPr>
          <p:spPr>
            <a:xfrm rot="16200000" flipV="1">
              <a:off x="7524000" y="1692000"/>
              <a:ext cx="288000" cy="360000"/>
            </a:xfrm>
            <a:prstGeom prst="upArrow">
              <a:avLst>
                <a:gd name="adj1" fmla="val 50000"/>
                <a:gd name="adj2" fmla="val 66620"/>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37" name="テキスト ボックス 36"/>
            <p:cNvSpPr txBox="1"/>
            <p:nvPr/>
          </p:nvSpPr>
          <p:spPr>
            <a:xfrm>
              <a:off x="7812000" y="864000"/>
              <a:ext cx="800219"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周辺ｼｽﾃﾑ</a:t>
              </a:r>
              <a:endParaRPr kumimoji="1" lang="ja-JP" altLang="en-US" sz="1200" dirty="0">
                <a:latin typeface="游ゴシック" panose="020B0400000000000000" pitchFamily="50" charset="-128"/>
                <a:ea typeface="游ゴシック" panose="020B0400000000000000" pitchFamily="50" charset="-128"/>
              </a:endParaRPr>
            </a:p>
          </p:txBody>
        </p:sp>
        <p:sp>
          <p:nvSpPr>
            <p:cNvPr id="107" name="テキスト ボックス 106"/>
            <p:cNvSpPr txBox="1"/>
            <p:nvPr/>
          </p:nvSpPr>
          <p:spPr>
            <a:xfrm>
              <a:off x="7812000" y="1152000"/>
              <a:ext cx="1107996"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運転管理ｼｽﾃﾑ</a:t>
              </a:r>
              <a:endParaRPr kumimoji="1" lang="ja-JP" altLang="en-US" sz="1200" dirty="0">
                <a:latin typeface="游ゴシック" panose="020B0400000000000000" pitchFamily="50" charset="-128"/>
                <a:ea typeface="游ゴシック" panose="020B0400000000000000" pitchFamily="50" charset="-128"/>
              </a:endParaRPr>
            </a:p>
          </p:txBody>
        </p:sp>
        <p:sp>
          <p:nvSpPr>
            <p:cNvPr id="108" name="テキスト ボックス 107"/>
            <p:cNvSpPr txBox="1"/>
            <p:nvPr/>
          </p:nvSpPr>
          <p:spPr>
            <a:xfrm>
              <a:off x="7812000" y="1728000"/>
              <a:ext cx="800219"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ﾃﾞｰﾀ</a:t>
              </a:r>
              <a:r>
                <a:rPr kumimoji="1" lang="ja-JP" altLang="en-US" sz="1200" dirty="0">
                  <a:latin typeface="游ゴシック" panose="020B0400000000000000" pitchFamily="50" charset="-128"/>
                  <a:ea typeface="游ゴシック" panose="020B0400000000000000" pitchFamily="50" charset="-128"/>
                </a:rPr>
                <a:t>連携</a:t>
              </a:r>
            </a:p>
          </p:txBody>
        </p:sp>
        <p:sp>
          <p:nvSpPr>
            <p:cNvPr id="109" name="角丸四角形 108"/>
            <p:cNvSpPr/>
            <p:nvPr/>
          </p:nvSpPr>
          <p:spPr>
            <a:xfrm>
              <a:off x="7452000" y="1440000"/>
              <a:ext cx="360000" cy="216000"/>
            </a:xfrm>
            <a:prstGeom prst="roundRect">
              <a:avLst>
                <a:gd name="adj" fmla="val 29398"/>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10" name="テキスト ボックス 109"/>
            <p:cNvSpPr txBox="1"/>
            <p:nvPr/>
          </p:nvSpPr>
          <p:spPr>
            <a:xfrm>
              <a:off x="7812000" y="1440000"/>
              <a:ext cx="800219" cy="276999"/>
            </a:xfrm>
            <a:prstGeom prst="rect">
              <a:avLst/>
            </a:prstGeom>
            <a:noFill/>
          </p:spPr>
          <p:txBody>
            <a:bodyPr wrap="none" rtlCol="0">
              <a:spAutoFit/>
            </a:bodyPr>
            <a:lstStyle/>
            <a:p>
              <a:r>
                <a:rPr lang="ja-JP" altLang="en-US" sz="1200" dirty="0">
                  <a:latin typeface="游ゴシック" panose="020B0400000000000000" pitchFamily="50" charset="-128"/>
                  <a:ea typeface="游ゴシック" panose="020B0400000000000000" pitchFamily="50" charset="-128"/>
                </a:rPr>
                <a:t>主要機能</a:t>
              </a:r>
              <a:endParaRPr kumimoji="1" lang="ja-JP" altLang="en-US" sz="1200" dirty="0">
                <a:latin typeface="游ゴシック" panose="020B0400000000000000" pitchFamily="50" charset="-128"/>
                <a:ea typeface="游ゴシック" panose="020B0400000000000000" pitchFamily="50" charset="-128"/>
              </a:endParaRPr>
            </a:p>
          </p:txBody>
        </p:sp>
      </p:grpSp>
      <p:sp>
        <p:nvSpPr>
          <p:cNvPr id="61" name="上矢印 60"/>
          <p:cNvSpPr/>
          <p:nvPr/>
        </p:nvSpPr>
        <p:spPr>
          <a:xfrm rot="16200000" flipV="1">
            <a:off x="6515999" y="5796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45" name="テキスト ボックス 44"/>
          <p:cNvSpPr txBox="1"/>
          <p:nvPr/>
        </p:nvSpPr>
        <p:spPr>
          <a:xfrm>
            <a:off x="1" y="3312000"/>
            <a:ext cx="9144000" cy="1008000"/>
          </a:xfrm>
          <a:prstGeom prst="rect">
            <a:avLst/>
          </a:prstGeom>
          <a:solidFill>
            <a:schemeClr val="accent3">
              <a:lumMod val="20000"/>
              <a:lumOff val="80000"/>
              <a:alpha val="60000"/>
            </a:schemeClr>
          </a:solidFill>
        </p:spPr>
        <p:txBody>
          <a:bodyPr wrap="none" rtlCol="0" anchor="ctr">
            <a:noAutofit/>
          </a:bodyPr>
          <a:lstStyle/>
          <a:p>
            <a:pPr algn="ctr"/>
            <a:r>
              <a:rPr lang="ja-JP" altLang="en-US" sz="2000" b="1" dirty="0">
                <a:solidFill>
                  <a:srgbClr val="FF0000"/>
                </a:solidFill>
                <a:latin typeface="游ゴシック" panose="020B0400000000000000" pitchFamily="50" charset="-128"/>
                <a:ea typeface="游ゴシック" panose="020B0400000000000000" pitchFamily="50" charset="-128"/>
              </a:rPr>
              <a:t>今回のシステム更新では単純更新を基本方針とし</a:t>
            </a:r>
            <a:endParaRPr lang="en-US" altLang="ja-JP" sz="2000" b="1" dirty="0">
              <a:solidFill>
                <a:srgbClr val="FF0000"/>
              </a:solidFill>
              <a:latin typeface="游ゴシック" panose="020B0400000000000000" pitchFamily="50" charset="-128"/>
              <a:ea typeface="游ゴシック" panose="020B0400000000000000" pitchFamily="50" charset="-128"/>
            </a:endParaRPr>
          </a:p>
          <a:p>
            <a:pPr algn="ctr"/>
            <a:r>
              <a:rPr lang="ja-JP" altLang="en-US" sz="2000" b="1" dirty="0">
                <a:solidFill>
                  <a:srgbClr val="FF0000"/>
                </a:solidFill>
                <a:latin typeface="游ゴシック" panose="020B0400000000000000" pitchFamily="50" charset="-128"/>
                <a:ea typeface="游ゴシック" panose="020B0400000000000000" pitchFamily="50" charset="-128"/>
              </a:rPr>
              <a:t>現行と同等の機能を実現します。</a:t>
            </a:r>
            <a:endParaRPr kumimoji="1" lang="ja-JP" altLang="en-US" sz="2000" b="1" dirty="0">
              <a:solidFill>
                <a:srgbClr val="FF0000"/>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9122718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正方形/長方形 37"/>
          <p:cNvSpPr/>
          <p:nvPr/>
        </p:nvSpPr>
        <p:spPr>
          <a:xfrm>
            <a:off x="3960000" y="514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3" name="正方形/長方形 162"/>
          <p:cNvSpPr/>
          <p:nvPr/>
        </p:nvSpPr>
        <p:spPr>
          <a:xfrm>
            <a:off x="5652000" y="514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2" name="タイトル 1"/>
          <p:cNvSpPr>
            <a:spLocks noGrp="1"/>
          </p:cNvSpPr>
          <p:nvPr>
            <p:ph type="title"/>
          </p:nvPr>
        </p:nvSpPr>
        <p:spPr/>
        <p:txBody>
          <a:bodyPr/>
          <a:lstStyle/>
          <a:p>
            <a:r>
              <a:rPr kumimoji="1" lang="ja-JP" altLang="en-US" dirty="0"/>
              <a:t>機能数</a:t>
            </a:r>
            <a:r>
              <a:rPr lang="ja-JP" altLang="en-US" dirty="0"/>
              <a:t>（</a:t>
            </a:r>
            <a:r>
              <a:rPr lang="en-US" altLang="ja-JP" dirty="0" err="1"/>
              <a:t>ToBe</a:t>
            </a:r>
            <a:r>
              <a:rPr lang="ja-JP" altLang="en-US" dirty="0"/>
              <a:t>）</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21</a:t>
            </a:fld>
            <a:endParaRPr kumimoji="1" lang="ja-JP" altLang="en-US"/>
          </a:p>
        </p:txBody>
      </p:sp>
      <p:sp>
        <p:nvSpPr>
          <p:cNvPr id="3" name="テキスト ボックス 2"/>
          <p:cNvSpPr txBox="1"/>
          <p:nvPr/>
        </p:nvSpPr>
        <p:spPr>
          <a:xfrm>
            <a:off x="143999" y="5508000"/>
            <a:ext cx="8856001" cy="1015663"/>
          </a:xfrm>
          <a:prstGeom prst="rect">
            <a:avLst/>
          </a:prstGeom>
          <a:noFill/>
        </p:spPr>
        <p:txBody>
          <a:bodyPr wrap="square" rtlCol="0">
            <a:spAutoFit/>
          </a:bodyPr>
          <a:lstStyle/>
          <a:p>
            <a:pPr marL="285750" indent="-285750">
              <a:buFont typeface="游ゴシック" panose="020B0400000000000000" pitchFamily="50" charset="-128"/>
              <a:buChar char="※"/>
            </a:pPr>
            <a:r>
              <a:rPr kumimoji="1" lang="ja-JP" altLang="en-US" sz="1200" dirty="0">
                <a:latin typeface="游ゴシック" panose="020B0400000000000000" pitchFamily="50" charset="-128"/>
                <a:ea typeface="游ゴシック" panose="020B0400000000000000" pitchFamily="50" charset="-128"/>
              </a:rPr>
              <a:t>現行のプログラムソースにて「</a:t>
            </a:r>
            <a:r>
              <a:rPr kumimoji="1" lang="en-US" altLang="ja-JP" sz="1200" dirty="0" err="1">
                <a:latin typeface="游ゴシック" panose="020B0400000000000000" pitchFamily="50" charset="-128"/>
                <a:ea typeface="游ゴシック" panose="020B0400000000000000" pitchFamily="50" charset="-128"/>
              </a:rPr>
              <a:t>bk</a:t>
            </a:r>
            <a:r>
              <a:rPr kumimoji="1" lang="ja-JP" altLang="en-US" sz="1200" dirty="0">
                <a:latin typeface="游ゴシック" panose="020B0400000000000000" pitchFamily="50" charset="-128"/>
                <a:ea typeface="游ゴシック" panose="020B0400000000000000" pitchFamily="50" charset="-128"/>
              </a:rPr>
              <a:t>」や「</a:t>
            </a:r>
            <a:r>
              <a:rPr kumimoji="1" lang="en-US" altLang="ja-JP" sz="1200" dirty="0" err="1">
                <a:latin typeface="游ゴシック" panose="020B0400000000000000" pitchFamily="50" charset="-128"/>
                <a:ea typeface="游ゴシック" panose="020B0400000000000000" pitchFamily="50" charset="-128"/>
              </a:rPr>
              <a:t>bak</a:t>
            </a:r>
            <a:r>
              <a:rPr kumimoji="1" lang="ja-JP" altLang="en-US" sz="1200" dirty="0">
                <a:latin typeface="游ゴシック" panose="020B0400000000000000" pitchFamily="50" charset="-128"/>
                <a:ea typeface="游ゴシック" panose="020B0400000000000000" pitchFamily="50" charset="-128"/>
              </a:rPr>
              <a:t>」などがファイル名に付加されて</a:t>
            </a:r>
            <a:r>
              <a:rPr lang="ja-JP" altLang="en-US" sz="1200" dirty="0">
                <a:latin typeface="游ゴシック" panose="020B0400000000000000" pitchFamily="50" charset="-128"/>
                <a:ea typeface="游ゴシック" panose="020B0400000000000000" pitchFamily="50" charset="-128"/>
              </a:rPr>
              <a:t>いるファイルおよび機能は、</a:t>
            </a:r>
            <a:r>
              <a:rPr kumimoji="1" lang="ja-JP" altLang="en-US" sz="1200" dirty="0">
                <a:latin typeface="游ゴシック" panose="020B0400000000000000" pitchFamily="50" charset="-128"/>
                <a:ea typeface="游ゴシック" panose="020B0400000000000000" pitchFamily="50" charset="-128"/>
              </a:rPr>
              <a:t>バックアップ目的と推測し、新システムへは移行しない想定です。</a:t>
            </a:r>
            <a:endParaRPr kumimoji="1" lang="en-US" altLang="ja-JP" sz="1200" dirty="0">
              <a:latin typeface="游ゴシック" panose="020B0400000000000000" pitchFamily="50" charset="-128"/>
              <a:ea typeface="游ゴシック" panose="020B0400000000000000" pitchFamily="50" charset="-128"/>
            </a:endParaRPr>
          </a:p>
          <a:p>
            <a:pPr marL="285750" indent="-2857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共通機能数は、現行の</a:t>
            </a:r>
            <a:r>
              <a:rPr lang="en-US" altLang="ja-JP" sz="1200" dirty="0">
                <a:latin typeface="游ゴシック" panose="020B0400000000000000" pitchFamily="50" charset="-128"/>
                <a:ea typeface="游ゴシック" panose="020B0400000000000000" pitchFamily="50" charset="-128"/>
              </a:rPr>
              <a:t>VB</a:t>
            </a:r>
            <a:r>
              <a:rPr lang="ja-JP" altLang="en-US" sz="1200" dirty="0">
                <a:latin typeface="游ゴシック" panose="020B0400000000000000" pitchFamily="50" charset="-128"/>
                <a:ea typeface="游ゴシック" panose="020B0400000000000000" pitchFamily="50" charset="-128"/>
              </a:rPr>
              <a:t>の共通モジュール（</a:t>
            </a:r>
            <a:r>
              <a:rPr lang="en-US" altLang="ja-JP" sz="1200" dirty="0">
                <a:latin typeface="游ゴシック" panose="020B0400000000000000" pitchFamily="50" charset="-128"/>
                <a:ea typeface="游ゴシック" panose="020B0400000000000000" pitchFamily="50" charset="-128"/>
              </a:rPr>
              <a:t>bas</a:t>
            </a:r>
            <a:r>
              <a:rPr lang="ja-JP" altLang="en-US" sz="1200" dirty="0">
                <a:latin typeface="游ゴシック" panose="020B0400000000000000" pitchFamily="50" charset="-128"/>
                <a:ea typeface="游ゴシック" panose="020B0400000000000000" pitchFamily="50" charset="-128"/>
              </a:rPr>
              <a:t>ファイル）を共通化する想定で、ファイル名等から統一できる件数を算出しております。また、共通機能数には、</a:t>
            </a:r>
            <a:r>
              <a:rPr lang="en-US" altLang="ja-JP" sz="1200" dirty="0">
                <a:latin typeface="游ゴシック" panose="020B0400000000000000" pitchFamily="50" charset="-128"/>
                <a:ea typeface="游ゴシック" panose="020B0400000000000000" pitchFamily="50" charset="-128"/>
              </a:rPr>
              <a:t>bat</a:t>
            </a:r>
            <a:r>
              <a:rPr lang="ja-JP" altLang="en-US" sz="1200" dirty="0">
                <a:latin typeface="游ゴシック" panose="020B0400000000000000" pitchFamily="50" charset="-128"/>
                <a:ea typeface="游ゴシック" panose="020B0400000000000000" pitchFamily="50" charset="-128"/>
              </a:rPr>
              <a:t>ファイルの</a:t>
            </a:r>
            <a:r>
              <a:rPr lang="en-US" altLang="ja-JP" sz="1200" dirty="0">
                <a:latin typeface="游ゴシック" panose="020B0400000000000000" pitchFamily="50" charset="-128"/>
                <a:ea typeface="游ゴシック" panose="020B0400000000000000" pitchFamily="50" charset="-128"/>
              </a:rPr>
              <a:t>31</a:t>
            </a:r>
            <a:r>
              <a:rPr lang="ja-JP" altLang="en-US" sz="1200" dirty="0">
                <a:latin typeface="游ゴシック" panose="020B0400000000000000" pitchFamily="50" charset="-128"/>
                <a:ea typeface="游ゴシック" panose="020B0400000000000000" pitchFamily="50" charset="-128"/>
              </a:rPr>
              <a:t>の機能を含めております。</a:t>
            </a:r>
            <a:endParaRPr lang="en-US" altLang="ja-JP" sz="1200" dirty="0">
              <a:latin typeface="游ゴシック" panose="020B0400000000000000" pitchFamily="50" charset="-128"/>
              <a:ea typeface="游ゴシック" panose="020B0400000000000000" pitchFamily="50" charset="-128"/>
            </a:endParaRPr>
          </a:p>
          <a:p>
            <a:pPr marL="285750" indent="-285750">
              <a:buFont typeface="游ゴシック" panose="020B0400000000000000" pitchFamily="50" charset="-128"/>
              <a:buChar char="※"/>
            </a:pPr>
            <a:r>
              <a:rPr kumimoji="1" lang="ja-JP" altLang="en-US" sz="1200" dirty="0">
                <a:latin typeface="游ゴシック" panose="020B0400000000000000" pitchFamily="50" charset="-128"/>
                <a:ea typeface="游ゴシック" panose="020B0400000000000000" pitchFamily="50" charset="-128"/>
              </a:rPr>
              <a:t>現行プログラムのエクセルファイルに相当するものは帳票数に含めております。</a:t>
            </a:r>
          </a:p>
        </p:txBody>
      </p:sp>
      <p:sp>
        <p:nvSpPr>
          <p:cNvPr id="17" name="1 つの角を丸めた四角形 16"/>
          <p:cNvSpPr/>
          <p:nvPr/>
        </p:nvSpPr>
        <p:spPr>
          <a:xfrm flipH="1">
            <a:off x="143999" y="864000"/>
            <a:ext cx="2088000" cy="360000"/>
          </a:xfrm>
          <a:prstGeom prst="round1Rect">
            <a:avLst>
              <a:gd name="adj" fmla="val 17639"/>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21" name="正方形/長方形 20"/>
          <p:cNvSpPr/>
          <p:nvPr/>
        </p:nvSpPr>
        <p:spPr>
          <a:xfrm>
            <a:off x="144000" y="1260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27" name="正方形/長方形 26"/>
          <p:cNvSpPr/>
          <p:nvPr/>
        </p:nvSpPr>
        <p:spPr>
          <a:xfrm>
            <a:off x="2268000" y="1260000"/>
            <a:ext cx="1656000" cy="3852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33" name="正方形/長方形 32"/>
          <p:cNvSpPr/>
          <p:nvPr/>
        </p:nvSpPr>
        <p:spPr>
          <a:xfrm>
            <a:off x="3960000" y="126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39" name="正方形/長方形 38"/>
          <p:cNvSpPr/>
          <p:nvPr/>
        </p:nvSpPr>
        <p:spPr>
          <a:xfrm>
            <a:off x="7344000" y="1260000"/>
            <a:ext cx="1656000" cy="3852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48" name="テキスト プレースホルダー 11"/>
          <p:cNvSpPr txBox="1">
            <a:spLocks/>
          </p:cNvSpPr>
          <p:nvPr/>
        </p:nvSpPr>
        <p:spPr>
          <a:xfrm>
            <a:off x="145835" y="1260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a:solidFill>
                  <a:schemeClr val="tx1"/>
                </a:solidFill>
                <a:latin typeface="游ゴシック" panose="020B0400000000000000" pitchFamily="50" charset="-128"/>
              </a:rPr>
              <a:t>BO</a:t>
            </a:r>
            <a:r>
              <a:rPr lang="ja-JP" altLang="en-US" sz="1400" dirty="0">
                <a:solidFill>
                  <a:schemeClr val="tx1"/>
                </a:solidFill>
                <a:latin typeface="游ゴシック" panose="020B0400000000000000" pitchFamily="50" charset="-128"/>
              </a:rPr>
              <a:t>荷繰</a:t>
            </a:r>
            <a:endParaRPr lang="en-US" sz="1400" dirty="0">
              <a:solidFill>
                <a:schemeClr val="tx1"/>
              </a:solidFill>
              <a:latin typeface="游ゴシック" panose="020B0400000000000000" pitchFamily="50" charset="-128"/>
            </a:endParaRPr>
          </a:p>
        </p:txBody>
      </p:sp>
      <p:sp>
        <p:nvSpPr>
          <p:cNvPr id="54" name="テキスト プレースホルダー 11"/>
          <p:cNvSpPr txBox="1">
            <a:spLocks/>
          </p:cNvSpPr>
          <p:nvPr/>
        </p:nvSpPr>
        <p:spPr>
          <a:xfrm>
            <a:off x="2268000" y="1260000"/>
            <a:ext cx="1656000" cy="3852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solidFill>
                  <a:srgbClr val="FF0000"/>
                </a:solidFill>
                <a:latin typeface="游ゴシック" panose="020B0400000000000000" pitchFamily="50" charset="-128"/>
              </a:rPr>
              <a:t>1</a:t>
            </a:r>
          </a:p>
        </p:txBody>
      </p:sp>
      <p:sp>
        <p:nvSpPr>
          <p:cNvPr id="60" name="テキスト プレースホルダー 11"/>
          <p:cNvSpPr txBox="1">
            <a:spLocks/>
          </p:cNvSpPr>
          <p:nvPr/>
        </p:nvSpPr>
        <p:spPr>
          <a:xfrm>
            <a:off x="3960000" y="126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28</a:t>
            </a:r>
          </a:p>
        </p:txBody>
      </p:sp>
      <p:sp>
        <p:nvSpPr>
          <p:cNvPr id="66" name="テキスト プレースホルダー 11"/>
          <p:cNvSpPr txBox="1">
            <a:spLocks/>
          </p:cNvSpPr>
          <p:nvPr/>
        </p:nvSpPr>
        <p:spPr>
          <a:xfrm>
            <a:off x="7344000" y="1260000"/>
            <a:ext cx="1656000" cy="3852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solidFill>
                  <a:srgbClr val="FF0000"/>
                </a:solidFill>
                <a:latin typeface="游ゴシック" panose="020B0400000000000000" pitchFamily="50" charset="-128"/>
              </a:rPr>
              <a:t>220</a:t>
            </a:r>
          </a:p>
        </p:txBody>
      </p:sp>
      <p:sp>
        <p:nvSpPr>
          <p:cNvPr id="26" name="1 つの角を丸めた四角形 25"/>
          <p:cNvSpPr/>
          <p:nvPr/>
        </p:nvSpPr>
        <p:spPr>
          <a:xfrm flipH="1" flipV="1">
            <a:off x="148076" y="5148000"/>
            <a:ext cx="2088000" cy="288000"/>
          </a:xfrm>
          <a:prstGeom prst="round1Rect">
            <a:avLst>
              <a:gd name="adj" fmla="val 22049"/>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32" name="正方形/長方形 31"/>
          <p:cNvSpPr/>
          <p:nvPr/>
        </p:nvSpPr>
        <p:spPr>
          <a:xfrm>
            <a:off x="2268000" y="514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44" name="1 つの角を丸めた四角形 43"/>
          <p:cNvSpPr/>
          <p:nvPr/>
        </p:nvSpPr>
        <p:spPr>
          <a:xfrm flipV="1">
            <a:off x="7344000" y="5148000"/>
            <a:ext cx="1656000" cy="288000"/>
          </a:xfrm>
          <a:prstGeom prst="round1Rect">
            <a:avLst>
              <a:gd name="adj" fmla="val 22049"/>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dirty="0">
              <a:latin typeface="游ゴシック" panose="020B0400000000000000" pitchFamily="50" charset="-128"/>
              <a:ea typeface="游ゴシック" panose="020B0400000000000000" pitchFamily="50" charset="-128"/>
            </a:endParaRPr>
          </a:p>
        </p:txBody>
      </p:sp>
      <p:sp>
        <p:nvSpPr>
          <p:cNvPr id="53" name="テキスト プレースホルダー 11"/>
          <p:cNvSpPr txBox="1">
            <a:spLocks/>
          </p:cNvSpPr>
          <p:nvPr/>
        </p:nvSpPr>
        <p:spPr>
          <a:xfrm>
            <a:off x="149911" y="5148000"/>
            <a:ext cx="2088000" cy="288000"/>
          </a:xfrm>
          <a:prstGeom prst="rect">
            <a:avLst/>
          </a:prstGeom>
        </p:spPr>
        <p:txBody>
          <a:bodyPr wrap="none"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b="1" dirty="0">
                <a:solidFill>
                  <a:schemeClr val="tx1"/>
                </a:solidFill>
                <a:latin typeface="游ゴシック" panose="020B0400000000000000" pitchFamily="50" charset="-128"/>
              </a:rPr>
              <a:t>計</a:t>
            </a:r>
            <a:endParaRPr lang="en-US" sz="1400" b="1" dirty="0">
              <a:solidFill>
                <a:schemeClr val="tx1"/>
              </a:solidFill>
              <a:latin typeface="游ゴシック" panose="020B0400000000000000" pitchFamily="50" charset="-128"/>
            </a:endParaRPr>
          </a:p>
        </p:txBody>
      </p:sp>
      <p:sp>
        <p:nvSpPr>
          <p:cNvPr id="59" name="テキスト プレースホルダー 11"/>
          <p:cNvSpPr txBox="1">
            <a:spLocks/>
          </p:cNvSpPr>
          <p:nvPr/>
        </p:nvSpPr>
        <p:spPr>
          <a:xfrm>
            <a:off x="2268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solidFill>
                  <a:srgbClr val="FF0000"/>
                </a:solidFill>
                <a:latin typeface="游ゴシック" panose="020B0400000000000000" pitchFamily="50" charset="-128"/>
              </a:rPr>
              <a:t>1</a:t>
            </a:r>
          </a:p>
        </p:txBody>
      </p:sp>
      <p:sp>
        <p:nvSpPr>
          <p:cNvPr id="65" name="テキスト プレースホルダー 11"/>
          <p:cNvSpPr txBox="1">
            <a:spLocks/>
          </p:cNvSpPr>
          <p:nvPr/>
        </p:nvSpPr>
        <p:spPr>
          <a:xfrm>
            <a:off x="3960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latin typeface="游ゴシック" panose="020B0400000000000000" pitchFamily="50" charset="-128"/>
              </a:rPr>
              <a:t>367</a:t>
            </a:r>
            <a:r>
              <a:rPr lang="en-US" sz="1400" b="1" dirty="0">
                <a:solidFill>
                  <a:srgbClr val="FF0000"/>
                </a:solidFill>
                <a:latin typeface="游ゴシック" panose="020B0400000000000000" pitchFamily="50" charset="-128"/>
              </a:rPr>
              <a:t> </a:t>
            </a:r>
            <a:r>
              <a:rPr lang="ja-JP" altLang="en-US" sz="1400" b="1" dirty="0">
                <a:solidFill>
                  <a:srgbClr val="FF0000"/>
                </a:solidFill>
                <a:latin typeface="游ゴシック" panose="020B0400000000000000" pitchFamily="50" charset="-128"/>
              </a:rPr>
              <a:t>⇒ </a:t>
            </a:r>
            <a:r>
              <a:rPr lang="en-US" altLang="ja-JP" sz="1400" b="1" dirty="0">
                <a:solidFill>
                  <a:srgbClr val="FF0000"/>
                </a:solidFill>
                <a:latin typeface="游ゴシック" panose="020B0400000000000000" pitchFamily="50" charset="-128"/>
              </a:rPr>
              <a:t>331</a:t>
            </a:r>
            <a:endParaRPr lang="en-US" sz="1400" b="1" dirty="0">
              <a:solidFill>
                <a:srgbClr val="FF0000"/>
              </a:solidFill>
              <a:latin typeface="游ゴシック" panose="020B0400000000000000" pitchFamily="50" charset="-128"/>
            </a:endParaRPr>
          </a:p>
        </p:txBody>
      </p:sp>
      <p:sp>
        <p:nvSpPr>
          <p:cNvPr id="71" name="テキスト プレースホルダー 11"/>
          <p:cNvSpPr txBox="1">
            <a:spLocks/>
          </p:cNvSpPr>
          <p:nvPr/>
        </p:nvSpPr>
        <p:spPr>
          <a:xfrm>
            <a:off x="7344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solidFill>
                  <a:srgbClr val="FF0000"/>
                </a:solidFill>
                <a:latin typeface="游ゴシック" panose="020B0400000000000000" pitchFamily="50" charset="-128"/>
              </a:rPr>
              <a:t>220</a:t>
            </a:r>
          </a:p>
        </p:txBody>
      </p:sp>
      <p:sp>
        <p:nvSpPr>
          <p:cNvPr id="75" name="正方形/長方形 74"/>
          <p:cNvSpPr/>
          <p:nvPr/>
        </p:nvSpPr>
        <p:spPr>
          <a:xfrm>
            <a:off x="144000" y="1584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7" name="正方形/長方形 76"/>
          <p:cNvSpPr/>
          <p:nvPr/>
        </p:nvSpPr>
        <p:spPr>
          <a:xfrm>
            <a:off x="3960000" y="158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9" name="テキスト プレースホルダー 11"/>
          <p:cNvSpPr txBox="1">
            <a:spLocks/>
          </p:cNvSpPr>
          <p:nvPr/>
        </p:nvSpPr>
        <p:spPr>
          <a:xfrm>
            <a:off x="145835" y="1584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err="1">
                <a:solidFill>
                  <a:schemeClr val="tx1"/>
                </a:solidFill>
                <a:latin typeface="游ゴシック" panose="020B0400000000000000" pitchFamily="50" charset="-128"/>
              </a:rPr>
              <a:t>OneSAP</a:t>
            </a:r>
            <a:endParaRPr lang="en-US" altLang="ja-JP" sz="1400" dirty="0">
              <a:solidFill>
                <a:schemeClr val="tx1"/>
              </a:solidFill>
              <a:latin typeface="游ゴシック" panose="020B0400000000000000" pitchFamily="50" charset="-128"/>
            </a:endParaRPr>
          </a:p>
        </p:txBody>
      </p:sp>
      <p:sp>
        <p:nvSpPr>
          <p:cNvPr id="81" name="テキスト プレースホルダー 11"/>
          <p:cNvSpPr txBox="1">
            <a:spLocks/>
          </p:cNvSpPr>
          <p:nvPr/>
        </p:nvSpPr>
        <p:spPr>
          <a:xfrm>
            <a:off x="3960000" y="158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14</a:t>
            </a:r>
          </a:p>
        </p:txBody>
      </p:sp>
      <p:sp>
        <p:nvSpPr>
          <p:cNvPr id="93" name="正方形/長方形 92"/>
          <p:cNvSpPr/>
          <p:nvPr/>
        </p:nvSpPr>
        <p:spPr>
          <a:xfrm>
            <a:off x="144000" y="1908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5" name="正方形/長方形 94"/>
          <p:cNvSpPr/>
          <p:nvPr/>
        </p:nvSpPr>
        <p:spPr>
          <a:xfrm>
            <a:off x="3960000" y="190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7" name="テキスト プレースホルダー 11"/>
          <p:cNvSpPr txBox="1">
            <a:spLocks/>
          </p:cNvSpPr>
          <p:nvPr/>
        </p:nvSpPr>
        <p:spPr>
          <a:xfrm>
            <a:off x="145835" y="1908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a:solidFill>
                  <a:schemeClr val="tx1"/>
                </a:solidFill>
                <a:latin typeface="游ゴシック" panose="020B0400000000000000" pitchFamily="50" charset="-128"/>
              </a:rPr>
              <a:t>SCM</a:t>
            </a:r>
          </a:p>
        </p:txBody>
      </p:sp>
      <p:sp>
        <p:nvSpPr>
          <p:cNvPr id="99" name="テキスト プレースホルダー 11"/>
          <p:cNvSpPr txBox="1">
            <a:spLocks/>
          </p:cNvSpPr>
          <p:nvPr/>
        </p:nvSpPr>
        <p:spPr>
          <a:xfrm>
            <a:off x="3960000" y="190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17</a:t>
            </a:r>
          </a:p>
        </p:txBody>
      </p:sp>
      <p:sp>
        <p:nvSpPr>
          <p:cNvPr id="102" name="正方形/長方形 101"/>
          <p:cNvSpPr/>
          <p:nvPr/>
        </p:nvSpPr>
        <p:spPr>
          <a:xfrm>
            <a:off x="144000" y="2232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04" name="正方形/長方形 103"/>
          <p:cNvSpPr/>
          <p:nvPr/>
        </p:nvSpPr>
        <p:spPr>
          <a:xfrm>
            <a:off x="3960000" y="223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06" name="テキスト プレースホルダー 11"/>
          <p:cNvSpPr txBox="1">
            <a:spLocks/>
          </p:cNvSpPr>
          <p:nvPr/>
        </p:nvSpPr>
        <p:spPr>
          <a:xfrm>
            <a:off x="145835" y="2232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共通ライブラリ</a:t>
            </a:r>
            <a:endParaRPr lang="en-US" sz="1400" dirty="0">
              <a:solidFill>
                <a:schemeClr val="tx1"/>
              </a:solidFill>
              <a:latin typeface="游ゴシック" panose="020B0400000000000000" pitchFamily="50" charset="-128"/>
            </a:endParaRPr>
          </a:p>
        </p:txBody>
      </p:sp>
      <p:sp>
        <p:nvSpPr>
          <p:cNvPr id="108" name="テキスト プレースホルダー 11"/>
          <p:cNvSpPr txBox="1">
            <a:spLocks/>
          </p:cNvSpPr>
          <p:nvPr/>
        </p:nvSpPr>
        <p:spPr>
          <a:xfrm>
            <a:off x="3960000" y="223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a:t>
            </a:r>
          </a:p>
        </p:txBody>
      </p:sp>
      <p:sp>
        <p:nvSpPr>
          <p:cNvPr id="120" name="正方形/長方形 119"/>
          <p:cNvSpPr/>
          <p:nvPr/>
        </p:nvSpPr>
        <p:spPr>
          <a:xfrm>
            <a:off x="144000" y="2556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22" name="正方形/長方形 121"/>
          <p:cNvSpPr/>
          <p:nvPr/>
        </p:nvSpPr>
        <p:spPr>
          <a:xfrm>
            <a:off x="3960000" y="255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24" name="テキスト プレースホルダー 11"/>
          <p:cNvSpPr txBox="1">
            <a:spLocks/>
          </p:cNvSpPr>
          <p:nvPr/>
        </p:nvSpPr>
        <p:spPr>
          <a:xfrm>
            <a:off x="145835" y="2556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在庫管理</a:t>
            </a:r>
            <a:endParaRPr lang="en-US" sz="1400" dirty="0">
              <a:solidFill>
                <a:schemeClr val="tx1"/>
              </a:solidFill>
              <a:latin typeface="游ゴシック" panose="020B0400000000000000" pitchFamily="50" charset="-128"/>
            </a:endParaRPr>
          </a:p>
        </p:txBody>
      </p:sp>
      <p:sp>
        <p:nvSpPr>
          <p:cNvPr id="126" name="テキスト プレースホルダー 11"/>
          <p:cNvSpPr txBox="1">
            <a:spLocks/>
          </p:cNvSpPr>
          <p:nvPr/>
        </p:nvSpPr>
        <p:spPr>
          <a:xfrm>
            <a:off x="3960000" y="255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129" name="正方形/長方形 128"/>
          <p:cNvSpPr/>
          <p:nvPr/>
        </p:nvSpPr>
        <p:spPr>
          <a:xfrm>
            <a:off x="144000" y="2880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1" name="正方形/長方形 130"/>
          <p:cNvSpPr/>
          <p:nvPr/>
        </p:nvSpPr>
        <p:spPr>
          <a:xfrm>
            <a:off x="3960000" y="288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3" name="テキスト プレースホルダー 11"/>
          <p:cNvSpPr txBox="1">
            <a:spLocks/>
          </p:cNvSpPr>
          <p:nvPr/>
        </p:nvSpPr>
        <p:spPr>
          <a:xfrm>
            <a:off x="145835" y="2880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参照検索管理資料</a:t>
            </a:r>
            <a:endParaRPr lang="en-US" sz="1400" dirty="0">
              <a:solidFill>
                <a:schemeClr val="tx1"/>
              </a:solidFill>
              <a:latin typeface="游ゴシック" panose="020B0400000000000000" pitchFamily="50" charset="-128"/>
            </a:endParaRPr>
          </a:p>
        </p:txBody>
      </p:sp>
      <p:sp>
        <p:nvSpPr>
          <p:cNvPr id="135" name="テキスト プレースホルダー 11"/>
          <p:cNvSpPr txBox="1">
            <a:spLocks/>
          </p:cNvSpPr>
          <p:nvPr/>
        </p:nvSpPr>
        <p:spPr>
          <a:xfrm>
            <a:off x="3960000" y="288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70" name="正方形/長方形 69"/>
          <p:cNvSpPr/>
          <p:nvPr/>
        </p:nvSpPr>
        <p:spPr>
          <a:xfrm>
            <a:off x="145835" y="3204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73" name="正方形/長方形 72"/>
          <p:cNvSpPr/>
          <p:nvPr/>
        </p:nvSpPr>
        <p:spPr>
          <a:xfrm>
            <a:off x="3960000" y="320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83" name="テキスト プレースホルダー 11"/>
          <p:cNvSpPr txBox="1">
            <a:spLocks/>
          </p:cNvSpPr>
          <p:nvPr/>
        </p:nvSpPr>
        <p:spPr>
          <a:xfrm>
            <a:off x="147670" y="3204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自動倉庫</a:t>
            </a:r>
            <a:endParaRPr lang="en-US" altLang="ja-JP" sz="1400" dirty="0">
              <a:solidFill>
                <a:schemeClr val="tx1"/>
              </a:solidFill>
              <a:latin typeface="游ゴシック" panose="020B0400000000000000" pitchFamily="50" charset="-128"/>
            </a:endParaRPr>
          </a:p>
        </p:txBody>
      </p:sp>
      <p:sp>
        <p:nvSpPr>
          <p:cNvPr id="85" name="テキスト プレースホルダー 11"/>
          <p:cNvSpPr txBox="1">
            <a:spLocks/>
          </p:cNvSpPr>
          <p:nvPr/>
        </p:nvSpPr>
        <p:spPr>
          <a:xfrm>
            <a:off x="3960000" y="320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87" name="正方形/長方形 86"/>
          <p:cNvSpPr/>
          <p:nvPr/>
        </p:nvSpPr>
        <p:spPr>
          <a:xfrm>
            <a:off x="145835" y="3528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89" name="正方形/長方形 88"/>
          <p:cNvSpPr/>
          <p:nvPr/>
        </p:nvSpPr>
        <p:spPr>
          <a:xfrm>
            <a:off x="3960000" y="352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91" name="テキスト プレースホルダー 11"/>
          <p:cNvSpPr txBox="1">
            <a:spLocks/>
          </p:cNvSpPr>
          <p:nvPr/>
        </p:nvSpPr>
        <p:spPr>
          <a:xfrm>
            <a:off x="147670" y="3528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受注入出荷</a:t>
            </a:r>
            <a:endParaRPr lang="en-US" sz="1400" dirty="0">
              <a:solidFill>
                <a:schemeClr val="tx1"/>
              </a:solidFill>
              <a:latin typeface="游ゴシック" panose="020B0400000000000000" pitchFamily="50" charset="-128"/>
            </a:endParaRPr>
          </a:p>
        </p:txBody>
      </p:sp>
      <p:sp>
        <p:nvSpPr>
          <p:cNvPr id="101" name="テキスト プレースホルダー 11"/>
          <p:cNvSpPr txBox="1">
            <a:spLocks/>
          </p:cNvSpPr>
          <p:nvPr/>
        </p:nvSpPr>
        <p:spPr>
          <a:xfrm>
            <a:off x="3960000" y="352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214</a:t>
            </a:r>
          </a:p>
        </p:txBody>
      </p:sp>
      <p:sp>
        <p:nvSpPr>
          <p:cNvPr id="111" name="正方形/長方形 110"/>
          <p:cNvSpPr/>
          <p:nvPr/>
        </p:nvSpPr>
        <p:spPr>
          <a:xfrm>
            <a:off x="145835" y="3852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13" name="正方形/長方形 112"/>
          <p:cNvSpPr/>
          <p:nvPr/>
        </p:nvSpPr>
        <p:spPr>
          <a:xfrm>
            <a:off x="3960000" y="385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15" name="テキスト プレースホルダー 11"/>
          <p:cNvSpPr txBox="1">
            <a:spLocks/>
          </p:cNvSpPr>
          <p:nvPr/>
        </p:nvSpPr>
        <p:spPr>
          <a:xfrm>
            <a:off x="147670" y="3852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充填管理</a:t>
            </a:r>
            <a:endParaRPr lang="en-US" sz="1400" dirty="0">
              <a:solidFill>
                <a:schemeClr val="tx1"/>
              </a:solidFill>
              <a:latin typeface="游ゴシック" panose="020B0400000000000000" pitchFamily="50" charset="-128"/>
            </a:endParaRPr>
          </a:p>
        </p:txBody>
      </p:sp>
      <p:sp>
        <p:nvSpPr>
          <p:cNvPr id="117" name="テキスト プレースホルダー 11"/>
          <p:cNvSpPr txBox="1">
            <a:spLocks/>
          </p:cNvSpPr>
          <p:nvPr/>
        </p:nvSpPr>
        <p:spPr>
          <a:xfrm>
            <a:off x="3960000" y="385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4</a:t>
            </a:r>
          </a:p>
        </p:txBody>
      </p:sp>
      <p:sp>
        <p:nvSpPr>
          <p:cNvPr id="119" name="正方形/長方形 118"/>
          <p:cNvSpPr/>
          <p:nvPr/>
        </p:nvSpPr>
        <p:spPr>
          <a:xfrm>
            <a:off x="145835" y="4176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7" name="正方形/長方形 136"/>
          <p:cNvSpPr/>
          <p:nvPr/>
        </p:nvSpPr>
        <p:spPr>
          <a:xfrm>
            <a:off x="3960000" y="417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39" name="テキスト プレースホルダー 11"/>
          <p:cNvSpPr txBox="1">
            <a:spLocks/>
          </p:cNvSpPr>
          <p:nvPr/>
        </p:nvSpPr>
        <p:spPr>
          <a:xfrm>
            <a:off x="147670" y="4176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商品管理</a:t>
            </a:r>
            <a:endParaRPr lang="en-US" sz="1400" dirty="0">
              <a:solidFill>
                <a:schemeClr val="tx1"/>
              </a:solidFill>
              <a:latin typeface="游ゴシック" panose="020B0400000000000000" pitchFamily="50" charset="-128"/>
            </a:endParaRPr>
          </a:p>
        </p:txBody>
      </p:sp>
      <p:sp>
        <p:nvSpPr>
          <p:cNvPr id="141" name="テキスト プレースホルダー 11"/>
          <p:cNvSpPr txBox="1">
            <a:spLocks/>
          </p:cNvSpPr>
          <p:nvPr/>
        </p:nvSpPr>
        <p:spPr>
          <a:xfrm>
            <a:off x="3960000" y="417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16</a:t>
            </a:r>
          </a:p>
        </p:txBody>
      </p:sp>
      <p:sp>
        <p:nvSpPr>
          <p:cNvPr id="143" name="正方形/長方形 142"/>
          <p:cNvSpPr/>
          <p:nvPr/>
        </p:nvSpPr>
        <p:spPr>
          <a:xfrm>
            <a:off x="145835" y="4500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45" name="正方形/長方形 144"/>
          <p:cNvSpPr/>
          <p:nvPr/>
        </p:nvSpPr>
        <p:spPr>
          <a:xfrm>
            <a:off x="3960000" y="450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47" name="テキスト プレースホルダー 11"/>
          <p:cNvSpPr txBox="1">
            <a:spLocks/>
          </p:cNvSpPr>
          <p:nvPr/>
        </p:nvSpPr>
        <p:spPr>
          <a:xfrm>
            <a:off x="147670" y="4500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生産発注</a:t>
            </a:r>
            <a:endParaRPr lang="en-US" sz="1400" dirty="0">
              <a:solidFill>
                <a:schemeClr val="tx1"/>
              </a:solidFill>
              <a:latin typeface="游ゴシック" panose="020B0400000000000000" pitchFamily="50" charset="-128"/>
            </a:endParaRPr>
          </a:p>
        </p:txBody>
      </p:sp>
      <p:sp>
        <p:nvSpPr>
          <p:cNvPr id="149" name="テキスト プレースホルダー 11"/>
          <p:cNvSpPr txBox="1">
            <a:spLocks/>
          </p:cNvSpPr>
          <p:nvPr/>
        </p:nvSpPr>
        <p:spPr>
          <a:xfrm>
            <a:off x="3960000" y="45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53</a:t>
            </a:r>
          </a:p>
        </p:txBody>
      </p:sp>
      <p:sp>
        <p:nvSpPr>
          <p:cNvPr id="151" name="正方形/長方形 150"/>
          <p:cNvSpPr/>
          <p:nvPr/>
        </p:nvSpPr>
        <p:spPr>
          <a:xfrm>
            <a:off x="145835" y="4824000"/>
            <a:ext cx="2088000" cy="288000"/>
          </a:xfrm>
          <a:prstGeom prst="rect">
            <a:avLst/>
          </a:prstGeom>
          <a:solidFill>
            <a:schemeClr val="accent3">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53" name="正方形/長方形 152"/>
          <p:cNvSpPr/>
          <p:nvPr/>
        </p:nvSpPr>
        <p:spPr>
          <a:xfrm>
            <a:off x="3960000" y="482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55" name="テキスト プレースホルダー 11"/>
          <p:cNvSpPr txBox="1">
            <a:spLocks/>
          </p:cNvSpPr>
          <p:nvPr/>
        </p:nvSpPr>
        <p:spPr>
          <a:xfrm>
            <a:off x="147670" y="4824000"/>
            <a:ext cx="2088000" cy="288000"/>
          </a:xfrm>
          <a:prstGeom prst="rect">
            <a:avLst/>
          </a:prstGeom>
        </p:spPr>
        <p:txBody>
          <a:bodyPr anchor="ctr">
            <a:noAutofit/>
          </a:bodyPr>
          <a:lstStyle>
            <a:lvl1pPr marL="228600" indent="-228600" algn="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solidFill>
                  <a:schemeClr val="tx1"/>
                </a:solidFill>
                <a:latin typeface="游ゴシック" panose="020B0400000000000000" pitchFamily="50" charset="-128"/>
              </a:rPr>
              <a:t>品質管理</a:t>
            </a:r>
            <a:endParaRPr lang="en-US" sz="1400" dirty="0">
              <a:solidFill>
                <a:schemeClr val="tx1"/>
              </a:solidFill>
              <a:latin typeface="游ゴシック" panose="020B0400000000000000" pitchFamily="50" charset="-128"/>
            </a:endParaRPr>
          </a:p>
        </p:txBody>
      </p:sp>
      <p:sp>
        <p:nvSpPr>
          <p:cNvPr id="157" name="テキスト プレースホルダー 11"/>
          <p:cNvSpPr txBox="1">
            <a:spLocks/>
          </p:cNvSpPr>
          <p:nvPr/>
        </p:nvSpPr>
        <p:spPr>
          <a:xfrm>
            <a:off x="3960000" y="482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9</a:t>
            </a:r>
          </a:p>
        </p:txBody>
      </p:sp>
      <p:sp>
        <p:nvSpPr>
          <p:cNvPr id="18" name="正方形/長方形 17"/>
          <p:cNvSpPr/>
          <p:nvPr/>
        </p:nvSpPr>
        <p:spPr>
          <a:xfrm>
            <a:off x="2268000" y="864000"/>
            <a:ext cx="1656000" cy="360000"/>
          </a:xfrm>
          <a:prstGeom prst="rect">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19" name="正方形/長方形 18"/>
          <p:cNvSpPr/>
          <p:nvPr/>
        </p:nvSpPr>
        <p:spPr>
          <a:xfrm>
            <a:off x="3960000" y="864000"/>
            <a:ext cx="1656000" cy="360000"/>
          </a:xfrm>
          <a:prstGeom prst="rect">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20" name="1 つの角を丸めた四角形 19"/>
          <p:cNvSpPr/>
          <p:nvPr/>
        </p:nvSpPr>
        <p:spPr>
          <a:xfrm>
            <a:off x="7344000" y="864000"/>
            <a:ext cx="1656000" cy="360000"/>
          </a:xfrm>
          <a:prstGeom prst="round1Rect">
            <a:avLst>
              <a:gd name="adj" fmla="val 17639"/>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45" name="テキスト プレースホルダー 11"/>
          <p:cNvSpPr txBox="1">
            <a:spLocks/>
          </p:cNvSpPr>
          <p:nvPr/>
        </p:nvSpPr>
        <p:spPr>
          <a:xfrm>
            <a:off x="2268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プログラム数</a:t>
            </a:r>
            <a:endParaRPr lang="en-US" sz="1600" b="1" dirty="0">
              <a:latin typeface="游ゴシック" panose="020B0400000000000000" pitchFamily="50" charset="-128"/>
            </a:endParaRPr>
          </a:p>
        </p:txBody>
      </p:sp>
      <p:sp>
        <p:nvSpPr>
          <p:cNvPr id="46" name="テキスト プレースホルダー 11"/>
          <p:cNvSpPr txBox="1">
            <a:spLocks/>
          </p:cNvSpPr>
          <p:nvPr/>
        </p:nvSpPr>
        <p:spPr>
          <a:xfrm>
            <a:off x="3960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画面数</a:t>
            </a:r>
            <a:endParaRPr lang="en-US" sz="1600" b="1" dirty="0">
              <a:latin typeface="游ゴシック" panose="020B0400000000000000" pitchFamily="50" charset="-128"/>
            </a:endParaRPr>
          </a:p>
        </p:txBody>
      </p:sp>
      <p:sp>
        <p:nvSpPr>
          <p:cNvPr id="47" name="テキスト プレースホルダー 11"/>
          <p:cNvSpPr txBox="1">
            <a:spLocks/>
          </p:cNvSpPr>
          <p:nvPr/>
        </p:nvSpPr>
        <p:spPr>
          <a:xfrm>
            <a:off x="7344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共通機能数</a:t>
            </a:r>
            <a:endParaRPr lang="en-US" sz="1000" b="1" dirty="0">
              <a:latin typeface="游ゴシック" panose="020B0400000000000000" pitchFamily="50" charset="-128"/>
            </a:endParaRPr>
          </a:p>
        </p:txBody>
      </p:sp>
      <p:sp>
        <p:nvSpPr>
          <p:cNvPr id="159" name="正方形/長方形 158"/>
          <p:cNvSpPr/>
          <p:nvPr/>
        </p:nvSpPr>
        <p:spPr>
          <a:xfrm>
            <a:off x="5652000" y="864000"/>
            <a:ext cx="1656000" cy="360000"/>
          </a:xfrm>
          <a:prstGeom prst="rect">
            <a:avLst/>
          </a:prstGeom>
          <a:solidFill>
            <a:schemeClr val="accent3">
              <a:lumMod val="5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600" b="1">
              <a:latin typeface="游ゴシック" panose="020B0400000000000000" pitchFamily="50" charset="-128"/>
              <a:ea typeface="游ゴシック" panose="020B0400000000000000" pitchFamily="50" charset="-128"/>
            </a:endParaRPr>
          </a:p>
        </p:txBody>
      </p:sp>
      <p:sp>
        <p:nvSpPr>
          <p:cNvPr id="160" name="テキスト プレースホルダー 11"/>
          <p:cNvSpPr txBox="1">
            <a:spLocks/>
          </p:cNvSpPr>
          <p:nvPr/>
        </p:nvSpPr>
        <p:spPr>
          <a:xfrm>
            <a:off x="5652000" y="9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400" kern="1200" spc="30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latin typeface="游ゴシック" panose="020B0400000000000000" pitchFamily="50" charset="-128"/>
              </a:rPr>
              <a:t>帳票数</a:t>
            </a:r>
            <a:endParaRPr lang="en-US" sz="1600" b="1" dirty="0">
              <a:latin typeface="游ゴシック" panose="020B0400000000000000" pitchFamily="50" charset="-128"/>
            </a:endParaRPr>
          </a:p>
        </p:txBody>
      </p:sp>
      <p:sp>
        <p:nvSpPr>
          <p:cNvPr id="161" name="正方形/長方形 160"/>
          <p:cNvSpPr/>
          <p:nvPr/>
        </p:nvSpPr>
        <p:spPr>
          <a:xfrm>
            <a:off x="5652000" y="126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2" name="テキスト プレースホルダー 11"/>
          <p:cNvSpPr txBox="1">
            <a:spLocks/>
          </p:cNvSpPr>
          <p:nvPr/>
        </p:nvSpPr>
        <p:spPr>
          <a:xfrm>
            <a:off x="5652000" y="126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3</a:t>
            </a:r>
          </a:p>
        </p:txBody>
      </p:sp>
      <p:sp>
        <p:nvSpPr>
          <p:cNvPr id="164" name="テキスト プレースホルダー 11"/>
          <p:cNvSpPr txBox="1">
            <a:spLocks/>
          </p:cNvSpPr>
          <p:nvPr/>
        </p:nvSpPr>
        <p:spPr>
          <a:xfrm>
            <a:off x="5652000" y="514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b="1" dirty="0">
                <a:latin typeface="游ゴシック" panose="020B0400000000000000" pitchFamily="50" charset="-128"/>
              </a:rPr>
              <a:t>83</a:t>
            </a:r>
          </a:p>
        </p:txBody>
      </p:sp>
      <p:sp>
        <p:nvSpPr>
          <p:cNvPr id="165" name="正方形/長方形 164"/>
          <p:cNvSpPr/>
          <p:nvPr/>
        </p:nvSpPr>
        <p:spPr>
          <a:xfrm>
            <a:off x="5652000" y="158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6" name="テキスト プレースホルダー 11"/>
          <p:cNvSpPr txBox="1">
            <a:spLocks/>
          </p:cNvSpPr>
          <p:nvPr/>
        </p:nvSpPr>
        <p:spPr>
          <a:xfrm>
            <a:off x="5652000" y="158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5</a:t>
            </a:r>
          </a:p>
        </p:txBody>
      </p:sp>
      <p:sp>
        <p:nvSpPr>
          <p:cNvPr id="167" name="正方形/長方形 166"/>
          <p:cNvSpPr/>
          <p:nvPr/>
        </p:nvSpPr>
        <p:spPr>
          <a:xfrm>
            <a:off x="5652000" y="190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68" name="テキスト プレースホルダー 11"/>
          <p:cNvSpPr txBox="1">
            <a:spLocks/>
          </p:cNvSpPr>
          <p:nvPr/>
        </p:nvSpPr>
        <p:spPr>
          <a:xfrm>
            <a:off x="5652000" y="190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12</a:t>
            </a:r>
          </a:p>
        </p:txBody>
      </p:sp>
      <p:sp>
        <p:nvSpPr>
          <p:cNvPr id="169" name="正方形/長方形 168"/>
          <p:cNvSpPr/>
          <p:nvPr/>
        </p:nvSpPr>
        <p:spPr>
          <a:xfrm>
            <a:off x="5652000" y="223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0" name="テキスト プレースホルダー 11"/>
          <p:cNvSpPr txBox="1">
            <a:spLocks/>
          </p:cNvSpPr>
          <p:nvPr/>
        </p:nvSpPr>
        <p:spPr>
          <a:xfrm>
            <a:off x="5652000" y="223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171" name="正方形/長方形 170"/>
          <p:cNvSpPr/>
          <p:nvPr/>
        </p:nvSpPr>
        <p:spPr>
          <a:xfrm>
            <a:off x="5652000" y="255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2" name="テキスト プレースホルダー 11"/>
          <p:cNvSpPr txBox="1">
            <a:spLocks/>
          </p:cNvSpPr>
          <p:nvPr/>
        </p:nvSpPr>
        <p:spPr>
          <a:xfrm>
            <a:off x="5652000" y="255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4</a:t>
            </a:r>
          </a:p>
        </p:txBody>
      </p:sp>
      <p:sp>
        <p:nvSpPr>
          <p:cNvPr id="173" name="正方形/長方形 172"/>
          <p:cNvSpPr/>
          <p:nvPr/>
        </p:nvSpPr>
        <p:spPr>
          <a:xfrm>
            <a:off x="5652000" y="288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4" name="テキスト プレースホルダー 11"/>
          <p:cNvSpPr txBox="1">
            <a:spLocks/>
          </p:cNvSpPr>
          <p:nvPr/>
        </p:nvSpPr>
        <p:spPr>
          <a:xfrm>
            <a:off x="5652000" y="288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3</a:t>
            </a:r>
          </a:p>
        </p:txBody>
      </p:sp>
      <p:sp>
        <p:nvSpPr>
          <p:cNvPr id="175" name="正方形/長方形 174"/>
          <p:cNvSpPr/>
          <p:nvPr/>
        </p:nvSpPr>
        <p:spPr>
          <a:xfrm>
            <a:off x="5652000" y="320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6" name="テキスト プレースホルダー 11"/>
          <p:cNvSpPr txBox="1">
            <a:spLocks/>
          </p:cNvSpPr>
          <p:nvPr/>
        </p:nvSpPr>
        <p:spPr>
          <a:xfrm>
            <a:off x="5652000" y="320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a:t>
            </a:r>
          </a:p>
        </p:txBody>
      </p:sp>
      <p:sp>
        <p:nvSpPr>
          <p:cNvPr id="177" name="正方形/長方形 176"/>
          <p:cNvSpPr/>
          <p:nvPr/>
        </p:nvSpPr>
        <p:spPr>
          <a:xfrm>
            <a:off x="5652000" y="3528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78" name="テキスト プレースホルダー 11"/>
          <p:cNvSpPr txBox="1">
            <a:spLocks/>
          </p:cNvSpPr>
          <p:nvPr/>
        </p:nvSpPr>
        <p:spPr>
          <a:xfrm>
            <a:off x="5652000" y="3528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18</a:t>
            </a:r>
          </a:p>
        </p:txBody>
      </p:sp>
      <p:sp>
        <p:nvSpPr>
          <p:cNvPr id="179" name="正方形/長方形 178"/>
          <p:cNvSpPr/>
          <p:nvPr/>
        </p:nvSpPr>
        <p:spPr>
          <a:xfrm>
            <a:off x="5652000" y="3852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0" name="テキスト プレースホルダー 11"/>
          <p:cNvSpPr txBox="1">
            <a:spLocks/>
          </p:cNvSpPr>
          <p:nvPr/>
        </p:nvSpPr>
        <p:spPr>
          <a:xfrm>
            <a:off x="5652000" y="3852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0</a:t>
            </a:r>
          </a:p>
        </p:txBody>
      </p:sp>
      <p:sp>
        <p:nvSpPr>
          <p:cNvPr id="181" name="正方形/長方形 180"/>
          <p:cNvSpPr/>
          <p:nvPr/>
        </p:nvSpPr>
        <p:spPr>
          <a:xfrm>
            <a:off x="5652000" y="4176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2" name="テキスト プレースホルダー 11"/>
          <p:cNvSpPr txBox="1">
            <a:spLocks/>
          </p:cNvSpPr>
          <p:nvPr/>
        </p:nvSpPr>
        <p:spPr>
          <a:xfrm>
            <a:off x="5652000" y="4176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8</a:t>
            </a:r>
          </a:p>
        </p:txBody>
      </p:sp>
      <p:sp>
        <p:nvSpPr>
          <p:cNvPr id="183" name="正方形/長方形 182"/>
          <p:cNvSpPr/>
          <p:nvPr/>
        </p:nvSpPr>
        <p:spPr>
          <a:xfrm>
            <a:off x="5652000" y="4500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4" name="テキスト プレースホルダー 11"/>
          <p:cNvSpPr txBox="1">
            <a:spLocks/>
          </p:cNvSpPr>
          <p:nvPr/>
        </p:nvSpPr>
        <p:spPr>
          <a:xfrm>
            <a:off x="5652000" y="4500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27</a:t>
            </a:r>
          </a:p>
        </p:txBody>
      </p:sp>
      <p:sp>
        <p:nvSpPr>
          <p:cNvPr id="185" name="正方形/長方形 184"/>
          <p:cNvSpPr/>
          <p:nvPr/>
        </p:nvSpPr>
        <p:spPr>
          <a:xfrm>
            <a:off x="5652000" y="4824000"/>
            <a:ext cx="1656000" cy="288000"/>
          </a:xfrm>
          <a:prstGeom prst="rect">
            <a:avLst/>
          </a:prstGeom>
          <a:solidFill>
            <a:schemeClr val="accent1">
              <a:lumMod val="20000"/>
              <a:lumOff val="80000"/>
            </a:schemeClr>
          </a:solidFill>
          <a:ln w="12700" cmpd="thinThick">
            <a:no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400">
              <a:latin typeface="游ゴシック" panose="020B0400000000000000" pitchFamily="50" charset="-128"/>
              <a:ea typeface="游ゴシック" panose="020B0400000000000000" pitchFamily="50" charset="-128"/>
            </a:endParaRPr>
          </a:p>
        </p:txBody>
      </p:sp>
      <p:sp>
        <p:nvSpPr>
          <p:cNvPr id="186" name="テキスト プレースホルダー 11"/>
          <p:cNvSpPr txBox="1">
            <a:spLocks/>
          </p:cNvSpPr>
          <p:nvPr/>
        </p:nvSpPr>
        <p:spPr>
          <a:xfrm>
            <a:off x="5652000" y="4824000"/>
            <a:ext cx="1656000" cy="288000"/>
          </a:xfrm>
          <a:prstGeom prst="rect">
            <a:avLst/>
          </a:prstGeom>
        </p:spPr>
        <p:txBody>
          <a:bodyPr anchor="ctr">
            <a:noAutofit/>
          </a:bodyPr>
          <a:lstStyle>
            <a:lvl1pPr marL="228600" indent="-228600" algn="ctr" defTabSz="914400" rtl="0" eaLnBrk="1" latinLnBrk="1" hangingPunct="1">
              <a:lnSpc>
                <a:spcPct val="120000"/>
              </a:lnSpc>
              <a:spcBef>
                <a:spcPts val="1000"/>
              </a:spcBef>
              <a:buFont typeface="Arial" panose="020B0604020202020204" pitchFamily="34" charset="0"/>
              <a:buChar char="•"/>
              <a:defRPr kumimoji="1" sz="2000" kern="1200" spc="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sz="1400" dirty="0">
                <a:latin typeface="游ゴシック" panose="020B0400000000000000" pitchFamily="50" charset="-128"/>
              </a:rPr>
              <a:t>1</a:t>
            </a:r>
          </a:p>
        </p:txBody>
      </p:sp>
      <p:sp>
        <p:nvSpPr>
          <p:cNvPr id="187" name="線吹き出し 1 (枠付き) 186"/>
          <p:cNvSpPr/>
          <p:nvPr/>
        </p:nvSpPr>
        <p:spPr>
          <a:xfrm flipH="1">
            <a:off x="4176000" y="2160000"/>
            <a:ext cx="2880000" cy="432000"/>
          </a:xfrm>
          <a:prstGeom prst="borderCallout1">
            <a:avLst>
              <a:gd name="adj1" fmla="val 22697"/>
              <a:gd name="adj2" fmla="val -141"/>
              <a:gd name="adj3" fmla="val 49088"/>
              <a:gd name="adj4" fmla="val -6832"/>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200" dirty="0">
                <a:solidFill>
                  <a:schemeClr val="tx1"/>
                </a:solidFill>
                <a:latin typeface="游ゴシック" panose="020B0400000000000000" pitchFamily="50" charset="-128"/>
                <a:ea typeface="游ゴシック" panose="020B0400000000000000" pitchFamily="50" charset="-128"/>
              </a:rPr>
              <a:t>現行システムにおける</a:t>
            </a:r>
            <a:r>
              <a:rPr kumimoji="1" lang="en-US" altLang="ja-JP" sz="1200" dirty="0">
                <a:solidFill>
                  <a:schemeClr val="tx1"/>
                </a:solidFill>
                <a:latin typeface="游ゴシック" panose="020B0400000000000000" pitchFamily="50" charset="-128"/>
                <a:ea typeface="游ゴシック" panose="020B0400000000000000" pitchFamily="50" charset="-128"/>
              </a:rPr>
              <a:t>605</a:t>
            </a:r>
            <a:r>
              <a:rPr kumimoji="1" lang="ja-JP" altLang="en-US" sz="1200" dirty="0">
                <a:solidFill>
                  <a:schemeClr val="tx1"/>
                </a:solidFill>
                <a:latin typeface="游ゴシック" panose="020B0400000000000000" pitchFamily="50" charset="-128"/>
                <a:ea typeface="游ゴシック" panose="020B0400000000000000" pitchFamily="50" charset="-128"/>
              </a:rPr>
              <a:t>機能を共通機能として共通化し機能数を削減します。</a:t>
            </a:r>
          </a:p>
        </p:txBody>
      </p:sp>
      <p:sp>
        <p:nvSpPr>
          <p:cNvPr id="6" name="正方形/長方形 5"/>
          <p:cNvSpPr/>
          <p:nvPr/>
        </p:nvSpPr>
        <p:spPr>
          <a:xfrm>
            <a:off x="7272000" y="1188000"/>
            <a:ext cx="1800000" cy="4320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90" name="線吹き出し 1 (枠付き) 189"/>
          <p:cNvSpPr/>
          <p:nvPr/>
        </p:nvSpPr>
        <p:spPr>
          <a:xfrm flipH="1">
            <a:off x="4392000" y="4140000"/>
            <a:ext cx="2772000" cy="648000"/>
          </a:xfrm>
          <a:prstGeom prst="borderCallout1">
            <a:avLst>
              <a:gd name="adj1" fmla="val 100452"/>
              <a:gd name="adj2" fmla="val 90105"/>
              <a:gd name="adj3" fmla="val 145127"/>
              <a:gd name="adj4" fmla="val 103794"/>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r>
              <a:rPr lang="ja-JP" altLang="en-US" sz="1200" dirty="0">
                <a:solidFill>
                  <a:schemeClr val="tx1"/>
                </a:solidFill>
                <a:latin typeface="游ゴシック" panose="020B0400000000000000" pitchFamily="50" charset="-128"/>
                <a:ea typeface="游ゴシック" panose="020B0400000000000000" pitchFamily="50" charset="-128"/>
              </a:rPr>
              <a:t>画面の機能に変更はありませんが、統廃合を行い画面数を削減します。</a:t>
            </a:r>
            <a:endParaRPr lang="en-US" altLang="ja-JP" sz="1200" dirty="0">
              <a:solidFill>
                <a:schemeClr val="tx1"/>
              </a:solidFill>
              <a:latin typeface="游ゴシック" panose="020B0400000000000000" pitchFamily="50" charset="-128"/>
              <a:ea typeface="游ゴシック" panose="020B0400000000000000" pitchFamily="50" charset="-128"/>
            </a:endParaRPr>
          </a:p>
          <a:p>
            <a:r>
              <a:rPr kumimoji="1" lang="en-US" altLang="ja-JP" sz="1200" dirty="0">
                <a:solidFill>
                  <a:schemeClr val="tx1"/>
                </a:solidFill>
                <a:latin typeface="游ゴシック" panose="020B0400000000000000" pitchFamily="50" charset="-128"/>
                <a:ea typeface="游ゴシック" panose="020B0400000000000000" pitchFamily="50" charset="-128"/>
              </a:rPr>
              <a:t>10%</a:t>
            </a:r>
            <a:r>
              <a:rPr lang="ja-JP" altLang="en-US" sz="1200" dirty="0">
                <a:solidFill>
                  <a:schemeClr val="tx1"/>
                </a:solidFill>
                <a:latin typeface="游ゴシック" panose="020B0400000000000000" pitchFamily="50" charset="-128"/>
                <a:ea typeface="游ゴシック" panose="020B0400000000000000" pitchFamily="50" charset="-128"/>
              </a:rPr>
              <a:t>程度は削減できる見込みです。</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91" name="正方形/長方形 190"/>
          <p:cNvSpPr/>
          <p:nvPr/>
        </p:nvSpPr>
        <p:spPr>
          <a:xfrm>
            <a:off x="2196000" y="1188000"/>
            <a:ext cx="1800000" cy="4320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93" name="線吹き出し 1 (枠付き) 192"/>
          <p:cNvSpPr/>
          <p:nvPr/>
        </p:nvSpPr>
        <p:spPr>
          <a:xfrm>
            <a:off x="4176000" y="1512000"/>
            <a:ext cx="2880000" cy="432000"/>
          </a:xfrm>
          <a:prstGeom prst="borderCallout1">
            <a:avLst>
              <a:gd name="adj1" fmla="val 22697"/>
              <a:gd name="adj2" fmla="val -141"/>
              <a:gd name="adj3" fmla="val 49088"/>
              <a:gd name="adj4" fmla="val -6832"/>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r>
              <a:rPr kumimoji="1" lang="ja-JP" altLang="en-US" sz="1200" dirty="0">
                <a:solidFill>
                  <a:schemeClr val="tx1"/>
                </a:solidFill>
                <a:latin typeface="游ゴシック" panose="020B0400000000000000" pitchFamily="50" charset="-128"/>
                <a:ea typeface="游ゴシック" panose="020B0400000000000000" pitchFamily="50" charset="-128"/>
              </a:rPr>
              <a:t>プログラムとしては</a:t>
            </a:r>
            <a:r>
              <a:rPr kumimoji="1" lang="en-US" altLang="ja-JP" sz="1200" dirty="0">
                <a:solidFill>
                  <a:schemeClr val="tx1"/>
                </a:solidFill>
                <a:latin typeface="游ゴシック" panose="020B0400000000000000" pitchFamily="50" charset="-128"/>
                <a:ea typeface="游ゴシック" panose="020B0400000000000000" pitchFamily="50" charset="-128"/>
              </a:rPr>
              <a:t>1</a:t>
            </a:r>
            <a:r>
              <a:rPr kumimoji="1" lang="ja-JP" altLang="en-US" sz="1200" dirty="0">
                <a:solidFill>
                  <a:schemeClr val="tx1"/>
                </a:solidFill>
                <a:latin typeface="游ゴシック" panose="020B0400000000000000" pitchFamily="50" charset="-128"/>
                <a:ea typeface="游ゴシック" panose="020B0400000000000000" pitchFamily="50" charset="-128"/>
              </a:rPr>
              <a:t>つとする想定</a:t>
            </a:r>
            <a:r>
              <a:rPr lang="ja-JP" altLang="en-US" sz="1200" dirty="0">
                <a:solidFill>
                  <a:schemeClr val="tx1"/>
                </a:solidFill>
                <a:latin typeface="游ゴシック" panose="020B0400000000000000" pitchFamily="50" charset="-128"/>
                <a:ea typeface="游ゴシック" panose="020B0400000000000000" pitchFamily="50" charset="-128"/>
              </a:rPr>
              <a:t>です。</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88" name="正方形/長方形 187"/>
          <p:cNvSpPr/>
          <p:nvPr/>
        </p:nvSpPr>
        <p:spPr>
          <a:xfrm>
            <a:off x="3888000" y="5076000"/>
            <a:ext cx="1800000" cy="432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799417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開発環境の変更点</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22</a:t>
            </a:fld>
            <a:endParaRPr kumimoji="1" lang="ja-JP" altLang="en-US"/>
          </a:p>
        </p:txBody>
      </p:sp>
      <p:sp>
        <p:nvSpPr>
          <p:cNvPr id="6" name="テキスト ボックス 5"/>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最新かつ比較的</a:t>
            </a:r>
            <a:r>
              <a:rPr lang="en-US" altLang="ja-JP" sz="1400" dirty="0">
                <a:latin typeface="游ゴシック" panose="020B0400000000000000" pitchFamily="50" charset="-128"/>
                <a:ea typeface="游ゴシック" panose="020B0400000000000000" pitchFamily="50" charset="-128"/>
              </a:rPr>
              <a:t>VB</a:t>
            </a:r>
            <a:r>
              <a:rPr lang="ja-JP" altLang="en-US" sz="1400" dirty="0">
                <a:latin typeface="游ゴシック" panose="020B0400000000000000" pitchFamily="50" charset="-128"/>
                <a:ea typeface="游ゴシック" panose="020B0400000000000000" pitchFamily="50" charset="-128"/>
              </a:rPr>
              <a:t>からの移行がしやすい開発環境を選択します。</a:t>
            </a:r>
            <a:endParaRPr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サードパーティ製品は廃止し汎用的なツールを有効活用します。</a:t>
            </a:r>
          </a:p>
        </p:txBody>
      </p:sp>
      <p:sp>
        <p:nvSpPr>
          <p:cNvPr id="11" name="テキスト ボックス 10"/>
          <p:cNvSpPr txBox="1">
            <a:spLocks/>
          </p:cNvSpPr>
          <p:nvPr/>
        </p:nvSpPr>
        <p:spPr>
          <a:xfrm>
            <a:off x="216000" y="3672000"/>
            <a:ext cx="2808000" cy="2520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統合開発環境として、</a:t>
            </a:r>
            <a:r>
              <a:rPr lang="ja-JP" altLang="en-US" sz="1400" b="1" dirty="0">
                <a:solidFill>
                  <a:schemeClr val="accent1"/>
                </a:solidFill>
                <a:latin typeface="游ゴシック" panose="020B0400000000000000" pitchFamily="50" charset="-128"/>
                <a:ea typeface="游ゴシック" panose="020B0400000000000000" pitchFamily="50" charset="-128"/>
              </a:rPr>
              <a:t>「</a:t>
            </a:r>
            <a:r>
              <a:rPr lang="en-US" altLang="ja-JP" sz="1400" b="1" dirty="0">
                <a:solidFill>
                  <a:schemeClr val="accent1"/>
                </a:solidFill>
                <a:latin typeface="游ゴシック" panose="020B0400000000000000" pitchFamily="50" charset="-128"/>
                <a:ea typeface="游ゴシック" panose="020B0400000000000000" pitchFamily="50" charset="-128"/>
              </a:rPr>
              <a:t>Visual Studio 2019</a:t>
            </a:r>
            <a:r>
              <a:rPr lang="ja-JP" altLang="en-US" sz="1400" b="1" dirty="0">
                <a:solidFill>
                  <a:schemeClr val="accent1"/>
                </a:solidFill>
                <a:latin typeface="游ゴシック" panose="020B0400000000000000" pitchFamily="50" charset="-128"/>
                <a:ea typeface="游ゴシック" panose="020B0400000000000000" pitchFamily="50" charset="-128"/>
              </a:rPr>
              <a:t>」を採用</a:t>
            </a:r>
            <a:r>
              <a:rPr lang="ja-JP" altLang="en-US" sz="1400" dirty="0">
                <a:latin typeface="游ゴシック" panose="020B0400000000000000" pitchFamily="50" charset="-128"/>
                <a:ea typeface="游ゴシック" panose="020B0400000000000000" pitchFamily="50" charset="-128"/>
              </a:rPr>
              <a:t>します。「</a:t>
            </a:r>
            <a:r>
              <a:rPr lang="en-US" altLang="ja-JP" sz="1400" dirty="0">
                <a:latin typeface="游ゴシック" panose="020B0400000000000000" pitchFamily="50" charset="-128"/>
                <a:ea typeface="游ゴシック" panose="020B0400000000000000" pitchFamily="50" charset="-128"/>
              </a:rPr>
              <a:t>Visual Studio 2019</a:t>
            </a:r>
            <a:r>
              <a:rPr lang="ja-JP" altLang="en-US" sz="1400" dirty="0">
                <a:latin typeface="游ゴシック" panose="020B0400000000000000" pitchFamily="50" charset="-128"/>
                <a:ea typeface="游ゴシック" panose="020B0400000000000000" pitchFamily="50" charset="-128"/>
              </a:rPr>
              <a:t>」は、</a:t>
            </a:r>
            <a:r>
              <a:rPr lang="en-US" altLang="ja-JP" sz="1400" dirty="0">
                <a:latin typeface="游ゴシック" panose="020B0400000000000000" pitchFamily="50" charset="-128"/>
                <a:ea typeface="游ゴシック" panose="020B0400000000000000" pitchFamily="50" charset="-128"/>
              </a:rPr>
              <a:t> </a:t>
            </a:r>
            <a:r>
              <a:rPr lang="ja-JP" altLang="en-US" sz="1400" dirty="0">
                <a:latin typeface="游ゴシック" panose="020B0400000000000000" pitchFamily="50" charset="-128"/>
                <a:ea typeface="游ゴシック" panose="020B0400000000000000" pitchFamily="50" charset="-128"/>
              </a:rPr>
              <a:t>現時点における</a:t>
            </a:r>
            <a:r>
              <a:rPr lang="en-US" altLang="ja-JP" sz="1400" dirty="0">
                <a:latin typeface="游ゴシック" panose="020B0400000000000000" pitchFamily="50" charset="-128"/>
                <a:ea typeface="游ゴシック" panose="020B0400000000000000" pitchFamily="50" charset="-128"/>
              </a:rPr>
              <a:t>Visual Studio</a:t>
            </a:r>
            <a:r>
              <a:rPr lang="ja-JP" altLang="en-US" sz="1400" dirty="0">
                <a:latin typeface="游ゴシック" panose="020B0400000000000000" pitchFamily="50" charset="-128"/>
                <a:ea typeface="游ゴシック" panose="020B0400000000000000" pitchFamily="50" charset="-128"/>
              </a:rPr>
              <a:t>の最新バージョンであり、</a:t>
            </a:r>
            <a:r>
              <a:rPr lang="en-US" altLang="ja-JP" sz="1400" b="1" dirty="0">
                <a:solidFill>
                  <a:schemeClr val="accent1"/>
                </a:solidFill>
                <a:latin typeface="游ゴシック" panose="020B0400000000000000" pitchFamily="50" charset="-128"/>
                <a:ea typeface="游ゴシック" panose="020B0400000000000000" pitchFamily="50" charset="-128"/>
              </a:rPr>
              <a:t>2029</a:t>
            </a:r>
            <a:r>
              <a:rPr lang="ja-JP" altLang="en-US" sz="1400" b="1" dirty="0">
                <a:solidFill>
                  <a:schemeClr val="accent1"/>
                </a:solidFill>
                <a:latin typeface="游ゴシック" panose="020B0400000000000000" pitchFamily="50" charset="-128"/>
                <a:ea typeface="游ゴシック" panose="020B0400000000000000" pitchFamily="50" charset="-128"/>
              </a:rPr>
              <a:t>年</a:t>
            </a:r>
            <a:r>
              <a:rPr lang="en-US" altLang="ja-JP" sz="1400" b="1" dirty="0">
                <a:solidFill>
                  <a:schemeClr val="accent1"/>
                </a:solidFill>
                <a:latin typeface="游ゴシック" panose="020B0400000000000000" pitchFamily="50" charset="-128"/>
                <a:ea typeface="游ゴシック" panose="020B0400000000000000" pitchFamily="50" charset="-128"/>
              </a:rPr>
              <a:t>4</a:t>
            </a:r>
            <a:r>
              <a:rPr lang="ja-JP" altLang="en-US" sz="1400" b="1" dirty="0">
                <a:solidFill>
                  <a:schemeClr val="accent1"/>
                </a:solidFill>
                <a:latin typeface="游ゴシック" panose="020B0400000000000000" pitchFamily="50" charset="-128"/>
                <a:ea typeface="游ゴシック" panose="020B0400000000000000" pitchFamily="50" charset="-128"/>
              </a:rPr>
              <a:t>月までのサポート</a:t>
            </a:r>
            <a:r>
              <a:rPr lang="ja-JP" altLang="en-US" sz="1400" dirty="0">
                <a:latin typeface="游ゴシック" panose="020B0400000000000000" pitchFamily="50" charset="-128"/>
                <a:ea typeface="游ゴシック" panose="020B0400000000000000" pitchFamily="50" charset="-128"/>
              </a:rPr>
              <a:t>が予定されております。</a:t>
            </a:r>
            <a:endParaRPr lang="en-US" altLang="ja-JP" sz="1400" dirty="0">
              <a:latin typeface="游ゴシック" panose="020B0400000000000000" pitchFamily="50" charset="-128"/>
              <a:ea typeface="游ゴシック" panose="020B0400000000000000" pitchFamily="50" charset="-128"/>
            </a:endParaRPr>
          </a:p>
          <a:p>
            <a:r>
              <a:rPr lang="en-US" altLang="ja-JP" sz="1400" dirty="0">
                <a:latin typeface="游ゴシック" panose="020B0400000000000000" pitchFamily="50" charset="-128"/>
                <a:ea typeface="游ゴシック" panose="020B0400000000000000" pitchFamily="50" charset="-128"/>
              </a:rPr>
              <a:t>2022</a:t>
            </a:r>
            <a:r>
              <a:rPr lang="ja-JP" altLang="en-US" sz="1400" dirty="0">
                <a:latin typeface="游ゴシック" panose="020B0400000000000000" pitchFamily="50" charset="-128"/>
                <a:ea typeface="游ゴシック" panose="020B0400000000000000" pitchFamily="50" charset="-128"/>
              </a:rPr>
              <a:t>年のリリース後も</a:t>
            </a:r>
            <a:r>
              <a:rPr lang="en-US" altLang="ja-JP" sz="1400" dirty="0">
                <a:latin typeface="游ゴシック" panose="020B0400000000000000" pitchFamily="50" charset="-128"/>
                <a:ea typeface="游ゴシック" panose="020B0400000000000000" pitchFamily="50" charset="-128"/>
              </a:rPr>
              <a:t>7</a:t>
            </a:r>
            <a:r>
              <a:rPr lang="ja-JP" altLang="en-US" sz="1400" dirty="0">
                <a:latin typeface="游ゴシック" panose="020B0400000000000000" pitchFamily="50" charset="-128"/>
                <a:ea typeface="游ゴシック" panose="020B0400000000000000" pitchFamily="50" charset="-128"/>
              </a:rPr>
              <a:t>年間は使用し続けることが可能です。開発言語は</a:t>
            </a:r>
            <a:r>
              <a:rPr lang="en-US" altLang="ja-JP" sz="1400" dirty="0">
                <a:latin typeface="游ゴシック" panose="020B0400000000000000" pitchFamily="50" charset="-128"/>
                <a:ea typeface="游ゴシック" panose="020B0400000000000000" pitchFamily="50" charset="-128"/>
              </a:rPr>
              <a:t>VB</a:t>
            </a:r>
            <a:r>
              <a:rPr lang="ja-JP" altLang="en-US" sz="1400" dirty="0">
                <a:latin typeface="游ゴシック" panose="020B0400000000000000" pitchFamily="50" charset="-128"/>
                <a:ea typeface="游ゴシック" panose="020B0400000000000000" pitchFamily="50" charset="-128"/>
              </a:rPr>
              <a:t>と文法がほとんど同じである</a:t>
            </a:r>
            <a:r>
              <a:rPr lang="en-US" altLang="ja-JP" sz="1400" dirty="0">
                <a:latin typeface="游ゴシック" panose="020B0400000000000000" pitchFamily="50" charset="-128"/>
                <a:ea typeface="游ゴシック" panose="020B0400000000000000" pitchFamily="50" charset="-128"/>
              </a:rPr>
              <a:t>VB.NET</a:t>
            </a:r>
            <a:r>
              <a:rPr lang="ja-JP" altLang="en-US" sz="1400" dirty="0">
                <a:latin typeface="游ゴシック" panose="020B0400000000000000" pitchFamily="50" charset="-128"/>
                <a:ea typeface="游ゴシック" panose="020B0400000000000000" pitchFamily="50" charset="-128"/>
              </a:rPr>
              <a:t>を採用します。</a:t>
            </a:r>
            <a:endParaRPr lang="en-US" altLang="ja-JP" sz="1400" dirty="0">
              <a:latin typeface="游ゴシック" panose="020B0400000000000000" pitchFamily="50" charset="-128"/>
              <a:ea typeface="游ゴシック" panose="020B0400000000000000" pitchFamily="50" charset="-128"/>
            </a:endParaRPr>
          </a:p>
          <a:p>
            <a:endParaRPr kumimoji="1" lang="ja-JP" altLang="en-US" sz="1400" dirty="0">
              <a:latin typeface="游ゴシック" panose="020B0400000000000000" pitchFamily="50" charset="-128"/>
              <a:ea typeface="游ゴシック" panose="020B0400000000000000" pitchFamily="50" charset="-128"/>
            </a:endParaRPr>
          </a:p>
        </p:txBody>
      </p:sp>
      <p:sp>
        <p:nvSpPr>
          <p:cNvPr id="12" name="テキスト ボックス 11"/>
          <p:cNvSpPr txBox="1">
            <a:spLocks/>
          </p:cNvSpPr>
          <p:nvPr/>
        </p:nvSpPr>
        <p:spPr>
          <a:xfrm>
            <a:off x="216000" y="3060000"/>
            <a:ext cx="2808000" cy="576000"/>
          </a:xfrm>
          <a:prstGeom prst="rect">
            <a:avLst/>
          </a:prstGeom>
          <a:noFill/>
        </p:spPr>
        <p:txBody>
          <a:bodyPr wrap="square" rtlCol="0" anchor="ctr">
            <a:noAutofit/>
          </a:bodyPr>
          <a:lstStyle/>
          <a:p>
            <a:pPr algn="ctr"/>
            <a:r>
              <a:rPr kumimoji="1" lang="en-US" altLang="ja-JP" sz="1600" b="1" dirty="0">
                <a:solidFill>
                  <a:schemeClr val="accent1">
                    <a:lumMod val="50000"/>
                  </a:schemeClr>
                </a:solidFill>
                <a:latin typeface="游ゴシック" panose="020B0400000000000000" pitchFamily="50" charset="-128"/>
                <a:ea typeface="游ゴシック" panose="020B0400000000000000" pitchFamily="50" charset="-128"/>
              </a:rPr>
              <a:t>Visual Studio 2019</a:t>
            </a:r>
          </a:p>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（統合開発環境）</a:t>
            </a:r>
            <a:endParaRPr lang="en-US" altLang="ja-JP"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3" name="テキスト ボックス 12"/>
          <p:cNvSpPr txBox="1">
            <a:spLocks/>
          </p:cNvSpPr>
          <p:nvPr/>
        </p:nvSpPr>
        <p:spPr>
          <a:xfrm>
            <a:off x="3168000" y="3672000"/>
            <a:ext cx="2808000" cy="2520000"/>
          </a:xfrm>
          <a:prstGeom prst="rect">
            <a:avLst/>
          </a:prstGeom>
          <a:noFill/>
        </p:spPr>
        <p:txBody>
          <a:bodyPr wrap="square" rtlCol="0">
            <a:noAutofit/>
          </a:bodyPr>
          <a:lstStyle/>
          <a:p>
            <a:pPr latinLnBrk="1"/>
            <a:r>
              <a:rPr lang="ja-JP" altLang="en-US" sz="1400" dirty="0">
                <a:latin typeface="游ゴシック" panose="020B0400000000000000" pitchFamily="50" charset="-128"/>
                <a:ea typeface="游ゴシック" panose="020B0400000000000000" pitchFamily="50" charset="-128"/>
              </a:rPr>
              <a:t>現行システムでは、</a:t>
            </a:r>
            <a:r>
              <a:rPr lang="en-US" altLang="ja-JP" sz="1400" dirty="0" err="1">
                <a:latin typeface="游ゴシック" panose="020B0400000000000000" pitchFamily="50" charset="-128"/>
                <a:ea typeface="游ゴシック" panose="020B0400000000000000" pitchFamily="50" charset="-128"/>
              </a:rPr>
              <a:t>GrapeCity</a:t>
            </a:r>
            <a:r>
              <a:rPr lang="ja-JP" altLang="en-US" sz="1400" dirty="0">
                <a:latin typeface="游ゴシック" panose="020B0400000000000000" pitchFamily="50" charset="-128"/>
                <a:ea typeface="游ゴシック" panose="020B0400000000000000" pitchFamily="50" charset="-128"/>
              </a:rPr>
              <a:t>社の「</a:t>
            </a:r>
            <a:r>
              <a:rPr lang="en-US" altLang="ja-JP" sz="1400" dirty="0">
                <a:latin typeface="游ゴシック" panose="020B0400000000000000" pitchFamily="50" charset="-128"/>
                <a:ea typeface="游ゴシック" panose="020B0400000000000000" pitchFamily="50" charset="-128"/>
              </a:rPr>
              <a:t>SPREAD 3.0J</a:t>
            </a:r>
            <a:r>
              <a:rPr lang="ja-JP" altLang="en-US" sz="1400" dirty="0">
                <a:latin typeface="游ゴシック" panose="020B0400000000000000" pitchFamily="50" charset="-128"/>
                <a:ea typeface="游ゴシック" panose="020B0400000000000000" pitchFamily="50" charset="-128"/>
              </a:rPr>
              <a:t>」を使用しておりますが、サードパーティ製の製品は、互換性の問題等から開発ツールのバージョンアップの妨げとなることが多いため、</a:t>
            </a:r>
            <a:r>
              <a:rPr lang="ja-JP" altLang="en-US" sz="1400" b="1" dirty="0">
                <a:solidFill>
                  <a:schemeClr val="accent1"/>
                </a:solidFill>
                <a:latin typeface="游ゴシック" panose="020B0400000000000000" pitchFamily="50" charset="-128"/>
                <a:ea typeface="游ゴシック" panose="020B0400000000000000" pitchFamily="50" charset="-128"/>
              </a:rPr>
              <a:t>「</a:t>
            </a:r>
            <a:r>
              <a:rPr lang="en-US" altLang="ja-JP" sz="1400" b="1" dirty="0">
                <a:solidFill>
                  <a:schemeClr val="accent1"/>
                </a:solidFill>
                <a:latin typeface="游ゴシック" panose="020B0400000000000000" pitchFamily="50" charset="-128"/>
                <a:ea typeface="游ゴシック" panose="020B0400000000000000" pitchFamily="50" charset="-128"/>
              </a:rPr>
              <a:t>SPREAD 3.0J</a:t>
            </a:r>
            <a:r>
              <a:rPr lang="ja-JP" altLang="en-US" sz="1400" b="1" dirty="0">
                <a:solidFill>
                  <a:schemeClr val="accent1"/>
                </a:solidFill>
                <a:latin typeface="游ゴシック" panose="020B0400000000000000" pitchFamily="50" charset="-128"/>
                <a:ea typeface="游ゴシック" panose="020B0400000000000000" pitchFamily="50" charset="-128"/>
              </a:rPr>
              <a:t>」の使用を廃止</a:t>
            </a:r>
            <a:r>
              <a:rPr lang="ja-JP" altLang="en-US" sz="1400" dirty="0">
                <a:latin typeface="游ゴシック" panose="020B0400000000000000" pitchFamily="50" charset="-128"/>
                <a:ea typeface="游ゴシック" panose="020B0400000000000000" pitchFamily="50" charset="-128"/>
              </a:rPr>
              <a:t>します。代わりにグリッドコンポーネントとしては、</a:t>
            </a:r>
            <a:r>
              <a:rPr lang="en-US" altLang="ja-JP" sz="1400" dirty="0">
                <a:latin typeface="游ゴシック" panose="020B0400000000000000" pitchFamily="50" charset="-128"/>
                <a:ea typeface="游ゴシック" panose="020B0400000000000000" pitchFamily="50" charset="-128"/>
              </a:rPr>
              <a:t>.NET</a:t>
            </a:r>
            <a:r>
              <a:rPr lang="ja-JP" altLang="en-US" sz="1400" dirty="0">
                <a:latin typeface="游ゴシック" panose="020B0400000000000000" pitchFamily="50" charset="-128"/>
                <a:ea typeface="游ゴシック" panose="020B0400000000000000" pitchFamily="50" charset="-128"/>
              </a:rPr>
              <a:t>の標準コンポーネントである</a:t>
            </a:r>
            <a:r>
              <a:rPr lang="ja-JP" altLang="en-US" sz="1400" b="1" dirty="0">
                <a:solidFill>
                  <a:schemeClr val="accent1"/>
                </a:solidFill>
                <a:latin typeface="游ゴシック" panose="020B0400000000000000" pitchFamily="50" charset="-128"/>
                <a:ea typeface="游ゴシック" panose="020B0400000000000000" pitchFamily="50" charset="-128"/>
              </a:rPr>
              <a:t>「</a:t>
            </a:r>
            <a:r>
              <a:rPr lang="en-US" altLang="ja-JP" sz="1400" b="1" dirty="0" err="1">
                <a:solidFill>
                  <a:schemeClr val="accent1"/>
                </a:solidFill>
                <a:latin typeface="游ゴシック" panose="020B0400000000000000" pitchFamily="50" charset="-128"/>
                <a:ea typeface="游ゴシック" panose="020B0400000000000000" pitchFamily="50" charset="-128"/>
              </a:rPr>
              <a:t>DataGridView</a:t>
            </a:r>
            <a:r>
              <a:rPr lang="ja-JP" altLang="en-US" sz="1400" b="1" dirty="0">
                <a:solidFill>
                  <a:schemeClr val="accent1"/>
                </a:solidFill>
                <a:latin typeface="游ゴシック" panose="020B0400000000000000" pitchFamily="50" charset="-128"/>
                <a:ea typeface="游ゴシック" panose="020B0400000000000000" pitchFamily="50" charset="-128"/>
              </a:rPr>
              <a:t>」を採用</a:t>
            </a:r>
            <a:r>
              <a:rPr lang="ja-JP" altLang="en-US" sz="1400" dirty="0">
                <a:latin typeface="游ゴシック" panose="020B0400000000000000" pitchFamily="50" charset="-128"/>
                <a:ea typeface="游ゴシック" panose="020B0400000000000000" pitchFamily="50" charset="-128"/>
              </a:rPr>
              <a:t>します。</a:t>
            </a:r>
            <a:endParaRPr lang="en-US" altLang="ja-JP" sz="1400" dirty="0">
              <a:latin typeface="游ゴシック" panose="020B0400000000000000" pitchFamily="50" charset="-128"/>
              <a:ea typeface="游ゴシック" panose="020B0400000000000000" pitchFamily="50" charset="-128"/>
            </a:endParaRPr>
          </a:p>
        </p:txBody>
      </p:sp>
      <p:sp>
        <p:nvSpPr>
          <p:cNvPr id="14" name="テキスト ボックス 13"/>
          <p:cNvSpPr txBox="1">
            <a:spLocks/>
          </p:cNvSpPr>
          <p:nvPr/>
        </p:nvSpPr>
        <p:spPr>
          <a:xfrm>
            <a:off x="3168000" y="3060000"/>
            <a:ext cx="2808000" cy="576000"/>
          </a:xfrm>
          <a:prstGeom prst="rect">
            <a:avLst/>
          </a:prstGeom>
          <a:noFill/>
        </p:spPr>
        <p:txBody>
          <a:bodyPr wrap="square" rtlCol="0" anchor="ctr">
            <a:noAutofit/>
          </a:bodyPr>
          <a:lstStyle/>
          <a:p>
            <a:pPr algn="ctr"/>
            <a:r>
              <a:rPr lang="en-US" altLang="ja-JP" sz="1600" b="1" dirty="0" err="1">
                <a:solidFill>
                  <a:schemeClr val="accent1">
                    <a:lumMod val="50000"/>
                  </a:schemeClr>
                </a:solidFill>
                <a:latin typeface="游ゴシック" panose="020B0400000000000000" pitchFamily="50" charset="-128"/>
                <a:ea typeface="游ゴシック" panose="020B0400000000000000" pitchFamily="50" charset="-128"/>
              </a:rPr>
              <a:t>DataGridView</a:t>
            </a:r>
            <a:endParaRPr lang="en-US" altLang="ja-JP" sz="1600" b="1" dirty="0">
              <a:solidFill>
                <a:schemeClr val="accent1">
                  <a:lumMod val="50000"/>
                </a:schemeClr>
              </a:solidFill>
              <a:latin typeface="游ゴシック" panose="020B0400000000000000" pitchFamily="50" charset="-128"/>
              <a:ea typeface="游ゴシック" panose="020B0400000000000000" pitchFamily="50" charset="-128"/>
            </a:endParaRPr>
          </a:p>
          <a:p>
            <a:pPr algn="ctr"/>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（グリッド）</a:t>
            </a:r>
          </a:p>
        </p:txBody>
      </p:sp>
      <p:sp>
        <p:nvSpPr>
          <p:cNvPr id="15" name="テキスト ボックス 14"/>
          <p:cNvSpPr txBox="1">
            <a:spLocks/>
          </p:cNvSpPr>
          <p:nvPr/>
        </p:nvSpPr>
        <p:spPr>
          <a:xfrm>
            <a:off x="6120000" y="3672000"/>
            <a:ext cx="2808000" cy="2520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現行システムでは、</a:t>
            </a:r>
            <a:r>
              <a:rPr lang="en-US" altLang="ja-JP" sz="1400" dirty="0" err="1">
                <a:latin typeface="游ゴシック" panose="020B0400000000000000" pitchFamily="50" charset="-128"/>
                <a:ea typeface="游ゴシック" panose="020B0400000000000000" pitchFamily="50" charset="-128"/>
              </a:rPr>
              <a:t>GrapeCity</a:t>
            </a:r>
            <a:r>
              <a:rPr lang="ja-JP" altLang="en-US" sz="1400" dirty="0">
                <a:latin typeface="游ゴシック" panose="020B0400000000000000" pitchFamily="50" charset="-128"/>
                <a:ea typeface="游ゴシック" panose="020B0400000000000000" pitchFamily="50" charset="-128"/>
              </a:rPr>
              <a:t>社の「</a:t>
            </a:r>
            <a:r>
              <a:rPr lang="en-US" altLang="ja-JP" sz="1400" dirty="0">
                <a:latin typeface="游ゴシック" panose="020B0400000000000000" pitchFamily="50" charset="-128"/>
                <a:ea typeface="游ゴシック" panose="020B0400000000000000" pitchFamily="50" charset="-128"/>
              </a:rPr>
              <a:t>Active Reports 2.0J</a:t>
            </a:r>
            <a:r>
              <a:rPr lang="ja-JP" altLang="en-US" sz="1400" dirty="0">
                <a:latin typeface="游ゴシック" panose="020B0400000000000000" pitchFamily="50" charset="-128"/>
                <a:ea typeface="游ゴシック" panose="020B0400000000000000" pitchFamily="50" charset="-128"/>
              </a:rPr>
              <a:t>」を使用しておりますが、サードパーティ製の製品は、互換性の問題等から開発ツールのバージョンアップの妨げとなることが多いため、</a:t>
            </a:r>
            <a:r>
              <a:rPr lang="ja-JP" altLang="en-US" sz="1400" b="1" dirty="0">
                <a:solidFill>
                  <a:schemeClr val="accent1"/>
                </a:solidFill>
                <a:latin typeface="游ゴシック" panose="020B0400000000000000" pitchFamily="50" charset="-128"/>
                <a:ea typeface="游ゴシック" panose="020B0400000000000000" pitchFamily="50" charset="-128"/>
              </a:rPr>
              <a:t>「</a:t>
            </a:r>
            <a:r>
              <a:rPr lang="en-US" altLang="ja-JP" sz="1400" b="1" dirty="0">
                <a:solidFill>
                  <a:schemeClr val="accent1"/>
                </a:solidFill>
                <a:latin typeface="游ゴシック" panose="020B0400000000000000" pitchFamily="50" charset="-128"/>
                <a:ea typeface="游ゴシック" panose="020B0400000000000000" pitchFamily="50" charset="-128"/>
              </a:rPr>
              <a:t>Active Reports 2.0J</a:t>
            </a:r>
            <a:r>
              <a:rPr lang="ja-JP" altLang="en-US" sz="1400" b="1" dirty="0">
                <a:solidFill>
                  <a:schemeClr val="accent1"/>
                </a:solidFill>
                <a:latin typeface="游ゴシック" panose="020B0400000000000000" pitchFamily="50" charset="-128"/>
                <a:ea typeface="游ゴシック" panose="020B0400000000000000" pitchFamily="50" charset="-128"/>
              </a:rPr>
              <a:t>」の使用を廃止</a:t>
            </a:r>
            <a:r>
              <a:rPr lang="ja-JP" altLang="en-US" sz="1400" dirty="0">
                <a:latin typeface="游ゴシック" panose="020B0400000000000000" pitchFamily="50" charset="-128"/>
                <a:ea typeface="游ゴシック" panose="020B0400000000000000" pitchFamily="50" charset="-128"/>
              </a:rPr>
              <a:t>します。代わりに</a:t>
            </a:r>
            <a:r>
              <a:rPr lang="en-US" altLang="ja-JP" sz="1400" dirty="0">
                <a:latin typeface="游ゴシック" panose="020B0400000000000000" pitchFamily="50" charset="-128"/>
                <a:ea typeface="游ゴシック" panose="020B0400000000000000" pitchFamily="50" charset="-128"/>
              </a:rPr>
              <a:t>Microsoft</a:t>
            </a:r>
            <a:r>
              <a:rPr lang="ja-JP" altLang="en-US" sz="1400" dirty="0">
                <a:latin typeface="游ゴシック" panose="020B0400000000000000" pitchFamily="50" charset="-128"/>
                <a:ea typeface="游ゴシック" panose="020B0400000000000000" pitchFamily="50" charset="-128"/>
              </a:rPr>
              <a:t>社の</a:t>
            </a:r>
            <a:r>
              <a:rPr lang="ja-JP" altLang="en-US" sz="1400" b="1" dirty="0">
                <a:solidFill>
                  <a:schemeClr val="accent1"/>
                </a:solidFill>
                <a:latin typeface="游ゴシック" panose="020B0400000000000000" pitchFamily="50" charset="-128"/>
                <a:ea typeface="游ゴシック" panose="020B0400000000000000" pitchFamily="50" charset="-128"/>
              </a:rPr>
              <a:t>「</a:t>
            </a:r>
            <a:r>
              <a:rPr lang="en-US" altLang="ja-JP" sz="1400" b="1" dirty="0">
                <a:solidFill>
                  <a:schemeClr val="accent1"/>
                </a:solidFill>
                <a:latin typeface="游ゴシック" panose="020B0400000000000000" pitchFamily="50" charset="-128"/>
                <a:ea typeface="游ゴシック" panose="020B0400000000000000" pitchFamily="50" charset="-128"/>
              </a:rPr>
              <a:t>Excel</a:t>
            </a:r>
            <a:r>
              <a:rPr lang="ja-JP" altLang="en-US" sz="1400" b="1" dirty="0">
                <a:solidFill>
                  <a:schemeClr val="accent1"/>
                </a:solidFill>
                <a:latin typeface="游ゴシック" panose="020B0400000000000000" pitchFamily="50" charset="-128"/>
                <a:ea typeface="游ゴシック" panose="020B0400000000000000" pitchFamily="50" charset="-128"/>
              </a:rPr>
              <a:t>」を活用した帳票出力</a:t>
            </a:r>
            <a:r>
              <a:rPr lang="ja-JP" altLang="en-US" sz="1400" dirty="0">
                <a:latin typeface="游ゴシック" panose="020B0400000000000000" pitchFamily="50" charset="-128"/>
                <a:ea typeface="游ゴシック" panose="020B0400000000000000" pitchFamily="50" charset="-128"/>
              </a:rPr>
              <a:t>の仕組みを構築します。</a:t>
            </a:r>
            <a:endParaRPr lang="en-US" altLang="ja-JP" sz="1400" dirty="0">
              <a:latin typeface="游ゴシック" panose="020B0400000000000000" pitchFamily="50" charset="-128"/>
              <a:ea typeface="游ゴシック" panose="020B0400000000000000" pitchFamily="50" charset="-128"/>
            </a:endParaRPr>
          </a:p>
        </p:txBody>
      </p:sp>
      <p:sp>
        <p:nvSpPr>
          <p:cNvPr id="16" name="テキスト ボックス 15"/>
          <p:cNvSpPr txBox="1">
            <a:spLocks/>
          </p:cNvSpPr>
          <p:nvPr/>
        </p:nvSpPr>
        <p:spPr>
          <a:xfrm>
            <a:off x="6120000" y="3060000"/>
            <a:ext cx="2808000" cy="576000"/>
          </a:xfrm>
          <a:prstGeom prst="rect">
            <a:avLst/>
          </a:prstGeom>
          <a:noFill/>
        </p:spPr>
        <p:txBody>
          <a:bodyPr wrap="square" rtlCol="0" anchor="ctr">
            <a:noAutofit/>
          </a:bodyPr>
          <a:lstStyle/>
          <a:p>
            <a:pPr algn="ctr"/>
            <a:r>
              <a:rPr lang="en-US" altLang="ja-JP" sz="1600" b="1" dirty="0">
                <a:solidFill>
                  <a:schemeClr val="accent1">
                    <a:lumMod val="50000"/>
                  </a:schemeClr>
                </a:solidFill>
                <a:latin typeface="游ゴシック" panose="020B0400000000000000" pitchFamily="50" charset="-128"/>
                <a:ea typeface="游ゴシック" panose="020B0400000000000000" pitchFamily="50" charset="-128"/>
              </a:rPr>
              <a:t>Excel</a:t>
            </a:r>
          </a:p>
          <a:p>
            <a:pPr algn="ctr"/>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（帳票出力）</a:t>
            </a:r>
          </a:p>
        </p:txBody>
      </p:sp>
      <p:grpSp>
        <p:nvGrpSpPr>
          <p:cNvPr id="26" name="グループ化 25"/>
          <p:cNvGrpSpPr/>
          <p:nvPr/>
        </p:nvGrpSpPr>
        <p:grpSpPr>
          <a:xfrm>
            <a:off x="1116000" y="1872000"/>
            <a:ext cx="6948000" cy="1041838"/>
            <a:chOff x="1116000" y="1800000"/>
            <a:chExt cx="6948000" cy="1041838"/>
          </a:xfrm>
        </p:grpSpPr>
        <p:sp>
          <p:nvSpPr>
            <p:cNvPr id="23" name="加算 22"/>
            <p:cNvSpPr/>
            <p:nvPr/>
          </p:nvSpPr>
          <p:spPr>
            <a:xfrm>
              <a:off x="2592000" y="1888919"/>
              <a:ext cx="864000" cy="864000"/>
            </a:xfrm>
            <a:prstGeom prst="mathPlus">
              <a:avLst>
                <a:gd name="adj1" fmla="val 27796"/>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24" name="加算 23"/>
            <p:cNvSpPr/>
            <p:nvPr/>
          </p:nvSpPr>
          <p:spPr>
            <a:xfrm>
              <a:off x="5544000" y="1888919"/>
              <a:ext cx="864000" cy="864000"/>
            </a:xfrm>
            <a:prstGeom prst="mathPlus">
              <a:avLst>
                <a:gd name="adj1" fmla="val 27796"/>
              </a:avLst>
            </a:prstGeom>
            <a:solidFill>
              <a:schemeClr val="accent3">
                <a:lumMod val="60000"/>
                <a:lumOff val="4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7" name="図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6000" y="1814027"/>
              <a:ext cx="1008000" cy="1013784"/>
            </a:xfrm>
            <a:prstGeom prst="rect">
              <a:avLst/>
            </a:prstGeom>
          </p:spPr>
        </p:pic>
        <p:pic>
          <p:nvPicPr>
            <p:cNvPr id="8" name="図 7"/>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984000" y="1800000"/>
              <a:ext cx="1080000" cy="1041838"/>
            </a:xfrm>
            <a:prstGeom prst="rect">
              <a:avLst/>
            </a:prstGeom>
          </p:spPr>
        </p:pic>
        <p:pic>
          <p:nvPicPr>
            <p:cNvPr id="9" name="図 8"/>
            <p:cNvPicPr>
              <a:picLocks noChangeAspect="1"/>
            </p:cNvPicPr>
            <p:nvPr/>
          </p:nvPicPr>
          <p:blipFill>
            <a:blip r:embed="rId4"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4014000" y="1896286"/>
              <a:ext cx="1080000" cy="849267"/>
            </a:xfrm>
            <a:prstGeom prst="rect">
              <a:avLst/>
            </a:prstGeom>
          </p:spPr>
        </p:pic>
      </p:grpSp>
    </p:spTree>
    <p:extLst>
      <p:ext uri="{BB962C8B-B14F-4D97-AF65-F5344CB8AC3E}">
        <p14:creationId xmlns:p14="http://schemas.microsoft.com/office/powerpoint/2010/main" val="30913621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.NET</a:t>
            </a:r>
            <a:r>
              <a:rPr lang="ja-JP" altLang="en-US" dirty="0" err="1"/>
              <a:t>への</a:t>
            </a:r>
            <a:r>
              <a:rPr lang="ja-JP" altLang="en-US" dirty="0"/>
              <a:t>マイグレーション方法</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23</a:t>
            </a:fld>
            <a:endParaRPr kumimoji="1" lang="ja-JP" altLang="en-US"/>
          </a:p>
        </p:txBody>
      </p:sp>
      <p:sp>
        <p:nvSpPr>
          <p:cNvPr id="14" name="テキスト ボックス 13"/>
          <p:cNvSpPr txBox="1">
            <a:spLocks/>
          </p:cNvSpPr>
          <p:nvPr/>
        </p:nvSpPr>
        <p:spPr>
          <a:xfrm>
            <a:off x="144000" y="5724000"/>
            <a:ext cx="8856000" cy="648000"/>
          </a:xfrm>
          <a:prstGeom prst="rect">
            <a:avLst/>
          </a:prstGeom>
          <a:noFill/>
        </p:spPr>
        <p:txBody>
          <a:bodyPr wrap="square" rtlCol="0">
            <a:noAutofit/>
          </a:bodyPr>
          <a:lstStyle/>
          <a:p>
            <a:pPr marL="285750" indent="-285750" latinLnBrk="1">
              <a:spcBef>
                <a:spcPts val="600"/>
              </a:spcBef>
              <a:buFont typeface="游ゴシック" panose="020B0400000000000000" pitchFamily="50" charset="-128"/>
              <a:buChar char="※"/>
            </a:pPr>
            <a:r>
              <a:rPr lang="en-US" altLang="ja-JP" sz="1200" dirty="0">
                <a:latin typeface="游ゴシック" panose="020B0400000000000000" pitchFamily="50" charset="-128"/>
                <a:ea typeface="游ゴシック" panose="020B0400000000000000" pitchFamily="50" charset="-128"/>
              </a:rPr>
              <a:t>Microsoft</a:t>
            </a:r>
            <a:r>
              <a:rPr lang="ja-JP" altLang="en-US" sz="1200" dirty="0">
                <a:latin typeface="游ゴシック" panose="020B0400000000000000" pitchFamily="50" charset="-128"/>
                <a:ea typeface="游ゴシック" panose="020B0400000000000000" pitchFamily="50" charset="-128"/>
              </a:rPr>
              <a:t>社のアップグレードウィザードは、</a:t>
            </a:r>
            <a:r>
              <a:rPr lang="en-US" altLang="ja-JP" sz="1200" dirty="0">
                <a:latin typeface="游ゴシック" panose="020B0400000000000000" pitchFamily="50" charset="-128"/>
                <a:ea typeface="游ゴシック" panose="020B0400000000000000" pitchFamily="50" charset="-128"/>
              </a:rPr>
              <a:t>Visual Studio 2008</a:t>
            </a:r>
            <a:r>
              <a:rPr lang="ja-JP" altLang="en-US" sz="1200" dirty="0">
                <a:latin typeface="游ゴシック" panose="020B0400000000000000" pitchFamily="50" charset="-128"/>
                <a:ea typeface="游ゴシック" panose="020B0400000000000000" pitchFamily="50" charset="-128"/>
              </a:rPr>
              <a:t>までは実装されておりますが、</a:t>
            </a:r>
            <a:r>
              <a:rPr lang="en-US" altLang="ja-JP" sz="1200" dirty="0">
                <a:latin typeface="游ゴシック" panose="020B0400000000000000" pitchFamily="50" charset="-128"/>
                <a:ea typeface="游ゴシック" panose="020B0400000000000000" pitchFamily="50" charset="-128"/>
              </a:rPr>
              <a:t>Visual Studio 2010</a:t>
            </a:r>
            <a:r>
              <a:rPr lang="ja-JP" altLang="en-US" sz="1200" dirty="0">
                <a:latin typeface="游ゴシック" panose="020B0400000000000000" pitchFamily="50" charset="-128"/>
                <a:ea typeface="游ゴシック" panose="020B0400000000000000" pitchFamily="50" charset="-128"/>
              </a:rPr>
              <a:t>以降では実装されておりません。そのため、</a:t>
            </a:r>
            <a:r>
              <a:rPr lang="en-US" altLang="ja-JP" sz="1200" dirty="0">
                <a:latin typeface="游ゴシック" panose="020B0400000000000000" pitchFamily="50" charset="-128"/>
                <a:ea typeface="游ゴシック" panose="020B0400000000000000" pitchFamily="50" charset="-128"/>
              </a:rPr>
              <a:t>VB</a:t>
            </a:r>
            <a:r>
              <a:rPr lang="ja-JP" altLang="en-US" sz="1200" dirty="0">
                <a:latin typeface="游ゴシック" panose="020B0400000000000000" pitchFamily="50" charset="-128"/>
                <a:ea typeface="游ゴシック" panose="020B0400000000000000" pitchFamily="50" charset="-128"/>
              </a:rPr>
              <a:t>アプリケーションを最新版の</a:t>
            </a:r>
            <a:r>
              <a:rPr lang="en-US" altLang="ja-JP" sz="1200" dirty="0">
                <a:latin typeface="游ゴシック" panose="020B0400000000000000" pitchFamily="50" charset="-128"/>
                <a:ea typeface="游ゴシック" panose="020B0400000000000000" pitchFamily="50" charset="-128"/>
              </a:rPr>
              <a:t>VB.NET</a:t>
            </a:r>
            <a:r>
              <a:rPr lang="ja-JP" altLang="en-US" sz="1200" dirty="0">
                <a:latin typeface="游ゴシック" panose="020B0400000000000000" pitchFamily="50" charset="-128"/>
                <a:ea typeface="游ゴシック" panose="020B0400000000000000" pitchFamily="50" charset="-128"/>
              </a:rPr>
              <a:t>にアップグレードするには、一度</a:t>
            </a:r>
            <a:r>
              <a:rPr lang="en-US" altLang="ja-JP" sz="1200" dirty="0">
                <a:latin typeface="游ゴシック" panose="020B0400000000000000" pitchFamily="50" charset="-128"/>
                <a:ea typeface="游ゴシック" panose="020B0400000000000000" pitchFamily="50" charset="-128"/>
              </a:rPr>
              <a:t>VB.NET 2008</a:t>
            </a:r>
            <a:r>
              <a:rPr lang="ja-JP" altLang="en-US" sz="1200" dirty="0">
                <a:latin typeface="游ゴシック" panose="020B0400000000000000" pitchFamily="50" charset="-128"/>
                <a:ea typeface="游ゴシック" panose="020B0400000000000000" pitchFamily="50" charset="-128"/>
              </a:rPr>
              <a:t>にアップグレードした上で</a:t>
            </a:r>
            <a:r>
              <a:rPr lang="en-US" altLang="ja-JP" sz="1200" dirty="0">
                <a:latin typeface="游ゴシック" panose="020B0400000000000000" pitchFamily="50" charset="-128"/>
                <a:ea typeface="游ゴシック" panose="020B0400000000000000" pitchFamily="50" charset="-128"/>
              </a:rPr>
              <a:t>VB.NET</a:t>
            </a:r>
            <a:r>
              <a:rPr lang="ja-JP" altLang="en-US" sz="1200" dirty="0">
                <a:latin typeface="游ゴシック" panose="020B0400000000000000" pitchFamily="50" charset="-128"/>
                <a:ea typeface="游ゴシック" panose="020B0400000000000000" pitchFamily="50" charset="-128"/>
              </a:rPr>
              <a:t> </a:t>
            </a:r>
            <a:r>
              <a:rPr lang="en-US" altLang="ja-JP" sz="1200" dirty="0">
                <a:latin typeface="游ゴシック" panose="020B0400000000000000" pitchFamily="50" charset="-128"/>
                <a:ea typeface="游ゴシック" panose="020B0400000000000000" pitchFamily="50" charset="-128"/>
              </a:rPr>
              <a:t>2008</a:t>
            </a:r>
            <a:r>
              <a:rPr lang="ja-JP" altLang="en-US" sz="1200" dirty="0">
                <a:latin typeface="游ゴシック" panose="020B0400000000000000" pitchFamily="50" charset="-128"/>
                <a:ea typeface="游ゴシック" panose="020B0400000000000000" pitchFamily="50" charset="-128"/>
              </a:rPr>
              <a:t>から</a:t>
            </a:r>
            <a:r>
              <a:rPr lang="en-US" altLang="ja-JP" sz="1200" dirty="0">
                <a:latin typeface="游ゴシック" panose="020B0400000000000000" pitchFamily="50" charset="-128"/>
                <a:ea typeface="游ゴシック" panose="020B0400000000000000" pitchFamily="50" charset="-128"/>
              </a:rPr>
              <a:t>VB.NET 2019</a:t>
            </a:r>
            <a:r>
              <a:rPr lang="ja-JP" altLang="en-US" sz="1200" dirty="0">
                <a:latin typeface="游ゴシック" panose="020B0400000000000000" pitchFamily="50" charset="-128"/>
                <a:ea typeface="游ゴシック" panose="020B0400000000000000" pitchFamily="50" charset="-128"/>
              </a:rPr>
              <a:t>という段階的なアップグレードを実行する必要があります。</a:t>
            </a:r>
          </a:p>
        </p:txBody>
      </p:sp>
      <p:sp>
        <p:nvSpPr>
          <p:cNvPr id="16" name="テキスト ボックス 15"/>
          <p:cNvSpPr txBox="1">
            <a:spLocks/>
          </p:cNvSpPr>
          <p:nvPr/>
        </p:nvSpPr>
        <p:spPr>
          <a:xfrm>
            <a:off x="144000" y="863998"/>
            <a:ext cx="8856000" cy="1656000"/>
          </a:xfrm>
          <a:prstGeom prst="rect">
            <a:avLst/>
          </a:prstGeom>
          <a:noFill/>
        </p:spPr>
        <p:txBody>
          <a:bodyPr wrap="square" rtlCol="0">
            <a:noAutofit/>
          </a:bodyPr>
          <a:lstStyle/>
          <a:p>
            <a:pPr>
              <a:spcBef>
                <a:spcPts val="600"/>
              </a:spcBef>
            </a:pPr>
            <a:r>
              <a:rPr lang="en-US" altLang="ja-JP" sz="1400" dirty="0">
                <a:latin typeface="游ゴシック" panose="020B0400000000000000" pitchFamily="50" charset="-128"/>
                <a:ea typeface="游ゴシック" panose="020B0400000000000000" pitchFamily="50" charset="-128"/>
              </a:rPr>
              <a:t>Microsoft</a:t>
            </a:r>
            <a:r>
              <a:rPr lang="ja-JP" altLang="en-US" sz="1400" dirty="0">
                <a:latin typeface="游ゴシック" panose="020B0400000000000000" pitchFamily="50" charset="-128"/>
                <a:ea typeface="游ゴシック" panose="020B0400000000000000" pitchFamily="50" charset="-128"/>
              </a:rPr>
              <a:t>社アップグレードウィザード等のマイグレーションツールを使用してアップグレードした場合、以下の理由により、コードの損失や誤変換が発生すると推測できます。そのため、マイグレーションツールは使用せず、既存のプログラムソースをもとにプログラミングを行い、作り直す方法を採用します。</a:t>
            </a:r>
            <a:endParaRPr lang="en-US" altLang="ja-JP" sz="1400" dirty="0">
              <a:latin typeface="游ゴシック" panose="020B0400000000000000" pitchFamily="50" charset="-128"/>
              <a:ea typeface="游ゴシック" panose="020B0400000000000000" pitchFamily="50" charset="-128"/>
            </a:endParaRPr>
          </a:p>
          <a:p>
            <a:pPr marL="742950" lvl="1" indent="-285750">
              <a:spcBef>
                <a:spcPts val="6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二段階のアップグレードが必要（</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p>
            <a:pPr marL="742950" lvl="1" indent="-285750">
              <a:spcBef>
                <a:spcPts val="6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現行システムにてサードパーティ製のツールが使用されている</a:t>
            </a:r>
            <a:endParaRPr lang="en-US" altLang="ja-JP" sz="1400" dirty="0">
              <a:latin typeface="游ゴシック" panose="020B0400000000000000" pitchFamily="50" charset="-128"/>
              <a:ea typeface="游ゴシック" panose="020B0400000000000000" pitchFamily="50" charset="-128"/>
            </a:endParaRPr>
          </a:p>
          <a:p>
            <a:pPr marL="742950" lvl="1" indent="-285750">
              <a:spcBef>
                <a:spcPts val="6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現行システムで</a:t>
            </a:r>
            <a:r>
              <a:rPr lang="ja-JP" altLang="en-US" sz="1400" dirty="0">
                <a:latin typeface="游ゴシック" panose="020B0400000000000000" pitchFamily="50" charset="-128"/>
                <a:ea typeface="游ゴシック" panose="020B0400000000000000" pitchFamily="50" charset="-128"/>
              </a:rPr>
              <a:t>は</a:t>
            </a:r>
            <a:r>
              <a:rPr lang="en-US" altLang="ja-JP" sz="1400" dirty="0">
                <a:latin typeface="游ゴシック" panose="020B0400000000000000" pitchFamily="50" charset="-128"/>
                <a:ea typeface="游ゴシック" panose="020B0400000000000000" pitchFamily="50" charset="-128"/>
              </a:rPr>
              <a:t>oo4o</a:t>
            </a:r>
            <a:r>
              <a:rPr lang="ja-JP" altLang="en-US" sz="1400" dirty="0">
                <a:latin typeface="游ゴシック" panose="020B0400000000000000" pitchFamily="50" charset="-128"/>
                <a:ea typeface="游ゴシック" panose="020B0400000000000000" pitchFamily="50" charset="-128"/>
              </a:rPr>
              <a:t>による</a:t>
            </a:r>
            <a:r>
              <a:rPr lang="en-US" altLang="ja-JP" sz="1400" dirty="0">
                <a:latin typeface="游ゴシック" panose="020B0400000000000000" pitchFamily="50" charset="-128"/>
                <a:ea typeface="游ゴシック" panose="020B0400000000000000" pitchFamily="50" charset="-128"/>
              </a:rPr>
              <a:t>Oracle</a:t>
            </a:r>
            <a:r>
              <a:rPr lang="ja-JP" altLang="en-US" sz="1400" dirty="0">
                <a:latin typeface="游ゴシック" panose="020B0400000000000000" pitchFamily="50" charset="-128"/>
                <a:ea typeface="游ゴシック" panose="020B0400000000000000" pitchFamily="50" charset="-128"/>
              </a:rPr>
              <a:t>接続方式が採用されている</a:t>
            </a:r>
            <a:endParaRPr lang="en-US" altLang="ja-JP" sz="1400" dirty="0">
              <a:latin typeface="游ゴシック" panose="020B0400000000000000" pitchFamily="50" charset="-128"/>
              <a:ea typeface="游ゴシック" panose="020B0400000000000000" pitchFamily="50" charset="-128"/>
            </a:endParaRPr>
          </a:p>
        </p:txBody>
      </p:sp>
      <p:sp>
        <p:nvSpPr>
          <p:cNvPr id="6" name="楕円 5"/>
          <p:cNvSpPr>
            <a:spLocks/>
          </p:cNvSpPr>
          <p:nvPr/>
        </p:nvSpPr>
        <p:spPr>
          <a:xfrm>
            <a:off x="2484000" y="3132000"/>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1</a:t>
            </a:r>
            <a:endParaRPr kumimoji="1" lang="ja-JP" altLang="en-US" sz="1400" b="1" dirty="0">
              <a:latin typeface="游ゴシック" panose="020B0400000000000000" pitchFamily="50" charset="-128"/>
              <a:ea typeface="游ゴシック" panose="020B0400000000000000" pitchFamily="50" charset="-128"/>
            </a:endParaRPr>
          </a:p>
        </p:txBody>
      </p:sp>
      <p:sp>
        <p:nvSpPr>
          <p:cNvPr id="7" name="正方形/長方形 6"/>
          <p:cNvSpPr/>
          <p:nvPr/>
        </p:nvSpPr>
        <p:spPr>
          <a:xfrm>
            <a:off x="2988000" y="3024000"/>
            <a:ext cx="5760000" cy="648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400" dirty="0">
                <a:solidFill>
                  <a:schemeClr val="tx1"/>
                </a:solidFill>
                <a:latin typeface="游ゴシック" panose="020B0400000000000000" pitchFamily="50" charset="-128"/>
                <a:ea typeface="游ゴシック" panose="020B0400000000000000" pitchFamily="50" charset="-128"/>
              </a:rPr>
              <a:t>マイグレーションツールを使用する場合に比べ、作り直すことにより</a:t>
            </a:r>
            <a:r>
              <a:rPr kumimoji="1" lang="ja-JP" altLang="en-US" sz="1400" b="1" dirty="0">
                <a:solidFill>
                  <a:schemeClr val="accent1"/>
                </a:solidFill>
                <a:latin typeface="游ゴシック" panose="020B0400000000000000" pitchFamily="50" charset="-128"/>
                <a:ea typeface="游ゴシック" panose="020B0400000000000000" pitchFamily="50" charset="-128"/>
              </a:rPr>
              <a:t>業務仕様の把握・理解</a:t>
            </a:r>
            <a:r>
              <a:rPr kumimoji="1" lang="ja-JP" altLang="en-US" sz="1400" dirty="0">
                <a:solidFill>
                  <a:schemeClr val="tx1"/>
                </a:solidFill>
                <a:latin typeface="游ゴシック" panose="020B0400000000000000" pitchFamily="50" charset="-128"/>
                <a:ea typeface="游ゴシック" panose="020B0400000000000000" pitchFamily="50" charset="-128"/>
              </a:rPr>
              <a:t>が深まります。</a:t>
            </a:r>
          </a:p>
        </p:txBody>
      </p:sp>
      <p:sp>
        <p:nvSpPr>
          <p:cNvPr id="19" name="楕円 18"/>
          <p:cNvSpPr>
            <a:spLocks/>
          </p:cNvSpPr>
          <p:nvPr/>
        </p:nvSpPr>
        <p:spPr>
          <a:xfrm>
            <a:off x="2484000" y="3780000"/>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2</a:t>
            </a:r>
            <a:endParaRPr kumimoji="1" lang="ja-JP" altLang="en-US" sz="1400" b="1" dirty="0">
              <a:latin typeface="游ゴシック" panose="020B0400000000000000" pitchFamily="50" charset="-128"/>
              <a:ea typeface="游ゴシック" panose="020B0400000000000000" pitchFamily="50" charset="-128"/>
            </a:endParaRPr>
          </a:p>
        </p:txBody>
      </p:sp>
      <p:sp>
        <p:nvSpPr>
          <p:cNvPr id="20" name="楕円 19"/>
          <p:cNvSpPr>
            <a:spLocks/>
          </p:cNvSpPr>
          <p:nvPr/>
        </p:nvSpPr>
        <p:spPr>
          <a:xfrm>
            <a:off x="2484000" y="4428000"/>
            <a:ext cx="432000" cy="432000"/>
          </a:xfrm>
          <a:prstGeom prst="ellipse">
            <a:avLst/>
          </a:prstGeom>
          <a:solidFill>
            <a:schemeClr val="accent6"/>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ja-JP" sz="1400" b="1" dirty="0">
                <a:latin typeface="游ゴシック" panose="020B0400000000000000" pitchFamily="50" charset="-128"/>
                <a:ea typeface="游ゴシック" panose="020B0400000000000000" pitchFamily="50" charset="-128"/>
              </a:rPr>
              <a:t>3</a:t>
            </a:r>
            <a:endParaRPr kumimoji="1" lang="ja-JP" altLang="en-US" sz="1400" b="1" dirty="0">
              <a:latin typeface="游ゴシック" panose="020B0400000000000000" pitchFamily="50" charset="-128"/>
              <a:ea typeface="游ゴシック" panose="020B0400000000000000" pitchFamily="50" charset="-128"/>
            </a:endParaRPr>
          </a:p>
        </p:txBody>
      </p:sp>
      <p:sp>
        <p:nvSpPr>
          <p:cNvPr id="22" name="正方形/長方形 21"/>
          <p:cNvSpPr/>
          <p:nvPr/>
        </p:nvSpPr>
        <p:spPr>
          <a:xfrm>
            <a:off x="2988000" y="3672000"/>
            <a:ext cx="5760000" cy="648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400" b="1" dirty="0">
                <a:solidFill>
                  <a:schemeClr val="accent1"/>
                </a:solidFill>
                <a:latin typeface="游ゴシック" panose="020B0400000000000000" pitchFamily="50" charset="-128"/>
                <a:ea typeface="游ゴシック" panose="020B0400000000000000" pitchFamily="50" charset="-128"/>
              </a:rPr>
              <a:t>リファクタリング（機能の統廃合等も含む）を実施</a:t>
            </a:r>
            <a:r>
              <a:rPr lang="ja-JP" altLang="en-US" sz="1400" dirty="0">
                <a:solidFill>
                  <a:schemeClr val="tx1"/>
                </a:solidFill>
                <a:latin typeface="游ゴシック" panose="020B0400000000000000" pitchFamily="50" charset="-128"/>
                <a:ea typeface="游ゴシック" panose="020B0400000000000000" pitchFamily="50" charset="-128"/>
              </a:rPr>
              <a:t>することで、</a:t>
            </a:r>
            <a:r>
              <a:rPr lang="ja-JP" altLang="en-US" sz="1400" b="1" dirty="0">
                <a:solidFill>
                  <a:schemeClr val="accent1"/>
                </a:solidFill>
                <a:latin typeface="游ゴシック" panose="020B0400000000000000" pitchFamily="50" charset="-128"/>
                <a:ea typeface="游ゴシック" panose="020B0400000000000000" pitchFamily="50" charset="-128"/>
              </a:rPr>
              <a:t>プログラムソースをスリム化し、保守性の向上</a:t>
            </a:r>
            <a:r>
              <a:rPr lang="ja-JP" altLang="en-US" sz="1400" dirty="0">
                <a:solidFill>
                  <a:schemeClr val="tx1"/>
                </a:solidFill>
                <a:latin typeface="游ゴシック" panose="020B0400000000000000" pitchFamily="50" charset="-128"/>
                <a:ea typeface="游ゴシック" panose="020B0400000000000000" pitchFamily="50" charset="-128"/>
              </a:rPr>
              <a:t>につながります。</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3" name="正方形/長方形 22"/>
          <p:cNvSpPr/>
          <p:nvPr/>
        </p:nvSpPr>
        <p:spPr>
          <a:xfrm>
            <a:off x="2988000" y="4320000"/>
            <a:ext cx="5760000" cy="648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400" dirty="0">
                <a:solidFill>
                  <a:schemeClr val="tx1"/>
                </a:solidFill>
                <a:latin typeface="游ゴシック" panose="020B0400000000000000" pitchFamily="50" charset="-128"/>
                <a:ea typeface="游ゴシック" panose="020B0400000000000000" pitchFamily="50" charset="-128"/>
              </a:rPr>
              <a:t>サードパーティ製のツールを</a:t>
            </a:r>
            <a:r>
              <a:rPr lang="ja-JP" altLang="en-US" sz="1400" dirty="0">
                <a:solidFill>
                  <a:schemeClr val="tx1"/>
                </a:solidFill>
                <a:latin typeface="游ゴシック" panose="020B0400000000000000" pitchFamily="50" charset="-128"/>
                <a:ea typeface="游ゴシック" panose="020B0400000000000000" pitchFamily="50" charset="-128"/>
              </a:rPr>
              <a:t>廃止することで、今後の</a:t>
            </a:r>
            <a:r>
              <a:rPr lang="ja-JP" altLang="en-US" sz="1400" b="1" dirty="0">
                <a:solidFill>
                  <a:schemeClr val="accent1"/>
                </a:solidFill>
                <a:latin typeface="游ゴシック" panose="020B0400000000000000" pitchFamily="50" charset="-128"/>
                <a:ea typeface="游ゴシック" panose="020B0400000000000000" pitchFamily="50" charset="-128"/>
              </a:rPr>
              <a:t>老朽化更新対応の際の影響度合いを小さく</a:t>
            </a:r>
            <a:r>
              <a:rPr lang="ja-JP" altLang="en-US" sz="1400" dirty="0">
                <a:solidFill>
                  <a:schemeClr val="tx1"/>
                </a:solidFill>
                <a:latin typeface="游ゴシック" panose="020B0400000000000000" pitchFamily="50" charset="-128"/>
                <a:ea typeface="游ゴシック" panose="020B0400000000000000" pitchFamily="50" charset="-128"/>
              </a:rPr>
              <a:t>することが可能となります。</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8" name="テキスト ボックス 7"/>
          <p:cNvSpPr txBox="1"/>
          <p:nvPr/>
        </p:nvSpPr>
        <p:spPr>
          <a:xfrm>
            <a:off x="396000" y="4284000"/>
            <a:ext cx="1800000" cy="954107"/>
          </a:xfrm>
          <a:prstGeom prst="rect">
            <a:avLst/>
          </a:prstGeom>
          <a:noFill/>
        </p:spPr>
        <p:txBody>
          <a:bodyPr wrap="square" rtlCol="0">
            <a:spAutoFit/>
          </a:bodyPr>
          <a:lstStyle/>
          <a:p>
            <a:r>
              <a:rPr lang="ja-JP" altLang="en-US" sz="1400" dirty="0">
                <a:latin typeface="游ゴシック" panose="020B0400000000000000" pitchFamily="50" charset="-128"/>
                <a:ea typeface="游ゴシック" panose="020B0400000000000000" pitchFamily="50" charset="-128"/>
              </a:rPr>
              <a:t>作り直すことにより右記のメリットが期待できます。</a:t>
            </a:r>
            <a:endParaRPr lang="en-US" altLang="ja-JP" sz="1400" dirty="0">
              <a:latin typeface="游ゴシック" panose="020B0400000000000000" pitchFamily="50" charset="-128"/>
              <a:ea typeface="游ゴシック" panose="020B0400000000000000" pitchFamily="50" charset="-128"/>
            </a:endParaRPr>
          </a:p>
          <a:p>
            <a:endParaRPr kumimoji="1" lang="ja-JP" altLang="en-US" sz="1400" dirty="0">
              <a:latin typeface="游ゴシック" panose="020B0400000000000000" pitchFamily="50" charset="-128"/>
              <a:ea typeface="游ゴシック" panose="020B0400000000000000" pitchFamily="50" charset="-128"/>
            </a:endParaRPr>
          </a:p>
        </p:txBody>
      </p:sp>
      <p:sp>
        <p:nvSpPr>
          <p:cNvPr id="9" name="右矢印 8"/>
          <p:cNvSpPr/>
          <p:nvPr/>
        </p:nvSpPr>
        <p:spPr>
          <a:xfrm>
            <a:off x="396000" y="3348000"/>
            <a:ext cx="1800000" cy="864000"/>
          </a:xfrm>
          <a:prstGeom prst="rightArrow">
            <a:avLst>
              <a:gd name="adj1" fmla="val 63744"/>
              <a:gd name="adj2" fmla="val 50000"/>
            </a:avLst>
          </a:prstGeom>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726657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実行環境の変更点</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24</a:t>
            </a:fld>
            <a:endParaRPr kumimoji="1" lang="ja-JP" altLang="en-US"/>
          </a:p>
        </p:txBody>
      </p:sp>
      <p:grpSp>
        <p:nvGrpSpPr>
          <p:cNvPr id="17" name="グループ化 16"/>
          <p:cNvGrpSpPr/>
          <p:nvPr/>
        </p:nvGrpSpPr>
        <p:grpSpPr>
          <a:xfrm>
            <a:off x="360000" y="1044000"/>
            <a:ext cx="432000" cy="432000"/>
            <a:chOff x="936727" y="1596367"/>
            <a:chExt cx="432000" cy="432000"/>
          </a:xfrm>
        </p:grpSpPr>
        <p:sp>
          <p:nvSpPr>
            <p:cNvPr id="8" name="涙形 7"/>
            <p:cNvSpPr>
              <a:spLocks noChangeAspect="1"/>
            </p:cNvSpPr>
            <p:nvPr/>
          </p:nvSpPr>
          <p:spPr>
            <a:xfrm rot="5400000">
              <a:off x="936727" y="1596367"/>
              <a:ext cx="432000" cy="432000"/>
            </a:xfrm>
            <a:prstGeom prst="teardrop">
              <a:avLst/>
            </a:prstGeom>
            <a:solidFill>
              <a:schemeClr val="accent1">
                <a:lumMod val="20000"/>
                <a:lumOff val="80000"/>
              </a:schemeClr>
            </a:solidFill>
            <a:ln w="76200" cmpd="sng">
              <a:solidFill>
                <a:schemeClr val="accent1">
                  <a:lumMod val="40000"/>
                  <a:lumOff val="60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p:nvSpPr>
          <p:spPr>
            <a:xfrm>
              <a:off x="1001884" y="1627701"/>
              <a:ext cx="301686" cy="369332"/>
            </a:xfrm>
            <a:prstGeom prst="rect">
              <a:avLst/>
            </a:prstGeom>
            <a:noFill/>
          </p:spPr>
          <p:txBody>
            <a:bodyPr wrap="none" rtlCol="0" anchor="ctr">
              <a:spAutoFit/>
            </a:bodyPr>
            <a:lstStyle/>
            <a:p>
              <a:pPr algn="ctr"/>
              <a:r>
                <a:rPr kumimoji="1" lang="en-US" altLang="ja-JP" dirty="0">
                  <a:solidFill>
                    <a:schemeClr val="accent1"/>
                  </a:solidFill>
                </a:rPr>
                <a:t>1</a:t>
              </a:r>
              <a:endParaRPr kumimoji="1" lang="ja-JP" altLang="en-US" dirty="0">
                <a:solidFill>
                  <a:schemeClr val="accent1"/>
                </a:solidFill>
              </a:endParaRPr>
            </a:p>
          </p:txBody>
        </p:sp>
      </p:grpSp>
      <p:sp>
        <p:nvSpPr>
          <p:cNvPr id="16" name="テキスト プレースホルダー 11"/>
          <p:cNvSpPr txBox="1">
            <a:spLocks/>
          </p:cNvSpPr>
          <p:nvPr/>
        </p:nvSpPr>
        <p:spPr>
          <a:xfrm>
            <a:off x="899273" y="1080000"/>
            <a:ext cx="3456000" cy="504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連携</a:t>
            </a:r>
            <a:r>
              <a:rPr lang="en-US" altLang="ja-JP" sz="1600" b="1" dirty="0">
                <a:solidFill>
                  <a:schemeClr val="accent1">
                    <a:lumMod val="50000"/>
                  </a:schemeClr>
                </a:solidFill>
                <a:latin typeface="游ゴシック" panose="020B0400000000000000" pitchFamily="50" charset="-128"/>
              </a:rPr>
              <a:t>NAS</a:t>
            </a:r>
            <a:r>
              <a:rPr lang="ja-JP" altLang="en-US" sz="1600" b="1" dirty="0">
                <a:solidFill>
                  <a:schemeClr val="accent1">
                    <a:lumMod val="50000"/>
                  </a:schemeClr>
                </a:solidFill>
                <a:latin typeface="游ゴシック" panose="020B0400000000000000" pitchFamily="50" charset="-128"/>
              </a:rPr>
              <a:t>を使用した</a:t>
            </a:r>
            <a:endParaRPr lang="en-US" altLang="ja-JP" sz="1600" b="1" dirty="0">
              <a:solidFill>
                <a:schemeClr val="accent1">
                  <a:lumMod val="50000"/>
                </a:schemeClr>
              </a:solidFill>
              <a:latin typeface="游ゴシック" panose="020B0400000000000000" pitchFamily="50" charset="-128"/>
            </a:endParaRPr>
          </a:p>
          <a:p>
            <a:pPr marL="0" indent="0">
              <a:buNone/>
            </a:pPr>
            <a:r>
              <a:rPr lang="ja-JP" altLang="en-US" sz="1600" b="1" dirty="0">
                <a:solidFill>
                  <a:schemeClr val="accent1">
                    <a:lumMod val="50000"/>
                  </a:schemeClr>
                </a:solidFill>
                <a:latin typeface="游ゴシック" panose="020B0400000000000000" pitchFamily="50" charset="-128"/>
              </a:rPr>
              <a:t>データ連携</a:t>
            </a:r>
            <a:endParaRPr lang="en-US" sz="1600" b="1" dirty="0">
              <a:solidFill>
                <a:schemeClr val="accent1">
                  <a:lumMod val="50000"/>
                </a:schemeClr>
              </a:solidFill>
              <a:latin typeface="游ゴシック" panose="020B0400000000000000" pitchFamily="50" charset="-128"/>
            </a:endParaRPr>
          </a:p>
        </p:txBody>
      </p:sp>
      <p:grpSp>
        <p:nvGrpSpPr>
          <p:cNvPr id="11" name="グループ化 10"/>
          <p:cNvGrpSpPr/>
          <p:nvPr/>
        </p:nvGrpSpPr>
        <p:grpSpPr>
          <a:xfrm>
            <a:off x="4716000" y="1044000"/>
            <a:ext cx="432000" cy="432000"/>
            <a:chOff x="936727" y="1596367"/>
            <a:chExt cx="432000" cy="432000"/>
          </a:xfrm>
        </p:grpSpPr>
        <p:sp>
          <p:nvSpPr>
            <p:cNvPr id="13" name="涙形 12"/>
            <p:cNvSpPr>
              <a:spLocks noChangeAspect="1"/>
            </p:cNvSpPr>
            <p:nvPr/>
          </p:nvSpPr>
          <p:spPr>
            <a:xfrm rot="5400000">
              <a:off x="936727" y="1596367"/>
              <a:ext cx="432000" cy="432000"/>
            </a:xfrm>
            <a:prstGeom prst="teardrop">
              <a:avLst/>
            </a:prstGeom>
            <a:solidFill>
              <a:schemeClr val="accent1">
                <a:lumMod val="20000"/>
                <a:lumOff val="80000"/>
              </a:schemeClr>
            </a:solidFill>
            <a:ln w="76200" cmpd="sng">
              <a:solidFill>
                <a:schemeClr val="accent1">
                  <a:lumMod val="40000"/>
                  <a:lumOff val="60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p:cNvSpPr txBox="1"/>
            <p:nvPr/>
          </p:nvSpPr>
          <p:spPr>
            <a:xfrm>
              <a:off x="1001884" y="1627701"/>
              <a:ext cx="301686" cy="369332"/>
            </a:xfrm>
            <a:prstGeom prst="rect">
              <a:avLst/>
            </a:prstGeom>
            <a:noFill/>
          </p:spPr>
          <p:txBody>
            <a:bodyPr wrap="none" rtlCol="0" anchor="ctr">
              <a:spAutoFit/>
            </a:bodyPr>
            <a:lstStyle/>
            <a:p>
              <a:pPr algn="ctr"/>
              <a:r>
                <a:rPr kumimoji="1" lang="en-US" altLang="ja-JP" dirty="0">
                  <a:solidFill>
                    <a:schemeClr val="accent1"/>
                  </a:solidFill>
                </a:rPr>
                <a:t>2</a:t>
              </a:r>
              <a:endParaRPr kumimoji="1" lang="ja-JP" altLang="en-US" dirty="0">
                <a:solidFill>
                  <a:schemeClr val="accent1"/>
                </a:solidFill>
              </a:endParaRPr>
            </a:p>
          </p:txBody>
        </p:sp>
      </p:grpSp>
      <p:sp>
        <p:nvSpPr>
          <p:cNvPr id="12" name="テキスト プレースホルダー 11"/>
          <p:cNvSpPr txBox="1">
            <a:spLocks/>
          </p:cNvSpPr>
          <p:nvPr/>
        </p:nvSpPr>
        <p:spPr>
          <a:xfrm>
            <a:off x="5255273" y="1080000"/>
            <a:ext cx="3456000" cy="504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b="1" dirty="0">
                <a:solidFill>
                  <a:schemeClr val="accent1">
                    <a:lumMod val="50000"/>
                  </a:schemeClr>
                </a:solidFill>
                <a:latin typeface="游ゴシック" panose="020B0400000000000000" pitchFamily="50" charset="-128"/>
              </a:rPr>
              <a:t>OperationManager</a:t>
            </a:r>
            <a:r>
              <a:rPr lang="ja-JP" altLang="en-US" sz="1600" b="1" dirty="0">
                <a:solidFill>
                  <a:schemeClr val="accent1">
                    <a:lumMod val="50000"/>
                  </a:schemeClr>
                </a:solidFill>
                <a:latin typeface="游ゴシック" panose="020B0400000000000000" pitchFamily="50" charset="-128"/>
              </a:rPr>
              <a:t>によるタスク実行</a:t>
            </a:r>
            <a:endParaRPr lang="en-US" sz="1600" b="1" dirty="0">
              <a:solidFill>
                <a:schemeClr val="accent1">
                  <a:lumMod val="50000"/>
                </a:schemeClr>
              </a:solidFill>
              <a:latin typeface="游ゴシック" panose="020B0400000000000000" pitchFamily="50" charset="-128"/>
            </a:endParaRPr>
          </a:p>
        </p:txBody>
      </p:sp>
      <p:sp>
        <p:nvSpPr>
          <p:cNvPr id="15" name="テキスト ボックス 14"/>
          <p:cNvSpPr txBox="1"/>
          <p:nvPr/>
        </p:nvSpPr>
        <p:spPr>
          <a:xfrm>
            <a:off x="360000" y="1584000"/>
            <a:ext cx="3995273" cy="936000"/>
          </a:xfrm>
          <a:prstGeom prst="rect">
            <a:avLst/>
          </a:prstGeom>
          <a:noFill/>
        </p:spPr>
        <p:txBody>
          <a:bodyPr wrap="square" numCol="1" rtlCol="0">
            <a:noAutofit/>
          </a:bodyPr>
          <a:lstStyle/>
          <a:p>
            <a:r>
              <a:rPr lang="en-US" altLang="ja-JP" sz="1400" dirty="0" err="1">
                <a:latin typeface="游ゴシック" panose="020B0400000000000000" pitchFamily="50" charset="-128"/>
                <a:ea typeface="游ゴシック" panose="020B0400000000000000" pitchFamily="50" charset="-128"/>
              </a:rPr>
              <a:t>OneSAP</a:t>
            </a:r>
            <a:r>
              <a:rPr lang="ja-JP" altLang="en-US" sz="1400" dirty="0">
                <a:latin typeface="游ゴシック" panose="020B0400000000000000" pitchFamily="50" charset="-128"/>
                <a:ea typeface="游ゴシック" panose="020B0400000000000000" pitchFamily="50" charset="-128"/>
              </a:rPr>
              <a:t>との連携につきましては、貴社</a:t>
            </a:r>
            <a:r>
              <a:rPr lang="en-US" altLang="ja-JP" sz="1400" dirty="0">
                <a:latin typeface="游ゴシック" panose="020B0400000000000000" pitchFamily="50" charset="-128"/>
                <a:ea typeface="游ゴシック" panose="020B0400000000000000" pitchFamily="50" charset="-128"/>
              </a:rPr>
              <a:t>RFP</a:t>
            </a:r>
            <a:r>
              <a:rPr lang="ja-JP" altLang="en-US" sz="1400" dirty="0">
                <a:latin typeface="游ゴシック" panose="020B0400000000000000" pitchFamily="50" charset="-128"/>
                <a:ea typeface="游ゴシック" panose="020B0400000000000000" pitchFamily="50" charset="-128"/>
              </a:rPr>
              <a:t>記載の方針に従い、</a:t>
            </a:r>
            <a:r>
              <a:rPr lang="en-US" altLang="ja-JP" sz="1400" dirty="0">
                <a:latin typeface="游ゴシック" panose="020B0400000000000000" pitchFamily="50" charset="-128"/>
                <a:ea typeface="游ゴシック" panose="020B0400000000000000" pitchFamily="50" charset="-128"/>
              </a:rPr>
              <a:t>OWFT</a:t>
            </a:r>
            <a:r>
              <a:rPr lang="ja-JP" altLang="en-US" sz="1400" dirty="0">
                <a:latin typeface="游ゴシック" panose="020B0400000000000000" pitchFamily="50" charset="-128"/>
                <a:ea typeface="游ゴシック" panose="020B0400000000000000" pitchFamily="50" charset="-128"/>
              </a:rPr>
              <a:t>を使用した連携方式を廃止し、</a:t>
            </a:r>
            <a:r>
              <a:rPr lang="ja-JP" altLang="en-US" sz="1400" b="1" dirty="0">
                <a:solidFill>
                  <a:schemeClr val="accent1"/>
                </a:solidFill>
                <a:latin typeface="游ゴシック" panose="020B0400000000000000" pitchFamily="50" charset="-128"/>
                <a:ea typeface="游ゴシック" panose="020B0400000000000000" pitchFamily="50" charset="-128"/>
              </a:rPr>
              <a:t>連携</a:t>
            </a:r>
            <a:r>
              <a:rPr lang="en-US" altLang="ja-JP" sz="1400" b="1" dirty="0">
                <a:solidFill>
                  <a:schemeClr val="accent1"/>
                </a:solidFill>
                <a:latin typeface="游ゴシック" panose="020B0400000000000000" pitchFamily="50" charset="-128"/>
                <a:ea typeface="游ゴシック" panose="020B0400000000000000" pitchFamily="50" charset="-128"/>
              </a:rPr>
              <a:t>NAS</a:t>
            </a:r>
            <a:r>
              <a:rPr lang="ja-JP" altLang="en-US" sz="1400" b="1" dirty="0">
                <a:solidFill>
                  <a:schemeClr val="accent1"/>
                </a:solidFill>
                <a:latin typeface="游ゴシック" panose="020B0400000000000000" pitchFamily="50" charset="-128"/>
                <a:ea typeface="游ゴシック" panose="020B0400000000000000" pitchFamily="50" charset="-128"/>
              </a:rPr>
              <a:t>を経由するファイル転送方式に変更</a:t>
            </a:r>
            <a:r>
              <a:rPr lang="ja-JP" altLang="en-US" sz="1400" dirty="0">
                <a:latin typeface="游ゴシック" panose="020B0400000000000000" pitchFamily="50" charset="-128"/>
                <a:ea typeface="游ゴシック" panose="020B0400000000000000" pitchFamily="50" charset="-128"/>
              </a:rPr>
              <a:t>します。</a:t>
            </a:r>
            <a:endParaRPr lang="en-US" altLang="ja-JP" sz="1400" dirty="0">
              <a:latin typeface="游ゴシック" panose="020B0400000000000000" pitchFamily="50" charset="-128"/>
              <a:ea typeface="游ゴシック" panose="020B0400000000000000" pitchFamily="50" charset="-128"/>
            </a:endParaRPr>
          </a:p>
        </p:txBody>
      </p:sp>
      <p:sp>
        <p:nvSpPr>
          <p:cNvPr id="18" name="テキスト ボックス 17"/>
          <p:cNvSpPr txBox="1"/>
          <p:nvPr/>
        </p:nvSpPr>
        <p:spPr>
          <a:xfrm>
            <a:off x="4716000" y="1584000"/>
            <a:ext cx="3996000" cy="936000"/>
          </a:xfrm>
          <a:prstGeom prst="rect">
            <a:avLst/>
          </a:prstGeom>
          <a:noFill/>
        </p:spPr>
        <p:txBody>
          <a:bodyPr wrap="square" numCol="1" rtlCol="0">
            <a:noAutofit/>
          </a:bodyPr>
          <a:lstStyle/>
          <a:p>
            <a:r>
              <a:rPr lang="en-US" altLang="ja-JP" sz="1400" dirty="0">
                <a:latin typeface="游ゴシック" panose="020B0400000000000000" pitchFamily="50" charset="-128"/>
                <a:ea typeface="游ゴシック" panose="020B0400000000000000" pitchFamily="50" charset="-128"/>
              </a:rPr>
              <a:t>DB</a:t>
            </a:r>
            <a:r>
              <a:rPr lang="ja-JP" altLang="en-US" sz="1400" dirty="0">
                <a:latin typeface="游ゴシック" panose="020B0400000000000000" pitchFamily="50" charset="-128"/>
                <a:ea typeface="游ゴシック" panose="020B0400000000000000" pitchFamily="50" charset="-128"/>
              </a:rPr>
              <a:t>サーバおよび通信サーバにて</a:t>
            </a:r>
            <a:r>
              <a:rPr lang="en-US" altLang="ja-JP" sz="1400" dirty="0">
                <a:latin typeface="游ゴシック" panose="020B0400000000000000" pitchFamily="50" charset="-128"/>
                <a:ea typeface="游ゴシック" panose="020B0400000000000000" pitchFamily="50" charset="-128"/>
              </a:rPr>
              <a:t>Windows</a:t>
            </a:r>
            <a:r>
              <a:rPr lang="ja-JP" altLang="en-US" sz="1400" dirty="0">
                <a:latin typeface="游ゴシック" panose="020B0400000000000000" pitchFamily="50" charset="-128"/>
                <a:ea typeface="游ゴシック" panose="020B0400000000000000" pitchFamily="50" charset="-128"/>
              </a:rPr>
              <a:t>タスクにより起動されているタスク（バッチ処理）を</a:t>
            </a:r>
            <a:r>
              <a:rPr lang="en-US" altLang="ja-JP" sz="1400" b="1" dirty="0">
                <a:solidFill>
                  <a:schemeClr val="accent1"/>
                </a:solidFill>
                <a:latin typeface="游ゴシック" panose="020B0400000000000000" pitchFamily="50" charset="-128"/>
                <a:ea typeface="游ゴシック" panose="020B0400000000000000" pitchFamily="50" charset="-128"/>
              </a:rPr>
              <a:t>OperationManager</a:t>
            </a:r>
            <a:r>
              <a:rPr lang="ja-JP" altLang="en-US" sz="1400" b="1" dirty="0">
                <a:solidFill>
                  <a:schemeClr val="accent1"/>
                </a:solidFill>
                <a:latin typeface="游ゴシック" panose="020B0400000000000000" pitchFamily="50" charset="-128"/>
                <a:ea typeface="游ゴシック" panose="020B0400000000000000" pitchFamily="50" charset="-128"/>
              </a:rPr>
              <a:t>による起動に変更</a:t>
            </a:r>
            <a:r>
              <a:rPr lang="ja-JP" altLang="en-US" sz="1400" dirty="0">
                <a:latin typeface="游ゴシック" panose="020B0400000000000000" pitchFamily="50" charset="-128"/>
                <a:ea typeface="游ゴシック" panose="020B0400000000000000" pitchFamily="50" charset="-128"/>
              </a:rPr>
              <a:t>します。</a:t>
            </a:r>
            <a:endParaRPr lang="en-US" altLang="ja-JP" sz="1400" dirty="0">
              <a:latin typeface="游ゴシック" panose="020B0400000000000000" pitchFamily="50" charset="-128"/>
              <a:ea typeface="游ゴシック" panose="020B0400000000000000" pitchFamily="50" charset="-128"/>
            </a:endParaRPr>
          </a:p>
        </p:txBody>
      </p:sp>
      <p:grpSp>
        <p:nvGrpSpPr>
          <p:cNvPr id="19" name="グループ化 18"/>
          <p:cNvGrpSpPr/>
          <p:nvPr/>
        </p:nvGrpSpPr>
        <p:grpSpPr>
          <a:xfrm>
            <a:off x="360000" y="2664000"/>
            <a:ext cx="432000" cy="432000"/>
            <a:chOff x="936727" y="1596367"/>
            <a:chExt cx="432000" cy="432000"/>
          </a:xfrm>
        </p:grpSpPr>
        <p:sp>
          <p:nvSpPr>
            <p:cNvPr id="20" name="涙形 19"/>
            <p:cNvSpPr>
              <a:spLocks noChangeAspect="1"/>
            </p:cNvSpPr>
            <p:nvPr/>
          </p:nvSpPr>
          <p:spPr>
            <a:xfrm rot="5400000">
              <a:off x="936727" y="1596367"/>
              <a:ext cx="432000" cy="432000"/>
            </a:xfrm>
            <a:prstGeom prst="teardrop">
              <a:avLst/>
            </a:prstGeom>
            <a:solidFill>
              <a:schemeClr val="accent1">
                <a:lumMod val="20000"/>
                <a:lumOff val="80000"/>
              </a:schemeClr>
            </a:solidFill>
            <a:ln w="76200" cmpd="sng">
              <a:solidFill>
                <a:schemeClr val="accent1">
                  <a:lumMod val="40000"/>
                  <a:lumOff val="60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p:cNvSpPr txBox="1"/>
            <p:nvPr/>
          </p:nvSpPr>
          <p:spPr>
            <a:xfrm>
              <a:off x="1001884" y="1627701"/>
              <a:ext cx="301686" cy="369332"/>
            </a:xfrm>
            <a:prstGeom prst="rect">
              <a:avLst/>
            </a:prstGeom>
            <a:noFill/>
          </p:spPr>
          <p:txBody>
            <a:bodyPr wrap="none" rtlCol="0" anchor="ctr">
              <a:spAutoFit/>
            </a:bodyPr>
            <a:lstStyle/>
            <a:p>
              <a:pPr algn="ctr"/>
              <a:r>
                <a:rPr kumimoji="1" lang="en-US" altLang="ja-JP" dirty="0">
                  <a:solidFill>
                    <a:schemeClr val="accent1"/>
                  </a:solidFill>
                </a:rPr>
                <a:t>3</a:t>
              </a:r>
              <a:endParaRPr kumimoji="1" lang="ja-JP" altLang="en-US" dirty="0">
                <a:solidFill>
                  <a:schemeClr val="accent1"/>
                </a:solidFill>
              </a:endParaRPr>
            </a:p>
          </p:txBody>
        </p:sp>
      </p:grpSp>
      <p:sp>
        <p:nvSpPr>
          <p:cNvPr id="22" name="テキスト プレースホルダー 11"/>
          <p:cNvSpPr txBox="1">
            <a:spLocks/>
          </p:cNvSpPr>
          <p:nvPr/>
        </p:nvSpPr>
        <p:spPr>
          <a:xfrm>
            <a:off x="899272" y="2700000"/>
            <a:ext cx="8100727" cy="504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b="1" dirty="0" err="1">
                <a:solidFill>
                  <a:schemeClr val="accent1">
                    <a:lumMod val="50000"/>
                  </a:schemeClr>
                </a:solidFill>
                <a:latin typeface="游ゴシック" panose="020B0400000000000000" pitchFamily="50" charset="-128"/>
              </a:rPr>
              <a:t>ClickOnce</a:t>
            </a:r>
            <a:r>
              <a:rPr lang="ja-JP" altLang="en-US" sz="1600" b="1" dirty="0">
                <a:solidFill>
                  <a:schemeClr val="accent1">
                    <a:lumMod val="50000"/>
                  </a:schemeClr>
                </a:solidFill>
                <a:latin typeface="游ゴシック" panose="020B0400000000000000" pitchFamily="50" charset="-128"/>
              </a:rPr>
              <a:t>によるアプリケーションの配布</a:t>
            </a:r>
            <a:endParaRPr lang="en-US" sz="1600" b="1" dirty="0">
              <a:solidFill>
                <a:schemeClr val="accent1">
                  <a:lumMod val="50000"/>
                </a:schemeClr>
              </a:solidFill>
              <a:latin typeface="游ゴシック" panose="020B0400000000000000" pitchFamily="50" charset="-128"/>
            </a:endParaRPr>
          </a:p>
        </p:txBody>
      </p:sp>
      <p:sp>
        <p:nvSpPr>
          <p:cNvPr id="23" name="テキスト ボックス 22"/>
          <p:cNvSpPr txBox="1">
            <a:spLocks/>
          </p:cNvSpPr>
          <p:nvPr/>
        </p:nvSpPr>
        <p:spPr>
          <a:xfrm>
            <a:off x="360000" y="3168000"/>
            <a:ext cx="8424000" cy="540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クライアントアプリケーションの配布には</a:t>
            </a:r>
            <a:r>
              <a:rPr lang="en-US" altLang="ja-JP" sz="1400" dirty="0">
                <a:latin typeface="游ゴシック" panose="020B0400000000000000" pitchFamily="50" charset="-128"/>
                <a:ea typeface="游ゴシック" panose="020B0400000000000000" pitchFamily="50" charset="-128"/>
              </a:rPr>
              <a:t>Microsoft</a:t>
            </a:r>
            <a:r>
              <a:rPr lang="ja-JP" altLang="en-US" sz="1400" dirty="0">
                <a:latin typeface="游ゴシック" panose="020B0400000000000000" pitchFamily="50" charset="-128"/>
                <a:ea typeface="游ゴシック" panose="020B0400000000000000" pitchFamily="50" charset="-128"/>
              </a:rPr>
              <a:t>社の</a:t>
            </a:r>
            <a:r>
              <a:rPr lang="en-US" altLang="ja-JP" sz="1400" dirty="0" err="1">
                <a:latin typeface="游ゴシック" panose="020B0400000000000000" pitchFamily="50" charset="-128"/>
                <a:ea typeface="游ゴシック" panose="020B0400000000000000" pitchFamily="50" charset="-128"/>
              </a:rPr>
              <a:t>ClickOnce</a:t>
            </a:r>
            <a:r>
              <a:rPr lang="ja-JP" altLang="en-US" sz="1400" dirty="0">
                <a:latin typeface="游ゴシック" panose="020B0400000000000000" pitchFamily="50" charset="-128"/>
                <a:ea typeface="游ゴシック" panose="020B0400000000000000" pitchFamily="50" charset="-128"/>
              </a:rPr>
              <a:t>を採用します。</a:t>
            </a:r>
            <a:r>
              <a:rPr lang="en-US" altLang="ja-JP" sz="1400" dirty="0">
                <a:latin typeface="游ゴシック" panose="020B0400000000000000" pitchFamily="50" charset="-128"/>
                <a:ea typeface="游ゴシック" panose="020B0400000000000000" pitchFamily="50" charset="-128"/>
              </a:rPr>
              <a:t> </a:t>
            </a:r>
            <a:r>
              <a:rPr lang="ja-JP" altLang="en-US" sz="1400" dirty="0">
                <a:latin typeface="游ゴシック" panose="020B0400000000000000" pitchFamily="50" charset="-128"/>
                <a:ea typeface="游ゴシック" panose="020B0400000000000000" pitchFamily="50" charset="-128"/>
              </a:rPr>
              <a:t>アプリケーションの更新が発生した際に</a:t>
            </a:r>
            <a:r>
              <a:rPr kumimoji="1" lang="ja-JP" altLang="en-US" sz="1400" b="1" dirty="0">
                <a:solidFill>
                  <a:schemeClr val="accent1"/>
                </a:solidFill>
                <a:latin typeface="游ゴシック" panose="020B0400000000000000" pitchFamily="50" charset="-128"/>
                <a:ea typeface="游ゴシック" panose="020B0400000000000000" pitchFamily="50" charset="-128"/>
              </a:rPr>
              <a:t>容易に</a:t>
            </a:r>
            <a:r>
              <a:rPr lang="ja-JP" altLang="en-US" sz="1400" b="1" dirty="0">
                <a:solidFill>
                  <a:schemeClr val="accent1"/>
                </a:solidFill>
                <a:latin typeface="游ゴシック" panose="020B0400000000000000" pitchFamily="50" charset="-128"/>
                <a:ea typeface="游ゴシック" panose="020B0400000000000000" pitchFamily="50" charset="-128"/>
              </a:rPr>
              <a:t>アプリケーションを各クライアントへ配布</a:t>
            </a:r>
            <a:r>
              <a:rPr kumimoji="1" lang="ja-JP" altLang="en-US" sz="1400" b="1" dirty="0">
                <a:solidFill>
                  <a:schemeClr val="accent1"/>
                </a:solidFill>
                <a:latin typeface="游ゴシック" panose="020B0400000000000000" pitchFamily="50" charset="-128"/>
                <a:ea typeface="游ゴシック" panose="020B0400000000000000" pitchFamily="50" charset="-128"/>
              </a:rPr>
              <a:t>することが可能</a:t>
            </a:r>
            <a:r>
              <a:rPr kumimoji="1" lang="ja-JP" altLang="en-US" sz="1400" dirty="0">
                <a:latin typeface="游ゴシック" panose="020B0400000000000000" pitchFamily="50" charset="-128"/>
                <a:ea typeface="游ゴシック" panose="020B0400000000000000" pitchFamily="50" charset="-128"/>
              </a:rPr>
              <a:t>となります。</a:t>
            </a:r>
          </a:p>
        </p:txBody>
      </p:sp>
      <p:grpSp>
        <p:nvGrpSpPr>
          <p:cNvPr id="39" name="グループ化 38"/>
          <p:cNvGrpSpPr/>
          <p:nvPr/>
        </p:nvGrpSpPr>
        <p:grpSpPr>
          <a:xfrm>
            <a:off x="143999" y="3852000"/>
            <a:ext cx="8856001" cy="2375484"/>
            <a:chOff x="143999" y="3996516"/>
            <a:chExt cx="8856001" cy="2375484"/>
          </a:xfrm>
        </p:grpSpPr>
        <p:sp>
          <p:nvSpPr>
            <p:cNvPr id="25" name="角丸四角形 24"/>
            <p:cNvSpPr/>
            <p:nvPr/>
          </p:nvSpPr>
          <p:spPr>
            <a:xfrm>
              <a:off x="2484000" y="3996516"/>
              <a:ext cx="4176000" cy="1152000"/>
            </a:xfrm>
            <a:prstGeom prst="roundRect">
              <a:avLst>
                <a:gd name="adj" fmla="val 5512"/>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r>
                <a:rPr kumimoji="1" lang="ja-JP" altLang="en-US" sz="1400" b="1" dirty="0">
                  <a:solidFill>
                    <a:schemeClr val="tx1"/>
                  </a:solidFill>
                  <a:latin typeface="游ゴシック" panose="020B0400000000000000" pitchFamily="50" charset="-128"/>
                  <a:ea typeface="游ゴシック" panose="020B0400000000000000" pitchFamily="50" charset="-128"/>
                </a:rPr>
                <a:t>配布サーバ</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pPr algn="r"/>
              <a:r>
                <a:rPr lang="en-US" altLang="ja-JP" sz="1400" b="1" dirty="0">
                  <a:solidFill>
                    <a:schemeClr val="tx1"/>
                  </a:solidFill>
                  <a:latin typeface="游ゴシック" panose="020B0400000000000000" pitchFamily="50" charset="-128"/>
                  <a:ea typeface="游ゴシック" panose="020B0400000000000000" pitchFamily="50" charset="-128"/>
                </a:rPr>
                <a:t>(DB</a:t>
              </a:r>
              <a:r>
                <a:rPr lang="ja-JP" altLang="en-US" sz="1400" b="1" dirty="0">
                  <a:solidFill>
                    <a:schemeClr val="tx1"/>
                  </a:solidFill>
                  <a:latin typeface="游ゴシック" panose="020B0400000000000000" pitchFamily="50" charset="-128"/>
                  <a:ea typeface="游ゴシック" panose="020B0400000000000000" pitchFamily="50" charset="-128"/>
                </a:rPr>
                <a:t>サーバを想定</a:t>
              </a:r>
              <a:r>
                <a:rPr lang="en-US" altLang="ja-JP" sz="1400" b="1" dirty="0">
                  <a:solidFill>
                    <a:schemeClr val="tx1"/>
                  </a:solidFill>
                  <a:latin typeface="游ゴシック" panose="020B0400000000000000" pitchFamily="50" charset="-128"/>
                  <a:ea typeface="游ゴシック" panose="020B0400000000000000" pitchFamily="50" charset="-128"/>
                </a:rPr>
                <a:t>)</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pic>
          <p:nvPicPr>
            <p:cNvPr id="26" name="図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00000" y="4096879"/>
              <a:ext cx="218508" cy="396000"/>
            </a:xfrm>
            <a:prstGeom prst="rect">
              <a:avLst/>
            </a:prstGeom>
          </p:spPr>
        </p:pic>
        <p:sp>
          <p:nvSpPr>
            <p:cNvPr id="27" name="正方形/長方形 26"/>
            <p:cNvSpPr/>
            <p:nvPr/>
          </p:nvSpPr>
          <p:spPr>
            <a:xfrm>
              <a:off x="3653971" y="4140000"/>
              <a:ext cx="1728000" cy="864000"/>
            </a:xfrm>
            <a:prstGeom prst="rect">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r>
                <a:rPr kumimoji="1" lang="en-US" altLang="ja-JP" sz="1400" dirty="0">
                  <a:solidFill>
                    <a:schemeClr val="tx1"/>
                  </a:solidFill>
                  <a:latin typeface="游ゴシック" panose="020B0400000000000000" pitchFamily="50" charset="-128"/>
                  <a:ea typeface="游ゴシック" panose="020B0400000000000000" pitchFamily="50" charset="-128"/>
                </a:rPr>
                <a:t>IIS</a:t>
              </a:r>
            </a:p>
            <a:p>
              <a:pPr algn="ct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8" name="角丸四角形 27"/>
            <p:cNvSpPr/>
            <p:nvPr/>
          </p:nvSpPr>
          <p:spPr>
            <a:xfrm>
              <a:off x="2484000" y="5472000"/>
              <a:ext cx="4176000" cy="792000"/>
            </a:xfrm>
            <a:prstGeom prst="roundRect">
              <a:avLst>
                <a:gd name="adj" fmla="val 8018"/>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r"/>
              <a:r>
                <a:rPr kumimoji="1" lang="ja-JP" altLang="en-US" sz="1400" b="1" dirty="0">
                  <a:solidFill>
                    <a:schemeClr val="tx1"/>
                  </a:solidFill>
                  <a:latin typeface="游ゴシック" panose="020B0400000000000000" pitchFamily="50" charset="-128"/>
                  <a:ea typeface="游ゴシック" panose="020B0400000000000000" pitchFamily="50" charset="-128"/>
                </a:rPr>
                <a:t>クライアント</a:t>
              </a:r>
            </a:p>
          </p:txBody>
        </p:sp>
        <p:pic>
          <p:nvPicPr>
            <p:cNvPr id="29" name="図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64000" y="5580000"/>
              <a:ext cx="365295" cy="288000"/>
            </a:xfrm>
            <a:prstGeom prst="rect">
              <a:avLst/>
            </a:prstGeom>
          </p:spPr>
        </p:pic>
        <p:sp>
          <p:nvSpPr>
            <p:cNvPr id="30" name="角丸四角形 29"/>
            <p:cNvSpPr/>
            <p:nvPr/>
          </p:nvSpPr>
          <p:spPr>
            <a:xfrm>
              <a:off x="3365971" y="5832000"/>
              <a:ext cx="2304000" cy="288000"/>
            </a:xfrm>
            <a:prstGeom prst="roundRect">
              <a:avLst>
                <a:gd name="adj" fmla="val 22049"/>
              </a:avLst>
            </a:prstGeom>
            <a:solidFill>
              <a:schemeClr val="accent2"/>
            </a:solidFill>
            <a:ln w="12700">
              <a:noFill/>
            </a:ln>
          </p:spPr>
          <p:style>
            <a:lnRef idx="3">
              <a:schemeClr val="lt1"/>
            </a:lnRef>
            <a:fillRef idx="1">
              <a:schemeClr val="accent1"/>
            </a:fillRef>
            <a:effectRef idx="1">
              <a:schemeClr val="accent1"/>
            </a:effectRef>
            <a:fontRef idx="minor">
              <a:schemeClr val="lt1"/>
            </a:fontRef>
          </p:style>
          <p:txBody>
            <a:bodyPr wrap="none" lIns="72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運転管理ｼｽﾃﾑ</a:t>
              </a:r>
              <a:r>
                <a:rPr lang="en-US" altLang="ja-JP" sz="1400" b="1" dirty="0">
                  <a:solidFill>
                    <a:schemeClr val="bg1"/>
                  </a:solidFill>
                  <a:latin typeface="游ゴシック" panose="020B0400000000000000" pitchFamily="50" charset="-128"/>
                  <a:ea typeface="游ゴシック" panose="020B0400000000000000" pitchFamily="50" charset="-128"/>
                </a:rPr>
                <a:t>AP</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31" name="角丸四角形 30"/>
            <p:cNvSpPr/>
            <p:nvPr/>
          </p:nvSpPr>
          <p:spPr>
            <a:xfrm>
              <a:off x="3797971" y="4428000"/>
              <a:ext cx="1440000" cy="432000"/>
            </a:xfrm>
            <a:prstGeom prst="roundRect">
              <a:avLst>
                <a:gd name="adj" fmla="val 14699"/>
              </a:avLst>
            </a:prstGeom>
            <a:solidFill>
              <a:schemeClr val="accent1"/>
            </a:solidFill>
            <a:ln w="9525">
              <a:no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200" dirty="0">
                  <a:solidFill>
                    <a:schemeClr val="bg1"/>
                  </a:solidFill>
                  <a:latin typeface="游ゴシック" panose="020B0400000000000000" pitchFamily="50" charset="-128"/>
                  <a:ea typeface="游ゴシック" panose="020B0400000000000000" pitchFamily="50" charset="-128"/>
                </a:rPr>
                <a:t>発行サイト</a:t>
              </a:r>
              <a:endParaRPr kumimoji="1" lang="ja-JP" altLang="en-US" sz="1200" dirty="0">
                <a:solidFill>
                  <a:schemeClr val="bg1"/>
                </a:solidFill>
                <a:latin typeface="游ゴシック" panose="020B0400000000000000" pitchFamily="50" charset="-128"/>
                <a:ea typeface="游ゴシック" panose="020B0400000000000000" pitchFamily="50" charset="-128"/>
              </a:endParaRPr>
            </a:p>
          </p:txBody>
        </p:sp>
        <p:cxnSp>
          <p:nvCxnSpPr>
            <p:cNvPr id="32" name="直線矢印コネクタ 31"/>
            <p:cNvCxnSpPr/>
            <p:nvPr/>
          </p:nvCxnSpPr>
          <p:spPr>
            <a:xfrm>
              <a:off x="4301971" y="4860000"/>
              <a:ext cx="0" cy="972000"/>
            </a:xfrm>
            <a:prstGeom prst="straightConnector1">
              <a:avLst/>
            </a:prstGeom>
            <a:ln w="28575">
              <a:solidFill>
                <a:schemeClr val="accent3"/>
              </a:solidFill>
              <a:headEnd type="none" w="lg" len="med"/>
              <a:tailEnd type="triangle" w="lg" len="med"/>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p:nvPr/>
          </p:nvCxnSpPr>
          <p:spPr>
            <a:xfrm>
              <a:off x="4733971" y="4860000"/>
              <a:ext cx="0" cy="972000"/>
            </a:xfrm>
            <a:prstGeom prst="straightConnector1">
              <a:avLst/>
            </a:prstGeom>
            <a:ln w="28575">
              <a:solidFill>
                <a:schemeClr val="accent3"/>
              </a:solidFill>
              <a:headEnd type="triangle" w="lg" len="med"/>
              <a:tailEnd type="none" w="lg" len="med"/>
            </a:ln>
          </p:spPr>
          <p:style>
            <a:lnRef idx="1">
              <a:schemeClr val="accent1"/>
            </a:lnRef>
            <a:fillRef idx="0">
              <a:schemeClr val="accent1"/>
            </a:fillRef>
            <a:effectRef idx="0">
              <a:schemeClr val="accent1"/>
            </a:effectRef>
            <a:fontRef idx="minor">
              <a:schemeClr val="tx1"/>
            </a:fontRef>
          </p:style>
        </p:cxnSp>
        <p:sp>
          <p:nvSpPr>
            <p:cNvPr id="34" name="テキスト ボックス 33"/>
            <p:cNvSpPr txBox="1"/>
            <p:nvPr/>
          </p:nvSpPr>
          <p:spPr>
            <a:xfrm>
              <a:off x="3024000" y="5076000"/>
              <a:ext cx="1261884" cy="523220"/>
            </a:xfrm>
            <a:prstGeom prst="rect">
              <a:avLst/>
            </a:prstGeom>
            <a:noFill/>
          </p:spPr>
          <p:txBody>
            <a:bodyPr wrap="none" rtlCol="0">
              <a:spAutoFit/>
            </a:bodyPr>
            <a:lstStyle/>
            <a:p>
              <a:r>
                <a:rPr lang="ja-JP" altLang="en-US" sz="1400" dirty="0">
                  <a:latin typeface="游ゴシック" panose="020B0400000000000000" pitchFamily="50" charset="-128"/>
                  <a:ea typeface="游ゴシック" panose="020B0400000000000000" pitchFamily="50" charset="-128"/>
                </a:rPr>
                <a:t>ダウンロード</a:t>
              </a:r>
              <a:endParaRPr lang="en-US" altLang="ja-JP" sz="1400" dirty="0">
                <a:latin typeface="游ゴシック" panose="020B0400000000000000" pitchFamily="50" charset="-128"/>
                <a:ea typeface="游ゴシック" panose="020B0400000000000000" pitchFamily="50" charset="-128"/>
              </a:endParaRPr>
            </a:p>
            <a:p>
              <a:r>
                <a:rPr lang="ja-JP" altLang="en-US" sz="1400" dirty="0">
                  <a:latin typeface="游ゴシック" panose="020B0400000000000000" pitchFamily="50" charset="-128"/>
                  <a:ea typeface="游ゴシック" panose="020B0400000000000000" pitchFamily="50" charset="-128"/>
                </a:rPr>
                <a:t>インストール</a:t>
              </a:r>
              <a:endParaRPr kumimoji="1" lang="ja-JP" altLang="en-US" sz="1400" dirty="0">
                <a:latin typeface="游ゴシック" panose="020B0400000000000000" pitchFamily="50" charset="-128"/>
                <a:ea typeface="游ゴシック" panose="020B0400000000000000" pitchFamily="50" charset="-128"/>
              </a:endParaRPr>
            </a:p>
          </p:txBody>
        </p:sp>
        <p:sp>
          <p:nvSpPr>
            <p:cNvPr id="35" name="テキスト ボックス 34"/>
            <p:cNvSpPr txBox="1"/>
            <p:nvPr/>
          </p:nvSpPr>
          <p:spPr>
            <a:xfrm>
              <a:off x="4752000" y="5148000"/>
              <a:ext cx="1620957" cy="307777"/>
            </a:xfrm>
            <a:prstGeom prst="rect">
              <a:avLst/>
            </a:prstGeom>
            <a:noFill/>
          </p:spPr>
          <p:txBody>
            <a:bodyPr wrap="none" rtlCol="0">
              <a:spAutoFit/>
            </a:bodyPr>
            <a:lstStyle/>
            <a:p>
              <a:r>
                <a:rPr lang="ja-JP" altLang="en-US" sz="1400" dirty="0">
                  <a:latin typeface="游ゴシック" panose="020B0400000000000000" pitchFamily="50" charset="-128"/>
                  <a:ea typeface="游ゴシック" panose="020B0400000000000000" pitchFamily="50" charset="-128"/>
                </a:rPr>
                <a:t>バージョンの確認</a:t>
              </a:r>
              <a:endParaRPr kumimoji="1" lang="ja-JP" altLang="en-US" sz="1400" dirty="0">
                <a:latin typeface="游ゴシック" panose="020B0400000000000000" pitchFamily="50" charset="-128"/>
                <a:ea typeface="游ゴシック" panose="020B0400000000000000" pitchFamily="50" charset="-128"/>
              </a:endParaRPr>
            </a:p>
          </p:txBody>
        </p:sp>
        <p:sp>
          <p:nvSpPr>
            <p:cNvPr id="36" name="テキスト ボックス 35"/>
            <p:cNvSpPr txBox="1"/>
            <p:nvPr/>
          </p:nvSpPr>
          <p:spPr>
            <a:xfrm>
              <a:off x="6768000" y="4932000"/>
              <a:ext cx="2232000" cy="1440000"/>
            </a:xfrm>
            <a:prstGeom prst="wedgeRectCallout">
              <a:avLst>
                <a:gd name="adj1" fmla="val -63672"/>
                <a:gd name="adj2" fmla="val 34414"/>
              </a:avLst>
            </a:prstGeom>
            <a:solidFill>
              <a:srgbClr val="FFE1E1"/>
            </a:solidFill>
            <a:ln>
              <a:solidFill>
                <a:srgbClr val="FF0000"/>
              </a:solidFill>
            </a:ln>
          </p:spPr>
          <p:txBody>
            <a:bodyPr wrap="square" rtlCol="0">
              <a:spAutoFit/>
            </a:bodyPr>
            <a:lstStyle/>
            <a:p>
              <a:r>
                <a:rPr kumimoji="1" lang="ja-JP" altLang="en-US" sz="1400" b="1" dirty="0">
                  <a:latin typeface="游ゴシック" panose="020B0400000000000000" pitchFamily="50" charset="-128"/>
                  <a:ea typeface="游ゴシック" panose="020B0400000000000000" pitchFamily="50" charset="-128"/>
                </a:rPr>
                <a:t>バージョンアップ</a:t>
              </a:r>
              <a:endParaRPr kumimoji="1" lang="en-US" altLang="ja-JP" sz="1400" b="1" dirty="0">
                <a:latin typeface="游ゴシック" panose="020B0400000000000000" pitchFamily="50" charset="-128"/>
                <a:ea typeface="游ゴシック" panose="020B0400000000000000" pitchFamily="50" charset="-128"/>
              </a:endParaRPr>
            </a:p>
            <a:p>
              <a:r>
                <a:rPr lang="ja-JP" altLang="en-US" sz="1200" dirty="0">
                  <a:latin typeface="游ゴシック" panose="020B0400000000000000" pitchFamily="50" charset="-128"/>
                  <a:ea typeface="游ゴシック" panose="020B0400000000000000" pitchFamily="50" charset="-128"/>
                </a:rPr>
                <a:t>アプリケーション起動時に新しいバージョンが発行されていないかをチェック、新バージョンがあれば</a:t>
              </a:r>
              <a:r>
                <a:rPr lang="ja-JP" altLang="en-US" sz="1200" b="1" dirty="0">
                  <a:solidFill>
                    <a:schemeClr val="accent1"/>
                  </a:solidFill>
                  <a:latin typeface="游ゴシック" panose="020B0400000000000000" pitchFamily="50" charset="-128"/>
                  <a:ea typeface="游ゴシック" panose="020B0400000000000000" pitchFamily="50" charset="-128"/>
                </a:rPr>
                <a:t>ダウンロード・インストールを自動的に実施</a:t>
              </a:r>
              <a:r>
                <a:rPr lang="ja-JP" altLang="en-US" sz="1200" dirty="0">
                  <a:latin typeface="游ゴシック" panose="020B0400000000000000" pitchFamily="50" charset="-128"/>
                  <a:ea typeface="游ゴシック" panose="020B0400000000000000" pitchFamily="50" charset="-128"/>
                </a:rPr>
                <a:t>できる。</a:t>
              </a:r>
              <a:endParaRPr kumimoji="1" lang="en-US" altLang="ja-JP" sz="1200" dirty="0">
                <a:latin typeface="游ゴシック" panose="020B0400000000000000" pitchFamily="50" charset="-128"/>
                <a:ea typeface="游ゴシック" panose="020B0400000000000000" pitchFamily="50" charset="-128"/>
              </a:endParaRPr>
            </a:p>
          </p:txBody>
        </p:sp>
        <p:sp>
          <p:nvSpPr>
            <p:cNvPr id="37" name="テキスト ボックス 36"/>
            <p:cNvSpPr txBox="1"/>
            <p:nvPr/>
          </p:nvSpPr>
          <p:spPr>
            <a:xfrm>
              <a:off x="144000" y="4040296"/>
              <a:ext cx="2232000" cy="720000"/>
            </a:xfrm>
            <a:prstGeom prst="wedgeRectCallout">
              <a:avLst>
                <a:gd name="adj1" fmla="val 63585"/>
                <a:gd name="adj2" fmla="val 40692"/>
              </a:avLst>
            </a:prstGeom>
            <a:solidFill>
              <a:srgbClr val="FFE1E1"/>
            </a:solidFill>
            <a:ln>
              <a:solidFill>
                <a:srgbClr val="FF0000"/>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ja-JP" altLang="en-US" sz="1400" b="1" dirty="0">
                  <a:latin typeface="游ゴシック" panose="020B0400000000000000" pitchFamily="50" charset="-128"/>
                  <a:ea typeface="游ゴシック" panose="020B0400000000000000" pitchFamily="50" charset="-128"/>
                </a:rPr>
                <a:t>アプリケーションの発行</a:t>
              </a:r>
              <a:endParaRPr lang="en-US" altLang="ja-JP" sz="1400" b="1" dirty="0">
                <a:latin typeface="游ゴシック" panose="020B0400000000000000" pitchFamily="50" charset="-128"/>
                <a:ea typeface="游ゴシック" panose="020B0400000000000000" pitchFamily="50" charset="-128"/>
              </a:endParaRPr>
            </a:p>
            <a:p>
              <a:r>
                <a:rPr lang="ja-JP" altLang="en-US" sz="1200" dirty="0">
                  <a:latin typeface="游ゴシック" panose="020B0400000000000000" pitchFamily="50" charset="-128"/>
                  <a:ea typeface="游ゴシック" panose="020B0400000000000000" pitchFamily="50" charset="-128"/>
                </a:rPr>
                <a:t>発行済みのファイル群を</a:t>
              </a:r>
              <a:r>
                <a:rPr lang="en-US" altLang="ja-JP" sz="1200" dirty="0">
                  <a:latin typeface="游ゴシック" panose="020B0400000000000000" pitchFamily="50" charset="-128"/>
                  <a:ea typeface="游ゴシック" panose="020B0400000000000000" pitchFamily="50" charset="-128"/>
                </a:rPr>
                <a:t>IIS</a:t>
              </a:r>
              <a:r>
                <a:rPr lang="ja-JP" altLang="en-US" sz="1200" dirty="0">
                  <a:latin typeface="游ゴシック" panose="020B0400000000000000" pitchFamily="50" charset="-128"/>
                  <a:ea typeface="游ゴシック" panose="020B0400000000000000" pitchFamily="50" charset="-128"/>
                </a:rPr>
                <a:t>の発行サイト上に配置するのみ。</a:t>
              </a:r>
              <a:endParaRPr kumimoji="1" lang="en-US" altLang="ja-JP" sz="1200" dirty="0">
                <a:latin typeface="游ゴシック" panose="020B0400000000000000" pitchFamily="50" charset="-128"/>
                <a:ea typeface="游ゴシック" panose="020B0400000000000000" pitchFamily="50" charset="-128"/>
              </a:endParaRPr>
            </a:p>
          </p:txBody>
        </p:sp>
        <p:sp>
          <p:nvSpPr>
            <p:cNvPr id="38" name="テキスト ボックス 37"/>
            <p:cNvSpPr txBox="1"/>
            <p:nvPr/>
          </p:nvSpPr>
          <p:spPr>
            <a:xfrm>
              <a:off x="143999" y="4932000"/>
              <a:ext cx="2232000" cy="1440000"/>
            </a:xfrm>
            <a:prstGeom prst="wedgeRectCallout">
              <a:avLst>
                <a:gd name="adj1" fmla="val 61930"/>
                <a:gd name="adj2" fmla="val 33795"/>
              </a:avLst>
            </a:prstGeom>
            <a:solidFill>
              <a:srgbClr val="FFE1E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kumimoji="1" lang="ja-JP" altLang="en-US" sz="1400" b="1" dirty="0">
                  <a:solidFill>
                    <a:schemeClr val="tx1"/>
                  </a:solidFill>
                  <a:latin typeface="游ゴシック" panose="020B0400000000000000" pitchFamily="50" charset="-128"/>
                  <a:ea typeface="游ゴシック" panose="020B0400000000000000" pitchFamily="50" charset="-128"/>
                </a:rPr>
                <a:t>初回インストール</a:t>
              </a:r>
              <a:endParaRPr kumimoji="1" lang="en-US" altLang="ja-JP" sz="1400" b="1" dirty="0">
                <a:solidFill>
                  <a:schemeClr val="tx1"/>
                </a:solidFill>
                <a:latin typeface="游ゴシック" panose="020B0400000000000000" pitchFamily="50" charset="-128"/>
                <a:ea typeface="游ゴシック" panose="020B0400000000000000" pitchFamily="50" charset="-128"/>
              </a:endParaRPr>
            </a:p>
            <a:p>
              <a:r>
                <a:rPr lang="ja-JP" altLang="en-US" sz="1200" dirty="0">
                  <a:solidFill>
                    <a:schemeClr val="tx1"/>
                  </a:solidFill>
                  <a:latin typeface="游ゴシック" panose="020B0400000000000000" pitchFamily="50" charset="-128"/>
                  <a:ea typeface="游ゴシック" panose="020B0400000000000000" pitchFamily="50" charset="-128"/>
                </a:rPr>
                <a:t>発行サイトへアクセスし、ワンクリックでアプリケーションのダウンロード・インストール・スタートメニューへの登録・実行まで実施することが可能。</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1563889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パフォーマンス</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25</a:t>
            </a:fld>
            <a:endParaRPr kumimoji="1" lang="ja-JP" altLang="en-US"/>
          </a:p>
        </p:txBody>
      </p:sp>
      <p:sp>
        <p:nvSpPr>
          <p:cNvPr id="21" name="テキスト ボックス 20"/>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アプリケーションのパフォーマンスにつきましては、</a:t>
            </a:r>
            <a:endParaRPr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現行システムと同等の速度が実現できることを目指します。</a:t>
            </a:r>
          </a:p>
        </p:txBody>
      </p:sp>
      <p:sp>
        <p:nvSpPr>
          <p:cNvPr id="18" name="正方形/長方形 17"/>
          <p:cNvSpPr/>
          <p:nvPr/>
        </p:nvSpPr>
        <p:spPr>
          <a:xfrm>
            <a:off x="1" y="4320000"/>
            <a:ext cx="9144000" cy="2016000"/>
          </a:xfrm>
          <a:prstGeom prst="rect">
            <a:avLst/>
          </a:prstGeom>
          <a:solidFill>
            <a:schemeClr val="accent3">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t"/>
          <a:lstStyle/>
          <a:p>
            <a:pPr algn="ct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grpSp>
        <p:nvGrpSpPr>
          <p:cNvPr id="28" name="グループ化 27"/>
          <p:cNvGrpSpPr/>
          <p:nvPr/>
        </p:nvGrpSpPr>
        <p:grpSpPr>
          <a:xfrm>
            <a:off x="432000" y="4608000"/>
            <a:ext cx="864000" cy="864000"/>
            <a:chOff x="864000" y="4836000"/>
            <a:chExt cx="864000" cy="864000"/>
          </a:xfrm>
        </p:grpSpPr>
        <p:sp>
          <p:nvSpPr>
            <p:cNvPr id="26" name="円/楕円 55"/>
            <p:cNvSpPr/>
            <p:nvPr/>
          </p:nvSpPr>
          <p:spPr>
            <a:xfrm>
              <a:off x="864000" y="4836000"/>
              <a:ext cx="864000" cy="864000"/>
            </a:xfrm>
            <a:prstGeom prst="ellipse">
              <a:avLst/>
            </a:prstGeom>
            <a:solidFill>
              <a:schemeClr val="accent6">
                <a:alpha val="58824"/>
              </a:schemeClr>
            </a:solidFill>
            <a:ln w="381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43362" y="5016000"/>
              <a:ext cx="505276" cy="504000"/>
            </a:xfrm>
            <a:prstGeom prst="rect">
              <a:avLst/>
            </a:prstGeom>
          </p:spPr>
        </p:pic>
      </p:grpSp>
      <p:sp>
        <p:nvSpPr>
          <p:cNvPr id="29" name="テキスト ボックス 28"/>
          <p:cNvSpPr txBox="1"/>
          <p:nvPr/>
        </p:nvSpPr>
        <p:spPr>
          <a:xfrm>
            <a:off x="1440000" y="4608000"/>
            <a:ext cx="2031325" cy="338554"/>
          </a:xfrm>
          <a:prstGeom prst="rect">
            <a:avLst/>
          </a:prstGeom>
          <a:noFill/>
        </p:spPr>
        <p:txBody>
          <a:bodyPr wrap="none" rtlCol="0">
            <a:spAutoFit/>
          </a:bodyPr>
          <a:lstStyle/>
          <a:p>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パフォーマンス改善</a:t>
            </a:r>
          </a:p>
        </p:txBody>
      </p:sp>
      <p:sp>
        <p:nvSpPr>
          <p:cNvPr id="30" name="テキスト プレースホルダー 11"/>
          <p:cNvSpPr txBox="1">
            <a:spLocks/>
          </p:cNvSpPr>
          <p:nvPr/>
        </p:nvSpPr>
        <p:spPr>
          <a:xfrm>
            <a:off x="1440000" y="4968000"/>
            <a:ext cx="7560000" cy="1224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システムテスト工程にて性能テストを実施します。性能テストにて目標値に達成できない場合は、以下のフローにてパフォーマンス改善を実施します。</a:t>
            </a:r>
            <a:endParaRPr lang="en-US" altLang="ja-JP" sz="1400" dirty="0">
              <a:latin typeface="游ゴシック" panose="020B0400000000000000" pitchFamily="50" charset="-128"/>
            </a:endParaRPr>
          </a:p>
          <a:p>
            <a:pPr marL="0" indent="0">
              <a:buNone/>
            </a:pPr>
            <a:r>
              <a:rPr lang="ja-JP" altLang="en-US" sz="1400" dirty="0">
                <a:latin typeface="游ゴシック" panose="020B0400000000000000" pitchFamily="50" charset="-128"/>
              </a:rPr>
              <a:t>推定原因の検討⇒測定⇒解析⇒改善施策立案⇒改善施策の実施⇒効果測定⇒判定</a:t>
            </a:r>
            <a:endParaRPr lang="en-US" sz="1400" dirty="0">
              <a:latin typeface="游ゴシック" panose="020B0400000000000000" pitchFamily="50" charset="-128"/>
            </a:endParaRPr>
          </a:p>
        </p:txBody>
      </p:sp>
      <p:grpSp>
        <p:nvGrpSpPr>
          <p:cNvPr id="32" name="グループ化 31"/>
          <p:cNvGrpSpPr/>
          <p:nvPr/>
        </p:nvGrpSpPr>
        <p:grpSpPr>
          <a:xfrm>
            <a:off x="612000" y="1800000"/>
            <a:ext cx="7920000" cy="2304000"/>
            <a:chOff x="612000" y="1800000"/>
            <a:chExt cx="7920000" cy="2304000"/>
          </a:xfrm>
        </p:grpSpPr>
        <p:sp>
          <p:nvSpPr>
            <p:cNvPr id="12" name="山形 11"/>
            <p:cNvSpPr/>
            <p:nvPr/>
          </p:nvSpPr>
          <p:spPr>
            <a:xfrm>
              <a:off x="1296000" y="2664000"/>
              <a:ext cx="2232000" cy="288000"/>
            </a:xfrm>
            <a:prstGeom prst="chevron">
              <a:avLst/>
            </a:prstGeom>
            <a:solidFill>
              <a:schemeClr val="accent1"/>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3" name="円/楕円 55"/>
            <p:cNvSpPr/>
            <p:nvPr/>
          </p:nvSpPr>
          <p:spPr>
            <a:xfrm>
              <a:off x="1980000" y="2376000"/>
              <a:ext cx="864000" cy="864000"/>
            </a:xfrm>
            <a:prstGeom prst="ellipse">
              <a:avLst/>
            </a:prstGeom>
            <a:solidFill>
              <a:schemeClr val="accent1">
                <a:alpha val="58824"/>
              </a:schemeClr>
            </a:solidFill>
            <a:ln w="381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山形 13"/>
            <p:cNvSpPr/>
            <p:nvPr/>
          </p:nvSpPr>
          <p:spPr>
            <a:xfrm>
              <a:off x="3456000" y="2664000"/>
              <a:ext cx="2232000" cy="288000"/>
            </a:xfrm>
            <a:prstGeom prst="chevron">
              <a:avLst/>
            </a:prstGeom>
            <a:solidFill>
              <a:schemeClr val="accent2"/>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5" name="円/楕円 58"/>
            <p:cNvSpPr/>
            <p:nvPr/>
          </p:nvSpPr>
          <p:spPr>
            <a:xfrm>
              <a:off x="4140000" y="2376000"/>
              <a:ext cx="864000" cy="864000"/>
            </a:xfrm>
            <a:prstGeom prst="ellipse">
              <a:avLst/>
            </a:prstGeom>
            <a:solidFill>
              <a:schemeClr val="accent2">
                <a:alpha val="58824"/>
              </a:schemeClr>
            </a:solidFill>
            <a:ln w="381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山形 15"/>
            <p:cNvSpPr/>
            <p:nvPr/>
          </p:nvSpPr>
          <p:spPr>
            <a:xfrm>
              <a:off x="5616000" y="2664000"/>
              <a:ext cx="2232000" cy="288000"/>
            </a:xfrm>
            <a:prstGeom prst="chevron">
              <a:avLst/>
            </a:prstGeom>
            <a:solidFill>
              <a:schemeClr val="accent4"/>
            </a:solidFill>
            <a:ln w="98425"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n w="0"/>
                <a:solidFill>
                  <a:schemeClr val="tx1"/>
                </a:solidFill>
                <a:effectLst>
                  <a:outerShdw blurRad="38100" dist="19050" dir="2700000" algn="tl" rotWithShape="0">
                    <a:schemeClr val="dk1">
                      <a:alpha val="40000"/>
                    </a:schemeClr>
                  </a:outerShdw>
                </a:effectLst>
              </a:endParaRPr>
            </a:p>
          </p:txBody>
        </p:sp>
        <p:sp>
          <p:nvSpPr>
            <p:cNvPr id="17" name="円/楕円 61"/>
            <p:cNvSpPr/>
            <p:nvPr/>
          </p:nvSpPr>
          <p:spPr>
            <a:xfrm>
              <a:off x="6300000" y="2376000"/>
              <a:ext cx="864000" cy="864000"/>
            </a:xfrm>
            <a:prstGeom prst="ellipse">
              <a:avLst/>
            </a:prstGeom>
            <a:solidFill>
              <a:schemeClr val="accent4">
                <a:alpha val="58824"/>
              </a:schemeClr>
            </a:solidFill>
            <a:ln w="381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9" name="図プレースホルダー 12"/>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a:xfrm>
              <a:off x="2160000" y="2556000"/>
              <a:ext cx="504000" cy="504000"/>
            </a:xfrm>
            <a:prstGeom prst="rect">
              <a:avLst/>
            </a:prstGeom>
          </p:spPr>
        </p:pic>
        <p:sp>
          <p:nvSpPr>
            <p:cNvPr id="8" name="テキスト プレースホルダー 11"/>
            <p:cNvSpPr txBox="1">
              <a:spLocks/>
            </p:cNvSpPr>
            <p:nvPr/>
          </p:nvSpPr>
          <p:spPr>
            <a:xfrm>
              <a:off x="1296000" y="1800000"/>
              <a:ext cx="2232000" cy="576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1600" b="1" dirty="0">
                  <a:solidFill>
                    <a:schemeClr val="accent1">
                      <a:lumMod val="50000"/>
                    </a:schemeClr>
                  </a:solidFill>
                  <a:latin typeface="游ゴシック" panose="020B0400000000000000" pitchFamily="50" charset="-128"/>
                </a:rPr>
                <a:t>計測対象</a:t>
              </a:r>
              <a:endParaRPr lang="en-US" altLang="ja-JP" sz="1600" b="1" dirty="0">
                <a:solidFill>
                  <a:schemeClr val="accent1">
                    <a:lumMod val="50000"/>
                  </a:schemeClr>
                </a:solidFill>
                <a:latin typeface="游ゴシック" panose="020B0400000000000000" pitchFamily="50" charset="-128"/>
              </a:endParaRPr>
            </a:p>
            <a:p>
              <a:pPr marL="0" indent="0" algn="ctr">
                <a:buNone/>
              </a:pPr>
              <a:r>
                <a:rPr lang="ja-JP" altLang="en-US" sz="1600" b="1" dirty="0">
                  <a:solidFill>
                    <a:schemeClr val="accent1">
                      <a:lumMod val="50000"/>
                    </a:schemeClr>
                  </a:solidFill>
                  <a:latin typeface="游ゴシック" panose="020B0400000000000000" pitchFamily="50" charset="-128"/>
                </a:rPr>
                <a:t>サンプリング</a:t>
              </a:r>
              <a:endParaRPr lang="en-US" altLang="ja-JP" sz="1600" b="1" dirty="0">
                <a:solidFill>
                  <a:schemeClr val="accent1">
                    <a:lumMod val="50000"/>
                  </a:schemeClr>
                </a:solidFill>
                <a:latin typeface="游ゴシック" panose="020B0400000000000000" pitchFamily="50" charset="-128"/>
              </a:endParaRPr>
            </a:p>
          </p:txBody>
        </p:sp>
        <p:sp>
          <p:nvSpPr>
            <p:cNvPr id="9" name="テキスト プレースホルダー 11"/>
            <p:cNvSpPr txBox="1">
              <a:spLocks/>
            </p:cNvSpPr>
            <p:nvPr/>
          </p:nvSpPr>
          <p:spPr>
            <a:xfrm>
              <a:off x="3456000" y="1800000"/>
              <a:ext cx="2232000" cy="576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1600" b="1" dirty="0">
                  <a:solidFill>
                    <a:schemeClr val="accent1">
                      <a:lumMod val="50000"/>
                    </a:schemeClr>
                  </a:solidFill>
                  <a:latin typeface="游ゴシック" panose="020B0400000000000000" pitchFamily="50" charset="-128"/>
                </a:rPr>
                <a:t>現行システム</a:t>
              </a:r>
              <a:endParaRPr lang="en-US" altLang="ja-JP" sz="1600" b="1" dirty="0">
                <a:solidFill>
                  <a:schemeClr val="accent1">
                    <a:lumMod val="50000"/>
                  </a:schemeClr>
                </a:solidFill>
                <a:latin typeface="游ゴシック" panose="020B0400000000000000" pitchFamily="50" charset="-128"/>
              </a:endParaRPr>
            </a:p>
            <a:p>
              <a:pPr marL="0" indent="0" algn="ctr">
                <a:buNone/>
              </a:pPr>
              <a:r>
                <a:rPr lang="ja-JP" altLang="en-US" sz="1600" b="1" dirty="0">
                  <a:solidFill>
                    <a:schemeClr val="accent1">
                      <a:lumMod val="50000"/>
                    </a:schemeClr>
                  </a:solidFill>
                  <a:latin typeface="游ゴシック" panose="020B0400000000000000" pitchFamily="50" charset="-128"/>
                </a:rPr>
                <a:t>パフォーマンス計測</a:t>
              </a:r>
              <a:endParaRPr lang="en-US" sz="1600" b="1" dirty="0">
                <a:solidFill>
                  <a:schemeClr val="accent1">
                    <a:lumMod val="50000"/>
                  </a:schemeClr>
                </a:solidFill>
                <a:latin typeface="游ゴシック" panose="020B0400000000000000" pitchFamily="50" charset="-128"/>
              </a:endParaRPr>
            </a:p>
          </p:txBody>
        </p:sp>
        <p:sp>
          <p:nvSpPr>
            <p:cNvPr id="10" name="テキスト プレースホルダー 11"/>
            <p:cNvSpPr txBox="1">
              <a:spLocks/>
            </p:cNvSpPr>
            <p:nvPr/>
          </p:nvSpPr>
          <p:spPr>
            <a:xfrm>
              <a:off x="5616000" y="1800000"/>
              <a:ext cx="2232000" cy="576000"/>
            </a:xfrm>
            <a:prstGeom prst="rect">
              <a:avLst/>
            </a:prstGeom>
          </p:spPr>
          <p:txBody>
            <a:bodyPr wrap="none" anchor="b">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1600" b="1" dirty="0">
                  <a:solidFill>
                    <a:schemeClr val="accent1">
                      <a:lumMod val="50000"/>
                    </a:schemeClr>
                  </a:solidFill>
                  <a:latin typeface="游ゴシック" panose="020B0400000000000000" pitchFamily="50" charset="-128"/>
                </a:rPr>
                <a:t>パフォーマンス</a:t>
              </a:r>
              <a:endParaRPr lang="en-US" altLang="ja-JP" sz="1600" b="1" dirty="0">
                <a:solidFill>
                  <a:schemeClr val="accent1">
                    <a:lumMod val="50000"/>
                  </a:schemeClr>
                </a:solidFill>
                <a:latin typeface="游ゴシック" panose="020B0400000000000000" pitchFamily="50" charset="-128"/>
              </a:endParaRPr>
            </a:p>
            <a:p>
              <a:pPr marL="0" indent="0" algn="ctr">
                <a:buNone/>
              </a:pPr>
              <a:r>
                <a:rPr lang="ja-JP" altLang="en-US" sz="1600" b="1" dirty="0">
                  <a:solidFill>
                    <a:schemeClr val="accent1">
                      <a:lumMod val="50000"/>
                    </a:schemeClr>
                  </a:solidFill>
                  <a:latin typeface="游ゴシック" panose="020B0400000000000000" pitchFamily="50" charset="-128"/>
                </a:rPr>
                <a:t>目標値設定</a:t>
              </a:r>
              <a:endParaRPr lang="en-US" altLang="ja-JP" sz="1600" b="1" dirty="0">
                <a:solidFill>
                  <a:schemeClr val="accent1">
                    <a:lumMod val="50000"/>
                  </a:schemeClr>
                </a:solidFill>
                <a:latin typeface="游ゴシック" panose="020B0400000000000000" pitchFamily="50" charset="-128"/>
              </a:endParaRPr>
            </a:p>
          </p:txBody>
        </p:sp>
        <p:sp>
          <p:nvSpPr>
            <p:cNvPr id="11" name="テキスト プレースホルダー 11"/>
            <p:cNvSpPr txBox="1">
              <a:spLocks/>
            </p:cNvSpPr>
            <p:nvPr/>
          </p:nvSpPr>
          <p:spPr>
            <a:xfrm>
              <a:off x="612000" y="3240000"/>
              <a:ext cx="7920000" cy="864000"/>
            </a:xfrm>
            <a:prstGeom prst="rect">
              <a:avLst/>
            </a:prstGeom>
          </p:spPr>
          <p:txBody>
            <a:bodyPr anchor="t">
              <a:noAutofit/>
            </a:bodyPr>
            <a:lstStyle>
              <a:lvl1pPr marL="228600" indent="-228600" algn="l" defTabSz="914400" rtl="0" eaLnBrk="1" latinLnBrk="1" hangingPunct="1">
                <a:lnSpc>
                  <a:spcPct val="120000"/>
                </a:lnSpc>
                <a:spcBef>
                  <a:spcPts val="1000"/>
                </a:spcBef>
                <a:buFont typeface="Arial" panose="020B0604020202020204" pitchFamily="34" charset="0"/>
                <a:buChar char="•"/>
                <a:defRPr kumimoji="1" sz="18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主要機能を中心に速度が必要となる機能について、ヒアリングをもとにサンプリングを行います。サンプリングした機能に対し、現行システムでのパフォーマンスを計測し、その結果をもとに目標値を設定します。目標値設定までは、システム方式設計工程にて実施します。</a:t>
              </a:r>
              <a:endParaRPr lang="en-US" sz="1400" dirty="0">
                <a:latin typeface="游ゴシック" panose="020B0400000000000000" pitchFamily="50" charset="-128"/>
              </a:endParaRPr>
            </a:p>
          </p:txBody>
        </p:sp>
        <p:pic>
          <p:nvPicPr>
            <p:cNvPr id="24" name="図 23"/>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52000" y="2556000"/>
              <a:ext cx="343670" cy="504000"/>
            </a:xfrm>
            <a:prstGeom prst="rect">
              <a:avLst/>
            </a:prstGeom>
          </p:spPr>
        </p:pic>
        <p:pic>
          <p:nvPicPr>
            <p:cNvPr id="31" name="図 30"/>
            <p:cNvPicPr>
              <a:picLocks noChangeAspect="1"/>
            </p:cNvPicPr>
            <p:nvPr/>
          </p:nvPicPr>
          <p:blipFill>
            <a:blip r:embed="rId7" cstate="print">
              <a:extLst>
                <a:ext uri="{BEBA8EAE-BF5A-486C-A8C5-ECC9F3942E4B}">
                  <a14:imgProps xmlns:a14="http://schemas.microsoft.com/office/drawing/2010/main">
                    <a14:imgLayer r:embed="rId8">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248000" y="2592000"/>
              <a:ext cx="648000" cy="367379"/>
            </a:xfrm>
            <a:prstGeom prst="rect">
              <a:avLst/>
            </a:prstGeom>
          </p:spPr>
        </p:pic>
      </p:grpSp>
    </p:spTree>
    <p:extLst>
      <p:ext uri="{BB962C8B-B14F-4D97-AF65-F5344CB8AC3E}">
        <p14:creationId xmlns:p14="http://schemas.microsoft.com/office/powerpoint/2010/main" val="3058474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9"/>
          <p:cNvSpPr txBox="1">
            <a:spLocks/>
          </p:cNvSpPr>
          <p:nvPr/>
        </p:nvSpPr>
        <p:spPr>
          <a:xfrm>
            <a:off x="216000" y="1800000"/>
            <a:ext cx="2808000" cy="4536000"/>
          </a:xfrm>
          <a:prstGeom prst="rect">
            <a:avLst/>
          </a:prstGeom>
          <a:solidFill>
            <a:schemeClr val="accent1">
              <a:lumMod val="20000"/>
              <a:lumOff val="80000"/>
            </a:schemeClr>
          </a:solidFill>
        </p:spPr>
        <p:txBody>
          <a:bodyPr wrap="square" tIns="1656000" rtlCol="0">
            <a:noAutofit/>
          </a:bodyPr>
          <a:lstStyle/>
          <a:p>
            <a:pPr algn="ctr">
              <a:spcBef>
                <a:spcPts val="600"/>
              </a:spcBef>
            </a:pPr>
            <a:r>
              <a:rPr lang="ja-JP" altLang="en-US" sz="1400" b="1" dirty="0">
                <a:latin typeface="游ゴシック" panose="020B0400000000000000" pitchFamily="50" charset="-128"/>
                <a:ea typeface="游ゴシック" panose="020B0400000000000000" pitchFamily="50" charset="-128"/>
              </a:rPr>
              <a:t>実行頻度</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毎日夜間に１回</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起動方式</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en-US" altLang="ja-JP" sz="1400" dirty="0">
                <a:latin typeface="游ゴシック" panose="020B0400000000000000" pitchFamily="50" charset="-128"/>
                <a:ea typeface="游ゴシック" panose="020B0400000000000000" pitchFamily="50" charset="-128"/>
              </a:rPr>
              <a:t>OperationManager</a:t>
            </a:r>
            <a:r>
              <a:rPr lang="ja-JP" altLang="en-US" sz="1400" dirty="0">
                <a:latin typeface="游ゴシック" panose="020B0400000000000000" pitchFamily="50" charset="-128"/>
                <a:ea typeface="游ゴシック" panose="020B0400000000000000" pitchFamily="50" charset="-128"/>
              </a:rPr>
              <a:t>の</a:t>
            </a:r>
            <a:br>
              <a:rPr lang="en-US" altLang="ja-JP" sz="1400" dirty="0">
                <a:latin typeface="游ゴシック" panose="020B0400000000000000" pitchFamily="50" charset="-128"/>
                <a:ea typeface="游ゴシック" panose="020B0400000000000000" pitchFamily="50" charset="-128"/>
              </a:rPr>
            </a:br>
            <a:r>
              <a:rPr lang="ja-JP" altLang="en-US" sz="1400" dirty="0">
                <a:latin typeface="游ゴシック" panose="020B0400000000000000" pitchFamily="50" charset="-128"/>
                <a:ea typeface="游ゴシック" panose="020B0400000000000000" pitchFamily="50" charset="-128"/>
              </a:rPr>
              <a:t>ジョブによる定期的な自動実行</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バックアップ方式</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en-US" altLang="ja-JP" sz="1400" dirty="0">
                <a:latin typeface="游ゴシック" panose="020B0400000000000000" pitchFamily="50" charset="-128"/>
                <a:ea typeface="游ゴシック" panose="020B0400000000000000" pitchFamily="50" charset="-128"/>
              </a:rPr>
              <a:t>Oracle Data Pump</a:t>
            </a:r>
            <a:r>
              <a:rPr lang="ja-JP" altLang="en-US" sz="1400" dirty="0">
                <a:latin typeface="游ゴシック" panose="020B0400000000000000" pitchFamily="50" charset="-128"/>
                <a:ea typeface="游ゴシック" panose="020B0400000000000000" pitchFamily="50" charset="-128"/>
              </a:rPr>
              <a:t>によるフルバックアップ</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保管期間</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７世代分を常に保持</a:t>
            </a:r>
            <a:endParaRPr kumimoji="1" lang="ja-JP" altLang="en-US" sz="1400" dirty="0">
              <a:latin typeface="游ゴシック" panose="020B0400000000000000" pitchFamily="50" charset="-128"/>
              <a:ea typeface="游ゴシック" panose="020B0400000000000000" pitchFamily="50" charset="-128"/>
            </a:endParaRPr>
          </a:p>
        </p:txBody>
      </p:sp>
      <p:sp>
        <p:nvSpPr>
          <p:cNvPr id="2" name="タイトル 1"/>
          <p:cNvSpPr>
            <a:spLocks noGrp="1"/>
          </p:cNvSpPr>
          <p:nvPr>
            <p:ph type="title"/>
          </p:nvPr>
        </p:nvSpPr>
        <p:spPr/>
        <p:txBody>
          <a:bodyPr/>
          <a:lstStyle/>
          <a:p>
            <a:r>
              <a:rPr kumimoji="1" lang="ja-JP" altLang="en-US" dirty="0"/>
              <a:t>バックアップ方式</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26</a:t>
            </a:fld>
            <a:endParaRPr kumimoji="1" lang="ja-JP" altLang="en-US"/>
          </a:p>
        </p:txBody>
      </p:sp>
      <p:sp>
        <p:nvSpPr>
          <p:cNvPr id="7" name="テキスト ボックス 6"/>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定期的なデータベースのバックアップに加え、連携データのバックアップおよび</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アプリケーションによる発行</a:t>
            </a:r>
            <a:r>
              <a:rPr lang="en-US" altLang="ja-JP" sz="1400" dirty="0">
                <a:latin typeface="游ゴシック" panose="020B0400000000000000" pitchFamily="50" charset="-128"/>
                <a:ea typeface="游ゴシック" panose="020B0400000000000000" pitchFamily="50" charset="-128"/>
              </a:rPr>
              <a:t>SQL</a:t>
            </a:r>
            <a:r>
              <a:rPr lang="ja-JP" altLang="en-US" sz="1400" dirty="0">
                <a:latin typeface="游ゴシック" panose="020B0400000000000000" pitchFamily="50" charset="-128"/>
                <a:ea typeface="游ゴシック" panose="020B0400000000000000" pitchFamily="50" charset="-128"/>
              </a:rPr>
              <a:t>のログ出力により、いつでも障害発生時点までの復旧を可能にします。</a:t>
            </a:r>
            <a:endParaRPr kumimoji="1" lang="ja-JP" altLang="en-US" sz="1400" dirty="0">
              <a:latin typeface="游ゴシック" panose="020B0400000000000000" pitchFamily="50" charset="-128"/>
              <a:ea typeface="游ゴシック" panose="020B0400000000000000" pitchFamily="50" charset="-128"/>
            </a:endParaRPr>
          </a:p>
        </p:txBody>
      </p:sp>
      <p:sp>
        <p:nvSpPr>
          <p:cNvPr id="11" name="テキスト ボックス 10"/>
          <p:cNvSpPr txBox="1">
            <a:spLocks/>
          </p:cNvSpPr>
          <p:nvPr/>
        </p:nvSpPr>
        <p:spPr>
          <a:xfrm>
            <a:off x="216000" y="2988000"/>
            <a:ext cx="2808000" cy="288000"/>
          </a:xfrm>
          <a:prstGeom prst="rect">
            <a:avLst/>
          </a:prstGeom>
          <a:noFill/>
        </p:spPr>
        <p:txBody>
          <a:bodyPr wrap="none" rtlCol="0" anchor="ctr">
            <a:noAutofit/>
          </a:bodyP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データベースのバックアップ</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nvGrpSpPr>
          <p:cNvPr id="3" name="グループ化 2"/>
          <p:cNvGrpSpPr/>
          <p:nvPr/>
        </p:nvGrpSpPr>
        <p:grpSpPr>
          <a:xfrm>
            <a:off x="6120000" y="1800000"/>
            <a:ext cx="2808000" cy="4536000"/>
            <a:chOff x="3168000" y="1800000"/>
            <a:chExt cx="2808000" cy="4536000"/>
          </a:xfrm>
        </p:grpSpPr>
        <p:sp>
          <p:nvSpPr>
            <p:cNvPr id="12" name="テキスト ボックス 11"/>
            <p:cNvSpPr txBox="1">
              <a:spLocks/>
            </p:cNvSpPr>
            <p:nvPr/>
          </p:nvSpPr>
          <p:spPr>
            <a:xfrm>
              <a:off x="3168000" y="1800000"/>
              <a:ext cx="2808000" cy="4536000"/>
            </a:xfrm>
            <a:prstGeom prst="rect">
              <a:avLst/>
            </a:prstGeom>
            <a:solidFill>
              <a:schemeClr val="accent4">
                <a:lumMod val="20000"/>
                <a:lumOff val="80000"/>
              </a:schemeClr>
            </a:solidFill>
          </p:spPr>
          <p:txBody>
            <a:bodyPr wrap="square" tIns="1656000" rtlCol="0">
              <a:noAutofit/>
            </a:bodyPr>
            <a:lstStyle/>
            <a:p>
              <a:pPr algn="ctr">
                <a:spcBef>
                  <a:spcPts val="600"/>
                </a:spcBef>
              </a:pPr>
              <a:r>
                <a:rPr lang="ja-JP" altLang="en-US" sz="1400" b="1" dirty="0">
                  <a:latin typeface="游ゴシック" panose="020B0400000000000000" pitchFamily="50" charset="-128"/>
                  <a:ea typeface="游ゴシック" panose="020B0400000000000000" pitchFamily="50" charset="-128"/>
                </a:rPr>
                <a:t>実行頻度</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連携発生時都度</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起動方式</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バッチ等の連携機能（組み込み）による実行</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バックアップ方式</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連携データファイルのコピー</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（送受信ともに対象）</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保管期間</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過去データを定期的に自動削除</a:t>
              </a:r>
              <a:endParaRPr lang="en-US" altLang="ja-JP" sz="1400" dirty="0">
                <a:latin typeface="游ゴシック" panose="020B0400000000000000" pitchFamily="50" charset="-128"/>
                <a:ea typeface="游ゴシック" panose="020B0400000000000000" pitchFamily="50" charset="-128"/>
              </a:endParaRPr>
            </a:p>
          </p:txBody>
        </p:sp>
        <p:sp>
          <p:nvSpPr>
            <p:cNvPr id="13" name="テキスト ボックス 12"/>
            <p:cNvSpPr txBox="1">
              <a:spLocks/>
            </p:cNvSpPr>
            <p:nvPr/>
          </p:nvSpPr>
          <p:spPr>
            <a:xfrm>
              <a:off x="3168000" y="2988000"/>
              <a:ext cx="2808000" cy="288000"/>
            </a:xfrm>
            <a:prstGeom prst="rect">
              <a:avLst/>
            </a:prstGeom>
            <a:noFill/>
          </p:spPr>
          <p:txBody>
            <a:bodyPr wrap="square" rtlCol="0" anchor="ctr">
              <a:noAutofit/>
            </a:bodyPr>
            <a:lstStyle/>
            <a:p>
              <a:pPr algn="ctr"/>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連携データのバックアップ</a:t>
              </a:r>
            </a:p>
          </p:txBody>
        </p:sp>
        <p:grpSp>
          <p:nvGrpSpPr>
            <p:cNvPr id="40" name="グループ化 39"/>
            <p:cNvGrpSpPr/>
            <p:nvPr/>
          </p:nvGrpSpPr>
          <p:grpSpPr>
            <a:xfrm>
              <a:off x="3348000" y="1944000"/>
              <a:ext cx="2448000" cy="792000"/>
              <a:chOff x="3348000" y="1872000"/>
              <a:chExt cx="2448000" cy="792000"/>
            </a:xfrm>
          </p:grpSpPr>
          <p:sp>
            <p:nvSpPr>
              <p:cNvPr id="8" name="角丸四角形 7"/>
              <p:cNvSpPr/>
              <p:nvPr/>
            </p:nvSpPr>
            <p:spPr>
              <a:xfrm>
                <a:off x="3348000" y="1872000"/>
                <a:ext cx="2448000" cy="792000"/>
              </a:xfrm>
              <a:prstGeom prst="roundRect">
                <a:avLst>
                  <a:gd name="adj" fmla="val 8018"/>
                </a:avLst>
              </a:prstGeom>
              <a:solidFill>
                <a:schemeClr val="accent4"/>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25" name="右矢印 24"/>
              <p:cNvSpPr/>
              <p:nvPr/>
            </p:nvSpPr>
            <p:spPr>
              <a:xfrm>
                <a:off x="4381143" y="2104431"/>
                <a:ext cx="381714" cy="327138"/>
              </a:xfrm>
              <a:prstGeom prst="rightArrow">
                <a:avLst>
                  <a:gd name="adj1" fmla="val 61303"/>
                  <a:gd name="adj2" fmla="val 61328"/>
                </a:avLst>
              </a:prstGeom>
              <a:solidFill>
                <a:schemeClr val="bg1"/>
              </a:solidFill>
              <a:ln w="28575">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29" name="図 28"/>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924000" y="2016000"/>
                <a:ext cx="383229" cy="504000"/>
              </a:xfrm>
              <a:prstGeom prst="rect">
                <a:avLst/>
              </a:prstGeom>
            </p:spPr>
          </p:pic>
          <p:pic>
            <p:nvPicPr>
              <p:cNvPr id="33" name="図 32"/>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824000" y="2016000"/>
                <a:ext cx="383229" cy="504000"/>
              </a:xfrm>
              <a:prstGeom prst="rect">
                <a:avLst/>
              </a:prstGeom>
            </p:spPr>
          </p:pic>
        </p:grpSp>
      </p:grpSp>
      <p:grpSp>
        <p:nvGrpSpPr>
          <p:cNvPr id="9" name="グループ化 8"/>
          <p:cNvGrpSpPr/>
          <p:nvPr/>
        </p:nvGrpSpPr>
        <p:grpSpPr>
          <a:xfrm>
            <a:off x="3168000" y="1800000"/>
            <a:ext cx="2808000" cy="4536000"/>
            <a:chOff x="6120000" y="1800000"/>
            <a:chExt cx="2808000" cy="4536000"/>
          </a:xfrm>
        </p:grpSpPr>
        <p:sp>
          <p:nvSpPr>
            <p:cNvPr id="16" name="テキスト ボックス 15"/>
            <p:cNvSpPr txBox="1">
              <a:spLocks/>
            </p:cNvSpPr>
            <p:nvPr/>
          </p:nvSpPr>
          <p:spPr>
            <a:xfrm>
              <a:off x="6120000" y="1800000"/>
              <a:ext cx="2808000" cy="4536000"/>
            </a:xfrm>
            <a:prstGeom prst="rect">
              <a:avLst/>
            </a:prstGeom>
            <a:solidFill>
              <a:schemeClr val="accent2">
                <a:lumMod val="20000"/>
                <a:lumOff val="80000"/>
              </a:schemeClr>
            </a:solidFill>
          </p:spPr>
          <p:txBody>
            <a:bodyPr wrap="square" tIns="1656000" rtlCol="0">
              <a:noAutofit/>
            </a:bodyPr>
            <a:lstStyle/>
            <a:p>
              <a:pPr algn="ctr">
                <a:spcBef>
                  <a:spcPts val="600"/>
                </a:spcBef>
              </a:pPr>
              <a:r>
                <a:rPr lang="ja-JP" altLang="en-US" sz="1400" b="1" dirty="0">
                  <a:latin typeface="游ゴシック" panose="020B0400000000000000" pitchFamily="50" charset="-128"/>
                  <a:ea typeface="游ゴシック" panose="020B0400000000000000" pitchFamily="50" charset="-128"/>
                </a:rPr>
                <a:t>実行頻度</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en-US" altLang="ja-JP" sz="1400" dirty="0">
                  <a:latin typeface="游ゴシック" panose="020B0400000000000000" pitchFamily="50" charset="-128"/>
                  <a:ea typeface="游ゴシック" panose="020B0400000000000000" pitchFamily="50" charset="-128"/>
                </a:rPr>
                <a:t>SQL</a:t>
              </a:r>
              <a:r>
                <a:rPr lang="ja-JP" altLang="en-US" sz="1400" dirty="0">
                  <a:latin typeface="游ゴシック" panose="020B0400000000000000" pitchFamily="50" charset="-128"/>
                  <a:ea typeface="游ゴシック" panose="020B0400000000000000" pitchFamily="50" charset="-128"/>
                </a:rPr>
                <a:t>発行時都度</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起動方式</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アプリケーションの</a:t>
              </a:r>
              <a:r>
                <a:rPr lang="en-US" altLang="ja-JP" sz="1400" dirty="0">
                  <a:latin typeface="游ゴシック" panose="020B0400000000000000" pitchFamily="50" charset="-128"/>
                  <a:ea typeface="游ゴシック" panose="020B0400000000000000" pitchFamily="50" charset="-128"/>
                </a:rPr>
                <a:t>DB</a:t>
              </a:r>
              <a:r>
                <a:rPr lang="ja-JP" altLang="en-US" sz="1400" dirty="0">
                  <a:latin typeface="游ゴシック" panose="020B0400000000000000" pitchFamily="50" charset="-128"/>
                  <a:ea typeface="游ゴシック" panose="020B0400000000000000" pitchFamily="50" charset="-128"/>
                </a:rPr>
                <a:t>更新機能（組み込み）による実行</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バックアップ方式</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en-US" altLang="ja-JP" sz="1400" dirty="0">
                  <a:latin typeface="游ゴシック" panose="020B0400000000000000" pitchFamily="50" charset="-128"/>
                  <a:ea typeface="游ゴシック" panose="020B0400000000000000" pitchFamily="50" charset="-128"/>
                </a:rPr>
                <a:t>SQL</a:t>
              </a:r>
              <a:r>
                <a:rPr lang="ja-JP" altLang="en-US" sz="1400" dirty="0">
                  <a:latin typeface="游ゴシック" panose="020B0400000000000000" pitchFamily="50" charset="-128"/>
                  <a:ea typeface="游ゴシック" panose="020B0400000000000000" pitchFamily="50" charset="-128"/>
                </a:rPr>
                <a:t>分をログとして出力</a:t>
              </a:r>
              <a:endParaRPr lang="en-US" altLang="ja-JP" sz="1400" dirty="0">
                <a:latin typeface="游ゴシック" panose="020B0400000000000000" pitchFamily="50" charset="-128"/>
                <a:ea typeface="游ゴシック" panose="020B0400000000000000" pitchFamily="50" charset="-128"/>
              </a:endParaRPr>
            </a:p>
            <a:p>
              <a:pPr algn="ctr">
                <a:spcBef>
                  <a:spcPts val="600"/>
                </a:spcBef>
              </a:pPr>
              <a:r>
                <a:rPr lang="ja-JP" altLang="en-US" sz="1400" b="1" dirty="0">
                  <a:latin typeface="游ゴシック" panose="020B0400000000000000" pitchFamily="50" charset="-128"/>
                  <a:ea typeface="游ゴシック" panose="020B0400000000000000" pitchFamily="50" charset="-128"/>
                </a:rPr>
                <a:t>保管期間</a:t>
              </a:r>
              <a:endParaRPr lang="en-US" altLang="ja-JP" sz="1400" b="1" dirty="0">
                <a:latin typeface="游ゴシック" panose="020B0400000000000000" pitchFamily="50" charset="-128"/>
                <a:ea typeface="游ゴシック" panose="020B0400000000000000" pitchFamily="50" charset="-128"/>
              </a:endParaRPr>
            </a:p>
            <a:p>
              <a:pPr algn="ctr">
                <a:spcBef>
                  <a:spcPts val="600"/>
                </a:spcBef>
              </a:pPr>
              <a:r>
                <a:rPr lang="ja-JP" altLang="en-US" sz="1400" dirty="0">
                  <a:latin typeface="游ゴシック" panose="020B0400000000000000" pitchFamily="50" charset="-128"/>
                  <a:ea typeface="游ゴシック" panose="020B0400000000000000" pitchFamily="50" charset="-128"/>
                </a:rPr>
                <a:t>データベースのバックアップ開始前に過去分を消去</a:t>
              </a:r>
              <a:endParaRPr lang="en-US" altLang="ja-JP" sz="1400" dirty="0">
                <a:latin typeface="游ゴシック" panose="020B0400000000000000" pitchFamily="50" charset="-128"/>
                <a:ea typeface="游ゴシック" panose="020B0400000000000000" pitchFamily="50" charset="-128"/>
              </a:endParaRPr>
            </a:p>
          </p:txBody>
        </p:sp>
        <p:sp>
          <p:nvSpPr>
            <p:cNvPr id="17" name="テキスト ボックス 16"/>
            <p:cNvSpPr txBox="1">
              <a:spLocks/>
            </p:cNvSpPr>
            <p:nvPr/>
          </p:nvSpPr>
          <p:spPr>
            <a:xfrm>
              <a:off x="6120000" y="2988000"/>
              <a:ext cx="2808000" cy="288000"/>
            </a:xfrm>
            <a:prstGeom prst="rect">
              <a:avLst/>
            </a:prstGeom>
            <a:noFill/>
          </p:spPr>
          <p:txBody>
            <a:bodyPr wrap="square" rtlCol="0" anchor="ctr">
              <a:noAutofit/>
            </a:bodyPr>
            <a:lstStyle/>
            <a:p>
              <a:pPr algn="ctr"/>
              <a:r>
                <a:rPr lang="en-US" altLang="ja-JP" sz="1600" b="1" dirty="0">
                  <a:solidFill>
                    <a:schemeClr val="accent1">
                      <a:lumMod val="50000"/>
                    </a:schemeClr>
                  </a:solidFill>
                  <a:latin typeface="游ゴシック" panose="020B0400000000000000" pitchFamily="50" charset="-128"/>
                  <a:ea typeface="游ゴシック" panose="020B0400000000000000" pitchFamily="50" charset="-128"/>
                </a:rPr>
                <a:t>SQL</a:t>
              </a: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実行ログ出力</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nvGrpSpPr>
            <p:cNvPr id="43" name="グループ化 42"/>
            <p:cNvGrpSpPr/>
            <p:nvPr/>
          </p:nvGrpSpPr>
          <p:grpSpPr>
            <a:xfrm>
              <a:off x="6300000" y="1944000"/>
              <a:ext cx="2448000" cy="792000"/>
              <a:chOff x="6336000" y="1872000"/>
              <a:chExt cx="2448000" cy="792000"/>
            </a:xfrm>
          </p:grpSpPr>
          <p:sp>
            <p:nvSpPr>
              <p:cNvPr id="15" name="角丸四角形 14"/>
              <p:cNvSpPr/>
              <p:nvPr/>
            </p:nvSpPr>
            <p:spPr>
              <a:xfrm>
                <a:off x="6336000" y="1872000"/>
                <a:ext cx="2448000" cy="792000"/>
              </a:xfrm>
              <a:prstGeom prst="roundRect">
                <a:avLst>
                  <a:gd name="adj" fmla="val 8018"/>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grpSp>
            <p:nvGrpSpPr>
              <p:cNvPr id="42" name="グループ化 41"/>
              <p:cNvGrpSpPr/>
              <p:nvPr/>
            </p:nvGrpSpPr>
            <p:grpSpPr>
              <a:xfrm>
                <a:off x="6810386" y="2016000"/>
                <a:ext cx="1499229" cy="504000"/>
                <a:chOff x="6696000" y="2016000"/>
                <a:chExt cx="1499229" cy="504000"/>
              </a:xfrm>
            </p:grpSpPr>
            <p:sp>
              <p:nvSpPr>
                <p:cNvPr id="27" name="右矢印 26"/>
                <p:cNvSpPr/>
                <p:nvPr/>
              </p:nvSpPr>
              <p:spPr>
                <a:xfrm>
                  <a:off x="7369143" y="2104431"/>
                  <a:ext cx="381714" cy="327138"/>
                </a:xfrm>
                <a:prstGeom prst="rightArrow">
                  <a:avLst>
                    <a:gd name="adj1" fmla="val 61303"/>
                    <a:gd name="adj2" fmla="val 61328"/>
                  </a:avLst>
                </a:prstGeom>
                <a:solidFill>
                  <a:schemeClr val="bg1"/>
                </a:solidFill>
                <a:ln w="28575">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30" name="図 29"/>
                <p:cNvPicPr>
                  <a:picLocks noChangeAspect="1"/>
                </p:cNvPicPr>
                <p:nvPr/>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812000" y="2016000"/>
                  <a:ext cx="383229" cy="504000"/>
                </a:xfrm>
                <a:prstGeom prst="rect">
                  <a:avLst/>
                </a:prstGeom>
              </p:spPr>
            </p:pic>
            <p:pic>
              <p:nvPicPr>
                <p:cNvPr id="34" name="図 33"/>
                <p:cNvPicPr>
                  <a:picLocks noChangeAspect="1"/>
                </p:cNvPicPr>
                <p:nvPr/>
              </p:nvPicPr>
              <p:blipFill>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696000" y="2052000"/>
                  <a:ext cx="597044" cy="432000"/>
                </a:xfrm>
                <a:prstGeom prst="rect">
                  <a:avLst/>
                </a:prstGeom>
              </p:spPr>
            </p:pic>
          </p:grpSp>
        </p:grpSp>
      </p:grpSp>
      <p:grpSp>
        <p:nvGrpSpPr>
          <p:cNvPr id="39" name="グループ化 38"/>
          <p:cNvGrpSpPr/>
          <p:nvPr/>
        </p:nvGrpSpPr>
        <p:grpSpPr>
          <a:xfrm>
            <a:off x="396000" y="1944000"/>
            <a:ext cx="2448000" cy="792000"/>
            <a:chOff x="396000" y="1872000"/>
            <a:chExt cx="2448000" cy="792000"/>
          </a:xfrm>
        </p:grpSpPr>
        <p:sp>
          <p:nvSpPr>
            <p:cNvPr id="6" name="角丸四角形 5"/>
            <p:cNvSpPr/>
            <p:nvPr/>
          </p:nvSpPr>
          <p:spPr>
            <a:xfrm>
              <a:off x="396000" y="1872000"/>
              <a:ext cx="2448000" cy="792000"/>
            </a:xfrm>
            <a:prstGeom prst="roundRect">
              <a:avLst>
                <a:gd name="adj" fmla="val 8018"/>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28" name="右矢印 27"/>
            <p:cNvSpPr/>
            <p:nvPr/>
          </p:nvSpPr>
          <p:spPr>
            <a:xfrm>
              <a:off x="1429143" y="2104431"/>
              <a:ext cx="381714" cy="327138"/>
            </a:xfrm>
            <a:prstGeom prst="rightArrow">
              <a:avLst>
                <a:gd name="adj1" fmla="val 61303"/>
                <a:gd name="adj2" fmla="val 61328"/>
              </a:avLst>
            </a:prstGeom>
            <a:solidFill>
              <a:schemeClr val="bg1"/>
            </a:solidFill>
            <a:ln w="28575">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31" name="図 30"/>
            <p:cNvPicPr>
              <a:picLocks noChangeAspect="1"/>
            </p:cNvPicPr>
            <p:nvPr/>
          </p:nvPicPr>
          <p:blipFill>
            <a:blip r:embed="rId8" cstate="print">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72000" y="2016000"/>
              <a:ext cx="353400" cy="504000"/>
            </a:xfrm>
            <a:prstGeom prst="rect">
              <a:avLst/>
            </a:prstGeom>
          </p:spPr>
        </p:pic>
        <p:grpSp>
          <p:nvGrpSpPr>
            <p:cNvPr id="38" name="グループ化 37"/>
            <p:cNvGrpSpPr/>
            <p:nvPr/>
          </p:nvGrpSpPr>
          <p:grpSpPr>
            <a:xfrm>
              <a:off x="1908000" y="2016000"/>
              <a:ext cx="383229" cy="504000"/>
              <a:chOff x="1908000" y="2016000"/>
              <a:chExt cx="383229" cy="504000"/>
            </a:xfrm>
          </p:grpSpPr>
          <p:pic>
            <p:nvPicPr>
              <p:cNvPr id="36" name="図 35"/>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908000" y="2016000"/>
                <a:ext cx="383229" cy="504000"/>
              </a:xfrm>
              <a:prstGeom prst="rect">
                <a:avLst/>
              </a:prstGeom>
            </p:spPr>
          </p:pic>
          <p:sp>
            <p:nvSpPr>
              <p:cNvPr id="37" name="正方形/長方形 36"/>
              <p:cNvSpPr/>
              <p:nvPr/>
            </p:nvSpPr>
            <p:spPr>
              <a:xfrm>
                <a:off x="1919614" y="2357778"/>
                <a:ext cx="360000" cy="1440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kumimoji="1" lang="en-US" altLang="ja-JP" sz="900" b="1" dirty="0">
                    <a:solidFill>
                      <a:schemeClr val="accent1"/>
                    </a:solidFill>
                    <a:latin typeface="Meiryo UI" panose="020B0604030504040204" pitchFamily="50" charset="-128"/>
                    <a:ea typeface="Meiryo UI" panose="020B0604030504040204" pitchFamily="50" charset="-128"/>
                    <a:cs typeface="Arial" panose="020B0604020202020204" pitchFamily="34" charset="0"/>
                  </a:rPr>
                  <a:t>DMP</a:t>
                </a:r>
                <a:endParaRPr kumimoji="1" lang="ja-JP" altLang="en-US" sz="900" b="1" dirty="0">
                  <a:solidFill>
                    <a:schemeClr val="accent1"/>
                  </a:solidFill>
                  <a:latin typeface="Meiryo UI" panose="020B0604030504040204" pitchFamily="50" charset="-128"/>
                  <a:ea typeface="Meiryo UI" panose="020B0604030504040204" pitchFamily="50" charset="-128"/>
                  <a:cs typeface="Arial" panose="020B0604020202020204" pitchFamily="34" charset="0"/>
                </a:endParaRPr>
              </a:p>
            </p:txBody>
          </p:sp>
        </p:grpSp>
      </p:grpSp>
    </p:spTree>
    <p:extLst>
      <p:ext uri="{BB962C8B-B14F-4D97-AF65-F5344CB8AC3E}">
        <p14:creationId xmlns:p14="http://schemas.microsoft.com/office/powerpoint/2010/main" val="434111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リストア方式</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27</a:t>
            </a:fld>
            <a:endParaRPr kumimoji="1" lang="ja-JP" altLang="en-US"/>
          </a:p>
        </p:txBody>
      </p:sp>
      <p:grpSp>
        <p:nvGrpSpPr>
          <p:cNvPr id="82" name="グループ化 81"/>
          <p:cNvGrpSpPr/>
          <p:nvPr/>
        </p:nvGrpSpPr>
        <p:grpSpPr>
          <a:xfrm>
            <a:off x="666000" y="1080000"/>
            <a:ext cx="7812000" cy="4644000"/>
            <a:chOff x="324000" y="864000"/>
            <a:chExt cx="7812000" cy="4644000"/>
          </a:xfrm>
        </p:grpSpPr>
        <p:sp>
          <p:nvSpPr>
            <p:cNvPr id="35" name="円/楕円 4"/>
            <p:cNvSpPr>
              <a:spLocks noChangeAspect="1"/>
            </p:cNvSpPr>
            <p:nvPr/>
          </p:nvSpPr>
          <p:spPr>
            <a:xfrm>
              <a:off x="324000" y="864000"/>
              <a:ext cx="360000" cy="360000"/>
            </a:xfrm>
            <a:prstGeom prst="ellipse">
              <a:avLst/>
            </a:prstGeom>
            <a:solidFill>
              <a:schemeClr val="accent1">
                <a:lumMod val="60000"/>
                <a:lumOff val="40000"/>
              </a:schemeClr>
            </a:solidFill>
            <a:ln w="127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36" name="テキスト プレースホルダー 11"/>
            <p:cNvSpPr txBox="1">
              <a:spLocks/>
            </p:cNvSpPr>
            <p:nvPr/>
          </p:nvSpPr>
          <p:spPr>
            <a:xfrm>
              <a:off x="720000" y="936000"/>
              <a:ext cx="3028518" cy="288000"/>
            </a:xfrm>
            <a:prstGeom prst="rect">
              <a:avLst/>
            </a:prstGeom>
          </p:spPr>
          <p:txBody>
            <a:bodyPr anchor="ctr">
              <a:noAutofit/>
            </a:bodyPr>
            <a:lstStyle>
              <a:lvl1pPr marL="228600" indent="-228600" algn="ctr" defTabSz="914400" rtl="0" eaLnBrk="1" latinLnBrk="1" hangingPunct="1">
                <a:lnSpc>
                  <a:spcPct val="100000"/>
                </a:lnSpc>
                <a:spcBef>
                  <a:spcPts val="0"/>
                </a:spcBef>
                <a:buFont typeface="Arial" panose="020B0604020202020204" pitchFamily="34" charset="0"/>
                <a:buChar char="•"/>
                <a:defRPr kumimoji="1" sz="2400" kern="1200" spc="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buNone/>
              </a:pPr>
              <a:r>
                <a:rPr lang="ja-JP" altLang="en-US" sz="1400" dirty="0">
                  <a:solidFill>
                    <a:schemeClr val="tx1"/>
                  </a:solidFill>
                </a:rPr>
                <a:t>障害発生</a:t>
              </a:r>
              <a:endParaRPr lang="en-US" sz="1400" dirty="0">
                <a:solidFill>
                  <a:schemeClr val="tx1"/>
                </a:solidFill>
              </a:endParaRPr>
            </a:p>
          </p:txBody>
        </p:sp>
        <p:cxnSp>
          <p:nvCxnSpPr>
            <p:cNvPr id="37" name="直線コネクタ 36"/>
            <p:cNvCxnSpPr>
              <a:stCxn id="35" idx="4"/>
              <a:endCxn id="54" idx="0"/>
            </p:cNvCxnSpPr>
            <p:nvPr/>
          </p:nvCxnSpPr>
          <p:spPr>
            <a:xfrm>
              <a:off x="504000" y="1224000"/>
              <a:ext cx="0" cy="3924000"/>
            </a:xfrm>
            <a:prstGeom prst="line">
              <a:avLst/>
            </a:prstGeom>
            <a:ln w="28575">
              <a:solidFill>
                <a:schemeClr val="accent1">
                  <a:lumMod val="60000"/>
                  <a:lumOff val="40000"/>
                </a:schemeClr>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54" name="円/楕円 4"/>
            <p:cNvSpPr>
              <a:spLocks noChangeAspect="1"/>
            </p:cNvSpPr>
            <p:nvPr/>
          </p:nvSpPr>
          <p:spPr>
            <a:xfrm>
              <a:off x="324000" y="5148000"/>
              <a:ext cx="360000" cy="360000"/>
            </a:xfrm>
            <a:prstGeom prst="ellipse">
              <a:avLst/>
            </a:prstGeom>
            <a:solidFill>
              <a:schemeClr val="accent1">
                <a:lumMod val="60000"/>
                <a:lumOff val="40000"/>
              </a:schemeClr>
            </a:solidFill>
            <a:ln w="127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1" name="テキスト プレースホルダー 11"/>
            <p:cNvSpPr txBox="1">
              <a:spLocks/>
            </p:cNvSpPr>
            <p:nvPr/>
          </p:nvSpPr>
          <p:spPr>
            <a:xfrm>
              <a:off x="720000" y="5184000"/>
              <a:ext cx="3028518" cy="288000"/>
            </a:xfrm>
            <a:prstGeom prst="rect">
              <a:avLst/>
            </a:prstGeom>
          </p:spPr>
          <p:txBody>
            <a:bodyPr anchor="ctr">
              <a:noAutofit/>
            </a:bodyPr>
            <a:lstStyle>
              <a:lvl1pPr marL="228600" indent="-228600" algn="ctr" defTabSz="914400" rtl="0" eaLnBrk="1" latinLnBrk="1" hangingPunct="1">
                <a:lnSpc>
                  <a:spcPct val="100000"/>
                </a:lnSpc>
                <a:spcBef>
                  <a:spcPts val="0"/>
                </a:spcBef>
                <a:buFont typeface="Arial" panose="020B0604020202020204" pitchFamily="34" charset="0"/>
                <a:buChar char="•"/>
                <a:defRPr kumimoji="1" sz="2400" kern="1200" spc="0">
                  <a:solidFill>
                    <a:schemeClr val="bg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l">
                <a:buNone/>
              </a:pPr>
              <a:r>
                <a:rPr lang="ja-JP" altLang="en-US" sz="1400" dirty="0">
                  <a:solidFill>
                    <a:schemeClr val="tx1"/>
                  </a:solidFill>
                </a:rPr>
                <a:t>復旧</a:t>
              </a:r>
              <a:endParaRPr lang="en-US" sz="1400" dirty="0">
                <a:solidFill>
                  <a:schemeClr val="tx1"/>
                </a:solidFill>
              </a:endParaRPr>
            </a:p>
          </p:txBody>
        </p:sp>
        <p:sp>
          <p:nvSpPr>
            <p:cNvPr id="38" name="円/楕円 9"/>
            <p:cNvSpPr>
              <a:spLocks noChangeAspect="1"/>
            </p:cNvSpPr>
            <p:nvPr/>
          </p:nvSpPr>
          <p:spPr>
            <a:xfrm>
              <a:off x="396000" y="1620000"/>
              <a:ext cx="216000" cy="216000"/>
            </a:xfrm>
            <a:prstGeom prst="ellipse">
              <a:avLst/>
            </a:prstGeom>
            <a:solidFill>
              <a:schemeClr val="accent1">
                <a:lumMod val="60000"/>
                <a:lumOff val="40000"/>
              </a:schemeClr>
            </a:solidFill>
            <a:ln w="127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6" name="テキスト プレースホルダー 11"/>
            <p:cNvSpPr txBox="1">
              <a:spLocks/>
            </p:cNvSpPr>
            <p:nvPr/>
          </p:nvSpPr>
          <p:spPr>
            <a:xfrm>
              <a:off x="1224000" y="1728000"/>
              <a:ext cx="3096000" cy="864000"/>
            </a:xfrm>
            <a:prstGeom prst="rect">
              <a:avLst/>
            </a:prstGeom>
          </p:spPr>
          <p:txBody>
            <a:bodyPr lIns="36000" tIns="72000" rIns="36000" bIns="72000" anchor="t">
              <a:noAutofit/>
            </a:bodyPr>
            <a:lstStyle>
              <a:lvl1pPr marL="228600" indent="-228600" algn="l" defTabSz="914400" rtl="0" eaLnBrk="1" latinLnBrk="1" hangingPunct="1">
                <a:lnSpc>
                  <a:spcPct val="120000"/>
                </a:lnSpc>
                <a:spcBef>
                  <a:spcPts val="0"/>
                </a:spcBef>
                <a:buFont typeface="Arial" panose="020B0604020202020204" pitchFamily="34" charset="0"/>
                <a:buChar char="•"/>
                <a:defRPr kumimoji="1" sz="20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err="1">
                  <a:latin typeface="游ゴシック" panose="020B0400000000000000" pitchFamily="50" charset="-128"/>
                </a:rPr>
                <a:t>impdp</a:t>
              </a:r>
              <a:r>
                <a:rPr lang="ja-JP" altLang="en-US" sz="1400" dirty="0">
                  <a:latin typeface="游ゴシック" panose="020B0400000000000000" pitchFamily="50" charset="-128"/>
                </a:rPr>
                <a:t>コマンドを使用し</a:t>
              </a:r>
              <a:r>
                <a:rPr lang="en-US" altLang="ja-JP" sz="1400" dirty="0" err="1">
                  <a:latin typeface="游ゴシック" panose="020B0400000000000000" pitchFamily="50" charset="-128"/>
                </a:rPr>
                <a:t>dmp</a:t>
              </a:r>
              <a:r>
                <a:rPr lang="ja-JP" altLang="en-US" sz="1400" dirty="0">
                  <a:latin typeface="游ゴシック" panose="020B0400000000000000" pitchFamily="50" charset="-128"/>
                </a:rPr>
                <a:t>ファイルをデータベースにインポートします。</a:t>
              </a:r>
              <a:endParaRPr lang="en-US" altLang="ja-JP" sz="1400" dirty="0">
                <a:latin typeface="游ゴシック" panose="020B0400000000000000" pitchFamily="50" charset="-128"/>
              </a:endParaRPr>
            </a:p>
            <a:p>
              <a:pPr marL="0" indent="0">
                <a:buNone/>
              </a:pPr>
              <a:endParaRPr lang="en-US" altLang="ja-JP" sz="1400" dirty="0">
                <a:latin typeface="游ゴシック" panose="020B0400000000000000" pitchFamily="50" charset="-128"/>
              </a:endParaRPr>
            </a:p>
            <a:p>
              <a:pPr marL="0" indent="0">
                <a:buNone/>
              </a:pPr>
              <a:endParaRPr lang="en-US" altLang="ja-JP" sz="1400" dirty="0">
                <a:latin typeface="游ゴシック" panose="020B0400000000000000" pitchFamily="50" charset="-128"/>
              </a:endParaRPr>
            </a:p>
          </p:txBody>
        </p:sp>
        <p:sp>
          <p:nvSpPr>
            <p:cNvPr id="68" name="平行四辺形 67"/>
            <p:cNvSpPr/>
            <p:nvPr userDrawn="1"/>
          </p:nvSpPr>
          <p:spPr>
            <a:xfrm rot="10800000">
              <a:off x="648000" y="1440001"/>
              <a:ext cx="3816000" cy="288000"/>
            </a:xfrm>
            <a:prstGeom prst="parallelogram">
              <a:avLst>
                <a:gd name="adj" fmla="val 75391"/>
              </a:avLst>
            </a:prstGeom>
            <a:solidFill>
              <a:schemeClr val="accent1">
                <a:lumMod val="20000"/>
                <a:lumOff val="8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9" name="平行四辺形 68"/>
            <p:cNvSpPr/>
            <p:nvPr userDrawn="1"/>
          </p:nvSpPr>
          <p:spPr>
            <a:xfrm rot="10800000">
              <a:off x="648000" y="1440001"/>
              <a:ext cx="576000" cy="288000"/>
            </a:xfrm>
            <a:prstGeom prst="parallelogram">
              <a:avLst>
                <a:gd name="adj" fmla="val 75391"/>
              </a:avLst>
            </a:prstGeom>
            <a:solidFill>
              <a:schemeClr val="accent1"/>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dirty="0"/>
            </a:p>
          </p:txBody>
        </p:sp>
        <p:sp>
          <p:nvSpPr>
            <p:cNvPr id="70" name="テキスト ボックス 69"/>
            <p:cNvSpPr txBox="1"/>
            <p:nvPr/>
          </p:nvSpPr>
          <p:spPr>
            <a:xfrm>
              <a:off x="1224000" y="1440000"/>
              <a:ext cx="3096000" cy="288000"/>
            </a:xfrm>
            <a:prstGeom prst="rect">
              <a:avLst/>
            </a:prstGeom>
            <a:noFill/>
          </p:spPr>
          <p:txBody>
            <a:bodyPr wrap="none" lIns="36000" tIns="72000" rIns="36000" bIns="72000" rtlCol="0" anchor="ctr">
              <a:noAutofit/>
            </a:bodyPr>
            <a:lstStyle/>
            <a:p>
              <a:r>
                <a:rPr lang="ja-JP" altLang="en-US" sz="1600" b="1" dirty="0">
                  <a:latin typeface="游ゴシック" panose="020B0400000000000000" pitchFamily="50" charset="-128"/>
                  <a:ea typeface="游ゴシック" panose="020B0400000000000000" pitchFamily="50" charset="-128"/>
                </a:rPr>
                <a:t>データベースの復旧</a:t>
              </a:r>
              <a:endParaRPr kumimoji="1" lang="ja-JP" altLang="en-US" sz="1600" b="1" dirty="0">
                <a:latin typeface="游ゴシック" panose="020B0400000000000000" pitchFamily="50" charset="-128"/>
                <a:ea typeface="游ゴシック" panose="020B0400000000000000" pitchFamily="50" charset="-128"/>
              </a:endParaRPr>
            </a:p>
          </p:txBody>
        </p:sp>
        <p:sp>
          <p:nvSpPr>
            <p:cNvPr id="73" name="上矢印 72"/>
            <p:cNvSpPr/>
            <p:nvPr/>
          </p:nvSpPr>
          <p:spPr>
            <a:xfrm rot="16200000" flipV="1">
              <a:off x="4356000" y="1872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4" name="テキスト プレースホルダー 11"/>
            <p:cNvSpPr txBox="1">
              <a:spLocks/>
            </p:cNvSpPr>
            <p:nvPr/>
          </p:nvSpPr>
          <p:spPr>
            <a:xfrm>
              <a:off x="5040000" y="1728000"/>
              <a:ext cx="3096000" cy="864000"/>
            </a:xfrm>
            <a:prstGeom prst="rect">
              <a:avLst/>
            </a:prstGeom>
          </p:spPr>
          <p:txBody>
            <a:bodyPr lIns="36000" tIns="72000" rIns="36000" bIns="72000" anchor="t">
              <a:noAutofit/>
            </a:bodyPr>
            <a:lstStyle>
              <a:lvl1pPr marL="228600" indent="-228600" algn="l" defTabSz="914400" rtl="0" eaLnBrk="1" latinLnBrk="1" hangingPunct="1">
                <a:lnSpc>
                  <a:spcPct val="120000"/>
                </a:lnSpc>
                <a:spcBef>
                  <a:spcPts val="0"/>
                </a:spcBef>
                <a:buFont typeface="Arial" panose="020B0604020202020204" pitchFamily="34" charset="0"/>
                <a:buChar char="•"/>
                <a:defRPr kumimoji="1" sz="20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データベースをバックアップを実行した時点まで戻します。</a:t>
              </a:r>
              <a:endParaRPr lang="en-US" altLang="ja-JP" sz="1400" dirty="0">
                <a:latin typeface="游ゴシック" panose="020B0400000000000000" pitchFamily="50" charset="-128"/>
              </a:endParaRPr>
            </a:p>
            <a:p>
              <a:pPr marL="0" indent="0">
                <a:buNone/>
              </a:pPr>
              <a:endParaRPr lang="en-US" altLang="ja-JP" sz="1400" dirty="0">
                <a:latin typeface="游ゴシック" panose="020B0400000000000000" pitchFamily="50" charset="-128"/>
              </a:endParaRPr>
            </a:p>
          </p:txBody>
        </p:sp>
        <p:sp>
          <p:nvSpPr>
            <p:cNvPr id="60" name="テキスト プレースホルダー 11"/>
            <p:cNvSpPr txBox="1">
              <a:spLocks/>
            </p:cNvSpPr>
            <p:nvPr/>
          </p:nvSpPr>
          <p:spPr>
            <a:xfrm>
              <a:off x="1224000" y="3024000"/>
              <a:ext cx="3096000" cy="864000"/>
            </a:xfrm>
            <a:prstGeom prst="rect">
              <a:avLst/>
            </a:prstGeom>
          </p:spPr>
          <p:txBody>
            <a:bodyPr lIns="36000" tIns="72000" rIns="36000" bIns="72000" anchor="t">
              <a:noAutofit/>
            </a:bodyPr>
            <a:lstStyle>
              <a:lvl1pPr marL="228600" indent="-228600" algn="l" defTabSz="914400" rtl="0" eaLnBrk="1" latinLnBrk="1" hangingPunct="1">
                <a:lnSpc>
                  <a:spcPct val="120000"/>
                </a:lnSpc>
                <a:spcBef>
                  <a:spcPts val="0"/>
                </a:spcBef>
                <a:buFont typeface="Arial" panose="020B0604020202020204" pitchFamily="34" charset="0"/>
                <a:buChar char="•"/>
                <a:defRPr kumimoji="1" sz="20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データベースバックアップ時点から障害発生までに実行された</a:t>
              </a:r>
              <a:r>
                <a:rPr lang="en-US" altLang="ja-JP" sz="1400" dirty="0">
                  <a:latin typeface="游ゴシック" panose="020B0400000000000000" pitchFamily="50" charset="-128"/>
                </a:rPr>
                <a:t>SQL</a:t>
              </a:r>
              <a:r>
                <a:rPr lang="ja-JP" altLang="en-US" sz="1400" dirty="0">
                  <a:latin typeface="游ゴシック" panose="020B0400000000000000" pitchFamily="50" charset="-128"/>
                </a:rPr>
                <a:t>を</a:t>
              </a:r>
              <a:r>
                <a:rPr lang="en-US" altLang="ja-JP" sz="1400" dirty="0">
                  <a:latin typeface="游ゴシック" panose="020B0400000000000000" pitchFamily="50" charset="-128"/>
                </a:rPr>
                <a:t>SQL</a:t>
              </a:r>
              <a:r>
                <a:rPr lang="ja-JP" altLang="en-US" sz="1400" dirty="0">
                  <a:latin typeface="游ゴシック" panose="020B0400000000000000" pitchFamily="50" charset="-128"/>
                </a:rPr>
                <a:t>実行ログを元に手動にて再実行します。</a:t>
              </a:r>
              <a:endParaRPr lang="en-US" altLang="ja-JP" sz="1400" dirty="0">
                <a:latin typeface="游ゴシック" panose="020B0400000000000000" pitchFamily="50" charset="-128"/>
              </a:endParaRPr>
            </a:p>
            <a:p>
              <a:pPr marL="0" indent="0">
                <a:buNone/>
              </a:pPr>
              <a:endParaRPr lang="en-US" altLang="ja-JP" sz="1400" dirty="0">
                <a:latin typeface="游ゴシック" panose="020B0400000000000000" pitchFamily="50" charset="-128"/>
              </a:endParaRPr>
            </a:p>
          </p:txBody>
        </p:sp>
        <p:sp>
          <p:nvSpPr>
            <p:cNvPr id="62" name="平行四辺形 61"/>
            <p:cNvSpPr/>
            <p:nvPr userDrawn="1"/>
          </p:nvSpPr>
          <p:spPr>
            <a:xfrm rot="10800000">
              <a:off x="648000" y="2736001"/>
              <a:ext cx="3816000" cy="288000"/>
            </a:xfrm>
            <a:prstGeom prst="parallelogram">
              <a:avLst>
                <a:gd name="adj" fmla="val 75391"/>
              </a:avLst>
            </a:prstGeom>
            <a:solidFill>
              <a:schemeClr val="accent2">
                <a:lumMod val="20000"/>
                <a:lumOff val="8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3" name="平行四辺形 62"/>
            <p:cNvSpPr/>
            <p:nvPr userDrawn="1"/>
          </p:nvSpPr>
          <p:spPr>
            <a:xfrm rot="10800000">
              <a:off x="648000" y="2736001"/>
              <a:ext cx="576000" cy="288000"/>
            </a:xfrm>
            <a:prstGeom prst="parallelogram">
              <a:avLst>
                <a:gd name="adj" fmla="val 75391"/>
              </a:avLst>
            </a:prstGeom>
            <a:solidFill>
              <a:schemeClr val="accent2"/>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64" name="テキスト ボックス 63"/>
            <p:cNvSpPr txBox="1"/>
            <p:nvPr/>
          </p:nvSpPr>
          <p:spPr>
            <a:xfrm>
              <a:off x="1224000" y="2736000"/>
              <a:ext cx="3096000" cy="288000"/>
            </a:xfrm>
            <a:prstGeom prst="rect">
              <a:avLst/>
            </a:prstGeom>
            <a:noFill/>
          </p:spPr>
          <p:txBody>
            <a:bodyPr wrap="none" lIns="36000" tIns="72000" rIns="36000" bIns="72000" rtlCol="0" anchor="ctr">
              <a:noAutofit/>
            </a:bodyPr>
            <a:lstStyle/>
            <a:p>
              <a:r>
                <a:rPr lang="en-US" altLang="ja-JP" sz="1600" b="1" dirty="0">
                  <a:latin typeface="游ゴシック" panose="020B0400000000000000" pitchFamily="50" charset="-128"/>
                  <a:ea typeface="游ゴシック" panose="020B0400000000000000" pitchFamily="50" charset="-128"/>
                </a:rPr>
                <a:t>SQL</a:t>
              </a:r>
              <a:r>
                <a:rPr lang="ja-JP" altLang="en-US" sz="1600" b="1" dirty="0">
                  <a:latin typeface="游ゴシック" panose="020B0400000000000000" pitchFamily="50" charset="-128"/>
                  <a:ea typeface="游ゴシック" panose="020B0400000000000000" pitchFamily="50" charset="-128"/>
                </a:rPr>
                <a:t>実行ログからデータを復旧</a:t>
              </a:r>
              <a:endParaRPr kumimoji="1" lang="ja-JP" altLang="en-US" sz="1600" b="1" dirty="0">
                <a:latin typeface="游ゴシック" panose="020B0400000000000000" pitchFamily="50" charset="-128"/>
                <a:ea typeface="游ゴシック" panose="020B0400000000000000" pitchFamily="50" charset="-128"/>
              </a:endParaRPr>
            </a:p>
          </p:txBody>
        </p:sp>
        <p:sp>
          <p:nvSpPr>
            <p:cNvPr id="72" name="円/楕円 15"/>
            <p:cNvSpPr>
              <a:spLocks noChangeAspect="1"/>
            </p:cNvSpPr>
            <p:nvPr/>
          </p:nvSpPr>
          <p:spPr>
            <a:xfrm>
              <a:off x="396000" y="2916000"/>
              <a:ext cx="216000" cy="216000"/>
            </a:xfrm>
            <a:prstGeom prst="ellipse">
              <a:avLst/>
            </a:prstGeom>
            <a:solidFill>
              <a:schemeClr val="accent1">
                <a:lumMod val="60000"/>
                <a:lumOff val="40000"/>
              </a:schemeClr>
            </a:solidFill>
            <a:ln w="127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75" name="上矢印 74"/>
            <p:cNvSpPr/>
            <p:nvPr/>
          </p:nvSpPr>
          <p:spPr>
            <a:xfrm rot="16200000" flipV="1">
              <a:off x="4356000" y="3168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6" name="テキスト プレースホルダー 11"/>
            <p:cNvSpPr txBox="1">
              <a:spLocks/>
            </p:cNvSpPr>
            <p:nvPr/>
          </p:nvSpPr>
          <p:spPr>
            <a:xfrm>
              <a:off x="5040000" y="3024000"/>
              <a:ext cx="3096000" cy="864000"/>
            </a:xfrm>
            <a:prstGeom prst="rect">
              <a:avLst/>
            </a:prstGeom>
          </p:spPr>
          <p:txBody>
            <a:bodyPr lIns="36000" tIns="72000" rIns="36000" bIns="72000" anchor="t">
              <a:noAutofit/>
            </a:bodyPr>
            <a:lstStyle>
              <a:lvl1pPr marL="228600" indent="-228600" algn="l" defTabSz="914400" rtl="0" eaLnBrk="1" latinLnBrk="1" hangingPunct="1">
                <a:lnSpc>
                  <a:spcPct val="120000"/>
                </a:lnSpc>
                <a:spcBef>
                  <a:spcPts val="0"/>
                </a:spcBef>
                <a:buFont typeface="Arial" panose="020B0604020202020204" pitchFamily="34" charset="0"/>
                <a:buChar char="•"/>
                <a:defRPr kumimoji="1" sz="20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400" dirty="0">
                  <a:latin typeface="游ゴシック" panose="020B0400000000000000" pitchFamily="50" charset="-128"/>
                </a:rPr>
                <a:t>SQL</a:t>
              </a:r>
              <a:r>
                <a:rPr lang="ja-JP" altLang="en-US" sz="1400" dirty="0">
                  <a:latin typeface="游ゴシック" panose="020B0400000000000000" pitchFamily="50" charset="-128"/>
                </a:rPr>
                <a:t>実行ログの再実行により、データベースを障害発生時点まで戻すことが可能です。</a:t>
              </a:r>
              <a:endParaRPr lang="en-US" altLang="ja-JP" sz="1400" dirty="0">
                <a:latin typeface="游ゴシック" panose="020B0400000000000000" pitchFamily="50" charset="-128"/>
              </a:endParaRPr>
            </a:p>
          </p:txBody>
        </p:sp>
        <p:sp>
          <p:nvSpPr>
            <p:cNvPr id="44" name="円/楕円 15"/>
            <p:cNvSpPr>
              <a:spLocks noChangeAspect="1"/>
            </p:cNvSpPr>
            <p:nvPr/>
          </p:nvSpPr>
          <p:spPr>
            <a:xfrm>
              <a:off x="396000" y="4212000"/>
              <a:ext cx="216000" cy="216000"/>
            </a:xfrm>
            <a:prstGeom prst="ellipse">
              <a:avLst/>
            </a:prstGeom>
            <a:solidFill>
              <a:schemeClr val="accent1">
                <a:lumMod val="60000"/>
                <a:lumOff val="40000"/>
              </a:schemeClr>
            </a:solidFill>
            <a:ln w="12700" cmpd="sng">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3" name="テキスト プレースホルダー 11"/>
            <p:cNvSpPr txBox="1">
              <a:spLocks/>
            </p:cNvSpPr>
            <p:nvPr/>
          </p:nvSpPr>
          <p:spPr>
            <a:xfrm>
              <a:off x="1224000" y="4320000"/>
              <a:ext cx="3096000" cy="864000"/>
            </a:xfrm>
            <a:prstGeom prst="rect">
              <a:avLst/>
            </a:prstGeom>
          </p:spPr>
          <p:txBody>
            <a:bodyPr lIns="36000" tIns="72000" rIns="36000" bIns="72000" anchor="t">
              <a:noAutofit/>
            </a:bodyPr>
            <a:lstStyle>
              <a:lvl1pPr marL="228600" indent="-228600" algn="l" defTabSz="914400" rtl="0" eaLnBrk="1" latinLnBrk="1" hangingPunct="1">
                <a:lnSpc>
                  <a:spcPct val="120000"/>
                </a:lnSpc>
                <a:spcBef>
                  <a:spcPts val="0"/>
                </a:spcBef>
                <a:buFont typeface="Arial" panose="020B0604020202020204" pitchFamily="34" charset="0"/>
                <a:buChar char="•"/>
                <a:defRPr kumimoji="1" sz="20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連携データのバックアップを使用し、失敗した連携処理を手動にて再実行します。</a:t>
              </a:r>
              <a:endParaRPr lang="en-US" altLang="ja-JP" sz="1400" dirty="0">
                <a:latin typeface="游ゴシック" panose="020B0400000000000000" pitchFamily="50" charset="-128"/>
              </a:endParaRPr>
            </a:p>
            <a:p>
              <a:pPr marL="0" indent="0">
                <a:buNone/>
              </a:pPr>
              <a:endParaRPr lang="en-US" altLang="ja-JP" sz="1400" dirty="0">
                <a:latin typeface="游ゴシック" panose="020B0400000000000000" pitchFamily="50" charset="-128"/>
              </a:endParaRPr>
            </a:p>
          </p:txBody>
        </p:sp>
        <p:sp>
          <p:nvSpPr>
            <p:cNvPr id="40" name="平行四辺形 39"/>
            <p:cNvSpPr/>
            <p:nvPr userDrawn="1"/>
          </p:nvSpPr>
          <p:spPr>
            <a:xfrm rot="10800000">
              <a:off x="648000" y="4032001"/>
              <a:ext cx="3816000" cy="288000"/>
            </a:xfrm>
            <a:prstGeom prst="parallelogram">
              <a:avLst>
                <a:gd name="adj" fmla="val 75391"/>
              </a:avLst>
            </a:prstGeom>
            <a:solidFill>
              <a:schemeClr val="accent4">
                <a:lumMod val="20000"/>
                <a:lumOff val="80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41" name="平行四辺形 40"/>
            <p:cNvSpPr/>
            <p:nvPr userDrawn="1"/>
          </p:nvSpPr>
          <p:spPr>
            <a:xfrm rot="10800000">
              <a:off x="648000" y="4032001"/>
              <a:ext cx="576000" cy="288000"/>
            </a:xfrm>
            <a:prstGeom prst="parallelogram">
              <a:avLst>
                <a:gd name="adj" fmla="val 75391"/>
              </a:avLst>
            </a:prstGeom>
            <a:solidFill>
              <a:schemeClr val="accent4"/>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a:p>
          </p:txBody>
        </p:sp>
        <p:sp>
          <p:nvSpPr>
            <p:cNvPr id="56" name="テキスト ボックス 55"/>
            <p:cNvSpPr txBox="1"/>
            <p:nvPr/>
          </p:nvSpPr>
          <p:spPr>
            <a:xfrm>
              <a:off x="1224000" y="4032000"/>
              <a:ext cx="3096000" cy="288000"/>
            </a:xfrm>
            <a:prstGeom prst="rect">
              <a:avLst/>
            </a:prstGeom>
            <a:noFill/>
          </p:spPr>
          <p:txBody>
            <a:bodyPr wrap="none" lIns="36000" tIns="72000" rIns="36000" bIns="72000" rtlCol="0" anchor="ctr">
              <a:noAutofit/>
            </a:bodyPr>
            <a:lstStyle/>
            <a:p>
              <a:r>
                <a:rPr lang="ja-JP" altLang="en-US" sz="1600" b="1" dirty="0">
                  <a:latin typeface="游ゴシック" panose="020B0400000000000000" pitchFamily="50" charset="-128"/>
                  <a:ea typeface="游ゴシック" panose="020B0400000000000000" pitchFamily="50" charset="-128"/>
                </a:rPr>
                <a:t>データ連携の再実行</a:t>
              </a:r>
              <a:endParaRPr kumimoji="1" lang="ja-JP" altLang="en-US" sz="1600" b="1" dirty="0">
                <a:latin typeface="游ゴシック" panose="020B0400000000000000" pitchFamily="50" charset="-128"/>
                <a:ea typeface="游ゴシック" panose="020B0400000000000000" pitchFamily="50" charset="-128"/>
              </a:endParaRPr>
            </a:p>
          </p:txBody>
        </p:sp>
        <p:sp>
          <p:nvSpPr>
            <p:cNvPr id="77" name="上矢印 76"/>
            <p:cNvSpPr/>
            <p:nvPr/>
          </p:nvSpPr>
          <p:spPr>
            <a:xfrm rot="16200000" flipV="1">
              <a:off x="4356000" y="4464000"/>
              <a:ext cx="576000" cy="360000"/>
            </a:xfrm>
            <a:prstGeom prst="upArrow">
              <a:avLst/>
            </a:prstGeom>
            <a:solidFill>
              <a:schemeClr val="accent3">
                <a:lumMod val="60000"/>
                <a:lumOff val="4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8" name="テキスト プレースホルダー 11"/>
            <p:cNvSpPr txBox="1">
              <a:spLocks/>
            </p:cNvSpPr>
            <p:nvPr/>
          </p:nvSpPr>
          <p:spPr>
            <a:xfrm>
              <a:off x="5040000" y="4320000"/>
              <a:ext cx="3096000" cy="864000"/>
            </a:xfrm>
            <a:prstGeom prst="rect">
              <a:avLst/>
            </a:prstGeom>
          </p:spPr>
          <p:txBody>
            <a:bodyPr lIns="36000" tIns="72000" rIns="36000" bIns="72000" anchor="t">
              <a:noAutofit/>
            </a:bodyPr>
            <a:lstStyle>
              <a:lvl1pPr marL="228600" indent="-228600" algn="l" defTabSz="914400" rtl="0" eaLnBrk="1" latinLnBrk="1" hangingPunct="1">
                <a:lnSpc>
                  <a:spcPct val="120000"/>
                </a:lnSpc>
                <a:spcBef>
                  <a:spcPts val="0"/>
                </a:spcBef>
                <a:buFont typeface="Arial" panose="020B0604020202020204" pitchFamily="34" charset="0"/>
                <a:buChar char="•"/>
                <a:defRPr kumimoji="1" sz="2000" kern="1200">
                  <a:solidFill>
                    <a:schemeClr val="tx1"/>
                  </a:solidFill>
                  <a:latin typeface="+mn-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400" dirty="0">
                  <a:latin typeface="游ゴシック" panose="020B0400000000000000" pitchFamily="50" charset="-128"/>
                </a:rPr>
                <a:t>連携処理に失敗している場合、再実行し、周辺システムとの連携を再度処理します。</a:t>
              </a:r>
              <a:endParaRPr lang="en-US" altLang="ja-JP" sz="1400" dirty="0">
                <a:latin typeface="游ゴシック" panose="020B0400000000000000" pitchFamily="50" charset="-128"/>
              </a:endParaRPr>
            </a:p>
          </p:txBody>
        </p:sp>
      </p:grpSp>
      <p:sp>
        <p:nvSpPr>
          <p:cNvPr id="83" name="テキスト ボックス 82"/>
          <p:cNvSpPr txBox="1">
            <a:spLocks/>
          </p:cNvSpPr>
          <p:nvPr/>
        </p:nvSpPr>
        <p:spPr>
          <a:xfrm>
            <a:off x="144000" y="5652000"/>
            <a:ext cx="8856000" cy="720000"/>
          </a:xfrm>
          <a:prstGeom prst="rect">
            <a:avLst/>
          </a:prstGeom>
          <a:noFill/>
        </p:spPr>
        <p:txBody>
          <a:bodyPr wrap="square" rtlCol="0" anchor="b">
            <a:noAutofit/>
          </a:bodyPr>
          <a:lstStyle/>
          <a:p>
            <a:r>
              <a:rPr lang="ja-JP" altLang="en-US" sz="1400" dirty="0">
                <a:latin typeface="游ゴシック" panose="020B0400000000000000" pitchFamily="50" charset="-128"/>
                <a:ea typeface="游ゴシック" panose="020B0400000000000000" pitchFamily="50" charset="-128"/>
              </a:rPr>
              <a:t>上記は、一例となります。障害発生の際は、その都度、対応方法を検討いたします。</a:t>
            </a:r>
          </a:p>
        </p:txBody>
      </p:sp>
    </p:spTree>
    <p:extLst>
      <p:ext uri="{BB962C8B-B14F-4D97-AF65-F5344CB8AC3E}">
        <p14:creationId xmlns:p14="http://schemas.microsoft.com/office/powerpoint/2010/main" val="2813255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角丸四角形 86"/>
          <p:cNvSpPr/>
          <p:nvPr/>
        </p:nvSpPr>
        <p:spPr>
          <a:xfrm>
            <a:off x="3348000" y="3456000"/>
            <a:ext cx="2448000" cy="1260000"/>
          </a:xfrm>
          <a:prstGeom prst="roundRect">
            <a:avLst>
              <a:gd name="adj" fmla="val 5040"/>
            </a:avLst>
          </a:prstGeom>
          <a:solidFill>
            <a:schemeClr val="accent6">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ストレージ</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2" name="タイトル 1"/>
          <p:cNvSpPr>
            <a:spLocks noGrp="1"/>
          </p:cNvSpPr>
          <p:nvPr>
            <p:ph type="title"/>
          </p:nvPr>
        </p:nvSpPr>
        <p:spPr/>
        <p:txBody>
          <a:bodyPr/>
          <a:lstStyle/>
          <a:p>
            <a:r>
              <a:rPr kumimoji="1" lang="ja-JP" altLang="en-US" dirty="0"/>
              <a:t>冗長化構成</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28</a:t>
            </a:fld>
            <a:endParaRPr kumimoji="1" lang="ja-JP" altLang="en-US"/>
          </a:p>
        </p:txBody>
      </p:sp>
      <p:sp>
        <p:nvSpPr>
          <p:cNvPr id="42" name="テキスト ボックス 41"/>
          <p:cNvSpPr txBox="1">
            <a:spLocks/>
          </p:cNvSpPr>
          <p:nvPr/>
        </p:nvSpPr>
        <p:spPr>
          <a:xfrm>
            <a:off x="144000" y="864000"/>
            <a:ext cx="8856000" cy="1440000"/>
          </a:xfrm>
          <a:prstGeom prst="rect">
            <a:avLst/>
          </a:prstGeom>
          <a:noFill/>
        </p:spPr>
        <p:txBody>
          <a:bodyPr wrap="square" rtlCol="0">
            <a:noAutofit/>
          </a:bodyPr>
          <a:lstStyle/>
          <a:p>
            <a:pPr algn="ctr">
              <a:lnSpc>
                <a:spcPct val="150000"/>
              </a:lnSpc>
            </a:pPr>
            <a:r>
              <a:rPr lang="ja-JP" altLang="en-US" sz="2000" b="1" u="sng" dirty="0">
                <a:latin typeface="游ゴシック" panose="020B0400000000000000" pitchFamily="50" charset="-128"/>
                <a:ea typeface="游ゴシック" panose="020B0400000000000000" pitchFamily="50" charset="-128"/>
                <a:cs typeface="Meiryo UI" panose="020B0604030504040204" pitchFamily="50" charset="-128"/>
              </a:rPr>
              <a:t>システムの障害を監視し障害発生時に引継ぎをする</a:t>
            </a:r>
            <a:r>
              <a:rPr lang="en-US" altLang="ja-JP" sz="2000" b="1" u="sng" dirty="0">
                <a:latin typeface="游ゴシック" panose="020B0400000000000000" pitchFamily="50" charset="-128"/>
                <a:ea typeface="游ゴシック" panose="020B0400000000000000" pitchFamily="50" charset="-128"/>
                <a:cs typeface="Meiryo UI" panose="020B0604030504040204" pitchFamily="50" charset="-128"/>
              </a:rPr>
              <a:t>HA</a:t>
            </a:r>
            <a:r>
              <a:rPr lang="ja-JP" altLang="en-US" sz="2000" b="1" u="sng" dirty="0">
                <a:latin typeface="游ゴシック" panose="020B0400000000000000" pitchFamily="50" charset="-128"/>
                <a:ea typeface="游ゴシック" panose="020B0400000000000000" pitchFamily="50" charset="-128"/>
                <a:cs typeface="Meiryo UI" panose="020B0604030504040204" pitchFamily="50" charset="-128"/>
              </a:rPr>
              <a:t>構成</a:t>
            </a:r>
            <a:endParaRPr lang="ja-JP" altLang="en-US" b="1" u="sng" dirty="0">
              <a:latin typeface="游ゴシック" panose="020B0400000000000000" pitchFamily="50" charset="-128"/>
              <a:ea typeface="游ゴシック" panose="020B0400000000000000" pitchFamily="50" charset="-128"/>
              <a:cs typeface="Meiryo UI" panose="020B0604030504040204" pitchFamily="50" charset="-128"/>
            </a:endParaRPr>
          </a:p>
          <a:p>
            <a:pPr algn="ctr">
              <a:lnSpc>
                <a:spcPct val="150000"/>
              </a:lnSpc>
            </a:pPr>
            <a:r>
              <a:rPr lang="ja-JP" altLang="en-US" sz="1400" dirty="0">
                <a:latin typeface="游ゴシック" panose="020B0400000000000000" pitchFamily="50" charset="-128"/>
                <a:ea typeface="游ゴシック" panose="020B0400000000000000" pitchFamily="50" charset="-128"/>
              </a:rPr>
              <a:t>障害発生時の業務影響を極力抑えるために可用性の高い構成であることが必要と考えております。</a:t>
            </a:r>
            <a:endParaRPr lang="en-US" altLang="ja-JP" sz="1400" dirty="0">
              <a:latin typeface="游ゴシック" panose="020B0400000000000000" pitchFamily="50" charset="-128"/>
              <a:ea typeface="游ゴシック" panose="020B0400000000000000" pitchFamily="50" charset="-128"/>
            </a:endParaRPr>
          </a:p>
          <a:p>
            <a:pPr algn="ctr">
              <a:lnSpc>
                <a:spcPct val="150000"/>
              </a:lnSpc>
            </a:pPr>
            <a:r>
              <a:rPr lang="en-US" altLang="ja-JP" sz="1400" dirty="0">
                <a:latin typeface="游ゴシック" panose="020B0400000000000000" pitchFamily="50" charset="-128"/>
                <a:ea typeface="游ゴシック" panose="020B0400000000000000" pitchFamily="50" charset="-128"/>
              </a:rPr>
              <a:t>Oracle</a:t>
            </a:r>
            <a:r>
              <a:rPr lang="ja-JP" altLang="en-US" sz="1400" dirty="0">
                <a:latin typeface="游ゴシック" panose="020B0400000000000000" pitchFamily="50" charset="-128"/>
                <a:ea typeface="游ゴシック" panose="020B0400000000000000" pitchFamily="50" charset="-128"/>
              </a:rPr>
              <a:t>のエディションの制限がなく</a:t>
            </a:r>
            <a:r>
              <a:rPr lang="en-US" altLang="ja-JP" sz="1400" dirty="0">
                <a:latin typeface="游ゴシック" panose="020B0400000000000000" pitchFamily="50" charset="-128"/>
                <a:ea typeface="游ゴシック" panose="020B0400000000000000" pitchFamily="50" charset="-128"/>
              </a:rPr>
              <a:t>Oracle</a:t>
            </a:r>
            <a:r>
              <a:rPr lang="ja-JP" altLang="en-US" sz="1400" dirty="0">
                <a:latin typeface="游ゴシック" panose="020B0400000000000000" pitchFamily="50" charset="-128"/>
                <a:ea typeface="游ゴシック" panose="020B0400000000000000" pitchFamily="50" charset="-128"/>
              </a:rPr>
              <a:t> </a:t>
            </a:r>
            <a:r>
              <a:rPr lang="en-US" altLang="ja-JP" sz="1400" dirty="0">
                <a:latin typeface="游ゴシック" panose="020B0400000000000000" pitchFamily="50" charset="-128"/>
                <a:ea typeface="游ゴシック" panose="020B0400000000000000" pitchFamily="50" charset="-128"/>
              </a:rPr>
              <a:t>RAC</a:t>
            </a:r>
            <a:r>
              <a:rPr lang="ja-JP" altLang="en-US" sz="1400" dirty="0">
                <a:latin typeface="游ゴシック" panose="020B0400000000000000" pitchFamily="50" charset="-128"/>
                <a:ea typeface="游ゴシック" panose="020B0400000000000000" pitchFamily="50" charset="-128"/>
              </a:rPr>
              <a:t>構成と比べて</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コストメリットの高いクラスター構成とすることをご提案させて頂きます。</a:t>
            </a:r>
            <a:endParaRPr lang="en-US" altLang="ja-JP" sz="1400" dirty="0">
              <a:latin typeface="游ゴシック" panose="020B0400000000000000" pitchFamily="50" charset="-128"/>
              <a:ea typeface="游ゴシック" panose="020B0400000000000000" pitchFamily="50" charset="-128"/>
            </a:endParaRPr>
          </a:p>
        </p:txBody>
      </p:sp>
      <p:sp>
        <p:nvSpPr>
          <p:cNvPr id="43" name="テキスト ボックス 42"/>
          <p:cNvSpPr txBox="1">
            <a:spLocks/>
          </p:cNvSpPr>
          <p:nvPr/>
        </p:nvSpPr>
        <p:spPr>
          <a:xfrm>
            <a:off x="144000" y="5832000"/>
            <a:ext cx="8856000" cy="540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上記は現時点での弊社からのご提案となります。冗長化構成につきましては、プロジェクト開始後に貴社と協議の上、実施可否を含め詳細を決定させて頂きます。</a:t>
            </a:r>
            <a:endParaRPr lang="en-US" altLang="ja-JP" sz="1400" dirty="0">
              <a:latin typeface="游ゴシック" panose="020B0400000000000000" pitchFamily="50" charset="-128"/>
              <a:ea typeface="游ゴシック" panose="020B0400000000000000" pitchFamily="50" charset="-128"/>
            </a:endParaRPr>
          </a:p>
        </p:txBody>
      </p:sp>
      <p:sp>
        <p:nvSpPr>
          <p:cNvPr id="50" name="角丸四角形 49"/>
          <p:cNvSpPr/>
          <p:nvPr/>
        </p:nvSpPr>
        <p:spPr>
          <a:xfrm>
            <a:off x="1188000" y="2772000"/>
            <a:ext cx="2448000" cy="1440000"/>
          </a:xfrm>
          <a:prstGeom prst="roundRect">
            <a:avLst>
              <a:gd name="adj" fmla="val 4410"/>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108000" rIns="108000" rtlCol="0" anchor="t" anchorCtr="0"/>
          <a:lstStyle/>
          <a:p>
            <a:pPr algn="ctr"/>
            <a:r>
              <a:rPr kumimoji="1" lang="en-US" altLang="ja-JP" sz="1400" b="1" dirty="0">
                <a:solidFill>
                  <a:schemeClr val="tx1"/>
                </a:solidFill>
                <a:latin typeface="游ゴシック" panose="020B0400000000000000" pitchFamily="50" charset="-128"/>
                <a:ea typeface="游ゴシック" panose="020B0400000000000000" pitchFamily="50" charset="-128"/>
              </a:rPr>
              <a:t>DB</a:t>
            </a:r>
            <a:r>
              <a:rPr kumimoji="1" lang="ja-JP" altLang="en-US" sz="1400" b="1" dirty="0">
                <a:solidFill>
                  <a:schemeClr val="tx1"/>
                </a:solidFill>
                <a:latin typeface="游ゴシック" panose="020B0400000000000000" pitchFamily="50" charset="-128"/>
                <a:ea typeface="游ゴシック" panose="020B0400000000000000" pitchFamily="50" charset="-128"/>
              </a:rPr>
              <a:t>サーバ</a:t>
            </a:r>
          </a:p>
        </p:txBody>
      </p:sp>
      <p:pic>
        <p:nvPicPr>
          <p:cNvPr id="45" name="図 4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4000" y="3204001"/>
            <a:ext cx="576000" cy="821721"/>
          </a:xfrm>
          <a:prstGeom prst="rect">
            <a:avLst/>
          </a:prstGeom>
        </p:spPr>
      </p:pic>
      <p:pic>
        <p:nvPicPr>
          <p:cNvPr id="44" name="図 4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32000" y="2880000"/>
            <a:ext cx="302930" cy="548999"/>
          </a:xfrm>
          <a:prstGeom prst="rect">
            <a:avLst/>
          </a:prstGeom>
        </p:spPr>
      </p:pic>
      <p:sp>
        <p:nvSpPr>
          <p:cNvPr id="58" name="角丸四角形 57"/>
          <p:cNvSpPr/>
          <p:nvPr/>
        </p:nvSpPr>
        <p:spPr>
          <a:xfrm>
            <a:off x="5508000" y="2772000"/>
            <a:ext cx="2448000" cy="1440000"/>
          </a:xfrm>
          <a:prstGeom prst="roundRect">
            <a:avLst>
              <a:gd name="adj" fmla="val 4410"/>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216000" rIns="108000" rtlCol="0" anchor="t" anchorCtr="0"/>
          <a:lstStyle/>
          <a:p>
            <a:pPr algn="ctr"/>
            <a:r>
              <a:rPr kumimoji="1" lang="en-US" altLang="ja-JP" sz="1400" b="1" dirty="0">
                <a:solidFill>
                  <a:schemeClr val="tx1"/>
                </a:solidFill>
                <a:latin typeface="游ゴシック" panose="020B0400000000000000" pitchFamily="50" charset="-128"/>
                <a:ea typeface="游ゴシック" panose="020B0400000000000000" pitchFamily="50" charset="-128"/>
              </a:rPr>
              <a:t>DB</a:t>
            </a:r>
            <a:r>
              <a:rPr kumimoji="1" lang="ja-JP" altLang="en-US" sz="1400" b="1" dirty="0">
                <a:solidFill>
                  <a:schemeClr val="tx1"/>
                </a:solidFill>
                <a:latin typeface="游ゴシック" panose="020B0400000000000000" pitchFamily="50" charset="-128"/>
                <a:ea typeface="游ゴシック" panose="020B0400000000000000" pitchFamily="50" charset="-128"/>
              </a:rPr>
              <a:t>サーバ</a:t>
            </a:r>
            <a:r>
              <a:rPr kumimoji="1" lang="en-US" altLang="ja-JP" sz="1400" b="1" dirty="0">
                <a:solidFill>
                  <a:schemeClr val="tx1"/>
                </a:solidFill>
                <a:latin typeface="游ゴシック" panose="020B0400000000000000" pitchFamily="50" charset="-128"/>
                <a:ea typeface="游ゴシック" panose="020B0400000000000000" pitchFamily="50" charset="-128"/>
              </a:rPr>
              <a:t>(</a:t>
            </a:r>
            <a:r>
              <a:rPr lang="ja-JP" altLang="en-US" sz="1400" b="1" dirty="0">
                <a:solidFill>
                  <a:schemeClr val="tx1"/>
                </a:solidFill>
                <a:latin typeface="游ゴシック" panose="020B0400000000000000" pitchFamily="50" charset="-128"/>
                <a:ea typeface="游ゴシック" panose="020B0400000000000000" pitchFamily="50" charset="-128"/>
              </a:rPr>
              <a:t>待機系</a:t>
            </a:r>
            <a:r>
              <a:rPr lang="en-US" altLang="ja-JP" sz="1400" b="1" dirty="0">
                <a:solidFill>
                  <a:schemeClr val="tx1"/>
                </a:solidFill>
                <a:latin typeface="游ゴシック" panose="020B0400000000000000" pitchFamily="50" charset="-128"/>
                <a:ea typeface="游ゴシック" panose="020B0400000000000000" pitchFamily="50" charset="-128"/>
              </a:rPr>
              <a:t>)</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pic>
        <p:nvPicPr>
          <p:cNvPr id="59" name="図 58"/>
          <p:cNvPicPr>
            <a:picLocks noChangeAspect="1"/>
          </p:cNvPicPr>
          <p:nvPr/>
        </p:nvPicPr>
        <p:blipFill>
          <a:blip r:embed="rId2"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444000" y="3238334"/>
            <a:ext cx="576000" cy="821720"/>
          </a:xfrm>
          <a:prstGeom prst="rect">
            <a:avLst/>
          </a:prstGeom>
        </p:spPr>
      </p:pic>
      <p:pic>
        <p:nvPicPr>
          <p:cNvPr id="60" name="図 59"/>
          <p:cNvPicPr>
            <a:picLocks noChangeAspect="1"/>
          </p:cNvPicPr>
          <p:nvPr/>
        </p:nvPicPr>
        <p:blipFill>
          <a:blip r:embed="rId3"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652000" y="2880000"/>
            <a:ext cx="302930" cy="548999"/>
          </a:xfrm>
          <a:prstGeom prst="rect">
            <a:avLst/>
          </a:prstGeom>
        </p:spPr>
      </p:pic>
      <p:sp>
        <p:nvSpPr>
          <p:cNvPr id="62" name="角丸四角形 61"/>
          <p:cNvSpPr/>
          <p:nvPr/>
        </p:nvSpPr>
        <p:spPr>
          <a:xfrm>
            <a:off x="1332000" y="2376000"/>
            <a:ext cx="2160000" cy="288000"/>
          </a:xfrm>
          <a:prstGeom prst="roundRect">
            <a:avLst>
              <a:gd name="adj" fmla="val 50000"/>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Active</a:t>
            </a:r>
            <a:endParaRPr kumimoji="1" lang="ja-JP" altLang="en-US" sz="1400" b="1" dirty="0">
              <a:latin typeface="游ゴシック" panose="020B0400000000000000" pitchFamily="50" charset="-128"/>
              <a:ea typeface="游ゴシック" panose="020B0400000000000000" pitchFamily="50" charset="-128"/>
            </a:endParaRPr>
          </a:p>
        </p:txBody>
      </p:sp>
      <p:sp>
        <p:nvSpPr>
          <p:cNvPr id="63" name="角丸四角形 62"/>
          <p:cNvSpPr/>
          <p:nvPr/>
        </p:nvSpPr>
        <p:spPr>
          <a:xfrm>
            <a:off x="5652000" y="2376000"/>
            <a:ext cx="2160000" cy="288000"/>
          </a:xfrm>
          <a:prstGeom prst="roundRect">
            <a:avLst>
              <a:gd name="adj" fmla="val 5000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Standby</a:t>
            </a:r>
            <a:endParaRPr kumimoji="1" lang="ja-JP" altLang="en-US" sz="1400" b="1" dirty="0">
              <a:latin typeface="游ゴシック" panose="020B0400000000000000" pitchFamily="50" charset="-128"/>
              <a:ea typeface="游ゴシック" panose="020B0400000000000000" pitchFamily="50" charset="-128"/>
            </a:endParaRPr>
          </a:p>
        </p:txBody>
      </p:sp>
      <p:pic>
        <p:nvPicPr>
          <p:cNvPr id="64" name="図 6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84000" y="3816000"/>
            <a:ext cx="576000" cy="821720"/>
          </a:xfrm>
          <a:prstGeom prst="rect">
            <a:avLst/>
          </a:prstGeom>
        </p:spPr>
      </p:pic>
      <p:cxnSp>
        <p:nvCxnSpPr>
          <p:cNvPr id="66" name="直線コネクタ 65"/>
          <p:cNvCxnSpPr>
            <a:stCxn id="45" idx="3"/>
            <a:endCxn id="64" idx="1"/>
          </p:cNvCxnSpPr>
          <p:nvPr/>
        </p:nvCxnSpPr>
        <p:spPr>
          <a:xfrm>
            <a:off x="2700000" y="3614862"/>
            <a:ext cx="1584000" cy="611998"/>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7" name="直線コネクタ 66"/>
          <p:cNvCxnSpPr>
            <a:stCxn id="59" idx="1"/>
            <a:endCxn id="64" idx="3"/>
          </p:cNvCxnSpPr>
          <p:nvPr/>
        </p:nvCxnSpPr>
        <p:spPr>
          <a:xfrm flipH="1">
            <a:off x="4860000" y="3649194"/>
            <a:ext cx="1584000" cy="577666"/>
          </a:xfrm>
          <a:prstGeom prst="line">
            <a:avLst/>
          </a:prstGeom>
          <a:ln w="28575">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70" name="右矢印 69"/>
          <p:cNvSpPr/>
          <p:nvPr/>
        </p:nvSpPr>
        <p:spPr>
          <a:xfrm>
            <a:off x="3528000" y="2448000"/>
            <a:ext cx="2088000" cy="1080000"/>
          </a:xfrm>
          <a:prstGeom prst="rightArrow">
            <a:avLst>
              <a:gd name="adj1" fmla="val 70143"/>
              <a:gd name="adj2" fmla="val 50000"/>
            </a:avLst>
          </a:prstGeom>
          <a:solidFill>
            <a:schemeClr val="accent2">
              <a:lumMod val="20000"/>
              <a:lumOff val="80000"/>
            </a:schemeClr>
          </a:solidFill>
        </p:spPr>
        <p:style>
          <a:lnRef idx="3">
            <a:schemeClr val="lt1"/>
          </a:lnRef>
          <a:fillRef idx="1">
            <a:schemeClr val="accent1"/>
          </a:fillRef>
          <a:effectRef idx="1">
            <a:schemeClr val="accent1"/>
          </a:effectRef>
          <a:fontRef idx="minor">
            <a:schemeClr val="lt1"/>
          </a:fontRef>
        </p:style>
        <p:txBody>
          <a:bodyPr lIns="72000" rIns="72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cs typeface="Meiryo UI" panose="020B0604030504040204" pitchFamily="50" charset="-128"/>
              </a:rPr>
              <a:t>障害発生時には</a:t>
            </a:r>
            <a:endParaRPr lang="en-US" altLang="ja-JP" sz="1400" dirty="0">
              <a:solidFill>
                <a:schemeClr val="tx1"/>
              </a:solidFill>
              <a:latin typeface="游ゴシック" panose="020B0400000000000000" pitchFamily="50" charset="-128"/>
              <a:ea typeface="游ゴシック" panose="020B0400000000000000" pitchFamily="50" charset="-128"/>
              <a:cs typeface="Meiryo UI" panose="020B0604030504040204"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cs typeface="Meiryo UI" panose="020B0604030504040204" pitchFamily="50" charset="-128"/>
              </a:rPr>
              <a:t>待機系に自動的にフェールオーバー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cxnSp>
        <p:nvCxnSpPr>
          <p:cNvPr id="77" name="曲線コネクタ 76"/>
          <p:cNvCxnSpPr>
            <a:stCxn id="75" idx="1"/>
            <a:endCxn id="71" idx="2"/>
          </p:cNvCxnSpPr>
          <p:nvPr/>
        </p:nvCxnSpPr>
        <p:spPr>
          <a:xfrm rot="10800000">
            <a:off x="2412000" y="4608001"/>
            <a:ext cx="1836000" cy="658687"/>
          </a:xfrm>
          <a:prstGeom prst="curvedConnector2">
            <a:avLst/>
          </a:prstGeom>
          <a:ln w="28575">
            <a:solidFill>
              <a:schemeClr val="accent3"/>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8" name="曲線コネクタ 77"/>
          <p:cNvCxnSpPr>
            <a:stCxn id="75" idx="3"/>
            <a:endCxn id="72" idx="2"/>
          </p:cNvCxnSpPr>
          <p:nvPr/>
        </p:nvCxnSpPr>
        <p:spPr>
          <a:xfrm flipV="1">
            <a:off x="4938821" y="4608000"/>
            <a:ext cx="1793179" cy="658687"/>
          </a:xfrm>
          <a:prstGeom prst="curvedConnector2">
            <a:avLst/>
          </a:prstGeom>
          <a:ln w="28575">
            <a:solidFill>
              <a:schemeClr val="accent3"/>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71" name="角丸四角形 70"/>
          <p:cNvSpPr/>
          <p:nvPr/>
        </p:nvSpPr>
        <p:spPr>
          <a:xfrm>
            <a:off x="1908000" y="4320000"/>
            <a:ext cx="1008000" cy="288000"/>
          </a:xfrm>
          <a:prstGeom prst="roundRect">
            <a:avLst>
              <a:gd name="adj" fmla="val 50000"/>
            </a:avLst>
          </a:prstGeom>
          <a:solidFill>
            <a:schemeClr val="bg1"/>
          </a:solidFill>
          <a:ln w="28575">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solidFill>
                  <a:schemeClr val="tx1"/>
                </a:solidFill>
                <a:latin typeface="游ゴシック" panose="020B0400000000000000" pitchFamily="50" charset="-128"/>
                <a:ea typeface="游ゴシック" panose="020B0400000000000000" pitchFamily="50" charset="-128"/>
              </a:rPr>
              <a:t>VIP</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72" name="角丸四角形 71"/>
          <p:cNvSpPr/>
          <p:nvPr/>
        </p:nvSpPr>
        <p:spPr>
          <a:xfrm>
            <a:off x="6228000" y="4320000"/>
            <a:ext cx="1008000" cy="288000"/>
          </a:xfrm>
          <a:prstGeom prst="roundRect">
            <a:avLst>
              <a:gd name="adj" fmla="val 50000"/>
            </a:avLst>
          </a:prstGeom>
          <a:solidFill>
            <a:schemeClr val="bg1"/>
          </a:solidFill>
          <a:ln w="28575">
            <a:solidFill>
              <a:schemeClr val="accent3"/>
            </a:solidFill>
            <a:prstDash val="dash"/>
          </a:ln>
        </p:spPr>
        <p:style>
          <a:lnRef idx="3">
            <a:schemeClr val="lt1"/>
          </a:lnRef>
          <a:fillRef idx="1">
            <a:schemeClr val="accent3"/>
          </a:fillRef>
          <a:effectRef idx="1">
            <a:schemeClr val="accent3"/>
          </a:effectRef>
          <a:fontRef idx="minor">
            <a:schemeClr val="lt1"/>
          </a:fontRef>
        </p:style>
        <p:txBody>
          <a:bodyPr rtlCol="0" anchor="ctr"/>
          <a:lstStyle/>
          <a:p>
            <a:pPr algn="ctr"/>
            <a:r>
              <a:rPr kumimoji="1" lang="en-US" altLang="ja-JP" sz="1400" b="1" dirty="0">
                <a:solidFill>
                  <a:schemeClr val="tx1"/>
                </a:solidFill>
                <a:latin typeface="游ゴシック" panose="020B0400000000000000" pitchFamily="50" charset="-128"/>
                <a:ea typeface="游ゴシック" panose="020B0400000000000000" pitchFamily="50" charset="-128"/>
              </a:rPr>
              <a:t>VIP</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81" name="角丸四角形 80"/>
          <p:cNvSpPr/>
          <p:nvPr/>
        </p:nvSpPr>
        <p:spPr>
          <a:xfrm>
            <a:off x="5796000" y="4824000"/>
            <a:ext cx="1872000" cy="432000"/>
          </a:xfrm>
          <a:prstGeom prst="roundRect">
            <a:avLst>
              <a:gd name="adj" fmla="val 14699"/>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kumimoji="1" lang="ja-JP" altLang="en-US" sz="1400" b="1" dirty="0">
                <a:latin typeface="游ゴシック" panose="020B0400000000000000" pitchFamily="50" charset="-128"/>
                <a:ea typeface="游ゴシック" panose="020B0400000000000000" pitchFamily="50" charset="-128"/>
              </a:rPr>
              <a:t>参照・更新可能</a:t>
            </a:r>
          </a:p>
        </p:txBody>
      </p:sp>
      <p:sp>
        <p:nvSpPr>
          <p:cNvPr id="82" name="角丸四角形 81"/>
          <p:cNvSpPr/>
          <p:nvPr/>
        </p:nvSpPr>
        <p:spPr>
          <a:xfrm>
            <a:off x="1476000" y="4824000"/>
            <a:ext cx="1872000" cy="432000"/>
          </a:xfrm>
          <a:prstGeom prst="roundRect">
            <a:avLst>
              <a:gd name="adj" fmla="val 14699"/>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b="1" dirty="0">
                <a:latin typeface="游ゴシック" panose="020B0400000000000000" pitchFamily="50" charset="-128"/>
                <a:ea typeface="游ゴシック" panose="020B0400000000000000" pitchFamily="50" charset="-128"/>
              </a:rPr>
              <a:t>参照・更新可能</a:t>
            </a:r>
          </a:p>
        </p:txBody>
      </p:sp>
      <p:pic>
        <p:nvPicPr>
          <p:cNvPr id="75" name="図 7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48000" y="4752000"/>
            <a:ext cx="690821" cy="1029373"/>
          </a:xfrm>
          <a:prstGeom prst="rect">
            <a:avLst/>
          </a:prstGeom>
        </p:spPr>
      </p:pic>
    </p:spTree>
    <p:extLst>
      <p:ext uri="{BB962C8B-B14F-4D97-AF65-F5344CB8AC3E}">
        <p14:creationId xmlns:p14="http://schemas.microsoft.com/office/powerpoint/2010/main" val="39862798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プロジェクトの進め方</a:t>
            </a:r>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3"/>
          </p:nvPr>
        </p:nvSpPr>
        <p:spPr/>
        <p:txBody>
          <a:bodyPr/>
          <a:lstStyle/>
          <a:p>
            <a:fld id="{74395F4E-A786-454B-9285-EF3DEA272B37}" type="slidenum">
              <a:rPr lang="ja-JP" altLang="en-US" smtClean="0"/>
              <a:pPr/>
              <a:t>29</a:t>
            </a:fld>
            <a:endParaRPr lang="ja-JP" altLang="en-US"/>
          </a:p>
        </p:txBody>
      </p:sp>
    </p:spTree>
    <p:extLst>
      <p:ext uri="{BB962C8B-B14F-4D97-AF65-F5344CB8AC3E}">
        <p14:creationId xmlns:p14="http://schemas.microsoft.com/office/powerpoint/2010/main" val="3388357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工程と作業概要</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30</a:t>
            </a:fld>
            <a:endParaRPr kumimoji="1" lang="ja-JP" altLang="en-US"/>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1444041388"/>
              </p:ext>
            </p:extLst>
          </p:nvPr>
        </p:nvGraphicFramePr>
        <p:xfrm>
          <a:off x="144000" y="864005"/>
          <a:ext cx="8856000" cy="5508740"/>
        </p:xfrm>
        <a:graphic>
          <a:graphicData uri="http://schemas.openxmlformats.org/drawingml/2006/table">
            <a:tbl>
              <a:tblPr firstRow="1">
                <a:tableStyleId>{5C22544A-7EE6-4342-B048-85BDC9FD1C3A}</a:tableStyleId>
              </a:tblPr>
              <a:tblGrid>
                <a:gridCol w="2028832">
                  <a:extLst>
                    <a:ext uri="{9D8B030D-6E8A-4147-A177-3AD203B41FA5}">
                      <a16:colId xmlns:a16="http://schemas.microsoft.com/office/drawing/2014/main" val="20000"/>
                    </a:ext>
                  </a:extLst>
                </a:gridCol>
                <a:gridCol w="6827168">
                  <a:extLst>
                    <a:ext uri="{9D8B030D-6E8A-4147-A177-3AD203B41FA5}">
                      <a16:colId xmlns:a16="http://schemas.microsoft.com/office/drawing/2014/main" val="20001"/>
                    </a:ext>
                  </a:extLst>
                </a:gridCol>
              </a:tblGrid>
              <a:tr h="285719">
                <a:tc>
                  <a:txBody>
                    <a:bodyPr/>
                    <a:lstStyle/>
                    <a:p>
                      <a:r>
                        <a:rPr kumimoji="1" lang="ja-JP" altLang="en-US" sz="1400" dirty="0">
                          <a:latin typeface="游ゴシック" panose="020B0400000000000000" pitchFamily="50" charset="-128"/>
                          <a:ea typeface="游ゴシック" panose="020B0400000000000000" pitchFamily="50" charset="-128"/>
                        </a:rPr>
                        <a:t>工程</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作業概要</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593738">
                <a:tc>
                  <a:txBody>
                    <a:bodyPr/>
                    <a:lstStyle/>
                    <a:p>
                      <a:r>
                        <a:rPr kumimoji="1" lang="ja-JP" altLang="en-US" sz="1400" b="0" dirty="0">
                          <a:latin typeface="游ゴシック" panose="020B0400000000000000" pitchFamily="50" charset="-128"/>
                          <a:ea typeface="游ゴシック" panose="020B0400000000000000" pitchFamily="50" charset="-128"/>
                        </a:rPr>
                        <a:t>システム方式設計 </a:t>
                      </a:r>
                      <a:r>
                        <a:rPr kumimoji="1" lang="en-US" altLang="ja-JP" sz="1400" b="0" dirty="0">
                          <a:latin typeface="游ゴシック" panose="020B0400000000000000" pitchFamily="50" charset="-128"/>
                          <a:ea typeface="游ゴシック" panose="020B0400000000000000" pitchFamily="50" charset="-128"/>
                        </a:rPr>
                        <a:t>(SA)</a:t>
                      </a:r>
                      <a:r>
                        <a:rPr kumimoji="1" lang="ja-JP" altLang="en-US" sz="1400" b="0" dirty="0">
                          <a:latin typeface="游ゴシック" panose="020B0400000000000000" pitchFamily="50" charset="-128"/>
                          <a:ea typeface="游ゴシック" panose="020B0400000000000000" pitchFamily="50" charset="-128"/>
                        </a:rPr>
                        <a:t>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機能については現行踏襲を原則として要件を定義します。また、性能要件、運用要件などの非機能要件を定義します。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593738">
                <a:tc>
                  <a:txBody>
                    <a:bodyPr/>
                    <a:lstStyle/>
                    <a:p>
                      <a:r>
                        <a:rPr kumimoji="1" lang="ja-JP" altLang="en-US" sz="1400" b="0" dirty="0">
                          <a:latin typeface="游ゴシック" panose="020B0400000000000000" pitchFamily="50" charset="-128"/>
                          <a:ea typeface="游ゴシック" panose="020B0400000000000000" pitchFamily="50" charset="-128"/>
                        </a:rPr>
                        <a:t>ユーザインタフェース設計 </a:t>
                      </a:r>
                      <a:r>
                        <a:rPr kumimoji="1" lang="en-US" altLang="ja-JP" sz="1400" b="0" dirty="0">
                          <a:latin typeface="游ゴシック" panose="020B0400000000000000" pitchFamily="50" charset="-128"/>
                          <a:ea typeface="游ゴシック" panose="020B0400000000000000" pitchFamily="50" charset="-128"/>
                        </a:rPr>
                        <a:t>(UI)</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プロセス構造およびデータ構造の検討を行い、システム内の処理の流れを整理しプロセス機能（画面・帳票・バッチ）を決定します。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349258">
                <a:tc>
                  <a:txBody>
                    <a:bodyPr/>
                    <a:lstStyle/>
                    <a:p>
                      <a:r>
                        <a:rPr kumimoji="1" lang="ja-JP" altLang="en-US" sz="1400" b="0" dirty="0">
                          <a:latin typeface="游ゴシック" panose="020B0400000000000000" pitchFamily="50" charset="-128"/>
                          <a:ea typeface="游ゴシック" panose="020B0400000000000000" pitchFamily="50" charset="-128"/>
                        </a:rPr>
                        <a:t>システム構造設計 </a:t>
                      </a:r>
                      <a:r>
                        <a:rPr kumimoji="1" lang="en-US" altLang="ja-JP" sz="1400" b="0" dirty="0">
                          <a:latin typeface="游ゴシック" panose="020B0400000000000000" pitchFamily="50" charset="-128"/>
                          <a:ea typeface="游ゴシック" panose="020B0400000000000000" pitchFamily="50" charset="-128"/>
                        </a:rPr>
                        <a:t>(SS)</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プロセスを機能単位でプログラムに分割し、個々のプログラムの機能を定義します。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593738">
                <a:tc>
                  <a:txBody>
                    <a:bodyPr/>
                    <a:lstStyle/>
                    <a:p>
                      <a:r>
                        <a:rPr kumimoji="1" lang="ja-JP" altLang="en-US" sz="1400" b="0" dirty="0">
                          <a:latin typeface="游ゴシック" panose="020B0400000000000000" pitchFamily="50" charset="-128"/>
                          <a:ea typeface="游ゴシック" panose="020B0400000000000000" pitchFamily="50" charset="-128"/>
                        </a:rPr>
                        <a:t>プログラミング </a:t>
                      </a:r>
                      <a:r>
                        <a:rPr kumimoji="1" lang="en-US" altLang="ja-JP" sz="1400" b="0" dirty="0">
                          <a:latin typeface="游ゴシック" panose="020B0400000000000000" pitchFamily="50" charset="-128"/>
                          <a:ea typeface="游ゴシック" panose="020B0400000000000000" pitchFamily="50" charset="-128"/>
                        </a:rPr>
                        <a:t>(PS/PG/PT)</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kumimoji="1" lang="ja-JP" altLang="en-US" sz="1400" dirty="0">
                          <a:latin typeface="游ゴシック" panose="020B0400000000000000" pitchFamily="50" charset="-128"/>
                          <a:ea typeface="游ゴシック" panose="020B0400000000000000" pitchFamily="50" charset="-128"/>
                        </a:rPr>
                        <a:t>プログラミングを実施します。また、実装したプログラムが設計通りかを検証します。プログラム設計</a:t>
                      </a:r>
                      <a:r>
                        <a:rPr kumimoji="1" lang="en-US" altLang="ja-JP" sz="1400" dirty="0">
                          <a:latin typeface="游ゴシック" panose="020B0400000000000000" pitchFamily="50" charset="-128"/>
                          <a:ea typeface="游ゴシック" panose="020B0400000000000000" pitchFamily="50" charset="-128"/>
                        </a:rPr>
                        <a:t>(PS)</a:t>
                      </a:r>
                      <a:r>
                        <a:rPr kumimoji="1" lang="ja-JP" altLang="en-US" sz="1400" dirty="0">
                          <a:latin typeface="游ゴシック" panose="020B0400000000000000" pitchFamily="50" charset="-128"/>
                          <a:ea typeface="游ゴシック" panose="020B0400000000000000" pitchFamily="50" charset="-128"/>
                        </a:rPr>
                        <a:t>としてのドキュメント作成は実施いたしません。</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49258">
                <a:tc>
                  <a:txBody>
                    <a:bodyPr/>
                    <a:lstStyle/>
                    <a:p>
                      <a:r>
                        <a:rPr kumimoji="1" lang="ja-JP" altLang="en-US" sz="1400" b="0" dirty="0">
                          <a:latin typeface="游ゴシック" panose="020B0400000000000000" pitchFamily="50" charset="-128"/>
                          <a:ea typeface="游ゴシック" panose="020B0400000000000000" pitchFamily="50" charset="-128"/>
                        </a:rPr>
                        <a:t>結合テスト </a:t>
                      </a:r>
                      <a:r>
                        <a:rPr kumimoji="1" lang="en-US" altLang="ja-JP" sz="1400" b="0" dirty="0">
                          <a:latin typeface="游ゴシック" panose="020B0400000000000000" pitchFamily="50" charset="-128"/>
                          <a:ea typeface="游ゴシック" panose="020B0400000000000000" pitchFamily="50" charset="-128"/>
                        </a:rPr>
                        <a:t>(IT)</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弊社内の環境にて、結合テストを実施し、品質を検証します。</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593738">
                <a:tc>
                  <a:txBody>
                    <a:bodyPr/>
                    <a:lstStyle/>
                    <a:p>
                      <a:r>
                        <a:rPr kumimoji="1" lang="ja-JP" altLang="en-US" sz="1400" b="0" dirty="0">
                          <a:latin typeface="游ゴシック" panose="020B0400000000000000" pitchFamily="50" charset="-128"/>
                          <a:ea typeface="游ゴシック" panose="020B0400000000000000" pitchFamily="50" charset="-128"/>
                        </a:rPr>
                        <a:t>システムテスト </a:t>
                      </a:r>
                      <a:r>
                        <a:rPr kumimoji="1" lang="en-US" altLang="ja-JP" sz="1400" b="0" dirty="0">
                          <a:latin typeface="游ゴシック" panose="020B0400000000000000" pitchFamily="50" charset="-128"/>
                          <a:ea typeface="游ゴシック" panose="020B0400000000000000" pitchFamily="50" charset="-128"/>
                        </a:rPr>
                        <a:t>(ST)</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新本番環境にて、システムテストを実施し、機能、性能、信頼性、セキュリティ等の要件を充足するかを検証します。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593738">
                <a:tc>
                  <a:txBody>
                    <a:bodyPr/>
                    <a:lstStyle/>
                    <a:p>
                      <a:r>
                        <a:rPr kumimoji="1" lang="ja-JP" altLang="en-US" sz="1400" b="0" dirty="0">
                          <a:latin typeface="游ゴシック" panose="020B0400000000000000" pitchFamily="50" charset="-128"/>
                          <a:ea typeface="游ゴシック" panose="020B0400000000000000" pitchFamily="50" charset="-128"/>
                        </a:rPr>
                        <a:t>運用テスト </a:t>
                      </a:r>
                      <a:r>
                        <a:rPr kumimoji="1" lang="en-US" altLang="ja-JP" sz="1400" b="0" dirty="0">
                          <a:latin typeface="游ゴシック" panose="020B0400000000000000" pitchFamily="50" charset="-128"/>
                          <a:ea typeface="游ゴシック" panose="020B0400000000000000" pitchFamily="50" charset="-128"/>
                        </a:rPr>
                        <a:t>(OT)</a:t>
                      </a: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運用テスト環境の整備、問合せ対応等を実施します。運用テストの作業は貴社にて実施をお願いします。運用テスト環境は、貴社の新本番環境を想定します。</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5937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本番移行</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移行方式設計を実施し移行方式設計書を作成します。移行のリハーサルを実施し、手順に問題ないことを確認した上で、本番移行を実施します。</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39055325"/>
                  </a:ext>
                </a:extLst>
              </a:tr>
              <a:tr h="34925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初期流動</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切替後の初期流動期間中の問合せ対応等を実施します。</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8"/>
                  </a:ext>
                </a:extLst>
              </a:tr>
              <a:tr h="59373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プロジェクト管理</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進捗管理、課題管理、要員管理等を実施します。定例会議にてプロジェクト状況を報告します。</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887536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スケジュール</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31</a:t>
            </a:fld>
            <a:endParaRPr kumimoji="1" lang="ja-JP" altLang="en-US"/>
          </a:p>
        </p:txBody>
      </p:sp>
      <p:graphicFrame>
        <p:nvGraphicFramePr>
          <p:cNvPr id="9" name="コンテンツ プレースホルダー 5"/>
          <p:cNvGraphicFramePr>
            <a:graphicFrameLocks noGrp="1"/>
          </p:cNvGraphicFramePr>
          <p:nvPr>
            <p:ph idx="1"/>
            <p:extLst/>
          </p:nvPr>
        </p:nvGraphicFramePr>
        <p:xfrm>
          <a:off x="144464" y="863586"/>
          <a:ext cx="8855552" cy="5537214"/>
        </p:xfrm>
        <a:graphic>
          <a:graphicData uri="http://schemas.openxmlformats.org/drawingml/2006/table">
            <a:tbl>
              <a:tblPr firstRow="1" bandRow="1">
                <a:tableStyleId>{5C22544A-7EE6-4342-B048-85BDC9FD1C3A}</a:tableStyleId>
              </a:tblPr>
              <a:tblGrid>
                <a:gridCol w="363536">
                  <a:extLst>
                    <a:ext uri="{9D8B030D-6E8A-4147-A177-3AD203B41FA5}">
                      <a16:colId xmlns:a16="http://schemas.microsoft.com/office/drawing/2014/main" val="20000"/>
                    </a:ext>
                  </a:extLst>
                </a:gridCol>
                <a:gridCol w="1099036">
                  <a:extLst>
                    <a:ext uri="{9D8B030D-6E8A-4147-A177-3AD203B41FA5}">
                      <a16:colId xmlns:a16="http://schemas.microsoft.com/office/drawing/2014/main" val="3366360077"/>
                    </a:ext>
                  </a:extLst>
                </a:gridCol>
                <a:gridCol w="214176">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211228">
                  <a:extLst>
                    <a:ext uri="{9D8B030D-6E8A-4147-A177-3AD203B41FA5}">
                      <a16:colId xmlns:a16="http://schemas.microsoft.com/office/drawing/2014/main" val="20003"/>
                    </a:ext>
                  </a:extLst>
                </a:gridCol>
                <a:gridCol w="211228">
                  <a:extLst>
                    <a:ext uri="{9D8B030D-6E8A-4147-A177-3AD203B41FA5}">
                      <a16:colId xmlns:a16="http://schemas.microsoft.com/office/drawing/2014/main" val="20004"/>
                    </a:ext>
                  </a:extLst>
                </a:gridCol>
                <a:gridCol w="211228">
                  <a:extLst>
                    <a:ext uri="{9D8B030D-6E8A-4147-A177-3AD203B41FA5}">
                      <a16:colId xmlns:a16="http://schemas.microsoft.com/office/drawing/2014/main" val="20005"/>
                    </a:ext>
                  </a:extLst>
                </a:gridCol>
                <a:gridCol w="208280">
                  <a:extLst>
                    <a:ext uri="{9D8B030D-6E8A-4147-A177-3AD203B41FA5}">
                      <a16:colId xmlns:a16="http://schemas.microsoft.com/office/drawing/2014/main" val="20006"/>
                    </a:ext>
                  </a:extLst>
                </a:gridCol>
                <a:gridCol w="214176">
                  <a:extLst>
                    <a:ext uri="{9D8B030D-6E8A-4147-A177-3AD203B41FA5}">
                      <a16:colId xmlns:a16="http://schemas.microsoft.com/office/drawing/2014/main" val="20007"/>
                    </a:ext>
                  </a:extLst>
                </a:gridCol>
                <a:gridCol w="211228">
                  <a:extLst>
                    <a:ext uri="{9D8B030D-6E8A-4147-A177-3AD203B41FA5}">
                      <a16:colId xmlns:a16="http://schemas.microsoft.com/office/drawing/2014/main" val="20008"/>
                    </a:ext>
                  </a:extLst>
                </a:gridCol>
                <a:gridCol w="211228">
                  <a:extLst>
                    <a:ext uri="{9D8B030D-6E8A-4147-A177-3AD203B41FA5}">
                      <a16:colId xmlns:a16="http://schemas.microsoft.com/office/drawing/2014/main" val="20009"/>
                    </a:ext>
                  </a:extLst>
                </a:gridCol>
                <a:gridCol w="211228">
                  <a:extLst>
                    <a:ext uri="{9D8B030D-6E8A-4147-A177-3AD203B41FA5}">
                      <a16:colId xmlns:a16="http://schemas.microsoft.com/office/drawing/2014/main" val="20010"/>
                    </a:ext>
                  </a:extLst>
                </a:gridCol>
                <a:gridCol w="211228">
                  <a:extLst>
                    <a:ext uri="{9D8B030D-6E8A-4147-A177-3AD203B41FA5}">
                      <a16:colId xmlns:a16="http://schemas.microsoft.com/office/drawing/2014/main" val="20011"/>
                    </a:ext>
                  </a:extLst>
                </a:gridCol>
                <a:gridCol w="211228">
                  <a:extLst>
                    <a:ext uri="{9D8B030D-6E8A-4147-A177-3AD203B41FA5}">
                      <a16:colId xmlns:a16="http://schemas.microsoft.com/office/drawing/2014/main" val="20012"/>
                    </a:ext>
                  </a:extLst>
                </a:gridCol>
                <a:gridCol w="211228">
                  <a:extLst>
                    <a:ext uri="{9D8B030D-6E8A-4147-A177-3AD203B41FA5}">
                      <a16:colId xmlns:a16="http://schemas.microsoft.com/office/drawing/2014/main" val="20013"/>
                    </a:ext>
                  </a:extLst>
                </a:gridCol>
                <a:gridCol w="211228">
                  <a:extLst>
                    <a:ext uri="{9D8B030D-6E8A-4147-A177-3AD203B41FA5}">
                      <a16:colId xmlns:a16="http://schemas.microsoft.com/office/drawing/2014/main" val="20014"/>
                    </a:ext>
                  </a:extLst>
                </a:gridCol>
                <a:gridCol w="211228">
                  <a:extLst>
                    <a:ext uri="{9D8B030D-6E8A-4147-A177-3AD203B41FA5}">
                      <a16:colId xmlns:a16="http://schemas.microsoft.com/office/drawing/2014/main" val="20015"/>
                    </a:ext>
                  </a:extLst>
                </a:gridCol>
                <a:gridCol w="211228">
                  <a:extLst>
                    <a:ext uri="{9D8B030D-6E8A-4147-A177-3AD203B41FA5}">
                      <a16:colId xmlns:a16="http://schemas.microsoft.com/office/drawing/2014/main" val="20016"/>
                    </a:ext>
                  </a:extLst>
                </a:gridCol>
                <a:gridCol w="211228">
                  <a:extLst>
                    <a:ext uri="{9D8B030D-6E8A-4147-A177-3AD203B41FA5}">
                      <a16:colId xmlns:a16="http://schemas.microsoft.com/office/drawing/2014/main" val="20017"/>
                    </a:ext>
                  </a:extLst>
                </a:gridCol>
                <a:gridCol w="211228">
                  <a:extLst>
                    <a:ext uri="{9D8B030D-6E8A-4147-A177-3AD203B41FA5}">
                      <a16:colId xmlns:a16="http://schemas.microsoft.com/office/drawing/2014/main" val="20018"/>
                    </a:ext>
                  </a:extLst>
                </a:gridCol>
                <a:gridCol w="211228">
                  <a:extLst>
                    <a:ext uri="{9D8B030D-6E8A-4147-A177-3AD203B41FA5}">
                      <a16:colId xmlns:a16="http://schemas.microsoft.com/office/drawing/2014/main" val="20019"/>
                    </a:ext>
                  </a:extLst>
                </a:gridCol>
                <a:gridCol w="211228">
                  <a:extLst>
                    <a:ext uri="{9D8B030D-6E8A-4147-A177-3AD203B41FA5}">
                      <a16:colId xmlns:a16="http://schemas.microsoft.com/office/drawing/2014/main" val="20020"/>
                    </a:ext>
                  </a:extLst>
                </a:gridCol>
                <a:gridCol w="211228">
                  <a:extLst>
                    <a:ext uri="{9D8B030D-6E8A-4147-A177-3AD203B41FA5}">
                      <a16:colId xmlns:a16="http://schemas.microsoft.com/office/drawing/2014/main" val="20021"/>
                    </a:ext>
                  </a:extLst>
                </a:gridCol>
                <a:gridCol w="211228">
                  <a:extLst>
                    <a:ext uri="{9D8B030D-6E8A-4147-A177-3AD203B41FA5}">
                      <a16:colId xmlns:a16="http://schemas.microsoft.com/office/drawing/2014/main" val="20022"/>
                    </a:ext>
                  </a:extLst>
                </a:gridCol>
                <a:gridCol w="211228">
                  <a:extLst>
                    <a:ext uri="{9D8B030D-6E8A-4147-A177-3AD203B41FA5}">
                      <a16:colId xmlns:a16="http://schemas.microsoft.com/office/drawing/2014/main" val="20023"/>
                    </a:ext>
                  </a:extLst>
                </a:gridCol>
                <a:gridCol w="211228">
                  <a:extLst>
                    <a:ext uri="{9D8B030D-6E8A-4147-A177-3AD203B41FA5}">
                      <a16:colId xmlns:a16="http://schemas.microsoft.com/office/drawing/2014/main" val="20024"/>
                    </a:ext>
                  </a:extLst>
                </a:gridCol>
                <a:gridCol w="211228">
                  <a:extLst>
                    <a:ext uri="{9D8B030D-6E8A-4147-A177-3AD203B41FA5}">
                      <a16:colId xmlns:a16="http://schemas.microsoft.com/office/drawing/2014/main" val="20025"/>
                    </a:ext>
                  </a:extLst>
                </a:gridCol>
                <a:gridCol w="211228">
                  <a:extLst>
                    <a:ext uri="{9D8B030D-6E8A-4147-A177-3AD203B41FA5}">
                      <a16:colId xmlns:a16="http://schemas.microsoft.com/office/drawing/2014/main" val="20026"/>
                    </a:ext>
                  </a:extLst>
                </a:gridCol>
                <a:gridCol w="211228">
                  <a:extLst>
                    <a:ext uri="{9D8B030D-6E8A-4147-A177-3AD203B41FA5}">
                      <a16:colId xmlns:a16="http://schemas.microsoft.com/office/drawing/2014/main" val="4114230898"/>
                    </a:ext>
                  </a:extLst>
                </a:gridCol>
                <a:gridCol w="211228">
                  <a:extLst>
                    <a:ext uri="{9D8B030D-6E8A-4147-A177-3AD203B41FA5}">
                      <a16:colId xmlns:a16="http://schemas.microsoft.com/office/drawing/2014/main" val="1648438691"/>
                    </a:ext>
                  </a:extLst>
                </a:gridCol>
                <a:gridCol w="211228">
                  <a:extLst>
                    <a:ext uri="{9D8B030D-6E8A-4147-A177-3AD203B41FA5}">
                      <a16:colId xmlns:a16="http://schemas.microsoft.com/office/drawing/2014/main" val="2948712564"/>
                    </a:ext>
                  </a:extLst>
                </a:gridCol>
                <a:gridCol w="211228">
                  <a:extLst>
                    <a:ext uri="{9D8B030D-6E8A-4147-A177-3AD203B41FA5}">
                      <a16:colId xmlns:a16="http://schemas.microsoft.com/office/drawing/2014/main" val="1304346756"/>
                    </a:ext>
                  </a:extLst>
                </a:gridCol>
                <a:gridCol w="211228">
                  <a:extLst>
                    <a:ext uri="{9D8B030D-6E8A-4147-A177-3AD203B41FA5}">
                      <a16:colId xmlns:a16="http://schemas.microsoft.com/office/drawing/2014/main" val="3209152221"/>
                    </a:ext>
                  </a:extLst>
                </a:gridCol>
                <a:gridCol w="211228">
                  <a:extLst>
                    <a:ext uri="{9D8B030D-6E8A-4147-A177-3AD203B41FA5}">
                      <a16:colId xmlns:a16="http://schemas.microsoft.com/office/drawing/2014/main" val="20027"/>
                    </a:ext>
                  </a:extLst>
                </a:gridCol>
                <a:gridCol w="211228">
                  <a:extLst>
                    <a:ext uri="{9D8B030D-6E8A-4147-A177-3AD203B41FA5}">
                      <a16:colId xmlns:a16="http://schemas.microsoft.com/office/drawing/2014/main" val="20028"/>
                    </a:ext>
                  </a:extLst>
                </a:gridCol>
                <a:gridCol w="211228">
                  <a:extLst>
                    <a:ext uri="{9D8B030D-6E8A-4147-A177-3AD203B41FA5}">
                      <a16:colId xmlns:a16="http://schemas.microsoft.com/office/drawing/2014/main" val="20029"/>
                    </a:ext>
                  </a:extLst>
                </a:gridCol>
                <a:gridCol w="211228">
                  <a:extLst>
                    <a:ext uri="{9D8B030D-6E8A-4147-A177-3AD203B41FA5}">
                      <a16:colId xmlns:a16="http://schemas.microsoft.com/office/drawing/2014/main" val="20030"/>
                    </a:ext>
                  </a:extLst>
                </a:gridCol>
              </a:tblGrid>
              <a:tr h="161650">
                <a:tc rowSpan="2" gridSpan="2">
                  <a:txBody>
                    <a:bodyPr/>
                    <a:lstStyle/>
                    <a:p>
                      <a:r>
                        <a:rPr kumimoji="1" lang="ja-JP" altLang="en-US" sz="1400" b="1" dirty="0">
                          <a:solidFill>
                            <a:schemeClr val="bg1"/>
                          </a:solidFill>
                          <a:latin typeface="游ゴシック" panose="020B0400000000000000" pitchFamily="50" charset="-128"/>
                          <a:ea typeface="游ゴシック" panose="020B0400000000000000" pitchFamily="50" charset="-128"/>
                        </a:rPr>
                        <a:t>工程</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rowSpan="2" hMerge="1">
                  <a:txBody>
                    <a:bodyPr/>
                    <a:lstStyle/>
                    <a:p>
                      <a:endParaRPr kumimoji="1" lang="ja-JP" altLang="en-US"/>
                    </a:p>
                  </a:txBody>
                  <a:tcPr/>
                </a:tc>
                <a:tc gridSpan="4">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2019</a:t>
                      </a:r>
                      <a:r>
                        <a:rPr kumimoji="1" lang="ja-JP" altLang="en-US" sz="1400" b="1" dirty="0">
                          <a:solidFill>
                            <a:schemeClr val="bg1"/>
                          </a:solidFill>
                          <a:latin typeface="游ゴシック" panose="020B0400000000000000" pitchFamily="50" charset="-128"/>
                          <a:ea typeface="游ゴシック" panose="020B0400000000000000"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12">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2020</a:t>
                      </a:r>
                      <a:r>
                        <a:rPr kumimoji="1" lang="ja-JP" altLang="en-US" sz="1400" b="1" dirty="0">
                          <a:solidFill>
                            <a:schemeClr val="bg1"/>
                          </a:solidFill>
                          <a:latin typeface="游ゴシック" panose="020B0400000000000000" pitchFamily="50" charset="-128"/>
                          <a:ea typeface="游ゴシック" panose="020B0400000000000000"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12">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2021</a:t>
                      </a:r>
                      <a:r>
                        <a:rPr kumimoji="1" lang="ja-JP" altLang="en-US" sz="1400" b="1" dirty="0">
                          <a:solidFill>
                            <a:schemeClr val="bg1"/>
                          </a:solidFill>
                          <a:latin typeface="游ゴシック" panose="020B0400000000000000" pitchFamily="50" charset="-128"/>
                          <a:ea typeface="游ゴシック" panose="020B0400000000000000"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7">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2022</a:t>
                      </a:r>
                      <a:r>
                        <a:rPr kumimoji="1" lang="ja-JP" altLang="en-US" sz="1400" b="1" dirty="0">
                          <a:solidFill>
                            <a:schemeClr val="bg1"/>
                          </a:solidFill>
                          <a:latin typeface="游ゴシック" panose="020B0400000000000000" pitchFamily="50" charset="-128"/>
                          <a:ea typeface="游ゴシック" panose="020B0400000000000000"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extLst>
                  <a:ext uri="{0D108BD9-81ED-4DB2-BD59-A6C34878D82A}">
                    <a16:rowId xmlns:a16="http://schemas.microsoft.com/office/drawing/2014/main" val="10000"/>
                  </a:ext>
                </a:extLst>
              </a:tr>
              <a:tr h="0">
                <a:tc gridSpan="2" vMerge="1">
                  <a:txBody>
                    <a:bodyPr/>
                    <a:lstStyle/>
                    <a:p>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vMerge="1">
                  <a:txBody>
                    <a:bodyPr/>
                    <a:lstStyle/>
                    <a:p>
                      <a:endParaRPr kumimoji="1" lang="ja-JP" altLang="en-US"/>
                    </a:p>
                  </a:txBody>
                  <a:tcPr/>
                </a:tc>
                <a:tc>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3Q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3Q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1"/>
                  </a:ext>
                </a:extLst>
              </a:tr>
              <a:tr h="1631199">
                <a:tc gridSpan="2">
                  <a:txBody>
                    <a:bodyPr/>
                    <a:lstStyle/>
                    <a:p>
                      <a:r>
                        <a:rPr kumimoji="1" lang="ja-JP" altLang="en-US" sz="1400" b="0" dirty="0">
                          <a:latin typeface="游ゴシック" panose="020B0400000000000000" pitchFamily="50" charset="-128"/>
                          <a:ea typeface="游ゴシック" panose="020B0400000000000000" pitchFamily="50" charset="-128"/>
                        </a:rPr>
                        <a:t>周辺システム更新スケジュール</a:t>
                      </a:r>
                      <a:endParaRPr kumimoji="1" lang="en-US" altLang="ja-JP" sz="1400" b="0" dirty="0">
                        <a:latin typeface="游ゴシック" panose="020B0400000000000000" pitchFamily="50" charset="-128"/>
                        <a:ea typeface="游ゴシック" panose="020B0400000000000000" pitchFamily="50" charset="-128"/>
                      </a:endParaRPr>
                    </a:p>
                    <a:p>
                      <a:endParaRPr kumimoji="1" lang="en-US" altLang="ja-JP" sz="1400" b="0" dirty="0">
                        <a:latin typeface="游ゴシック" panose="020B0400000000000000" pitchFamily="50" charset="-128"/>
                        <a:ea typeface="游ゴシック" panose="020B0400000000000000" pitchFamily="50" charset="-128"/>
                      </a:endParaRPr>
                    </a:p>
                    <a:p>
                      <a:endParaRPr kumimoji="1" lang="en-US" altLang="ja-JP" sz="1400" b="0" dirty="0">
                        <a:latin typeface="游ゴシック" panose="020B0400000000000000" pitchFamily="50" charset="-128"/>
                        <a:ea typeface="游ゴシック" panose="020B0400000000000000" pitchFamily="50" charset="-128"/>
                      </a:endParaRPr>
                    </a:p>
                    <a:p>
                      <a:endParaRPr kumimoji="1" lang="en-US" altLang="ja-JP" sz="1400" b="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ja-JP" altLang="en-US"/>
                    </a:p>
                  </a:txBody>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80291">
                <a:tc gridSpan="2">
                  <a:txBody>
                    <a:bodyPr/>
                    <a:lstStyle/>
                    <a:p>
                      <a:r>
                        <a:rPr kumimoji="1" lang="ja-JP" altLang="en-US" sz="1400" b="0" dirty="0">
                          <a:latin typeface="游ゴシック" panose="020B0400000000000000" pitchFamily="50" charset="-128"/>
                          <a:ea typeface="游ゴシック" panose="020B0400000000000000" pitchFamily="50" charset="-128"/>
                        </a:rPr>
                        <a:t>現行千葉運転管理システム改修</a:t>
                      </a:r>
                      <a:endParaRPr kumimoji="1" lang="en-US" altLang="ja-JP" sz="1400" b="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en-US" altLang="ja-JP" sz="1400" b="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1172095">
                <a:tc rowSpan="3">
                  <a:txBody>
                    <a:bodyPr/>
                    <a:lstStyle/>
                    <a:p>
                      <a:r>
                        <a:rPr kumimoji="1" lang="ja-JP" altLang="en-US" sz="1400" b="1" dirty="0">
                          <a:latin typeface="游ゴシック" panose="020B0400000000000000" pitchFamily="50" charset="-128"/>
                          <a:ea typeface="游ゴシック" panose="020B0400000000000000" pitchFamily="50" charset="-128"/>
                        </a:rPr>
                        <a:t>新千葉運転管理システム</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dirty="0">
                          <a:latin typeface="游ゴシック" panose="020B0400000000000000" pitchFamily="50" charset="-128"/>
                          <a:ea typeface="游ゴシック" panose="020B0400000000000000" pitchFamily="50" charset="-128"/>
                        </a:rPr>
                        <a:t>アプリケーション開発</a:t>
                      </a:r>
                      <a:endParaRPr kumimoji="1" lang="en-US" altLang="ja-JP" sz="1400" b="1" dirty="0">
                        <a:latin typeface="游ゴシック" panose="020B0400000000000000" pitchFamily="50" charset="-128"/>
                        <a:ea typeface="游ゴシック" panose="020B0400000000000000" pitchFamily="50" charset="-128"/>
                      </a:endParaRPr>
                    </a:p>
                    <a:p>
                      <a:endParaRPr kumimoji="1" lang="en-US" altLang="ja-JP" sz="1400" b="1" dirty="0">
                        <a:latin typeface="游ゴシック" panose="020B0400000000000000" pitchFamily="50" charset="-128"/>
                        <a:ea typeface="游ゴシック" panose="020B0400000000000000" pitchFamily="50" charset="-128"/>
                      </a:endParaRPr>
                    </a:p>
                    <a:p>
                      <a:endParaRPr kumimoji="1" lang="en-US" altLang="ja-JP" sz="1400" b="1" dirty="0">
                        <a:latin typeface="游ゴシック" panose="020B0400000000000000" pitchFamily="50" charset="-128"/>
                        <a:ea typeface="游ゴシック" panose="020B0400000000000000" pitchFamily="50" charset="-128"/>
                      </a:endParaRPr>
                    </a:p>
                    <a:p>
                      <a:endParaRPr kumimoji="1" lang="en-US" altLang="ja-JP" sz="1400" b="1"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7509442"/>
                  </a:ext>
                </a:extLst>
              </a:tr>
              <a:tr h="1052945">
                <a:tc vMerge="1">
                  <a:txBody>
                    <a:bodyPr/>
                    <a:lstStyle/>
                    <a:p>
                      <a:endParaRPr kumimoji="1" lang="en-US" altLang="ja-JP" sz="1400" b="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dirty="0">
                          <a:latin typeface="游ゴシック" panose="020B0400000000000000" pitchFamily="50" charset="-128"/>
                          <a:ea typeface="游ゴシック" panose="020B0400000000000000" pitchFamily="50" charset="-128"/>
                        </a:rPr>
                        <a:t>環境構築</a:t>
                      </a:r>
                      <a:endParaRPr kumimoji="1" lang="en-US" altLang="ja-JP" sz="1400" b="1"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72655">
                <a:tc vMerge="1">
                  <a:txBody>
                    <a:bodyPr/>
                    <a:lstStyle/>
                    <a:p>
                      <a:endParaRPr kumimoji="1" lang="en-US" altLang="ja-JP" sz="1400" b="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1" dirty="0">
                          <a:latin typeface="游ゴシック" panose="020B0400000000000000" pitchFamily="50" charset="-128"/>
                          <a:ea typeface="游ゴシック" panose="020B0400000000000000" pitchFamily="50" charset="-128"/>
                        </a:rPr>
                        <a:t>本番移行</a:t>
                      </a:r>
                      <a:endParaRPr kumimoji="1" lang="en-US" altLang="ja-JP" sz="1400" b="1"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76" name="角丸四角形 75"/>
          <p:cNvSpPr/>
          <p:nvPr/>
        </p:nvSpPr>
        <p:spPr>
          <a:xfrm>
            <a:off x="1654760" y="5148000"/>
            <a:ext cx="2016000" cy="1224000"/>
          </a:xfrm>
          <a:prstGeom prst="roundRect">
            <a:avLst>
              <a:gd name="adj" fmla="val 5188"/>
            </a:avLst>
          </a:prstGeom>
          <a:solidFill>
            <a:schemeClr val="bg1"/>
          </a:solidFill>
          <a:ln>
            <a:solidFill>
              <a:schemeClr val="accent3"/>
            </a:solidFill>
          </a:ln>
        </p:spPr>
        <p:style>
          <a:lnRef idx="2">
            <a:schemeClr val="accent3"/>
          </a:lnRef>
          <a:fillRef idx="1">
            <a:schemeClr val="lt1"/>
          </a:fillRef>
          <a:effectRef idx="0">
            <a:schemeClr val="accent3"/>
          </a:effectRef>
          <a:fontRef idx="minor">
            <a:schemeClr val="dk1"/>
          </a:fontRef>
        </p:style>
        <p:txBody>
          <a:bodyPr rtlCol="0" anchor="t" anchorCtr="0"/>
          <a:lstStyle/>
          <a:p>
            <a:pPr>
              <a:spcBef>
                <a:spcPts val="300"/>
              </a:spcBef>
            </a:pPr>
            <a:r>
              <a:rPr kumimoji="1" lang="ja-JP" altLang="en-US" sz="1200" dirty="0">
                <a:latin typeface="游ゴシック" panose="020B0400000000000000" pitchFamily="50" charset="-128"/>
                <a:ea typeface="游ゴシック" panose="020B0400000000000000" pitchFamily="50" charset="-128"/>
              </a:rPr>
              <a:t>凡例</a:t>
            </a:r>
            <a:endParaRPr kumimoji="1" lang="en-US" altLang="ja-JP" sz="1200" dirty="0">
              <a:latin typeface="游ゴシック" panose="020B0400000000000000" pitchFamily="50" charset="-128"/>
              <a:ea typeface="游ゴシック" panose="020B0400000000000000" pitchFamily="50" charset="-128"/>
            </a:endParaRPr>
          </a:p>
          <a:p>
            <a:pPr>
              <a:spcBef>
                <a:spcPts val="300"/>
              </a:spcBef>
            </a:pPr>
            <a:r>
              <a:rPr lang="ja-JP" altLang="en-US" sz="1200" dirty="0">
                <a:latin typeface="游ゴシック" panose="020B0400000000000000" pitchFamily="50" charset="-128"/>
                <a:ea typeface="游ゴシック" panose="020B0400000000000000" pitchFamily="50" charset="-128"/>
              </a:rPr>
              <a:t>　　　　周辺ｼｽﾃﾑｽｹｼﾞｭｰﾙ</a:t>
            </a:r>
            <a:endParaRPr lang="en-US" altLang="ja-JP" sz="1200" dirty="0">
              <a:latin typeface="游ゴシック" panose="020B0400000000000000" pitchFamily="50" charset="-128"/>
              <a:ea typeface="游ゴシック" panose="020B0400000000000000" pitchFamily="50" charset="-128"/>
            </a:endParaRPr>
          </a:p>
          <a:p>
            <a:pPr>
              <a:spcBef>
                <a:spcPts val="300"/>
              </a:spcBef>
            </a:pPr>
            <a:r>
              <a:rPr kumimoji="1" lang="ja-JP" altLang="en-US" sz="1200" dirty="0">
                <a:latin typeface="游ゴシック" panose="020B0400000000000000" pitchFamily="50" charset="-128"/>
                <a:ea typeface="游ゴシック" panose="020B0400000000000000" pitchFamily="50" charset="-128"/>
              </a:rPr>
              <a:t>　　　　弊社主体作業</a:t>
            </a:r>
            <a:endParaRPr kumimoji="1" lang="en-US" altLang="ja-JP" sz="1200" dirty="0">
              <a:latin typeface="游ゴシック" panose="020B0400000000000000" pitchFamily="50" charset="-128"/>
              <a:ea typeface="游ゴシック" panose="020B0400000000000000" pitchFamily="50" charset="-128"/>
            </a:endParaRPr>
          </a:p>
          <a:p>
            <a:pPr>
              <a:spcBef>
                <a:spcPts val="300"/>
              </a:spcBef>
            </a:pPr>
            <a:r>
              <a:rPr lang="ja-JP" altLang="en-US" sz="1200" dirty="0">
                <a:latin typeface="游ゴシック" panose="020B0400000000000000" pitchFamily="50" charset="-128"/>
                <a:ea typeface="游ゴシック" panose="020B0400000000000000" pitchFamily="50" charset="-128"/>
              </a:rPr>
              <a:t>　　　　貴社主体作業</a:t>
            </a:r>
            <a:endParaRPr lang="en-US" altLang="ja-JP" sz="1200" dirty="0">
              <a:latin typeface="游ゴシック" panose="020B0400000000000000" pitchFamily="50" charset="-128"/>
              <a:ea typeface="游ゴシック" panose="020B0400000000000000" pitchFamily="50" charset="-128"/>
            </a:endParaRPr>
          </a:p>
          <a:p>
            <a:pPr>
              <a:spcBef>
                <a:spcPts val="300"/>
              </a:spcBef>
            </a:pPr>
            <a:r>
              <a:rPr kumimoji="1" lang="ja-JP" altLang="en-US" sz="1200" dirty="0">
                <a:latin typeface="游ゴシック" panose="020B0400000000000000" pitchFamily="50" charset="-128"/>
                <a:ea typeface="游ゴシック" panose="020B0400000000000000" pitchFamily="50" charset="-128"/>
              </a:rPr>
              <a:t>　　　　本提案範囲</a:t>
            </a:r>
          </a:p>
        </p:txBody>
      </p:sp>
      <p:cxnSp>
        <p:nvCxnSpPr>
          <p:cNvPr id="77" name="直線コネクタ 76"/>
          <p:cNvCxnSpPr/>
          <p:nvPr/>
        </p:nvCxnSpPr>
        <p:spPr>
          <a:xfrm>
            <a:off x="1836000" y="5521752"/>
            <a:ext cx="360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grpSp>
        <p:nvGrpSpPr>
          <p:cNvPr id="8" name="グループ化 7"/>
          <p:cNvGrpSpPr/>
          <p:nvPr/>
        </p:nvGrpSpPr>
        <p:grpSpPr>
          <a:xfrm>
            <a:off x="1611788" y="1656000"/>
            <a:ext cx="828254" cy="497665"/>
            <a:chOff x="2073600" y="1584000"/>
            <a:chExt cx="828254" cy="497665"/>
          </a:xfrm>
        </p:grpSpPr>
        <p:cxnSp>
          <p:nvCxnSpPr>
            <p:cNvPr id="81" name="直線コネクタ 80"/>
            <p:cNvCxnSpPr/>
            <p:nvPr/>
          </p:nvCxnSpPr>
          <p:spPr>
            <a:xfrm>
              <a:off x="2073854" y="1584000"/>
              <a:ext cx="828000" cy="0"/>
            </a:xfrm>
            <a:prstGeom prst="line">
              <a:avLst/>
            </a:prstGeom>
            <a:ln w="38100">
              <a:solidFill>
                <a:schemeClr val="accent1"/>
              </a:solidFill>
              <a:headEnd type="none"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82" name="テキスト ボックス 81"/>
            <p:cNvSpPr txBox="1"/>
            <p:nvPr/>
          </p:nvSpPr>
          <p:spPr>
            <a:xfrm>
              <a:off x="2073600" y="1620000"/>
              <a:ext cx="828000" cy="461665"/>
            </a:xfrm>
            <a:prstGeom prst="rect">
              <a:avLst/>
            </a:prstGeom>
            <a:noFill/>
          </p:spPr>
          <p:txBody>
            <a:bodyPr wrap="none" lIns="36000" rIns="0" rtlCol="0">
              <a:noAutofit/>
            </a:bodyPr>
            <a:lstStyle/>
            <a:p>
              <a:pPr algn="ctr"/>
              <a:r>
                <a:rPr kumimoji="1" lang="ja-JP" altLang="en-US" sz="1200" dirty="0">
                  <a:latin typeface="游ゴシック" panose="020B0400000000000000" pitchFamily="50" charset="-128"/>
                  <a:ea typeface="游ゴシック" panose="020B0400000000000000" pitchFamily="50" charset="-128"/>
                </a:rPr>
                <a:t>添加剤ﾛｯﾄ管理</a:t>
              </a:r>
              <a:endParaRPr kumimoji="1" lang="en-US" altLang="ja-JP" sz="1200" dirty="0">
                <a:latin typeface="游ゴシック" panose="020B0400000000000000" pitchFamily="50" charset="-128"/>
                <a:ea typeface="游ゴシック" panose="020B0400000000000000" pitchFamily="50" charset="-128"/>
              </a:endParaRPr>
            </a:p>
            <a:p>
              <a:pPr algn="ctr"/>
              <a:r>
                <a:rPr kumimoji="1" lang="ja-JP" altLang="en-US" sz="1200" dirty="0">
                  <a:latin typeface="游ゴシック" panose="020B0400000000000000" pitchFamily="50" charset="-128"/>
                  <a:ea typeface="游ゴシック" panose="020B0400000000000000" pitchFamily="50" charset="-128"/>
                </a:rPr>
                <a:t>ｼｽﾃﾑ更新</a:t>
              </a:r>
            </a:p>
          </p:txBody>
        </p:sp>
      </p:grpSp>
      <p:grpSp>
        <p:nvGrpSpPr>
          <p:cNvPr id="10" name="グループ化 9"/>
          <p:cNvGrpSpPr/>
          <p:nvPr/>
        </p:nvGrpSpPr>
        <p:grpSpPr>
          <a:xfrm>
            <a:off x="1611792" y="2376000"/>
            <a:ext cx="828000" cy="682331"/>
            <a:chOff x="2073600" y="2196000"/>
            <a:chExt cx="828000" cy="682331"/>
          </a:xfrm>
        </p:grpSpPr>
        <p:cxnSp>
          <p:nvCxnSpPr>
            <p:cNvPr id="84" name="直線コネクタ 83"/>
            <p:cNvCxnSpPr/>
            <p:nvPr/>
          </p:nvCxnSpPr>
          <p:spPr>
            <a:xfrm>
              <a:off x="2073600" y="2196000"/>
              <a:ext cx="828000" cy="0"/>
            </a:xfrm>
            <a:prstGeom prst="line">
              <a:avLst/>
            </a:prstGeom>
            <a:ln w="38100">
              <a:solidFill>
                <a:schemeClr val="accent1"/>
              </a:solidFill>
              <a:headEnd type="none"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85" name="テキスト ボックス 84"/>
            <p:cNvSpPr txBox="1"/>
            <p:nvPr/>
          </p:nvSpPr>
          <p:spPr>
            <a:xfrm>
              <a:off x="2073600" y="2232000"/>
              <a:ext cx="828000" cy="646331"/>
            </a:xfrm>
            <a:prstGeom prst="rect">
              <a:avLst/>
            </a:prstGeom>
            <a:noFill/>
          </p:spPr>
          <p:txBody>
            <a:bodyPr wrap="none" lIns="36000" rIns="0" rtlCol="0">
              <a:noAutofit/>
            </a:bodyPr>
            <a:lstStyle/>
            <a:p>
              <a:pPr algn="ctr"/>
              <a:r>
                <a:rPr lang="ja-JP" altLang="en-US" sz="1200" dirty="0">
                  <a:latin typeface="游ゴシック" panose="020B0400000000000000" pitchFamily="50" charset="-128"/>
                  <a:ea typeface="游ゴシック" panose="020B0400000000000000" pitchFamily="50" charset="-128"/>
                </a:rPr>
                <a:t>運転制御</a:t>
              </a:r>
              <a:endParaRPr lang="en-US" altLang="ja-JP" sz="1200" dirty="0">
                <a:latin typeface="游ゴシック" panose="020B0400000000000000" pitchFamily="50" charset="-128"/>
                <a:ea typeface="游ゴシック" panose="020B0400000000000000" pitchFamily="50" charset="-128"/>
              </a:endParaRPr>
            </a:p>
            <a:p>
              <a:pPr algn="ctr"/>
              <a:r>
                <a:rPr lang="ja-JP" altLang="en-US" sz="1200" dirty="0">
                  <a:latin typeface="游ゴシック" panose="020B0400000000000000" pitchFamily="50" charset="-128"/>
                  <a:ea typeface="游ゴシック" panose="020B0400000000000000" pitchFamily="50" charset="-128"/>
                </a:rPr>
                <a:t>ﾊﾞﾙﾌﾞﾊﾞｰｺｰﾄﾞ</a:t>
              </a:r>
              <a:endParaRPr lang="en-US" altLang="ja-JP" sz="1200" dirty="0">
                <a:latin typeface="游ゴシック" panose="020B0400000000000000" pitchFamily="50" charset="-128"/>
                <a:ea typeface="游ゴシック" panose="020B0400000000000000" pitchFamily="50" charset="-128"/>
              </a:endParaRPr>
            </a:p>
            <a:p>
              <a:pPr algn="ctr"/>
              <a:r>
                <a:rPr lang="ja-JP" altLang="en-US" sz="1200" dirty="0">
                  <a:latin typeface="游ゴシック" panose="020B0400000000000000" pitchFamily="50" charset="-128"/>
                  <a:ea typeface="游ゴシック" panose="020B0400000000000000" pitchFamily="50" charset="-128"/>
                </a:rPr>
                <a:t>新規構築</a:t>
              </a:r>
              <a:endParaRPr kumimoji="1" lang="ja-JP" altLang="en-US" sz="1200" dirty="0">
                <a:latin typeface="游ゴシック" panose="020B0400000000000000" pitchFamily="50" charset="-128"/>
                <a:ea typeface="游ゴシック" panose="020B0400000000000000" pitchFamily="50" charset="-128"/>
              </a:endParaRPr>
            </a:p>
          </p:txBody>
        </p:sp>
      </p:grpSp>
      <p:grpSp>
        <p:nvGrpSpPr>
          <p:cNvPr id="89" name="グループ化 88"/>
          <p:cNvGrpSpPr/>
          <p:nvPr/>
        </p:nvGrpSpPr>
        <p:grpSpPr>
          <a:xfrm>
            <a:off x="2448000" y="1656000"/>
            <a:ext cx="2520254" cy="497665"/>
            <a:chOff x="2073600" y="1584000"/>
            <a:chExt cx="2520254" cy="497665"/>
          </a:xfrm>
        </p:grpSpPr>
        <p:cxnSp>
          <p:nvCxnSpPr>
            <p:cNvPr id="90" name="直線コネクタ 89"/>
            <p:cNvCxnSpPr/>
            <p:nvPr/>
          </p:nvCxnSpPr>
          <p:spPr>
            <a:xfrm>
              <a:off x="2073854" y="1584000"/>
              <a:ext cx="2520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91" name="テキスト ボックス 90"/>
            <p:cNvSpPr txBox="1"/>
            <p:nvPr/>
          </p:nvSpPr>
          <p:spPr>
            <a:xfrm>
              <a:off x="2073600" y="1620000"/>
              <a:ext cx="2520000" cy="461665"/>
            </a:xfrm>
            <a:prstGeom prst="rect">
              <a:avLst/>
            </a:prstGeom>
            <a:noFill/>
          </p:spPr>
          <p:txBody>
            <a:bodyPr wrap="none" lIns="36000" rIns="0" rtlCol="0">
              <a:noAutofit/>
            </a:bodyPr>
            <a:lstStyle/>
            <a:p>
              <a:pPr algn="ctr"/>
              <a:r>
                <a:rPr lang="ja-JP" altLang="en-US" sz="1200" dirty="0">
                  <a:latin typeface="游ゴシック" panose="020B0400000000000000" pitchFamily="50" charset="-128"/>
                  <a:ea typeface="游ゴシック" panose="020B0400000000000000" pitchFamily="50" charset="-128"/>
                </a:rPr>
                <a:t>ﾛｯﾄ追跡ｼｽﾃﾑ更新</a:t>
              </a:r>
              <a:endParaRPr kumimoji="1" lang="ja-JP" altLang="en-US" sz="1200" dirty="0">
                <a:latin typeface="游ゴシック" panose="020B0400000000000000" pitchFamily="50" charset="-128"/>
                <a:ea typeface="游ゴシック" panose="020B0400000000000000" pitchFamily="50" charset="-128"/>
              </a:endParaRPr>
            </a:p>
          </p:txBody>
        </p:sp>
      </p:grpSp>
      <p:grpSp>
        <p:nvGrpSpPr>
          <p:cNvPr id="92" name="グループ化 91"/>
          <p:cNvGrpSpPr/>
          <p:nvPr/>
        </p:nvGrpSpPr>
        <p:grpSpPr>
          <a:xfrm>
            <a:off x="4968000" y="1656000"/>
            <a:ext cx="1908254" cy="497665"/>
            <a:chOff x="2073600" y="1584000"/>
            <a:chExt cx="1908254" cy="497665"/>
          </a:xfrm>
        </p:grpSpPr>
        <p:cxnSp>
          <p:nvCxnSpPr>
            <p:cNvPr id="93" name="直線コネクタ 92"/>
            <p:cNvCxnSpPr/>
            <p:nvPr/>
          </p:nvCxnSpPr>
          <p:spPr>
            <a:xfrm>
              <a:off x="2073854" y="1584000"/>
              <a:ext cx="1908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94" name="テキスト ボックス 93"/>
            <p:cNvSpPr txBox="1"/>
            <p:nvPr/>
          </p:nvSpPr>
          <p:spPr>
            <a:xfrm>
              <a:off x="2073600" y="1620000"/>
              <a:ext cx="1908000" cy="461665"/>
            </a:xfrm>
            <a:prstGeom prst="rect">
              <a:avLst/>
            </a:prstGeom>
            <a:noFill/>
          </p:spPr>
          <p:txBody>
            <a:bodyPr wrap="none" lIns="36000" rIns="0" rtlCol="0">
              <a:noAutofit/>
            </a:bodyPr>
            <a:lstStyle/>
            <a:p>
              <a:pPr algn="ctr"/>
              <a:r>
                <a:rPr lang="ja-JP" altLang="en-US" sz="1200" dirty="0">
                  <a:latin typeface="游ゴシック" panose="020B0400000000000000" pitchFamily="50" charset="-128"/>
                  <a:ea typeface="游ゴシック" panose="020B0400000000000000" pitchFamily="50" charset="-128"/>
                </a:rPr>
                <a:t>運転制御ｼｽﾃﾑ</a:t>
              </a:r>
              <a:r>
                <a:rPr lang="en-US" altLang="ja-JP" sz="1200" dirty="0">
                  <a:latin typeface="游ゴシック" panose="020B0400000000000000" pitchFamily="50" charset="-128"/>
                  <a:ea typeface="游ゴシック" panose="020B0400000000000000" pitchFamily="50" charset="-128"/>
                </a:rPr>
                <a:t>(DCS)</a:t>
              </a:r>
              <a:r>
                <a:rPr lang="ja-JP" altLang="en-US" sz="1200" dirty="0">
                  <a:latin typeface="游ゴシック" panose="020B0400000000000000" pitchFamily="50" charset="-128"/>
                  <a:ea typeface="游ゴシック" panose="020B0400000000000000" pitchFamily="50" charset="-128"/>
                </a:rPr>
                <a:t>更新</a:t>
              </a:r>
              <a:endParaRPr kumimoji="1" lang="ja-JP" altLang="en-US" sz="1200" dirty="0">
                <a:latin typeface="游ゴシック" panose="020B0400000000000000" pitchFamily="50" charset="-128"/>
                <a:ea typeface="游ゴシック" panose="020B0400000000000000" pitchFamily="50" charset="-128"/>
              </a:endParaRPr>
            </a:p>
          </p:txBody>
        </p:sp>
      </p:grpSp>
      <p:grpSp>
        <p:nvGrpSpPr>
          <p:cNvPr id="95" name="グループ化 94"/>
          <p:cNvGrpSpPr/>
          <p:nvPr/>
        </p:nvGrpSpPr>
        <p:grpSpPr>
          <a:xfrm>
            <a:off x="6876000" y="1656000"/>
            <a:ext cx="2124254" cy="497665"/>
            <a:chOff x="2073600" y="1584000"/>
            <a:chExt cx="2124254" cy="497665"/>
          </a:xfrm>
        </p:grpSpPr>
        <p:cxnSp>
          <p:nvCxnSpPr>
            <p:cNvPr id="96" name="直線コネクタ 95"/>
            <p:cNvCxnSpPr/>
            <p:nvPr/>
          </p:nvCxnSpPr>
          <p:spPr>
            <a:xfrm>
              <a:off x="2073854" y="1584000"/>
              <a:ext cx="2124000" cy="0"/>
            </a:xfrm>
            <a:prstGeom prst="line">
              <a:avLst/>
            </a:prstGeom>
            <a:ln w="38100">
              <a:solidFill>
                <a:schemeClr val="accent1"/>
              </a:solidFill>
              <a:headEnd type="oval"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97" name="テキスト ボックス 96"/>
            <p:cNvSpPr txBox="1"/>
            <p:nvPr/>
          </p:nvSpPr>
          <p:spPr>
            <a:xfrm>
              <a:off x="2073600" y="1620000"/>
              <a:ext cx="2124000" cy="461665"/>
            </a:xfrm>
            <a:prstGeom prst="rect">
              <a:avLst/>
            </a:prstGeom>
            <a:noFill/>
          </p:spPr>
          <p:txBody>
            <a:bodyPr wrap="none" lIns="36000" rIns="0" rtlCol="0">
              <a:noAutofit/>
            </a:bodyPr>
            <a:lstStyle/>
            <a:p>
              <a:pPr algn="ctr"/>
              <a:r>
                <a:rPr lang="ja-JP" altLang="en-US" sz="1200" dirty="0">
                  <a:latin typeface="游ゴシック" panose="020B0400000000000000" pitchFamily="50" charset="-128"/>
                  <a:ea typeface="游ゴシック" panose="020B0400000000000000" pitchFamily="50" charset="-128"/>
                </a:rPr>
                <a:t>充填管理ｼｽﾃﾑ更新</a:t>
              </a:r>
              <a:endParaRPr kumimoji="1" lang="ja-JP" altLang="en-US" sz="1200" dirty="0">
                <a:latin typeface="游ゴシック" panose="020B0400000000000000" pitchFamily="50" charset="-128"/>
                <a:ea typeface="游ゴシック" panose="020B0400000000000000" pitchFamily="50" charset="-128"/>
              </a:endParaRPr>
            </a:p>
          </p:txBody>
        </p:sp>
      </p:grpSp>
      <p:grpSp>
        <p:nvGrpSpPr>
          <p:cNvPr id="98" name="グループ化 97"/>
          <p:cNvGrpSpPr/>
          <p:nvPr/>
        </p:nvGrpSpPr>
        <p:grpSpPr>
          <a:xfrm>
            <a:off x="2448000" y="2376000"/>
            <a:ext cx="1260000" cy="288000"/>
            <a:chOff x="2073600" y="2196000"/>
            <a:chExt cx="1260000" cy="288000"/>
          </a:xfrm>
        </p:grpSpPr>
        <p:cxnSp>
          <p:nvCxnSpPr>
            <p:cNvPr id="99" name="直線コネクタ 98"/>
            <p:cNvCxnSpPr/>
            <p:nvPr/>
          </p:nvCxnSpPr>
          <p:spPr>
            <a:xfrm>
              <a:off x="2073600" y="2196000"/>
              <a:ext cx="1260000" cy="0"/>
            </a:xfrm>
            <a:prstGeom prst="line">
              <a:avLst/>
            </a:prstGeom>
            <a:ln w="38100">
              <a:solidFill>
                <a:schemeClr val="accent1"/>
              </a:solidFill>
              <a:headEnd type="oval" w="med" len="med"/>
              <a:tailEnd type="oval" w="med" len="med"/>
            </a:ln>
            <a:effectLst/>
          </p:spPr>
          <p:style>
            <a:lnRef idx="1">
              <a:schemeClr val="accent1"/>
            </a:lnRef>
            <a:fillRef idx="0">
              <a:schemeClr val="accent1"/>
            </a:fillRef>
            <a:effectRef idx="0">
              <a:schemeClr val="accent1"/>
            </a:effectRef>
            <a:fontRef idx="minor">
              <a:schemeClr val="tx1"/>
            </a:fontRef>
          </p:style>
        </p:cxnSp>
        <p:sp>
          <p:nvSpPr>
            <p:cNvPr id="100" name="テキスト ボックス 99"/>
            <p:cNvSpPr txBox="1"/>
            <p:nvPr/>
          </p:nvSpPr>
          <p:spPr>
            <a:xfrm>
              <a:off x="2073600" y="2232000"/>
              <a:ext cx="1260000" cy="252000"/>
            </a:xfrm>
            <a:prstGeom prst="rect">
              <a:avLst/>
            </a:prstGeom>
            <a:noFill/>
          </p:spPr>
          <p:txBody>
            <a:bodyPr wrap="none" lIns="36000" rIns="0" rtlCol="0">
              <a:noAutofit/>
            </a:bodyPr>
            <a:lstStyle/>
            <a:p>
              <a:pPr algn="ctr"/>
              <a:r>
                <a:rPr lang="ja-JP" altLang="en-US" sz="1200" dirty="0">
                  <a:latin typeface="游ゴシック" panose="020B0400000000000000" pitchFamily="50" charset="-128"/>
                  <a:ea typeface="游ゴシック" panose="020B0400000000000000" pitchFamily="50" charset="-128"/>
                </a:rPr>
                <a:t>ﾀﾝｸｹﾞｰｼﾞ</a:t>
              </a:r>
              <a:endParaRPr lang="en-US" altLang="ja-JP" sz="1200" dirty="0">
                <a:latin typeface="游ゴシック" panose="020B0400000000000000" pitchFamily="50" charset="-128"/>
                <a:ea typeface="游ゴシック" panose="020B0400000000000000" pitchFamily="50" charset="-128"/>
              </a:endParaRPr>
            </a:p>
            <a:p>
              <a:pPr algn="ctr"/>
              <a:r>
                <a:rPr kumimoji="1" lang="ja-JP" altLang="en-US" sz="1200" dirty="0">
                  <a:latin typeface="游ゴシック" panose="020B0400000000000000" pitchFamily="50" charset="-128"/>
                  <a:ea typeface="游ゴシック" panose="020B0400000000000000" pitchFamily="50" charset="-128"/>
                </a:rPr>
                <a:t>老朽化更新</a:t>
              </a:r>
            </a:p>
          </p:txBody>
        </p:sp>
      </p:grpSp>
      <p:grpSp>
        <p:nvGrpSpPr>
          <p:cNvPr id="11" name="グループ化 10"/>
          <p:cNvGrpSpPr/>
          <p:nvPr/>
        </p:nvGrpSpPr>
        <p:grpSpPr>
          <a:xfrm>
            <a:off x="3096000" y="2016000"/>
            <a:ext cx="3780000" cy="497665"/>
            <a:chOff x="3585600" y="1944000"/>
            <a:chExt cx="3780000" cy="497665"/>
          </a:xfrm>
        </p:grpSpPr>
        <p:cxnSp>
          <p:nvCxnSpPr>
            <p:cNvPr id="102" name="直線コネクタ 101"/>
            <p:cNvCxnSpPr/>
            <p:nvPr/>
          </p:nvCxnSpPr>
          <p:spPr>
            <a:xfrm>
              <a:off x="3585854" y="1944000"/>
              <a:ext cx="1224000" cy="0"/>
            </a:xfrm>
            <a:prstGeom prst="line">
              <a:avLst/>
            </a:prstGeom>
            <a:ln w="38100">
              <a:solidFill>
                <a:schemeClr val="accent1"/>
              </a:solidFill>
              <a:headEnd type="oval"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103" name="テキスト ボックス 102"/>
            <p:cNvSpPr txBox="1"/>
            <p:nvPr/>
          </p:nvSpPr>
          <p:spPr>
            <a:xfrm>
              <a:off x="3585600" y="1980000"/>
              <a:ext cx="3780000" cy="461665"/>
            </a:xfrm>
            <a:prstGeom prst="rect">
              <a:avLst/>
            </a:prstGeom>
            <a:noFill/>
          </p:spPr>
          <p:txBody>
            <a:bodyPr wrap="none" lIns="36000" rIns="0" rtlCol="0">
              <a:noAutofit/>
            </a:bodyPr>
            <a:lstStyle/>
            <a:p>
              <a:pPr algn="ctr"/>
              <a:r>
                <a:rPr lang="ja-JP" altLang="en-US" sz="1200" dirty="0">
                  <a:latin typeface="游ゴシック" panose="020B0400000000000000" pitchFamily="50" charset="-128"/>
                  <a:ea typeface="游ゴシック" panose="020B0400000000000000" pitchFamily="50" charset="-128"/>
                </a:rPr>
                <a:t>自動倉庫ｼｽﾃﾑ更新</a:t>
              </a:r>
              <a:endParaRPr kumimoji="1" lang="ja-JP" altLang="en-US" sz="1200" dirty="0">
                <a:latin typeface="游ゴシック" panose="020B0400000000000000" pitchFamily="50" charset="-128"/>
                <a:ea typeface="游ゴシック" panose="020B0400000000000000" pitchFamily="50" charset="-128"/>
              </a:endParaRPr>
            </a:p>
          </p:txBody>
        </p:sp>
        <p:cxnSp>
          <p:nvCxnSpPr>
            <p:cNvPr id="104" name="直線コネクタ 103"/>
            <p:cNvCxnSpPr/>
            <p:nvPr/>
          </p:nvCxnSpPr>
          <p:spPr>
            <a:xfrm>
              <a:off x="6753600" y="1944000"/>
              <a:ext cx="612000" cy="0"/>
            </a:xfrm>
            <a:prstGeom prst="line">
              <a:avLst/>
            </a:prstGeom>
            <a:ln w="38100">
              <a:solidFill>
                <a:schemeClr val="accent1"/>
              </a:solidFill>
              <a:headEnd type="none" w="med" len="med"/>
              <a:tailEnd type="oval" w="med" len="med"/>
            </a:ln>
            <a:effectLst/>
          </p:spPr>
          <p:style>
            <a:lnRef idx="1">
              <a:schemeClr val="accent1"/>
            </a:lnRef>
            <a:fillRef idx="0">
              <a:schemeClr val="accent1"/>
            </a:fillRef>
            <a:effectRef idx="0">
              <a:schemeClr val="accent1"/>
            </a:effectRef>
            <a:fontRef idx="minor">
              <a:schemeClr val="tx1"/>
            </a:fontRef>
          </p:style>
        </p:cxnSp>
        <p:cxnSp>
          <p:nvCxnSpPr>
            <p:cNvPr id="105" name="直線コネクタ 104"/>
            <p:cNvCxnSpPr/>
            <p:nvPr/>
          </p:nvCxnSpPr>
          <p:spPr>
            <a:xfrm>
              <a:off x="4809600" y="1944000"/>
              <a:ext cx="1908000" cy="0"/>
            </a:xfrm>
            <a:prstGeom prst="line">
              <a:avLst/>
            </a:prstGeom>
            <a:ln w="38100">
              <a:solidFill>
                <a:schemeClr val="accent1"/>
              </a:solidFill>
              <a:prstDash val="sysDash"/>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grpSp>
      <p:sp>
        <p:nvSpPr>
          <p:cNvPr id="45" name="ホームベース 44"/>
          <p:cNvSpPr/>
          <p:nvPr/>
        </p:nvSpPr>
        <p:spPr>
          <a:xfrm>
            <a:off x="8150113" y="3888000"/>
            <a:ext cx="955714" cy="792000"/>
          </a:xfrm>
          <a:prstGeom prst="homePlate">
            <a:avLst>
              <a:gd name="adj" fmla="val 6201"/>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保守</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kumimoji="1"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46" name="テキスト ボックス 45"/>
          <p:cNvSpPr txBox="1"/>
          <p:nvPr/>
        </p:nvSpPr>
        <p:spPr>
          <a:xfrm>
            <a:off x="2277781" y="3096000"/>
            <a:ext cx="2262158" cy="276999"/>
          </a:xfrm>
          <a:prstGeom prst="rect">
            <a:avLst/>
          </a:prstGeom>
          <a:noFill/>
        </p:spPr>
        <p:txBody>
          <a:bodyPr wrap="none" rtlCol="0" anchor="ctr">
            <a:spAutoFit/>
          </a:bodyPr>
          <a:lstStyle/>
          <a:p>
            <a:r>
              <a:rPr lang="ja-JP" altLang="en-US" sz="1200" dirty="0">
                <a:ln w="3175">
                  <a:noFill/>
                </a:ln>
                <a:effectLst/>
                <a:latin typeface="游ゴシック" panose="020B0400000000000000" pitchFamily="50" charset="-128"/>
                <a:ea typeface="游ゴシック" panose="020B0400000000000000" pitchFamily="50" charset="-128"/>
              </a:rPr>
              <a:t>★添加剤ﾛｯﾄ管理ｼｽﾃﾑ更新対応</a:t>
            </a:r>
            <a:endParaRPr kumimoji="1" lang="ja-JP" altLang="en-US" sz="1200" dirty="0">
              <a:ln w="3175">
                <a:noFill/>
              </a:ln>
              <a:effectLst/>
              <a:latin typeface="游ゴシック" panose="020B0400000000000000" pitchFamily="50" charset="-128"/>
              <a:ea typeface="游ゴシック" panose="020B0400000000000000" pitchFamily="50" charset="-128"/>
            </a:endParaRPr>
          </a:p>
        </p:txBody>
      </p:sp>
      <p:sp>
        <p:nvSpPr>
          <p:cNvPr id="47" name="テキスト ボックス 46"/>
          <p:cNvSpPr txBox="1"/>
          <p:nvPr/>
        </p:nvSpPr>
        <p:spPr>
          <a:xfrm>
            <a:off x="3552141" y="3312000"/>
            <a:ext cx="2031325" cy="276999"/>
          </a:xfrm>
          <a:prstGeom prst="rect">
            <a:avLst/>
          </a:prstGeom>
          <a:noFill/>
        </p:spPr>
        <p:txBody>
          <a:bodyPr wrap="none" rtlCol="0" anchor="ctr">
            <a:spAutoFit/>
          </a:bodyPr>
          <a:lstStyle/>
          <a:p>
            <a:r>
              <a:rPr lang="ja-JP" altLang="en-US" sz="1200" dirty="0">
                <a:ln w="3175">
                  <a:noFill/>
                </a:ln>
                <a:effectLst/>
                <a:latin typeface="游ゴシック" panose="020B0400000000000000" pitchFamily="50" charset="-128"/>
                <a:ea typeface="游ゴシック" panose="020B0400000000000000" pitchFamily="50" charset="-128"/>
              </a:rPr>
              <a:t>★ﾀﾝｸｹﾞｰｼﾞ老朽化更新対応</a:t>
            </a:r>
            <a:endParaRPr kumimoji="1" lang="ja-JP" altLang="en-US" sz="1200" dirty="0">
              <a:ln w="3175">
                <a:noFill/>
              </a:ln>
              <a:effectLst/>
              <a:latin typeface="游ゴシック" panose="020B0400000000000000" pitchFamily="50" charset="-128"/>
              <a:ea typeface="游ゴシック" panose="020B0400000000000000" pitchFamily="50" charset="-128"/>
            </a:endParaRPr>
          </a:p>
        </p:txBody>
      </p:sp>
      <p:sp>
        <p:nvSpPr>
          <p:cNvPr id="48" name="テキスト ボックス 47"/>
          <p:cNvSpPr txBox="1"/>
          <p:nvPr/>
        </p:nvSpPr>
        <p:spPr>
          <a:xfrm>
            <a:off x="4816511" y="3096000"/>
            <a:ext cx="1800493" cy="276999"/>
          </a:xfrm>
          <a:prstGeom prst="rect">
            <a:avLst/>
          </a:prstGeom>
          <a:noFill/>
        </p:spPr>
        <p:txBody>
          <a:bodyPr wrap="none" rtlCol="0" anchor="ctr">
            <a:spAutoFit/>
          </a:bodyPr>
          <a:lstStyle/>
          <a:p>
            <a:r>
              <a:rPr lang="ja-JP" altLang="en-US" sz="1200" dirty="0">
                <a:ln w="3175">
                  <a:noFill/>
                </a:ln>
                <a:effectLst/>
                <a:latin typeface="游ゴシック" panose="020B0400000000000000" pitchFamily="50" charset="-128"/>
                <a:ea typeface="游ゴシック" panose="020B0400000000000000" pitchFamily="50" charset="-128"/>
              </a:rPr>
              <a:t>★ﾛｯﾄ追跡ｼｽﾃﾑ更新対応</a:t>
            </a:r>
            <a:endParaRPr kumimoji="1" lang="ja-JP" altLang="en-US" sz="1200" dirty="0">
              <a:ln w="3175">
                <a:noFill/>
              </a:ln>
              <a:effectLst/>
              <a:latin typeface="游ゴシック" panose="020B0400000000000000" pitchFamily="50" charset="-128"/>
              <a:ea typeface="游ゴシック" panose="020B0400000000000000" pitchFamily="50" charset="-128"/>
            </a:endParaRPr>
          </a:p>
        </p:txBody>
      </p:sp>
      <p:sp>
        <p:nvSpPr>
          <p:cNvPr id="49" name="テキスト ボックス 48"/>
          <p:cNvSpPr txBox="1"/>
          <p:nvPr/>
        </p:nvSpPr>
        <p:spPr>
          <a:xfrm>
            <a:off x="6723708" y="3096000"/>
            <a:ext cx="2311851" cy="276999"/>
          </a:xfrm>
          <a:prstGeom prst="rect">
            <a:avLst/>
          </a:prstGeom>
          <a:noFill/>
        </p:spPr>
        <p:txBody>
          <a:bodyPr wrap="none" rtlCol="0" anchor="ctr">
            <a:spAutoFit/>
          </a:bodyPr>
          <a:lstStyle/>
          <a:p>
            <a:r>
              <a:rPr lang="ja-JP" altLang="en-US" sz="1200" dirty="0">
                <a:ln w="3175">
                  <a:noFill/>
                </a:ln>
                <a:effectLst/>
                <a:latin typeface="游ゴシック" panose="020B0400000000000000" pitchFamily="50" charset="-128"/>
                <a:ea typeface="游ゴシック" panose="020B0400000000000000" pitchFamily="50" charset="-128"/>
              </a:rPr>
              <a:t>★運転制御ｼｽﾃﾑ</a:t>
            </a:r>
            <a:r>
              <a:rPr lang="en-US" altLang="ja-JP" sz="1200" dirty="0">
                <a:ln w="3175">
                  <a:noFill/>
                </a:ln>
                <a:effectLst/>
                <a:latin typeface="游ゴシック" panose="020B0400000000000000" pitchFamily="50" charset="-128"/>
                <a:ea typeface="游ゴシック" panose="020B0400000000000000" pitchFamily="50" charset="-128"/>
              </a:rPr>
              <a:t>(DCS)</a:t>
            </a:r>
            <a:r>
              <a:rPr lang="ja-JP" altLang="en-US" sz="1200" dirty="0">
                <a:ln w="3175">
                  <a:noFill/>
                </a:ln>
                <a:effectLst/>
                <a:latin typeface="游ゴシック" panose="020B0400000000000000" pitchFamily="50" charset="-128"/>
                <a:ea typeface="游ゴシック" panose="020B0400000000000000" pitchFamily="50" charset="-128"/>
              </a:rPr>
              <a:t>更新対応</a:t>
            </a:r>
            <a:endParaRPr kumimoji="1" lang="ja-JP" altLang="en-US" sz="1200" dirty="0">
              <a:ln w="3175">
                <a:noFill/>
              </a:ln>
              <a:effectLst/>
              <a:latin typeface="游ゴシック" panose="020B0400000000000000" pitchFamily="50" charset="-128"/>
              <a:ea typeface="游ゴシック" panose="020B0400000000000000" pitchFamily="50" charset="-128"/>
            </a:endParaRPr>
          </a:p>
        </p:txBody>
      </p:sp>
      <p:sp>
        <p:nvSpPr>
          <p:cNvPr id="50" name="テキスト ボックス 49"/>
          <p:cNvSpPr txBox="1"/>
          <p:nvPr/>
        </p:nvSpPr>
        <p:spPr>
          <a:xfrm>
            <a:off x="6723708" y="3312000"/>
            <a:ext cx="1877437" cy="276999"/>
          </a:xfrm>
          <a:prstGeom prst="rect">
            <a:avLst/>
          </a:prstGeom>
          <a:noFill/>
        </p:spPr>
        <p:txBody>
          <a:bodyPr wrap="none" rtlCol="0" anchor="ctr">
            <a:spAutoFit/>
          </a:bodyPr>
          <a:lstStyle/>
          <a:p>
            <a:r>
              <a:rPr lang="ja-JP" altLang="en-US" sz="1200" dirty="0">
                <a:ln w="3175">
                  <a:noFill/>
                </a:ln>
                <a:effectLst/>
                <a:latin typeface="游ゴシック" panose="020B0400000000000000" pitchFamily="50" charset="-128"/>
                <a:ea typeface="游ゴシック" panose="020B0400000000000000" pitchFamily="50" charset="-128"/>
              </a:rPr>
              <a:t>★自動倉庫ｼｽﾃﾑ更新対応</a:t>
            </a:r>
            <a:endParaRPr kumimoji="1" lang="ja-JP" altLang="en-US" sz="1200" dirty="0">
              <a:ln w="3175">
                <a:noFill/>
              </a:ln>
              <a:effectLst/>
              <a:latin typeface="游ゴシック" panose="020B0400000000000000" pitchFamily="50" charset="-128"/>
              <a:ea typeface="游ゴシック" panose="020B0400000000000000" pitchFamily="50" charset="-128"/>
            </a:endParaRPr>
          </a:p>
        </p:txBody>
      </p:sp>
      <p:sp>
        <p:nvSpPr>
          <p:cNvPr id="51" name="テキスト ボックス 50"/>
          <p:cNvSpPr txBox="1"/>
          <p:nvPr/>
        </p:nvSpPr>
        <p:spPr>
          <a:xfrm>
            <a:off x="6930000" y="3636000"/>
            <a:ext cx="2262158" cy="276999"/>
          </a:xfrm>
          <a:prstGeom prst="rect">
            <a:avLst/>
          </a:prstGeom>
          <a:noFill/>
        </p:spPr>
        <p:txBody>
          <a:bodyPr wrap="none" rtlCol="0" anchor="ctr">
            <a:spAutoFit/>
          </a:bodyPr>
          <a:lstStyle/>
          <a:p>
            <a:r>
              <a:rPr lang="ja-JP" altLang="en-US" sz="1200" dirty="0">
                <a:ln w="3175">
                  <a:noFill/>
                </a:ln>
                <a:effectLst/>
                <a:latin typeface="游ゴシック" panose="020B0400000000000000" pitchFamily="50" charset="-128"/>
                <a:ea typeface="游ゴシック" panose="020B0400000000000000" pitchFamily="50" charset="-128"/>
              </a:rPr>
              <a:t>★現行ｼｽﾃﾑ最新ｿｰｽ取得・ﾏｰｼﾞ</a:t>
            </a:r>
            <a:endParaRPr kumimoji="1" lang="ja-JP" altLang="en-US" sz="1200" dirty="0">
              <a:ln w="3175">
                <a:noFill/>
              </a:ln>
              <a:effectLst/>
              <a:latin typeface="游ゴシック" panose="020B0400000000000000" pitchFamily="50" charset="-128"/>
              <a:ea typeface="游ゴシック" panose="020B0400000000000000" pitchFamily="50" charset="-128"/>
            </a:endParaRPr>
          </a:p>
        </p:txBody>
      </p:sp>
      <p:sp>
        <p:nvSpPr>
          <p:cNvPr id="52" name="テキスト ボックス 51"/>
          <p:cNvSpPr txBox="1"/>
          <p:nvPr/>
        </p:nvSpPr>
        <p:spPr>
          <a:xfrm>
            <a:off x="4500000" y="3636000"/>
            <a:ext cx="1800493" cy="276999"/>
          </a:xfrm>
          <a:prstGeom prst="rect">
            <a:avLst/>
          </a:prstGeom>
          <a:noFill/>
        </p:spPr>
        <p:txBody>
          <a:bodyPr wrap="none" rtlCol="0" anchor="ctr">
            <a:spAutoFit/>
          </a:bodyPr>
          <a:lstStyle/>
          <a:p>
            <a:r>
              <a:rPr lang="ja-JP" altLang="en-US" sz="1200" dirty="0">
                <a:ln w="3175">
                  <a:noFill/>
                </a:ln>
                <a:effectLst/>
                <a:latin typeface="游ゴシック" panose="020B0400000000000000" pitchFamily="50" charset="-128"/>
                <a:ea typeface="游ゴシック" panose="020B0400000000000000" pitchFamily="50" charset="-128"/>
              </a:rPr>
              <a:t>★現行ｼｽﾃﾑ最新ｿｰｽ取得</a:t>
            </a:r>
            <a:endParaRPr kumimoji="1" lang="ja-JP" altLang="en-US" sz="1200" dirty="0">
              <a:ln w="3175">
                <a:noFill/>
              </a:ln>
              <a:effectLst/>
              <a:latin typeface="游ゴシック" panose="020B0400000000000000" pitchFamily="50" charset="-128"/>
              <a:ea typeface="游ゴシック" panose="020B0400000000000000" pitchFamily="50" charset="-128"/>
            </a:endParaRPr>
          </a:p>
        </p:txBody>
      </p:sp>
      <p:sp>
        <p:nvSpPr>
          <p:cNvPr id="55" name="ホームベース 54"/>
          <p:cNvSpPr/>
          <p:nvPr/>
        </p:nvSpPr>
        <p:spPr>
          <a:xfrm>
            <a:off x="6036362" y="4860000"/>
            <a:ext cx="414000" cy="396000"/>
          </a:xfrm>
          <a:prstGeom prst="homePlate">
            <a:avLst>
              <a:gd name="adj" fmla="val 13525"/>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本番</a:t>
            </a: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環境</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ｲﾝﾌﾗ構築</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57" name="ホームベース 56"/>
          <p:cNvSpPr/>
          <p:nvPr/>
        </p:nvSpPr>
        <p:spPr>
          <a:xfrm>
            <a:off x="6445608" y="5328000"/>
            <a:ext cx="414000" cy="396000"/>
          </a:xfrm>
          <a:prstGeom prst="homePlate">
            <a:avLst>
              <a:gd name="adj" fmla="val 12395"/>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本番</a:t>
            </a: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環境</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ｾｯﾄｱｯﾌﾟ</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53" name="ホームベース 52"/>
          <p:cNvSpPr/>
          <p:nvPr/>
        </p:nvSpPr>
        <p:spPr>
          <a:xfrm>
            <a:off x="4136126" y="5328000"/>
            <a:ext cx="630000" cy="396000"/>
          </a:xfrm>
          <a:prstGeom prst="homePlate">
            <a:avLst>
              <a:gd name="adj" fmla="val 12395"/>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開発環境構築</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en-US" altLang="ja-JP" sz="1200" dirty="0">
                <a:ln w="3175">
                  <a:noFill/>
                </a:ln>
                <a:solidFill>
                  <a:schemeClr val="tx1"/>
                </a:solidFill>
                <a:effectLst/>
                <a:latin typeface="游ゴシック" panose="020B0400000000000000" pitchFamily="50" charset="-128"/>
                <a:ea typeface="游ゴシック" panose="020B0400000000000000" pitchFamily="50" charset="-128"/>
              </a:rPr>
              <a:t>(</a:t>
            </a: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弊社内</a:t>
            </a:r>
            <a:r>
              <a:rPr lang="en-US" altLang="ja-JP" sz="1200" dirty="0">
                <a:ln w="3175">
                  <a:noFill/>
                </a:ln>
                <a:solidFill>
                  <a:schemeClr val="tx1"/>
                </a:solidFill>
                <a:effectLst/>
                <a:latin typeface="游ゴシック" panose="020B0400000000000000" pitchFamily="50" charset="-128"/>
                <a:ea typeface="游ゴシック" panose="020B0400000000000000" pitchFamily="50" charset="-128"/>
              </a:rPr>
              <a: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59" name="ホームベース 58"/>
          <p:cNvSpPr/>
          <p:nvPr/>
        </p:nvSpPr>
        <p:spPr>
          <a:xfrm>
            <a:off x="3717235" y="4860000"/>
            <a:ext cx="612000" cy="396000"/>
          </a:xfrm>
          <a:prstGeom prst="homePlate">
            <a:avLst>
              <a:gd name="adj" fmla="val 12396"/>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必要資源</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調達</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0" name="ホームベース 59"/>
          <p:cNvSpPr/>
          <p:nvPr/>
        </p:nvSpPr>
        <p:spPr>
          <a:xfrm>
            <a:off x="7651592" y="5904000"/>
            <a:ext cx="288000" cy="396000"/>
          </a:xfrm>
          <a:prstGeom prst="homePlate">
            <a:avLst>
              <a:gd name="adj" fmla="val 16536"/>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本番</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移行</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1" name="ホームベース 60"/>
          <p:cNvSpPr/>
          <p:nvPr/>
        </p:nvSpPr>
        <p:spPr>
          <a:xfrm>
            <a:off x="7287886" y="5904000"/>
            <a:ext cx="216000" cy="396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移行</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latin typeface="游ゴシック" panose="020B0400000000000000" pitchFamily="50" charset="-128"/>
                <a:ea typeface="游ゴシック" panose="020B0400000000000000" pitchFamily="50" charset="-128"/>
              </a:rPr>
              <a:t>リハ</a:t>
            </a:r>
            <a:r>
              <a:rPr kumimoji="1" lang="en-US" altLang="ja-JP" sz="1200" dirty="0">
                <a:ln w="3175">
                  <a:noFill/>
                </a:ln>
                <a:solidFill>
                  <a:schemeClr val="tx1"/>
                </a:solidFill>
                <a:latin typeface="游ゴシック" panose="020B0400000000000000" pitchFamily="50" charset="-128"/>
                <a:ea typeface="游ゴシック" panose="020B0400000000000000" pitchFamily="50" charset="-128"/>
              </a:rPr>
              <a:t>3</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2" name="ホームベース 61"/>
          <p:cNvSpPr/>
          <p:nvPr/>
        </p:nvSpPr>
        <p:spPr>
          <a:xfrm>
            <a:off x="6895251" y="5904000"/>
            <a:ext cx="216000" cy="396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移行</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latin typeface="游ゴシック" panose="020B0400000000000000" pitchFamily="50" charset="-128"/>
                <a:ea typeface="游ゴシック" panose="020B0400000000000000" pitchFamily="50" charset="-128"/>
              </a:rPr>
              <a:t>リハ</a:t>
            </a:r>
            <a:r>
              <a:rPr kumimoji="1" lang="en-US" altLang="ja-JP" sz="1200" dirty="0">
                <a:ln w="3175">
                  <a:noFill/>
                </a:ln>
                <a:solidFill>
                  <a:schemeClr val="tx1"/>
                </a:solidFill>
                <a:latin typeface="游ゴシック" panose="020B0400000000000000" pitchFamily="50" charset="-128"/>
                <a:ea typeface="游ゴシック" panose="020B0400000000000000" pitchFamily="50" charset="-128"/>
              </a:rPr>
              <a:t>2</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3" name="ホームベース 62"/>
          <p:cNvSpPr/>
          <p:nvPr/>
        </p:nvSpPr>
        <p:spPr>
          <a:xfrm>
            <a:off x="6464642" y="5904000"/>
            <a:ext cx="216000" cy="396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移行</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latin typeface="游ゴシック" panose="020B0400000000000000" pitchFamily="50" charset="-128"/>
                <a:ea typeface="游ゴシック" panose="020B0400000000000000" pitchFamily="50" charset="-128"/>
              </a:rPr>
              <a:t>リハ</a:t>
            </a:r>
            <a:r>
              <a:rPr kumimoji="1" lang="en-US" altLang="ja-JP" sz="1200" dirty="0">
                <a:ln w="3175">
                  <a:noFill/>
                </a:ln>
                <a:solidFill>
                  <a:schemeClr val="tx1"/>
                </a:solidFill>
                <a:latin typeface="游ゴシック" panose="020B0400000000000000" pitchFamily="50" charset="-128"/>
                <a:ea typeface="游ゴシック" panose="020B0400000000000000" pitchFamily="50" charset="-128"/>
              </a:rPr>
              <a:t>1</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4" name="ホームベース 63"/>
          <p:cNvSpPr/>
          <p:nvPr/>
        </p:nvSpPr>
        <p:spPr>
          <a:xfrm>
            <a:off x="4136126" y="5904000"/>
            <a:ext cx="630000" cy="396000"/>
          </a:xfrm>
          <a:prstGeom prst="homePlate">
            <a:avLst>
              <a:gd name="adj" fmla="val 13598"/>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移行計画</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作成</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5" name="ホームベース 64"/>
          <p:cNvSpPr/>
          <p:nvPr/>
        </p:nvSpPr>
        <p:spPr>
          <a:xfrm>
            <a:off x="5405908" y="5904000"/>
            <a:ext cx="846000" cy="396000"/>
          </a:xfrm>
          <a:prstGeom prst="homePlate">
            <a:avLst>
              <a:gd name="adj" fmla="val 13598"/>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移行</a:t>
            </a:r>
            <a:r>
              <a:rPr lang="en-US" altLang="ja-JP" sz="1200" dirty="0">
                <a:ln w="3175">
                  <a:noFill/>
                </a:ln>
                <a:solidFill>
                  <a:schemeClr val="tx1"/>
                </a:solidFill>
                <a:latin typeface="游ゴシック" panose="020B0400000000000000" pitchFamily="50" charset="-128"/>
                <a:ea typeface="游ゴシック" panose="020B0400000000000000" pitchFamily="50" charset="-128"/>
              </a:rPr>
              <a:t>PG</a:t>
            </a: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作成</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7" name="ホームベース 66"/>
          <p:cNvSpPr/>
          <p:nvPr/>
        </p:nvSpPr>
        <p:spPr>
          <a:xfrm>
            <a:off x="1800000" y="5647752"/>
            <a:ext cx="432000" cy="180000"/>
          </a:xfrm>
          <a:prstGeom prst="homePlate">
            <a:avLst>
              <a:gd name="adj" fmla="val 23219"/>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68" name="ホームベース 67"/>
          <p:cNvSpPr/>
          <p:nvPr/>
        </p:nvSpPr>
        <p:spPr>
          <a:xfrm>
            <a:off x="1800000" y="5881620"/>
            <a:ext cx="432000" cy="180000"/>
          </a:xfrm>
          <a:prstGeom prst="homePlate">
            <a:avLst>
              <a:gd name="adj" fmla="val 23219"/>
            </a:avLst>
          </a:prstGeom>
          <a:solidFill>
            <a:schemeClr val="accent1">
              <a:lumMod val="20000"/>
              <a:lumOff val="80000"/>
            </a:schemeClr>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108000" y="3564000"/>
            <a:ext cx="8928000" cy="2880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71" name="正方形/長方形 70"/>
          <p:cNvSpPr/>
          <p:nvPr/>
        </p:nvSpPr>
        <p:spPr>
          <a:xfrm>
            <a:off x="1800000" y="6127686"/>
            <a:ext cx="432000" cy="144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69" name="ホームベース 68"/>
          <p:cNvSpPr/>
          <p:nvPr/>
        </p:nvSpPr>
        <p:spPr>
          <a:xfrm>
            <a:off x="7850255" y="3888000"/>
            <a:ext cx="288000" cy="792000"/>
          </a:xfrm>
          <a:prstGeom prst="homePlate">
            <a:avLst>
              <a:gd name="adj" fmla="val 1595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初</a:t>
            </a:r>
            <a:endPar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期</a:t>
            </a:r>
            <a:endPar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流</a:t>
            </a:r>
            <a:endPar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動</a:t>
            </a:r>
          </a:p>
        </p:txBody>
      </p:sp>
      <p:sp>
        <p:nvSpPr>
          <p:cNvPr id="70" name="ホームベース 69"/>
          <p:cNvSpPr/>
          <p:nvPr/>
        </p:nvSpPr>
        <p:spPr>
          <a:xfrm>
            <a:off x="6891690" y="3888000"/>
            <a:ext cx="630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(ST)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2" name="ホームベース 71"/>
          <p:cNvSpPr/>
          <p:nvPr/>
        </p:nvSpPr>
        <p:spPr>
          <a:xfrm>
            <a:off x="7526580" y="3888000"/>
            <a:ext cx="288000" cy="792000"/>
          </a:xfrm>
          <a:prstGeom prst="homePlate">
            <a:avLst>
              <a:gd name="adj" fmla="val 14515"/>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運</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用</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(OT)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28" name="テキスト ボックス 27"/>
          <p:cNvSpPr txBox="1"/>
          <p:nvPr/>
        </p:nvSpPr>
        <p:spPr>
          <a:xfrm>
            <a:off x="7626541" y="4104000"/>
            <a:ext cx="441146" cy="400110"/>
          </a:xfrm>
          <a:prstGeom prst="rect">
            <a:avLst/>
          </a:prstGeom>
          <a:noFill/>
          <a:ln>
            <a:noFill/>
          </a:ln>
        </p:spPr>
        <p:txBody>
          <a:bodyPr wrap="none" rtlCol="0" anchor="ctr">
            <a:spAutoFit/>
          </a:bodyPr>
          <a:lstStyle/>
          <a:p>
            <a:pPr algn="ctr"/>
            <a:r>
              <a:rPr lang="ja-JP" altLang="en-US" sz="2000" dirty="0">
                <a:ln w="3175">
                  <a:noFill/>
                </a:ln>
                <a:solidFill>
                  <a:schemeClr val="accent2"/>
                </a:solidFill>
                <a:effectLst/>
                <a:latin typeface="游ゴシック" panose="020B0400000000000000" pitchFamily="50" charset="-128"/>
                <a:ea typeface="游ゴシック" panose="020B0400000000000000" pitchFamily="50" charset="-128"/>
              </a:rPr>
              <a:t>★</a:t>
            </a:r>
            <a:endParaRPr kumimoji="1" lang="ja-JP" altLang="en-US" sz="2000" dirty="0">
              <a:ln w="3175">
                <a:noFill/>
              </a:ln>
              <a:solidFill>
                <a:schemeClr val="accent2"/>
              </a:solidFill>
              <a:effectLst/>
              <a:latin typeface="游ゴシック" panose="020B0400000000000000" pitchFamily="50" charset="-128"/>
              <a:ea typeface="游ゴシック" panose="020B0400000000000000" pitchFamily="50" charset="-128"/>
            </a:endParaRPr>
          </a:p>
        </p:txBody>
      </p:sp>
      <p:cxnSp>
        <p:nvCxnSpPr>
          <p:cNvPr id="115" name="直線コネクタ 114"/>
          <p:cNvCxnSpPr/>
          <p:nvPr/>
        </p:nvCxnSpPr>
        <p:spPr>
          <a:xfrm>
            <a:off x="7833576" y="1440000"/>
            <a:ext cx="0" cy="496800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73" name="ホームベース 72"/>
          <p:cNvSpPr/>
          <p:nvPr/>
        </p:nvSpPr>
        <p:spPr>
          <a:xfrm>
            <a:off x="6256799" y="3888000"/>
            <a:ext cx="630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結合</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(IT)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4" name="ホームベース 73"/>
          <p:cNvSpPr/>
          <p:nvPr/>
        </p:nvSpPr>
        <p:spPr>
          <a:xfrm>
            <a:off x="5405908" y="3888000"/>
            <a:ext cx="846000" cy="792000"/>
          </a:xfrm>
          <a:prstGeom prst="homePlate">
            <a:avLst>
              <a:gd name="adj" fmla="val 6373"/>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ﾌﾟﾛｸﾞﾗﾐﾝｸﾞ</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(PS/PG/PT)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5" name="ホームベース 74"/>
          <p:cNvSpPr/>
          <p:nvPr/>
        </p:nvSpPr>
        <p:spPr>
          <a:xfrm>
            <a:off x="4771017" y="3888000"/>
            <a:ext cx="630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構造</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(SS)</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8" name="ホームベース 77"/>
          <p:cNvSpPr/>
          <p:nvPr/>
        </p:nvSpPr>
        <p:spPr>
          <a:xfrm>
            <a:off x="4136126" y="3888000"/>
            <a:ext cx="630000" cy="792000"/>
          </a:xfrm>
          <a:prstGeom prst="homePlate">
            <a:avLst>
              <a:gd name="adj" fmla="val 818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ﾕｰｻﾞ</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ｲﾝﾀﾌｪｰｽ</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(UI)</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79" name="ホームベース 78"/>
          <p:cNvSpPr/>
          <p:nvPr/>
        </p:nvSpPr>
        <p:spPr>
          <a:xfrm>
            <a:off x="3717235" y="3888000"/>
            <a:ext cx="414000" cy="792000"/>
          </a:xfrm>
          <a:prstGeom prst="homePlate">
            <a:avLst>
              <a:gd name="adj" fmla="val 1154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方式</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(SA)</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813931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コンテンツ プレースホルダー 5"/>
          <p:cNvGraphicFramePr>
            <a:graphicFrameLocks/>
          </p:cNvGraphicFramePr>
          <p:nvPr>
            <p:extLst>
              <p:ext uri="{D42A27DB-BD31-4B8C-83A1-F6EECF244321}">
                <p14:modId xmlns:p14="http://schemas.microsoft.com/office/powerpoint/2010/main" val="3027040210"/>
              </p:ext>
            </p:extLst>
          </p:nvPr>
        </p:nvGraphicFramePr>
        <p:xfrm>
          <a:off x="108000" y="864000"/>
          <a:ext cx="8892005" cy="4444990"/>
        </p:xfrm>
        <a:graphic>
          <a:graphicData uri="http://schemas.openxmlformats.org/drawingml/2006/table">
            <a:tbl>
              <a:tblPr firstRow="1" bandRow="1">
                <a:tableStyleId>{5C22544A-7EE6-4342-B048-85BDC9FD1C3A}</a:tableStyleId>
              </a:tblPr>
              <a:tblGrid>
                <a:gridCol w="1057749">
                  <a:extLst>
                    <a:ext uri="{9D8B030D-6E8A-4147-A177-3AD203B41FA5}">
                      <a16:colId xmlns:a16="http://schemas.microsoft.com/office/drawing/2014/main" val="20000"/>
                    </a:ext>
                  </a:extLst>
                </a:gridCol>
                <a:gridCol w="932334">
                  <a:extLst>
                    <a:ext uri="{9D8B030D-6E8A-4147-A177-3AD203B41FA5}">
                      <a16:colId xmlns:a16="http://schemas.microsoft.com/office/drawing/2014/main" val="3366360077"/>
                    </a:ext>
                  </a:extLst>
                </a:gridCol>
                <a:gridCol w="291423">
                  <a:extLst>
                    <a:ext uri="{9D8B030D-6E8A-4147-A177-3AD203B41FA5}">
                      <a16:colId xmlns:a16="http://schemas.microsoft.com/office/drawing/2014/main" val="20011"/>
                    </a:ext>
                  </a:extLst>
                </a:gridCol>
                <a:gridCol w="287413">
                  <a:extLst>
                    <a:ext uri="{9D8B030D-6E8A-4147-A177-3AD203B41FA5}">
                      <a16:colId xmlns:a16="http://schemas.microsoft.com/office/drawing/2014/main" val="20012"/>
                    </a:ext>
                  </a:extLst>
                </a:gridCol>
                <a:gridCol w="287413">
                  <a:extLst>
                    <a:ext uri="{9D8B030D-6E8A-4147-A177-3AD203B41FA5}">
                      <a16:colId xmlns:a16="http://schemas.microsoft.com/office/drawing/2014/main" val="20013"/>
                    </a:ext>
                  </a:extLst>
                </a:gridCol>
                <a:gridCol w="287413">
                  <a:extLst>
                    <a:ext uri="{9D8B030D-6E8A-4147-A177-3AD203B41FA5}">
                      <a16:colId xmlns:a16="http://schemas.microsoft.com/office/drawing/2014/main" val="20014"/>
                    </a:ext>
                  </a:extLst>
                </a:gridCol>
                <a:gridCol w="287413">
                  <a:extLst>
                    <a:ext uri="{9D8B030D-6E8A-4147-A177-3AD203B41FA5}">
                      <a16:colId xmlns:a16="http://schemas.microsoft.com/office/drawing/2014/main" val="20015"/>
                    </a:ext>
                  </a:extLst>
                </a:gridCol>
                <a:gridCol w="287413">
                  <a:extLst>
                    <a:ext uri="{9D8B030D-6E8A-4147-A177-3AD203B41FA5}">
                      <a16:colId xmlns:a16="http://schemas.microsoft.com/office/drawing/2014/main" val="20016"/>
                    </a:ext>
                  </a:extLst>
                </a:gridCol>
                <a:gridCol w="287413">
                  <a:extLst>
                    <a:ext uri="{9D8B030D-6E8A-4147-A177-3AD203B41FA5}">
                      <a16:colId xmlns:a16="http://schemas.microsoft.com/office/drawing/2014/main" val="20017"/>
                    </a:ext>
                  </a:extLst>
                </a:gridCol>
                <a:gridCol w="287413">
                  <a:extLst>
                    <a:ext uri="{9D8B030D-6E8A-4147-A177-3AD203B41FA5}">
                      <a16:colId xmlns:a16="http://schemas.microsoft.com/office/drawing/2014/main" val="20018"/>
                    </a:ext>
                  </a:extLst>
                </a:gridCol>
                <a:gridCol w="287413">
                  <a:extLst>
                    <a:ext uri="{9D8B030D-6E8A-4147-A177-3AD203B41FA5}">
                      <a16:colId xmlns:a16="http://schemas.microsoft.com/office/drawing/2014/main" val="20019"/>
                    </a:ext>
                  </a:extLst>
                </a:gridCol>
                <a:gridCol w="287413">
                  <a:extLst>
                    <a:ext uri="{9D8B030D-6E8A-4147-A177-3AD203B41FA5}">
                      <a16:colId xmlns:a16="http://schemas.microsoft.com/office/drawing/2014/main" val="20020"/>
                    </a:ext>
                  </a:extLst>
                </a:gridCol>
                <a:gridCol w="287413">
                  <a:extLst>
                    <a:ext uri="{9D8B030D-6E8A-4147-A177-3AD203B41FA5}">
                      <a16:colId xmlns:a16="http://schemas.microsoft.com/office/drawing/2014/main" val="20021"/>
                    </a:ext>
                  </a:extLst>
                </a:gridCol>
                <a:gridCol w="287413">
                  <a:extLst>
                    <a:ext uri="{9D8B030D-6E8A-4147-A177-3AD203B41FA5}">
                      <a16:colId xmlns:a16="http://schemas.microsoft.com/office/drawing/2014/main" val="20022"/>
                    </a:ext>
                  </a:extLst>
                </a:gridCol>
                <a:gridCol w="287413">
                  <a:extLst>
                    <a:ext uri="{9D8B030D-6E8A-4147-A177-3AD203B41FA5}">
                      <a16:colId xmlns:a16="http://schemas.microsoft.com/office/drawing/2014/main" val="20023"/>
                    </a:ext>
                  </a:extLst>
                </a:gridCol>
                <a:gridCol w="287413">
                  <a:extLst>
                    <a:ext uri="{9D8B030D-6E8A-4147-A177-3AD203B41FA5}">
                      <a16:colId xmlns:a16="http://schemas.microsoft.com/office/drawing/2014/main" val="20024"/>
                    </a:ext>
                  </a:extLst>
                </a:gridCol>
                <a:gridCol w="287413">
                  <a:extLst>
                    <a:ext uri="{9D8B030D-6E8A-4147-A177-3AD203B41FA5}">
                      <a16:colId xmlns:a16="http://schemas.microsoft.com/office/drawing/2014/main" val="20025"/>
                    </a:ext>
                  </a:extLst>
                </a:gridCol>
                <a:gridCol w="287413">
                  <a:extLst>
                    <a:ext uri="{9D8B030D-6E8A-4147-A177-3AD203B41FA5}">
                      <a16:colId xmlns:a16="http://schemas.microsoft.com/office/drawing/2014/main" val="20026"/>
                    </a:ext>
                  </a:extLst>
                </a:gridCol>
                <a:gridCol w="287413">
                  <a:extLst>
                    <a:ext uri="{9D8B030D-6E8A-4147-A177-3AD203B41FA5}">
                      <a16:colId xmlns:a16="http://schemas.microsoft.com/office/drawing/2014/main" val="4114230898"/>
                    </a:ext>
                  </a:extLst>
                </a:gridCol>
                <a:gridCol w="287413">
                  <a:extLst>
                    <a:ext uri="{9D8B030D-6E8A-4147-A177-3AD203B41FA5}">
                      <a16:colId xmlns:a16="http://schemas.microsoft.com/office/drawing/2014/main" val="1648438691"/>
                    </a:ext>
                  </a:extLst>
                </a:gridCol>
                <a:gridCol w="287413">
                  <a:extLst>
                    <a:ext uri="{9D8B030D-6E8A-4147-A177-3AD203B41FA5}">
                      <a16:colId xmlns:a16="http://schemas.microsoft.com/office/drawing/2014/main" val="2948712564"/>
                    </a:ext>
                  </a:extLst>
                </a:gridCol>
                <a:gridCol w="287413">
                  <a:extLst>
                    <a:ext uri="{9D8B030D-6E8A-4147-A177-3AD203B41FA5}">
                      <a16:colId xmlns:a16="http://schemas.microsoft.com/office/drawing/2014/main" val="1304346756"/>
                    </a:ext>
                  </a:extLst>
                </a:gridCol>
                <a:gridCol w="287413">
                  <a:extLst>
                    <a:ext uri="{9D8B030D-6E8A-4147-A177-3AD203B41FA5}">
                      <a16:colId xmlns:a16="http://schemas.microsoft.com/office/drawing/2014/main" val="3209152221"/>
                    </a:ext>
                  </a:extLst>
                </a:gridCol>
                <a:gridCol w="287413">
                  <a:extLst>
                    <a:ext uri="{9D8B030D-6E8A-4147-A177-3AD203B41FA5}">
                      <a16:colId xmlns:a16="http://schemas.microsoft.com/office/drawing/2014/main" val="20027"/>
                    </a:ext>
                  </a:extLst>
                </a:gridCol>
                <a:gridCol w="287413">
                  <a:extLst>
                    <a:ext uri="{9D8B030D-6E8A-4147-A177-3AD203B41FA5}">
                      <a16:colId xmlns:a16="http://schemas.microsoft.com/office/drawing/2014/main" val="20028"/>
                    </a:ext>
                  </a:extLst>
                </a:gridCol>
                <a:gridCol w="287413">
                  <a:extLst>
                    <a:ext uri="{9D8B030D-6E8A-4147-A177-3AD203B41FA5}">
                      <a16:colId xmlns:a16="http://schemas.microsoft.com/office/drawing/2014/main" val="20029"/>
                    </a:ext>
                  </a:extLst>
                </a:gridCol>
              </a:tblGrid>
              <a:tr h="179709">
                <a:tc rowSpan="2" gridSpan="2">
                  <a:txBody>
                    <a:bodyPr/>
                    <a:lstStyle/>
                    <a:p>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rowSpan="2" hMerge="1">
                  <a:txBody>
                    <a:bodyPr/>
                    <a:lstStyle/>
                    <a:p>
                      <a:endParaRPr kumimoji="1" lang="ja-JP" altLang="en-US"/>
                    </a:p>
                  </a:txBody>
                  <a:tcPr/>
                </a:tc>
                <a:tc gridSpan="6">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2020</a:t>
                      </a:r>
                      <a:r>
                        <a:rPr kumimoji="1" lang="ja-JP" altLang="en-US" sz="1400" b="1" dirty="0">
                          <a:solidFill>
                            <a:schemeClr val="bg1"/>
                          </a:solidFill>
                          <a:latin typeface="游ゴシック" panose="020B0400000000000000" pitchFamily="50" charset="-128"/>
                          <a:ea typeface="游ゴシック" panose="020B0400000000000000"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12">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2021</a:t>
                      </a:r>
                      <a:r>
                        <a:rPr kumimoji="1" lang="ja-JP" altLang="en-US" sz="1400" b="1" dirty="0">
                          <a:solidFill>
                            <a:schemeClr val="bg1"/>
                          </a:solidFill>
                          <a:latin typeface="游ゴシック" panose="020B0400000000000000" pitchFamily="50" charset="-128"/>
                          <a:ea typeface="游ゴシック" panose="020B0400000000000000"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6">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2022</a:t>
                      </a:r>
                      <a:r>
                        <a:rPr kumimoji="1" lang="ja-JP" altLang="en-US" sz="1400" b="1" dirty="0">
                          <a:solidFill>
                            <a:schemeClr val="bg1"/>
                          </a:solidFill>
                          <a:latin typeface="游ゴシック" panose="020B0400000000000000" pitchFamily="50" charset="-128"/>
                          <a:ea typeface="游ゴシック" panose="020B0400000000000000" pitchFamily="50" charset="-128"/>
                        </a:rPr>
                        <a:t>年度</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0">
                <a:tc gridSpan="2" vMerge="1">
                  <a:txBody>
                    <a:bodyPr/>
                    <a:lstStyle/>
                    <a:p>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hMerge="1" vMerge="1">
                  <a:txBody>
                    <a:bodyPr/>
                    <a:lstStyle/>
                    <a:p>
                      <a:endParaRPr kumimoji="1" lang="ja-JP" altLang="en-US"/>
                    </a:p>
                  </a:txBody>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3Q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1"/>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3Q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A01D45"/>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4Q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1Q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gridSpan="3">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2Q</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tc hMerge="1">
                  <a:txBody>
                    <a:bodyP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accent3">
                          <a:lumMod val="60000"/>
                          <a:lumOff val="40000"/>
                        </a:schemeClr>
                      </a:solidFill>
                      <a:prstDash val="solid"/>
                      <a:round/>
                      <a:headEnd type="none" w="med" len="med"/>
                      <a:tailEnd type="none" w="med" len="med"/>
                    </a:lnL>
                    <a:lnR w="6350" cap="flat" cmpd="sng" algn="ctr">
                      <a:solidFill>
                        <a:schemeClr val="accent3">
                          <a:lumMod val="60000"/>
                          <a:lumOff val="40000"/>
                        </a:schemeClr>
                      </a:solidFill>
                      <a:prstDash val="solid"/>
                      <a:round/>
                      <a:headEnd type="none" w="med" len="med"/>
                      <a:tailEnd type="none" w="med" len="med"/>
                    </a:lnR>
                    <a:lnT w="6350" cap="flat" cmpd="sng" algn="ctr">
                      <a:solidFill>
                        <a:schemeClr val="accent3">
                          <a:lumMod val="60000"/>
                          <a:lumOff val="40000"/>
                        </a:schemeClr>
                      </a:solidFill>
                      <a:prstDash val="solid"/>
                      <a:round/>
                      <a:headEnd type="none" w="med" len="med"/>
                      <a:tailEnd type="none" w="med" len="med"/>
                    </a:lnT>
                    <a:lnB w="6350" cap="flat" cmpd="sng" algn="ctr">
                      <a:solidFill>
                        <a:schemeClr val="accent3">
                          <a:lumMod val="60000"/>
                          <a:lumOff val="40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1"/>
                  </a:ext>
                </a:extLst>
              </a:tr>
              <a:tr h="949216">
                <a:tc gridSpan="2">
                  <a:txBody>
                    <a:bodyPr/>
                    <a:lstStyle/>
                    <a:p>
                      <a:r>
                        <a:rPr kumimoji="1" lang="ja-JP" altLang="en-US" sz="1400" b="0" dirty="0">
                          <a:latin typeface="游ゴシック" panose="020B0400000000000000" pitchFamily="50" charset="-128"/>
                          <a:ea typeface="游ゴシック" panose="020B0400000000000000" pitchFamily="50" charset="-128"/>
                        </a:rPr>
                        <a:t>工程</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en-US" altLang="ja-JP" sz="1400" b="1"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33932990"/>
                  </a:ext>
                </a:extLst>
              </a:tr>
              <a:tr h="322846">
                <a:tc rowSpan="5">
                  <a:txBody>
                    <a:bodyPr/>
                    <a:lstStyle/>
                    <a:p>
                      <a:r>
                        <a:rPr kumimoji="1" lang="ja-JP" altLang="en-US" sz="1400" b="0" dirty="0">
                          <a:latin typeface="游ゴシック" panose="020B0400000000000000" pitchFamily="50" charset="-128"/>
                          <a:ea typeface="游ゴシック" panose="020B0400000000000000" pitchFamily="50" charset="-128"/>
                        </a:rPr>
                        <a:t>システム</a:t>
                      </a:r>
                      <a:endParaRPr kumimoji="1" lang="en-US" altLang="ja-JP" sz="1400" b="0" dirty="0">
                        <a:latin typeface="游ゴシック" panose="020B0400000000000000" pitchFamily="50" charset="-128"/>
                        <a:ea typeface="游ゴシック" panose="020B0400000000000000" pitchFamily="50" charset="-128"/>
                      </a:endParaRPr>
                    </a:p>
                    <a:p>
                      <a:r>
                        <a:rPr kumimoji="1" lang="ja-JP" altLang="en-US" sz="1400" b="0" dirty="0">
                          <a:latin typeface="游ゴシック" panose="020B0400000000000000" pitchFamily="50" charset="-128"/>
                          <a:ea typeface="游ゴシック" panose="020B0400000000000000" pitchFamily="50" charset="-128"/>
                        </a:rPr>
                        <a:t>エグゼ</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PM</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7509442"/>
                  </a:ext>
                </a:extLst>
              </a:tr>
              <a:tr h="322846">
                <a:tc vMerge="1">
                  <a:txBody>
                    <a:bodyPr/>
                    <a:lstStyle/>
                    <a:p>
                      <a:endParaRPr kumimoji="1" lang="en-US" altLang="ja-JP" sz="1400" b="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PMO</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22846">
                <a:tc vMerge="1">
                  <a:txBody>
                    <a:bodyPr/>
                    <a:lstStyle/>
                    <a:p>
                      <a:endParaRPr kumimoji="1" lang="en-US" altLang="ja-JP" sz="1400" b="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BSE</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22846">
                <a:tc vMerge="1">
                  <a:txBody>
                    <a:bodyPr/>
                    <a:lstStyle/>
                    <a:p>
                      <a:endParaRPr kumimoji="1" lang="ja-JP" altLang="en-US" sz="1400" b="1"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TL</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4470703"/>
                  </a:ext>
                </a:extLst>
              </a:tr>
              <a:tr h="322846">
                <a:tc vMerge="1">
                  <a:txBody>
                    <a:bodyPr/>
                    <a:lstStyle/>
                    <a:p>
                      <a:endParaRPr kumimoji="1" lang="ja-JP" altLang="en-US" sz="1400" b="1"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SE</a:t>
                      </a:r>
                      <a:r>
                        <a:rPr kumimoji="1" lang="ja-JP" altLang="en-US" sz="1400" b="0" dirty="0">
                          <a:latin typeface="游ゴシック" panose="020B0400000000000000" pitchFamily="50" charset="-128"/>
                          <a:ea typeface="游ゴシック" panose="020B0400000000000000" pitchFamily="50" charset="-128"/>
                        </a:rPr>
                        <a:t>・</a:t>
                      </a:r>
                      <a:r>
                        <a:rPr kumimoji="1" lang="en-US" altLang="ja-JP" sz="1400" b="0" dirty="0">
                          <a:latin typeface="游ゴシック" panose="020B0400000000000000" pitchFamily="50" charset="-128"/>
                          <a:ea typeface="游ゴシック" panose="020B0400000000000000" pitchFamily="50" charset="-128"/>
                        </a:rPr>
                        <a:t>PG</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7</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7</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7</a:t>
                      </a: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7</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39067970"/>
                  </a:ext>
                </a:extLst>
              </a:tr>
              <a:tr h="322846">
                <a:tc rowSpan="3">
                  <a:txBody>
                    <a:bodyPr/>
                    <a:lstStyle/>
                    <a:p>
                      <a:r>
                        <a:rPr kumimoji="1" lang="ja-JP" altLang="en-US" sz="1400" b="0" dirty="0">
                          <a:latin typeface="游ゴシック" panose="020B0400000000000000" pitchFamily="50" charset="-128"/>
                          <a:ea typeface="游ゴシック" panose="020B0400000000000000" pitchFamily="50" charset="-128"/>
                        </a:rPr>
                        <a:t>システム</a:t>
                      </a:r>
                      <a:endParaRPr kumimoji="1" lang="en-US" altLang="ja-JP" sz="1400" b="0" dirty="0">
                        <a:latin typeface="游ゴシック" panose="020B0400000000000000" pitchFamily="50" charset="-128"/>
                        <a:ea typeface="游ゴシック" panose="020B0400000000000000" pitchFamily="50" charset="-128"/>
                      </a:endParaRPr>
                    </a:p>
                    <a:p>
                      <a:r>
                        <a:rPr kumimoji="1" lang="ja-JP" altLang="en-US" sz="1400" b="0" dirty="0">
                          <a:latin typeface="游ゴシック" panose="020B0400000000000000" pitchFamily="50" charset="-128"/>
                          <a:ea typeface="游ゴシック" panose="020B0400000000000000" pitchFamily="50" charset="-128"/>
                        </a:rPr>
                        <a:t>エグゼ</a:t>
                      </a:r>
                      <a:endParaRPr kumimoji="1" lang="en-US" altLang="ja-JP" sz="1400" b="0" dirty="0">
                        <a:latin typeface="游ゴシック" panose="020B0400000000000000" pitchFamily="50" charset="-128"/>
                        <a:ea typeface="游ゴシック" panose="020B0400000000000000" pitchFamily="50" charset="-128"/>
                      </a:endParaRPr>
                    </a:p>
                    <a:p>
                      <a:r>
                        <a:rPr kumimoji="1" lang="ja-JP" altLang="en-US" sz="1400" b="0" dirty="0">
                          <a:latin typeface="游ゴシック" panose="020B0400000000000000" pitchFamily="50" charset="-128"/>
                          <a:ea typeface="游ゴシック" panose="020B0400000000000000" pitchFamily="50" charset="-128"/>
                        </a:rPr>
                        <a:t>ベトナム</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BSE</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endParaRPr kumimoji="1" lang="ja-JP" altLang="en-US" sz="140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56445268"/>
                  </a:ext>
                </a:extLst>
              </a:tr>
              <a:tr h="322846">
                <a:tc vMerge="1">
                  <a:txBody>
                    <a:bodyPr/>
                    <a:lstStyle/>
                    <a:p>
                      <a:endParaRPr kumimoji="1" lang="ja-JP" altLang="en-US" sz="1400" b="1"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TL</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endParaRPr kumimoji="1" lang="ja-JP" altLang="en-US" sz="140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39596351"/>
                  </a:ext>
                </a:extLst>
              </a:tr>
              <a:tr h="322846">
                <a:tc vMerge="1">
                  <a:txBody>
                    <a:bodyPr/>
                    <a:lstStyle/>
                    <a:p>
                      <a:endParaRPr kumimoji="1" lang="ja-JP" altLang="en-US" sz="1400" b="1"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dirty="0">
                          <a:latin typeface="游ゴシック" panose="020B0400000000000000" pitchFamily="50" charset="-128"/>
                          <a:ea typeface="游ゴシック" panose="020B0400000000000000" pitchFamily="50" charset="-128"/>
                        </a:rPr>
                        <a:t>SE</a:t>
                      </a:r>
                      <a:r>
                        <a:rPr kumimoji="1" lang="ja-JP" altLang="en-US" sz="1400" b="0" dirty="0">
                          <a:latin typeface="游ゴシック" panose="020B0400000000000000" pitchFamily="50" charset="-128"/>
                          <a:ea typeface="游ゴシック" panose="020B0400000000000000" pitchFamily="50" charset="-128"/>
                        </a:rPr>
                        <a:t>・</a:t>
                      </a:r>
                      <a:r>
                        <a:rPr kumimoji="1" lang="en-US" altLang="ja-JP" sz="1400" b="0" dirty="0">
                          <a:latin typeface="游ゴシック" panose="020B0400000000000000" pitchFamily="50" charset="-128"/>
                          <a:ea typeface="游ゴシック" panose="020B0400000000000000" pitchFamily="50" charset="-128"/>
                        </a:rPr>
                        <a:t>PG</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endParaRPr kumimoji="1" lang="ja-JP" altLang="en-US" sz="140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10</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10</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10</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10</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a:t>
                      </a: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endParaRPr kumimoji="1" lang="ja-JP" altLang="en-US" sz="1400"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81162835"/>
                  </a:ext>
                </a:extLst>
              </a:tr>
              <a:tr h="322846">
                <a:tc gridSpan="2">
                  <a:txBody>
                    <a:bodyPr/>
                    <a:lstStyle/>
                    <a:p>
                      <a:r>
                        <a:rPr kumimoji="1" lang="ja-JP" altLang="en-US" sz="1400" b="1" dirty="0">
                          <a:latin typeface="游ゴシック" panose="020B0400000000000000" pitchFamily="50" charset="-128"/>
                          <a:ea typeface="游ゴシック" panose="020B0400000000000000" pitchFamily="50" charset="-128"/>
                        </a:rPr>
                        <a:t>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hMerge="1">
                  <a:txBody>
                    <a:bodyPr/>
                    <a:lstStyle/>
                    <a:p>
                      <a:endParaRPr kumimoji="1" lang="en-US" altLang="ja-JP" sz="1400" b="1"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11</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17</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17</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17</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17</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17</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19</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22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22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22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22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19</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19</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19</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13</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13</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13</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12</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4</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4</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b="1" dirty="0">
                          <a:latin typeface="游ゴシック" panose="020B0400000000000000" pitchFamily="50" charset="-128"/>
                          <a:ea typeface="游ゴシック" panose="020B0400000000000000" pitchFamily="50" charset="-128"/>
                        </a:rPr>
                        <a:t>4</a:t>
                      </a:r>
                      <a:endParaRPr kumimoji="1" lang="ja-JP" altLang="en-US" sz="1400" b="1" dirty="0">
                        <a:latin typeface="游ゴシック" panose="020B0400000000000000" pitchFamily="50" charset="-128"/>
                        <a:ea typeface="游ゴシック" panose="020B0400000000000000" pitchFamily="50" charset="-128"/>
                      </a:endParaRPr>
                    </a:p>
                  </a:txBody>
                  <a:tcPr marL="0" marR="0" anchor="ct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1740827"/>
                  </a:ext>
                </a:extLst>
              </a:tr>
            </a:tbl>
          </a:graphicData>
        </a:graphic>
      </p:graphicFrame>
      <p:sp>
        <p:nvSpPr>
          <p:cNvPr id="2" name="タイトル 1"/>
          <p:cNvSpPr>
            <a:spLocks noGrp="1"/>
          </p:cNvSpPr>
          <p:nvPr>
            <p:ph type="title"/>
          </p:nvPr>
        </p:nvSpPr>
        <p:spPr/>
        <p:txBody>
          <a:bodyPr/>
          <a:lstStyle/>
          <a:p>
            <a:r>
              <a:rPr lang="ja-JP" altLang="en-US" dirty="0"/>
              <a:t>要員計画</a:t>
            </a:r>
            <a:endParaRPr kumimoji="1" lang="ja-JP" altLang="en-US" dirty="0"/>
          </a:p>
        </p:txBody>
      </p:sp>
      <p:sp>
        <p:nvSpPr>
          <p:cNvPr id="3" name="コンテンツ プレースホルダー 2"/>
          <p:cNvSpPr>
            <a:spLocks noGrp="1"/>
          </p:cNvSpPr>
          <p:nvPr>
            <p:ph idx="1"/>
          </p:nvPr>
        </p:nvSpPr>
        <p:spPr>
          <a:xfrm>
            <a:off x="144000" y="5472000"/>
            <a:ext cx="8856000" cy="900000"/>
          </a:xfrm>
        </p:spPr>
        <p:txBody>
          <a:bodyPr anchor="b"/>
          <a:lstStyle/>
          <a:p>
            <a:pPr>
              <a:spcBef>
                <a:spcPts val="600"/>
              </a:spcBef>
              <a:buFont typeface="游ゴシック" panose="020B0400000000000000" pitchFamily="50" charset="-128"/>
              <a:buChar char="※"/>
            </a:pPr>
            <a:r>
              <a:rPr lang="ja-JP" altLang="en-US" sz="1200" dirty="0"/>
              <a:t>全体工期につきましては、</a:t>
            </a:r>
            <a:r>
              <a:rPr lang="en-US" altLang="ja-JP" sz="1200" dirty="0"/>
              <a:t>JUAS</a:t>
            </a:r>
            <a:r>
              <a:rPr lang="ja-JP" altLang="en-US" sz="1200" dirty="0"/>
              <a:t>（一般社団法人日本情報システム・ユーザー協会）発行の「ソフトウェアメトリックス</a:t>
            </a:r>
            <a:r>
              <a:rPr lang="en-US" altLang="ja-JP" sz="1200" dirty="0"/>
              <a:t>2019</a:t>
            </a:r>
            <a:r>
              <a:rPr lang="ja-JP" altLang="en-US" sz="1200" dirty="0"/>
              <a:t>年版」による統計情報と比較し概ね妥当であることを確認しております。</a:t>
            </a:r>
            <a:endParaRPr lang="en-US" altLang="ja-JP" sz="1200" dirty="0"/>
          </a:p>
          <a:p>
            <a:pPr>
              <a:spcBef>
                <a:spcPts val="600"/>
              </a:spcBef>
              <a:buFont typeface="游ゴシック" panose="020B0400000000000000" pitchFamily="50" charset="-128"/>
              <a:buChar char="※"/>
            </a:pPr>
            <a:r>
              <a:rPr kumimoji="1" lang="ja-JP" altLang="en-US" sz="1200" dirty="0"/>
              <a:t>各工程の工期につきましては、</a:t>
            </a:r>
            <a:r>
              <a:rPr lang="en-US" altLang="ja-JP" sz="1200" dirty="0"/>
              <a:t>IPA</a:t>
            </a:r>
            <a:r>
              <a:rPr lang="ja-JP" altLang="en-US" sz="1200" dirty="0"/>
              <a:t>（</a:t>
            </a:r>
            <a:r>
              <a:rPr lang="zh-TW" altLang="en-US" sz="1200" dirty="0"/>
              <a:t>独立行政法人情報処理推進機構</a:t>
            </a:r>
            <a:r>
              <a:rPr lang="ja-JP" altLang="en-US" sz="1200" dirty="0"/>
              <a:t>）発行の「ソフトウェア開発データ白書 </a:t>
            </a:r>
            <a:r>
              <a:rPr lang="en-US" altLang="ja-JP" sz="1200" dirty="0"/>
              <a:t>2018-2019</a:t>
            </a:r>
            <a:r>
              <a:rPr lang="ja-JP" altLang="en-US" sz="1200" dirty="0"/>
              <a:t>」の工程別工期に基づき算出し、要員計画にて実現可能なスケジュールに調整しております。</a:t>
            </a:r>
            <a:endParaRPr kumimoji="1" lang="en-US" altLang="ja-JP" sz="1200"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32</a:t>
            </a:fld>
            <a:endParaRPr kumimoji="1" lang="ja-JP" altLang="en-US"/>
          </a:p>
        </p:txBody>
      </p:sp>
      <p:grpSp>
        <p:nvGrpSpPr>
          <p:cNvPr id="20" name="グループ化 19"/>
          <p:cNvGrpSpPr/>
          <p:nvPr/>
        </p:nvGrpSpPr>
        <p:grpSpPr>
          <a:xfrm>
            <a:off x="2100309" y="1512000"/>
            <a:ext cx="6877066" cy="792000"/>
            <a:chOff x="2100309" y="1494533"/>
            <a:chExt cx="6877066" cy="792000"/>
          </a:xfrm>
        </p:grpSpPr>
        <p:sp>
          <p:nvSpPr>
            <p:cNvPr id="7" name="ホームベース 6"/>
            <p:cNvSpPr/>
            <p:nvPr/>
          </p:nvSpPr>
          <p:spPr>
            <a:xfrm>
              <a:off x="7699240" y="1494533"/>
              <a:ext cx="414000" cy="792000"/>
            </a:xfrm>
            <a:prstGeom prst="homePlate">
              <a:avLst>
                <a:gd name="adj" fmla="val 1595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初</a:t>
              </a:r>
              <a:endPar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期</a:t>
              </a:r>
              <a:endPar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流</a:t>
              </a:r>
              <a:endPar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rPr>
                <a:t>動</a:t>
              </a:r>
            </a:p>
          </p:txBody>
        </p:sp>
        <p:sp>
          <p:nvSpPr>
            <p:cNvPr id="9" name="ホームベース 8"/>
            <p:cNvSpPr/>
            <p:nvPr/>
          </p:nvSpPr>
          <p:spPr>
            <a:xfrm>
              <a:off x="7267107" y="1494533"/>
              <a:ext cx="414000" cy="792000"/>
            </a:xfrm>
            <a:prstGeom prst="homePlate">
              <a:avLst>
                <a:gd name="adj" fmla="val 14515"/>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運</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用</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(OT)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0" name="テキスト ボックス 9"/>
            <p:cNvSpPr txBox="1"/>
            <p:nvPr/>
          </p:nvSpPr>
          <p:spPr>
            <a:xfrm>
              <a:off x="7470769" y="1710533"/>
              <a:ext cx="441146" cy="400110"/>
            </a:xfrm>
            <a:prstGeom prst="rect">
              <a:avLst/>
            </a:prstGeom>
            <a:noFill/>
            <a:ln>
              <a:noFill/>
            </a:ln>
          </p:spPr>
          <p:txBody>
            <a:bodyPr wrap="none" rtlCol="0" anchor="ctr">
              <a:spAutoFit/>
            </a:bodyPr>
            <a:lstStyle/>
            <a:p>
              <a:pPr algn="ctr"/>
              <a:r>
                <a:rPr lang="ja-JP" altLang="en-US" sz="2000" dirty="0">
                  <a:ln w="3175">
                    <a:noFill/>
                  </a:ln>
                  <a:solidFill>
                    <a:schemeClr val="accent2"/>
                  </a:solidFill>
                  <a:effectLst/>
                  <a:latin typeface="游ゴシック" panose="020B0400000000000000" pitchFamily="50" charset="-128"/>
                  <a:ea typeface="游ゴシック" panose="020B0400000000000000" pitchFamily="50" charset="-128"/>
                </a:rPr>
                <a:t>★</a:t>
              </a:r>
              <a:endParaRPr kumimoji="1" lang="ja-JP" altLang="en-US" sz="2000" dirty="0">
                <a:ln w="3175">
                  <a:noFill/>
                </a:ln>
                <a:solidFill>
                  <a:schemeClr val="accent2"/>
                </a:solidFill>
                <a:effectLst/>
                <a:latin typeface="游ゴシック" panose="020B0400000000000000" pitchFamily="50" charset="-128"/>
                <a:ea typeface="游ゴシック" panose="020B0400000000000000" pitchFamily="50" charset="-128"/>
              </a:endParaRPr>
            </a:p>
          </p:txBody>
        </p:sp>
        <p:sp>
          <p:nvSpPr>
            <p:cNvPr id="8" name="ホームベース 7"/>
            <p:cNvSpPr/>
            <p:nvPr/>
          </p:nvSpPr>
          <p:spPr>
            <a:xfrm>
              <a:off x="6412401" y="1494533"/>
              <a:ext cx="846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(ST)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1" name="ホームベース 10"/>
            <p:cNvSpPr/>
            <p:nvPr/>
          </p:nvSpPr>
          <p:spPr>
            <a:xfrm>
              <a:off x="5538841" y="1494533"/>
              <a:ext cx="846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結合</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ﾃｽﾄ</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(IT)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2" name="ホームベース 11"/>
            <p:cNvSpPr/>
            <p:nvPr/>
          </p:nvSpPr>
          <p:spPr>
            <a:xfrm>
              <a:off x="4395281" y="1494533"/>
              <a:ext cx="1116000" cy="792000"/>
            </a:xfrm>
            <a:prstGeom prst="homePlate">
              <a:avLst>
                <a:gd name="adj" fmla="val 7563"/>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ﾌﾟﾛｸﾞﾗﾐﾝｸﾞ</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(PS/PG/PT)</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3" name="ホームベース 12"/>
            <p:cNvSpPr/>
            <p:nvPr/>
          </p:nvSpPr>
          <p:spPr>
            <a:xfrm>
              <a:off x="3531148" y="1494533"/>
              <a:ext cx="846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構造</a:t>
              </a:r>
              <a:endParaRPr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(SS)</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4" name="ホームベース 13"/>
            <p:cNvSpPr/>
            <p:nvPr/>
          </p:nvSpPr>
          <p:spPr>
            <a:xfrm>
              <a:off x="2667015" y="1494533"/>
              <a:ext cx="846000" cy="792000"/>
            </a:xfrm>
            <a:prstGeom prst="homePlate">
              <a:avLst>
                <a:gd name="adj" fmla="val 818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ﾕｰｻﾞ</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ｲﾝﾀﾌｪｰｽ</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effectLst/>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(UI)</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5" name="ホームベース 14"/>
            <p:cNvSpPr/>
            <p:nvPr/>
          </p:nvSpPr>
          <p:spPr>
            <a:xfrm>
              <a:off x="2100309" y="1494533"/>
              <a:ext cx="558000" cy="792000"/>
            </a:xfrm>
            <a:prstGeom prst="homePlate">
              <a:avLst>
                <a:gd name="adj" fmla="val 11546"/>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ｼｽﾃﾑ</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方式</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設計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r>
                <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rPr>
                <a:t>(SA)</a:t>
              </a: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sp>
          <p:nvSpPr>
            <p:cNvPr id="17" name="ホームベース 16"/>
            <p:cNvSpPr/>
            <p:nvPr/>
          </p:nvSpPr>
          <p:spPr>
            <a:xfrm>
              <a:off x="8131375" y="1494533"/>
              <a:ext cx="846000" cy="792000"/>
            </a:xfrm>
            <a:prstGeom prst="homePlate">
              <a:avLst>
                <a:gd name="adj" fmla="val 7514"/>
              </a:avLst>
            </a:prstGeom>
            <a:solidFill>
              <a:schemeClr val="accent2">
                <a:lumMod val="20000"/>
                <a:lumOff val="80000"/>
              </a:schemeClr>
            </a:solidFill>
            <a:ln w="12700">
              <a:solidFill>
                <a:schemeClr val="accent2"/>
              </a:solidFill>
              <a:miter lim="800000"/>
            </a:ln>
          </p:spPr>
          <p:style>
            <a:lnRef idx="3">
              <a:schemeClr val="lt1"/>
            </a:lnRef>
            <a:fillRef idx="1">
              <a:schemeClr val="accent1"/>
            </a:fillRef>
            <a:effectRef idx="1">
              <a:schemeClr val="accent1"/>
            </a:effectRef>
            <a:fontRef idx="minor">
              <a:schemeClr val="lt1"/>
            </a:fontRef>
          </p:style>
          <p:txBody>
            <a:bodyPr wrap="none" lIns="46800" rtlCol="0" anchor="ctr"/>
            <a:lstStyle/>
            <a:p>
              <a:pPr algn="ctr"/>
              <a:r>
                <a:rPr lang="ja-JP" altLang="en-US" sz="1200" dirty="0">
                  <a:ln w="3175">
                    <a:noFill/>
                  </a:ln>
                  <a:solidFill>
                    <a:schemeClr val="tx1"/>
                  </a:solidFill>
                  <a:latin typeface="游ゴシック" panose="020B0400000000000000" pitchFamily="50" charset="-128"/>
                  <a:ea typeface="游ゴシック" panose="020B0400000000000000" pitchFamily="50" charset="-128"/>
                </a:rPr>
                <a:t>保守</a:t>
              </a: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endParaRPr kumimoji="1" lang="en-US" altLang="ja-JP" sz="1200" dirty="0">
                <a:ln w="3175">
                  <a:noFill/>
                </a:ln>
                <a:solidFill>
                  <a:schemeClr val="tx1"/>
                </a:solidFill>
                <a:effectLst/>
                <a:latin typeface="游ゴシック" panose="020B0400000000000000" pitchFamily="50" charset="-128"/>
                <a:ea typeface="游ゴシック" panose="020B0400000000000000" pitchFamily="50" charset="-128"/>
              </a:endParaRPr>
            </a:p>
            <a:p>
              <a:pPr algn="ctr"/>
              <a:endParaRPr lang="en-US" altLang="ja-JP" sz="1200" dirty="0">
                <a:ln w="3175">
                  <a:noFill/>
                </a:ln>
                <a:solidFill>
                  <a:schemeClr val="tx1"/>
                </a:solidFill>
                <a:latin typeface="游ゴシック" panose="020B0400000000000000" pitchFamily="50" charset="-128"/>
                <a:ea typeface="游ゴシック" panose="020B0400000000000000" pitchFamily="50" charset="-128"/>
              </a:endParaRPr>
            </a:p>
            <a:p>
              <a:pPr algn="ctr"/>
              <a:endParaRPr kumimoji="1" lang="ja-JP" altLang="en-US" sz="1200" dirty="0">
                <a:ln w="3175">
                  <a:noFill/>
                </a:ln>
                <a:solidFill>
                  <a:schemeClr val="tx1"/>
                </a:solidFill>
                <a:effectLst/>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2894928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システム方式設計（</a:t>
            </a:r>
            <a:r>
              <a:rPr kumimoji="1" lang="en-US" altLang="ja-JP" dirty="0"/>
              <a:t>SA</a:t>
            </a:r>
            <a:r>
              <a:rPr kumimoji="1" lang="ja-JP" altLang="en-US" dirty="0"/>
              <a:t>）</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33</a:t>
            </a:fld>
            <a:endParaRPr kumimoji="1" lang="ja-JP" altLang="en-US"/>
          </a:p>
        </p:txBody>
      </p:sp>
      <p:sp>
        <p:nvSpPr>
          <p:cNvPr id="19" name="楕円 18"/>
          <p:cNvSpPr>
            <a:spLocks noChangeAspect="1"/>
          </p:cNvSpPr>
          <p:nvPr/>
        </p:nvSpPr>
        <p:spPr>
          <a:xfrm>
            <a:off x="3528000" y="1404000"/>
            <a:ext cx="2088000" cy="2088000"/>
          </a:xfrm>
          <a:prstGeom prst="ellipse">
            <a:avLst/>
          </a:prstGeom>
          <a:noFill/>
          <a:ln w="3810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21" name="正方形/長方形 20"/>
          <p:cNvSpPr/>
          <p:nvPr/>
        </p:nvSpPr>
        <p:spPr>
          <a:xfrm>
            <a:off x="396000" y="3492000"/>
            <a:ext cx="2088000" cy="2448000"/>
          </a:xfrm>
          <a:prstGeom prst="rect">
            <a:avLst/>
          </a:prstGeom>
          <a:solidFill>
            <a:srgbClr val="DEEBF7">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latinLnBrk="1">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現行システムに関する資料を収集します。システムの内容・流れを把握したら、機能概要をまとます。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latinLnBrk="1">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また、システム化のゴールおよびその進め方を検討し、システム化方針案として作成します。</a:t>
            </a:r>
          </a:p>
        </p:txBody>
      </p:sp>
      <p:sp>
        <p:nvSpPr>
          <p:cNvPr id="22" name="正方形/長方形 21"/>
          <p:cNvSpPr/>
          <p:nvPr/>
        </p:nvSpPr>
        <p:spPr>
          <a:xfrm>
            <a:off x="2485029" y="3492000"/>
            <a:ext cx="2088000" cy="2448000"/>
          </a:xfrm>
          <a:prstGeom prst="rect">
            <a:avLst/>
          </a:prstGeom>
          <a:solidFill>
            <a:srgbClr val="FBE5D6">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システム化方針案をもとに具体化・詳細化し、システム化範囲および非機能要件を定義します。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機能集約や未使用機能の廃止などについても検討し、システムの最適化を図ります。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23" name="正方形/長方形 22"/>
          <p:cNvSpPr/>
          <p:nvPr/>
        </p:nvSpPr>
        <p:spPr>
          <a:xfrm>
            <a:off x="4572000" y="3492000"/>
            <a:ext cx="2088000" cy="2448000"/>
          </a:xfrm>
          <a:prstGeom prst="rect">
            <a:avLst/>
          </a:prstGeom>
          <a:solidFill>
            <a:srgbClr val="FFF2CC">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a:spcBef>
                <a:spcPts val="600"/>
              </a:spcBef>
            </a:pPr>
            <a:r>
              <a:rPr kumimoji="1" lang="ja-JP" altLang="en-US" sz="1400" dirty="0">
                <a:solidFill>
                  <a:schemeClr val="tx1"/>
                </a:solidFill>
                <a:latin typeface="游ゴシック" panose="020B0400000000000000" pitchFamily="50" charset="-128"/>
                <a:ea typeface="游ゴシック" panose="020B0400000000000000" pitchFamily="50" charset="-128"/>
              </a:rPr>
              <a:t>システム化範囲およ</a:t>
            </a:r>
            <a:r>
              <a:rPr lang="ja-JP" altLang="en-US" sz="1400" dirty="0">
                <a:solidFill>
                  <a:schemeClr val="tx1"/>
                </a:solidFill>
                <a:latin typeface="游ゴシック" panose="020B0400000000000000" pitchFamily="50" charset="-128"/>
                <a:ea typeface="游ゴシック" panose="020B0400000000000000" pitchFamily="50" charset="-128"/>
              </a:rPr>
              <a:t>び非機能要件について、問題がないか利用部門を交えて確認します。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機能改善等の要望があればヒアリングすることも可能ですが、現時点では、現行踏襲を原則とすることを想定しております。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24" name="正方形/長方形 23"/>
          <p:cNvSpPr/>
          <p:nvPr/>
        </p:nvSpPr>
        <p:spPr>
          <a:xfrm>
            <a:off x="6660000" y="3492000"/>
            <a:ext cx="2088000" cy="2448000"/>
          </a:xfrm>
          <a:prstGeom prst="rect">
            <a:avLst/>
          </a:prstGeom>
          <a:solidFill>
            <a:srgbClr val="E2F0D9">
              <a:alpha val="50196"/>
            </a:srgbClr>
          </a:solidFill>
          <a:ln>
            <a:solidFill>
              <a:schemeClr val="bg1"/>
            </a:solidFill>
          </a:ln>
        </p:spPr>
        <p:style>
          <a:lnRef idx="3">
            <a:schemeClr val="lt1"/>
          </a:lnRef>
          <a:fillRef idx="1">
            <a:schemeClr val="accent1"/>
          </a:fillRef>
          <a:effectRef idx="1">
            <a:schemeClr val="accent1"/>
          </a:effectRef>
          <a:fontRef idx="minor">
            <a:schemeClr val="lt1"/>
          </a:fontRef>
        </p:style>
        <p:txBody>
          <a:bodyPr lIns="144000" tIns="144000" rIns="144000" bIns="144000" rtlCol="0" anchor="t"/>
          <a:lstStyle/>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検討結果をまとめ資料を更新し</a:t>
            </a:r>
            <a:r>
              <a:rPr kumimoji="1" lang="ja-JP" altLang="en-US" sz="1400" dirty="0">
                <a:solidFill>
                  <a:schemeClr val="tx1"/>
                </a:solidFill>
                <a:latin typeface="游ゴシック" panose="020B0400000000000000" pitchFamily="50" charset="-128"/>
                <a:ea typeface="游ゴシック" panose="020B0400000000000000" pitchFamily="50" charset="-128"/>
              </a:rPr>
              <a:t>システム化方針として確定します。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r>
              <a:rPr kumimoji="1" lang="ja-JP" altLang="en-US" sz="1400" u="sng" dirty="0">
                <a:solidFill>
                  <a:schemeClr val="tx1"/>
                </a:solidFill>
                <a:latin typeface="游ゴシック" panose="020B0400000000000000" pitchFamily="50" charset="-128"/>
                <a:ea typeface="游ゴシック" panose="020B0400000000000000" pitchFamily="50" charset="-128"/>
              </a:rPr>
              <a:t>成果物例</a:t>
            </a:r>
            <a:endParaRPr lang="en-US" altLang="ja-JP" sz="1400" u="sng" dirty="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要求仕様書、画面一覧、帳票一覧、外部システムインターフェース概要、性能／容量要件定義書など</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7" name="円弧 6"/>
          <p:cNvSpPr/>
          <p:nvPr/>
        </p:nvSpPr>
        <p:spPr>
          <a:xfrm rot="20160000">
            <a:off x="3528000" y="1404000"/>
            <a:ext cx="2088000" cy="2088000"/>
          </a:xfrm>
          <a:prstGeom prst="arc">
            <a:avLst>
              <a:gd name="adj1" fmla="val 11527257"/>
              <a:gd name="adj2" fmla="val 53650"/>
            </a:avLst>
          </a:prstGeom>
          <a:ln w="152400" cap="rnd">
            <a:solidFill>
              <a:schemeClr val="accent1">
                <a:lumMod val="60000"/>
                <a:lumOff val="4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7" name="円弧 16"/>
          <p:cNvSpPr/>
          <p:nvPr/>
        </p:nvSpPr>
        <p:spPr>
          <a:xfrm rot="9360000">
            <a:off x="3528000" y="1404000"/>
            <a:ext cx="2088000" cy="2088000"/>
          </a:xfrm>
          <a:prstGeom prst="arc">
            <a:avLst>
              <a:gd name="adj1" fmla="val 11527257"/>
              <a:gd name="adj2" fmla="val 53650"/>
            </a:avLst>
          </a:prstGeom>
          <a:ln w="152400" cap="rnd">
            <a:solidFill>
              <a:schemeClr val="accent1">
                <a:lumMod val="60000"/>
                <a:lumOff val="40000"/>
              </a:schemeClr>
            </a:solidFill>
            <a:tailEnd type="triangl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 name="ホームベース 8"/>
          <p:cNvSpPr/>
          <p:nvPr/>
        </p:nvSpPr>
        <p:spPr>
          <a:xfrm>
            <a:off x="2484000" y="2052000"/>
            <a:ext cx="2088000" cy="792000"/>
          </a:xfrm>
          <a:prstGeom prst="homePlate">
            <a:avLst>
              <a:gd name="adj" fmla="val 18103"/>
            </a:avLst>
          </a:prstGeom>
          <a:solidFill>
            <a:schemeClr val="accent2"/>
          </a:solidFill>
          <a:ln w="38100"/>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機能概要定義</a:t>
            </a:r>
            <a:endParaRPr lang="en-US" altLang="ja-JP" sz="1600" b="1" dirty="0">
              <a:latin typeface="游ゴシック" panose="020B0400000000000000" pitchFamily="50" charset="-128"/>
              <a:ea typeface="游ゴシック" panose="020B0400000000000000" pitchFamily="50" charset="-128"/>
            </a:endParaRPr>
          </a:p>
          <a:p>
            <a:pPr algn="ctr"/>
            <a:r>
              <a:rPr lang="ja-JP" altLang="en-US" sz="1600" b="1" dirty="0">
                <a:latin typeface="游ゴシック" panose="020B0400000000000000" pitchFamily="50" charset="-128"/>
                <a:ea typeface="游ゴシック" panose="020B0400000000000000" pitchFamily="50" charset="-128"/>
              </a:rPr>
              <a:t>非機能要件定義</a:t>
            </a:r>
            <a:endParaRPr kumimoji="1" lang="ja-JP" altLang="en-US" sz="1600" b="1" dirty="0">
              <a:latin typeface="游ゴシック" panose="020B0400000000000000" pitchFamily="50" charset="-128"/>
              <a:ea typeface="游ゴシック" panose="020B0400000000000000" pitchFamily="50" charset="-128"/>
            </a:endParaRPr>
          </a:p>
        </p:txBody>
      </p:sp>
      <p:sp>
        <p:nvSpPr>
          <p:cNvPr id="12" name="ホームベース 11"/>
          <p:cNvSpPr/>
          <p:nvPr/>
        </p:nvSpPr>
        <p:spPr>
          <a:xfrm>
            <a:off x="4572000" y="2052000"/>
            <a:ext cx="2088000" cy="792000"/>
          </a:xfrm>
          <a:prstGeom prst="homePlate">
            <a:avLst>
              <a:gd name="adj" fmla="val 18103"/>
            </a:avLst>
          </a:prstGeom>
          <a:solidFill>
            <a:schemeClr val="accent4"/>
          </a:solidFill>
          <a:ln w="38100"/>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利用部門への確認</a:t>
            </a:r>
            <a:endParaRPr kumimoji="1" lang="ja-JP" altLang="en-US" sz="1600" b="1" dirty="0">
              <a:latin typeface="游ゴシック" panose="020B0400000000000000" pitchFamily="50" charset="-128"/>
              <a:ea typeface="游ゴシック" panose="020B0400000000000000" pitchFamily="50" charset="-128"/>
            </a:endParaRPr>
          </a:p>
        </p:txBody>
      </p:sp>
      <p:sp>
        <p:nvSpPr>
          <p:cNvPr id="13" name="ホームベース 12"/>
          <p:cNvSpPr/>
          <p:nvPr/>
        </p:nvSpPr>
        <p:spPr>
          <a:xfrm>
            <a:off x="6660000" y="2052000"/>
            <a:ext cx="2088000" cy="792000"/>
          </a:xfrm>
          <a:prstGeom prst="homePlate">
            <a:avLst>
              <a:gd name="adj" fmla="val 18103"/>
            </a:avLst>
          </a:prstGeom>
          <a:solidFill>
            <a:schemeClr val="accent6"/>
          </a:solidFill>
          <a:ln w="38100"/>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00" b="1" dirty="0">
                <a:latin typeface="游ゴシック" panose="020B0400000000000000" pitchFamily="50" charset="-128"/>
                <a:ea typeface="游ゴシック" panose="020B0400000000000000" pitchFamily="50" charset="-128"/>
              </a:rPr>
              <a:t>システム化</a:t>
            </a:r>
            <a:endParaRPr kumimoji="1" lang="en-US" altLang="ja-JP" sz="1600" b="1" dirty="0">
              <a:latin typeface="游ゴシック" panose="020B0400000000000000" pitchFamily="50" charset="-128"/>
              <a:ea typeface="游ゴシック" panose="020B0400000000000000" pitchFamily="50" charset="-128"/>
            </a:endParaRPr>
          </a:p>
          <a:p>
            <a:pPr algn="ctr"/>
            <a:r>
              <a:rPr lang="ja-JP" altLang="en-US" sz="1600" b="1" dirty="0">
                <a:latin typeface="游ゴシック" panose="020B0400000000000000" pitchFamily="50" charset="-128"/>
                <a:ea typeface="游ゴシック" panose="020B0400000000000000" pitchFamily="50" charset="-128"/>
              </a:rPr>
              <a:t>方針の</a:t>
            </a:r>
            <a:r>
              <a:rPr kumimoji="1" lang="ja-JP" altLang="en-US" sz="1600" b="1" dirty="0">
                <a:latin typeface="游ゴシック" panose="020B0400000000000000" pitchFamily="50" charset="-128"/>
                <a:ea typeface="游ゴシック" panose="020B0400000000000000" pitchFamily="50" charset="-128"/>
              </a:rPr>
              <a:t>決定</a:t>
            </a:r>
          </a:p>
        </p:txBody>
      </p:sp>
      <p:sp>
        <p:nvSpPr>
          <p:cNvPr id="14" name="ホームベース 13"/>
          <p:cNvSpPr/>
          <p:nvPr/>
        </p:nvSpPr>
        <p:spPr>
          <a:xfrm>
            <a:off x="396000" y="2052000"/>
            <a:ext cx="2088000" cy="792000"/>
          </a:xfrm>
          <a:prstGeom prst="homePlate">
            <a:avLst>
              <a:gd name="adj" fmla="val 18103"/>
            </a:avLst>
          </a:prstGeom>
          <a:ln w="38100"/>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システム化</a:t>
            </a:r>
            <a:endParaRPr lang="en-US" altLang="ja-JP" sz="1600" b="1" dirty="0">
              <a:latin typeface="游ゴシック" panose="020B0400000000000000" pitchFamily="50" charset="-128"/>
              <a:ea typeface="游ゴシック" panose="020B0400000000000000" pitchFamily="50" charset="-128"/>
            </a:endParaRPr>
          </a:p>
          <a:p>
            <a:pPr algn="ctr"/>
            <a:r>
              <a:rPr lang="ja-JP" altLang="en-US" sz="1600" b="1" dirty="0">
                <a:latin typeface="游ゴシック" panose="020B0400000000000000" pitchFamily="50" charset="-128"/>
                <a:ea typeface="游ゴシック" panose="020B0400000000000000" pitchFamily="50" charset="-128"/>
              </a:rPr>
              <a:t>方針案の作成</a:t>
            </a:r>
            <a:endParaRPr kumimoji="1" lang="ja-JP" altLang="en-US" sz="1600" b="1" dirty="0">
              <a:latin typeface="游ゴシック" panose="020B0400000000000000" pitchFamily="50" charset="-128"/>
              <a:ea typeface="游ゴシック" panose="020B0400000000000000" pitchFamily="50" charset="-128"/>
            </a:endParaRPr>
          </a:p>
        </p:txBody>
      </p:sp>
      <p:cxnSp>
        <p:nvCxnSpPr>
          <p:cNvPr id="26" name="直線コネクタ 25"/>
          <p:cNvCxnSpPr/>
          <p:nvPr/>
        </p:nvCxnSpPr>
        <p:spPr>
          <a:xfrm>
            <a:off x="864000" y="2844000"/>
            <a:ext cx="0" cy="648000"/>
          </a:xfrm>
          <a:prstGeom prst="line">
            <a:avLst/>
          </a:prstGeom>
          <a:ln w="28575">
            <a:solidFill>
              <a:schemeClr val="accent1"/>
            </a:solidFill>
            <a:prstDash val="sysDash"/>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2952000" y="2844000"/>
            <a:ext cx="0" cy="648000"/>
          </a:xfrm>
          <a:prstGeom prst="line">
            <a:avLst/>
          </a:prstGeom>
          <a:ln w="285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30" name="直線コネクタ 29"/>
          <p:cNvCxnSpPr/>
          <p:nvPr/>
        </p:nvCxnSpPr>
        <p:spPr>
          <a:xfrm>
            <a:off x="6192000" y="2844000"/>
            <a:ext cx="0" cy="648000"/>
          </a:xfrm>
          <a:prstGeom prst="line">
            <a:avLst/>
          </a:prstGeom>
          <a:ln w="28575">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線コネクタ 30"/>
          <p:cNvCxnSpPr/>
          <p:nvPr/>
        </p:nvCxnSpPr>
        <p:spPr>
          <a:xfrm>
            <a:off x="8280000" y="2844000"/>
            <a:ext cx="0" cy="648000"/>
          </a:xfrm>
          <a:prstGeom prst="line">
            <a:avLst/>
          </a:prstGeom>
          <a:ln w="28575">
            <a:solidFill>
              <a:schemeClr val="accent6"/>
            </a:solidFill>
            <a:prstDash val="sysDash"/>
          </a:ln>
        </p:spPr>
        <p:style>
          <a:lnRef idx="1">
            <a:schemeClr val="accent1"/>
          </a:lnRef>
          <a:fillRef idx="0">
            <a:schemeClr val="accent1"/>
          </a:fillRef>
          <a:effectRef idx="0">
            <a:schemeClr val="accent1"/>
          </a:effectRef>
          <a:fontRef idx="minor">
            <a:schemeClr val="tx1"/>
          </a:fontRef>
        </p:style>
      </p:cxnSp>
      <p:sp>
        <p:nvSpPr>
          <p:cNvPr id="32" name="正方形/長方形 31"/>
          <p:cNvSpPr/>
          <p:nvPr/>
        </p:nvSpPr>
        <p:spPr>
          <a:xfrm>
            <a:off x="5760000" y="1008000"/>
            <a:ext cx="3168000" cy="7920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marL="285750" indent="-285750">
              <a:buFont typeface="游ゴシック" panose="020B0400000000000000" pitchFamily="50" charset="-128"/>
              <a:buChar char="※"/>
            </a:pPr>
            <a:r>
              <a:rPr kumimoji="1" lang="ja-JP" altLang="en-US" sz="1400" dirty="0">
                <a:solidFill>
                  <a:schemeClr val="tx1"/>
                </a:solidFill>
                <a:latin typeface="游ゴシック" panose="020B0400000000000000" pitchFamily="50" charset="-128"/>
                <a:ea typeface="游ゴシック" panose="020B0400000000000000" pitchFamily="50" charset="-128"/>
              </a:rPr>
              <a:t>機能概要定義・非機能要件定義と利用部門への確認は数回繰り返し実施することを想定しています。</a:t>
            </a:r>
          </a:p>
        </p:txBody>
      </p:sp>
    </p:spTree>
    <p:extLst>
      <p:ext uri="{BB962C8B-B14F-4D97-AF65-F5344CB8AC3E}">
        <p14:creationId xmlns:p14="http://schemas.microsoft.com/office/powerpoint/2010/main" val="19692201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正方形/長方形 115"/>
          <p:cNvSpPr/>
          <p:nvPr/>
        </p:nvSpPr>
        <p:spPr>
          <a:xfrm>
            <a:off x="3384000" y="4608000"/>
            <a:ext cx="5616000" cy="1584000"/>
          </a:xfrm>
          <a:prstGeom prst="rect">
            <a:avLst/>
          </a:prstGeom>
          <a:noFill/>
          <a:ln w="38100">
            <a:solidFill>
              <a:srgbClr val="FF0000"/>
            </a:solidFill>
            <a:prstDash val="sysDash"/>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cxnSp>
        <p:nvCxnSpPr>
          <p:cNvPr id="110" name="直線コネクタ 109"/>
          <p:cNvCxnSpPr/>
          <p:nvPr/>
        </p:nvCxnSpPr>
        <p:spPr>
          <a:xfrm>
            <a:off x="144000" y="1224000"/>
            <a:ext cx="8856000" cy="0"/>
          </a:xfrm>
          <a:prstGeom prst="line">
            <a:avLst/>
          </a:prstGeom>
          <a:ln w="12700">
            <a:solidFill>
              <a:schemeClr val="accent3"/>
            </a:solidFill>
            <a:prstDash val="lgDash"/>
          </a:ln>
        </p:spPr>
        <p:style>
          <a:lnRef idx="1">
            <a:schemeClr val="accent1"/>
          </a:lnRef>
          <a:fillRef idx="0">
            <a:schemeClr val="accent1"/>
          </a:fillRef>
          <a:effectRef idx="0">
            <a:schemeClr val="accent1"/>
          </a:effectRef>
          <a:fontRef idx="minor">
            <a:schemeClr val="tx1"/>
          </a:fontRef>
        </p:style>
      </p:cxnSp>
      <p:cxnSp>
        <p:nvCxnSpPr>
          <p:cNvPr id="112" name="直線コネクタ 111"/>
          <p:cNvCxnSpPr/>
          <p:nvPr/>
        </p:nvCxnSpPr>
        <p:spPr>
          <a:xfrm>
            <a:off x="5184000" y="863999"/>
            <a:ext cx="0" cy="5472000"/>
          </a:xfrm>
          <a:prstGeom prst="line">
            <a:avLst/>
          </a:prstGeom>
          <a:ln w="12700">
            <a:solidFill>
              <a:schemeClr val="accent3"/>
            </a:solidFill>
            <a:prstDash val="lgDash"/>
          </a:ln>
        </p:spPr>
        <p:style>
          <a:lnRef idx="1">
            <a:schemeClr val="accent1"/>
          </a:lnRef>
          <a:fillRef idx="0">
            <a:schemeClr val="accent1"/>
          </a:fillRef>
          <a:effectRef idx="0">
            <a:schemeClr val="accent1"/>
          </a:effectRef>
          <a:fontRef idx="minor">
            <a:schemeClr val="tx1"/>
          </a:fontRef>
        </p:style>
      </p:cxnSp>
      <p:sp>
        <p:nvSpPr>
          <p:cNvPr id="2" name="タイトル 1"/>
          <p:cNvSpPr>
            <a:spLocks noGrp="1"/>
          </p:cNvSpPr>
          <p:nvPr>
            <p:ph type="title"/>
          </p:nvPr>
        </p:nvSpPr>
        <p:spPr/>
        <p:txBody>
          <a:bodyPr/>
          <a:lstStyle/>
          <a:p>
            <a:r>
              <a:rPr kumimoji="1" lang="ja-JP" altLang="en-US" dirty="0"/>
              <a:t>設計（</a:t>
            </a:r>
            <a:r>
              <a:rPr kumimoji="1" lang="en-US" altLang="ja-JP" dirty="0"/>
              <a:t>UI/SS</a:t>
            </a:r>
            <a:r>
              <a:rPr kumimoji="1" lang="ja-JP" altLang="en-US" dirty="0"/>
              <a:t>）</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34</a:t>
            </a:fld>
            <a:endParaRPr kumimoji="1" lang="ja-JP" altLang="en-US"/>
          </a:p>
        </p:txBody>
      </p:sp>
      <p:sp>
        <p:nvSpPr>
          <p:cNvPr id="33" name="正方形/長方形 32"/>
          <p:cNvSpPr/>
          <p:nvPr/>
        </p:nvSpPr>
        <p:spPr>
          <a:xfrm>
            <a:off x="3816000" y="1872000"/>
            <a:ext cx="36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46" name="正方形/長方形 45"/>
          <p:cNvSpPr/>
          <p:nvPr/>
        </p:nvSpPr>
        <p:spPr>
          <a:xfrm>
            <a:off x="1440000" y="1872000"/>
            <a:ext cx="36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51" name="正方形/長方形 50"/>
          <p:cNvSpPr/>
          <p:nvPr/>
        </p:nvSpPr>
        <p:spPr>
          <a:xfrm>
            <a:off x="4104001" y="1368000"/>
            <a:ext cx="36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52" name="正方形/長方形 51"/>
          <p:cNvSpPr/>
          <p:nvPr/>
        </p:nvSpPr>
        <p:spPr>
          <a:xfrm>
            <a:off x="1439999" y="1368000"/>
            <a:ext cx="36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59" name="正方形/長方形 58"/>
          <p:cNvSpPr/>
          <p:nvPr/>
        </p:nvSpPr>
        <p:spPr>
          <a:xfrm>
            <a:off x="288000" y="1872000"/>
            <a:ext cx="108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squar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66" name="正方形/長方形 65"/>
          <p:cNvSpPr/>
          <p:nvPr/>
        </p:nvSpPr>
        <p:spPr>
          <a:xfrm>
            <a:off x="2805711" y="3888000"/>
            <a:ext cx="36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67" name="正方形/長方形 66"/>
          <p:cNvSpPr/>
          <p:nvPr/>
        </p:nvSpPr>
        <p:spPr>
          <a:xfrm>
            <a:off x="2805711" y="4392000"/>
            <a:ext cx="36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71" name="正方形/長方形 70"/>
          <p:cNvSpPr/>
          <p:nvPr/>
        </p:nvSpPr>
        <p:spPr>
          <a:xfrm>
            <a:off x="4104000" y="1872000"/>
            <a:ext cx="360000" cy="360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3" name="正方形/長方形 2"/>
          <p:cNvSpPr/>
          <p:nvPr/>
        </p:nvSpPr>
        <p:spPr>
          <a:xfrm>
            <a:off x="288000" y="1872000"/>
            <a:ext cx="4752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システム機能の仕様化</a:t>
            </a:r>
          </a:p>
        </p:txBody>
      </p:sp>
      <p:sp>
        <p:nvSpPr>
          <p:cNvPr id="6" name="正方形/長方形 5"/>
          <p:cNvSpPr/>
          <p:nvPr/>
        </p:nvSpPr>
        <p:spPr>
          <a:xfrm>
            <a:off x="288000" y="2376000"/>
            <a:ext cx="1080000" cy="576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square" rtlCol="0" anchor="ctr">
            <a:noAutofit/>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外部システム</a:t>
            </a:r>
            <a:r>
              <a:rPr kumimoji="1" lang="en-US" altLang="ja-JP" sz="1400" dirty="0">
                <a:solidFill>
                  <a:schemeClr val="tx1"/>
                </a:solidFill>
                <a:latin typeface="游ゴシック" panose="020B0400000000000000" pitchFamily="50" charset="-128"/>
                <a:ea typeface="游ゴシック" panose="020B0400000000000000" pitchFamily="50" charset="-128"/>
              </a:rPr>
              <a:t>IF</a:t>
            </a:r>
            <a:r>
              <a:rPr kumimoji="1" lang="ja-JP" altLang="en-US" sz="1400" dirty="0">
                <a:solidFill>
                  <a:schemeClr val="tx1"/>
                </a:solidFill>
                <a:latin typeface="游ゴシック" panose="020B0400000000000000" pitchFamily="50" charset="-128"/>
                <a:ea typeface="游ゴシック" panose="020B0400000000000000" pitchFamily="50" charset="-128"/>
              </a:rPr>
              <a:t>設計</a:t>
            </a:r>
          </a:p>
        </p:txBody>
      </p:sp>
      <p:sp>
        <p:nvSpPr>
          <p:cNvPr id="7" name="正方形/長方形 6"/>
          <p:cNvSpPr/>
          <p:nvPr/>
        </p:nvSpPr>
        <p:spPr>
          <a:xfrm>
            <a:off x="1799999" y="2376000"/>
            <a:ext cx="2016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lang="ja-JP" altLang="en-US" sz="1400" dirty="0">
                <a:solidFill>
                  <a:schemeClr val="tx1"/>
                </a:solidFill>
                <a:latin typeface="游ゴシック" panose="020B0400000000000000" pitchFamily="50" charset="-128"/>
                <a:ea typeface="游ゴシック" panose="020B0400000000000000" pitchFamily="50" charset="-128"/>
              </a:rPr>
              <a:t>画面</a:t>
            </a:r>
            <a:r>
              <a:rPr kumimoji="1" lang="ja-JP" altLang="en-US" sz="1400" dirty="0">
                <a:solidFill>
                  <a:schemeClr val="tx1"/>
                </a:solidFill>
                <a:latin typeface="游ゴシック" panose="020B0400000000000000" pitchFamily="50" charset="-128"/>
                <a:ea typeface="游ゴシック" panose="020B0400000000000000" pitchFamily="50" charset="-128"/>
              </a:rPr>
              <a:t>設計</a:t>
            </a:r>
          </a:p>
        </p:txBody>
      </p:sp>
      <p:sp>
        <p:nvSpPr>
          <p:cNvPr id="8" name="正方形/長方形 7"/>
          <p:cNvSpPr/>
          <p:nvPr/>
        </p:nvSpPr>
        <p:spPr>
          <a:xfrm>
            <a:off x="1799999" y="2880000"/>
            <a:ext cx="2016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lang="ja-JP" altLang="en-US" sz="1400" dirty="0">
                <a:solidFill>
                  <a:schemeClr val="tx1"/>
                </a:solidFill>
                <a:latin typeface="游ゴシック" panose="020B0400000000000000" pitchFamily="50" charset="-128"/>
                <a:ea typeface="游ゴシック" panose="020B0400000000000000" pitchFamily="50" charset="-128"/>
              </a:rPr>
              <a:t>帳票</a:t>
            </a:r>
            <a:r>
              <a:rPr kumimoji="1" lang="ja-JP" altLang="en-US" sz="1400" dirty="0">
                <a:solidFill>
                  <a:schemeClr val="tx1"/>
                </a:solidFill>
                <a:latin typeface="游ゴシック" panose="020B0400000000000000" pitchFamily="50" charset="-128"/>
                <a:ea typeface="游ゴシック" panose="020B0400000000000000" pitchFamily="50" charset="-128"/>
              </a:rPr>
              <a:t>設計</a:t>
            </a:r>
          </a:p>
        </p:txBody>
      </p:sp>
      <p:sp>
        <p:nvSpPr>
          <p:cNvPr id="9" name="正方形/長方形 8"/>
          <p:cNvSpPr/>
          <p:nvPr/>
        </p:nvSpPr>
        <p:spPr>
          <a:xfrm>
            <a:off x="1799999" y="3384000"/>
            <a:ext cx="2016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lang="ja-JP" altLang="en-US" sz="1400" dirty="0">
                <a:solidFill>
                  <a:schemeClr val="tx1"/>
                </a:solidFill>
                <a:latin typeface="游ゴシック" panose="020B0400000000000000" pitchFamily="50" charset="-128"/>
                <a:ea typeface="游ゴシック" panose="020B0400000000000000" pitchFamily="50" charset="-128"/>
              </a:rPr>
              <a:t>サブシステム間</a:t>
            </a:r>
            <a:r>
              <a:rPr lang="en-US" altLang="ja-JP" sz="1400" dirty="0">
                <a:solidFill>
                  <a:schemeClr val="tx1"/>
                </a:solidFill>
                <a:latin typeface="游ゴシック" panose="020B0400000000000000" pitchFamily="50" charset="-128"/>
                <a:ea typeface="游ゴシック" panose="020B0400000000000000" pitchFamily="50" charset="-128"/>
              </a:rPr>
              <a:t>IF</a:t>
            </a:r>
            <a:r>
              <a:rPr lang="ja-JP" altLang="en-US" sz="1400" dirty="0">
                <a:solidFill>
                  <a:schemeClr val="tx1"/>
                </a:solidFill>
                <a:latin typeface="游ゴシック" panose="020B0400000000000000" pitchFamily="50" charset="-128"/>
                <a:ea typeface="游ゴシック" panose="020B0400000000000000" pitchFamily="50" charset="-128"/>
              </a:rPr>
              <a:t>設計</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0" name="正方形/長方形 9"/>
          <p:cNvSpPr/>
          <p:nvPr/>
        </p:nvSpPr>
        <p:spPr>
          <a:xfrm>
            <a:off x="1799999" y="3888000"/>
            <a:ext cx="2016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データ構造の仕様化</a:t>
            </a:r>
          </a:p>
        </p:txBody>
      </p:sp>
      <p:sp>
        <p:nvSpPr>
          <p:cNvPr id="11" name="正方形/長方形 10"/>
          <p:cNvSpPr/>
          <p:nvPr/>
        </p:nvSpPr>
        <p:spPr>
          <a:xfrm>
            <a:off x="288000" y="3888000"/>
            <a:ext cx="1082348"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コード設計</a:t>
            </a:r>
          </a:p>
        </p:txBody>
      </p:sp>
      <p:sp>
        <p:nvSpPr>
          <p:cNvPr id="12" name="正方形/長方形 11"/>
          <p:cNvSpPr/>
          <p:nvPr/>
        </p:nvSpPr>
        <p:spPr>
          <a:xfrm>
            <a:off x="1440001" y="1368000"/>
            <a:ext cx="3024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プロセスとデータの整合性検証</a:t>
            </a:r>
          </a:p>
        </p:txBody>
      </p:sp>
      <p:sp>
        <p:nvSpPr>
          <p:cNvPr id="14" name="正方形/長方形 13"/>
          <p:cNvSpPr/>
          <p:nvPr/>
        </p:nvSpPr>
        <p:spPr>
          <a:xfrm>
            <a:off x="288000" y="4392000"/>
            <a:ext cx="2877711"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アプリケーション処理方式の設計</a:t>
            </a:r>
          </a:p>
        </p:txBody>
      </p:sp>
      <p:grpSp>
        <p:nvGrpSpPr>
          <p:cNvPr id="105" name="グループ化 104"/>
          <p:cNvGrpSpPr/>
          <p:nvPr/>
        </p:nvGrpSpPr>
        <p:grpSpPr>
          <a:xfrm>
            <a:off x="3528000" y="4752000"/>
            <a:ext cx="5328000" cy="1296000"/>
            <a:chOff x="3528000" y="3960000"/>
            <a:chExt cx="5328000" cy="1296000"/>
          </a:xfrm>
        </p:grpSpPr>
        <p:sp>
          <p:nvSpPr>
            <p:cNvPr id="15" name="正方形/長方形 14"/>
            <p:cNvSpPr/>
            <p:nvPr/>
          </p:nvSpPr>
          <p:spPr>
            <a:xfrm>
              <a:off x="3528000" y="3960000"/>
              <a:ext cx="1512000" cy="576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square" rtlCol="0" anchor="ctr">
              <a:noAutofit/>
            </a:bodyPr>
            <a:lstStyle/>
            <a:p>
              <a:r>
                <a:rPr lang="ja-JP" altLang="en-US" sz="1400" b="1" dirty="0">
                  <a:solidFill>
                    <a:schemeClr val="bg1"/>
                  </a:solidFill>
                  <a:latin typeface="游ゴシック" panose="020B0400000000000000" pitchFamily="50" charset="-128"/>
                  <a:ea typeface="游ゴシック" panose="020B0400000000000000" pitchFamily="50" charset="-128"/>
                </a:rPr>
                <a:t>業務共通機能設計</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3528000" y="4680000"/>
              <a:ext cx="1512000" cy="576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square" rtlCol="0" anchor="ctr">
              <a:noAutofit/>
            </a:bodyPr>
            <a:lstStyle/>
            <a:p>
              <a:r>
                <a:rPr lang="ja-JP" altLang="en-US" sz="1400" b="1" dirty="0">
                  <a:solidFill>
                    <a:schemeClr val="bg1"/>
                  </a:solidFill>
                  <a:latin typeface="游ゴシック" panose="020B0400000000000000" pitchFamily="50" charset="-128"/>
                  <a:ea typeface="游ゴシック" panose="020B0400000000000000" pitchFamily="50" charset="-128"/>
                </a:rPr>
                <a:t>業務共通機能構造設計</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7" name="正方形/長方形 16"/>
            <p:cNvSpPr/>
            <p:nvPr/>
          </p:nvSpPr>
          <p:spPr>
            <a:xfrm>
              <a:off x="5328000" y="3960000"/>
              <a:ext cx="1800000" cy="576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square" rtlCol="0" anchor="ctr">
              <a:noAutofit/>
            </a:bodyPr>
            <a:lstStyle/>
            <a:p>
              <a:r>
                <a:rPr lang="ja-JP" altLang="en-US" sz="1400" b="1" dirty="0">
                  <a:solidFill>
                    <a:schemeClr val="bg1"/>
                  </a:solidFill>
                  <a:latin typeface="游ゴシック" panose="020B0400000000000000" pitchFamily="50" charset="-128"/>
                  <a:ea typeface="游ゴシック" panose="020B0400000000000000" pitchFamily="50" charset="-128"/>
                </a:rPr>
                <a:t>業務共通機能のプログラミング</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8" name="正方形/長方形 17"/>
            <p:cNvSpPr/>
            <p:nvPr/>
          </p:nvSpPr>
          <p:spPr>
            <a:xfrm>
              <a:off x="5328000" y="4680000"/>
              <a:ext cx="1800000" cy="576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square" rtlCol="0" anchor="ctr">
              <a:noAutofit/>
            </a:bodyPr>
            <a:lstStyle/>
            <a:p>
              <a:r>
                <a:rPr lang="ja-JP" altLang="en-US" sz="1400" b="1" dirty="0">
                  <a:solidFill>
                    <a:schemeClr val="bg1"/>
                  </a:solidFill>
                  <a:latin typeface="游ゴシック" panose="020B0400000000000000" pitchFamily="50" charset="-128"/>
                  <a:ea typeface="游ゴシック" panose="020B0400000000000000" pitchFamily="50" charset="-128"/>
                </a:rPr>
                <a:t>業務共通プログラムテスト仕様の作成</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9" name="正方形/長方形 18"/>
            <p:cNvSpPr/>
            <p:nvPr/>
          </p:nvSpPr>
          <p:spPr>
            <a:xfrm>
              <a:off x="7344000" y="3960000"/>
              <a:ext cx="1512000" cy="1296000"/>
            </a:xfrm>
            <a:prstGeom prst="rect">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square" rtlCol="0" anchor="ctr">
              <a:noAutofit/>
            </a:bodyPr>
            <a:lstStyle/>
            <a:p>
              <a:r>
                <a:rPr lang="ja-JP" altLang="en-US" sz="1400" b="1" dirty="0">
                  <a:solidFill>
                    <a:schemeClr val="bg1"/>
                  </a:solidFill>
                  <a:latin typeface="游ゴシック" panose="020B0400000000000000" pitchFamily="50" charset="-128"/>
                  <a:ea typeface="游ゴシック" panose="020B0400000000000000" pitchFamily="50" charset="-128"/>
                </a:rPr>
                <a:t>業務共通機能の単体テスト</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grpSp>
      <p:sp>
        <p:nvSpPr>
          <p:cNvPr id="20" name="正方形/長方形 19"/>
          <p:cNvSpPr/>
          <p:nvPr/>
        </p:nvSpPr>
        <p:spPr>
          <a:xfrm>
            <a:off x="5328000" y="1872000"/>
            <a:ext cx="3528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アプリケーション構造設計</a:t>
            </a:r>
          </a:p>
        </p:txBody>
      </p:sp>
      <p:cxnSp>
        <p:nvCxnSpPr>
          <p:cNvPr id="23" name="カギ線コネクタ 22"/>
          <p:cNvCxnSpPr>
            <a:stCxn id="46" idx="2"/>
            <a:endCxn id="7" idx="1"/>
          </p:cNvCxnSpPr>
          <p:nvPr/>
        </p:nvCxnSpPr>
        <p:spPr>
          <a:xfrm rot="16200000" flipH="1">
            <a:off x="1547999" y="2304000"/>
            <a:ext cx="324000" cy="179999"/>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カギ線コネクタ 23"/>
          <p:cNvCxnSpPr>
            <a:stCxn id="46" idx="2"/>
            <a:endCxn id="8" idx="1"/>
          </p:cNvCxnSpPr>
          <p:nvPr/>
        </p:nvCxnSpPr>
        <p:spPr>
          <a:xfrm rot="16200000" flipH="1">
            <a:off x="1295999" y="2556000"/>
            <a:ext cx="828000" cy="179999"/>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カギ線コネクタ 26"/>
          <p:cNvCxnSpPr>
            <a:stCxn id="46" idx="2"/>
            <a:endCxn id="9" idx="1"/>
          </p:cNvCxnSpPr>
          <p:nvPr/>
        </p:nvCxnSpPr>
        <p:spPr>
          <a:xfrm rot="16200000" flipH="1">
            <a:off x="1043999" y="2808000"/>
            <a:ext cx="1332000" cy="179999"/>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カギ線コネクタ 29"/>
          <p:cNvCxnSpPr>
            <a:stCxn id="46" idx="2"/>
            <a:endCxn id="10" idx="1"/>
          </p:cNvCxnSpPr>
          <p:nvPr/>
        </p:nvCxnSpPr>
        <p:spPr>
          <a:xfrm rot="16200000" flipH="1">
            <a:off x="791999" y="3060000"/>
            <a:ext cx="1836000" cy="179999"/>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カギ線コネクタ 33"/>
          <p:cNvCxnSpPr>
            <a:stCxn id="10" idx="3"/>
            <a:endCxn id="33" idx="2"/>
          </p:cNvCxnSpPr>
          <p:nvPr/>
        </p:nvCxnSpPr>
        <p:spPr>
          <a:xfrm flipV="1">
            <a:off x="3815999" y="2232000"/>
            <a:ext cx="180001" cy="1836000"/>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カギ線コネクタ 36"/>
          <p:cNvCxnSpPr>
            <a:stCxn id="9" idx="3"/>
            <a:endCxn id="33" idx="2"/>
          </p:cNvCxnSpPr>
          <p:nvPr/>
        </p:nvCxnSpPr>
        <p:spPr>
          <a:xfrm flipV="1">
            <a:off x="3815999" y="2232000"/>
            <a:ext cx="180001" cy="1332000"/>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カギ線コネクタ 39"/>
          <p:cNvCxnSpPr>
            <a:stCxn id="8" idx="3"/>
            <a:endCxn id="33" idx="2"/>
          </p:cNvCxnSpPr>
          <p:nvPr/>
        </p:nvCxnSpPr>
        <p:spPr>
          <a:xfrm flipV="1">
            <a:off x="3815999" y="2232000"/>
            <a:ext cx="180001" cy="828000"/>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カギ線コネクタ 42"/>
          <p:cNvCxnSpPr>
            <a:stCxn id="7" idx="3"/>
            <a:endCxn id="33" idx="2"/>
          </p:cNvCxnSpPr>
          <p:nvPr/>
        </p:nvCxnSpPr>
        <p:spPr>
          <a:xfrm flipV="1">
            <a:off x="3815999" y="2232000"/>
            <a:ext cx="180001" cy="324000"/>
          </a:xfrm>
          <a:prstGeom prst="bentConnector2">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a:stCxn id="46" idx="0"/>
            <a:endCxn id="52" idx="2"/>
          </p:cNvCxnSpPr>
          <p:nvPr/>
        </p:nvCxnSpPr>
        <p:spPr>
          <a:xfrm flipH="1" flipV="1">
            <a:off x="1619999" y="1728000"/>
            <a:ext cx="1" cy="1440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線矢印コネクタ 54"/>
          <p:cNvCxnSpPr>
            <a:stCxn id="51" idx="2"/>
            <a:endCxn id="71" idx="0"/>
          </p:cNvCxnSpPr>
          <p:nvPr/>
        </p:nvCxnSpPr>
        <p:spPr>
          <a:xfrm flipH="1">
            <a:off x="4284000" y="1728000"/>
            <a:ext cx="1" cy="1440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矢印コネクタ 59"/>
          <p:cNvCxnSpPr>
            <a:stCxn id="6" idx="0"/>
            <a:endCxn id="59" idx="2"/>
          </p:cNvCxnSpPr>
          <p:nvPr/>
        </p:nvCxnSpPr>
        <p:spPr>
          <a:xfrm flipV="1">
            <a:off x="828000" y="2232000"/>
            <a:ext cx="0" cy="1440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矢印コネクタ 62"/>
          <p:cNvCxnSpPr>
            <a:stCxn id="11" idx="3"/>
            <a:endCxn id="10" idx="1"/>
          </p:cNvCxnSpPr>
          <p:nvPr/>
        </p:nvCxnSpPr>
        <p:spPr>
          <a:xfrm>
            <a:off x="1370348" y="4068000"/>
            <a:ext cx="429651"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線矢印コネクタ 67"/>
          <p:cNvCxnSpPr>
            <a:stCxn id="67" idx="0"/>
            <a:endCxn id="66" idx="2"/>
          </p:cNvCxnSpPr>
          <p:nvPr/>
        </p:nvCxnSpPr>
        <p:spPr>
          <a:xfrm flipV="1">
            <a:off x="2985711" y="4248000"/>
            <a:ext cx="0" cy="1440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矢印コネクタ 72"/>
          <p:cNvCxnSpPr>
            <a:stCxn id="71" idx="2"/>
            <a:endCxn id="15" idx="0"/>
          </p:cNvCxnSpPr>
          <p:nvPr/>
        </p:nvCxnSpPr>
        <p:spPr>
          <a:xfrm>
            <a:off x="4284000" y="2232000"/>
            <a:ext cx="0" cy="25200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p:cNvCxnSpPr>
            <a:stCxn id="15" idx="2"/>
            <a:endCxn id="16" idx="0"/>
          </p:cNvCxnSpPr>
          <p:nvPr/>
        </p:nvCxnSpPr>
        <p:spPr>
          <a:xfrm>
            <a:off x="4284000" y="5328000"/>
            <a:ext cx="0" cy="1440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2" name="カギ線コネクタ 81"/>
          <p:cNvCxnSpPr>
            <a:stCxn id="16" idx="3"/>
            <a:endCxn id="17" idx="1"/>
          </p:cNvCxnSpPr>
          <p:nvPr/>
        </p:nvCxnSpPr>
        <p:spPr>
          <a:xfrm flipV="1">
            <a:off x="5040000" y="5040000"/>
            <a:ext cx="288000" cy="720000"/>
          </a:xfrm>
          <a:prstGeom prst="bentConnector3">
            <a:avLst>
              <a:gd name="adj1" fmla="val 50000"/>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p:cNvCxnSpPr>
            <a:stCxn id="17" idx="2"/>
            <a:endCxn id="18" idx="0"/>
          </p:cNvCxnSpPr>
          <p:nvPr/>
        </p:nvCxnSpPr>
        <p:spPr>
          <a:xfrm>
            <a:off x="6228000" y="5328000"/>
            <a:ext cx="0" cy="14400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カギ線コネクタ 92"/>
          <p:cNvCxnSpPr>
            <a:stCxn id="18" idx="3"/>
            <a:endCxn id="19" idx="1"/>
          </p:cNvCxnSpPr>
          <p:nvPr/>
        </p:nvCxnSpPr>
        <p:spPr>
          <a:xfrm flipV="1">
            <a:off x="7128000" y="5400000"/>
            <a:ext cx="216000" cy="360000"/>
          </a:xfrm>
          <a:prstGeom prst="bentConnector3">
            <a:avLst>
              <a:gd name="adj1" fmla="val 50000"/>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8" name="カギ線コネクタ 97"/>
          <p:cNvCxnSpPr>
            <a:stCxn id="17" idx="3"/>
            <a:endCxn id="19" idx="1"/>
          </p:cNvCxnSpPr>
          <p:nvPr/>
        </p:nvCxnSpPr>
        <p:spPr>
          <a:xfrm>
            <a:off x="7128000" y="5040000"/>
            <a:ext cx="216000" cy="360000"/>
          </a:xfrm>
          <a:prstGeom prst="bentConnector3">
            <a:avLst>
              <a:gd name="adj1" fmla="val 50000"/>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正方形/長方形 106"/>
          <p:cNvSpPr/>
          <p:nvPr/>
        </p:nvSpPr>
        <p:spPr>
          <a:xfrm>
            <a:off x="288000" y="864000"/>
            <a:ext cx="4752000" cy="360000"/>
          </a:xfrm>
          <a:prstGeom prst="rect">
            <a:avLst/>
          </a:prstGeom>
          <a:noFill/>
          <a:ln w="12700">
            <a:no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pPr algn="ct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ユーザインタフェース設計（</a:t>
            </a:r>
            <a:r>
              <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rPr>
              <a:t>UI</a:t>
            </a: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a:t>
            </a:r>
          </a:p>
        </p:txBody>
      </p:sp>
      <p:sp>
        <p:nvSpPr>
          <p:cNvPr id="108" name="正方形/長方形 107"/>
          <p:cNvSpPr/>
          <p:nvPr/>
        </p:nvSpPr>
        <p:spPr>
          <a:xfrm>
            <a:off x="5328000" y="864000"/>
            <a:ext cx="3528000" cy="360000"/>
          </a:xfrm>
          <a:prstGeom prst="rect">
            <a:avLst/>
          </a:prstGeom>
          <a:noFill/>
          <a:ln w="12700">
            <a:no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pPr algn="ctr"/>
            <a:r>
              <a:rPr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システム構造設計（</a:t>
            </a:r>
            <a:r>
              <a:rPr lang="en-US" altLang="ja-JP" sz="1400" b="1" dirty="0">
                <a:solidFill>
                  <a:schemeClr val="accent1">
                    <a:lumMod val="50000"/>
                  </a:schemeClr>
                </a:solidFill>
                <a:latin typeface="游ゴシック" panose="020B0400000000000000" pitchFamily="50" charset="-128"/>
                <a:ea typeface="游ゴシック" panose="020B0400000000000000" pitchFamily="50" charset="-128"/>
              </a:rPr>
              <a:t>SS</a:t>
            </a:r>
            <a:r>
              <a:rPr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a:t>
            </a:r>
            <a:endParaRPr lang="en-US" altLang="ja-JP" sz="1400" b="1" dirty="0">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113" name="直線矢印コネクタ 112"/>
          <p:cNvCxnSpPr>
            <a:stCxn id="3" idx="3"/>
            <a:endCxn id="20" idx="1"/>
          </p:cNvCxnSpPr>
          <p:nvPr/>
        </p:nvCxnSpPr>
        <p:spPr>
          <a:xfrm>
            <a:off x="5040000" y="2052000"/>
            <a:ext cx="288000" cy="0"/>
          </a:xfrm>
          <a:prstGeom prst="straightConnector1">
            <a:avLst/>
          </a:prstGeom>
          <a:ln w="31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7" name="正方形/長方形 116"/>
          <p:cNvSpPr/>
          <p:nvPr/>
        </p:nvSpPr>
        <p:spPr>
          <a:xfrm>
            <a:off x="288000" y="5292000"/>
            <a:ext cx="2952000" cy="936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b"/>
          <a:lstStyle/>
          <a:p>
            <a:pPr marL="285750" indent="-285750">
              <a:buFont typeface="游ゴシック" panose="020B0400000000000000" pitchFamily="50" charset="-128"/>
              <a:buChar char="※"/>
            </a:pPr>
            <a:r>
              <a:rPr lang="ja-JP" altLang="en-US" sz="1200" dirty="0">
                <a:solidFill>
                  <a:schemeClr val="tx1"/>
                </a:solidFill>
                <a:latin typeface="游ゴシック" panose="020B0400000000000000" pitchFamily="50" charset="-128"/>
                <a:ea typeface="游ゴシック" panose="020B0400000000000000" pitchFamily="50" charset="-128"/>
              </a:rPr>
              <a:t>上記記載のアクティビティは出光開発標準にて定義されているアクティビティの内の一部分となります。</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19" name="線吹き出し 1 (枠付き) 118"/>
          <p:cNvSpPr/>
          <p:nvPr/>
        </p:nvSpPr>
        <p:spPr>
          <a:xfrm>
            <a:off x="5544000" y="2448000"/>
            <a:ext cx="3455999" cy="1872000"/>
          </a:xfrm>
          <a:prstGeom prst="borderCallout1">
            <a:avLst>
              <a:gd name="adj1" fmla="val 100054"/>
              <a:gd name="adj2" fmla="val 13160"/>
              <a:gd name="adj3" fmla="val 115282"/>
              <a:gd name="adj4" fmla="val 4790"/>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pPr>
              <a:spcBef>
                <a:spcPts val="600"/>
              </a:spcBef>
            </a:pPr>
            <a:r>
              <a:rPr kumimoji="1" lang="ja-JP" altLang="en-US" sz="1400" dirty="0">
                <a:solidFill>
                  <a:schemeClr val="tx1"/>
                </a:solidFill>
                <a:latin typeface="游ゴシック" panose="020B0400000000000000" pitchFamily="50" charset="-128"/>
                <a:ea typeface="游ゴシック" panose="020B0400000000000000" pitchFamily="50" charset="-128"/>
              </a:rPr>
              <a:t>業務共通機能の開発作業をシステム構造設計（</a:t>
            </a:r>
            <a:r>
              <a:rPr kumimoji="1" lang="en-US" altLang="ja-JP" sz="1400" dirty="0">
                <a:solidFill>
                  <a:schemeClr val="tx1"/>
                </a:solidFill>
                <a:latin typeface="游ゴシック" panose="020B0400000000000000" pitchFamily="50" charset="-128"/>
                <a:ea typeface="游ゴシック" panose="020B0400000000000000" pitchFamily="50" charset="-128"/>
              </a:rPr>
              <a:t>SS</a:t>
            </a:r>
            <a:r>
              <a:rPr kumimoji="1" lang="ja-JP" altLang="en-US" sz="1400" dirty="0">
                <a:solidFill>
                  <a:schemeClr val="tx1"/>
                </a:solidFill>
                <a:latin typeface="游ゴシック" panose="020B0400000000000000" pitchFamily="50" charset="-128"/>
                <a:ea typeface="游ゴシック" panose="020B0400000000000000" pitchFamily="50" charset="-128"/>
              </a:rPr>
              <a:t>）工程にて完了させます。次工程のプログラミング（</a:t>
            </a:r>
            <a:r>
              <a:rPr kumimoji="1" lang="en-US" altLang="ja-JP" sz="1400" dirty="0">
                <a:solidFill>
                  <a:schemeClr val="tx1"/>
                </a:solidFill>
                <a:latin typeface="游ゴシック" panose="020B0400000000000000" pitchFamily="50" charset="-128"/>
                <a:ea typeface="游ゴシック" panose="020B0400000000000000" pitchFamily="50" charset="-128"/>
              </a:rPr>
              <a:t>PS/PG/PT</a:t>
            </a:r>
            <a:r>
              <a:rPr kumimoji="1" lang="ja-JP" altLang="en-US" sz="1400" dirty="0">
                <a:solidFill>
                  <a:schemeClr val="tx1"/>
                </a:solidFill>
                <a:latin typeface="游ゴシック" panose="020B0400000000000000" pitchFamily="50" charset="-128"/>
                <a:ea typeface="游ゴシック" panose="020B0400000000000000" pitchFamily="50" charset="-128"/>
              </a:rPr>
              <a:t>）開始時には業務共通機能をプログラマに提供できるよう準備します。</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游ゴシック" panose="020B0400000000000000" pitchFamily="50" charset="-128"/>
              <a:buChar char="※"/>
            </a:pPr>
            <a:r>
              <a:rPr kumimoji="1" lang="ja-JP" altLang="en-US" sz="1400" dirty="0">
                <a:solidFill>
                  <a:schemeClr val="tx1"/>
                </a:solidFill>
                <a:latin typeface="游ゴシック" panose="020B0400000000000000" pitchFamily="50" charset="-128"/>
                <a:ea typeface="游ゴシック" panose="020B0400000000000000" pitchFamily="50" charset="-128"/>
              </a:rPr>
              <a:t>出光開発標準の規定と異なります。</a:t>
            </a:r>
            <a:r>
              <a:rPr kumimoji="1" lang="en-US" altLang="ja-JP" sz="1400" dirty="0">
                <a:solidFill>
                  <a:schemeClr val="tx1"/>
                </a:solidFill>
                <a:latin typeface="游ゴシック" panose="020B0400000000000000" pitchFamily="50" charset="-128"/>
                <a:ea typeface="游ゴシック" panose="020B0400000000000000" pitchFamily="50" charset="-128"/>
              </a:rPr>
              <a:t>(</a:t>
            </a:r>
            <a:r>
              <a:rPr kumimoji="1" lang="ja-JP" altLang="en-US" sz="1400" dirty="0">
                <a:solidFill>
                  <a:schemeClr val="tx1"/>
                </a:solidFill>
                <a:latin typeface="游ゴシック" panose="020B0400000000000000" pitchFamily="50" charset="-128"/>
                <a:ea typeface="游ゴシック" panose="020B0400000000000000" pitchFamily="50" charset="-128"/>
              </a:rPr>
              <a:t>出光開発標準では</a:t>
            </a:r>
            <a:r>
              <a:rPr kumimoji="1" lang="en-US" altLang="ja-JP" sz="1400" dirty="0">
                <a:solidFill>
                  <a:schemeClr val="tx1"/>
                </a:solidFill>
                <a:latin typeface="游ゴシック" panose="020B0400000000000000" pitchFamily="50" charset="-128"/>
                <a:ea typeface="游ゴシック" panose="020B0400000000000000" pitchFamily="50" charset="-128"/>
              </a:rPr>
              <a:t>PG</a:t>
            </a:r>
            <a:r>
              <a:rPr kumimoji="1" lang="ja-JP" altLang="en-US" sz="1400" dirty="0">
                <a:solidFill>
                  <a:schemeClr val="tx1"/>
                </a:solidFill>
                <a:latin typeface="游ゴシック" panose="020B0400000000000000" pitchFamily="50" charset="-128"/>
                <a:ea typeface="游ゴシック" panose="020B0400000000000000" pitchFamily="50" charset="-128"/>
              </a:rPr>
              <a:t>工程にて完了</a:t>
            </a:r>
            <a:r>
              <a:rPr kumimoji="1" lang="en-US" altLang="ja-JP" sz="1400" dirty="0">
                <a:solidFill>
                  <a:schemeClr val="tx1"/>
                </a:solidFill>
                <a:latin typeface="游ゴシック" panose="020B0400000000000000" pitchFamily="50" charset="-128"/>
                <a:ea typeface="游ゴシック" panose="020B0400000000000000" pitchFamily="50" charset="-128"/>
              </a:rPr>
              <a:t>)</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6738895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プログラミング（</a:t>
            </a:r>
            <a:r>
              <a:rPr kumimoji="1" lang="en-US" altLang="ja-JP" dirty="0"/>
              <a:t>PS/PG/PT</a:t>
            </a:r>
            <a:r>
              <a:rPr kumimoji="1" lang="ja-JP" altLang="en-US" dirty="0"/>
              <a:t>）</a:t>
            </a:r>
          </a:p>
        </p:txBody>
      </p:sp>
      <p:sp>
        <p:nvSpPr>
          <p:cNvPr id="3" name="コンテンツ プレースホルダー 2"/>
          <p:cNvSpPr>
            <a:spLocks noGrp="1"/>
          </p:cNvSpPr>
          <p:nvPr>
            <p:ph idx="1"/>
          </p:nvPr>
        </p:nvSpPr>
        <p:spPr>
          <a:xfrm>
            <a:off x="288000" y="1224000"/>
            <a:ext cx="8568000" cy="1656000"/>
          </a:xfrm>
        </p:spPr>
        <p:txBody>
          <a:bodyPr/>
          <a:lstStyle/>
          <a:p>
            <a:pPr>
              <a:buClr>
                <a:schemeClr val="tx1"/>
              </a:buClr>
              <a:buFont typeface="Wingdings" panose="05000000000000000000" pitchFamily="2" charset="2"/>
              <a:buChar char="l"/>
            </a:pPr>
            <a:r>
              <a:rPr lang="ja-JP" altLang="en-US" b="1" dirty="0">
                <a:solidFill>
                  <a:schemeClr val="accent1"/>
                </a:solidFill>
              </a:rPr>
              <a:t>プログラム作成の開始時</a:t>
            </a:r>
            <a:r>
              <a:rPr lang="en-US" altLang="ja-JP" b="1" dirty="0">
                <a:solidFill>
                  <a:schemeClr val="accent1"/>
                </a:solidFill>
              </a:rPr>
              <a:t>/</a:t>
            </a:r>
            <a:r>
              <a:rPr lang="ja-JP" altLang="en-US" b="1" dirty="0">
                <a:solidFill>
                  <a:schemeClr val="accent1"/>
                </a:solidFill>
              </a:rPr>
              <a:t>完了時、およびテストコード製造完了時にレビュー</a:t>
            </a:r>
            <a:r>
              <a:rPr lang="ja-JP" altLang="en-US" dirty="0"/>
              <a:t>を実施し、設計・実装内容・テストの妥当性をチェックします。必要に応じて開発者へ指摘を行うことにより、品質を改善します。</a:t>
            </a:r>
            <a:endParaRPr lang="en-US" altLang="ja-JP" dirty="0"/>
          </a:p>
          <a:p>
            <a:pPr>
              <a:buFont typeface="Wingdings" panose="05000000000000000000" pitchFamily="2" charset="2"/>
              <a:buChar char="l"/>
            </a:pPr>
            <a:r>
              <a:rPr lang="ja-JP" altLang="en-US" dirty="0"/>
              <a:t>製造機能の検証前に、ビジネスロジックに対しユニットテストを実施し、</a:t>
            </a:r>
            <a:r>
              <a:rPr lang="ja-JP" altLang="en-US" b="1" dirty="0">
                <a:solidFill>
                  <a:schemeClr val="accent1"/>
                </a:solidFill>
              </a:rPr>
              <a:t>コードカバレッジ</a:t>
            </a:r>
            <a:r>
              <a:rPr lang="en-US" altLang="ja-JP" b="1" dirty="0">
                <a:solidFill>
                  <a:schemeClr val="accent1"/>
                </a:solidFill>
              </a:rPr>
              <a:t>100%</a:t>
            </a:r>
            <a:r>
              <a:rPr lang="ja-JP" altLang="en-US" b="1" dirty="0">
                <a:solidFill>
                  <a:schemeClr val="accent1"/>
                </a:solidFill>
              </a:rPr>
              <a:t>を前提</a:t>
            </a:r>
            <a:r>
              <a:rPr lang="ja-JP" altLang="en-US" dirty="0"/>
              <a:t>として、単体レベルでのバグを排除します。</a:t>
            </a:r>
            <a:endParaRPr lang="en-US" altLang="ja-JP" dirty="0"/>
          </a:p>
          <a:p>
            <a:pPr>
              <a:buFont typeface="Wingdings" panose="05000000000000000000" pitchFamily="2" charset="2"/>
              <a:buChar char="l"/>
            </a:pPr>
            <a:r>
              <a:rPr lang="ja-JP" altLang="en-US" dirty="0"/>
              <a:t>開発者による、</a:t>
            </a:r>
            <a:r>
              <a:rPr lang="ja-JP" altLang="en-US" b="1" dirty="0">
                <a:solidFill>
                  <a:schemeClr val="accent1"/>
                </a:solidFill>
              </a:rPr>
              <a:t>コード品質に関する自己チェック</a:t>
            </a:r>
            <a:r>
              <a:rPr lang="ja-JP" altLang="en-US" dirty="0"/>
              <a:t>を実施し、開発者自身の品質意識を高めます。</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35</a:t>
            </a:fld>
            <a:endParaRPr kumimoji="1" lang="ja-JP" altLang="en-US"/>
          </a:p>
        </p:txBody>
      </p:sp>
      <p:grpSp>
        <p:nvGrpSpPr>
          <p:cNvPr id="19" name="グループ化 18"/>
          <p:cNvGrpSpPr/>
          <p:nvPr/>
        </p:nvGrpSpPr>
        <p:grpSpPr>
          <a:xfrm>
            <a:off x="288000" y="3240000"/>
            <a:ext cx="8568000" cy="2808000"/>
            <a:chOff x="288000" y="2880000"/>
            <a:chExt cx="8568000" cy="2808000"/>
          </a:xfrm>
        </p:grpSpPr>
        <p:sp>
          <p:nvSpPr>
            <p:cNvPr id="6" name="角丸四角形 5"/>
            <p:cNvSpPr/>
            <p:nvPr/>
          </p:nvSpPr>
          <p:spPr>
            <a:xfrm>
              <a:off x="288000" y="2880000"/>
              <a:ext cx="1008000" cy="2808000"/>
            </a:xfrm>
            <a:prstGeom prst="roundRect">
              <a:avLst>
                <a:gd name="adj" fmla="val 6300"/>
              </a:avLst>
            </a:prstGeom>
            <a:solidFill>
              <a:schemeClr val="accent3">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72000" tIns="72000" rIns="72000" bIns="72000" rtlCol="0" anchor="t"/>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単体テスト仕様書作成</a:t>
              </a:r>
            </a:p>
          </p:txBody>
        </p:sp>
        <p:sp>
          <p:nvSpPr>
            <p:cNvPr id="7" name="角丸四角形 6"/>
            <p:cNvSpPr/>
            <p:nvPr/>
          </p:nvSpPr>
          <p:spPr>
            <a:xfrm>
              <a:off x="1440000" y="2880000"/>
              <a:ext cx="2448000" cy="2808000"/>
            </a:xfrm>
            <a:prstGeom prst="roundRect">
              <a:avLst>
                <a:gd name="adj" fmla="val 2594"/>
              </a:avLst>
            </a:prstGeom>
            <a:solidFill>
              <a:schemeClr val="accent3">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72000" tIns="72000" rIns="72000" bIns="72000" rtlCol="0" anchor="t"/>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プログラム作成</a:t>
              </a:r>
            </a:p>
          </p:txBody>
        </p:sp>
        <p:sp>
          <p:nvSpPr>
            <p:cNvPr id="8" name="角丸四角形 7"/>
            <p:cNvSpPr/>
            <p:nvPr/>
          </p:nvSpPr>
          <p:spPr>
            <a:xfrm>
              <a:off x="4032000" y="2880000"/>
              <a:ext cx="3600000" cy="2808000"/>
            </a:xfrm>
            <a:prstGeom prst="roundRect">
              <a:avLst>
                <a:gd name="adj" fmla="val 2261"/>
              </a:avLst>
            </a:prstGeom>
            <a:solidFill>
              <a:schemeClr val="accent3">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72000" tIns="72000" rIns="72000" bIns="72000" rtlCol="0" anchor="t"/>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テストコード作成・ユニットテスト実施・プログラム修正</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9" name="角丸四角形 8"/>
            <p:cNvSpPr/>
            <p:nvPr/>
          </p:nvSpPr>
          <p:spPr>
            <a:xfrm>
              <a:off x="7776000" y="2880000"/>
              <a:ext cx="1080000" cy="2808000"/>
            </a:xfrm>
            <a:prstGeom prst="roundRect">
              <a:avLst>
                <a:gd name="adj" fmla="val 5880"/>
              </a:avLst>
            </a:prstGeom>
            <a:solidFill>
              <a:schemeClr val="accent3">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72000" tIns="72000" rIns="72000" bIns="72000" rtlCol="0" anchor="t"/>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単体テスト実施</a:t>
              </a:r>
            </a:p>
          </p:txBody>
        </p:sp>
        <p:sp>
          <p:nvSpPr>
            <p:cNvPr id="10" name="角丸四角形 9"/>
            <p:cNvSpPr/>
            <p:nvPr/>
          </p:nvSpPr>
          <p:spPr>
            <a:xfrm>
              <a:off x="4176000" y="3528000"/>
              <a:ext cx="3312000" cy="576000"/>
            </a:xfrm>
            <a:prstGeom prst="roundRect">
              <a:avLst>
                <a:gd name="adj" fmla="val 11024"/>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36000" tIns="72000" rIns="36000" bIns="72000" rtlCol="0" anchor="t"/>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テストコードの実装</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（パターン網羅テスト）</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sp>
          <p:nvSpPr>
            <p:cNvPr id="11" name="角丸四角形 10"/>
            <p:cNvSpPr/>
            <p:nvPr/>
          </p:nvSpPr>
          <p:spPr>
            <a:xfrm>
              <a:off x="4176000" y="4248000"/>
              <a:ext cx="3312000" cy="576000"/>
            </a:xfrm>
            <a:prstGeom prst="roundRect">
              <a:avLst>
                <a:gd name="adj" fmla="val 11024"/>
              </a:avLst>
            </a:prstGeom>
            <a:solidFill>
              <a:schemeClr val="accent2"/>
            </a:solidFill>
            <a:ln>
              <a:solidFill>
                <a:schemeClr val="accent3"/>
              </a:solidFill>
            </a:ln>
          </p:spPr>
          <p:style>
            <a:lnRef idx="3">
              <a:schemeClr val="lt1"/>
            </a:lnRef>
            <a:fillRef idx="1">
              <a:schemeClr val="accent1"/>
            </a:fillRef>
            <a:effectRef idx="1">
              <a:schemeClr val="accent1"/>
            </a:effectRef>
            <a:fontRef idx="minor">
              <a:schemeClr val="lt1"/>
            </a:fontRef>
          </p:style>
          <p:txBody>
            <a:bodyPr wrap="none" lIns="72000" tIns="72000" rIns="72000" bIns="72000" rtlCol="0" anchor="t"/>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ユニットテスト実施＆プログラム修正</a:t>
              </a:r>
            </a:p>
            <a:p>
              <a:pPr algn="ctr"/>
              <a:r>
                <a:rPr lang="en-US" altLang="ja-JP" sz="1200" b="1" dirty="0">
                  <a:solidFill>
                    <a:schemeClr val="bg1"/>
                  </a:solidFill>
                  <a:latin typeface="游ゴシック" panose="020B0400000000000000" pitchFamily="50" charset="-128"/>
                  <a:ea typeface="游ゴシック" panose="020B0400000000000000" pitchFamily="50" charset="-128"/>
                </a:rPr>
                <a:t>※</a:t>
              </a:r>
              <a:r>
                <a:rPr lang="ja-JP" altLang="en-US" sz="1200" b="1" dirty="0">
                  <a:solidFill>
                    <a:schemeClr val="bg1"/>
                  </a:solidFill>
                  <a:latin typeface="游ゴシック" panose="020B0400000000000000" pitchFamily="50" charset="-128"/>
                  <a:ea typeface="游ゴシック" panose="020B0400000000000000" pitchFamily="50" charset="-128"/>
                </a:rPr>
                <a:t>並行してコードレビュー指摘事項反映</a:t>
              </a:r>
              <a:endParaRPr kumimoji="1" lang="ja-JP" altLang="en-US" sz="1200" b="1" dirty="0">
                <a:solidFill>
                  <a:schemeClr val="bg1"/>
                </a:solidFill>
                <a:latin typeface="游ゴシック" panose="020B0400000000000000" pitchFamily="50" charset="-128"/>
                <a:ea typeface="游ゴシック" panose="020B0400000000000000" pitchFamily="50" charset="-128"/>
              </a:endParaRPr>
            </a:p>
          </p:txBody>
        </p:sp>
        <p:sp>
          <p:nvSpPr>
            <p:cNvPr id="12" name="角丸四角形 11"/>
            <p:cNvSpPr/>
            <p:nvPr/>
          </p:nvSpPr>
          <p:spPr>
            <a:xfrm>
              <a:off x="4176000" y="4968000"/>
              <a:ext cx="3312000" cy="576000"/>
            </a:xfrm>
            <a:prstGeom prst="roundRect">
              <a:avLst>
                <a:gd name="adj" fmla="val 11024"/>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36000" tIns="72000" rIns="36000" bIns="72000" rtlCol="0" anchor="t"/>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テストカバレッジ報告書作成</a:t>
              </a:r>
            </a:p>
            <a:p>
              <a:pPr algn="ctr"/>
              <a:r>
                <a:rPr lang="zh-TW" altLang="en-US" sz="1400" dirty="0">
                  <a:solidFill>
                    <a:schemeClr val="tx1"/>
                  </a:solidFill>
                  <a:latin typeface="游ゴシック" panose="020B0400000000000000" pitchFamily="50" charset="-128"/>
                  <a:ea typeface="游ゴシック" panose="020B0400000000000000" pitchFamily="50" charset="-128"/>
                </a:rPr>
                <a:t>（自動出力</a:t>
              </a:r>
              <a:r>
                <a:rPr lang="en-US" altLang="zh-TW" sz="1400" dirty="0">
                  <a:solidFill>
                    <a:schemeClr val="tx1"/>
                  </a:solidFill>
                  <a:latin typeface="游ゴシック" panose="020B0400000000000000" pitchFamily="50" charset="-128"/>
                  <a:ea typeface="游ゴシック" panose="020B0400000000000000" pitchFamily="50" charset="-128"/>
                </a:rPr>
                <a:t>HTML</a:t>
              </a:r>
              <a:r>
                <a:rPr lang="zh-TW" altLang="en-US" sz="1400" dirty="0">
                  <a:solidFill>
                    <a:schemeClr val="tx1"/>
                  </a:solidFill>
                  <a:latin typeface="游ゴシック" panose="020B0400000000000000" pitchFamily="50" charset="-128"/>
                  <a:ea typeface="游ゴシック" panose="020B0400000000000000" pitchFamily="50" charset="-128"/>
                </a:rPr>
                <a:t>）</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3" name="角丸四角形 12"/>
            <p:cNvSpPr/>
            <p:nvPr/>
          </p:nvSpPr>
          <p:spPr>
            <a:xfrm>
              <a:off x="1583999" y="3527999"/>
              <a:ext cx="1008000" cy="2016000"/>
            </a:xfrm>
            <a:prstGeom prst="roundRect">
              <a:avLst>
                <a:gd name="adj" fmla="val 6300"/>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36000" tIns="72000" rIns="36000" bIns="72000" rtlCol="0" anchor="t"/>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クラス・メソッド定義およびコメント記述</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4" name="角丸四角形 13"/>
            <p:cNvSpPr/>
            <p:nvPr/>
          </p:nvSpPr>
          <p:spPr>
            <a:xfrm>
              <a:off x="7920000" y="3528000"/>
              <a:ext cx="792000" cy="576000"/>
            </a:xfrm>
            <a:prstGeom prst="roundRect">
              <a:avLst>
                <a:gd name="adj" fmla="val 11024"/>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36000" tIns="72000" rIns="36000" bIns="72000" rtlCol="0" anchor="t"/>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単体テスト</a:t>
              </a:r>
            </a:p>
          </p:txBody>
        </p:sp>
        <p:sp>
          <p:nvSpPr>
            <p:cNvPr id="15" name="角丸四角形 14"/>
            <p:cNvSpPr/>
            <p:nvPr/>
          </p:nvSpPr>
          <p:spPr>
            <a:xfrm>
              <a:off x="7920000" y="4248000"/>
              <a:ext cx="792000" cy="576000"/>
            </a:xfrm>
            <a:prstGeom prst="roundRect">
              <a:avLst>
                <a:gd name="adj" fmla="val 11024"/>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tIns="72000" rIns="36000" bIns="72000" rtlCol="0" anchor="t"/>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プログ</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ラム修正</a:t>
              </a:r>
            </a:p>
          </p:txBody>
        </p:sp>
        <p:sp>
          <p:nvSpPr>
            <p:cNvPr id="16" name="角丸四角形 15"/>
            <p:cNvSpPr/>
            <p:nvPr/>
          </p:nvSpPr>
          <p:spPr>
            <a:xfrm>
              <a:off x="7920000" y="4968000"/>
              <a:ext cx="792000" cy="576000"/>
            </a:xfrm>
            <a:prstGeom prst="roundRect">
              <a:avLst>
                <a:gd name="adj" fmla="val 11024"/>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36000" tIns="72000" rIns="36000" bIns="72000" rtlCol="0" anchor="t"/>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報告書作成</a:t>
              </a:r>
            </a:p>
          </p:txBody>
        </p:sp>
        <p:sp>
          <p:nvSpPr>
            <p:cNvPr id="17" name="角丸四角形 16"/>
            <p:cNvSpPr/>
            <p:nvPr/>
          </p:nvSpPr>
          <p:spPr>
            <a:xfrm>
              <a:off x="2736000" y="3528000"/>
              <a:ext cx="1008000" cy="576000"/>
            </a:xfrm>
            <a:prstGeom prst="roundRect">
              <a:avLst>
                <a:gd name="adj" fmla="val 11024"/>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lIns="36000" tIns="72000" rIns="36000" bIns="72000" rtlCol="0" anchor="t"/>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メソッド</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実装</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8" name="角丸四角形 17"/>
            <p:cNvSpPr/>
            <p:nvPr/>
          </p:nvSpPr>
          <p:spPr>
            <a:xfrm>
              <a:off x="2735999" y="4248000"/>
              <a:ext cx="1008000" cy="1296001"/>
            </a:xfrm>
            <a:prstGeom prst="roundRect">
              <a:avLst>
                <a:gd name="adj" fmla="val 6300"/>
              </a:avLst>
            </a:prstGeom>
            <a:solidFill>
              <a:schemeClr val="accent1">
                <a:lumMod val="20000"/>
                <a:lumOff val="80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tIns="72000" rIns="36000" bIns="72000" rtlCol="0" anchor="t"/>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コード品質</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自己チェッ</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ク実施</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en-US" altLang="ja-JP" sz="1200" dirty="0">
                  <a:solidFill>
                    <a:schemeClr val="tx1"/>
                  </a:solidFill>
                  <a:latin typeface="游ゴシック" panose="020B0400000000000000" pitchFamily="50" charset="-128"/>
                  <a:ea typeface="游ゴシック" panose="020B0400000000000000" pitchFamily="50" charset="-128"/>
                </a:rPr>
                <a:t>(</a:t>
              </a:r>
              <a:r>
                <a:rPr lang="ja-JP" altLang="en-US" sz="1200" dirty="0">
                  <a:solidFill>
                    <a:schemeClr val="tx1"/>
                  </a:solidFill>
                  <a:latin typeface="游ゴシック" panose="020B0400000000000000" pitchFamily="50" charset="-128"/>
                  <a:ea typeface="游ゴシック" panose="020B0400000000000000" pitchFamily="50" charset="-128"/>
                </a:rPr>
                <a:t>チェック</a:t>
              </a:r>
              <a:endParaRPr lang="en-US" altLang="ja-JP" sz="1200" dirty="0">
                <a:solidFill>
                  <a:schemeClr val="tx1"/>
                </a:solidFill>
                <a:latin typeface="游ゴシック" panose="020B0400000000000000" pitchFamily="50" charset="-128"/>
                <a:ea typeface="游ゴシック" panose="020B0400000000000000" pitchFamily="50" charset="-128"/>
              </a:endParaRPr>
            </a:p>
            <a:p>
              <a:pPr algn="ctr"/>
              <a:r>
                <a:rPr lang="ja-JP" altLang="en-US" sz="1200" dirty="0">
                  <a:solidFill>
                    <a:schemeClr val="tx1"/>
                  </a:solidFill>
                  <a:latin typeface="游ゴシック" panose="020B0400000000000000" pitchFamily="50" charset="-128"/>
                  <a:ea typeface="游ゴシック" panose="020B0400000000000000" pitchFamily="50" charset="-128"/>
                </a:rPr>
                <a:t>シート作成</a:t>
              </a:r>
              <a:r>
                <a:rPr lang="en-US" altLang="ja-JP" sz="1200" dirty="0">
                  <a:solidFill>
                    <a:schemeClr val="tx1"/>
                  </a:solidFill>
                  <a:latin typeface="游ゴシック" panose="020B0400000000000000" pitchFamily="50" charset="-128"/>
                  <a:ea typeface="游ゴシック" panose="020B0400000000000000" pitchFamily="50" charset="-128"/>
                </a:rPr>
                <a:t>)</a:t>
              </a:r>
              <a:endParaRPr kumimoji="1" lang="ja-JP" altLang="en-US" sz="1200" dirty="0">
                <a:solidFill>
                  <a:schemeClr val="tx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2047186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正方形/長方形 38"/>
          <p:cNvSpPr/>
          <p:nvPr/>
        </p:nvSpPr>
        <p:spPr>
          <a:xfrm>
            <a:off x="7416000" y="1296000"/>
            <a:ext cx="1584000" cy="5040000"/>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lIns="108000" tIns="72000" rIns="108000" bIns="72000" rtlCol="0" anchor="t"/>
          <a:lstStyle/>
          <a:p>
            <a:pPr algn="ctr"/>
            <a:r>
              <a:rPr lang="ja-JP" altLang="en-US" sz="1400" u="sng" dirty="0">
                <a:latin typeface="游ゴシック" panose="020B0400000000000000" pitchFamily="50" charset="-128"/>
                <a:ea typeface="游ゴシック" panose="020B0400000000000000" pitchFamily="50" charset="-128"/>
              </a:rPr>
              <a:t>テスト内容</a:t>
            </a:r>
            <a:endParaRPr lang="en-US" altLang="ja-JP" sz="1400" u="sng"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実機、実環境、本番データで、利用者による仮運用を行い、問題が無いことを確認すると共に本番稼動への意思決定と業務移行を実施します。</a:t>
            </a: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endParaRPr lang="en-US" altLang="ja-JP" sz="1000" dirty="0">
              <a:latin typeface="游ゴシック" panose="020B0400000000000000" pitchFamily="50" charset="-128"/>
              <a:ea typeface="游ゴシック" panose="020B0400000000000000" pitchFamily="50" charset="-128"/>
            </a:endParaRPr>
          </a:p>
          <a:p>
            <a:pPr algn="ctr"/>
            <a:r>
              <a:rPr lang="ja-JP" altLang="en-US" sz="1400" u="sng" dirty="0">
                <a:latin typeface="游ゴシック" panose="020B0400000000000000" pitchFamily="50" charset="-128"/>
                <a:ea typeface="游ゴシック" panose="020B0400000000000000" pitchFamily="50" charset="-128"/>
              </a:rPr>
              <a:t>テスト環境</a:t>
            </a:r>
            <a:endParaRPr lang="en-US" altLang="ja-JP" sz="1400" u="sng"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貴社本番環境</a:t>
            </a:r>
            <a:endParaRPr lang="en-US" altLang="ja-JP" sz="1400" dirty="0">
              <a:latin typeface="游ゴシック" panose="020B0400000000000000" pitchFamily="50" charset="-128"/>
              <a:ea typeface="游ゴシック" panose="020B0400000000000000" pitchFamily="50" charset="-128"/>
            </a:endParaRPr>
          </a:p>
          <a:p>
            <a:pPr algn="ctr"/>
            <a:endParaRPr lang="en-US" altLang="ja-JP" sz="1000" dirty="0">
              <a:latin typeface="游ゴシック" panose="020B0400000000000000" pitchFamily="50" charset="-128"/>
              <a:ea typeface="游ゴシック" panose="020B0400000000000000" pitchFamily="50" charset="-128"/>
            </a:endParaRPr>
          </a:p>
          <a:p>
            <a:pPr algn="ctr"/>
            <a:r>
              <a:rPr lang="ja-JP" altLang="en-US" sz="1400" u="sng" dirty="0">
                <a:latin typeface="游ゴシック" panose="020B0400000000000000" pitchFamily="50" charset="-128"/>
                <a:ea typeface="游ゴシック" panose="020B0400000000000000" pitchFamily="50" charset="-128"/>
              </a:rPr>
              <a:t>主担当</a:t>
            </a:r>
            <a:endParaRPr lang="en-US" altLang="ja-JP" sz="1400" u="sng"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貴社</a:t>
            </a:r>
          </a:p>
        </p:txBody>
      </p:sp>
      <p:sp>
        <p:nvSpPr>
          <p:cNvPr id="38" name="正方形/長方形 37"/>
          <p:cNvSpPr/>
          <p:nvPr/>
        </p:nvSpPr>
        <p:spPr>
          <a:xfrm>
            <a:off x="1800000" y="1296000"/>
            <a:ext cx="5544000" cy="5040000"/>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lIns="108000" tIns="72000" rIns="108000" bIns="72000" rtlCol="0" anchor="t"/>
          <a:lstStyle/>
          <a:p>
            <a:pPr algn="ctr"/>
            <a:r>
              <a:rPr lang="ja-JP" altLang="en-US" sz="1400" u="sng" dirty="0">
                <a:latin typeface="游ゴシック" panose="020B0400000000000000" pitchFamily="50" charset="-128"/>
                <a:ea typeface="游ゴシック" panose="020B0400000000000000" pitchFamily="50" charset="-128"/>
              </a:rPr>
              <a:t>テスト内容</a:t>
            </a:r>
            <a:endParaRPr lang="en-US" altLang="ja-JP" sz="1400" u="sng"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システム全体の品質を確保するために、検証されたプロセスをシステム全体で統合し、ＵＩ工程の設計どおりか、ＵＩ工程の入力となったシステム化範囲における機能、性能、信頼性、セキュリティ等の要件を充足するかを検討します。</a:t>
            </a:r>
          </a:p>
        </p:txBody>
      </p:sp>
      <p:sp>
        <p:nvSpPr>
          <p:cNvPr id="2" name="タイトル 1"/>
          <p:cNvSpPr>
            <a:spLocks noGrp="1"/>
          </p:cNvSpPr>
          <p:nvPr>
            <p:ph type="title"/>
          </p:nvPr>
        </p:nvSpPr>
        <p:spPr/>
        <p:txBody>
          <a:bodyPr/>
          <a:lstStyle/>
          <a:p>
            <a:r>
              <a:rPr lang="ja-JP" altLang="en-US" dirty="0"/>
              <a:t>テスト（</a:t>
            </a:r>
            <a:r>
              <a:rPr lang="en-US" altLang="ja-JP" dirty="0"/>
              <a:t>IT/ST/OT</a:t>
            </a:r>
            <a:r>
              <a:rPr lang="ja-JP" altLang="en-US" dirty="0"/>
              <a:t>）</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36</a:t>
            </a:fld>
            <a:endParaRPr kumimoji="1" lang="ja-JP" altLang="en-US"/>
          </a:p>
        </p:txBody>
      </p:sp>
      <p:sp>
        <p:nvSpPr>
          <p:cNvPr id="10" name="正方形/長方形 9"/>
          <p:cNvSpPr/>
          <p:nvPr/>
        </p:nvSpPr>
        <p:spPr>
          <a:xfrm>
            <a:off x="1872000" y="2808000"/>
            <a:ext cx="1296000" cy="3384000"/>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72000" rIns="72000" rtlCol="0" anchor="t"/>
          <a:lstStyle/>
          <a:p>
            <a:pPr algn="ctr" latinLnBrk="1"/>
            <a:r>
              <a:rPr lang="ja-JP" altLang="en-US" sz="1400" u="sng" dirty="0">
                <a:latin typeface="游ゴシック" panose="020B0400000000000000" pitchFamily="50" charset="-128"/>
                <a:ea typeface="游ゴシック" panose="020B0400000000000000" pitchFamily="50" charset="-128"/>
              </a:rPr>
              <a:t>テスト内容</a:t>
            </a:r>
            <a:endParaRPr lang="en-US" altLang="ja-JP" sz="1400" u="sng"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本番環境にてＩＦ機能がインタフェース仕様どおりで</a:t>
            </a:r>
            <a:r>
              <a:rPr lang="ja-JP" altLang="en-US" sz="1400" dirty="0">
                <a:solidFill>
                  <a:schemeClr val="tx1"/>
                </a:solidFill>
                <a:latin typeface="游ゴシック" panose="020B0400000000000000" pitchFamily="50" charset="-128"/>
                <a:ea typeface="游ゴシック" panose="020B0400000000000000" pitchFamily="50" charset="-128"/>
              </a:rPr>
              <a:t>あることを検証します。（周辺システムとの連携テストを実施）</a:t>
            </a:r>
            <a:endParaRPr lang="en-US" altLang="ja-JP" sz="1400" u="sng" dirty="0">
              <a:solidFill>
                <a:schemeClr val="tx1"/>
              </a:solidFill>
              <a:latin typeface="游ゴシック" panose="020B0400000000000000" pitchFamily="50" charset="-128"/>
              <a:ea typeface="游ゴシック" panose="020B0400000000000000" pitchFamily="50" charset="-128"/>
            </a:endParaRPr>
          </a:p>
          <a:p>
            <a:pPr algn="ctr" latinLnBrk="1"/>
            <a:endParaRPr lang="en-US" altLang="ja-JP" sz="1000" u="sng" dirty="0">
              <a:solidFill>
                <a:schemeClr val="tx1"/>
              </a:solidFill>
              <a:latin typeface="游ゴシック" panose="020B0400000000000000" pitchFamily="50" charset="-128"/>
              <a:ea typeface="游ゴシック" panose="020B0400000000000000" pitchFamily="50" charset="-128"/>
            </a:endParaRPr>
          </a:p>
          <a:p>
            <a:pPr algn="ctr" latinLnBrk="1"/>
            <a:r>
              <a:rPr lang="ja-JP" altLang="en-US" sz="1400" u="sng" dirty="0">
                <a:solidFill>
                  <a:schemeClr val="tx1"/>
                </a:solidFill>
                <a:latin typeface="游ゴシック" panose="020B0400000000000000" pitchFamily="50" charset="-128"/>
                <a:ea typeface="游ゴシック" panose="020B0400000000000000" pitchFamily="50" charset="-128"/>
              </a:rPr>
              <a:t>テスト環境</a:t>
            </a:r>
            <a:endParaRPr lang="en-US" altLang="ja-JP" sz="1400" u="sng" dirty="0">
              <a:solidFill>
                <a:schemeClr val="tx1"/>
              </a:solidFill>
              <a:latin typeface="游ゴシック" panose="020B0400000000000000" pitchFamily="50" charset="-128"/>
              <a:ea typeface="游ゴシック" panose="020B0400000000000000" pitchFamily="50" charset="-128"/>
            </a:endParaRPr>
          </a:p>
          <a:p>
            <a:pPr algn="ctr" latinLnBrk="1"/>
            <a:r>
              <a:rPr lang="ja-JP" altLang="en-US" sz="1400" dirty="0">
                <a:solidFill>
                  <a:schemeClr val="tx1"/>
                </a:solidFill>
                <a:latin typeface="游ゴシック" panose="020B0400000000000000" pitchFamily="50" charset="-128"/>
                <a:ea typeface="游ゴシック" panose="020B0400000000000000" pitchFamily="50" charset="-128"/>
              </a:rPr>
              <a:t>貴社本番環境</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latinLnBrk="1"/>
            <a:endParaRPr lang="en-US" altLang="ja-JP" sz="1000" dirty="0">
              <a:solidFill>
                <a:schemeClr val="tx1"/>
              </a:solidFill>
              <a:latin typeface="游ゴシック" panose="020B0400000000000000" pitchFamily="50" charset="-128"/>
              <a:ea typeface="游ゴシック" panose="020B0400000000000000" pitchFamily="50" charset="-128"/>
            </a:endParaRPr>
          </a:p>
          <a:p>
            <a:pPr algn="ctr" latinLnBrk="1"/>
            <a:r>
              <a:rPr lang="ja-JP" altLang="en-US" sz="1400" u="sng" dirty="0">
                <a:solidFill>
                  <a:schemeClr val="tx1"/>
                </a:solidFill>
                <a:latin typeface="游ゴシック" panose="020B0400000000000000" pitchFamily="50" charset="-128"/>
                <a:ea typeface="游ゴシック" panose="020B0400000000000000" pitchFamily="50" charset="-128"/>
              </a:rPr>
              <a:t>主担当</a:t>
            </a:r>
            <a:endParaRPr lang="en-US" altLang="ja-JP" sz="1400" u="sng" dirty="0">
              <a:solidFill>
                <a:schemeClr val="tx1"/>
              </a:solidFill>
              <a:latin typeface="游ゴシック" panose="020B0400000000000000" pitchFamily="50" charset="-128"/>
              <a:ea typeface="游ゴシック" panose="020B0400000000000000" pitchFamily="50" charset="-128"/>
            </a:endParaRPr>
          </a:p>
          <a:p>
            <a:pPr algn="ctr" latinLnBrk="1"/>
            <a:r>
              <a:rPr lang="ja-JP" altLang="en-US" sz="1400" dirty="0">
                <a:solidFill>
                  <a:schemeClr val="tx1"/>
                </a:solidFill>
                <a:latin typeface="游ゴシック" panose="020B0400000000000000" pitchFamily="50" charset="-128"/>
                <a:ea typeface="游ゴシック" panose="020B0400000000000000" pitchFamily="50" charset="-128"/>
              </a:rPr>
              <a:t>弊社</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13" name="正方形/長方形 12"/>
          <p:cNvSpPr/>
          <p:nvPr/>
        </p:nvSpPr>
        <p:spPr>
          <a:xfrm>
            <a:off x="3240000" y="2808000"/>
            <a:ext cx="1296000" cy="3384000"/>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72000" rIns="72000" rtlCol="0" anchor="t"/>
          <a:lstStyle/>
          <a:p>
            <a:pPr algn="ctr" latinLnBrk="1"/>
            <a:r>
              <a:rPr lang="ja-JP" altLang="en-US" sz="1400" u="sng" dirty="0">
                <a:latin typeface="游ゴシック" panose="020B0400000000000000" pitchFamily="50" charset="-128"/>
                <a:ea typeface="游ゴシック" panose="020B0400000000000000" pitchFamily="50" charset="-128"/>
              </a:rPr>
              <a:t>テスト内容</a:t>
            </a:r>
            <a:endParaRPr lang="en-US" altLang="ja-JP" sz="1400"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本番環境を使用し、実際の業務に合わせたシナリオ（可能であれば周辺システムを含む）に関するテストを実施します。</a:t>
            </a:r>
            <a:endParaRPr lang="en-US" altLang="ja-JP" sz="1400" dirty="0">
              <a:latin typeface="游ゴシック" panose="020B0400000000000000" pitchFamily="50" charset="-128"/>
              <a:ea typeface="游ゴシック" panose="020B0400000000000000" pitchFamily="50" charset="-128"/>
            </a:endParaRPr>
          </a:p>
          <a:p>
            <a:pPr algn="ctr" latinLnBrk="1"/>
            <a:endParaRPr lang="en-US" altLang="ja-JP" sz="1000" u="sng" dirty="0">
              <a:latin typeface="游ゴシック" panose="020B0400000000000000" pitchFamily="50" charset="-128"/>
              <a:ea typeface="游ゴシック" panose="020B0400000000000000" pitchFamily="50" charset="-128"/>
            </a:endParaRPr>
          </a:p>
          <a:p>
            <a:pPr algn="ctr" latinLnBrk="1"/>
            <a:r>
              <a:rPr lang="ja-JP" altLang="en-US" sz="1400" u="sng" dirty="0">
                <a:latin typeface="游ゴシック" panose="020B0400000000000000" pitchFamily="50" charset="-128"/>
                <a:ea typeface="游ゴシック" panose="020B0400000000000000" pitchFamily="50" charset="-128"/>
              </a:rPr>
              <a:t>テスト環境</a:t>
            </a:r>
            <a:endParaRPr lang="en-US" altLang="ja-JP" sz="1400" u="sng"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貴社本番環境</a:t>
            </a:r>
            <a:endParaRPr lang="en-US" altLang="ja-JP" sz="1400" dirty="0">
              <a:latin typeface="游ゴシック" panose="020B0400000000000000" pitchFamily="50" charset="-128"/>
              <a:ea typeface="游ゴシック" panose="020B0400000000000000" pitchFamily="50" charset="-128"/>
            </a:endParaRPr>
          </a:p>
          <a:p>
            <a:pPr algn="ctr" latinLnBrk="1"/>
            <a:endParaRPr lang="en-US" altLang="ja-JP" sz="1000" dirty="0">
              <a:latin typeface="游ゴシック" panose="020B0400000000000000" pitchFamily="50" charset="-128"/>
              <a:ea typeface="游ゴシック" panose="020B0400000000000000" pitchFamily="50" charset="-128"/>
            </a:endParaRPr>
          </a:p>
          <a:p>
            <a:pPr algn="ctr" latinLnBrk="1"/>
            <a:r>
              <a:rPr lang="ja-JP" altLang="en-US" sz="1400" u="sng" dirty="0">
                <a:latin typeface="游ゴシック" panose="020B0400000000000000" pitchFamily="50" charset="-128"/>
                <a:ea typeface="游ゴシック" panose="020B0400000000000000" pitchFamily="50" charset="-128"/>
              </a:rPr>
              <a:t>主担当</a:t>
            </a:r>
            <a:endParaRPr lang="en-US" altLang="ja-JP" sz="1400" u="sng"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弊社</a:t>
            </a:r>
          </a:p>
        </p:txBody>
      </p:sp>
      <p:sp>
        <p:nvSpPr>
          <p:cNvPr id="15" name="ホームベース 14"/>
          <p:cNvSpPr/>
          <p:nvPr/>
        </p:nvSpPr>
        <p:spPr>
          <a:xfrm>
            <a:off x="144000" y="864000"/>
            <a:ext cx="1584000" cy="360000"/>
          </a:xfrm>
          <a:prstGeom prst="homePlate">
            <a:avLst>
              <a:gd name="adj" fmla="val 33085"/>
            </a:avLst>
          </a:prstGeom>
          <a:ln w="12700">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latin typeface="游ゴシック" panose="020B0400000000000000" pitchFamily="50" charset="-128"/>
                <a:ea typeface="游ゴシック" panose="020B0400000000000000" pitchFamily="50" charset="-128"/>
              </a:rPr>
              <a:t>結合テスト</a:t>
            </a:r>
            <a:r>
              <a:rPr lang="en-US" altLang="ja-JP" sz="1400" b="1" dirty="0">
                <a:latin typeface="游ゴシック" panose="020B0400000000000000" pitchFamily="50" charset="-128"/>
                <a:ea typeface="游ゴシック" panose="020B0400000000000000" pitchFamily="50" charset="-128"/>
              </a:rPr>
              <a:t>(IT)</a:t>
            </a:r>
            <a:endParaRPr lang="ja-JP" altLang="en-US" sz="1400" b="1" dirty="0">
              <a:latin typeface="游ゴシック" panose="020B0400000000000000" pitchFamily="50" charset="-128"/>
              <a:ea typeface="游ゴシック" panose="020B0400000000000000" pitchFamily="50" charset="-128"/>
            </a:endParaRPr>
          </a:p>
        </p:txBody>
      </p:sp>
      <p:sp>
        <p:nvSpPr>
          <p:cNvPr id="17" name="正方形/長方形 16"/>
          <p:cNvSpPr/>
          <p:nvPr/>
        </p:nvSpPr>
        <p:spPr>
          <a:xfrm>
            <a:off x="144000" y="1295999"/>
            <a:ext cx="1584000" cy="5040000"/>
          </a:xfrm>
          <a:prstGeom prst="rect">
            <a:avLst/>
          </a:prstGeom>
          <a:ln>
            <a:solidFill>
              <a:schemeClr val="accent3"/>
            </a:solidFill>
          </a:ln>
        </p:spPr>
        <p:style>
          <a:lnRef idx="2">
            <a:schemeClr val="accent1"/>
          </a:lnRef>
          <a:fillRef idx="1">
            <a:schemeClr val="lt1"/>
          </a:fillRef>
          <a:effectRef idx="0">
            <a:schemeClr val="accent1"/>
          </a:effectRef>
          <a:fontRef idx="minor">
            <a:schemeClr val="dk1"/>
          </a:fontRef>
        </p:style>
        <p:txBody>
          <a:bodyPr lIns="108000" tIns="72000" rIns="108000" bIns="72000" rtlCol="0" anchor="t"/>
          <a:lstStyle/>
          <a:p>
            <a:pPr algn="ctr"/>
            <a:r>
              <a:rPr lang="ja-JP" altLang="en-US" sz="1400" u="sng" dirty="0">
                <a:latin typeface="游ゴシック" panose="020B0400000000000000" pitchFamily="50" charset="-128"/>
                <a:ea typeface="游ゴシック" panose="020B0400000000000000" pitchFamily="50" charset="-128"/>
              </a:rPr>
              <a:t>テスト内容</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プロセスおよび機能の品質を確保するために、検証されたプログラムをプロセスに統合し、プログラム間インターフェースがＳＳ工程の設計どおりか、プロセス機能を充足するかを検証します。基本的に</a:t>
            </a:r>
            <a:r>
              <a:rPr lang="ja-JP" altLang="en-US" sz="1400" b="1" dirty="0">
                <a:solidFill>
                  <a:schemeClr val="accent1"/>
                </a:solidFill>
                <a:latin typeface="游ゴシック" panose="020B0400000000000000" pitchFamily="50" charset="-128"/>
                <a:ea typeface="游ゴシック" panose="020B0400000000000000" pitchFamily="50" charset="-128"/>
              </a:rPr>
              <a:t>現新比較によるテストを実施</a:t>
            </a:r>
            <a:r>
              <a:rPr lang="ja-JP" altLang="en-US" sz="1400" dirty="0">
                <a:latin typeface="游ゴシック" panose="020B0400000000000000" pitchFamily="50" charset="-128"/>
                <a:ea typeface="游ゴシック" panose="020B0400000000000000" pitchFamily="50" charset="-128"/>
              </a:rPr>
              <a:t>します。</a:t>
            </a:r>
            <a:endParaRPr lang="en-US" altLang="ja-JP" sz="1400" dirty="0">
              <a:latin typeface="游ゴシック" panose="020B0400000000000000" pitchFamily="50" charset="-128"/>
              <a:ea typeface="游ゴシック" panose="020B0400000000000000" pitchFamily="50" charset="-128"/>
            </a:endParaRPr>
          </a:p>
          <a:p>
            <a:pPr algn="ctr"/>
            <a:endParaRPr lang="en-US" altLang="ja-JP" sz="1000" dirty="0">
              <a:latin typeface="游ゴシック" panose="020B0400000000000000" pitchFamily="50" charset="-128"/>
              <a:ea typeface="游ゴシック" panose="020B0400000000000000" pitchFamily="50" charset="-128"/>
            </a:endParaRPr>
          </a:p>
          <a:p>
            <a:pPr algn="ctr"/>
            <a:r>
              <a:rPr lang="ja-JP" altLang="en-US" sz="1400" u="sng" dirty="0">
                <a:latin typeface="游ゴシック" panose="020B0400000000000000" pitchFamily="50" charset="-128"/>
                <a:ea typeface="游ゴシック" panose="020B0400000000000000" pitchFamily="50" charset="-128"/>
              </a:rPr>
              <a:t>テスト環境</a:t>
            </a:r>
            <a:endParaRPr lang="en-US" altLang="ja-JP" sz="1400" u="sng"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弊社環境</a:t>
            </a:r>
            <a:endParaRPr lang="en-US" altLang="ja-JP" sz="1400" dirty="0">
              <a:latin typeface="游ゴシック" panose="020B0400000000000000" pitchFamily="50" charset="-128"/>
              <a:ea typeface="游ゴシック" panose="020B0400000000000000" pitchFamily="50" charset="-128"/>
            </a:endParaRPr>
          </a:p>
          <a:p>
            <a:pPr algn="ctr"/>
            <a:endParaRPr lang="en-US" altLang="ja-JP" sz="1000" dirty="0">
              <a:latin typeface="游ゴシック" panose="020B0400000000000000" pitchFamily="50" charset="-128"/>
              <a:ea typeface="游ゴシック" panose="020B0400000000000000" pitchFamily="50" charset="-128"/>
            </a:endParaRPr>
          </a:p>
          <a:p>
            <a:pPr algn="ctr"/>
            <a:r>
              <a:rPr lang="ja-JP" altLang="en-US" sz="1400" u="sng" dirty="0">
                <a:latin typeface="游ゴシック" panose="020B0400000000000000" pitchFamily="50" charset="-128"/>
                <a:ea typeface="游ゴシック" panose="020B0400000000000000" pitchFamily="50" charset="-128"/>
              </a:rPr>
              <a:t>主担当</a:t>
            </a:r>
            <a:endParaRPr lang="en-US" altLang="ja-JP" sz="1400" u="sng"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弊社</a:t>
            </a: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p:txBody>
      </p:sp>
      <p:sp>
        <p:nvSpPr>
          <p:cNvPr id="20" name="正方形/長方形 19"/>
          <p:cNvSpPr/>
          <p:nvPr/>
        </p:nvSpPr>
        <p:spPr>
          <a:xfrm>
            <a:off x="5976000" y="2808000"/>
            <a:ext cx="1296000" cy="3384000"/>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72000" rIns="72000" rtlCol="0" anchor="t"/>
          <a:lstStyle/>
          <a:p>
            <a:pPr algn="ctr" latinLnBrk="1" hangingPunct="0"/>
            <a:r>
              <a:rPr lang="ja-JP" altLang="en-US" sz="1400" u="sng" dirty="0">
                <a:latin typeface="游ゴシック" panose="020B0400000000000000" pitchFamily="50" charset="-128"/>
                <a:ea typeface="游ゴシック" panose="020B0400000000000000" pitchFamily="50" charset="-128"/>
              </a:rPr>
              <a:t>テスト内容</a:t>
            </a:r>
            <a:endParaRPr lang="en-US" altLang="ja-JP" sz="1400" u="sng"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本番環境にて</a:t>
            </a:r>
            <a:r>
              <a:rPr lang="ja-JP" altLang="en-US" sz="1400" dirty="0">
                <a:solidFill>
                  <a:schemeClr val="tx1"/>
                </a:solidFill>
                <a:latin typeface="游ゴシック" panose="020B0400000000000000" pitchFamily="50" charset="-128"/>
                <a:ea typeface="游ゴシック" panose="020B0400000000000000" pitchFamily="50" charset="-128"/>
              </a:rPr>
              <a:t>外部システムとの疎通に問題がないことを確認します。（周辺システムとの連携テストを実施）</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latinLnBrk="1"/>
            <a:endParaRPr lang="en-US" altLang="ja-JP" sz="1400" dirty="0">
              <a:latin typeface="游ゴシック" panose="020B0400000000000000" pitchFamily="50" charset="-128"/>
              <a:ea typeface="游ゴシック" panose="020B0400000000000000" pitchFamily="50" charset="-128"/>
            </a:endParaRPr>
          </a:p>
          <a:p>
            <a:pPr algn="ctr" latinLnBrk="1"/>
            <a:endParaRPr lang="en-US" altLang="ja-JP" sz="1000" dirty="0">
              <a:latin typeface="游ゴシック" panose="020B0400000000000000" pitchFamily="50" charset="-128"/>
              <a:ea typeface="游ゴシック" panose="020B0400000000000000" pitchFamily="50" charset="-128"/>
            </a:endParaRPr>
          </a:p>
          <a:p>
            <a:pPr algn="ctr" latinLnBrk="1"/>
            <a:r>
              <a:rPr lang="ja-JP" altLang="en-US" sz="1400" u="sng" dirty="0">
                <a:solidFill>
                  <a:schemeClr val="tx1"/>
                </a:solidFill>
                <a:latin typeface="游ゴシック" panose="020B0400000000000000" pitchFamily="50" charset="-128"/>
                <a:ea typeface="游ゴシック" panose="020B0400000000000000" pitchFamily="50" charset="-128"/>
              </a:rPr>
              <a:t>テスト環境</a:t>
            </a:r>
            <a:endParaRPr lang="en-US" altLang="ja-JP" sz="1400" u="sng" dirty="0">
              <a:solidFill>
                <a:schemeClr val="tx1"/>
              </a:solidFill>
              <a:latin typeface="游ゴシック" panose="020B0400000000000000" pitchFamily="50" charset="-128"/>
              <a:ea typeface="游ゴシック" panose="020B0400000000000000" pitchFamily="50" charset="-128"/>
            </a:endParaRPr>
          </a:p>
          <a:p>
            <a:pPr algn="ctr" latinLnBrk="1"/>
            <a:r>
              <a:rPr lang="ja-JP" altLang="en-US" sz="1400" dirty="0">
                <a:solidFill>
                  <a:schemeClr val="tx1"/>
                </a:solidFill>
                <a:latin typeface="游ゴシック" panose="020B0400000000000000" pitchFamily="50" charset="-128"/>
                <a:ea typeface="游ゴシック" panose="020B0400000000000000" pitchFamily="50" charset="-128"/>
              </a:rPr>
              <a:t>貴社本番環境</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latinLnBrk="1"/>
            <a:endParaRPr lang="en-US" altLang="ja-JP" sz="1000" dirty="0">
              <a:solidFill>
                <a:schemeClr val="tx1"/>
              </a:solidFill>
              <a:latin typeface="游ゴシック" panose="020B0400000000000000" pitchFamily="50" charset="-128"/>
              <a:ea typeface="游ゴシック" panose="020B0400000000000000" pitchFamily="50" charset="-128"/>
            </a:endParaRPr>
          </a:p>
          <a:p>
            <a:pPr algn="ctr" latinLnBrk="1"/>
            <a:r>
              <a:rPr lang="ja-JP" altLang="en-US" sz="1400" u="sng" dirty="0">
                <a:solidFill>
                  <a:schemeClr val="tx1"/>
                </a:solidFill>
                <a:latin typeface="游ゴシック" panose="020B0400000000000000" pitchFamily="50" charset="-128"/>
                <a:ea typeface="游ゴシック" panose="020B0400000000000000" pitchFamily="50" charset="-128"/>
              </a:rPr>
              <a:t>主担当</a:t>
            </a:r>
            <a:endParaRPr lang="en-US" altLang="ja-JP" sz="1400" u="sng" dirty="0">
              <a:solidFill>
                <a:schemeClr val="tx1"/>
              </a:solidFill>
              <a:latin typeface="游ゴシック" panose="020B0400000000000000" pitchFamily="50" charset="-128"/>
              <a:ea typeface="游ゴシック" panose="020B0400000000000000" pitchFamily="50" charset="-128"/>
            </a:endParaRPr>
          </a:p>
          <a:p>
            <a:pPr algn="ctr" latinLnBrk="1"/>
            <a:r>
              <a:rPr lang="ja-JP" altLang="en-US" sz="1400" dirty="0">
                <a:solidFill>
                  <a:schemeClr val="tx1"/>
                </a:solidFill>
                <a:latin typeface="游ゴシック" panose="020B0400000000000000" pitchFamily="50" charset="-128"/>
                <a:ea typeface="游ゴシック" panose="020B0400000000000000" pitchFamily="50" charset="-128"/>
              </a:rPr>
              <a:t>弊社</a:t>
            </a:r>
          </a:p>
        </p:txBody>
      </p:sp>
      <p:sp>
        <p:nvSpPr>
          <p:cNvPr id="29" name="ホームベース 28"/>
          <p:cNvSpPr/>
          <p:nvPr/>
        </p:nvSpPr>
        <p:spPr>
          <a:xfrm>
            <a:off x="1800000" y="864000"/>
            <a:ext cx="5544000" cy="360000"/>
          </a:xfrm>
          <a:prstGeom prst="homePlate">
            <a:avLst>
              <a:gd name="adj" fmla="val 33085"/>
            </a:avLst>
          </a:prstGeom>
          <a:solidFill>
            <a:schemeClr val="accent2"/>
          </a:solidFill>
          <a:ln w="12700">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b="1" dirty="0">
                <a:latin typeface="游ゴシック" panose="020B0400000000000000" pitchFamily="50" charset="-128"/>
                <a:ea typeface="游ゴシック" panose="020B0400000000000000" pitchFamily="50" charset="-128"/>
              </a:rPr>
              <a:t>システムテスト</a:t>
            </a:r>
            <a:r>
              <a:rPr lang="en-US" altLang="ja-JP" sz="1400" b="1" dirty="0">
                <a:latin typeface="游ゴシック" panose="020B0400000000000000" pitchFamily="50" charset="-128"/>
                <a:ea typeface="游ゴシック" panose="020B0400000000000000" pitchFamily="50" charset="-128"/>
              </a:rPr>
              <a:t>(ST)</a:t>
            </a:r>
            <a:endParaRPr lang="ja-JP" altLang="en-US" sz="1400" b="1" dirty="0">
              <a:latin typeface="游ゴシック" panose="020B0400000000000000" pitchFamily="50" charset="-128"/>
              <a:ea typeface="游ゴシック" panose="020B0400000000000000" pitchFamily="50" charset="-128"/>
            </a:endParaRPr>
          </a:p>
        </p:txBody>
      </p:sp>
      <p:sp>
        <p:nvSpPr>
          <p:cNvPr id="30" name="ホームベース 29"/>
          <p:cNvSpPr/>
          <p:nvPr/>
        </p:nvSpPr>
        <p:spPr>
          <a:xfrm>
            <a:off x="7416000" y="864000"/>
            <a:ext cx="1584000" cy="360000"/>
          </a:xfrm>
          <a:prstGeom prst="homePlate">
            <a:avLst>
              <a:gd name="adj" fmla="val 33085"/>
            </a:avLst>
          </a:prstGeom>
          <a:solidFill>
            <a:schemeClr val="accent4"/>
          </a:solidFill>
          <a:ln w="12700">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latin typeface="游ゴシック" panose="020B0400000000000000" pitchFamily="50" charset="-128"/>
                <a:ea typeface="游ゴシック" panose="020B0400000000000000" pitchFamily="50" charset="-128"/>
              </a:rPr>
              <a:t>運用テスト</a:t>
            </a:r>
            <a:r>
              <a:rPr lang="en-US" altLang="ja-JP" sz="1400" b="1" dirty="0">
                <a:latin typeface="游ゴシック" panose="020B0400000000000000" pitchFamily="50" charset="-128"/>
                <a:ea typeface="游ゴシック" panose="020B0400000000000000" pitchFamily="50" charset="-128"/>
              </a:rPr>
              <a:t>(OT)</a:t>
            </a:r>
            <a:endParaRPr lang="ja-JP" altLang="en-US" sz="1400" b="1" dirty="0">
              <a:latin typeface="游ゴシック" panose="020B0400000000000000" pitchFamily="50" charset="-128"/>
              <a:ea typeface="游ゴシック" panose="020B0400000000000000" pitchFamily="50" charset="-128"/>
            </a:endParaRPr>
          </a:p>
        </p:txBody>
      </p:sp>
      <p:sp>
        <p:nvSpPr>
          <p:cNvPr id="32" name="正方形/長方形 31"/>
          <p:cNvSpPr/>
          <p:nvPr/>
        </p:nvSpPr>
        <p:spPr>
          <a:xfrm>
            <a:off x="1872000" y="2520000"/>
            <a:ext cx="1296000" cy="288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solidFill>
                  <a:schemeClr val="tx1"/>
                </a:solidFill>
                <a:latin typeface="游ゴシック" panose="020B0400000000000000" pitchFamily="50" charset="-128"/>
                <a:ea typeface="游ゴシック" panose="020B0400000000000000" pitchFamily="50" charset="-128"/>
              </a:rPr>
              <a:t>IF</a:t>
            </a:r>
            <a:r>
              <a:rPr kumimoji="1" lang="ja-JP" altLang="en-US" sz="1400" b="1" dirty="0">
                <a:solidFill>
                  <a:schemeClr val="tx1"/>
                </a:solidFill>
                <a:latin typeface="游ゴシック" panose="020B0400000000000000" pitchFamily="50" charset="-128"/>
                <a:ea typeface="游ゴシック" panose="020B0400000000000000" pitchFamily="50" charset="-128"/>
              </a:rPr>
              <a:t>テスト</a:t>
            </a:r>
          </a:p>
        </p:txBody>
      </p:sp>
      <p:sp>
        <p:nvSpPr>
          <p:cNvPr id="33" name="正方形/長方形 32"/>
          <p:cNvSpPr/>
          <p:nvPr/>
        </p:nvSpPr>
        <p:spPr>
          <a:xfrm>
            <a:off x="3240000" y="2520000"/>
            <a:ext cx="1296000" cy="288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シナリオテスト</a:t>
            </a: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34" name="正方形/長方形 33"/>
          <p:cNvSpPr/>
          <p:nvPr/>
        </p:nvSpPr>
        <p:spPr>
          <a:xfrm>
            <a:off x="4608000" y="2520000"/>
            <a:ext cx="1296000" cy="288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性能テスト</a:t>
            </a:r>
          </a:p>
        </p:txBody>
      </p:sp>
      <p:sp>
        <p:nvSpPr>
          <p:cNvPr id="35" name="正方形/長方形 34"/>
          <p:cNvSpPr/>
          <p:nvPr/>
        </p:nvSpPr>
        <p:spPr>
          <a:xfrm>
            <a:off x="5976000" y="2520000"/>
            <a:ext cx="1296000" cy="288000"/>
          </a:xfrm>
          <a:prstGeom prst="rect">
            <a:avLst/>
          </a:prstGeom>
          <a:solidFill>
            <a:schemeClr val="accent2">
              <a:lumMod val="20000"/>
              <a:lumOff val="80000"/>
            </a:schemeClr>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疎通テスト</a:t>
            </a:r>
          </a:p>
        </p:txBody>
      </p:sp>
      <p:sp>
        <p:nvSpPr>
          <p:cNvPr id="40" name="正方形/長方形 39"/>
          <p:cNvSpPr/>
          <p:nvPr/>
        </p:nvSpPr>
        <p:spPr>
          <a:xfrm>
            <a:off x="4608000" y="2808000"/>
            <a:ext cx="1296000" cy="3384000"/>
          </a:xfrm>
          <a:prstGeom prst="rect">
            <a:avLst/>
          </a:prstGeom>
          <a:ln w="12700">
            <a:solidFill>
              <a:schemeClr val="accent2"/>
            </a:solidFill>
          </a:ln>
        </p:spPr>
        <p:style>
          <a:lnRef idx="2">
            <a:schemeClr val="accent1"/>
          </a:lnRef>
          <a:fillRef idx="1">
            <a:schemeClr val="lt1"/>
          </a:fillRef>
          <a:effectRef idx="0">
            <a:schemeClr val="accent1"/>
          </a:effectRef>
          <a:fontRef idx="minor">
            <a:schemeClr val="dk1"/>
          </a:fontRef>
        </p:style>
        <p:txBody>
          <a:bodyPr wrap="square" lIns="72000" rIns="72000" rtlCol="0" anchor="t"/>
          <a:lstStyle/>
          <a:p>
            <a:pPr algn="ctr" latinLnBrk="1"/>
            <a:r>
              <a:rPr lang="ja-JP" altLang="en-US" sz="1400" u="sng" dirty="0">
                <a:latin typeface="游ゴシック" panose="020B0400000000000000" pitchFamily="50" charset="-128"/>
                <a:ea typeface="游ゴシック" panose="020B0400000000000000" pitchFamily="50" charset="-128"/>
              </a:rPr>
              <a:t>テスト内容</a:t>
            </a:r>
            <a:endParaRPr lang="en-US" altLang="ja-JP" sz="1400" u="sng"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本番環境を使用しシステム方式設計で定義した性能要件を満たせているかどうかを確認します。</a:t>
            </a:r>
            <a:endParaRPr lang="en-US" altLang="ja-JP" sz="1400" dirty="0">
              <a:latin typeface="游ゴシック" panose="020B0400000000000000" pitchFamily="50" charset="-128"/>
              <a:ea typeface="游ゴシック" panose="020B0400000000000000" pitchFamily="50" charset="-128"/>
            </a:endParaRPr>
          </a:p>
          <a:p>
            <a:pPr algn="ctr" latinLnBrk="1"/>
            <a:endParaRPr lang="en-US" altLang="ja-JP" sz="1400" dirty="0">
              <a:latin typeface="游ゴシック" panose="020B0400000000000000" pitchFamily="50" charset="-128"/>
              <a:ea typeface="游ゴシック" panose="020B0400000000000000" pitchFamily="50" charset="-128"/>
            </a:endParaRPr>
          </a:p>
          <a:p>
            <a:pPr algn="ctr" latinLnBrk="1"/>
            <a:endParaRPr lang="en-US" altLang="ja-JP" sz="1400" dirty="0">
              <a:latin typeface="游ゴシック" panose="020B0400000000000000" pitchFamily="50" charset="-128"/>
              <a:ea typeface="游ゴシック" panose="020B0400000000000000" pitchFamily="50" charset="-128"/>
            </a:endParaRPr>
          </a:p>
          <a:p>
            <a:pPr algn="ctr" latinLnBrk="1"/>
            <a:endParaRPr lang="en-US" altLang="ja-JP" sz="1000" dirty="0">
              <a:latin typeface="游ゴシック" panose="020B0400000000000000" pitchFamily="50" charset="-128"/>
              <a:ea typeface="游ゴシック" panose="020B0400000000000000" pitchFamily="50" charset="-128"/>
            </a:endParaRPr>
          </a:p>
          <a:p>
            <a:pPr algn="ctr" latinLnBrk="1"/>
            <a:r>
              <a:rPr lang="ja-JP" altLang="en-US" sz="1400" u="sng" dirty="0">
                <a:latin typeface="游ゴシック" panose="020B0400000000000000" pitchFamily="50" charset="-128"/>
                <a:ea typeface="游ゴシック" panose="020B0400000000000000" pitchFamily="50" charset="-128"/>
              </a:rPr>
              <a:t>テスト環境</a:t>
            </a:r>
            <a:endParaRPr lang="en-US" altLang="ja-JP" sz="1400" u="sng"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貴社本番環境</a:t>
            </a:r>
            <a:endParaRPr lang="en-US" altLang="ja-JP" sz="1400" dirty="0">
              <a:latin typeface="游ゴシック" panose="020B0400000000000000" pitchFamily="50" charset="-128"/>
              <a:ea typeface="游ゴシック" panose="020B0400000000000000" pitchFamily="50" charset="-128"/>
            </a:endParaRPr>
          </a:p>
          <a:p>
            <a:pPr algn="ctr" latinLnBrk="1"/>
            <a:endParaRPr lang="en-US" altLang="ja-JP" sz="1000" dirty="0">
              <a:latin typeface="游ゴシック" panose="020B0400000000000000" pitchFamily="50" charset="-128"/>
              <a:ea typeface="游ゴシック" panose="020B0400000000000000" pitchFamily="50" charset="-128"/>
            </a:endParaRPr>
          </a:p>
          <a:p>
            <a:pPr algn="ctr" latinLnBrk="1"/>
            <a:r>
              <a:rPr lang="ja-JP" altLang="en-US" sz="1400" u="sng" dirty="0">
                <a:latin typeface="游ゴシック" panose="020B0400000000000000" pitchFamily="50" charset="-128"/>
                <a:ea typeface="游ゴシック" panose="020B0400000000000000" pitchFamily="50" charset="-128"/>
              </a:rPr>
              <a:t>主担当</a:t>
            </a:r>
            <a:endParaRPr lang="en-US" altLang="ja-JP" sz="1400" u="sng" dirty="0">
              <a:latin typeface="游ゴシック" panose="020B0400000000000000" pitchFamily="50" charset="-128"/>
              <a:ea typeface="游ゴシック" panose="020B0400000000000000" pitchFamily="50" charset="-128"/>
            </a:endParaRPr>
          </a:p>
          <a:p>
            <a:pPr algn="ctr" latinLnBrk="1"/>
            <a:r>
              <a:rPr lang="ja-JP" altLang="en-US" sz="1400" dirty="0">
                <a:latin typeface="游ゴシック" panose="020B0400000000000000" pitchFamily="50" charset="-128"/>
                <a:ea typeface="游ゴシック" panose="020B0400000000000000" pitchFamily="50" charset="-128"/>
              </a:rPr>
              <a:t>弊社</a:t>
            </a:r>
          </a:p>
        </p:txBody>
      </p:sp>
    </p:spTree>
    <p:extLst>
      <p:ext uri="{BB962C8B-B14F-4D97-AF65-F5344CB8AC3E}">
        <p14:creationId xmlns:p14="http://schemas.microsoft.com/office/powerpoint/2010/main" val="1733573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テスト時における周辺システム担当との連携方法</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37</a:t>
            </a:fld>
            <a:endParaRPr kumimoji="1" lang="ja-JP" altLang="en-US"/>
          </a:p>
        </p:txBody>
      </p:sp>
      <p:grpSp>
        <p:nvGrpSpPr>
          <p:cNvPr id="99" name="グループ化 98"/>
          <p:cNvGrpSpPr/>
          <p:nvPr/>
        </p:nvGrpSpPr>
        <p:grpSpPr>
          <a:xfrm>
            <a:off x="144000" y="864000"/>
            <a:ext cx="6624000" cy="5471999"/>
            <a:chOff x="2376000" y="864000"/>
            <a:chExt cx="6624000" cy="5471999"/>
          </a:xfrm>
        </p:grpSpPr>
        <p:sp>
          <p:nvSpPr>
            <p:cNvPr id="12" name="正方形/長方形 11"/>
            <p:cNvSpPr/>
            <p:nvPr/>
          </p:nvSpPr>
          <p:spPr>
            <a:xfrm>
              <a:off x="4608000" y="1295999"/>
              <a:ext cx="2160000" cy="504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t"/>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3" name="正方形/長方形 12"/>
            <p:cNvSpPr/>
            <p:nvPr/>
          </p:nvSpPr>
          <p:spPr>
            <a:xfrm>
              <a:off x="6840000" y="1295999"/>
              <a:ext cx="2160000" cy="5040000"/>
            </a:xfrm>
            <a:prstGeom prst="rect">
              <a:avLst/>
            </a:prstGeom>
            <a:solidFill>
              <a:schemeClr val="accent4">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t"/>
            <a:lstStyle/>
            <a:p>
              <a:pPr algn="ctr"/>
              <a:r>
                <a:rPr kumimoji="1" lang="en-US" altLang="ja-JP" sz="1200" dirty="0">
                  <a:solidFill>
                    <a:schemeClr val="tx1"/>
                  </a:solidFill>
                  <a:latin typeface="游ゴシック" panose="020B0400000000000000" pitchFamily="50" charset="-128"/>
                  <a:ea typeface="游ゴシック" panose="020B0400000000000000" pitchFamily="50" charset="-128"/>
                </a:rPr>
                <a:t>※</a:t>
              </a:r>
              <a:r>
                <a:rPr kumimoji="1" lang="ja-JP" altLang="en-US" sz="1200" dirty="0">
                  <a:solidFill>
                    <a:schemeClr val="tx1"/>
                  </a:solidFill>
                  <a:latin typeface="游ゴシック" panose="020B0400000000000000" pitchFamily="50" charset="-128"/>
                  <a:ea typeface="游ゴシック" panose="020B0400000000000000" pitchFamily="50" charset="-128"/>
                </a:rPr>
                <a:t> </a:t>
              </a:r>
              <a:r>
                <a:rPr kumimoji="1" lang="en-US" altLang="ja-JP" sz="1200" dirty="0" err="1">
                  <a:solidFill>
                    <a:schemeClr val="tx1"/>
                  </a:solidFill>
                  <a:latin typeface="游ゴシック" panose="020B0400000000000000" pitchFamily="50" charset="-128"/>
                  <a:ea typeface="游ゴシック" panose="020B0400000000000000" pitchFamily="50" charset="-128"/>
                </a:rPr>
                <a:t>OneSAP</a:t>
              </a:r>
              <a:r>
                <a:rPr kumimoji="1" lang="ja-JP" altLang="en-US" sz="1200" dirty="0">
                  <a:solidFill>
                    <a:schemeClr val="tx1"/>
                  </a:solidFill>
                  <a:latin typeface="游ゴシック" panose="020B0400000000000000" pitchFamily="50" charset="-128"/>
                  <a:ea typeface="游ゴシック" panose="020B0400000000000000" pitchFamily="50" charset="-128"/>
                </a:rPr>
                <a:t>担当を含みます</a:t>
              </a:r>
            </a:p>
          </p:txBody>
        </p:sp>
        <p:sp>
          <p:nvSpPr>
            <p:cNvPr id="44" name="角丸四角形 43"/>
            <p:cNvSpPr/>
            <p:nvPr/>
          </p:nvSpPr>
          <p:spPr>
            <a:xfrm>
              <a:off x="4680000" y="4896000"/>
              <a:ext cx="4248000" cy="1260000"/>
            </a:xfrm>
            <a:prstGeom prst="roundRect">
              <a:avLst>
                <a:gd name="adj" fmla="val 5040"/>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テスト実施</a:t>
              </a:r>
              <a:endParaRPr lang="en-US" altLang="ja-JP" sz="1400" b="1" dirty="0">
                <a:solidFill>
                  <a:schemeClr val="tx1"/>
                </a:solidFill>
                <a:latin typeface="游ゴシック" panose="020B0400000000000000" pitchFamily="50" charset="-128"/>
                <a:ea typeface="游ゴシック" panose="020B0400000000000000" pitchFamily="50" charset="-128"/>
              </a:endParaRPr>
            </a:p>
          </p:txBody>
        </p:sp>
        <p:sp>
          <p:nvSpPr>
            <p:cNvPr id="6" name="正方形/長方形 5"/>
            <p:cNvSpPr/>
            <p:nvPr/>
          </p:nvSpPr>
          <p:spPr>
            <a:xfrm>
              <a:off x="2376000" y="864000"/>
              <a:ext cx="2160000" cy="360000"/>
            </a:xfrm>
            <a:prstGeom prst="rect">
              <a:avLst/>
            </a:prstGeom>
            <a:solidFill>
              <a:schemeClr val="accent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latin typeface="游ゴシック" panose="020B0400000000000000" pitchFamily="50" charset="-128"/>
                  <a:ea typeface="游ゴシック" panose="020B0400000000000000" pitchFamily="50" charset="-128"/>
                </a:rPr>
                <a:t>情報システム部</a:t>
              </a:r>
              <a:endParaRPr kumimoji="1" lang="ja-JP" altLang="en-US" sz="1600" b="1" dirty="0">
                <a:latin typeface="游ゴシック" panose="020B0400000000000000" pitchFamily="50" charset="-128"/>
                <a:ea typeface="游ゴシック" panose="020B0400000000000000" pitchFamily="50" charset="-128"/>
              </a:endParaRPr>
            </a:p>
          </p:txBody>
        </p:sp>
        <p:sp>
          <p:nvSpPr>
            <p:cNvPr id="7" name="正方形/長方形 6"/>
            <p:cNvSpPr/>
            <p:nvPr/>
          </p:nvSpPr>
          <p:spPr>
            <a:xfrm>
              <a:off x="4608000" y="864000"/>
              <a:ext cx="2160000" cy="360000"/>
            </a:xfrm>
            <a:prstGeom prst="rect">
              <a:avLst/>
            </a:prstGeom>
            <a:solidFill>
              <a:schemeClr val="accent2"/>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00" b="1" dirty="0">
                  <a:latin typeface="游ゴシック" panose="020B0400000000000000" pitchFamily="50" charset="-128"/>
                  <a:ea typeface="游ゴシック" panose="020B0400000000000000" pitchFamily="50" charset="-128"/>
                </a:rPr>
                <a:t>弊社</a:t>
              </a:r>
            </a:p>
          </p:txBody>
        </p:sp>
        <p:sp>
          <p:nvSpPr>
            <p:cNvPr id="8" name="正方形/長方形 7"/>
            <p:cNvSpPr/>
            <p:nvPr/>
          </p:nvSpPr>
          <p:spPr>
            <a:xfrm>
              <a:off x="6840000" y="864000"/>
              <a:ext cx="2160000" cy="360000"/>
            </a:xfrm>
            <a:prstGeom prst="rect">
              <a:avLst/>
            </a:prstGeom>
            <a:solidFill>
              <a:schemeClr val="accent4"/>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00" b="1" dirty="0">
                  <a:latin typeface="游ゴシック" panose="020B0400000000000000" pitchFamily="50" charset="-128"/>
                  <a:ea typeface="游ゴシック" panose="020B0400000000000000" pitchFamily="50" charset="-128"/>
                </a:rPr>
                <a:t>周辺システム担当</a:t>
              </a:r>
            </a:p>
          </p:txBody>
        </p:sp>
        <p:sp>
          <p:nvSpPr>
            <p:cNvPr id="11" name="正方形/長方形 10"/>
            <p:cNvSpPr/>
            <p:nvPr/>
          </p:nvSpPr>
          <p:spPr>
            <a:xfrm>
              <a:off x="2376000" y="1295999"/>
              <a:ext cx="2160000" cy="5040000"/>
            </a:xfrm>
            <a:prstGeom prst="rect">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t"/>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4" name="角丸四角形 13"/>
            <p:cNvSpPr/>
            <p:nvPr/>
          </p:nvSpPr>
          <p:spPr>
            <a:xfrm>
              <a:off x="4680000" y="1440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全体テスト計画書作成</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15" name="角丸四角形 14"/>
            <p:cNvSpPr/>
            <p:nvPr/>
          </p:nvSpPr>
          <p:spPr>
            <a:xfrm>
              <a:off x="2448000" y="1944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承認</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16" name="角丸四角形 15"/>
            <p:cNvSpPr/>
            <p:nvPr/>
          </p:nvSpPr>
          <p:spPr>
            <a:xfrm>
              <a:off x="6912000" y="1944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承認</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24" name="角丸四角形 23"/>
            <p:cNvSpPr/>
            <p:nvPr/>
          </p:nvSpPr>
          <p:spPr>
            <a:xfrm>
              <a:off x="4680000" y="1944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全体テスト計画の説明</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28" name="直線矢印コネクタ 27"/>
            <p:cNvCxnSpPr>
              <a:stCxn id="14" idx="2"/>
              <a:endCxn id="24" idx="0"/>
            </p:cNvCxnSpPr>
            <p:nvPr/>
          </p:nvCxnSpPr>
          <p:spPr>
            <a:xfrm>
              <a:off x="5688000" y="1800000"/>
              <a:ext cx="0" cy="1440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9" name="角丸四角形 28"/>
            <p:cNvSpPr/>
            <p:nvPr/>
          </p:nvSpPr>
          <p:spPr>
            <a:xfrm>
              <a:off x="4680000" y="2448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テスト仕様書作成</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30" name="角丸四角形 29"/>
            <p:cNvSpPr/>
            <p:nvPr/>
          </p:nvSpPr>
          <p:spPr>
            <a:xfrm>
              <a:off x="2448000" y="3168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承認</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31" name="角丸四角形 30"/>
            <p:cNvSpPr/>
            <p:nvPr/>
          </p:nvSpPr>
          <p:spPr>
            <a:xfrm>
              <a:off x="6912000" y="3168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承認</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39" name="直線矢印コネクタ 38"/>
            <p:cNvCxnSpPr/>
            <p:nvPr/>
          </p:nvCxnSpPr>
          <p:spPr>
            <a:xfrm>
              <a:off x="6696000" y="3348000"/>
              <a:ext cx="216000"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p:cNvCxnSpPr>
              <a:stCxn id="24" idx="1"/>
              <a:endCxn id="15" idx="3"/>
            </p:cNvCxnSpPr>
            <p:nvPr/>
          </p:nvCxnSpPr>
          <p:spPr>
            <a:xfrm flipH="1">
              <a:off x="4464000" y="2124000"/>
              <a:ext cx="216000"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p:cNvCxnSpPr>
              <a:stCxn id="24" idx="3"/>
              <a:endCxn id="16" idx="1"/>
            </p:cNvCxnSpPr>
            <p:nvPr/>
          </p:nvCxnSpPr>
          <p:spPr>
            <a:xfrm>
              <a:off x="6696000" y="2124000"/>
              <a:ext cx="216000"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0" name="角丸四角形 39"/>
            <p:cNvSpPr/>
            <p:nvPr/>
          </p:nvSpPr>
          <p:spPr>
            <a:xfrm>
              <a:off x="4680000" y="2952000"/>
              <a:ext cx="2016000" cy="576000"/>
            </a:xfrm>
            <a:prstGeom prst="roundRect">
              <a:avLst>
                <a:gd name="adj" fmla="val 11024"/>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テスト仕様および</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en-US" altLang="ja-JP" sz="1400" dirty="0">
                  <a:solidFill>
                    <a:schemeClr val="tx1"/>
                  </a:solidFill>
                  <a:latin typeface="游ゴシック" panose="020B0400000000000000" pitchFamily="50" charset="-128"/>
                  <a:ea typeface="游ゴシック" panose="020B0400000000000000" pitchFamily="50" charset="-128"/>
                </a:rPr>
                <a:t>IF</a:t>
              </a:r>
              <a:r>
                <a:rPr lang="ja-JP" altLang="en-US" sz="1400" dirty="0">
                  <a:solidFill>
                    <a:schemeClr val="tx1"/>
                  </a:solidFill>
                  <a:latin typeface="游ゴシック" panose="020B0400000000000000" pitchFamily="50" charset="-128"/>
                  <a:ea typeface="游ゴシック" panose="020B0400000000000000" pitchFamily="50" charset="-128"/>
                </a:rPr>
                <a:t>仕様変更点の説明</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41" name="直線矢印コネクタ 40"/>
            <p:cNvCxnSpPr>
              <a:stCxn id="29" idx="2"/>
              <a:endCxn id="40" idx="0"/>
            </p:cNvCxnSpPr>
            <p:nvPr/>
          </p:nvCxnSpPr>
          <p:spPr>
            <a:xfrm>
              <a:off x="5688000" y="2808000"/>
              <a:ext cx="0" cy="1440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p:cNvCxnSpPr/>
            <p:nvPr/>
          </p:nvCxnSpPr>
          <p:spPr>
            <a:xfrm flipH="1">
              <a:off x="4464000" y="3348000"/>
              <a:ext cx="216000"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9" name="角丸四角形 48"/>
            <p:cNvSpPr/>
            <p:nvPr/>
          </p:nvSpPr>
          <p:spPr>
            <a:xfrm>
              <a:off x="6912000" y="3672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変更対応</a:t>
              </a:r>
              <a:r>
                <a:rPr lang="en-US" altLang="ja-JP" sz="1400" dirty="0">
                  <a:solidFill>
                    <a:schemeClr val="tx1"/>
                  </a:solidFill>
                  <a:latin typeface="游ゴシック" panose="020B0400000000000000" pitchFamily="50" charset="-128"/>
                  <a:ea typeface="游ゴシック" panose="020B0400000000000000" pitchFamily="50" charset="-128"/>
                </a:rPr>
                <a:t>(</a:t>
              </a:r>
              <a:r>
                <a:rPr lang="ja-JP" altLang="en-US" sz="1400" dirty="0">
                  <a:solidFill>
                    <a:schemeClr val="tx1"/>
                  </a:solidFill>
                  <a:latin typeface="游ゴシック" panose="020B0400000000000000" pitchFamily="50" charset="-128"/>
                  <a:ea typeface="游ゴシック" panose="020B0400000000000000" pitchFamily="50" charset="-128"/>
                </a:rPr>
                <a:t>設計・改修</a:t>
              </a:r>
              <a:r>
                <a:rPr lang="en-US" altLang="ja-JP" sz="1400" dirty="0">
                  <a:solidFill>
                    <a:schemeClr val="tx1"/>
                  </a:solidFill>
                  <a:latin typeface="游ゴシック" panose="020B0400000000000000" pitchFamily="50" charset="-128"/>
                  <a:ea typeface="游ゴシック" panose="020B0400000000000000" pitchFamily="50" charset="-128"/>
                </a:rPr>
                <a:t>)</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50" name="直線矢印コネクタ 49"/>
            <p:cNvCxnSpPr>
              <a:stCxn id="31" idx="2"/>
              <a:endCxn id="49" idx="0"/>
            </p:cNvCxnSpPr>
            <p:nvPr/>
          </p:nvCxnSpPr>
          <p:spPr>
            <a:xfrm>
              <a:off x="7920000" y="3528000"/>
              <a:ext cx="0" cy="1440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53" name="角丸四角形 52"/>
            <p:cNvSpPr/>
            <p:nvPr/>
          </p:nvSpPr>
          <p:spPr>
            <a:xfrm>
              <a:off x="4680000" y="3672000"/>
              <a:ext cx="2016000" cy="1080000"/>
            </a:xfrm>
            <a:prstGeom prst="roundRect">
              <a:avLst>
                <a:gd name="adj" fmla="val 5880"/>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wrap="none" lIns="0" rIns="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各種調整</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en-US" altLang="ja-JP" sz="1400" dirty="0">
                  <a:solidFill>
                    <a:schemeClr val="tx1"/>
                  </a:solidFill>
                  <a:latin typeface="游ゴシック" panose="020B0400000000000000" pitchFamily="50" charset="-128"/>
                  <a:ea typeface="游ゴシック" panose="020B0400000000000000" pitchFamily="50" charset="-128"/>
                </a:rPr>
                <a:t>(</a:t>
              </a:r>
              <a:r>
                <a:rPr lang="ja-JP" altLang="en-US" sz="1400" dirty="0">
                  <a:solidFill>
                    <a:schemeClr val="tx1"/>
                  </a:solidFill>
                  <a:latin typeface="游ゴシック" panose="020B0400000000000000" pitchFamily="50" charset="-128"/>
                  <a:ea typeface="游ゴシック" panose="020B0400000000000000" pitchFamily="50" charset="-128"/>
                </a:rPr>
                <a:t>ｽｹｼﾞｭｰﾙ・仕様等</a:t>
              </a:r>
              <a:r>
                <a:rPr lang="en-US" altLang="ja-JP" sz="1400" dirty="0">
                  <a:solidFill>
                    <a:schemeClr val="tx1"/>
                  </a:solidFill>
                  <a:latin typeface="游ゴシック" panose="020B0400000000000000" pitchFamily="50" charset="-128"/>
                  <a:ea typeface="游ゴシック" panose="020B0400000000000000" pitchFamily="50" charset="-128"/>
                </a:rPr>
                <a:t>)</a:t>
              </a: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54" name="直線矢印コネクタ 53"/>
            <p:cNvCxnSpPr/>
            <p:nvPr/>
          </p:nvCxnSpPr>
          <p:spPr>
            <a:xfrm>
              <a:off x="6696000" y="4464000"/>
              <a:ext cx="216000" cy="0"/>
            </a:xfrm>
            <a:prstGeom prst="straightConnector1">
              <a:avLst/>
            </a:prstGeom>
            <a:ln w="12700">
              <a:solidFill>
                <a:schemeClr val="accent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角丸四角形 56"/>
            <p:cNvSpPr/>
            <p:nvPr/>
          </p:nvSpPr>
          <p:spPr>
            <a:xfrm>
              <a:off x="2448000" y="4320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状況把握</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58" name="直線矢印コネクタ 57"/>
            <p:cNvCxnSpPr>
              <a:stCxn id="89" idx="1"/>
              <a:endCxn id="57" idx="3"/>
            </p:cNvCxnSpPr>
            <p:nvPr/>
          </p:nvCxnSpPr>
          <p:spPr>
            <a:xfrm flipH="1">
              <a:off x="4464000" y="4500000"/>
              <a:ext cx="288000"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67" name="角丸四角形 66"/>
            <p:cNvSpPr/>
            <p:nvPr/>
          </p:nvSpPr>
          <p:spPr>
            <a:xfrm>
              <a:off x="6912000" y="4176000"/>
              <a:ext cx="2016000" cy="576000"/>
            </a:xfrm>
            <a:prstGeom prst="roundRect">
              <a:avLst>
                <a:gd name="adj" fmla="val 11024"/>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テスト仕様書</a:t>
              </a:r>
              <a:r>
                <a:rPr lang="en-US" altLang="ja-JP" sz="1400" dirty="0">
                  <a:solidFill>
                    <a:schemeClr val="tx1"/>
                  </a:solidFill>
                  <a:latin typeface="游ゴシック" panose="020B0400000000000000" pitchFamily="50" charset="-128"/>
                  <a:ea typeface="游ゴシック" panose="020B0400000000000000" pitchFamily="50" charset="-128"/>
                </a:rPr>
                <a:t>(</a:t>
              </a:r>
              <a:r>
                <a:rPr lang="ja-JP" altLang="en-US" sz="1400" dirty="0">
                  <a:solidFill>
                    <a:schemeClr val="tx1"/>
                  </a:solidFill>
                  <a:latin typeface="游ゴシック" panose="020B0400000000000000" pitchFamily="50" charset="-128"/>
                  <a:ea typeface="游ゴシック" panose="020B0400000000000000" pitchFamily="50" charset="-128"/>
                </a:rPr>
                <a:t>周辺ｼｽﾃﾑ</a:t>
              </a:r>
              <a:r>
                <a:rPr lang="en-US" altLang="ja-JP" sz="1400" dirty="0">
                  <a:solidFill>
                    <a:schemeClr val="tx1"/>
                  </a:solidFill>
                  <a:latin typeface="游ゴシック" panose="020B0400000000000000" pitchFamily="50" charset="-128"/>
                  <a:ea typeface="游ゴシック" panose="020B0400000000000000" pitchFamily="50" charset="-128"/>
                </a:rPr>
                <a:t>)</a:t>
              </a:r>
              <a:r>
                <a:rPr lang="ja-JP" altLang="en-US" sz="1400" dirty="0">
                  <a:solidFill>
                    <a:schemeClr val="tx1"/>
                  </a:solidFill>
                  <a:latin typeface="游ゴシック" panose="020B0400000000000000" pitchFamily="50" charset="-128"/>
                  <a:ea typeface="游ゴシック" panose="020B0400000000000000" pitchFamily="50" charset="-128"/>
                </a:rPr>
                <a:t>作成</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68" name="直線矢印コネクタ 67"/>
            <p:cNvCxnSpPr>
              <a:stCxn id="49" idx="2"/>
              <a:endCxn id="67" idx="0"/>
            </p:cNvCxnSpPr>
            <p:nvPr/>
          </p:nvCxnSpPr>
          <p:spPr>
            <a:xfrm>
              <a:off x="7920000" y="4032000"/>
              <a:ext cx="0" cy="1440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矢印コネクタ 70"/>
            <p:cNvCxnSpPr>
              <a:stCxn id="40" idx="2"/>
              <a:endCxn id="53" idx="0"/>
            </p:cNvCxnSpPr>
            <p:nvPr/>
          </p:nvCxnSpPr>
          <p:spPr>
            <a:xfrm>
              <a:off x="5688000" y="3528000"/>
              <a:ext cx="0" cy="1440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p:cNvCxnSpPr>
              <a:stCxn id="53" idx="2"/>
            </p:cNvCxnSpPr>
            <p:nvPr/>
          </p:nvCxnSpPr>
          <p:spPr>
            <a:xfrm>
              <a:off x="5688000" y="4752000"/>
              <a:ext cx="0" cy="1440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3" name="直線矢印コネクタ 82"/>
            <p:cNvCxnSpPr>
              <a:stCxn id="67" idx="2"/>
            </p:cNvCxnSpPr>
            <p:nvPr/>
          </p:nvCxnSpPr>
          <p:spPr>
            <a:xfrm>
              <a:off x="7920000" y="4752000"/>
              <a:ext cx="0" cy="14400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矢印コネクタ 87"/>
            <p:cNvCxnSpPr/>
            <p:nvPr/>
          </p:nvCxnSpPr>
          <p:spPr>
            <a:xfrm>
              <a:off x="6696000" y="3852000"/>
              <a:ext cx="216000" cy="0"/>
            </a:xfrm>
            <a:prstGeom prst="straightConnector1">
              <a:avLst/>
            </a:prstGeom>
            <a:ln w="12700">
              <a:solidFill>
                <a:schemeClr val="accent3"/>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9" name="角丸四角形 88"/>
            <p:cNvSpPr/>
            <p:nvPr/>
          </p:nvSpPr>
          <p:spPr>
            <a:xfrm>
              <a:off x="4752000" y="4320000"/>
              <a:ext cx="1872000" cy="360000"/>
            </a:xfrm>
            <a:prstGeom prst="roundRect">
              <a:avLst>
                <a:gd name="adj" fmla="val 17639"/>
              </a:avLst>
            </a:prstGeom>
            <a:solidFill>
              <a:schemeClr val="accent2">
                <a:lumMod val="75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随時、報告・相談</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93" name="角丸四角形 92"/>
            <p:cNvSpPr/>
            <p:nvPr/>
          </p:nvSpPr>
          <p:spPr>
            <a:xfrm>
              <a:off x="4752000" y="5220000"/>
              <a:ext cx="1872000" cy="360000"/>
            </a:xfrm>
            <a:prstGeom prst="roundRect">
              <a:avLst>
                <a:gd name="adj" fmla="val 17639"/>
              </a:avLst>
            </a:prstGeom>
            <a:solidFill>
              <a:schemeClr val="accent2">
                <a:lumMod val="75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取りまとめ・各種調整</a:t>
              </a:r>
              <a:endParaRPr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94" name="角丸四角形 93"/>
            <p:cNvSpPr/>
            <p:nvPr/>
          </p:nvSpPr>
          <p:spPr>
            <a:xfrm>
              <a:off x="4752000" y="5652000"/>
              <a:ext cx="1872000" cy="360000"/>
            </a:xfrm>
            <a:prstGeom prst="roundRect">
              <a:avLst>
                <a:gd name="adj" fmla="val 17639"/>
              </a:avLst>
            </a:prstGeom>
            <a:solidFill>
              <a:schemeClr val="accent2">
                <a:lumMod val="75000"/>
              </a:schemeClr>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随時、報告・相談</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p:txBody>
        </p:sp>
        <p:sp>
          <p:nvSpPr>
            <p:cNvPr id="95" name="角丸四角形 94"/>
            <p:cNvSpPr/>
            <p:nvPr/>
          </p:nvSpPr>
          <p:spPr>
            <a:xfrm>
              <a:off x="2448000" y="5652000"/>
              <a:ext cx="2016000" cy="360000"/>
            </a:xfrm>
            <a:prstGeom prst="roundRect">
              <a:avLst>
                <a:gd name="adj" fmla="val 17639"/>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状況把握</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96" name="直線矢印コネクタ 95"/>
            <p:cNvCxnSpPr>
              <a:stCxn id="94" idx="1"/>
              <a:endCxn id="95" idx="3"/>
            </p:cNvCxnSpPr>
            <p:nvPr/>
          </p:nvCxnSpPr>
          <p:spPr>
            <a:xfrm flipH="1">
              <a:off x="4464000" y="5832000"/>
              <a:ext cx="288000" cy="0"/>
            </a:xfrm>
            <a:prstGeom prst="straightConnector1">
              <a:avLst/>
            </a:pr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100" name="正方形/長方形 99"/>
          <p:cNvSpPr/>
          <p:nvPr/>
        </p:nvSpPr>
        <p:spPr>
          <a:xfrm>
            <a:off x="6912000" y="864000"/>
            <a:ext cx="2088000" cy="5472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t"/>
          <a:lstStyle/>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システムテスト</a:t>
            </a:r>
            <a:r>
              <a:rPr lang="en-US" altLang="ja-JP" sz="1400" dirty="0">
                <a:solidFill>
                  <a:schemeClr val="tx1"/>
                </a:solidFill>
                <a:latin typeface="游ゴシック" panose="020B0400000000000000" pitchFamily="50" charset="-128"/>
                <a:ea typeface="游ゴシック" panose="020B0400000000000000" pitchFamily="50" charset="-128"/>
              </a:rPr>
              <a:t>(ST)</a:t>
            </a:r>
            <a:r>
              <a:rPr lang="ja-JP" altLang="en-US" sz="1400" dirty="0">
                <a:solidFill>
                  <a:schemeClr val="tx1"/>
                </a:solidFill>
                <a:latin typeface="游ゴシック" panose="020B0400000000000000" pitchFamily="50" charset="-128"/>
                <a:ea typeface="游ゴシック" panose="020B0400000000000000" pitchFamily="50" charset="-128"/>
              </a:rPr>
              <a:t>工程時におきましては、周辺システム担当のご協力を頂きたく存じます。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仕様の変更内容によっては、周辺システムにも改修が生じる可能性があります。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テストの実施にあたりましては、周辺システム担当と連携し進めます。</a:t>
            </a:r>
            <a:r>
              <a:rPr lang="ja-JP" altLang="en-US" sz="1400" b="1" dirty="0">
                <a:solidFill>
                  <a:schemeClr val="accent1"/>
                </a:solidFill>
                <a:latin typeface="游ゴシック" panose="020B0400000000000000" pitchFamily="50" charset="-128"/>
                <a:ea typeface="游ゴシック" panose="020B0400000000000000" pitchFamily="50" charset="-128"/>
              </a:rPr>
              <a:t>弊社の</a:t>
            </a:r>
            <a:r>
              <a:rPr lang="en-US" altLang="ja-JP" sz="1400" b="1" dirty="0">
                <a:solidFill>
                  <a:schemeClr val="accent1"/>
                </a:solidFill>
                <a:latin typeface="游ゴシック" panose="020B0400000000000000" pitchFamily="50" charset="-128"/>
                <a:ea typeface="游ゴシック" panose="020B0400000000000000" pitchFamily="50" charset="-128"/>
              </a:rPr>
              <a:t>PMO</a:t>
            </a:r>
            <a:r>
              <a:rPr lang="ja-JP" altLang="en-US" sz="1400" b="1" dirty="0">
                <a:solidFill>
                  <a:schemeClr val="accent1"/>
                </a:solidFill>
                <a:latin typeface="游ゴシック" panose="020B0400000000000000" pitchFamily="50" charset="-128"/>
                <a:ea typeface="游ゴシック" panose="020B0400000000000000" pitchFamily="50" charset="-128"/>
              </a:rPr>
              <a:t>が事務局となり取りまとめし、貴社には随時報告・相談を実施</a:t>
            </a:r>
            <a:r>
              <a:rPr lang="ja-JP" altLang="en-US" sz="1400" dirty="0">
                <a:solidFill>
                  <a:schemeClr val="tx1"/>
                </a:solidFill>
                <a:latin typeface="游ゴシック" panose="020B0400000000000000" pitchFamily="50" charset="-128"/>
                <a:ea typeface="游ゴシック" panose="020B0400000000000000" pitchFamily="50" charset="-128"/>
              </a:rPr>
              <a:t>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spcBef>
                <a:spcPts val="600"/>
              </a:spcBef>
            </a:pP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2222311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本番移行</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38</a:t>
            </a:fld>
            <a:endParaRPr kumimoji="1" lang="ja-JP" altLang="en-US"/>
          </a:p>
        </p:txBody>
      </p:sp>
      <p:grpSp>
        <p:nvGrpSpPr>
          <p:cNvPr id="24" name="グループ化 23"/>
          <p:cNvGrpSpPr/>
          <p:nvPr/>
        </p:nvGrpSpPr>
        <p:grpSpPr>
          <a:xfrm>
            <a:off x="360000" y="3708000"/>
            <a:ext cx="8639999" cy="1224000"/>
            <a:chOff x="360000" y="4032000"/>
            <a:chExt cx="8639999" cy="1224000"/>
          </a:xfrm>
        </p:grpSpPr>
        <p:grpSp>
          <p:nvGrpSpPr>
            <p:cNvPr id="3" name="グループ化 2"/>
            <p:cNvGrpSpPr/>
            <p:nvPr/>
          </p:nvGrpSpPr>
          <p:grpSpPr>
            <a:xfrm>
              <a:off x="360000" y="4032000"/>
              <a:ext cx="8639999" cy="540000"/>
              <a:chOff x="360000" y="2664000"/>
              <a:chExt cx="8639999" cy="540000"/>
            </a:xfrm>
          </p:grpSpPr>
          <p:grpSp>
            <p:nvGrpSpPr>
              <p:cNvPr id="10" name="グループ化 9"/>
              <p:cNvGrpSpPr/>
              <p:nvPr/>
            </p:nvGrpSpPr>
            <p:grpSpPr>
              <a:xfrm>
                <a:off x="360000" y="2664000"/>
                <a:ext cx="432000" cy="432000"/>
                <a:chOff x="936727" y="1596367"/>
                <a:chExt cx="432000" cy="432000"/>
              </a:xfrm>
            </p:grpSpPr>
            <p:sp>
              <p:nvSpPr>
                <p:cNvPr id="11" name="涙形 10"/>
                <p:cNvSpPr>
                  <a:spLocks noChangeAspect="1"/>
                </p:cNvSpPr>
                <p:nvPr/>
              </p:nvSpPr>
              <p:spPr>
                <a:xfrm rot="5400000">
                  <a:off x="936727" y="1596367"/>
                  <a:ext cx="432000" cy="432000"/>
                </a:xfrm>
                <a:prstGeom prst="teardrop">
                  <a:avLst/>
                </a:prstGeom>
                <a:solidFill>
                  <a:schemeClr val="accent1">
                    <a:lumMod val="20000"/>
                    <a:lumOff val="80000"/>
                  </a:schemeClr>
                </a:solidFill>
                <a:ln w="76200" cmpd="sng">
                  <a:solidFill>
                    <a:schemeClr val="accent1">
                      <a:lumMod val="40000"/>
                      <a:lumOff val="60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p:cNvSpPr txBox="1"/>
                <p:nvPr/>
              </p:nvSpPr>
              <p:spPr>
                <a:xfrm>
                  <a:off x="1001884" y="1632367"/>
                  <a:ext cx="301686" cy="369332"/>
                </a:xfrm>
                <a:prstGeom prst="rect">
                  <a:avLst/>
                </a:prstGeom>
                <a:noFill/>
              </p:spPr>
              <p:txBody>
                <a:bodyPr wrap="none" rtlCol="0" anchor="ctr">
                  <a:spAutoFit/>
                </a:bodyPr>
                <a:lstStyle/>
                <a:p>
                  <a:pPr algn="ctr"/>
                  <a:r>
                    <a:rPr lang="en-US" altLang="ja-JP" dirty="0">
                      <a:solidFill>
                        <a:schemeClr val="accent1"/>
                      </a:solidFill>
                    </a:rPr>
                    <a:t>2</a:t>
                  </a:r>
                  <a:endParaRPr kumimoji="1" lang="ja-JP" altLang="en-US" dirty="0">
                    <a:solidFill>
                      <a:schemeClr val="accent1"/>
                    </a:solidFill>
                  </a:endParaRPr>
                </a:p>
              </p:txBody>
            </p:sp>
          </p:grpSp>
          <p:sp>
            <p:nvSpPr>
              <p:cNvPr id="13" name="テキスト プレースホルダー 11"/>
              <p:cNvSpPr txBox="1">
                <a:spLocks/>
              </p:cNvSpPr>
              <p:nvPr/>
            </p:nvSpPr>
            <p:spPr>
              <a:xfrm>
                <a:off x="899272" y="2700000"/>
                <a:ext cx="8100727" cy="504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リスクを抑える移行リハーサル</a:t>
                </a:r>
                <a:endParaRPr lang="en-US" sz="1600" b="1" dirty="0">
                  <a:solidFill>
                    <a:schemeClr val="accent1">
                      <a:lumMod val="50000"/>
                    </a:schemeClr>
                  </a:solidFill>
                  <a:latin typeface="游ゴシック" panose="020B0400000000000000" pitchFamily="50" charset="-128"/>
                </a:endParaRPr>
              </a:p>
            </p:txBody>
          </p:sp>
        </p:grpSp>
        <p:sp>
          <p:nvSpPr>
            <p:cNvPr id="18" name="テキスト ボックス 17"/>
            <p:cNvSpPr txBox="1">
              <a:spLocks/>
            </p:cNvSpPr>
            <p:nvPr/>
          </p:nvSpPr>
          <p:spPr>
            <a:xfrm>
              <a:off x="360000" y="4536000"/>
              <a:ext cx="8424000" cy="720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一括移行方式は、ある時点で現行システムを休止し全機能を新システムへと一気に切り替える方法であるため、移行自体のリスクは大きいものとなります。そのリスクを極力抑えるため少なくとも３回のリハーサルを予定します。</a:t>
              </a:r>
              <a:endParaRPr lang="en-US" altLang="ja-JP" sz="1400" dirty="0">
                <a:latin typeface="游ゴシック" panose="020B0400000000000000" pitchFamily="50" charset="-128"/>
                <a:ea typeface="游ゴシック" panose="020B0400000000000000" pitchFamily="50" charset="-128"/>
              </a:endParaRPr>
            </a:p>
          </p:txBody>
        </p:sp>
      </p:grpSp>
      <p:grpSp>
        <p:nvGrpSpPr>
          <p:cNvPr id="25" name="グループ化 24"/>
          <p:cNvGrpSpPr/>
          <p:nvPr/>
        </p:nvGrpSpPr>
        <p:grpSpPr>
          <a:xfrm>
            <a:off x="360000" y="864000"/>
            <a:ext cx="8639272" cy="1224000"/>
            <a:chOff x="360000" y="1044000"/>
            <a:chExt cx="8639272" cy="1224000"/>
          </a:xfrm>
        </p:grpSpPr>
        <p:grpSp>
          <p:nvGrpSpPr>
            <p:cNvPr id="6" name="グループ化 5"/>
            <p:cNvGrpSpPr/>
            <p:nvPr/>
          </p:nvGrpSpPr>
          <p:grpSpPr>
            <a:xfrm>
              <a:off x="360000" y="1044000"/>
              <a:ext cx="432000" cy="432000"/>
              <a:chOff x="936727" y="1596367"/>
              <a:chExt cx="432000" cy="432000"/>
            </a:xfrm>
          </p:grpSpPr>
          <p:sp>
            <p:nvSpPr>
              <p:cNvPr id="7" name="涙形 6"/>
              <p:cNvSpPr>
                <a:spLocks noChangeAspect="1"/>
              </p:cNvSpPr>
              <p:nvPr/>
            </p:nvSpPr>
            <p:spPr>
              <a:xfrm rot="5400000">
                <a:off x="936727" y="1596367"/>
                <a:ext cx="432000" cy="432000"/>
              </a:xfrm>
              <a:prstGeom prst="teardrop">
                <a:avLst/>
              </a:prstGeom>
              <a:solidFill>
                <a:schemeClr val="accent1">
                  <a:lumMod val="20000"/>
                  <a:lumOff val="80000"/>
                </a:schemeClr>
              </a:solidFill>
              <a:ln w="76200" cmpd="sng">
                <a:solidFill>
                  <a:schemeClr val="accent1">
                    <a:lumMod val="40000"/>
                    <a:lumOff val="60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p:cNvSpPr txBox="1"/>
              <p:nvPr/>
            </p:nvSpPr>
            <p:spPr>
              <a:xfrm>
                <a:off x="1001884" y="1632367"/>
                <a:ext cx="301686" cy="369332"/>
              </a:xfrm>
              <a:prstGeom prst="rect">
                <a:avLst/>
              </a:prstGeom>
              <a:noFill/>
            </p:spPr>
            <p:txBody>
              <a:bodyPr wrap="none" rtlCol="0" anchor="ctr">
                <a:spAutoFit/>
              </a:bodyPr>
              <a:lstStyle/>
              <a:p>
                <a:pPr algn="ctr"/>
                <a:r>
                  <a:rPr kumimoji="1" lang="en-US" altLang="ja-JP" dirty="0">
                    <a:solidFill>
                      <a:schemeClr val="accent1"/>
                    </a:solidFill>
                  </a:rPr>
                  <a:t>1</a:t>
                </a:r>
                <a:endParaRPr kumimoji="1" lang="ja-JP" altLang="en-US" dirty="0">
                  <a:solidFill>
                    <a:schemeClr val="accent1"/>
                  </a:solidFill>
                </a:endParaRPr>
              </a:p>
            </p:txBody>
          </p:sp>
        </p:grpSp>
        <p:sp>
          <p:nvSpPr>
            <p:cNvPr id="9" name="テキスト プレースホルダー 11"/>
            <p:cNvSpPr txBox="1">
              <a:spLocks/>
            </p:cNvSpPr>
            <p:nvPr/>
          </p:nvSpPr>
          <p:spPr>
            <a:xfrm>
              <a:off x="899272" y="1080000"/>
              <a:ext cx="8100000" cy="504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影響範囲を最小限にする一括移行</a:t>
              </a:r>
              <a:endParaRPr lang="en-US" altLang="ja-JP" sz="1600" b="1" dirty="0">
                <a:solidFill>
                  <a:schemeClr val="accent1">
                    <a:lumMod val="50000"/>
                  </a:schemeClr>
                </a:solidFill>
                <a:latin typeface="游ゴシック" panose="020B0400000000000000" pitchFamily="50" charset="-128"/>
              </a:endParaRPr>
            </a:p>
          </p:txBody>
        </p:sp>
        <p:sp>
          <p:nvSpPr>
            <p:cNvPr id="19" name="テキスト ボックス 18"/>
            <p:cNvSpPr txBox="1">
              <a:spLocks/>
            </p:cNvSpPr>
            <p:nvPr/>
          </p:nvSpPr>
          <p:spPr>
            <a:xfrm>
              <a:off x="360000" y="1548000"/>
              <a:ext cx="8424000" cy="720000"/>
            </a:xfrm>
            <a:prstGeom prst="rect">
              <a:avLst/>
            </a:prstGeom>
            <a:noFill/>
          </p:spPr>
          <p:txBody>
            <a:bodyPr wrap="square" rtlCol="0">
              <a:noAutofit/>
            </a:bodyPr>
            <a:lstStyle/>
            <a:p>
              <a:r>
                <a:rPr lang="ja-JP" altLang="en-US" sz="1400" dirty="0">
                  <a:latin typeface="游ゴシック" panose="020B0400000000000000" pitchFamily="50" charset="-128"/>
                  <a:ea typeface="游ゴシック" panose="020B0400000000000000" pitchFamily="50" charset="-128"/>
                </a:rPr>
                <a:t>現行システムとのデータ連携などを考える必要がなく移行のコストを最小化できる</a:t>
              </a:r>
              <a:r>
                <a:rPr lang="ja-JP" altLang="en-US" sz="1400" b="1" dirty="0">
                  <a:solidFill>
                    <a:schemeClr val="accent1"/>
                  </a:solidFill>
                  <a:latin typeface="游ゴシック" panose="020B0400000000000000" pitchFamily="50" charset="-128"/>
                  <a:ea typeface="游ゴシック" panose="020B0400000000000000" pitchFamily="50" charset="-128"/>
                </a:rPr>
                <a:t>一括移行方式を採用します</a:t>
              </a:r>
              <a:r>
                <a:rPr lang="ja-JP" altLang="en-US" sz="1400" dirty="0">
                  <a:latin typeface="游ゴシック" panose="020B0400000000000000" pitchFamily="50" charset="-128"/>
                  <a:ea typeface="游ゴシック" panose="020B0400000000000000" pitchFamily="50" charset="-128"/>
                </a:rPr>
                <a:t>。また、一括移行方式では、移行後も現行システムをそのまま温存できるため、万が一、移行時にトラブルが生じても、容易に現行システムに切り戻すことが可能です。</a:t>
              </a:r>
              <a:endParaRPr kumimoji="1" lang="ja-JP" altLang="en-US" sz="1400" dirty="0">
                <a:latin typeface="游ゴシック" panose="020B0400000000000000" pitchFamily="50" charset="-128"/>
                <a:ea typeface="游ゴシック" panose="020B0400000000000000" pitchFamily="50" charset="-128"/>
              </a:endParaRPr>
            </a:p>
          </p:txBody>
        </p:sp>
      </p:grpSp>
      <p:graphicFrame>
        <p:nvGraphicFramePr>
          <p:cNvPr id="21" name="表 20"/>
          <p:cNvGraphicFramePr>
            <a:graphicFrameLocks noGrp="1"/>
          </p:cNvGraphicFramePr>
          <p:nvPr>
            <p:extLst>
              <p:ext uri="{D42A27DB-BD31-4B8C-83A1-F6EECF244321}">
                <p14:modId xmlns:p14="http://schemas.microsoft.com/office/powerpoint/2010/main" val="2479990551"/>
              </p:ext>
            </p:extLst>
          </p:nvPr>
        </p:nvGraphicFramePr>
        <p:xfrm>
          <a:off x="360000" y="2124000"/>
          <a:ext cx="8424000" cy="1432560"/>
        </p:xfrm>
        <a:graphic>
          <a:graphicData uri="http://schemas.openxmlformats.org/drawingml/2006/table">
            <a:tbl>
              <a:tblPr firstRow="1" bandRow="1">
                <a:tableStyleId>{2D5ABB26-0587-4C30-8999-92F81FD0307C}</a:tableStyleId>
              </a:tblPr>
              <a:tblGrid>
                <a:gridCol w="1404000">
                  <a:extLst>
                    <a:ext uri="{9D8B030D-6E8A-4147-A177-3AD203B41FA5}">
                      <a16:colId xmlns:a16="http://schemas.microsoft.com/office/drawing/2014/main" val="768475693"/>
                    </a:ext>
                  </a:extLst>
                </a:gridCol>
                <a:gridCol w="1404000">
                  <a:extLst>
                    <a:ext uri="{9D8B030D-6E8A-4147-A177-3AD203B41FA5}">
                      <a16:colId xmlns:a16="http://schemas.microsoft.com/office/drawing/2014/main" val="1898937981"/>
                    </a:ext>
                  </a:extLst>
                </a:gridCol>
                <a:gridCol w="1404000">
                  <a:extLst>
                    <a:ext uri="{9D8B030D-6E8A-4147-A177-3AD203B41FA5}">
                      <a16:colId xmlns:a16="http://schemas.microsoft.com/office/drawing/2014/main" val="2870446839"/>
                    </a:ext>
                  </a:extLst>
                </a:gridCol>
                <a:gridCol w="1404000">
                  <a:extLst>
                    <a:ext uri="{9D8B030D-6E8A-4147-A177-3AD203B41FA5}">
                      <a16:colId xmlns:a16="http://schemas.microsoft.com/office/drawing/2014/main" val="1738257658"/>
                    </a:ext>
                  </a:extLst>
                </a:gridCol>
                <a:gridCol w="1404000">
                  <a:extLst>
                    <a:ext uri="{9D8B030D-6E8A-4147-A177-3AD203B41FA5}">
                      <a16:colId xmlns:a16="http://schemas.microsoft.com/office/drawing/2014/main" val="1182993733"/>
                    </a:ext>
                  </a:extLst>
                </a:gridCol>
                <a:gridCol w="1404000">
                  <a:extLst>
                    <a:ext uri="{9D8B030D-6E8A-4147-A177-3AD203B41FA5}">
                      <a16:colId xmlns:a16="http://schemas.microsoft.com/office/drawing/2014/main" val="480196102"/>
                    </a:ext>
                  </a:extLst>
                </a:gridCol>
              </a:tblGrid>
              <a:tr h="0">
                <a:tc>
                  <a:txBody>
                    <a:bodyPr/>
                    <a:lstStyle/>
                    <a:p>
                      <a:r>
                        <a:rPr kumimoji="1" lang="ja-JP" altLang="en-US" sz="1400" b="1" dirty="0">
                          <a:solidFill>
                            <a:schemeClr val="bg1"/>
                          </a:solidFill>
                          <a:latin typeface="游ゴシック" panose="020B0400000000000000" pitchFamily="50" charset="-128"/>
                          <a:ea typeface="游ゴシック" panose="020B0400000000000000" pitchFamily="50" charset="-128"/>
                        </a:rPr>
                        <a:t>移行方式</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移行コスト</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移行中の</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運用の手間</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移行にかかる時間</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移行失敗時の回復の容易さ</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移行時の</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リスク</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453174600"/>
                  </a:ext>
                </a:extLst>
              </a:tr>
              <a:tr h="0">
                <a:tc>
                  <a:txBody>
                    <a:bodyPr/>
                    <a:lstStyle/>
                    <a:p>
                      <a:r>
                        <a:rPr kumimoji="1" lang="ja-JP" altLang="en-US" sz="1400" b="1" dirty="0">
                          <a:solidFill>
                            <a:schemeClr val="tx1"/>
                          </a:solidFill>
                          <a:latin typeface="游ゴシック" panose="020B0400000000000000" pitchFamily="50" charset="-128"/>
                          <a:ea typeface="游ゴシック" panose="020B0400000000000000" pitchFamily="50" charset="-128"/>
                        </a:rPr>
                        <a:t>一括移行方式</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l"/>
                      <a:r>
                        <a:rPr kumimoji="1" lang="ja-JP" altLang="en-US" sz="1400" b="1" dirty="0">
                          <a:solidFill>
                            <a:schemeClr val="tx1"/>
                          </a:solidFill>
                          <a:latin typeface="游ゴシック" panose="020B0400000000000000" pitchFamily="50" charset="-128"/>
                          <a:ea typeface="游ゴシック" panose="020B0400000000000000" pitchFamily="50" charset="-128"/>
                        </a:rPr>
                        <a:t>◎</a:t>
                      </a:r>
                      <a:r>
                        <a:rPr kumimoji="1" lang="ja-JP" altLang="en-US" sz="1000" b="1" dirty="0">
                          <a:solidFill>
                            <a:schemeClr val="tx1"/>
                          </a:solidFill>
                          <a:latin typeface="游ゴシック" panose="020B0400000000000000" pitchFamily="50" charset="-128"/>
                          <a:ea typeface="游ゴシック" panose="020B0400000000000000" pitchFamily="50" charset="-128"/>
                        </a:rPr>
                        <a:t>（低い）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b="1" dirty="0">
                          <a:solidFill>
                            <a:schemeClr val="tx1"/>
                          </a:solidFill>
                          <a:latin typeface="游ゴシック" panose="020B0400000000000000" pitchFamily="50" charset="-128"/>
                          <a:ea typeface="游ゴシック" panose="020B0400000000000000" pitchFamily="50" charset="-128"/>
                        </a:rPr>
                        <a:t>◎</a:t>
                      </a:r>
                      <a:r>
                        <a:rPr kumimoji="1" lang="ja-JP" altLang="en-US" sz="1000" b="1" dirty="0">
                          <a:solidFill>
                            <a:schemeClr val="tx1"/>
                          </a:solidFill>
                          <a:latin typeface="游ゴシック" panose="020B0400000000000000" pitchFamily="50" charset="-128"/>
                          <a:ea typeface="游ゴシック" panose="020B0400000000000000" pitchFamily="50" charset="-128"/>
                        </a:rPr>
                        <a:t>（少ない）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b="1" dirty="0">
                          <a:solidFill>
                            <a:schemeClr val="tx1"/>
                          </a:solidFill>
                          <a:latin typeface="游ゴシック" panose="020B0400000000000000" pitchFamily="50" charset="-128"/>
                          <a:ea typeface="游ゴシック" panose="020B0400000000000000" pitchFamily="50" charset="-128"/>
                        </a:rPr>
                        <a:t>◎</a:t>
                      </a:r>
                      <a:r>
                        <a:rPr kumimoji="1" lang="ja-JP" altLang="en-US" sz="1000" b="1" dirty="0">
                          <a:solidFill>
                            <a:schemeClr val="tx1"/>
                          </a:solidFill>
                          <a:latin typeface="游ゴシック" panose="020B0400000000000000" pitchFamily="50" charset="-128"/>
                          <a:ea typeface="游ゴシック" panose="020B0400000000000000" pitchFamily="50" charset="-128"/>
                        </a:rPr>
                        <a:t>（短い）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b="1" dirty="0">
                          <a:solidFill>
                            <a:schemeClr val="tx1"/>
                          </a:solidFill>
                          <a:latin typeface="游ゴシック" panose="020B0400000000000000" pitchFamily="50" charset="-128"/>
                          <a:ea typeface="游ゴシック" panose="020B0400000000000000" pitchFamily="50" charset="-128"/>
                        </a:rPr>
                        <a:t>◎</a:t>
                      </a:r>
                      <a:r>
                        <a:rPr kumimoji="1" lang="ja-JP" altLang="en-US" sz="1000" b="1" dirty="0">
                          <a:solidFill>
                            <a:schemeClr val="tx1"/>
                          </a:solidFill>
                          <a:latin typeface="游ゴシック" panose="020B0400000000000000" pitchFamily="50" charset="-128"/>
                          <a:ea typeface="游ゴシック" panose="020B0400000000000000" pitchFamily="50" charset="-128"/>
                        </a:rPr>
                        <a:t>（易しい）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b="1" dirty="0">
                          <a:solidFill>
                            <a:schemeClr val="tx1"/>
                          </a:solidFill>
                          <a:latin typeface="游ゴシック" panose="020B0400000000000000" pitchFamily="50" charset="-128"/>
                          <a:ea typeface="游ゴシック" panose="020B0400000000000000" pitchFamily="50" charset="-128"/>
                        </a:rPr>
                        <a:t>△</a:t>
                      </a:r>
                      <a:r>
                        <a:rPr kumimoji="1" lang="ja-JP" altLang="en-US" sz="1000" b="1" dirty="0">
                          <a:solidFill>
                            <a:schemeClr val="tx1"/>
                          </a:solidFill>
                          <a:latin typeface="游ゴシック" panose="020B0400000000000000" pitchFamily="50" charset="-128"/>
                          <a:ea typeface="游ゴシック" panose="020B0400000000000000" pitchFamily="50" charset="-128"/>
                        </a:rPr>
                        <a:t>（大きい）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48881208"/>
                  </a:ext>
                </a:extLst>
              </a:tr>
              <a:tr h="0">
                <a:tc>
                  <a:txBody>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段階移行方式</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〇</a:t>
                      </a:r>
                      <a:r>
                        <a:rPr kumimoji="1" lang="ja-JP" altLang="en-US" sz="1000" dirty="0">
                          <a:solidFill>
                            <a:schemeClr val="tx1"/>
                          </a:solidFill>
                          <a:latin typeface="游ゴシック" panose="020B0400000000000000" pitchFamily="50" charset="-128"/>
                          <a:ea typeface="游ゴシック" panose="020B0400000000000000" pitchFamily="50" charset="-128"/>
                        </a:rPr>
                        <a:t>（やや高い）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〇</a:t>
                      </a:r>
                      <a:r>
                        <a:rPr kumimoji="1" lang="ja-JP" altLang="en-US" sz="1000" dirty="0">
                          <a:solidFill>
                            <a:schemeClr val="tx1"/>
                          </a:solidFill>
                          <a:latin typeface="游ゴシック" panose="020B0400000000000000" pitchFamily="50" charset="-128"/>
                          <a:ea typeface="游ゴシック" panose="020B0400000000000000" pitchFamily="50" charset="-128"/>
                        </a:rPr>
                        <a:t>（やや多い）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〇</a:t>
                      </a:r>
                      <a:r>
                        <a:rPr kumimoji="1" lang="ja-JP" altLang="en-US" sz="1000" dirty="0">
                          <a:solidFill>
                            <a:schemeClr val="tx1"/>
                          </a:solidFill>
                          <a:latin typeface="游ゴシック" panose="020B0400000000000000" pitchFamily="50" charset="-128"/>
                          <a:ea typeface="游ゴシック" panose="020B0400000000000000" pitchFamily="50" charset="-128"/>
                        </a:rPr>
                        <a:t>（やや長い）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〇</a:t>
                      </a:r>
                      <a:r>
                        <a:rPr kumimoji="1" lang="ja-JP" altLang="en-US" sz="1000" dirty="0">
                          <a:solidFill>
                            <a:schemeClr val="tx1"/>
                          </a:solidFill>
                          <a:latin typeface="游ゴシック" panose="020B0400000000000000" pitchFamily="50" charset="-128"/>
                          <a:ea typeface="游ゴシック" panose="020B0400000000000000" pitchFamily="50" charset="-128"/>
                        </a:rPr>
                        <a:t>（やや難しい）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〇</a:t>
                      </a:r>
                      <a:r>
                        <a:rPr kumimoji="1" lang="ja-JP" altLang="en-US" sz="1000" dirty="0">
                          <a:solidFill>
                            <a:schemeClr val="tx1"/>
                          </a:solidFill>
                          <a:latin typeface="游ゴシック" panose="020B0400000000000000" pitchFamily="50" charset="-128"/>
                          <a:ea typeface="游ゴシック" panose="020B0400000000000000" pitchFamily="50" charset="-128"/>
                        </a:rPr>
                        <a:t>（やや小さい）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42944922"/>
                  </a:ext>
                </a:extLst>
              </a:tr>
              <a:tr h="0">
                <a:tc>
                  <a:txBody>
                    <a:bodyPr/>
                    <a:lstStyle/>
                    <a:p>
                      <a:r>
                        <a:rPr kumimoji="1" lang="ja-JP" altLang="en-US" sz="1400" dirty="0">
                          <a:solidFill>
                            <a:schemeClr val="tx1"/>
                          </a:solidFill>
                          <a:latin typeface="游ゴシック" panose="020B0400000000000000" pitchFamily="50" charset="-128"/>
                          <a:ea typeface="游ゴシック" panose="020B0400000000000000" pitchFamily="50" charset="-128"/>
                        </a:rPr>
                        <a:t>並行運用方式</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a:t>
                      </a:r>
                      <a:r>
                        <a:rPr kumimoji="1" lang="ja-JP" altLang="en-US" sz="1000" dirty="0">
                          <a:solidFill>
                            <a:schemeClr val="tx1"/>
                          </a:solidFill>
                          <a:latin typeface="游ゴシック" panose="020B0400000000000000" pitchFamily="50" charset="-128"/>
                          <a:ea typeface="游ゴシック" panose="020B0400000000000000" pitchFamily="50" charset="-128"/>
                        </a:rPr>
                        <a:t>（高い）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a:t>
                      </a:r>
                      <a:r>
                        <a:rPr kumimoji="1" lang="ja-JP" altLang="en-US" sz="1000" dirty="0">
                          <a:solidFill>
                            <a:schemeClr val="tx1"/>
                          </a:solidFill>
                          <a:latin typeface="游ゴシック" panose="020B0400000000000000" pitchFamily="50" charset="-128"/>
                          <a:ea typeface="游ゴシック" panose="020B0400000000000000" pitchFamily="50" charset="-128"/>
                        </a:rPr>
                        <a:t>（多い）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a:t>
                      </a:r>
                      <a:r>
                        <a:rPr kumimoji="1" lang="ja-JP" altLang="en-US" sz="1000" dirty="0">
                          <a:solidFill>
                            <a:schemeClr val="tx1"/>
                          </a:solidFill>
                          <a:latin typeface="游ゴシック" panose="020B0400000000000000" pitchFamily="50" charset="-128"/>
                          <a:ea typeface="游ゴシック" panose="020B0400000000000000" pitchFamily="50" charset="-128"/>
                        </a:rPr>
                        <a:t>（長い）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a:t>
                      </a:r>
                      <a:r>
                        <a:rPr kumimoji="1" lang="ja-JP" altLang="en-US" sz="1000" dirty="0">
                          <a:solidFill>
                            <a:schemeClr val="tx1"/>
                          </a:solidFill>
                          <a:latin typeface="游ゴシック" panose="020B0400000000000000" pitchFamily="50" charset="-128"/>
                          <a:ea typeface="游ゴシック" panose="020B0400000000000000" pitchFamily="50" charset="-128"/>
                        </a:rPr>
                        <a:t>（難しい）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l"/>
                      <a:r>
                        <a:rPr kumimoji="1" lang="ja-JP" altLang="en-US" sz="1400" dirty="0">
                          <a:solidFill>
                            <a:schemeClr val="tx1"/>
                          </a:solidFill>
                          <a:latin typeface="游ゴシック" panose="020B0400000000000000" pitchFamily="50" charset="-128"/>
                          <a:ea typeface="游ゴシック" panose="020B0400000000000000" pitchFamily="50" charset="-128"/>
                        </a:rPr>
                        <a:t>◎</a:t>
                      </a:r>
                      <a:r>
                        <a:rPr kumimoji="1" lang="ja-JP" altLang="en-US" sz="1000" dirty="0">
                          <a:solidFill>
                            <a:schemeClr val="tx1"/>
                          </a:solidFill>
                          <a:latin typeface="游ゴシック" panose="020B0400000000000000" pitchFamily="50" charset="-128"/>
                          <a:ea typeface="游ゴシック" panose="020B0400000000000000" pitchFamily="50" charset="-128"/>
                        </a:rPr>
                        <a:t>（小さい）</a:t>
                      </a:r>
                    </a:p>
                  </a:txBody>
                  <a:tcPr marL="21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68802878"/>
                  </a:ext>
                </a:extLst>
              </a:tr>
            </a:tbl>
          </a:graphicData>
        </a:graphic>
      </p:graphicFrame>
      <p:sp>
        <p:nvSpPr>
          <p:cNvPr id="22" name="正方形/長方形 21"/>
          <p:cNvSpPr/>
          <p:nvPr/>
        </p:nvSpPr>
        <p:spPr>
          <a:xfrm>
            <a:off x="287999" y="2628000"/>
            <a:ext cx="8568000" cy="360000"/>
          </a:xfrm>
          <a:prstGeom prst="rect">
            <a:avLst/>
          </a:prstGeom>
          <a:noFill/>
          <a:ln w="38100">
            <a:solidFill>
              <a:srgbClr val="FF0000"/>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graphicFrame>
        <p:nvGraphicFramePr>
          <p:cNvPr id="23" name="表 22"/>
          <p:cNvGraphicFramePr>
            <a:graphicFrameLocks noGrp="1"/>
          </p:cNvGraphicFramePr>
          <p:nvPr>
            <p:extLst>
              <p:ext uri="{D42A27DB-BD31-4B8C-83A1-F6EECF244321}">
                <p14:modId xmlns:p14="http://schemas.microsoft.com/office/powerpoint/2010/main" val="1622104640"/>
              </p:ext>
            </p:extLst>
          </p:nvPr>
        </p:nvGraphicFramePr>
        <p:xfrm>
          <a:off x="360000" y="4968000"/>
          <a:ext cx="8424000" cy="1219200"/>
        </p:xfrm>
        <a:graphic>
          <a:graphicData uri="http://schemas.openxmlformats.org/drawingml/2006/table">
            <a:tbl>
              <a:tblPr firstRow="1" bandRow="1">
                <a:tableStyleId>{2D5ABB26-0587-4C30-8999-92F81FD0307C}</a:tableStyleId>
              </a:tblPr>
              <a:tblGrid>
                <a:gridCol w="1404000">
                  <a:extLst>
                    <a:ext uri="{9D8B030D-6E8A-4147-A177-3AD203B41FA5}">
                      <a16:colId xmlns:a16="http://schemas.microsoft.com/office/drawing/2014/main" val="768475693"/>
                    </a:ext>
                  </a:extLst>
                </a:gridCol>
                <a:gridCol w="5607761">
                  <a:extLst>
                    <a:ext uri="{9D8B030D-6E8A-4147-A177-3AD203B41FA5}">
                      <a16:colId xmlns:a16="http://schemas.microsoft.com/office/drawing/2014/main" val="1898937981"/>
                    </a:ext>
                  </a:extLst>
                </a:gridCol>
                <a:gridCol w="1412239">
                  <a:extLst>
                    <a:ext uri="{9D8B030D-6E8A-4147-A177-3AD203B41FA5}">
                      <a16:colId xmlns:a16="http://schemas.microsoft.com/office/drawing/2014/main" val="1182993733"/>
                    </a:ext>
                  </a:extLst>
                </a:gridCol>
              </a:tblGrid>
              <a:tr h="0">
                <a:tc>
                  <a:txBody>
                    <a:bodyPr/>
                    <a:lstStyle/>
                    <a:p>
                      <a:r>
                        <a:rPr kumimoji="1" lang="ja-JP" altLang="en-US" sz="1400" b="1" dirty="0">
                          <a:solidFill>
                            <a:schemeClr val="bg1"/>
                          </a:solidFill>
                          <a:latin typeface="游ゴシック" panose="020B0400000000000000" pitchFamily="50" charset="-128"/>
                          <a:ea typeface="游ゴシック" panose="020B0400000000000000" pitchFamily="50" charset="-128"/>
                        </a:rPr>
                        <a:t>リハーサル</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目的</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環境</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453174600"/>
                  </a:ext>
                </a:extLst>
              </a:tr>
              <a:tr h="0">
                <a:tc>
                  <a:txBody>
                    <a:bodyPr/>
                    <a:lstStyle/>
                    <a:p>
                      <a:r>
                        <a:rPr kumimoji="1" lang="ja-JP" altLang="en-US" sz="1400" b="1" dirty="0">
                          <a:solidFill>
                            <a:schemeClr val="tx1"/>
                          </a:solidFill>
                          <a:latin typeface="游ゴシック" panose="020B0400000000000000" pitchFamily="50" charset="-128"/>
                          <a:ea typeface="游ゴシック" panose="020B0400000000000000" pitchFamily="50" charset="-128"/>
                        </a:rPr>
                        <a:t>１回目</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l"/>
                      <a:r>
                        <a:rPr kumimoji="1" lang="ja-JP" altLang="en-US" sz="1400" b="0" dirty="0">
                          <a:solidFill>
                            <a:schemeClr val="tx1"/>
                          </a:solidFill>
                          <a:latin typeface="游ゴシック" panose="020B0400000000000000" pitchFamily="50" charset="-128"/>
                          <a:ea typeface="游ゴシック" panose="020B0400000000000000" pitchFamily="50" charset="-128"/>
                        </a:rPr>
                        <a:t>移行プログラムの動作検証、移行時間の計測、移行計画の検証</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1400" b="0" dirty="0">
                          <a:solidFill>
                            <a:schemeClr val="tx1"/>
                          </a:solidFill>
                          <a:latin typeface="游ゴシック" panose="020B0400000000000000" pitchFamily="50" charset="-128"/>
                          <a:ea typeface="游ゴシック" panose="020B0400000000000000" pitchFamily="50" charset="-128"/>
                        </a:rPr>
                        <a:t>検証環境</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48881208"/>
                  </a:ext>
                </a:extLst>
              </a:tr>
              <a:tr h="0">
                <a:tc>
                  <a:txBody>
                    <a:bodyPr/>
                    <a:lstStyle/>
                    <a:p>
                      <a:r>
                        <a:rPr kumimoji="1" lang="ja-JP" altLang="en-US" sz="1400" b="1" dirty="0">
                          <a:solidFill>
                            <a:schemeClr val="tx1"/>
                          </a:solidFill>
                          <a:latin typeface="游ゴシック" panose="020B0400000000000000" pitchFamily="50" charset="-128"/>
                          <a:ea typeface="游ゴシック" panose="020B0400000000000000" pitchFamily="50" charset="-128"/>
                        </a:rPr>
                        <a:t>２回目</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l"/>
                      <a:r>
                        <a:rPr kumimoji="1" lang="ja-JP" altLang="en-US" sz="1400" b="0" dirty="0">
                          <a:solidFill>
                            <a:schemeClr val="tx1"/>
                          </a:solidFill>
                          <a:latin typeface="游ゴシック" panose="020B0400000000000000" pitchFamily="50" charset="-128"/>
                          <a:ea typeface="游ゴシック" panose="020B0400000000000000" pitchFamily="50" charset="-128"/>
                        </a:rPr>
                        <a:t>移行手順および作業時間についての妥当性確認</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1400" b="0" dirty="0">
                          <a:solidFill>
                            <a:schemeClr val="tx1"/>
                          </a:solidFill>
                          <a:latin typeface="游ゴシック" panose="020B0400000000000000" pitchFamily="50" charset="-128"/>
                          <a:ea typeface="游ゴシック" panose="020B0400000000000000" pitchFamily="50" charset="-128"/>
                        </a:rPr>
                        <a:t>本番環境</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4042944922"/>
                  </a:ext>
                </a:extLst>
              </a:tr>
              <a:tr h="0">
                <a:tc>
                  <a:txBody>
                    <a:bodyPr/>
                    <a:lstStyle/>
                    <a:p>
                      <a:r>
                        <a:rPr kumimoji="1" lang="ja-JP" altLang="en-US" sz="1400" b="1" dirty="0">
                          <a:solidFill>
                            <a:schemeClr val="tx1"/>
                          </a:solidFill>
                          <a:latin typeface="游ゴシック" panose="020B0400000000000000" pitchFamily="50" charset="-128"/>
                          <a:ea typeface="游ゴシック" panose="020B0400000000000000" pitchFamily="50" charset="-128"/>
                        </a:rPr>
                        <a:t>３回目</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l"/>
                      <a:r>
                        <a:rPr kumimoji="1" lang="ja-JP" altLang="en-US" sz="1400" b="0" dirty="0">
                          <a:solidFill>
                            <a:schemeClr val="tx1"/>
                          </a:solidFill>
                          <a:latin typeface="游ゴシック" panose="020B0400000000000000" pitchFamily="50" charset="-128"/>
                          <a:ea typeface="游ゴシック" panose="020B0400000000000000" pitchFamily="50" charset="-128"/>
                        </a:rPr>
                        <a:t>移行手順および作業時間についての妥当性最終確認</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ctr"/>
                      <a:r>
                        <a:rPr kumimoji="1" lang="ja-JP" altLang="en-US" sz="1400" b="0" dirty="0">
                          <a:solidFill>
                            <a:schemeClr val="tx1"/>
                          </a:solidFill>
                          <a:latin typeface="游ゴシック" panose="020B0400000000000000" pitchFamily="50" charset="-128"/>
                          <a:ea typeface="游ゴシック" panose="020B0400000000000000" pitchFamily="50" charset="-128"/>
                        </a:rPr>
                        <a:t>本番環境</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868802878"/>
                  </a:ext>
                </a:extLst>
              </a:tr>
            </a:tbl>
          </a:graphicData>
        </a:graphic>
      </p:graphicFrame>
    </p:spTree>
    <p:extLst>
      <p:ext uri="{BB962C8B-B14F-4D97-AF65-F5344CB8AC3E}">
        <p14:creationId xmlns:p14="http://schemas.microsoft.com/office/powerpoint/2010/main" val="42488054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ユーザ教育</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39</a:t>
            </a:fld>
            <a:endParaRPr kumimoji="1" lang="ja-JP" altLang="en-US"/>
          </a:p>
        </p:txBody>
      </p:sp>
      <p:sp>
        <p:nvSpPr>
          <p:cNvPr id="6" name="テキスト ボックス 5"/>
          <p:cNvSpPr txBox="1">
            <a:spLocks/>
          </p:cNvSpPr>
          <p:nvPr/>
        </p:nvSpPr>
        <p:spPr>
          <a:xfrm>
            <a:off x="144000" y="1080000"/>
            <a:ext cx="8856000" cy="540000"/>
          </a:xfrm>
          <a:prstGeom prst="rect">
            <a:avLst/>
          </a:prstGeom>
          <a:noFill/>
        </p:spPr>
        <p:txBody>
          <a:bodyPr wrap="square" rtlCol="0">
            <a:noAutofit/>
          </a:bodyPr>
          <a:lstStyle/>
          <a:p>
            <a:pPr algn="ctr"/>
            <a:r>
              <a:rPr kumimoji="1" lang="ja-JP" altLang="en-US" sz="1400" dirty="0">
                <a:latin typeface="游ゴシック" panose="020B0400000000000000" pitchFamily="50" charset="-128"/>
                <a:ea typeface="游ゴシック" panose="020B0400000000000000" pitchFamily="50" charset="-128"/>
              </a:rPr>
              <a:t>ユーザ教育として利用部門および情報システム部を対象とした１回の説明会を予定します。</a:t>
            </a:r>
            <a:endParaRPr kumimoji="1"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また、運用テストで発生した問い合わせの一覧を含むドキュメント一式を</a:t>
            </a:r>
            <a:r>
              <a:rPr lang="en-US" altLang="ja-JP" sz="1400" dirty="0">
                <a:latin typeface="游ゴシック" panose="020B0400000000000000" pitchFamily="50" charset="-128"/>
                <a:ea typeface="游ゴシック" panose="020B0400000000000000" pitchFamily="50" charset="-128"/>
              </a:rPr>
              <a:t>ASD</a:t>
            </a:r>
            <a:r>
              <a:rPr lang="ja-JP" altLang="en-US" sz="1400" dirty="0">
                <a:latin typeface="游ゴシック" panose="020B0400000000000000" pitchFamily="50" charset="-128"/>
                <a:ea typeface="游ゴシック" panose="020B0400000000000000" pitchFamily="50" charset="-128"/>
              </a:rPr>
              <a:t>に引継ぎます。</a:t>
            </a:r>
            <a:endParaRPr kumimoji="1" lang="ja-JP" altLang="en-US" sz="1400" dirty="0">
              <a:latin typeface="游ゴシック" panose="020B0400000000000000" pitchFamily="50" charset="-128"/>
              <a:ea typeface="游ゴシック" panose="020B0400000000000000" pitchFamily="50" charset="-128"/>
            </a:endParaRPr>
          </a:p>
        </p:txBody>
      </p:sp>
      <p:cxnSp>
        <p:nvCxnSpPr>
          <p:cNvPr id="7" name="直線コネクタ 6"/>
          <p:cNvCxnSpPr/>
          <p:nvPr/>
        </p:nvCxnSpPr>
        <p:spPr>
          <a:xfrm>
            <a:off x="144000" y="2592000"/>
            <a:ext cx="8856000" cy="0"/>
          </a:xfrm>
          <a:prstGeom prst="line">
            <a:avLst/>
          </a:prstGeom>
          <a:ln w="12700">
            <a:solidFill>
              <a:schemeClr val="accent3"/>
            </a:solidFill>
            <a:prstDash val="lgDash"/>
          </a:ln>
        </p:spPr>
        <p:style>
          <a:lnRef idx="1">
            <a:schemeClr val="accent1"/>
          </a:lnRef>
          <a:fillRef idx="0">
            <a:schemeClr val="accent1"/>
          </a:fillRef>
          <a:effectRef idx="0">
            <a:schemeClr val="accent1"/>
          </a:effectRef>
          <a:fontRef idx="minor">
            <a:schemeClr val="tx1"/>
          </a:fontRef>
        </p:style>
      </p:cxnSp>
      <p:sp>
        <p:nvSpPr>
          <p:cNvPr id="8" name="正方形/長方形 7"/>
          <p:cNvSpPr/>
          <p:nvPr/>
        </p:nvSpPr>
        <p:spPr>
          <a:xfrm>
            <a:off x="144000" y="2232000"/>
            <a:ext cx="2952000" cy="360000"/>
          </a:xfrm>
          <a:prstGeom prst="rect">
            <a:avLst/>
          </a:prstGeom>
          <a:noFill/>
          <a:ln w="12700">
            <a:no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pPr algn="ct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システムテスト（</a:t>
            </a:r>
            <a:r>
              <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rPr>
              <a:t>ST</a:t>
            </a: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a:t>
            </a:r>
          </a:p>
        </p:txBody>
      </p:sp>
      <p:sp>
        <p:nvSpPr>
          <p:cNvPr id="9" name="正方形/長方形 8"/>
          <p:cNvSpPr/>
          <p:nvPr/>
        </p:nvSpPr>
        <p:spPr>
          <a:xfrm>
            <a:off x="3096000" y="2232000"/>
            <a:ext cx="2952000" cy="360000"/>
          </a:xfrm>
          <a:prstGeom prst="rect">
            <a:avLst/>
          </a:prstGeom>
          <a:noFill/>
          <a:ln w="12700">
            <a:no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pPr algn="ctr"/>
            <a:r>
              <a:rPr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運用</a:t>
            </a: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テスト（</a:t>
            </a:r>
            <a:r>
              <a:rPr lang="en-US" altLang="ja-JP" sz="1400" b="1" dirty="0">
                <a:solidFill>
                  <a:schemeClr val="accent1">
                    <a:lumMod val="50000"/>
                  </a:schemeClr>
                </a:solidFill>
                <a:latin typeface="游ゴシック" panose="020B0400000000000000" pitchFamily="50" charset="-128"/>
                <a:ea typeface="游ゴシック" panose="020B0400000000000000" pitchFamily="50" charset="-128"/>
              </a:rPr>
              <a:t>O</a:t>
            </a:r>
            <a:r>
              <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rPr>
              <a:t>T</a:t>
            </a: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a:t>
            </a:r>
          </a:p>
        </p:txBody>
      </p:sp>
      <p:sp>
        <p:nvSpPr>
          <p:cNvPr id="10" name="正方形/長方形 9"/>
          <p:cNvSpPr/>
          <p:nvPr/>
        </p:nvSpPr>
        <p:spPr>
          <a:xfrm>
            <a:off x="6048000" y="2232000"/>
            <a:ext cx="2952000" cy="360000"/>
          </a:xfrm>
          <a:prstGeom prst="rect">
            <a:avLst/>
          </a:prstGeom>
          <a:noFill/>
          <a:ln w="12700">
            <a:noFill/>
          </a:ln>
        </p:spPr>
        <p:style>
          <a:lnRef idx="3">
            <a:schemeClr val="lt1"/>
          </a:lnRef>
          <a:fillRef idx="1">
            <a:schemeClr val="accent1"/>
          </a:fillRef>
          <a:effectRef idx="1">
            <a:schemeClr val="accent1"/>
          </a:effectRef>
          <a:fontRef idx="minor">
            <a:schemeClr val="lt1"/>
          </a:fontRef>
        </p:style>
        <p:txBody>
          <a:bodyPr wrap="none" rtlCol="0" anchor="ctr">
            <a:noAutofit/>
          </a:bodyPr>
          <a:lstStyle/>
          <a:p>
            <a:pPr algn="ctr"/>
            <a:r>
              <a:rPr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初期流動</a:t>
            </a:r>
            <a:endPar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endParaRPr>
          </a:p>
        </p:txBody>
      </p:sp>
      <p:cxnSp>
        <p:nvCxnSpPr>
          <p:cNvPr id="11" name="直線コネクタ 10"/>
          <p:cNvCxnSpPr/>
          <p:nvPr/>
        </p:nvCxnSpPr>
        <p:spPr>
          <a:xfrm flipH="1">
            <a:off x="3096000" y="2232000"/>
            <a:ext cx="0" cy="3744000"/>
          </a:xfrm>
          <a:prstGeom prst="line">
            <a:avLst/>
          </a:prstGeom>
          <a:ln w="12700">
            <a:solidFill>
              <a:schemeClr val="accent3"/>
            </a:solidFill>
            <a:prstDash val="lgDash"/>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flipH="1">
            <a:off x="6048000" y="2232000"/>
            <a:ext cx="0" cy="3744000"/>
          </a:xfrm>
          <a:prstGeom prst="line">
            <a:avLst/>
          </a:prstGeom>
          <a:ln w="12700">
            <a:solidFill>
              <a:schemeClr val="accent3"/>
            </a:solidFill>
            <a:prstDash val="lgDash"/>
          </a:ln>
        </p:spPr>
        <p:style>
          <a:lnRef idx="1">
            <a:schemeClr val="accent1"/>
          </a:lnRef>
          <a:fillRef idx="0">
            <a:schemeClr val="accent1"/>
          </a:fillRef>
          <a:effectRef idx="0">
            <a:schemeClr val="accent1"/>
          </a:effectRef>
          <a:fontRef idx="minor">
            <a:schemeClr val="tx1"/>
          </a:fontRef>
        </p:style>
      </p:cxnSp>
      <p:sp>
        <p:nvSpPr>
          <p:cNvPr id="14" name="ホームベース 13"/>
          <p:cNvSpPr/>
          <p:nvPr/>
        </p:nvSpPr>
        <p:spPr>
          <a:xfrm>
            <a:off x="144000" y="2736000"/>
            <a:ext cx="1872000" cy="504000"/>
          </a:xfrm>
          <a:prstGeom prst="homePlate">
            <a:avLst>
              <a:gd name="adj" fmla="val 33085"/>
            </a:avLst>
          </a:prstGeom>
          <a:ln w="12700">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latin typeface="游ゴシック" panose="020B0400000000000000" pitchFamily="50" charset="-128"/>
                <a:ea typeface="游ゴシック" panose="020B0400000000000000" pitchFamily="50" charset="-128"/>
              </a:rPr>
              <a:t>操作マニュアル</a:t>
            </a:r>
            <a:endParaRPr lang="en-US" altLang="ja-JP" sz="1400" b="1" dirty="0">
              <a:latin typeface="游ゴシック" panose="020B0400000000000000" pitchFamily="50" charset="-128"/>
              <a:ea typeface="游ゴシック" panose="020B0400000000000000" pitchFamily="50" charset="-128"/>
            </a:endParaRPr>
          </a:p>
          <a:p>
            <a:pPr algn="ctr"/>
            <a:r>
              <a:rPr lang="ja-JP" altLang="en-US" sz="1400" b="1" dirty="0">
                <a:latin typeface="游ゴシック" panose="020B0400000000000000" pitchFamily="50" charset="-128"/>
                <a:ea typeface="游ゴシック" panose="020B0400000000000000" pitchFamily="50" charset="-128"/>
              </a:rPr>
              <a:t>作成</a:t>
            </a:r>
          </a:p>
        </p:txBody>
      </p:sp>
      <p:sp>
        <p:nvSpPr>
          <p:cNvPr id="15" name="ホームベース 14"/>
          <p:cNvSpPr/>
          <p:nvPr/>
        </p:nvSpPr>
        <p:spPr>
          <a:xfrm>
            <a:off x="2088000" y="2736000"/>
            <a:ext cx="792000" cy="504000"/>
          </a:xfrm>
          <a:prstGeom prst="homePlate">
            <a:avLst>
              <a:gd name="adj" fmla="val 33085"/>
            </a:avLst>
          </a:prstGeom>
          <a:ln w="12700">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latin typeface="游ゴシック" panose="020B0400000000000000" pitchFamily="50" charset="-128"/>
                <a:ea typeface="游ゴシック" panose="020B0400000000000000" pitchFamily="50" charset="-128"/>
              </a:rPr>
              <a:t>説明会</a:t>
            </a:r>
            <a:endParaRPr lang="en-US" altLang="ja-JP" sz="1400" b="1" dirty="0">
              <a:latin typeface="游ゴシック" panose="020B0400000000000000" pitchFamily="50" charset="-128"/>
              <a:ea typeface="游ゴシック" panose="020B0400000000000000" pitchFamily="50" charset="-128"/>
            </a:endParaRPr>
          </a:p>
          <a:p>
            <a:pPr algn="ctr"/>
            <a:r>
              <a:rPr lang="ja-JP" altLang="en-US" sz="1400" b="1" dirty="0">
                <a:latin typeface="游ゴシック" panose="020B0400000000000000" pitchFamily="50" charset="-128"/>
                <a:ea typeface="游ゴシック" panose="020B0400000000000000" pitchFamily="50" charset="-128"/>
              </a:rPr>
              <a:t>実施</a:t>
            </a:r>
          </a:p>
        </p:txBody>
      </p:sp>
      <p:sp>
        <p:nvSpPr>
          <p:cNvPr id="16" name="ホームベース 15"/>
          <p:cNvSpPr/>
          <p:nvPr/>
        </p:nvSpPr>
        <p:spPr>
          <a:xfrm>
            <a:off x="3312000" y="3024000"/>
            <a:ext cx="2520000" cy="504000"/>
          </a:xfrm>
          <a:prstGeom prst="homePlate">
            <a:avLst>
              <a:gd name="adj" fmla="val 33085"/>
            </a:avLst>
          </a:prstGeom>
          <a:solidFill>
            <a:schemeClr val="accent2"/>
          </a:solidFill>
          <a:ln w="12700">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latin typeface="游ゴシック" panose="020B0400000000000000" pitchFamily="50" charset="-128"/>
                <a:ea typeface="游ゴシック" panose="020B0400000000000000" pitchFamily="50" charset="-128"/>
              </a:rPr>
              <a:t>運用テスト実施</a:t>
            </a:r>
          </a:p>
        </p:txBody>
      </p:sp>
      <p:sp>
        <p:nvSpPr>
          <p:cNvPr id="17" name="ホームベース 16"/>
          <p:cNvSpPr/>
          <p:nvPr/>
        </p:nvSpPr>
        <p:spPr>
          <a:xfrm>
            <a:off x="3312000" y="3600000"/>
            <a:ext cx="2520000" cy="504000"/>
          </a:xfrm>
          <a:prstGeom prst="homePlate">
            <a:avLst>
              <a:gd name="adj" fmla="val 33085"/>
            </a:avLst>
          </a:prstGeom>
          <a:ln w="12700">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ja-JP" altLang="en-US" sz="1400" b="1" dirty="0">
                <a:latin typeface="游ゴシック" panose="020B0400000000000000" pitchFamily="50" charset="-128"/>
                <a:ea typeface="游ゴシック" panose="020B0400000000000000" pitchFamily="50" charset="-128"/>
              </a:rPr>
              <a:t>問合せ対応</a:t>
            </a:r>
            <a:endParaRPr lang="en-US" altLang="ja-JP" sz="1400" b="1" dirty="0">
              <a:latin typeface="游ゴシック" panose="020B0400000000000000" pitchFamily="50" charset="-128"/>
              <a:ea typeface="游ゴシック" panose="020B0400000000000000" pitchFamily="50" charset="-128"/>
            </a:endParaRPr>
          </a:p>
          <a:p>
            <a:pPr algn="ctr"/>
            <a:r>
              <a:rPr lang="en-US" altLang="ja-JP" sz="1400" b="1" dirty="0">
                <a:latin typeface="游ゴシック" panose="020B0400000000000000" pitchFamily="50" charset="-128"/>
                <a:ea typeface="游ゴシック" panose="020B0400000000000000" pitchFamily="50" charset="-128"/>
              </a:rPr>
              <a:t>FAQ</a:t>
            </a:r>
            <a:r>
              <a:rPr lang="ja-JP" altLang="en-US" sz="1400" b="1" dirty="0">
                <a:latin typeface="游ゴシック" panose="020B0400000000000000" pitchFamily="50" charset="-128"/>
                <a:ea typeface="游ゴシック" panose="020B0400000000000000" pitchFamily="50" charset="-128"/>
              </a:rPr>
              <a:t>作成</a:t>
            </a:r>
          </a:p>
        </p:txBody>
      </p:sp>
      <p:sp>
        <p:nvSpPr>
          <p:cNvPr id="19" name="ホームベース 18"/>
          <p:cNvSpPr/>
          <p:nvPr/>
        </p:nvSpPr>
        <p:spPr>
          <a:xfrm>
            <a:off x="6264000" y="3888000"/>
            <a:ext cx="1872000" cy="504000"/>
          </a:xfrm>
          <a:prstGeom prst="homePlate">
            <a:avLst>
              <a:gd name="adj" fmla="val 33085"/>
            </a:avLst>
          </a:prstGeom>
          <a:ln w="12700">
            <a:noFill/>
          </a:ln>
        </p:spPr>
        <p:style>
          <a:lnRef idx="3">
            <a:schemeClr val="lt1"/>
          </a:lnRef>
          <a:fillRef idx="1">
            <a:schemeClr val="accent1"/>
          </a:fillRef>
          <a:effectRef idx="1">
            <a:schemeClr val="accent1"/>
          </a:effectRef>
          <a:fontRef idx="minor">
            <a:schemeClr val="lt1"/>
          </a:fontRef>
        </p:style>
        <p:txBody>
          <a:bodyPr wrap="none" rtlCol="0" anchor="ctr"/>
          <a:lstStyle/>
          <a:p>
            <a:pPr algn="ctr"/>
            <a:r>
              <a:rPr lang="en-US" altLang="ja-JP" sz="1400" b="1" dirty="0">
                <a:latin typeface="游ゴシック" panose="020B0400000000000000" pitchFamily="50" charset="-128"/>
                <a:ea typeface="游ゴシック" panose="020B0400000000000000" pitchFamily="50" charset="-128"/>
              </a:rPr>
              <a:t>ASD</a:t>
            </a:r>
            <a:r>
              <a:rPr lang="ja-JP" altLang="en-US" sz="1400" b="1" dirty="0">
                <a:latin typeface="游ゴシック" panose="020B0400000000000000" pitchFamily="50" charset="-128"/>
                <a:ea typeface="游ゴシック" panose="020B0400000000000000" pitchFamily="50" charset="-128"/>
              </a:rPr>
              <a:t>へドキュメント</a:t>
            </a:r>
            <a:endParaRPr lang="en-US" altLang="ja-JP" sz="1400" b="1" dirty="0">
              <a:latin typeface="游ゴシック" panose="020B0400000000000000" pitchFamily="50" charset="-128"/>
              <a:ea typeface="游ゴシック" panose="020B0400000000000000" pitchFamily="50" charset="-128"/>
            </a:endParaRPr>
          </a:p>
          <a:p>
            <a:pPr algn="ctr"/>
            <a:r>
              <a:rPr lang="ja-JP" altLang="en-US" sz="1400" b="1" dirty="0">
                <a:latin typeface="游ゴシック" panose="020B0400000000000000" pitchFamily="50" charset="-128"/>
                <a:ea typeface="游ゴシック" panose="020B0400000000000000" pitchFamily="50" charset="-128"/>
              </a:rPr>
              <a:t>引き渡し</a:t>
            </a:r>
          </a:p>
        </p:txBody>
      </p:sp>
      <p:cxnSp>
        <p:nvCxnSpPr>
          <p:cNvPr id="21" name="カギ線コネクタ 20"/>
          <p:cNvCxnSpPr>
            <a:stCxn id="17" idx="3"/>
            <a:endCxn id="19" idx="1"/>
          </p:cNvCxnSpPr>
          <p:nvPr/>
        </p:nvCxnSpPr>
        <p:spPr>
          <a:xfrm>
            <a:off x="5832000" y="3852000"/>
            <a:ext cx="432000" cy="288000"/>
          </a:xfrm>
          <a:prstGeom prst="bentConnector3">
            <a:avLst>
              <a:gd name="adj1" fmla="val 50000"/>
            </a:avLst>
          </a:prstGeom>
          <a:ln w="31750">
            <a:solidFill>
              <a:schemeClr val="tx1"/>
            </a:solidFill>
            <a:headEnd type="oval"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4" name="カギ線コネクタ 23"/>
          <p:cNvCxnSpPr>
            <a:stCxn id="15" idx="3"/>
            <a:endCxn id="16" idx="1"/>
          </p:cNvCxnSpPr>
          <p:nvPr/>
        </p:nvCxnSpPr>
        <p:spPr>
          <a:xfrm>
            <a:off x="2880000" y="2988000"/>
            <a:ext cx="432000" cy="288000"/>
          </a:xfrm>
          <a:prstGeom prst="bentConnector3">
            <a:avLst>
              <a:gd name="adj1" fmla="val 50000"/>
            </a:avLst>
          </a:prstGeom>
          <a:ln w="31750">
            <a:solidFill>
              <a:schemeClr val="tx1"/>
            </a:solidFill>
            <a:headEnd type="oval" w="lg" len="lg"/>
            <a:tailEnd type="triangle" w="lg" len="lg"/>
          </a:ln>
        </p:spPr>
        <p:style>
          <a:lnRef idx="1">
            <a:schemeClr val="accent1"/>
          </a:lnRef>
          <a:fillRef idx="0">
            <a:schemeClr val="accent1"/>
          </a:fillRef>
          <a:effectRef idx="0">
            <a:schemeClr val="accent1"/>
          </a:effectRef>
          <a:fontRef idx="minor">
            <a:schemeClr val="tx1"/>
          </a:fontRef>
        </p:style>
      </p:cxnSp>
      <p:sp>
        <p:nvSpPr>
          <p:cNvPr id="29" name="四角形吹き出し 28"/>
          <p:cNvSpPr/>
          <p:nvPr/>
        </p:nvSpPr>
        <p:spPr>
          <a:xfrm>
            <a:off x="6264000" y="4680000"/>
            <a:ext cx="2736000" cy="1296000"/>
          </a:xfrm>
          <a:prstGeom prst="wedgeRectCallout">
            <a:avLst>
              <a:gd name="adj1" fmla="val -20789"/>
              <a:gd name="adj2" fmla="val -73230"/>
            </a:avLst>
          </a:prstGeom>
          <a:solidFill>
            <a:schemeClr val="accent3">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108000" tIns="108000" rIns="108000" bIns="108000" rtlCol="0" anchor="t"/>
          <a:lstStyle/>
          <a:p>
            <a:r>
              <a:rPr kumimoji="1" lang="ja-JP" altLang="en-US" sz="1400" dirty="0">
                <a:solidFill>
                  <a:schemeClr val="tx1"/>
                </a:solidFill>
                <a:latin typeface="游ゴシック" panose="020B0400000000000000" pitchFamily="50" charset="-128"/>
                <a:ea typeface="游ゴシック" panose="020B0400000000000000" pitchFamily="50" charset="-128"/>
              </a:rPr>
              <a:t>アプリサービスデスクへ設計書類一式・操作マニュアル・問合せ対応一覧・</a:t>
            </a:r>
            <a:r>
              <a:rPr kumimoji="1" lang="en-US" altLang="ja-JP" sz="1400" dirty="0">
                <a:solidFill>
                  <a:schemeClr val="tx1"/>
                </a:solidFill>
                <a:latin typeface="游ゴシック" panose="020B0400000000000000" pitchFamily="50" charset="-128"/>
                <a:ea typeface="游ゴシック" panose="020B0400000000000000" pitchFamily="50" charset="-128"/>
              </a:rPr>
              <a:t>FAQ</a:t>
            </a:r>
            <a:r>
              <a:rPr kumimoji="1" lang="ja-JP" altLang="en-US" sz="1400" dirty="0">
                <a:solidFill>
                  <a:schemeClr val="tx1"/>
                </a:solidFill>
                <a:latin typeface="游ゴシック" panose="020B0400000000000000" pitchFamily="50" charset="-128"/>
                <a:ea typeface="游ゴシック" panose="020B0400000000000000" pitchFamily="50" charset="-128"/>
              </a:rPr>
              <a:t>をご提供します。必要に応じてお打合せによる説明も可能です。</a:t>
            </a:r>
          </a:p>
        </p:txBody>
      </p:sp>
      <p:sp>
        <p:nvSpPr>
          <p:cNvPr id="30" name="四角形吹き出し 29"/>
          <p:cNvSpPr/>
          <p:nvPr/>
        </p:nvSpPr>
        <p:spPr>
          <a:xfrm>
            <a:off x="144000" y="3600000"/>
            <a:ext cx="2736000" cy="2304000"/>
          </a:xfrm>
          <a:prstGeom prst="wedgeRectCallout">
            <a:avLst>
              <a:gd name="adj1" fmla="val 31582"/>
              <a:gd name="adj2" fmla="val -64263"/>
            </a:avLst>
          </a:prstGeom>
          <a:solidFill>
            <a:schemeClr val="accent3">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108000" tIns="108000" rIns="108000" bIns="108000" rtlCol="0" anchor="t"/>
          <a:lstStyle/>
          <a:p>
            <a:r>
              <a:rPr kumimoji="1" lang="ja-JP" altLang="en-US" sz="1400" dirty="0">
                <a:solidFill>
                  <a:schemeClr val="tx1"/>
                </a:solidFill>
                <a:latin typeface="游ゴシック" panose="020B0400000000000000" pitchFamily="50" charset="-128"/>
                <a:ea typeface="游ゴシック" panose="020B0400000000000000" pitchFamily="50" charset="-128"/>
              </a:rPr>
              <a:t>運用テスト開始前に運用テスト説明会を実施します。</a:t>
            </a:r>
            <a:r>
              <a:rPr lang="ja-JP" altLang="en-US" sz="1400" dirty="0">
                <a:solidFill>
                  <a:schemeClr val="tx1"/>
                </a:solidFill>
                <a:latin typeface="游ゴシック" panose="020B0400000000000000" pitchFamily="50" charset="-128"/>
                <a:ea typeface="游ゴシック" panose="020B0400000000000000" pitchFamily="50" charset="-128"/>
              </a:rPr>
              <a:t>説明会にて操作マニュアルをもとにシステム</a:t>
            </a:r>
            <a:r>
              <a:rPr kumimoji="1" lang="ja-JP" altLang="en-US" sz="1400" dirty="0">
                <a:solidFill>
                  <a:schemeClr val="tx1"/>
                </a:solidFill>
                <a:latin typeface="游ゴシック" panose="020B0400000000000000" pitchFamily="50" charset="-128"/>
                <a:ea typeface="游ゴシック" panose="020B0400000000000000" pitchFamily="50" charset="-128"/>
              </a:rPr>
              <a:t>の操作方法について説明を実施し、また、運用テストの実施方法についても説明します。</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r>
              <a:rPr lang="ja-JP" altLang="en-US" sz="1400" dirty="0">
                <a:solidFill>
                  <a:schemeClr val="tx1"/>
                </a:solidFill>
                <a:latin typeface="游ゴシック" panose="020B0400000000000000" pitchFamily="50" charset="-128"/>
                <a:ea typeface="游ゴシック" panose="020B0400000000000000" pitchFamily="50" charset="-128"/>
              </a:rPr>
              <a:t>説明会は１回を予定しますが、予備日を設け、最大２回まで実施可とします。</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31" name="四角形吹き出し 30"/>
          <p:cNvSpPr/>
          <p:nvPr/>
        </p:nvSpPr>
        <p:spPr>
          <a:xfrm>
            <a:off x="3312000" y="4464000"/>
            <a:ext cx="2520000" cy="1512000"/>
          </a:xfrm>
          <a:prstGeom prst="wedgeRectCallout">
            <a:avLst>
              <a:gd name="adj1" fmla="val 20439"/>
              <a:gd name="adj2" fmla="val -67602"/>
            </a:avLst>
          </a:prstGeom>
          <a:solidFill>
            <a:schemeClr val="accent3">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108000" tIns="108000" rIns="108000" bIns="108000" rtlCol="0" anchor="t"/>
          <a:lstStyle/>
          <a:p>
            <a:r>
              <a:rPr lang="ja-JP" altLang="en-US" sz="1400" dirty="0">
                <a:solidFill>
                  <a:schemeClr val="tx1"/>
                </a:solidFill>
                <a:latin typeface="游ゴシック" panose="020B0400000000000000" pitchFamily="50" charset="-128"/>
                <a:ea typeface="游ゴシック" panose="020B0400000000000000" pitchFamily="50" charset="-128"/>
              </a:rPr>
              <a:t>運用テスト中に頂いた問合せについて、発生頻度の高い質問などを整理し</a:t>
            </a:r>
            <a:r>
              <a:rPr lang="en-US" altLang="ja-JP" sz="1400" dirty="0">
                <a:solidFill>
                  <a:schemeClr val="tx1"/>
                </a:solidFill>
                <a:latin typeface="游ゴシック" panose="020B0400000000000000" pitchFamily="50" charset="-128"/>
                <a:ea typeface="游ゴシック" panose="020B0400000000000000" pitchFamily="50" charset="-128"/>
              </a:rPr>
              <a:t>FAQ</a:t>
            </a:r>
            <a:r>
              <a:rPr lang="ja-JP" altLang="en-US" sz="1400" dirty="0">
                <a:solidFill>
                  <a:schemeClr val="tx1"/>
                </a:solidFill>
                <a:latin typeface="游ゴシック" panose="020B0400000000000000" pitchFamily="50" charset="-128"/>
                <a:ea typeface="游ゴシック" panose="020B0400000000000000" pitchFamily="50" charset="-128"/>
              </a:rPr>
              <a:t>として作成します。</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6404566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初期流動</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40</a:t>
            </a:fld>
            <a:endParaRPr kumimoji="1" lang="ja-JP" altLang="en-US"/>
          </a:p>
        </p:txBody>
      </p:sp>
      <p:grpSp>
        <p:nvGrpSpPr>
          <p:cNvPr id="25" name="グループ化 24"/>
          <p:cNvGrpSpPr/>
          <p:nvPr/>
        </p:nvGrpSpPr>
        <p:grpSpPr>
          <a:xfrm>
            <a:off x="3168000" y="1008000"/>
            <a:ext cx="2772000" cy="5327999"/>
            <a:chOff x="3168000" y="1152000"/>
            <a:chExt cx="2772000" cy="5327999"/>
          </a:xfrm>
        </p:grpSpPr>
        <p:cxnSp>
          <p:nvCxnSpPr>
            <p:cNvPr id="12" name="直線コネクタ 11"/>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3240000" y="1152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受付時間</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4" name="テキスト ボックス 13"/>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dirty="0">
                  <a:latin typeface="游ゴシック" panose="020B0400000000000000" pitchFamily="50" charset="-128"/>
                  <a:ea typeface="游ゴシック" panose="020B0400000000000000" pitchFamily="50" charset="-128"/>
                </a:rPr>
                <a:t>通常時</a:t>
              </a:r>
              <a:r>
                <a:rPr lang="ja-JP" altLang="en-US" sz="1400" b="1" dirty="0">
                  <a:latin typeface="游ゴシック" panose="020B0400000000000000" pitchFamily="50" charset="-128"/>
                  <a:ea typeface="游ゴシック" panose="020B0400000000000000" pitchFamily="50" charset="-128"/>
                </a:rPr>
                <a:t>お問い合わせ</a:t>
              </a:r>
              <a:r>
                <a:rPr kumimoji="1" lang="ja-JP" altLang="en-US" sz="1400" b="1" dirty="0">
                  <a:latin typeface="游ゴシック" panose="020B0400000000000000" pitchFamily="50" charset="-128"/>
                  <a:ea typeface="游ゴシック" panose="020B0400000000000000" pitchFamily="50" charset="-128"/>
                </a:rPr>
                <a:t>受付時間</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平日（月曜日～金曜日）の </a:t>
              </a:r>
              <a:r>
                <a:rPr lang="en-US" altLang="ja-JP" sz="1400" dirty="0">
                  <a:latin typeface="游ゴシック" panose="020B0400000000000000" pitchFamily="50" charset="-128"/>
                  <a:ea typeface="游ゴシック" panose="020B0400000000000000" pitchFamily="50" charset="-128"/>
                </a:rPr>
                <a:t>9:00 </a:t>
              </a:r>
              <a:r>
                <a:rPr lang="ja-JP" altLang="en-US" sz="1400" dirty="0">
                  <a:latin typeface="游ゴシック" panose="020B0400000000000000" pitchFamily="50" charset="-128"/>
                  <a:ea typeface="游ゴシック" panose="020B0400000000000000" pitchFamily="50" charset="-128"/>
                </a:rPr>
                <a:t>～ </a:t>
              </a:r>
              <a:r>
                <a:rPr lang="en-US" altLang="ja-JP" sz="1400" dirty="0">
                  <a:latin typeface="游ゴシック" panose="020B0400000000000000" pitchFamily="50" charset="-128"/>
                  <a:ea typeface="游ゴシック" panose="020B0400000000000000" pitchFamily="50" charset="-128"/>
                </a:rPr>
                <a:t>18:00</a:t>
              </a:r>
            </a:p>
            <a:p>
              <a:pPr marL="285750" indent="-285750">
                <a:spcBef>
                  <a:spcPts val="600"/>
                </a:spcBef>
                <a:buFont typeface="游ゴシック" panose="020B0400000000000000" pitchFamily="50" charset="-128"/>
                <a:buChar char="※"/>
              </a:pPr>
              <a:r>
                <a:rPr lang="ja-JP" altLang="en-US" sz="1400" dirty="0">
                  <a:latin typeface="游ゴシック" panose="020B0400000000000000" pitchFamily="50" charset="-128"/>
                  <a:ea typeface="游ゴシック" panose="020B0400000000000000" pitchFamily="50" charset="-128"/>
                </a:rPr>
                <a:t>土曜日・日曜日・祝日につきましては、必要に応じて体制を整え対応いたします。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緊急時のお問い合わせについて</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緊急時におきましては、上記時間帯を問わず受け付けいたしますが、状況により対応できない場合がございます。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非常事態発生時において、作業が必要となった場合は、担当者が自宅から専用に準備した機器により、リモート接続にてメンテナンスを実施することも可能です。</a:t>
              </a:r>
            </a:p>
            <a:p>
              <a:pPr>
                <a:spcBef>
                  <a:spcPts val="600"/>
                </a:spcBef>
              </a:pPr>
              <a:r>
                <a:rPr lang="ja-JP" altLang="en-US" sz="1400" dirty="0">
                  <a:latin typeface="游ゴシック" panose="020B0400000000000000" pitchFamily="50" charset="-128"/>
                  <a:ea typeface="游ゴシック" panose="020B0400000000000000" pitchFamily="50" charset="-128"/>
                </a:rPr>
                <a:t>この場合は、貴社在宅勤務システムを利用させて頂く想定です。詳細につきましては、別途ご相談させてください。</a:t>
              </a:r>
              <a:br>
                <a:rPr lang="ja-JP" altLang="en-US" sz="1400" dirty="0">
                  <a:latin typeface="游ゴシック" panose="020B0400000000000000" pitchFamily="50" charset="-128"/>
                  <a:ea typeface="游ゴシック" panose="020B0400000000000000" pitchFamily="50" charset="-128"/>
                </a:rPr>
              </a:b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24" name="グループ化 23"/>
          <p:cNvGrpSpPr/>
          <p:nvPr/>
        </p:nvGrpSpPr>
        <p:grpSpPr>
          <a:xfrm>
            <a:off x="6120000" y="1008000"/>
            <a:ext cx="2772000" cy="5327999"/>
            <a:chOff x="6192000" y="1152000"/>
            <a:chExt cx="2772000" cy="5327999"/>
          </a:xfrm>
        </p:grpSpPr>
        <p:cxnSp>
          <p:nvCxnSpPr>
            <p:cNvPr id="16" name="直線コネクタ 15"/>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a:off x="6264000" y="1152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作業範囲</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8" name="テキスト ボックス 17"/>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dirty="0">
                  <a:latin typeface="游ゴシック" panose="020B0400000000000000" pitchFamily="50" charset="-128"/>
                  <a:ea typeface="游ゴシック" panose="020B0400000000000000" pitchFamily="50" charset="-128"/>
                </a:rPr>
                <a:t>お問い合わせ対応</a:t>
              </a:r>
            </a:p>
            <a:p>
              <a:pPr>
                <a:spcBef>
                  <a:spcPts val="600"/>
                </a:spcBef>
              </a:pPr>
              <a:r>
                <a:rPr lang="ja-JP" altLang="en-US" sz="1400" dirty="0">
                  <a:latin typeface="游ゴシック" panose="020B0400000000000000" pitchFamily="50" charset="-128"/>
                  <a:ea typeface="游ゴシック" panose="020B0400000000000000" pitchFamily="50" charset="-128"/>
                </a:rPr>
                <a:t>貴社情報システム部様からのお問い合わせに対し対応いたします。電話、メールでのお問い合わせを受け付けます。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お問い合わせの管理</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頂いたお問い合わせは初期流動問合せ一覧にて管理し、完了するまでステータスを監視します。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障害対応・不具合対応</a:t>
              </a:r>
            </a:p>
            <a:p>
              <a:pPr>
                <a:spcBef>
                  <a:spcPts val="600"/>
                </a:spcBef>
              </a:pPr>
              <a:r>
                <a:rPr lang="ja-JP" altLang="en-US" sz="1400" dirty="0">
                  <a:latin typeface="游ゴシック" panose="020B0400000000000000" pitchFamily="50" charset="-128"/>
                  <a:ea typeface="游ゴシック" panose="020B0400000000000000" pitchFamily="50" charset="-128"/>
                </a:rPr>
                <a:t>障害発生時の復旧作業を実施または支援します。また、プログラム不具合の発覚時は改善作業を実施します。</a:t>
              </a:r>
            </a:p>
            <a:p>
              <a:pPr>
                <a:spcBef>
                  <a:spcPts val="600"/>
                </a:spcBef>
              </a:pPr>
              <a:r>
                <a:rPr lang="ja-JP" altLang="en-US" sz="1400" b="1" dirty="0">
                  <a:latin typeface="游ゴシック" panose="020B0400000000000000" pitchFamily="50" charset="-128"/>
                  <a:ea typeface="游ゴシック" panose="020B0400000000000000" pitchFamily="50" charset="-128"/>
                </a:rPr>
                <a:t>完了報告</a:t>
              </a:r>
            </a:p>
            <a:p>
              <a:pPr>
                <a:spcBef>
                  <a:spcPts val="600"/>
                </a:spcBef>
              </a:pPr>
              <a:r>
                <a:rPr lang="ja-JP" altLang="en-US" sz="1400" dirty="0">
                  <a:latin typeface="游ゴシック" panose="020B0400000000000000" pitchFamily="50" charset="-128"/>
                  <a:ea typeface="游ゴシック" panose="020B0400000000000000" pitchFamily="50" charset="-128"/>
                </a:rPr>
                <a:t>初期流動期間完了時に報告会を開催し、初期流動問合せ一覧を提出いたします。</a:t>
              </a: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10" name="グループ化 9"/>
          <p:cNvGrpSpPr/>
          <p:nvPr/>
        </p:nvGrpSpPr>
        <p:grpSpPr>
          <a:xfrm>
            <a:off x="216000" y="1008000"/>
            <a:ext cx="2772000" cy="5328000"/>
            <a:chOff x="144000" y="1008000"/>
            <a:chExt cx="2772000" cy="5328000"/>
          </a:xfrm>
        </p:grpSpPr>
        <p:grpSp>
          <p:nvGrpSpPr>
            <p:cNvPr id="26" name="グループ化 25"/>
            <p:cNvGrpSpPr/>
            <p:nvPr/>
          </p:nvGrpSpPr>
          <p:grpSpPr>
            <a:xfrm>
              <a:off x="144000" y="1008000"/>
              <a:ext cx="2772000" cy="2808000"/>
              <a:chOff x="144000" y="1152000"/>
              <a:chExt cx="2772000" cy="2808000"/>
            </a:xfrm>
          </p:grpSpPr>
          <p:cxnSp>
            <p:nvCxnSpPr>
              <p:cNvPr id="7" name="直線コネクタ 6"/>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216000" y="1152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対象範囲</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9" name="テキスト ボックス 8"/>
              <p:cNvSpPr txBox="1"/>
              <p:nvPr/>
            </p:nvSpPr>
            <p:spPr>
              <a:xfrm>
                <a:off x="216000" y="1512000"/>
                <a:ext cx="2700000" cy="2448000"/>
              </a:xfrm>
              <a:prstGeom prst="rect">
                <a:avLst/>
              </a:prstGeom>
              <a:noFill/>
            </p:spPr>
            <p:txBody>
              <a:bodyPr wrap="square" rtlCol="0">
                <a:noAutofit/>
              </a:bodyPr>
              <a:lstStyle/>
              <a:p>
                <a:pPr>
                  <a:spcBef>
                    <a:spcPts val="600"/>
                  </a:spcBef>
                </a:pPr>
                <a:r>
                  <a:rPr kumimoji="1" lang="ja-JP" altLang="en-US" sz="1400" b="1" dirty="0">
                    <a:latin typeface="游ゴシック" panose="020B0400000000000000" pitchFamily="50" charset="-128"/>
                    <a:ea typeface="游ゴシック" panose="020B0400000000000000" pitchFamily="50" charset="-128"/>
                  </a:rPr>
                  <a:t>千葉運転管理システム</a:t>
                </a:r>
                <a:endParaRPr lang="en-US" altLang="ja-JP" sz="1400" b="1"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クライアントアプリケーション</a:t>
                </a:r>
                <a:endParaRPr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クライアントアプリケーション配布サイト</a:t>
                </a:r>
                <a:endParaRPr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データベース（ミドルウェア除く）</a:t>
                </a:r>
                <a:endParaRPr kumimoji="1"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バッチプログラム</a:t>
                </a:r>
                <a:endParaRPr kumimoji="1"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バッチプログラム起動設定</a:t>
                </a:r>
              </a:p>
            </p:txBody>
          </p:sp>
        </p:grpSp>
        <p:grpSp>
          <p:nvGrpSpPr>
            <p:cNvPr id="3" name="グループ化 2"/>
            <p:cNvGrpSpPr/>
            <p:nvPr/>
          </p:nvGrpSpPr>
          <p:grpSpPr>
            <a:xfrm>
              <a:off x="144000" y="3672000"/>
              <a:ext cx="2772000" cy="2664000"/>
              <a:chOff x="144000" y="3816000"/>
              <a:chExt cx="2772000" cy="2664000"/>
            </a:xfrm>
          </p:grpSpPr>
          <p:cxnSp>
            <p:nvCxnSpPr>
              <p:cNvPr id="19" name="直線コネクタ 18"/>
              <p:cNvCxnSpPr/>
              <p:nvPr/>
            </p:nvCxnSpPr>
            <p:spPr>
              <a:xfrm>
                <a:off x="144000" y="3816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テキスト ボックス 19"/>
              <p:cNvSpPr txBox="1"/>
              <p:nvPr/>
            </p:nvSpPr>
            <p:spPr>
              <a:xfrm>
                <a:off x="216000" y="3816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初期流動体制</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1" name="テキスト ボックス 20"/>
              <p:cNvSpPr txBox="1"/>
              <p:nvPr/>
            </p:nvSpPr>
            <p:spPr>
              <a:xfrm>
                <a:off x="216000" y="4176000"/>
                <a:ext cx="2700000" cy="2304000"/>
              </a:xfrm>
              <a:prstGeom prst="rect">
                <a:avLst/>
              </a:prstGeom>
              <a:noFill/>
            </p:spPr>
            <p:txBody>
              <a:bodyPr wrap="square" rtlCol="0">
                <a:noAutofit/>
              </a:bodyPr>
              <a:lstStyle/>
              <a:p>
                <a:pPr>
                  <a:spcBef>
                    <a:spcPts val="600"/>
                  </a:spcBef>
                </a:pPr>
                <a:r>
                  <a:rPr kumimoji="1" lang="ja-JP" altLang="en-US" sz="1400" b="1" dirty="0">
                    <a:latin typeface="游ゴシック" panose="020B0400000000000000" pitchFamily="50" charset="-128"/>
                    <a:ea typeface="游ゴシック" panose="020B0400000000000000" pitchFamily="50" charset="-128"/>
                  </a:rPr>
                  <a:t>要員</a:t>
                </a:r>
                <a:endParaRPr kumimoji="1"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初期流動期間中は、リリース時の体制</a:t>
                </a:r>
                <a:r>
                  <a:rPr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オフショア要員除く</a:t>
                </a:r>
                <a:r>
                  <a:rPr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をそのまま維持し対応いたします。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作業場所</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弊社千葉オフィスにて作業し必要に応じてリモート接続にて、貴社環境に接続し作業致します。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en-US" altLang="ja-JP" sz="1400" dirty="0">
                    <a:latin typeface="游ゴシック" panose="020B0400000000000000" pitchFamily="50" charset="-128"/>
                    <a:ea typeface="游ゴシック" panose="020B0400000000000000" pitchFamily="50" charset="-128"/>
                  </a:rPr>
                  <a:t>P.49</a:t>
                </a:r>
                <a:r>
                  <a:rPr lang="ja-JP" altLang="en-US" sz="1400" dirty="0" err="1">
                    <a:latin typeface="游ゴシック" panose="020B0400000000000000" pitchFamily="50" charset="-128"/>
                    <a:ea typeface="游ゴシック" panose="020B0400000000000000" pitchFamily="50" charset="-128"/>
                  </a:rPr>
                  <a:t>にて</a:t>
                </a:r>
                <a:r>
                  <a:rPr lang="ja-JP" altLang="en-US" sz="1400" dirty="0">
                    <a:latin typeface="游ゴシック" panose="020B0400000000000000" pitchFamily="50" charset="-128"/>
                    <a:ea typeface="游ゴシック" panose="020B0400000000000000" pitchFamily="50" charset="-128"/>
                  </a:rPr>
                  <a:t>体制図を示します。</a:t>
                </a:r>
              </a:p>
            </p:txBody>
          </p:sp>
        </p:grpSp>
      </p:grpSp>
    </p:spTree>
    <p:extLst>
      <p:ext uri="{BB962C8B-B14F-4D97-AF65-F5344CB8AC3E}">
        <p14:creationId xmlns:p14="http://schemas.microsoft.com/office/powerpoint/2010/main" val="224904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保守</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41</a:t>
            </a:fld>
            <a:endParaRPr kumimoji="1" lang="ja-JP" altLang="en-US"/>
          </a:p>
        </p:txBody>
      </p:sp>
      <p:grpSp>
        <p:nvGrpSpPr>
          <p:cNvPr id="25" name="グループ化 24"/>
          <p:cNvGrpSpPr/>
          <p:nvPr/>
        </p:nvGrpSpPr>
        <p:grpSpPr>
          <a:xfrm>
            <a:off x="3168000" y="1008000"/>
            <a:ext cx="2772000" cy="5327999"/>
            <a:chOff x="3168000" y="1152000"/>
            <a:chExt cx="2772000" cy="5327999"/>
          </a:xfrm>
        </p:grpSpPr>
        <p:cxnSp>
          <p:nvCxnSpPr>
            <p:cNvPr id="12" name="直線コネクタ 11"/>
            <p:cNvCxnSpPr/>
            <p:nvPr/>
          </p:nvCxnSpPr>
          <p:spPr>
            <a:xfrm>
              <a:off x="3168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テキスト ボックス 12"/>
            <p:cNvSpPr txBox="1"/>
            <p:nvPr/>
          </p:nvSpPr>
          <p:spPr>
            <a:xfrm>
              <a:off x="3240000" y="1152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受付時間</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4" name="テキスト ボックス 13"/>
            <p:cNvSpPr txBox="1"/>
            <p:nvPr/>
          </p:nvSpPr>
          <p:spPr>
            <a:xfrm>
              <a:off x="3240000" y="1511999"/>
              <a:ext cx="2700000" cy="4968000"/>
            </a:xfrm>
            <a:prstGeom prst="rect">
              <a:avLst/>
            </a:prstGeom>
            <a:noFill/>
          </p:spPr>
          <p:txBody>
            <a:bodyPr wrap="square" rtlCol="0">
              <a:noAutofit/>
            </a:bodyPr>
            <a:lstStyle/>
            <a:p>
              <a:pPr>
                <a:spcBef>
                  <a:spcPts val="600"/>
                </a:spcBef>
              </a:pPr>
              <a:r>
                <a:rPr kumimoji="1" lang="ja-JP" altLang="en-US" sz="1400" b="1" dirty="0">
                  <a:latin typeface="游ゴシック" panose="020B0400000000000000" pitchFamily="50" charset="-128"/>
                  <a:ea typeface="游ゴシック" panose="020B0400000000000000" pitchFamily="50" charset="-128"/>
                </a:rPr>
                <a:t>通常時</a:t>
              </a:r>
              <a:r>
                <a:rPr lang="ja-JP" altLang="en-US" sz="1400" b="1" dirty="0">
                  <a:latin typeface="游ゴシック" panose="020B0400000000000000" pitchFamily="50" charset="-128"/>
                  <a:ea typeface="游ゴシック" panose="020B0400000000000000" pitchFamily="50" charset="-128"/>
                </a:rPr>
                <a:t>お問い合わせ</a:t>
              </a:r>
              <a:r>
                <a:rPr kumimoji="1" lang="ja-JP" altLang="en-US" sz="1400" b="1" dirty="0">
                  <a:latin typeface="游ゴシック" panose="020B0400000000000000" pitchFamily="50" charset="-128"/>
                  <a:ea typeface="游ゴシック" panose="020B0400000000000000" pitchFamily="50" charset="-128"/>
                </a:rPr>
                <a:t>受付時間</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平日（月曜日～金曜日）の </a:t>
              </a:r>
              <a:r>
                <a:rPr lang="en-US" altLang="ja-JP" sz="1400" dirty="0">
                  <a:latin typeface="游ゴシック" panose="020B0400000000000000" pitchFamily="50" charset="-128"/>
                  <a:ea typeface="游ゴシック" panose="020B0400000000000000" pitchFamily="50" charset="-128"/>
                </a:rPr>
                <a:t>9:00 </a:t>
              </a:r>
              <a:r>
                <a:rPr lang="ja-JP" altLang="en-US" sz="1400" dirty="0">
                  <a:latin typeface="游ゴシック" panose="020B0400000000000000" pitchFamily="50" charset="-128"/>
                  <a:ea typeface="游ゴシック" panose="020B0400000000000000" pitchFamily="50" charset="-128"/>
                </a:rPr>
                <a:t>～ </a:t>
              </a:r>
              <a:r>
                <a:rPr lang="en-US" altLang="ja-JP" sz="1400" dirty="0">
                  <a:latin typeface="游ゴシック" panose="020B0400000000000000" pitchFamily="50" charset="-128"/>
                  <a:ea typeface="游ゴシック" panose="020B0400000000000000" pitchFamily="50" charset="-128"/>
                </a:rPr>
                <a:t>18:00</a:t>
              </a:r>
            </a:p>
            <a:p>
              <a:pPr marL="285750" indent="-285750">
                <a:spcBef>
                  <a:spcPts val="600"/>
                </a:spcBef>
                <a:buFont typeface="游ゴシック" panose="020B0400000000000000" pitchFamily="50" charset="-128"/>
                <a:buChar char="※"/>
              </a:pPr>
              <a:r>
                <a:rPr lang="ja-JP" altLang="en-US" sz="1400" dirty="0">
                  <a:latin typeface="游ゴシック" panose="020B0400000000000000" pitchFamily="50" charset="-128"/>
                  <a:ea typeface="游ゴシック" panose="020B0400000000000000" pitchFamily="50" charset="-128"/>
                </a:rPr>
                <a:t>土曜日、日曜日、祝日、年末年始は除きます。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緊急時のお問い合わせについて</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緊急時におきましては、上記時間帯を問わず受け付けいたしますが、状況により対応できない場合がございます。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非常事態発生時において、作業が必要となった場合は、保守担当者が自宅から専用に準備した機器により、リモート接続にてメンテナンスを実施することも可能です。</a:t>
              </a:r>
            </a:p>
            <a:p>
              <a:pPr>
                <a:spcBef>
                  <a:spcPts val="600"/>
                </a:spcBef>
              </a:pPr>
              <a:r>
                <a:rPr lang="ja-JP" altLang="en-US" sz="1400" dirty="0">
                  <a:latin typeface="游ゴシック" panose="020B0400000000000000" pitchFamily="50" charset="-128"/>
                  <a:ea typeface="游ゴシック" panose="020B0400000000000000" pitchFamily="50" charset="-128"/>
                </a:rPr>
                <a:t>この場合は、貴社在宅勤務システムを利用させて頂く想定です。詳細につきましては、別途ご相談させてください。</a:t>
              </a:r>
              <a:br>
                <a:rPr lang="ja-JP" altLang="en-US" sz="1400" dirty="0">
                  <a:latin typeface="游ゴシック" panose="020B0400000000000000" pitchFamily="50" charset="-128"/>
                  <a:ea typeface="游ゴシック" panose="020B0400000000000000" pitchFamily="50" charset="-128"/>
                </a:rPr>
              </a:b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24" name="グループ化 23"/>
          <p:cNvGrpSpPr/>
          <p:nvPr/>
        </p:nvGrpSpPr>
        <p:grpSpPr>
          <a:xfrm>
            <a:off x="6120000" y="1008000"/>
            <a:ext cx="2772000" cy="5327999"/>
            <a:chOff x="6192000" y="1152000"/>
            <a:chExt cx="2772000" cy="5327999"/>
          </a:xfrm>
        </p:grpSpPr>
        <p:cxnSp>
          <p:nvCxnSpPr>
            <p:cNvPr id="16" name="直線コネクタ 15"/>
            <p:cNvCxnSpPr/>
            <p:nvPr/>
          </p:nvCxnSpPr>
          <p:spPr>
            <a:xfrm>
              <a:off x="6192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テキスト ボックス 16"/>
            <p:cNvSpPr txBox="1"/>
            <p:nvPr/>
          </p:nvSpPr>
          <p:spPr>
            <a:xfrm>
              <a:off x="6264000" y="1152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作業範囲</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8" name="テキスト ボックス 17"/>
            <p:cNvSpPr txBox="1"/>
            <p:nvPr/>
          </p:nvSpPr>
          <p:spPr>
            <a:xfrm>
              <a:off x="6264000" y="1511999"/>
              <a:ext cx="2700000" cy="4968000"/>
            </a:xfrm>
            <a:prstGeom prst="rect">
              <a:avLst/>
            </a:prstGeom>
            <a:noFill/>
          </p:spPr>
          <p:txBody>
            <a:bodyPr wrap="square" rtlCol="0">
              <a:noAutofit/>
            </a:bodyPr>
            <a:lstStyle/>
            <a:p>
              <a:pPr>
                <a:spcBef>
                  <a:spcPts val="600"/>
                </a:spcBef>
              </a:pPr>
              <a:r>
                <a:rPr lang="ja-JP" altLang="en-US" sz="1400" b="1" dirty="0">
                  <a:latin typeface="游ゴシック" panose="020B0400000000000000" pitchFamily="50" charset="-128"/>
                  <a:ea typeface="游ゴシック" panose="020B0400000000000000" pitchFamily="50" charset="-128"/>
                </a:rPr>
                <a:t>お問い合わせ対応</a:t>
              </a:r>
            </a:p>
            <a:p>
              <a:pPr>
                <a:spcBef>
                  <a:spcPts val="600"/>
                </a:spcBef>
              </a:pPr>
              <a:r>
                <a:rPr lang="ja-JP" altLang="en-US" sz="1400" dirty="0">
                  <a:latin typeface="游ゴシック" panose="020B0400000000000000" pitchFamily="50" charset="-128"/>
                  <a:ea typeface="游ゴシック" panose="020B0400000000000000" pitchFamily="50" charset="-128"/>
                </a:rPr>
                <a:t>アプリサービスデスク様からのお問い合わせに対し対応いたします。</a:t>
              </a:r>
              <a:r>
                <a:rPr lang="en-US" altLang="ja-JP" sz="1400" dirty="0">
                  <a:latin typeface="游ゴシック" panose="020B0400000000000000" pitchFamily="50" charset="-128"/>
                  <a:ea typeface="游ゴシック" panose="020B0400000000000000" pitchFamily="50" charset="-128"/>
                </a:rPr>
                <a:t>LMIS</a:t>
              </a:r>
              <a:r>
                <a:rPr lang="ja-JP" altLang="en-US" sz="1400" dirty="0" err="1">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電話、メールでのお問い合わせを受け付けます。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障害対応・不具合対応</a:t>
              </a:r>
            </a:p>
            <a:p>
              <a:pPr>
                <a:spcBef>
                  <a:spcPts val="600"/>
                </a:spcBef>
              </a:pPr>
              <a:r>
                <a:rPr lang="ja-JP" altLang="en-US" sz="1400" dirty="0">
                  <a:latin typeface="游ゴシック" panose="020B0400000000000000" pitchFamily="50" charset="-128"/>
                  <a:ea typeface="游ゴシック" panose="020B0400000000000000" pitchFamily="50" charset="-128"/>
                </a:rPr>
                <a:t>障害発生時の復旧作業を実施または支援します。また、プログラム不具合の発覚時は改善作業を実施します。</a:t>
              </a:r>
            </a:p>
            <a:p>
              <a:pPr>
                <a:spcBef>
                  <a:spcPts val="600"/>
                </a:spcBef>
              </a:pPr>
              <a:r>
                <a:rPr lang="ja-JP" altLang="en-US" sz="1400" b="1" dirty="0">
                  <a:latin typeface="游ゴシック" panose="020B0400000000000000" pitchFamily="50" charset="-128"/>
                  <a:ea typeface="游ゴシック" panose="020B0400000000000000" pitchFamily="50" charset="-128"/>
                </a:rPr>
                <a:t>資源の維持</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ドキュメントおよびソースについては、貴社標準の保管環境を利用させて頂き維持します。また、変更が発生した際は、都度、最新化を実施します。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作業報告</a:t>
              </a:r>
            </a:p>
            <a:p>
              <a:pPr>
                <a:spcBef>
                  <a:spcPts val="600"/>
                </a:spcBef>
              </a:pPr>
              <a:r>
                <a:rPr lang="ja-JP" altLang="en-US" sz="1400" dirty="0">
                  <a:latin typeface="游ゴシック" panose="020B0400000000000000" pitchFamily="50" charset="-128"/>
                  <a:ea typeface="游ゴシック" panose="020B0400000000000000" pitchFamily="50" charset="-128"/>
                </a:rPr>
                <a:t>月</a:t>
              </a:r>
              <a:r>
                <a:rPr lang="en-US" altLang="ja-JP" sz="1400" dirty="0">
                  <a:latin typeface="游ゴシック" panose="020B0400000000000000" pitchFamily="50" charset="-128"/>
                  <a:ea typeface="游ゴシック" panose="020B0400000000000000" pitchFamily="50" charset="-128"/>
                </a:rPr>
                <a:t>1</a:t>
              </a:r>
              <a:r>
                <a:rPr lang="ja-JP" altLang="en-US" sz="1400" dirty="0">
                  <a:latin typeface="游ゴシック" panose="020B0400000000000000" pitchFamily="50" charset="-128"/>
                  <a:ea typeface="游ゴシック" panose="020B0400000000000000" pitchFamily="50" charset="-128"/>
                </a:rPr>
                <a:t>回、保守作業報告会を開催し、保守作業報告書を提出いたします。</a:t>
              </a: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10" name="グループ化 9"/>
          <p:cNvGrpSpPr/>
          <p:nvPr/>
        </p:nvGrpSpPr>
        <p:grpSpPr>
          <a:xfrm>
            <a:off x="216000" y="1008000"/>
            <a:ext cx="2772000" cy="5328000"/>
            <a:chOff x="144000" y="1008000"/>
            <a:chExt cx="2772000" cy="5328000"/>
          </a:xfrm>
        </p:grpSpPr>
        <p:grpSp>
          <p:nvGrpSpPr>
            <p:cNvPr id="26" name="グループ化 25"/>
            <p:cNvGrpSpPr/>
            <p:nvPr/>
          </p:nvGrpSpPr>
          <p:grpSpPr>
            <a:xfrm>
              <a:off x="144000" y="1008000"/>
              <a:ext cx="2772000" cy="2808000"/>
              <a:chOff x="144000" y="1152000"/>
              <a:chExt cx="2772000" cy="2808000"/>
            </a:xfrm>
          </p:grpSpPr>
          <p:cxnSp>
            <p:nvCxnSpPr>
              <p:cNvPr id="7" name="直線コネクタ 6"/>
              <p:cNvCxnSpPr/>
              <p:nvPr/>
            </p:nvCxnSpPr>
            <p:spPr>
              <a:xfrm>
                <a:off x="144000" y="1152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216000" y="1152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対象範囲</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9" name="テキスト ボックス 8"/>
              <p:cNvSpPr txBox="1"/>
              <p:nvPr/>
            </p:nvSpPr>
            <p:spPr>
              <a:xfrm>
                <a:off x="216000" y="1512000"/>
                <a:ext cx="2700000" cy="2448000"/>
              </a:xfrm>
              <a:prstGeom prst="rect">
                <a:avLst/>
              </a:prstGeom>
              <a:noFill/>
            </p:spPr>
            <p:txBody>
              <a:bodyPr wrap="square" rtlCol="0">
                <a:noAutofit/>
              </a:bodyPr>
              <a:lstStyle/>
              <a:p>
                <a:pPr>
                  <a:spcBef>
                    <a:spcPts val="600"/>
                  </a:spcBef>
                </a:pPr>
                <a:r>
                  <a:rPr kumimoji="1" lang="ja-JP" altLang="en-US" sz="1400" b="1" dirty="0">
                    <a:latin typeface="游ゴシック" panose="020B0400000000000000" pitchFamily="50" charset="-128"/>
                    <a:ea typeface="游ゴシック" panose="020B0400000000000000" pitchFamily="50" charset="-128"/>
                  </a:rPr>
                  <a:t>千葉運転管理システム</a:t>
                </a:r>
                <a:endParaRPr lang="en-US" altLang="ja-JP" sz="1400" b="1"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クライアントアプリケーション</a:t>
                </a:r>
                <a:endParaRPr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クライアントアプリケーション配布サイト</a:t>
                </a:r>
                <a:endParaRPr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データベース（ミドルウェア除く）</a:t>
                </a:r>
                <a:endParaRPr kumimoji="1"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バッチプログラム</a:t>
                </a:r>
                <a:endParaRPr kumimoji="1" lang="en-US" altLang="ja-JP" sz="1400" dirty="0">
                  <a:latin typeface="游ゴシック" panose="020B0400000000000000" pitchFamily="50" charset="-128"/>
                  <a:ea typeface="游ゴシック" panose="020B0400000000000000" pitchFamily="50" charset="-128"/>
                </a:endParaRPr>
              </a:p>
              <a:p>
                <a:pPr marL="285750" indent="-285750">
                  <a:spcBef>
                    <a:spcPts val="300"/>
                  </a:spcBef>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バッチプログラム起動設定</a:t>
                </a:r>
              </a:p>
            </p:txBody>
          </p:sp>
        </p:grpSp>
        <p:grpSp>
          <p:nvGrpSpPr>
            <p:cNvPr id="3" name="グループ化 2"/>
            <p:cNvGrpSpPr/>
            <p:nvPr/>
          </p:nvGrpSpPr>
          <p:grpSpPr>
            <a:xfrm>
              <a:off x="144000" y="3672000"/>
              <a:ext cx="2772000" cy="2664000"/>
              <a:chOff x="144000" y="3816000"/>
              <a:chExt cx="2772000" cy="2664000"/>
            </a:xfrm>
          </p:grpSpPr>
          <p:cxnSp>
            <p:nvCxnSpPr>
              <p:cNvPr id="19" name="直線コネクタ 18"/>
              <p:cNvCxnSpPr/>
              <p:nvPr/>
            </p:nvCxnSpPr>
            <p:spPr>
              <a:xfrm>
                <a:off x="144000" y="3816000"/>
                <a:ext cx="0" cy="720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テキスト ボックス 19"/>
              <p:cNvSpPr txBox="1"/>
              <p:nvPr/>
            </p:nvSpPr>
            <p:spPr>
              <a:xfrm>
                <a:off x="216000" y="3816000"/>
                <a:ext cx="2664000" cy="338554"/>
              </a:xfrm>
              <a:prstGeom prst="rect">
                <a:avLst/>
              </a:prstGeom>
              <a:noFill/>
            </p:spPr>
            <p:txBody>
              <a:bodyPr wrap="square" rtlCol="0">
                <a:spAutoFit/>
              </a:bodyP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保守体制</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21" name="テキスト ボックス 20"/>
              <p:cNvSpPr txBox="1"/>
              <p:nvPr/>
            </p:nvSpPr>
            <p:spPr>
              <a:xfrm>
                <a:off x="216000" y="4176000"/>
                <a:ext cx="2700000" cy="2304000"/>
              </a:xfrm>
              <a:prstGeom prst="rect">
                <a:avLst/>
              </a:prstGeom>
              <a:noFill/>
            </p:spPr>
            <p:txBody>
              <a:bodyPr wrap="square" rtlCol="0">
                <a:noAutofit/>
              </a:bodyPr>
              <a:lstStyle/>
              <a:p>
                <a:pPr>
                  <a:spcBef>
                    <a:spcPts val="600"/>
                  </a:spcBef>
                </a:pPr>
                <a:r>
                  <a:rPr kumimoji="1" lang="ja-JP" altLang="en-US" sz="1400" b="1" dirty="0">
                    <a:latin typeface="游ゴシック" panose="020B0400000000000000" pitchFamily="50" charset="-128"/>
                    <a:ea typeface="游ゴシック" panose="020B0400000000000000" pitchFamily="50" charset="-128"/>
                  </a:rPr>
                  <a:t>要員</a:t>
                </a:r>
                <a:endParaRPr kumimoji="1"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保守担当の要員としては、実作業者を</a:t>
                </a:r>
                <a:r>
                  <a:rPr lang="en-US" altLang="ja-JP" sz="1400" dirty="0">
                    <a:latin typeface="游ゴシック" panose="020B0400000000000000" pitchFamily="50" charset="-128"/>
                    <a:ea typeface="游ゴシック" panose="020B0400000000000000" pitchFamily="50" charset="-128"/>
                  </a:rPr>
                  <a:t>2</a:t>
                </a:r>
                <a:r>
                  <a:rPr lang="ja-JP" altLang="en-US"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rPr>
                  <a:t>3</a:t>
                </a:r>
                <a:r>
                  <a:rPr lang="ja-JP" altLang="en-US" sz="1400" dirty="0">
                    <a:latin typeface="游ゴシック" panose="020B0400000000000000" pitchFamily="50" charset="-128"/>
                    <a:ea typeface="游ゴシック" panose="020B0400000000000000" pitchFamily="50" charset="-128"/>
                  </a:rPr>
                  <a:t>名配置致します。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b="1" dirty="0">
                    <a:latin typeface="游ゴシック" panose="020B0400000000000000" pitchFamily="50" charset="-128"/>
                    <a:ea typeface="游ゴシック" panose="020B0400000000000000" pitchFamily="50" charset="-128"/>
                  </a:rPr>
                  <a:t>作業場所</a:t>
                </a:r>
                <a:endParaRPr lang="en-US" altLang="ja-JP" sz="1400" b="1"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作業場所は弊社千葉オフィスとし必要に応じてリモート接続にて、貴社環境に接続し作業致します。</a:t>
                </a:r>
                <a:endParaRPr lang="en-US" altLang="ja-JP" sz="1400" dirty="0">
                  <a:latin typeface="游ゴシック" panose="020B0400000000000000" pitchFamily="50" charset="-128"/>
                  <a:ea typeface="游ゴシック" panose="020B0400000000000000" pitchFamily="50" charset="-128"/>
                </a:endParaRPr>
              </a:p>
              <a:p>
                <a:pPr marL="285750" indent="-285750">
                  <a:spcBef>
                    <a:spcPts val="600"/>
                  </a:spcBef>
                  <a:buFont typeface="游ゴシック" panose="020B0400000000000000" pitchFamily="50" charset="-128"/>
                  <a:buChar char="※"/>
                </a:pPr>
                <a:r>
                  <a:rPr lang="en-US" altLang="ja-JP" sz="1400" dirty="0">
                    <a:latin typeface="游ゴシック" panose="020B0400000000000000" pitchFamily="50" charset="-128"/>
                    <a:ea typeface="游ゴシック" panose="020B0400000000000000" pitchFamily="50" charset="-128"/>
                  </a:rPr>
                  <a:t>P.50</a:t>
                </a:r>
                <a:r>
                  <a:rPr lang="ja-JP" altLang="en-US" sz="1400" dirty="0" err="1">
                    <a:latin typeface="游ゴシック" panose="020B0400000000000000" pitchFamily="50" charset="-128"/>
                    <a:ea typeface="游ゴシック" panose="020B0400000000000000" pitchFamily="50" charset="-128"/>
                  </a:rPr>
                  <a:t>にて</a:t>
                </a:r>
                <a:r>
                  <a:rPr lang="ja-JP" altLang="en-US" sz="1400" dirty="0">
                    <a:latin typeface="游ゴシック" panose="020B0400000000000000" pitchFamily="50" charset="-128"/>
                    <a:ea typeface="游ゴシック" panose="020B0400000000000000" pitchFamily="50" charset="-128"/>
                  </a:rPr>
                  <a:t>体制図を示します。</a:t>
                </a:r>
              </a:p>
            </p:txBody>
          </p:sp>
        </p:grpSp>
      </p:grpSp>
    </p:spTree>
    <p:extLst>
      <p:ext uri="{BB962C8B-B14F-4D97-AF65-F5344CB8AC3E}">
        <p14:creationId xmlns:p14="http://schemas.microsoft.com/office/powerpoint/2010/main" val="2339307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定期メンテナンスについて</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42</a:t>
            </a:fld>
            <a:endParaRPr kumimoji="1" lang="ja-JP" altLang="en-US"/>
          </a:p>
        </p:txBody>
      </p:sp>
      <p:sp>
        <p:nvSpPr>
          <p:cNvPr id="6" name="テキスト ボックス 5"/>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システム構成により定期的なメンテナンス（再起動やデータのメンテナンスなど）が</a:t>
            </a:r>
            <a:endParaRPr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必要</a:t>
            </a:r>
            <a:r>
              <a:rPr lang="ja-JP" altLang="en-US" sz="1400" dirty="0">
                <a:latin typeface="游ゴシック" panose="020B0400000000000000" pitchFamily="50" charset="-128"/>
                <a:ea typeface="游ゴシック" panose="020B0400000000000000" pitchFamily="50" charset="-128"/>
              </a:rPr>
              <a:t>となる場合がございます。</a:t>
            </a:r>
            <a:endParaRPr lang="en-US" altLang="ja-JP" sz="1400" dirty="0">
              <a:latin typeface="游ゴシック" panose="020B0400000000000000" pitchFamily="50" charset="-128"/>
              <a:ea typeface="游ゴシック" panose="020B0400000000000000" pitchFamily="50" charset="-128"/>
            </a:endParaRPr>
          </a:p>
          <a:p>
            <a:pPr algn="ct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その場合、定期メンテナンス日を決め、</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システムの停止が必要となるメンテナンスが発生する場合には、</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定期メンテナンス日に実施することとします。</a:t>
            </a:r>
            <a:endParaRPr lang="en-US" altLang="ja-JP" sz="1400" dirty="0">
              <a:latin typeface="游ゴシック" panose="020B0400000000000000" pitchFamily="50" charset="-128"/>
              <a:ea typeface="游ゴシック" panose="020B0400000000000000" pitchFamily="50" charset="-128"/>
            </a:endParaRPr>
          </a:p>
        </p:txBody>
      </p:sp>
      <p:grpSp>
        <p:nvGrpSpPr>
          <p:cNvPr id="15" name="グループ化 14"/>
          <p:cNvGrpSpPr/>
          <p:nvPr/>
        </p:nvGrpSpPr>
        <p:grpSpPr>
          <a:xfrm>
            <a:off x="1440000" y="2880000"/>
            <a:ext cx="6264000" cy="2664000"/>
            <a:chOff x="1440000" y="3024000"/>
            <a:chExt cx="6264000" cy="2664000"/>
          </a:xfrm>
        </p:grpSpPr>
        <p:sp>
          <p:nvSpPr>
            <p:cNvPr id="7" name="楕円 6"/>
            <p:cNvSpPr>
              <a:spLocks/>
            </p:cNvSpPr>
            <p:nvPr/>
          </p:nvSpPr>
          <p:spPr>
            <a:xfrm>
              <a:off x="1440000" y="3024000"/>
              <a:ext cx="432000" cy="432000"/>
            </a:xfrm>
            <a:prstGeom prst="ellipse">
              <a:avLst/>
            </a:prstGeom>
            <a:solidFill>
              <a:schemeClr val="accent2"/>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1</a:t>
              </a:r>
              <a:endParaRPr kumimoji="1" lang="ja-JP" altLang="en-US" sz="1400" b="1" dirty="0">
                <a:latin typeface="游ゴシック" panose="020B0400000000000000" pitchFamily="50" charset="-128"/>
                <a:ea typeface="游ゴシック" panose="020B0400000000000000" pitchFamily="50" charset="-128"/>
              </a:endParaRPr>
            </a:p>
          </p:txBody>
        </p:sp>
        <p:sp>
          <p:nvSpPr>
            <p:cNvPr id="8" name="正方形/長方形 7"/>
            <p:cNvSpPr/>
            <p:nvPr/>
          </p:nvSpPr>
          <p:spPr>
            <a:xfrm>
              <a:off x="1944000" y="3024000"/>
              <a:ext cx="5760000" cy="432000"/>
            </a:xfrm>
            <a:prstGeom prst="rect">
              <a:avLst/>
            </a:prstGeom>
            <a:noFill/>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定期メンテナンス日の設定</a:t>
              </a:r>
              <a:endPar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9" name="楕円 8"/>
            <p:cNvSpPr>
              <a:spLocks/>
            </p:cNvSpPr>
            <p:nvPr/>
          </p:nvSpPr>
          <p:spPr>
            <a:xfrm>
              <a:off x="1440000" y="4464000"/>
              <a:ext cx="432000" cy="432000"/>
            </a:xfrm>
            <a:prstGeom prst="ellipse">
              <a:avLst/>
            </a:prstGeom>
            <a:solidFill>
              <a:schemeClr val="accent4"/>
            </a:solidFill>
            <a:ln w="76200">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2</a:t>
              </a:r>
              <a:endParaRPr kumimoji="1" lang="ja-JP" altLang="en-US" sz="1400" b="1" dirty="0">
                <a:latin typeface="游ゴシック" panose="020B0400000000000000" pitchFamily="50" charset="-128"/>
                <a:ea typeface="游ゴシック" panose="020B0400000000000000" pitchFamily="50" charset="-128"/>
              </a:endParaRPr>
            </a:p>
          </p:txBody>
        </p:sp>
        <p:sp>
          <p:nvSpPr>
            <p:cNvPr id="10" name="正方形/長方形 9"/>
            <p:cNvSpPr/>
            <p:nvPr/>
          </p:nvSpPr>
          <p:spPr>
            <a:xfrm>
              <a:off x="1944000" y="4464000"/>
              <a:ext cx="5760000" cy="432000"/>
            </a:xfrm>
            <a:prstGeom prst="rect">
              <a:avLst/>
            </a:prstGeom>
            <a:noFill/>
          </p:spPr>
          <p:style>
            <a:lnRef idx="3">
              <a:schemeClr val="lt1"/>
            </a:lnRef>
            <a:fillRef idx="1">
              <a:schemeClr val="accent1"/>
            </a:fillRef>
            <a:effectRef idx="1">
              <a:schemeClr val="accent1"/>
            </a:effectRef>
            <a:fontRef idx="minor">
              <a:schemeClr val="lt1"/>
            </a:fontRef>
          </p:style>
          <p:txBody>
            <a:bodyPr rtlCol="0" anchor="ctr"/>
            <a:lstStyle/>
            <a:p>
              <a:r>
                <a:rPr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定期メンテナンス日にメンテナンスを実施</a:t>
              </a:r>
              <a:endParaRPr kumimoji="1" lang="ja-JP" altLang="en-US" sz="1400"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11" name="正方形/長方形 10"/>
            <p:cNvSpPr/>
            <p:nvPr/>
          </p:nvSpPr>
          <p:spPr>
            <a:xfrm>
              <a:off x="1944000" y="3456000"/>
              <a:ext cx="5760000" cy="792000"/>
            </a:xfrm>
            <a:prstGeom prst="rect">
              <a:avLst/>
            </a:prstGeom>
            <a:noFill/>
          </p:spPr>
          <p:style>
            <a:lnRef idx="3">
              <a:schemeClr val="lt1"/>
            </a:lnRef>
            <a:fillRef idx="1">
              <a:schemeClr val="accent1"/>
            </a:fillRef>
            <a:effectRef idx="1">
              <a:schemeClr val="accent1"/>
            </a:effectRef>
            <a:fontRef idx="minor">
              <a:schemeClr val="lt1"/>
            </a:fontRef>
          </p:style>
          <p:txBody>
            <a:bodyPr rtlCol="0" anchor="t"/>
            <a:lstStyle/>
            <a:p>
              <a:r>
                <a:rPr kumimoji="1" lang="ja-JP" altLang="en-US" sz="1400" dirty="0">
                  <a:solidFill>
                    <a:schemeClr val="tx1"/>
                  </a:solidFill>
                  <a:latin typeface="游ゴシック" panose="020B0400000000000000" pitchFamily="50" charset="-128"/>
                  <a:ea typeface="游ゴシック" panose="020B0400000000000000" pitchFamily="50" charset="-128"/>
                </a:rPr>
                <a:t>月１回程度の定期メンテナンス日を設定することで、利用者にシステムが停止するスケジュールを認識を持って</a:t>
              </a:r>
              <a:r>
                <a:rPr lang="ja-JP" altLang="en-US" sz="1400" dirty="0">
                  <a:solidFill>
                    <a:schemeClr val="tx1"/>
                  </a:solidFill>
                  <a:latin typeface="游ゴシック" panose="020B0400000000000000" pitchFamily="50" charset="-128"/>
                  <a:ea typeface="游ゴシック" panose="020B0400000000000000" pitchFamily="50" charset="-128"/>
                </a:rPr>
                <a:t>頂きます。定期メンテナンス日は、貴社のご都合に合わせて決定いたします。</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13" name="正方形/長方形 12"/>
            <p:cNvSpPr/>
            <p:nvPr/>
          </p:nvSpPr>
          <p:spPr>
            <a:xfrm>
              <a:off x="1944000" y="4896000"/>
              <a:ext cx="5760000" cy="792000"/>
            </a:xfrm>
            <a:prstGeom prst="rect">
              <a:avLst/>
            </a:prstGeom>
            <a:noFill/>
          </p:spPr>
          <p:style>
            <a:lnRef idx="3">
              <a:schemeClr val="lt1"/>
            </a:lnRef>
            <a:fillRef idx="1">
              <a:schemeClr val="accent1"/>
            </a:fillRef>
            <a:effectRef idx="1">
              <a:schemeClr val="accent1"/>
            </a:effectRef>
            <a:fontRef idx="minor">
              <a:schemeClr val="lt1"/>
            </a:fontRef>
          </p:style>
          <p:txBody>
            <a:bodyPr rtlCol="0" anchor="t"/>
            <a:lstStyle/>
            <a:p>
              <a:r>
                <a:rPr kumimoji="1" lang="ja-JP" altLang="en-US" sz="1400" dirty="0">
                  <a:solidFill>
                    <a:schemeClr val="tx1"/>
                  </a:solidFill>
                  <a:latin typeface="游ゴシック" panose="020B0400000000000000" pitchFamily="50" charset="-128"/>
                  <a:ea typeface="游ゴシック" panose="020B0400000000000000" pitchFamily="50" charset="-128"/>
                </a:rPr>
                <a:t>システム停止を伴うメンテナンスは、可能な限り定期メンテナンス日に実施することで、利用者への業務影響を少なくし</a:t>
              </a:r>
              <a:r>
                <a:rPr lang="ja-JP" altLang="en-US" sz="1400" dirty="0">
                  <a:solidFill>
                    <a:schemeClr val="tx1"/>
                  </a:solidFill>
                  <a:latin typeface="游ゴシック" panose="020B0400000000000000" pitchFamily="50" charset="-128"/>
                  <a:ea typeface="游ゴシック" panose="020B0400000000000000" pitchFamily="50" charset="-128"/>
                </a:rPr>
                <a:t>ます。定期メンテナンス日におけるメンテナンス作業は土曜日または日曜日でも対応可能です。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5541923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成果物</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43</a:t>
            </a:fld>
            <a:endParaRPr kumimoji="1" lang="ja-JP" altLang="en-US"/>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3943283781"/>
              </p:ext>
            </p:extLst>
          </p:nvPr>
        </p:nvGraphicFramePr>
        <p:xfrm>
          <a:off x="144000" y="864001"/>
          <a:ext cx="8856000" cy="5670617"/>
        </p:xfrm>
        <a:graphic>
          <a:graphicData uri="http://schemas.openxmlformats.org/drawingml/2006/table">
            <a:tbl>
              <a:tblPr firstRow="1">
                <a:tableStyleId>{5C22544A-7EE6-4342-B048-85BDC9FD1C3A}</a:tableStyleId>
              </a:tblPr>
              <a:tblGrid>
                <a:gridCol w="1880743">
                  <a:extLst>
                    <a:ext uri="{9D8B030D-6E8A-4147-A177-3AD203B41FA5}">
                      <a16:colId xmlns:a16="http://schemas.microsoft.com/office/drawing/2014/main" val="20000"/>
                    </a:ext>
                  </a:extLst>
                </a:gridCol>
                <a:gridCol w="6975257">
                  <a:extLst>
                    <a:ext uri="{9D8B030D-6E8A-4147-A177-3AD203B41FA5}">
                      <a16:colId xmlns:a16="http://schemas.microsoft.com/office/drawing/2014/main" val="20001"/>
                    </a:ext>
                  </a:extLst>
                </a:gridCol>
              </a:tblGrid>
              <a:tr h="300422">
                <a:tc>
                  <a:txBody>
                    <a:bodyPr/>
                    <a:lstStyle/>
                    <a:p>
                      <a:pPr algn="ctr"/>
                      <a:r>
                        <a:rPr kumimoji="1" lang="ja-JP" altLang="en-US" sz="1400" dirty="0">
                          <a:latin typeface="游ゴシック" panose="020B0400000000000000" pitchFamily="50" charset="-128"/>
                          <a:ea typeface="游ゴシック" panose="020B0400000000000000" pitchFamily="50" charset="-128"/>
                        </a:rPr>
                        <a:t>工程</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成果物</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737107">
                <a:tc>
                  <a:txBody>
                    <a:bodyPr/>
                    <a:lstStyle/>
                    <a:p>
                      <a:r>
                        <a:rPr kumimoji="1" lang="ja-JP" altLang="en-US" sz="1400" b="0" dirty="0">
                          <a:latin typeface="游ゴシック" panose="020B0400000000000000" pitchFamily="50" charset="-128"/>
                          <a:ea typeface="游ゴシック" panose="020B0400000000000000" pitchFamily="50" charset="-128"/>
                        </a:rPr>
                        <a:t>システム方式設計 </a:t>
                      </a:r>
                      <a:r>
                        <a:rPr kumimoji="1" lang="en-US" altLang="ja-JP" sz="1400" b="0" dirty="0">
                          <a:latin typeface="游ゴシック" panose="020B0400000000000000" pitchFamily="50" charset="-128"/>
                          <a:ea typeface="游ゴシック" panose="020B0400000000000000" pitchFamily="50" charset="-128"/>
                        </a:rPr>
                        <a:t>(SA)</a:t>
                      </a:r>
                      <a:r>
                        <a:rPr kumimoji="1" lang="ja-JP" altLang="en-US" sz="1400" b="0" dirty="0">
                          <a:latin typeface="游ゴシック" panose="020B0400000000000000" pitchFamily="50" charset="-128"/>
                          <a:ea typeface="游ゴシック" panose="020B0400000000000000" pitchFamily="50" charset="-128"/>
                        </a:rPr>
                        <a:t> </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SA-01:</a:t>
                      </a:r>
                      <a:r>
                        <a:rPr kumimoji="1" lang="ja-JP" altLang="en-US" sz="1400" dirty="0">
                          <a:latin typeface="游ゴシック" panose="020B0400000000000000" pitchFamily="50" charset="-128"/>
                          <a:ea typeface="游ゴシック" panose="020B0400000000000000" pitchFamily="50" charset="-128"/>
                        </a:rPr>
                        <a:t>要求仕様書、</a:t>
                      </a:r>
                      <a:r>
                        <a:rPr kumimoji="1" lang="en-US" altLang="ja-JP" sz="1400" dirty="0">
                          <a:latin typeface="游ゴシック" panose="020B0400000000000000" pitchFamily="50" charset="-128"/>
                          <a:ea typeface="游ゴシック" panose="020B0400000000000000" pitchFamily="50" charset="-128"/>
                        </a:rPr>
                        <a:t>SA-09:</a:t>
                      </a:r>
                      <a:r>
                        <a:rPr kumimoji="1" lang="ja-JP" altLang="en-US" sz="1400" dirty="0">
                          <a:latin typeface="游ゴシック" panose="020B0400000000000000" pitchFamily="50" charset="-128"/>
                          <a:ea typeface="游ゴシック" panose="020B0400000000000000" pitchFamily="50" charset="-128"/>
                        </a:rPr>
                        <a:t>画面一覧、</a:t>
                      </a:r>
                      <a:r>
                        <a:rPr kumimoji="1" lang="en-US" altLang="ja-JP" sz="1400" dirty="0">
                          <a:latin typeface="游ゴシック" panose="020B0400000000000000" pitchFamily="50" charset="-128"/>
                          <a:ea typeface="游ゴシック" panose="020B0400000000000000" pitchFamily="50" charset="-128"/>
                        </a:rPr>
                        <a:t>SA-10:</a:t>
                      </a:r>
                      <a:r>
                        <a:rPr kumimoji="1" lang="ja-JP" altLang="en-US" sz="1400" dirty="0">
                          <a:latin typeface="游ゴシック" panose="020B0400000000000000" pitchFamily="50" charset="-128"/>
                          <a:ea typeface="游ゴシック" panose="020B0400000000000000" pitchFamily="50" charset="-128"/>
                        </a:rPr>
                        <a:t>帳票一覧、</a:t>
                      </a:r>
                      <a:r>
                        <a:rPr kumimoji="1" lang="en-US" altLang="ja-JP" sz="1400" dirty="0">
                          <a:latin typeface="游ゴシック" panose="020B0400000000000000" pitchFamily="50" charset="-128"/>
                          <a:ea typeface="游ゴシック" panose="020B0400000000000000" pitchFamily="50" charset="-128"/>
                        </a:rPr>
                        <a:t>SA-11:</a:t>
                      </a:r>
                      <a:r>
                        <a:rPr kumimoji="1" lang="ja-JP" altLang="en-US" sz="1400" dirty="0">
                          <a:latin typeface="游ゴシック" panose="020B0400000000000000" pitchFamily="50" charset="-128"/>
                          <a:ea typeface="游ゴシック" panose="020B0400000000000000" pitchFamily="50" charset="-128"/>
                        </a:rPr>
                        <a:t>外部システムインターフェース概要、</a:t>
                      </a:r>
                      <a:r>
                        <a:rPr kumimoji="1" lang="en-US" altLang="ja-JP" sz="1400" dirty="0">
                          <a:latin typeface="游ゴシック" panose="020B0400000000000000" pitchFamily="50" charset="-128"/>
                          <a:ea typeface="游ゴシック" panose="020B0400000000000000" pitchFamily="50" charset="-128"/>
                        </a:rPr>
                        <a:t>SA-25:</a:t>
                      </a:r>
                      <a:r>
                        <a:rPr kumimoji="1" lang="ja-JP" altLang="en-US" sz="1400" dirty="0">
                          <a:latin typeface="游ゴシック" panose="020B0400000000000000" pitchFamily="50" charset="-128"/>
                          <a:ea typeface="游ゴシック" panose="020B0400000000000000" pitchFamily="50" charset="-128"/>
                        </a:rPr>
                        <a:t>性能／容量要件定義書、</a:t>
                      </a:r>
                      <a:r>
                        <a:rPr kumimoji="1" lang="en-US" altLang="ja-JP" sz="1400" dirty="0">
                          <a:latin typeface="游ゴシック" panose="020B0400000000000000" pitchFamily="50" charset="-128"/>
                          <a:ea typeface="游ゴシック" panose="020B0400000000000000" pitchFamily="50" charset="-128"/>
                        </a:rPr>
                        <a:t>SA-27:</a:t>
                      </a:r>
                      <a:r>
                        <a:rPr kumimoji="1" lang="ja-JP" altLang="en-US" sz="1400" dirty="0">
                          <a:latin typeface="游ゴシック" panose="020B0400000000000000" pitchFamily="50" charset="-128"/>
                          <a:ea typeface="游ゴシック" panose="020B0400000000000000" pitchFamily="50" charset="-128"/>
                        </a:rPr>
                        <a:t>信頼性要件定義書、</a:t>
                      </a:r>
                      <a:r>
                        <a:rPr kumimoji="1" lang="en-US" altLang="zh-TW" sz="1400" dirty="0">
                          <a:latin typeface="游ゴシック" panose="020B0400000000000000" pitchFamily="50" charset="-128"/>
                          <a:ea typeface="游ゴシック" panose="020B0400000000000000" pitchFamily="50" charset="-128"/>
                        </a:rPr>
                        <a:t>SA-32:</a:t>
                      </a:r>
                      <a:r>
                        <a:rPr kumimoji="1" lang="zh-TW" altLang="en-US" sz="1400" dirty="0">
                          <a:latin typeface="游ゴシック" panose="020B0400000000000000" pitchFamily="50" charset="-128"/>
                          <a:ea typeface="游ゴシック" panose="020B0400000000000000" pitchFamily="50" charset="-128"/>
                        </a:rPr>
                        <a:t>運用／保守要件定義書</a:t>
                      </a:r>
                      <a:r>
                        <a:rPr kumimoji="1" lang="ja-JP" altLang="en-US" sz="1400" dirty="0" err="1">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SA-33:</a:t>
                      </a:r>
                      <a:r>
                        <a:rPr kumimoji="1" lang="ja-JP" altLang="en-US" sz="1400" dirty="0">
                          <a:latin typeface="游ゴシック" panose="020B0400000000000000" pitchFamily="50" charset="-128"/>
                          <a:ea typeface="游ゴシック" panose="020B0400000000000000" pitchFamily="50" charset="-128"/>
                        </a:rPr>
                        <a:t>セキュリティ要件定義書、</a:t>
                      </a:r>
                      <a:r>
                        <a:rPr kumimoji="1" lang="en-US" altLang="ja-JP" sz="1400" dirty="0">
                          <a:latin typeface="游ゴシック" panose="020B0400000000000000" pitchFamily="50" charset="-128"/>
                          <a:ea typeface="游ゴシック" panose="020B0400000000000000" pitchFamily="50" charset="-128"/>
                        </a:rPr>
                        <a:t>SA-15:</a:t>
                      </a:r>
                      <a:r>
                        <a:rPr kumimoji="1" lang="ja-JP" altLang="en-US" sz="1400" dirty="0">
                          <a:latin typeface="游ゴシック" panose="020B0400000000000000" pitchFamily="50" charset="-128"/>
                          <a:ea typeface="游ゴシック" panose="020B0400000000000000" pitchFamily="50" charset="-128"/>
                        </a:rPr>
                        <a:t>移行要件定義書</a:t>
                      </a:r>
                      <a:endParaRPr kumimoji="1" lang="en-US" altLang="ja-JP" sz="1400" dirty="0">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1399684">
                <a:tc>
                  <a:txBody>
                    <a:bodyPr/>
                    <a:lstStyle/>
                    <a:p>
                      <a:r>
                        <a:rPr kumimoji="1" lang="ja-JP" altLang="en-US" sz="1400" b="0" dirty="0">
                          <a:latin typeface="游ゴシック" panose="020B0400000000000000" pitchFamily="50" charset="-128"/>
                          <a:ea typeface="游ゴシック" panose="020B0400000000000000" pitchFamily="50" charset="-128"/>
                        </a:rPr>
                        <a:t>ユーザインタフェース設計 </a:t>
                      </a:r>
                      <a:r>
                        <a:rPr kumimoji="1" lang="en-US" altLang="ja-JP" sz="1400" b="0" dirty="0">
                          <a:latin typeface="游ゴシック" panose="020B0400000000000000" pitchFamily="50" charset="-128"/>
                          <a:ea typeface="游ゴシック" panose="020B0400000000000000" pitchFamily="50" charset="-128"/>
                        </a:rPr>
                        <a:t>(UI)</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UI-04:</a:t>
                      </a:r>
                      <a:r>
                        <a:rPr kumimoji="1" lang="ja-JP" altLang="en-US" sz="1400" dirty="0">
                          <a:latin typeface="游ゴシック" panose="020B0400000000000000" pitchFamily="50" charset="-128"/>
                          <a:ea typeface="游ゴシック" panose="020B0400000000000000" pitchFamily="50" charset="-128"/>
                        </a:rPr>
                        <a:t>画面項目チェック編集仕様、</a:t>
                      </a:r>
                      <a:r>
                        <a:rPr kumimoji="1" lang="en-US" altLang="zh-TW" sz="1400" dirty="0">
                          <a:latin typeface="游ゴシック" panose="020B0400000000000000" pitchFamily="50" charset="-128"/>
                          <a:ea typeface="游ゴシック" panose="020B0400000000000000" pitchFamily="50" charset="-128"/>
                        </a:rPr>
                        <a:t>UI-05:</a:t>
                      </a:r>
                      <a:r>
                        <a:rPr kumimoji="1" lang="zh-TW" altLang="en-US" sz="1400" dirty="0">
                          <a:latin typeface="游ゴシック" panose="020B0400000000000000" pitchFamily="50" charset="-128"/>
                          <a:ea typeface="游ゴシック" panose="020B0400000000000000" pitchFamily="50" charset="-128"/>
                        </a:rPr>
                        <a:t>帳票項目編集仕様</a:t>
                      </a:r>
                      <a:r>
                        <a:rPr kumimoji="1" lang="ja-JP" altLang="en-US" sz="1400" dirty="0" err="1">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UI-08:CRUD</a:t>
                      </a:r>
                      <a:r>
                        <a:rPr kumimoji="1" lang="ja-JP" altLang="en-US" sz="1400" dirty="0">
                          <a:latin typeface="游ゴシック" panose="020B0400000000000000" pitchFamily="50" charset="-128"/>
                          <a:ea typeface="游ゴシック" panose="020B0400000000000000" pitchFamily="50" charset="-128"/>
                        </a:rPr>
                        <a:t>表（プロセス／テーブルマトリクス）、</a:t>
                      </a:r>
                      <a:r>
                        <a:rPr kumimoji="1" lang="en-US" altLang="ja-JP" sz="1400" dirty="0">
                          <a:latin typeface="游ゴシック" panose="020B0400000000000000" pitchFamily="50" charset="-128"/>
                          <a:ea typeface="游ゴシック" panose="020B0400000000000000" pitchFamily="50" charset="-128"/>
                        </a:rPr>
                        <a:t>UI-09:</a:t>
                      </a:r>
                      <a:r>
                        <a:rPr kumimoji="1" lang="ja-JP" altLang="en-US" sz="1400" dirty="0">
                          <a:latin typeface="游ゴシック" panose="020B0400000000000000" pitchFamily="50" charset="-128"/>
                          <a:ea typeface="游ゴシック" panose="020B0400000000000000" pitchFamily="50" charset="-128"/>
                        </a:rPr>
                        <a:t>画面仕様書</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画面イベント定義／画面遷移図／画面レイアウト／画面項目定義</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err="1">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UI-12:</a:t>
                      </a:r>
                      <a:r>
                        <a:rPr kumimoji="1" lang="ja-JP" altLang="en-US" sz="1400" dirty="0">
                          <a:latin typeface="游ゴシック" panose="020B0400000000000000" pitchFamily="50" charset="-128"/>
                          <a:ea typeface="游ゴシック" panose="020B0400000000000000" pitchFamily="50" charset="-128"/>
                        </a:rPr>
                        <a:t>帳票仕様</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帳票レイアウト／帳票項目定義</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err="1">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UI-14:</a:t>
                      </a:r>
                      <a:r>
                        <a:rPr kumimoji="1" lang="ja-JP" altLang="en-US" sz="1400" dirty="0">
                          <a:latin typeface="游ゴシック" panose="020B0400000000000000" pitchFamily="50" charset="-128"/>
                          <a:ea typeface="游ゴシック" panose="020B0400000000000000" pitchFamily="50" charset="-128"/>
                        </a:rPr>
                        <a:t>外部システムインターフェース一覧、</a:t>
                      </a:r>
                      <a:r>
                        <a:rPr kumimoji="1" lang="en-US" altLang="ja-JP" sz="1400" dirty="0">
                          <a:latin typeface="游ゴシック" panose="020B0400000000000000" pitchFamily="50" charset="-128"/>
                          <a:ea typeface="游ゴシック" panose="020B0400000000000000" pitchFamily="50" charset="-128"/>
                        </a:rPr>
                        <a:t>UI-15:</a:t>
                      </a:r>
                      <a:r>
                        <a:rPr kumimoji="1" lang="ja-JP" altLang="en-US" sz="1400" dirty="0">
                          <a:latin typeface="游ゴシック" panose="020B0400000000000000" pitchFamily="50" charset="-128"/>
                          <a:ea typeface="游ゴシック" panose="020B0400000000000000" pitchFamily="50" charset="-128"/>
                        </a:rPr>
                        <a:t>外部システムインターフェース定義、</a:t>
                      </a:r>
                      <a:r>
                        <a:rPr kumimoji="1" lang="en-US" altLang="ja-JP" sz="1400" dirty="0">
                          <a:latin typeface="游ゴシック" panose="020B0400000000000000" pitchFamily="50" charset="-128"/>
                          <a:ea typeface="游ゴシック" panose="020B0400000000000000" pitchFamily="50" charset="-128"/>
                        </a:rPr>
                        <a:t>UI-22:</a:t>
                      </a:r>
                      <a:r>
                        <a:rPr kumimoji="1" lang="ja-JP" altLang="en-US" sz="1400" dirty="0">
                          <a:latin typeface="游ゴシック" panose="020B0400000000000000" pitchFamily="50" charset="-128"/>
                          <a:ea typeface="游ゴシック" panose="020B0400000000000000" pitchFamily="50" charset="-128"/>
                        </a:rPr>
                        <a:t>業務コード定義、</a:t>
                      </a:r>
                      <a:r>
                        <a:rPr kumimoji="1" lang="en-US" altLang="ja-JP" sz="1400" dirty="0">
                          <a:latin typeface="游ゴシック" panose="020B0400000000000000" pitchFamily="50" charset="-128"/>
                          <a:ea typeface="游ゴシック" panose="020B0400000000000000" pitchFamily="50" charset="-128"/>
                        </a:rPr>
                        <a:t>UI-23 </a:t>
                      </a:r>
                      <a:r>
                        <a:rPr kumimoji="1" lang="ja-JP" altLang="en-US" sz="1400" dirty="0">
                          <a:latin typeface="游ゴシック" panose="020B0400000000000000" pitchFamily="50" charset="-128"/>
                          <a:ea typeface="游ゴシック" panose="020B0400000000000000" pitchFamily="50" charset="-128"/>
                        </a:rPr>
                        <a:t>業務メッセージ定義、</a:t>
                      </a:r>
                      <a:r>
                        <a:rPr kumimoji="1" lang="en-US" altLang="zh-TW" sz="1400" dirty="0">
                          <a:latin typeface="游ゴシック" panose="020B0400000000000000" pitchFamily="50" charset="-128"/>
                          <a:ea typeface="游ゴシック" panose="020B0400000000000000" pitchFamily="50" charset="-128"/>
                        </a:rPr>
                        <a:t>UI-24:</a:t>
                      </a:r>
                      <a:r>
                        <a:rPr kumimoji="1" lang="zh-TW" altLang="en-US" sz="1400" dirty="0">
                          <a:latin typeface="游ゴシック" panose="020B0400000000000000" pitchFamily="50" charset="-128"/>
                          <a:ea typeface="游ゴシック" panose="020B0400000000000000" pitchFamily="50" charset="-128"/>
                        </a:rPr>
                        <a:t>共通機能一覧</a:t>
                      </a:r>
                      <a:r>
                        <a:rPr kumimoji="1" lang="ja-JP" altLang="en-US" sz="1400" dirty="0" err="1">
                          <a:latin typeface="游ゴシック" panose="020B0400000000000000" pitchFamily="50" charset="-128"/>
                          <a:ea typeface="游ゴシック" panose="020B0400000000000000" pitchFamily="50" charset="-128"/>
                        </a:rPr>
                        <a:t>、</a:t>
                      </a:r>
                      <a:r>
                        <a:rPr kumimoji="1" lang="en-US" altLang="ja-JP" sz="1400" dirty="0">
                          <a:latin typeface="游ゴシック" panose="020B0400000000000000" pitchFamily="50" charset="-128"/>
                          <a:ea typeface="游ゴシック" panose="020B0400000000000000" pitchFamily="50" charset="-128"/>
                        </a:rPr>
                        <a:t>UI-25:</a:t>
                      </a:r>
                      <a:r>
                        <a:rPr kumimoji="1" lang="ja-JP" altLang="en-US" sz="1400" dirty="0">
                          <a:latin typeface="游ゴシック" panose="020B0400000000000000" pitchFamily="50" charset="-128"/>
                          <a:ea typeface="游ゴシック" panose="020B0400000000000000" pitchFamily="50" charset="-128"/>
                        </a:rPr>
                        <a:t>共通プログラム機能定義、</a:t>
                      </a:r>
                      <a:r>
                        <a:rPr kumimoji="1" lang="en-US" altLang="ja-JP" sz="1400" dirty="0">
                          <a:latin typeface="游ゴシック" panose="020B0400000000000000" pitchFamily="50" charset="-128"/>
                          <a:ea typeface="游ゴシック" panose="020B0400000000000000" pitchFamily="50" charset="-128"/>
                        </a:rPr>
                        <a:t>UI-28:</a:t>
                      </a:r>
                      <a:r>
                        <a:rPr kumimoji="1" lang="ja-JP" altLang="en-US" sz="1400" dirty="0">
                          <a:latin typeface="游ゴシック" panose="020B0400000000000000" pitchFamily="50" charset="-128"/>
                          <a:ea typeface="游ゴシック" panose="020B0400000000000000" pitchFamily="50" charset="-128"/>
                        </a:rPr>
                        <a:t>全体テスト計画</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r h="737107">
                <a:tc>
                  <a:txBody>
                    <a:bodyPr/>
                    <a:lstStyle/>
                    <a:p>
                      <a:r>
                        <a:rPr kumimoji="1" lang="ja-JP" altLang="en-US" sz="1400" b="0" dirty="0">
                          <a:latin typeface="游ゴシック" panose="020B0400000000000000" pitchFamily="50" charset="-128"/>
                          <a:ea typeface="游ゴシック" panose="020B0400000000000000" pitchFamily="50" charset="-128"/>
                        </a:rPr>
                        <a:t>システム構造設計 </a:t>
                      </a:r>
                      <a:r>
                        <a:rPr kumimoji="1" lang="en-US" altLang="ja-JP" sz="1400" b="0" dirty="0">
                          <a:latin typeface="游ゴシック" panose="020B0400000000000000" pitchFamily="50" charset="-128"/>
                          <a:ea typeface="游ゴシック" panose="020B0400000000000000" pitchFamily="50" charset="-128"/>
                        </a:rPr>
                        <a:t>(SS)</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SS-01:</a:t>
                      </a:r>
                      <a:r>
                        <a:rPr kumimoji="1" lang="ja-JP" altLang="en-US" sz="1400" dirty="0">
                          <a:latin typeface="游ゴシック" panose="020B0400000000000000" pitchFamily="50" charset="-128"/>
                          <a:ea typeface="游ゴシック" panose="020B0400000000000000" pitchFamily="50" charset="-128"/>
                        </a:rPr>
                        <a:t>プログラム一覧、</a:t>
                      </a:r>
                      <a:r>
                        <a:rPr kumimoji="1" lang="en-US" altLang="ja-JP" sz="1400" dirty="0">
                          <a:latin typeface="游ゴシック" panose="020B0400000000000000" pitchFamily="50" charset="-128"/>
                          <a:ea typeface="游ゴシック" panose="020B0400000000000000" pitchFamily="50" charset="-128"/>
                        </a:rPr>
                        <a:t>SS-03 </a:t>
                      </a:r>
                      <a:r>
                        <a:rPr kumimoji="1" lang="ja-JP" altLang="en-US" sz="1400" dirty="0">
                          <a:latin typeface="游ゴシック" panose="020B0400000000000000" pitchFamily="50" charset="-128"/>
                          <a:ea typeface="游ゴシック" panose="020B0400000000000000" pitchFamily="50" charset="-128"/>
                        </a:rPr>
                        <a:t>プログラム機能定義（プロセス毎）、</a:t>
                      </a:r>
                      <a:r>
                        <a:rPr kumimoji="1" lang="en-US" altLang="ja-JP" sz="1400" dirty="0">
                          <a:latin typeface="游ゴシック" panose="020B0400000000000000" pitchFamily="50" charset="-128"/>
                          <a:ea typeface="游ゴシック" panose="020B0400000000000000" pitchFamily="50" charset="-128"/>
                        </a:rPr>
                        <a:t>SS-14:</a:t>
                      </a:r>
                      <a:r>
                        <a:rPr kumimoji="1" lang="ja-JP" altLang="en-US" sz="1400" dirty="0">
                          <a:latin typeface="游ゴシック" panose="020B0400000000000000" pitchFamily="50" charset="-128"/>
                          <a:ea typeface="游ゴシック" panose="020B0400000000000000" pitchFamily="50" charset="-128"/>
                        </a:rPr>
                        <a:t>ジョブネット一覧、</a:t>
                      </a:r>
                      <a:r>
                        <a:rPr kumimoji="1" lang="en-US" altLang="ja-JP" sz="1400" dirty="0">
                          <a:latin typeface="游ゴシック" panose="020B0400000000000000" pitchFamily="50" charset="-128"/>
                          <a:ea typeface="游ゴシック" panose="020B0400000000000000" pitchFamily="50" charset="-128"/>
                        </a:rPr>
                        <a:t>SS-16:</a:t>
                      </a:r>
                      <a:r>
                        <a:rPr kumimoji="1" lang="ja-JP" altLang="en-US" sz="1400" dirty="0">
                          <a:latin typeface="游ゴシック" panose="020B0400000000000000" pitchFamily="50" charset="-128"/>
                          <a:ea typeface="游ゴシック" panose="020B0400000000000000" pitchFamily="50" charset="-128"/>
                        </a:rPr>
                        <a:t>共通プログラム機能詳細定義、</a:t>
                      </a:r>
                      <a:r>
                        <a:rPr kumimoji="1" lang="en-US" altLang="ja-JP" sz="1400" dirty="0">
                          <a:latin typeface="游ゴシック" panose="020B0400000000000000" pitchFamily="50" charset="-128"/>
                          <a:ea typeface="游ゴシック" panose="020B0400000000000000" pitchFamily="50" charset="-128"/>
                        </a:rPr>
                        <a:t>SS-20:</a:t>
                      </a:r>
                      <a:r>
                        <a:rPr kumimoji="1" lang="ja-JP" altLang="en-US" sz="1400" dirty="0">
                          <a:latin typeface="游ゴシック" panose="020B0400000000000000" pitchFamily="50" charset="-128"/>
                          <a:ea typeface="游ゴシック" panose="020B0400000000000000" pitchFamily="50" charset="-128"/>
                        </a:rPr>
                        <a:t>結合テスト計画書、</a:t>
                      </a:r>
                      <a:r>
                        <a:rPr kumimoji="1" lang="en-US" altLang="ja-JP" sz="1400" dirty="0">
                          <a:latin typeface="游ゴシック" panose="020B0400000000000000" pitchFamily="50" charset="-128"/>
                          <a:ea typeface="游ゴシック" panose="020B0400000000000000" pitchFamily="50" charset="-128"/>
                        </a:rPr>
                        <a:t>SS-17:</a:t>
                      </a:r>
                      <a:r>
                        <a:rPr kumimoji="1" lang="ja-JP" altLang="en-US" sz="1400" dirty="0">
                          <a:latin typeface="游ゴシック" panose="020B0400000000000000" pitchFamily="50" charset="-128"/>
                          <a:ea typeface="游ゴシック" panose="020B0400000000000000" pitchFamily="50" charset="-128"/>
                        </a:rPr>
                        <a:t>システムテスト計画書、</a:t>
                      </a:r>
                      <a:r>
                        <a:rPr kumimoji="1" lang="en-US" altLang="ja-JP" sz="1400" dirty="0">
                          <a:latin typeface="游ゴシック" panose="020B0400000000000000" pitchFamily="50" charset="-128"/>
                          <a:ea typeface="游ゴシック" panose="020B0400000000000000" pitchFamily="50" charset="-128"/>
                        </a:rPr>
                        <a:t>SS-19:</a:t>
                      </a:r>
                      <a:r>
                        <a:rPr kumimoji="1" lang="ja-JP" altLang="en-US" sz="1400" dirty="0">
                          <a:latin typeface="游ゴシック" panose="020B0400000000000000" pitchFamily="50" charset="-128"/>
                          <a:ea typeface="游ゴシック" panose="020B0400000000000000" pitchFamily="50" charset="-128"/>
                        </a:rPr>
                        <a:t>アプリケーション運用設計書</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16249">
                <a:tc>
                  <a:txBody>
                    <a:bodyPr/>
                    <a:lstStyle/>
                    <a:p>
                      <a:r>
                        <a:rPr kumimoji="1" lang="ja-JP" altLang="en-US" sz="1400" b="0" dirty="0">
                          <a:latin typeface="游ゴシック" panose="020B0400000000000000" pitchFamily="50" charset="-128"/>
                          <a:ea typeface="游ゴシック" panose="020B0400000000000000" pitchFamily="50" charset="-128"/>
                        </a:rPr>
                        <a:t>プログラミング</a:t>
                      </a:r>
                      <a:r>
                        <a:rPr kumimoji="1" lang="en-US" altLang="ja-JP" sz="1400" b="0" dirty="0">
                          <a:latin typeface="游ゴシック" panose="020B0400000000000000" pitchFamily="50" charset="-128"/>
                          <a:ea typeface="游ゴシック" panose="020B0400000000000000" pitchFamily="50" charset="-128"/>
                        </a:rPr>
                        <a:t>(PS/PG/PT)</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l" latinLnBrk="1"/>
                      <a:r>
                        <a:rPr kumimoji="1" lang="ja-JP" altLang="en-US" sz="1400" dirty="0">
                          <a:latin typeface="游ゴシック" panose="020B0400000000000000" pitchFamily="50" charset="-128"/>
                          <a:ea typeface="游ゴシック" panose="020B0400000000000000" pitchFamily="50" charset="-128"/>
                        </a:rPr>
                        <a:t>プログラムソース、</a:t>
                      </a:r>
                      <a:r>
                        <a:rPr kumimoji="1" lang="en-US" altLang="ja-JP" sz="1400" dirty="0">
                          <a:latin typeface="游ゴシック" panose="020B0400000000000000" pitchFamily="50" charset="-128"/>
                          <a:ea typeface="游ゴシック" panose="020B0400000000000000" pitchFamily="50" charset="-128"/>
                        </a:rPr>
                        <a:t>PG-01:</a:t>
                      </a:r>
                      <a:r>
                        <a:rPr kumimoji="1" lang="ja-JP" altLang="en-US" sz="1400" dirty="0">
                          <a:latin typeface="游ゴシック" panose="020B0400000000000000" pitchFamily="50" charset="-128"/>
                          <a:ea typeface="游ゴシック" panose="020B0400000000000000" pitchFamily="50" charset="-128"/>
                        </a:rPr>
                        <a:t>プログラムテスト結果報告書（プロセス毎）、</a:t>
                      </a:r>
                      <a:endParaRPr kumimoji="1" lang="en-US" altLang="ja-JP" sz="1400" dirty="0">
                        <a:latin typeface="游ゴシック" panose="020B0400000000000000" pitchFamily="50" charset="-128"/>
                        <a:ea typeface="游ゴシック" panose="020B0400000000000000" pitchFamily="50" charset="-128"/>
                      </a:endParaRPr>
                    </a:p>
                    <a:p>
                      <a:pPr algn="l" latinLnBrk="1"/>
                      <a:r>
                        <a:rPr kumimoji="1" lang="en-US" altLang="ja-JP" sz="1400" dirty="0">
                          <a:latin typeface="游ゴシック" panose="020B0400000000000000" pitchFamily="50" charset="-128"/>
                          <a:ea typeface="游ゴシック" panose="020B0400000000000000" pitchFamily="50" charset="-128"/>
                        </a:rPr>
                        <a:t>PS-03 SQL</a:t>
                      </a:r>
                      <a:r>
                        <a:rPr kumimoji="1" lang="ja-JP" altLang="en-US" sz="1400" dirty="0">
                          <a:latin typeface="游ゴシック" panose="020B0400000000000000" pitchFamily="50" charset="-128"/>
                          <a:ea typeface="游ゴシック" panose="020B0400000000000000" pitchFamily="50" charset="-128"/>
                        </a:rPr>
                        <a:t>仕様（</a:t>
                      </a:r>
                      <a:r>
                        <a:rPr kumimoji="1" lang="en-US" altLang="ja-JP" sz="1400" dirty="0" err="1">
                          <a:latin typeface="游ゴシック" panose="020B0400000000000000" pitchFamily="50" charset="-128"/>
                          <a:ea typeface="游ゴシック" panose="020B0400000000000000" pitchFamily="50" charset="-128"/>
                        </a:rPr>
                        <a:t>KeySQL</a:t>
                      </a:r>
                      <a:r>
                        <a:rPr kumimoji="1" lang="ja-JP" altLang="en-US" sz="1400" dirty="0">
                          <a:latin typeface="游ゴシック" panose="020B0400000000000000" pitchFamily="50" charset="-128"/>
                          <a:ea typeface="游ゴシック" panose="020B0400000000000000" pitchFamily="50" charset="-128"/>
                        </a:rPr>
                        <a:t>帳票）</a:t>
                      </a:r>
                      <a:endParaRPr kumimoji="1" lang="en-US" altLang="ja-JP" sz="1400" dirty="0">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95390">
                <a:tc>
                  <a:txBody>
                    <a:bodyPr/>
                    <a:lstStyle/>
                    <a:p>
                      <a:r>
                        <a:rPr kumimoji="1" lang="ja-JP" altLang="en-US" sz="1400" b="0" dirty="0">
                          <a:latin typeface="游ゴシック" panose="020B0400000000000000" pitchFamily="50" charset="-128"/>
                          <a:ea typeface="游ゴシック" panose="020B0400000000000000" pitchFamily="50" charset="-128"/>
                        </a:rPr>
                        <a:t>結合テスト </a:t>
                      </a:r>
                      <a:r>
                        <a:rPr kumimoji="1" lang="en-US" altLang="ja-JP" sz="1400" b="0" dirty="0">
                          <a:latin typeface="游ゴシック" panose="020B0400000000000000" pitchFamily="50" charset="-128"/>
                          <a:ea typeface="游ゴシック" panose="020B0400000000000000" pitchFamily="50" charset="-128"/>
                        </a:rPr>
                        <a:t>(IT)</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PT-01:</a:t>
                      </a:r>
                      <a:r>
                        <a:rPr kumimoji="1" lang="ja-JP" altLang="en-US" sz="1400" dirty="0">
                          <a:latin typeface="游ゴシック" panose="020B0400000000000000" pitchFamily="50" charset="-128"/>
                          <a:ea typeface="游ゴシック" panose="020B0400000000000000" pitchFamily="50" charset="-128"/>
                        </a:rPr>
                        <a:t>結合テスト仕様書兼成績書（プロセス毎）、</a:t>
                      </a:r>
                      <a:r>
                        <a:rPr kumimoji="1" lang="en-US" altLang="ja-JP" sz="1400" dirty="0">
                          <a:latin typeface="游ゴシック" panose="020B0400000000000000" pitchFamily="50" charset="-128"/>
                          <a:ea typeface="游ゴシック" panose="020B0400000000000000" pitchFamily="50" charset="-128"/>
                        </a:rPr>
                        <a:t>IT-02:</a:t>
                      </a:r>
                      <a:r>
                        <a:rPr kumimoji="1" lang="ja-JP" altLang="en-US" sz="1400" dirty="0">
                          <a:latin typeface="游ゴシック" panose="020B0400000000000000" pitchFamily="50" charset="-128"/>
                          <a:ea typeface="游ゴシック" panose="020B0400000000000000" pitchFamily="50" charset="-128"/>
                        </a:rPr>
                        <a:t>利用者マニュアル、</a:t>
                      </a:r>
                      <a:r>
                        <a:rPr kumimoji="1" lang="en-US" altLang="ja-JP" sz="1400" dirty="0">
                          <a:latin typeface="游ゴシック" panose="020B0400000000000000" pitchFamily="50" charset="-128"/>
                          <a:ea typeface="游ゴシック" panose="020B0400000000000000" pitchFamily="50" charset="-128"/>
                        </a:rPr>
                        <a:t>IT-03:</a:t>
                      </a:r>
                      <a:r>
                        <a:rPr kumimoji="1" lang="ja-JP" altLang="en-US" sz="1400" dirty="0">
                          <a:latin typeface="游ゴシック" panose="020B0400000000000000" pitchFamily="50" charset="-128"/>
                          <a:ea typeface="游ゴシック" panose="020B0400000000000000" pitchFamily="50" charset="-128"/>
                        </a:rPr>
                        <a:t>不具合一覧</a:t>
                      </a:r>
                      <a:endParaRPr kumimoji="1" lang="en-US" altLang="ja-JP" sz="1400" dirty="0">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295390">
                <a:tc>
                  <a:txBody>
                    <a:bodyPr/>
                    <a:lstStyle/>
                    <a:p>
                      <a:r>
                        <a:rPr kumimoji="1" lang="ja-JP" altLang="en-US" sz="1400" b="0" dirty="0">
                          <a:latin typeface="游ゴシック" panose="020B0400000000000000" pitchFamily="50" charset="-128"/>
                          <a:ea typeface="游ゴシック" panose="020B0400000000000000" pitchFamily="50" charset="-128"/>
                        </a:rPr>
                        <a:t>システムテスト </a:t>
                      </a:r>
                      <a:r>
                        <a:rPr kumimoji="1" lang="en-US" altLang="ja-JP" sz="1400" b="0" dirty="0">
                          <a:latin typeface="游ゴシック" panose="020B0400000000000000" pitchFamily="50" charset="-128"/>
                          <a:ea typeface="游ゴシック" panose="020B0400000000000000" pitchFamily="50" charset="-128"/>
                        </a:rPr>
                        <a:t>(ST)</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IT-01:</a:t>
                      </a:r>
                      <a:r>
                        <a:rPr kumimoji="1" lang="ja-JP" altLang="en-US" sz="1400" dirty="0">
                          <a:latin typeface="游ゴシック" panose="020B0400000000000000" pitchFamily="50" charset="-128"/>
                          <a:ea typeface="游ゴシック" panose="020B0400000000000000" pitchFamily="50" charset="-128"/>
                        </a:rPr>
                        <a:t>システムテスト仕様書兼成績書、</a:t>
                      </a:r>
                      <a:r>
                        <a:rPr kumimoji="1" lang="en-US" altLang="ja-JP" sz="1400" dirty="0">
                          <a:latin typeface="游ゴシック" panose="020B0400000000000000" pitchFamily="50" charset="-128"/>
                          <a:ea typeface="游ゴシック" panose="020B0400000000000000" pitchFamily="50" charset="-128"/>
                        </a:rPr>
                        <a:t>ST-02:</a:t>
                      </a:r>
                      <a:r>
                        <a:rPr kumimoji="1" lang="ja-JP" altLang="en-US" sz="1400" dirty="0">
                          <a:latin typeface="游ゴシック" panose="020B0400000000000000" pitchFamily="50" charset="-128"/>
                          <a:ea typeface="游ゴシック" panose="020B0400000000000000" pitchFamily="50" charset="-128"/>
                        </a:rPr>
                        <a:t>不具合一覧</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295390">
                <a:tc>
                  <a:txBody>
                    <a:bodyPr/>
                    <a:lstStyle/>
                    <a:p>
                      <a:r>
                        <a:rPr kumimoji="1" lang="ja-JP" altLang="en-US" sz="1400" b="0" dirty="0">
                          <a:latin typeface="游ゴシック" panose="020B0400000000000000" pitchFamily="50" charset="-128"/>
                          <a:ea typeface="游ゴシック" panose="020B0400000000000000" pitchFamily="50" charset="-128"/>
                        </a:rPr>
                        <a:t>運用テスト </a:t>
                      </a:r>
                      <a:r>
                        <a:rPr kumimoji="1" lang="en-US" altLang="ja-JP" sz="1400" b="0" dirty="0">
                          <a:latin typeface="游ゴシック" panose="020B0400000000000000" pitchFamily="50" charset="-128"/>
                          <a:ea typeface="游ゴシック" panose="020B0400000000000000" pitchFamily="50" charset="-128"/>
                        </a:rPr>
                        <a:t>(OT)</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運用テスト問合せ一覧</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2953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本番移行</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zh-TW" altLang="en-US" sz="1400" dirty="0">
                          <a:latin typeface="游ゴシック" panose="020B0400000000000000" pitchFamily="50" charset="-128"/>
                          <a:ea typeface="游ゴシック" panose="020B0400000000000000" pitchFamily="50" charset="-128"/>
                        </a:rPr>
                        <a:t>移行方式設計書</a:t>
                      </a:r>
                      <a:endParaRPr kumimoji="1" lang="ja-JP" altLang="en-US" sz="1400" dirty="0">
                        <a:latin typeface="游ゴシック" panose="020B0400000000000000" pitchFamily="50" charset="-128"/>
                        <a:ea typeface="游ゴシック" panose="020B0400000000000000" pitchFamily="50" charset="-128"/>
                      </a:endParaRP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r h="2953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初期流動</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初期流動問合せ一覧</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35262920"/>
                  </a:ext>
                </a:extLst>
              </a:tr>
              <a:tr h="2953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保守</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保守作業報告書（</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 毎月提出）</a:t>
                      </a:r>
                    </a:p>
                  </a:txBody>
                  <a:tcPr marL="72000" marR="72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80585588"/>
                  </a:ext>
                </a:extLst>
              </a:tr>
            </a:tbl>
          </a:graphicData>
        </a:graphic>
      </p:graphicFrame>
    </p:spTree>
    <p:extLst>
      <p:ext uri="{BB962C8B-B14F-4D97-AF65-F5344CB8AC3E}">
        <p14:creationId xmlns:p14="http://schemas.microsoft.com/office/powerpoint/2010/main" val="26139212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プロジェクトの体制</a:t>
            </a:r>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3"/>
          </p:nvPr>
        </p:nvSpPr>
        <p:spPr/>
        <p:txBody>
          <a:bodyPr/>
          <a:lstStyle/>
          <a:p>
            <a:fld id="{74395F4E-A786-454B-9285-EF3DEA272B37}" type="slidenum">
              <a:rPr lang="ja-JP" altLang="en-US" smtClean="0"/>
              <a:pPr/>
              <a:t>44</a:t>
            </a:fld>
            <a:endParaRPr lang="ja-JP" altLang="en-US"/>
          </a:p>
        </p:txBody>
      </p:sp>
    </p:spTree>
    <p:extLst>
      <p:ext uri="{BB962C8B-B14F-4D97-AF65-F5344CB8AC3E}">
        <p14:creationId xmlns:p14="http://schemas.microsoft.com/office/powerpoint/2010/main" val="22554022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開発体制（システム方式設計～運用テスト）</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45</a:t>
            </a:fld>
            <a:endParaRPr kumimoji="1" lang="ja-JP" altLang="en-US"/>
          </a:p>
        </p:txBody>
      </p:sp>
      <p:sp>
        <p:nvSpPr>
          <p:cNvPr id="13" name="テキスト ボックス 12"/>
          <p:cNvSpPr txBox="1"/>
          <p:nvPr/>
        </p:nvSpPr>
        <p:spPr>
          <a:xfrm>
            <a:off x="5832000" y="5184000"/>
            <a:ext cx="3168000" cy="1224000"/>
          </a:xfrm>
          <a:prstGeom prst="rect">
            <a:avLst/>
          </a:prstGeom>
          <a:noFill/>
        </p:spPr>
        <p:txBody>
          <a:bodyPr wrap="square" rtlCol="0">
            <a:spAutoFit/>
          </a:bodyPr>
          <a:lstStyle/>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cs typeface="メイリオ" pitchFamily="50" charset="-128"/>
              </a:rPr>
              <a:t>表記の体制は弊社協力会社（再委託）の要員を含めた体制となります。</a:t>
            </a:r>
            <a:endParaRPr lang="en-US" altLang="ja-JP" sz="1200" dirty="0">
              <a:latin typeface="游ゴシック" panose="020B0400000000000000" pitchFamily="50" charset="-128"/>
              <a:ea typeface="游ゴシック" panose="020B0400000000000000" pitchFamily="50" charset="-128"/>
              <a:cs typeface="メイリオ" pitchFamily="50" charset="-128"/>
            </a:endParaRPr>
          </a:p>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cs typeface="メイリオ" pitchFamily="50" charset="-128"/>
              </a:rPr>
              <a:t>チームメンバー数はピーク時に想定している人数となります。</a:t>
            </a:r>
            <a:endParaRPr lang="en-US" altLang="ja-JP" sz="1200" dirty="0">
              <a:latin typeface="游ゴシック" panose="020B0400000000000000" pitchFamily="50" charset="-128"/>
              <a:ea typeface="游ゴシック" panose="020B0400000000000000" pitchFamily="50" charset="-128"/>
              <a:cs typeface="メイリオ" pitchFamily="50" charset="-128"/>
            </a:endParaRPr>
          </a:p>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cs typeface="メイリオ" pitchFamily="50" charset="-128"/>
              </a:rPr>
              <a:t>ベトナム開発チームの作業場所はシステムエグゼベトナムのオフィスとなります。</a:t>
            </a:r>
            <a:endParaRPr lang="en-US" altLang="ja-JP" sz="1200" dirty="0">
              <a:latin typeface="游ゴシック" panose="020B0400000000000000" pitchFamily="50" charset="-128"/>
              <a:ea typeface="游ゴシック" panose="020B0400000000000000" pitchFamily="50" charset="-128"/>
              <a:cs typeface="メイリオ" pitchFamily="50" charset="-128"/>
            </a:endParaRPr>
          </a:p>
        </p:txBody>
      </p:sp>
      <p:sp>
        <p:nvSpPr>
          <p:cNvPr id="69" name="テキスト ボックス 68"/>
          <p:cNvSpPr txBox="1">
            <a:spLocks/>
          </p:cNvSpPr>
          <p:nvPr/>
        </p:nvSpPr>
        <p:spPr>
          <a:xfrm>
            <a:off x="144000" y="864000"/>
            <a:ext cx="8856000" cy="540000"/>
          </a:xfrm>
          <a:prstGeom prst="rect">
            <a:avLst/>
          </a:prstGeom>
          <a:noFill/>
        </p:spPr>
        <p:txBody>
          <a:bodyPr wrap="square" rtlCol="0">
            <a:noAutofit/>
          </a:bodyPr>
          <a:lstStyle/>
          <a:p>
            <a:pPr algn="ctr"/>
            <a:r>
              <a:rPr kumimoji="1" lang="ja-JP" altLang="en-US" sz="1400" dirty="0">
                <a:latin typeface="游ゴシック" panose="020B0400000000000000" pitchFamily="50" charset="-128"/>
                <a:ea typeface="游ゴシック" panose="020B0400000000000000" pitchFamily="50" charset="-128"/>
              </a:rPr>
              <a:t>アプリ開発チーム、</a:t>
            </a:r>
            <a:r>
              <a:rPr kumimoji="1" lang="en-US" altLang="ja-JP" sz="1400" dirty="0">
                <a:latin typeface="游ゴシック" panose="020B0400000000000000" pitchFamily="50" charset="-128"/>
                <a:ea typeface="游ゴシック" panose="020B0400000000000000" pitchFamily="50" charset="-128"/>
              </a:rPr>
              <a:t>IF</a:t>
            </a:r>
            <a:r>
              <a:rPr kumimoji="1" lang="ja-JP" altLang="en-US" sz="1400" dirty="0">
                <a:latin typeface="游ゴシック" panose="020B0400000000000000" pitchFamily="50" charset="-128"/>
                <a:ea typeface="游ゴシック" panose="020B0400000000000000" pitchFamily="50" charset="-128"/>
              </a:rPr>
              <a:t>・バッチ開発チーム、移行チーム、ベトナム開発チームの</a:t>
            </a:r>
            <a:endParaRPr kumimoji="1"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４チームで体制を構築します。</a:t>
            </a:r>
            <a:endParaRPr kumimoji="1" lang="en-US" altLang="ja-JP" sz="1400" dirty="0">
              <a:latin typeface="游ゴシック" panose="020B0400000000000000" pitchFamily="50" charset="-128"/>
              <a:ea typeface="游ゴシック" panose="020B0400000000000000" pitchFamily="50" charset="-128"/>
            </a:endParaRPr>
          </a:p>
          <a:p>
            <a:pPr algn="ctr"/>
            <a:r>
              <a:rPr lang="ja-JP" altLang="en-US" sz="1400" b="1" dirty="0">
                <a:solidFill>
                  <a:schemeClr val="accent1"/>
                </a:solidFill>
                <a:latin typeface="游ゴシック" panose="020B0400000000000000" pitchFamily="50" charset="-128"/>
                <a:ea typeface="游ゴシック" panose="020B0400000000000000" pitchFamily="50" charset="-128"/>
              </a:rPr>
              <a:t>プロジェクトマネージャー・</a:t>
            </a:r>
            <a:r>
              <a:rPr lang="en-US" altLang="ja-JP" sz="1400" b="1" dirty="0">
                <a:solidFill>
                  <a:schemeClr val="accent1"/>
                </a:solidFill>
                <a:latin typeface="游ゴシック" panose="020B0400000000000000" pitchFamily="50" charset="-128"/>
                <a:ea typeface="游ゴシック" panose="020B0400000000000000" pitchFamily="50" charset="-128"/>
              </a:rPr>
              <a:t>PMO</a:t>
            </a:r>
            <a:r>
              <a:rPr lang="ja-JP" altLang="en-US" sz="1400" b="1" dirty="0">
                <a:solidFill>
                  <a:schemeClr val="accent1"/>
                </a:solidFill>
                <a:latin typeface="游ゴシック" panose="020B0400000000000000" pitchFamily="50" charset="-128"/>
                <a:ea typeface="游ゴシック" panose="020B0400000000000000" pitchFamily="50" charset="-128"/>
              </a:rPr>
              <a:t>・チームリーダーには、貴社の開発業務に精通した要員を配置します。</a:t>
            </a:r>
            <a:endParaRPr kumimoji="1" lang="ja-JP" altLang="en-US" sz="1400" b="1" dirty="0">
              <a:solidFill>
                <a:schemeClr val="accent1"/>
              </a:solidFill>
              <a:latin typeface="游ゴシック" panose="020B0400000000000000" pitchFamily="50" charset="-128"/>
              <a:ea typeface="游ゴシック" panose="020B0400000000000000" pitchFamily="50" charset="-128"/>
            </a:endParaRPr>
          </a:p>
        </p:txBody>
      </p:sp>
      <p:grpSp>
        <p:nvGrpSpPr>
          <p:cNvPr id="3" name="グループ化 2"/>
          <p:cNvGrpSpPr/>
          <p:nvPr/>
        </p:nvGrpSpPr>
        <p:grpSpPr>
          <a:xfrm>
            <a:off x="720000" y="1728000"/>
            <a:ext cx="7704000" cy="4464000"/>
            <a:chOff x="720000" y="1656000"/>
            <a:chExt cx="7704000" cy="4464000"/>
          </a:xfrm>
        </p:grpSpPr>
        <p:cxnSp>
          <p:nvCxnSpPr>
            <p:cNvPr id="8" name="直線コネクタ 7"/>
            <p:cNvCxnSpPr>
              <a:stCxn id="10" idx="2"/>
              <a:endCxn id="11" idx="0"/>
            </p:cNvCxnSpPr>
            <p:nvPr/>
          </p:nvCxnSpPr>
          <p:spPr>
            <a:xfrm>
              <a:off x="4572000" y="2592000"/>
              <a:ext cx="0" cy="144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3348000" y="1656000"/>
              <a:ext cx="2448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プロジェクト責任者</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0" name="正方形/長方形 9"/>
            <p:cNvSpPr/>
            <p:nvPr/>
          </p:nvSpPr>
          <p:spPr>
            <a:xfrm>
              <a:off x="3348000" y="1944000"/>
              <a:ext cx="2448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福田慎</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1" name="正方形/長方形 10"/>
            <p:cNvSpPr/>
            <p:nvPr/>
          </p:nvSpPr>
          <p:spPr>
            <a:xfrm>
              <a:off x="3348000" y="2520000"/>
              <a:ext cx="2448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プロジェクトマネージャー</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3348000" y="2808000"/>
              <a:ext cx="2448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小林紀昭</a:t>
              </a:r>
            </a:p>
          </p:txBody>
        </p:sp>
        <p:cxnSp>
          <p:nvCxnSpPr>
            <p:cNvPr id="18" name="カギ線コネクタ 17"/>
            <p:cNvCxnSpPr>
              <a:stCxn id="58" idx="2"/>
              <a:endCxn id="33" idx="3"/>
            </p:cNvCxnSpPr>
            <p:nvPr/>
          </p:nvCxnSpPr>
          <p:spPr>
            <a:xfrm rot="5400000">
              <a:off x="2988000" y="2448000"/>
              <a:ext cx="396000" cy="2772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8" name="グループ化 67"/>
            <p:cNvGrpSpPr/>
            <p:nvPr/>
          </p:nvGrpSpPr>
          <p:grpSpPr>
            <a:xfrm>
              <a:off x="6264000" y="3024000"/>
              <a:ext cx="2160000" cy="648000"/>
              <a:chOff x="6228000" y="2952000"/>
              <a:chExt cx="1944000" cy="648000"/>
            </a:xfrm>
          </p:grpSpPr>
          <p:sp>
            <p:nvSpPr>
              <p:cNvPr id="30" name="正方形/長方形 29"/>
              <p:cNvSpPr/>
              <p:nvPr/>
            </p:nvSpPr>
            <p:spPr>
              <a:xfrm>
                <a:off x="6228000" y="2952000"/>
                <a:ext cx="1944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ブリッジ</a:t>
                </a:r>
                <a:r>
                  <a:rPr lang="en-US" altLang="ja-JP" sz="1400" b="1" dirty="0">
                    <a:solidFill>
                      <a:schemeClr val="bg1"/>
                    </a:solidFill>
                    <a:latin typeface="游ゴシック" panose="020B0400000000000000" pitchFamily="50" charset="-128"/>
                    <a:ea typeface="游ゴシック" panose="020B0400000000000000" pitchFamily="50" charset="-128"/>
                  </a:rPr>
                  <a:t>SE</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31" name="正方形/長方形 30"/>
              <p:cNvSpPr/>
              <p:nvPr/>
            </p:nvSpPr>
            <p:spPr>
              <a:xfrm>
                <a:off x="6228000" y="3240000"/>
                <a:ext cx="1944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グエンハイアイン</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cxnSp>
          <p:nvCxnSpPr>
            <p:cNvPr id="32" name="カギ線コネクタ 31"/>
            <p:cNvCxnSpPr>
              <a:stCxn id="58" idx="2"/>
              <a:endCxn id="35" idx="3"/>
            </p:cNvCxnSpPr>
            <p:nvPr/>
          </p:nvCxnSpPr>
          <p:spPr>
            <a:xfrm rot="16200000" flipH="1">
              <a:off x="5760000" y="2448000"/>
              <a:ext cx="396000" cy="2772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6" name="グループ化 65"/>
            <p:cNvGrpSpPr/>
            <p:nvPr/>
          </p:nvGrpSpPr>
          <p:grpSpPr>
            <a:xfrm>
              <a:off x="720000" y="2808000"/>
              <a:ext cx="2160000" cy="864000"/>
              <a:chOff x="972000" y="2916000"/>
              <a:chExt cx="1944000" cy="864000"/>
            </a:xfrm>
          </p:grpSpPr>
          <p:sp>
            <p:nvSpPr>
              <p:cNvPr id="38" name="正方形/長方形 37"/>
              <p:cNvSpPr/>
              <p:nvPr/>
            </p:nvSpPr>
            <p:spPr>
              <a:xfrm>
                <a:off x="972000" y="2916000"/>
                <a:ext cx="1944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b="1" dirty="0">
                    <a:solidFill>
                      <a:schemeClr val="bg1"/>
                    </a:solidFill>
                    <a:latin typeface="游ゴシック" panose="020B0400000000000000" pitchFamily="50" charset="-128"/>
                    <a:ea typeface="游ゴシック" panose="020B0400000000000000" pitchFamily="50" charset="-128"/>
                  </a:rPr>
                  <a:t>PMO</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44" name="正方形/長方形 43"/>
              <p:cNvSpPr/>
              <p:nvPr/>
            </p:nvSpPr>
            <p:spPr>
              <a:xfrm>
                <a:off x="972000" y="3204000"/>
                <a:ext cx="1944000" cy="576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福田一希</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メンバー </a:t>
                </a:r>
                <a:r>
                  <a:rPr lang="en-US" altLang="ja-JP" sz="1400" dirty="0">
                    <a:solidFill>
                      <a:schemeClr val="tx1"/>
                    </a:solidFill>
                    <a:latin typeface="游ゴシック" panose="020B0400000000000000" pitchFamily="50" charset="-128"/>
                    <a:ea typeface="游ゴシック" panose="020B0400000000000000" pitchFamily="50" charset="-128"/>
                  </a:rPr>
                  <a:t>1</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sp>
          <p:nvSpPr>
            <p:cNvPr id="33" name="片側の 2 つの角を丸めた四角形 32"/>
            <p:cNvSpPr/>
            <p:nvPr/>
          </p:nvSpPr>
          <p:spPr>
            <a:xfrm>
              <a:off x="720000" y="4032000"/>
              <a:ext cx="2160000" cy="360000"/>
            </a:xfrm>
            <a:prstGeom prst="round2SameRect">
              <a:avLst>
                <a:gd name="adj1" fmla="val 17639"/>
                <a:gd name="adj2" fmla="val 0"/>
              </a:avLst>
            </a:prstGeom>
            <a:solidFill>
              <a:schemeClr val="accent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画面・帳票開発チーム</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34" name="正方形/長方形 33"/>
            <p:cNvSpPr/>
            <p:nvPr/>
          </p:nvSpPr>
          <p:spPr>
            <a:xfrm>
              <a:off x="720000" y="4392000"/>
              <a:ext cx="2160000" cy="576000"/>
            </a:xfrm>
            <a:prstGeom prst="rect">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TL</a:t>
              </a:r>
              <a:r>
                <a:rPr lang="ja-JP" altLang="en-US" sz="1400" dirty="0">
                  <a:solidFill>
                    <a:schemeClr val="tx1"/>
                  </a:solidFill>
                  <a:latin typeface="游ゴシック" panose="020B0400000000000000" pitchFamily="50" charset="-128"/>
                  <a:ea typeface="游ゴシック" panose="020B0400000000000000" pitchFamily="50" charset="-128"/>
                </a:rPr>
                <a:t> 朴邦彦</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チームメンバー </a:t>
              </a:r>
              <a:r>
                <a:rPr lang="en-US" altLang="ja-JP" sz="1400" dirty="0">
                  <a:solidFill>
                    <a:schemeClr val="tx1"/>
                  </a:solidFill>
                  <a:latin typeface="游ゴシック" panose="020B0400000000000000" pitchFamily="50" charset="-128"/>
                  <a:ea typeface="游ゴシック" panose="020B0400000000000000" pitchFamily="50" charset="-128"/>
                </a:rPr>
                <a:t>2</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14" name="片側の 2 つの角を丸めた四角形 13"/>
            <p:cNvSpPr/>
            <p:nvPr/>
          </p:nvSpPr>
          <p:spPr>
            <a:xfrm>
              <a:off x="720000" y="5184000"/>
              <a:ext cx="4932000" cy="360000"/>
            </a:xfrm>
            <a:prstGeom prst="round2SameRect">
              <a:avLst>
                <a:gd name="adj1" fmla="val 17639"/>
                <a:gd name="adj2" fmla="val 0"/>
              </a:avLst>
            </a:prstGeom>
            <a:solidFill>
              <a:schemeClr val="accent2"/>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ベトナム開発チーム</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45" name="正方形/長方形 44"/>
            <p:cNvSpPr/>
            <p:nvPr/>
          </p:nvSpPr>
          <p:spPr>
            <a:xfrm>
              <a:off x="720000" y="5544000"/>
              <a:ext cx="4932000" cy="576000"/>
            </a:xfrm>
            <a:prstGeom prst="rect">
              <a:avLst/>
            </a:prstGeom>
            <a:solidFill>
              <a:schemeClr val="accent2">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TL</a:t>
              </a:r>
              <a:r>
                <a:rPr lang="ja-JP" altLang="en-US" sz="1400" dirty="0">
                  <a:solidFill>
                    <a:schemeClr val="tx1"/>
                  </a:solidFill>
                  <a:latin typeface="游ゴシック" panose="020B0400000000000000" pitchFamily="50" charset="-128"/>
                  <a:ea typeface="游ゴシック" panose="020B0400000000000000" pitchFamily="50" charset="-128"/>
                </a:rPr>
                <a:t> ビェンラムクァンティエン 他 </a:t>
              </a:r>
              <a:r>
                <a:rPr lang="en-US" altLang="ja-JP" sz="1400" dirty="0">
                  <a:solidFill>
                    <a:schemeClr val="tx1"/>
                  </a:solidFill>
                  <a:latin typeface="游ゴシック" panose="020B0400000000000000" pitchFamily="50" charset="-128"/>
                  <a:ea typeface="游ゴシック" panose="020B0400000000000000" pitchFamily="50" charset="-128"/>
                </a:rPr>
                <a:t>2</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チームメンバー </a:t>
              </a:r>
              <a:r>
                <a:rPr lang="en-US" altLang="ja-JP" sz="1400" dirty="0">
                  <a:solidFill>
                    <a:schemeClr val="tx1"/>
                  </a:solidFill>
                  <a:latin typeface="游ゴシック" panose="020B0400000000000000" pitchFamily="50" charset="-128"/>
                  <a:ea typeface="游ゴシック" panose="020B0400000000000000" pitchFamily="50" charset="-128"/>
                </a:rPr>
                <a:t>10</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36" name="片側の 2 つの角を丸めた四角形 35"/>
            <p:cNvSpPr/>
            <p:nvPr/>
          </p:nvSpPr>
          <p:spPr>
            <a:xfrm>
              <a:off x="3492000" y="4032000"/>
              <a:ext cx="2160000" cy="360000"/>
            </a:xfrm>
            <a:prstGeom prst="round2SameRect">
              <a:avLst>
                <a:gd name="adj1" fmla="val 17639"/>
                <a:gd name="adj2" fmla="val 0"/>
              </a:avLst>
            </a:prstGeom>
            <a:solidFill>
              <a:schemeClr val="accent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400" b="1" dirty="0">
                  <a:solidFill>
                    <a:schemeClr val="bg1"/>
                  </a:solidFill>
                  <a:latin typeface="游ゴシック" panose="020B0400000000000000" pitchFamily="50" charset="-128"/>
                  <a:ea typeface="游ゴシック" panose="020B0400000000000000" pitchFamily="50" charset="-128"/>
                </a:rPr>
                <a:t>IF</a:t>
              </a:r>
              <a:r>
                <a:rPr lang="ja-JP" altLang="en-US" sz="1400" b="1" dirty="0">
                  <a:solidFill>
                    <a:schemeClr val="bg1"/>
                  </a:solidFill>
                  <a:latin typeface="游ゴシック" panose="020B0400000000000000" pitchFamily="50" charset="-128"/>
                  <a:ea typeface="游ゴシック" panose="020B0400000000000000" pitchFamily="50" charset="-128"/>
                </a:rPr>
                <a:t>・バッチ開発チーム</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46" name="正方形/長方形 45"/>
            <p:cNvSpPr/>
            <p:nvPr/>
          </p:nvSpPr>
          <p:spPr>
            <a:xfrm>
              <a:off x="3492000" y="4392000"/>
              <a:ext cx="2160000" cy="576000"/>
            </a:xfrm>
            <a:prstGeom prst="rect">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72000" tIns="108000" rIns="72000" rtlCol="0" anchor="t" anchorCtr="0"/>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TL</a:t>
              </a:r>
              <a:r>
                <a:rPr lang="ja-JP" altLang="en-US" sz="1400" dirty="0">
                  <a:solidFill>
                    <a:schemeClr val="tx1"/>
                  </a:solidFill>
                  <a:latin typeface="游ゴシック" panose="020B0400000000000000" pitchFamily="50" charset="-128"/>
                  <a:ea typeface="游ゴシック" panose="020B0400000000000000" pitchFamily="50" charset="-128"/>
                </a:rPr>
                <a:t>伊達翔互</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チームメンバー </a:t>
              </a:r>
              <a:r>
                <a:rPr lang="en-US" altLang="ja-JP" sz="1400" dirty="0">
                  <a:solidFill>
                    <a:schemeClr val="tx1"/>
                  </a:solidFill>
                  <a:latin typeface="游ゴシック" panose="020B0400000000000000" pitchFamily="50" charset="-128"/>
                  <a:ea typeface="游ゴシック" panose="020B0400000000000000" pitchFamily="50" charset="-128"/>
                </a:rPr>
                <a:t>2</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35" name="片側の 2 つの角を丸めた四角形 34"/>
            <p:cNvSpPr/>
            <p:nvPr/>
          </p:nvSpPr>
          <p:spPr>
            <a:xfrm>
              <a:off x="6264000" y="4032000"/>
              <a:ext cx="2160000" cy="360000"/>
            </a:xfrm>
            <a:prstGeom prst="round2SameRect">
              <a:avLst>
                <a:gd name="adj1" fmla="val 17639"/>
                <a:gd name="adj2" fmla="val 0"/>
              </a:avLst>
            </a:prstGeom>
            <a:solidFill>
              <a:schemeClr val="accent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移行チーム</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47" name="正方形/長方形 46"/>
            <p:cNvSpPr/>
            <p:nvPr/>
          </p:nvSpPr>
          <p:spPr>
            <a:xfrm>
              <a:off x="6264000" y="4392000"/>
              <a:ext cx="2160000" cy="576000"/>
            </a:xfrm>
            <a:prstGeom prst="rect">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TL</a:t>
              </a:r>
              <a:r>
                <a:rPr lang="ja-JP" altLang="en-US" sz="1400" dirty="0">
                  <a:solidFill>
                    <a:schemeClr val="tx1"/>
                  </a:solidFill>
                  <a:latin typeface="游ゴシック" panose="020B0400000000000000" pitchFamily="50" charset="-128"/>
                  <a:ea typeface="游ゴシック" panose="020B0400000000000000" pitchFamily="50" charset="-128"/>
                </a:rPr>
                <a:t> 吉田諒</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チームメンバー </a:t>
              </a:r>
              <a:r>
                <a:rPr lang="en-US" altLang="ja-JP" sz="1400" dirty="0">
                  <a:solidFill>
                    <a:schemeClr val="tx1"/>
                  </a:solidFill>
                  <a:latin typeface="游ゴシック" panose="020B0400000000000000" pitchFamily="50" charset="-128"/>
                  <a:ea typeface="游ゴシック" panose="020B0400000000000000" pitchFamily="50" charset="-128"/>
                </a:rPr>
                <a:t>2</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57" name="カギ線コネクタ 56"/>
            <p:cNvCxnSpPr/>
            <p:nvPr/>
          </p:nvCxnSpPr>
          <p:spPr>
            <a:xfrm rot="5400000">
              <a:off x="3564000" y="2484000"/>
              <a:ext cx="324000" cy="169200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5" name="直線コネクタ 64"/>
            <p:cNvCxnSpPr>
              <a:stCxn id="12" idx="2"/>
              <a:endCxn id="58" idx="2"/>
            </p:cNvCxnSpPr>
            <p:nvPr/>
          </p:nvCxnSpPr>
          <p:spPr>
            <a:xfrm>
              <a:off x="4572000" y="3168000"/>
              <a:ext cx="0" cy="468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1" name="正方形/長方形 70"/>
            <p:cNvSpPr/>
            <p:nvPr/>
          </p:nvSpPr>
          <p:spPr>
            <a:xfrm>
              <a:off x="6264000" y="2160000"/>
              <a:ext cx="2160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営業</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72" name="正方形/長方形 71"/>
            <p:cNvSpPr/>
            <p:nvPr/>
          </p:nvSpPr>
          <p:spPr>
            <a:xfrm>
              <a:off x="6264000" y="2448000"/>
              <a:ext cx="2160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髙浦祐朗</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73" name="カギ線コネクタ 72"/>
            <p:cNvCxnSpPr>
              <a:stCxn id="12" idx="2"/>
              <a:endCxn id="31" idx="1"/>
            </p:cNvCxnSpPr>
            <p:nvPr/>
          </p:nvCxnSpPr>
          <p:spPr>
            <a:xfrm rot="16200000" flipH="1">
              <a:off x="5256000" y="2484000"/>
              <a:ext cx="324000" cy="169200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58" name="正方形/長方形 57"/>
            <p:cNvSpPr/>
            <p:nvPr/>
          </p:nvSpPr>
          <p:spPr>
            <a:xfrm>
              <a:off x="3420000" y="3348000"/>
              <a:ext cx="2304000" cy="288000"/>
            </a:xfrm>
            <a:prstGeom prst="rect">
              <a:avLst/>
            </a:prstGeom>
            <a:noFill/>
            <a:ln w="12700">
              <a:no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cxnSp>
          <p:nvCxnSpPr>
            <p:cNvPr id="63" name="直線コネクタ 62"/>
            <p:cNvCxnSpPr>
              <a:stCxn id="58" idx="2"/>
              <a:endCxn id="36" idx="3"/>
            </p:cNvCxnSpPr>
            <p:nvPr/>
          </p:nvCxnSpPr>
          <p:spPr>
            <a:xfrm>
              <a:off x="4572000" y="3636000"/>
              <a:ext cx="0" cy="396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4" name="直線コネクタ 73"/>
            <p:cNvCxnSpPr/>
            <p:nvPr/>
          </p:nvCxnSpPr>
          <p:spPr>
            <a:xfrm>
              <a:off x="1944000" y="4968000"/>
              <a:ext cx="0" cy="216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直線コネクタ 74"/>
            <p:cNvCxnSpPr/>
            <p:nvPr/>
          </p:nvCxnSpPr>
          <p:spPr>
            <a:xfrm>
              <a:off x="4572000" y="4968000"/>
              <a:ext cx="0" cy="216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7" name="直線コネクタ 76"/>
            <p:cNvCxnSpPr>
              <a:stCxn id="10" idx="2"/>
              <a:endCxn id="11" idx="0"/>
            </p:cNvCxnSpPr>
            <p:nvPr/>
          </p:nvCxnSpPr>
          <p:spPr>
            <a:xfrm>
              <a:off x="4572000" y="2304000"/>
              <a:ext cx="0" cy="216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8" name="カギ線コネクタ 77"/>
            <p:cNvCxnSpPr>
              <a:stCxn id="58" idx="3"/>
              <a:endCxn id="72" idx="1"/>
            </p:cNvCxnSpPr>
            <p:nvPr/>
          </p:nvCxnSpPr>
          <p:spPr>
            <a:xfrm flipV="1">
              <a:off x="5724000" y="2628000"/>
              <a:ext cx="540000" cy="864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45917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初期流動体制（初期流動）</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46</a:t>
            </a:fld>
            <a:endParaRPr kumimoji="1" lang="ja-JP" altLang="en-US"/>
          </a:p>
        </p:txBody>
      </p:sp>
      <p:sp>
        <p:nvSpPr>
          <p:cNvPr id="6" name="テキスト ボックス 5"/>
          <p:cNvSpPr txBox="1"/>
          <p:nvPr/>
        </p:nvSpPr>
        <p:spPr>
          <a:xfrm>
            <a:off x="144000" y="6120000"/>
            <a:ext cx="8856000" cy="276999"/>
          </a:xfrm>
          <a:prstGeom prst="rect">
            <a:avLst/>
          </a:prstGeom>
          <a:noFill/>
        </p:spPr>
        <p:txBody>
          <a:bodyPr wrap="square" rtlCol="0" anchor="b">
            <a:spAutoFit/>
          </a:bodyPr>
          <a:lstStyle/>
          <a:p>
            <a:r>
              <a:rPr lang="en-US" altLang="ja-JP" sz="1200" dirty="0">
                <a:latin typeface="游ゴシック" panose="020B0400000000000000" pitchFamily="50" charset="-128"/>
                <a:ea typeface="游ゴシック" panose="020B0400000000000000" pitchFamily="50" charset="-128"/>
                <a:cs typeface="メイリオ" pitchFamily="50" charset="-128"/>
              </a:rPr>
              <a:t>※</a:t>
            </a:r>
            <a:r>
              <a:rPr lang="ja-JP" altLang="en-US" sz="1200" dirty="0">
                <a:latin typeface="游ゴシック" panose="020B0400000000000000" pitchFamily="50" charset="-128"/>
                <a:ea typeface="游ゴシック" panose="020B0400000000000000" pitchFamily="50" charset="-128"/>
                <a:cs typeface="メイリオ" pitchFamily="50" charset="-128"/>
              </a:rPr>
              <a:t> 上記の体制は弊社協力会社（再委託）の要員を含めた体制となります。</a:t>
            </a:r>
            <a:endParaRPr lang="en-US" altLang="ja-JP" sz="1200" dirty="0">
              <a:latin typeface="游ゴシック" panose="020B0400000000000000" pitchFamily="50" charset="-128"/>
              <a:ea typeface="游ゴシック" panose="020B0400000000000000" pitchFamily="50" charset="-128"/>
              <a:cs typeface="メイリオ" pitchFamily="50" charset="-128"/>
            </a:endParaRPr>
          </a:p>
        </p:txBody>
      </p:sp>
      <p:sp>
        <p:nvSpPr>
          <p:cNvPr id="7" name="テキスト ボックス 6"/>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初期流動時は、</a:t>
            </a:r>
            <a:r>
              <a:rPr kumimoji="1" lang="ja-JP" altLang="en-US" sz="1400" dirty="0">
                <a:latin typeface="游ゴシック" panose="020B0400000000000000" pitchFamily="50" charset="-128"/>
                <a:ea typeface="游ゴシック" panose="020B0400000000000000" pitchFamily="50" charset="-128"/>
              </a:rPr>
              <a:t>アプリ開発チーム、</a:t>
            </a:r>
            <a:r>
              <a:rPr kumimoji="1" lang="en-US" altLang="ja-JP" sz="1400" dirty="0">
                <a:latin typeface="游ゴシック" panose="020B0400000000000000" pitchFamily="50" charset="-128"/>
                <a:ea typeface="游ゴシック" panose="020B0400000000000000" pitchFamily="50" charset="-128"/>
              </a:rPr>
              <a:t>IF</a:t>
            </a:r>
            <a:r>
              <a:rPr kumimoji="1" lang="ja-JP" altLang="en-US" sz="1400" dirty="0">
                <a:latin typeface="游ゴシック" panose="020B0400000000000000" pitchFamily="50" charset="-128"/>
                <a:ea typeface="游ゴシック" panose="020B0400000000000000" pitchFamily="50" charset="-128"/>
              </a:rPr>
              <a:t>・バッチ開発チームの２チーム構成とします。</a:t>
            </a:r>
            <a:endParaRPr kumimoji="1"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また、ベトナム開発チームは本稼働後は解散し、すべて日本側のチームで対応いたします。</a:t>
            </a:r>
            <a:endParaRPr kumimoji="1" lang="ja-JP" altLang="en-US" sz="1400" dirty="0">
              <a:latin typeface="游ゴシック" panose="020B0400000000000000" pitchFamily="50" charset="-128"/>
              <a:ea typeface="游ゴシック" panose="020B0400000000000000" pitchFamily="50" charset="-128"/>
            </a:endParaRPr>
          </a:p>
        </p:txBody>
      </p:sp>
      <p:grpSp>
        <p:nvGrpSpPr>
          <p:cNvPr id="43" name="グループ化 42"/>
          <p:cNvGrpSpPr/>
          <p:nvPr/>
        </p:nvGrpSpPr>
        <p:grpSpPr>
          <a:xfrm>
            <a:off x="972000" y="1944000"/>
            <a:ext cx="7200000" cy="3744000"/>
            <a:chOff x="972000" y="1656000"/>
            <a:chExt cx="7200000" cy="3744000"/>
          </a:xfrm>
        </p:grpSpPr>
        <p:sp>
          <p:nvSpPr>
            <p:cNvPr id="9" name="正方形/長方形 8"/>
            <p:cNvSpPr/>
            <p:nvPr/>
          </p:nvSpPr>
          <p:spPr>
            <a:xfrm>
              <a:off x="3456000" y="3672000"/>
              <a:ext cx="2232000" cy="360000"/>
            </a:xfrm>
            <a:prstGeom prst="rect">
              <a:avLst/>
            </a:prstGeom>
            <a:solidFill>
              <a:schemeClr val="bg1"/>
            </a:solidFill>
            <a:ln w="12700">
              <a:no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endParaRPr lang="ja-JP" altLang="en-US" sz="1400" dirty="0">
                <a:solidFill>
                  <a:schemeClr val="tx1"/>
                </a:solidFill>
                <a:latin typeface="游ゴシック" panose="020B0400000000000000" pitchFamily="50" charset="-128"/>
                <a:ea typeface="游ゴシック" panose="020B0400000000000000" pitchFamily="50" charset="-128"/>
              </a:endParaRPr>
            </a:p>
          </p:txBody>
        </p:sp>
        <p:cxnSp>
          <p:nvCxnSpPr>
            <p:cNvPr id="10" name="直線コネクタ 9"/>
            <p:cNvCxnSpPr>
              <a:stCxn id="41" idx="2"/>
              <a:endCxn id="38" idx="0"/>
            </p:cNvCxnSpPr>
            <p:nvPr/>
          </p:nvCxnSpPr>
          <p:spPr>
            <a:xfrm>
              <a:off x="4572000" y="2304000"/>
              <a:ext cx="0" cy="288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1" name="グループ化 10"/>
            <p:cNvGrpSpPr/>
            <p:nvPr/>
          </p:nvGrpSpPr>
          <p:grpSpPr>
            <a:xfrm>
              <a:off x="3348000" y="1656000"/>
              <a:ext cx="2448000" cy="648000"/>
              <a:chOff x="3636000" y="1224000"/>
              <a:chExt cx="2232000" cy="648000"/>
            </a:xfrm>
          </p:grpSpPr>
          <p:sp>
            <p:nvSpPr>
              <p:cNvPr id="40" name="正方形/長方形 39"/>
              <p:cNvSpPr/>
              <p:nvPr/>
            </p:nvSpPr>
            <p:spPr>
              <a:xfrm>
                <a:off x="3636000" y="1224000"/>
                <a:ext cx="2232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プロジェクト責任者</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41" name="正方形/長方形 40"/>
              <p:cNvSpPr/>
              <p:nvPr/>
            </p:nvSpPr>
            <p:spPr>
              <a:xfrm>
                <a:off x="3636000" y="1512000"/>
                <a:ext cx="2232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福田慎</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grpSp>
        <p:grpSp>
          <p:nvGrpSpPr>
            <p:cNvPr id="12" name="グループ化 11"/>
            <p:cNvGrpSpPr/>
            <p:nvPr/>
          </p:nvGrpSpPr>
          <p:grpSpPr>
            <a:xfrm>
              <a:off x="3348000" y="2592000"/>
              <a:ext cx="2448000" cy="648000"/>
              <a:chOff x="3636000" y="2196000"/>
              <a:chExt cx="2232000" cy="648000"/>
            </a:xfrm>
          </p:grpSpPr>
          <p:sp>
            <p:nvSpPr>
              <p:cNvPr id="38" name="正方形/長方形 37"/>
              <p:cNvSpPr/>
              <p:nvPr/>
            </p:nvSpPr>
            <p:spPr>
              <a:xfrm>
                <a:off x="3636000" y="2196000"/>
                <a:ext cx="2232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プロジェクトマネージャー</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39" name="正方形/長方形 38"/>
              <p:cNvSpPr/>
              <p:nvPr/>
            </p:nvSpPr>
            <p:spPr>
              <a:xfrm>
                <a:off x="3636000" y="2484000"/>
                <a:ext cx="2232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小林紀昭</a:t>
                </a:r>
              </a:p>
            </p:txBody>
          </p:sp>
        </p:grpSp>
        <p:cxnSp>
          <p:nvCxnSpPr>
            <p:cNvPr id="13" name="カギ線コネクタ 12"/>
            <p:cNvCxnSpPr>
              <a:stCxn id="9" idx="2"/>
              <a:endCxn id="20" idx="3"/>
            </p:cNvCxnSpPr>
            <p:nvPr/>
          </p:nvCxnSpPr>
          <p:spPr>
            <a:xfrm rot="5400000">
              <a:off x="3708000" y="3528000"/>
              <a:ext cx="360000" cy="1368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グループ化 17"/>
            <p:cNvGrpSpPr/>
            <p:nvPr/>
          </p:nvGrpSpPr>
          <p:grpSpPr>
            <a:xfrm>
              <a:off x="972000" y="3312000"/>
              <a:ext cx="1944000" cy="648000"/>
              <a:chOff x="1499236" y="2176585"/>
              <a:chExt cx="1944000" cy="648000"/>
            </a:xfrm>
          </p:grpSpPr>
          <p:sp>
            <p:nvSpPr>
              <p:cNvPr id="34" name="正方形/長方形 33"/>
              <p:cNvSpPr/>
              <p:nvPr/>
            </p:nvSpPr>
            <p:spPr>
              <a:xfrm>
                <a:off x="1499236" y="2176585"/>
                <a:ext cx="1944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b="1" dirty="0">
                    <a:solidFill>
                      <a:schemeClr val="bg1"/>
                    </a:solidFill>
                    <a:latin typeface="游ゴシック" panose="020B0400000000000000" pitchFamily="50" charset="-128"/>
                    <a:ea typeface="游ゴシック" panose="020B0400000000000000" pitchFamily="50" charset="-128"/>
                  </a:rPr>
                  <a:t>PMO</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35" name="正方形/長方形 34"/>
              <p:cNvSpPr/>
              <p:nvPr/>
            </p:nvSpPr>
            <p:spPr>
              <a:xfrm>
                <a:off x="1499236" y="2464585"/>
                <a:ext cx="1944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福田一希</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sp>
          <p:nvSpPr>
            <p:cNvPr id="20" name="片側の 2 つの角を丸めた四角形 19"/>
            <p:cNvSpPr/>
            <p:nvPr/>
          </p:nvSpPr>
          <p:spPr>
            <a:xfrm>
              <a:off x="2124000" y="4392000"/>
              <a:ext cx="2160000" cy="360000"/>
            </a:xfrm>
            <a:prstGeom prst="round2SameRect">
              <a:avLst>
                <a:gd name="adj1" fmla="val 17639"/>
                <a:gd name="adj2" fmla="val 0"/>
              </a:avLst>
            </a:prstGeom>
            <a:solidFill>
              <a:schemeClr val="accent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アプリ開発チーム</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21" name="正方形/長方形 20"/>
            <p:cNvSpPr/>
            <p:nvPr/>
          </p:nvSpPr>
          <p:spPr>
            <a:xfrm>
              <a:off x="2124000" y="4752000"/>
              <a:ext cx="2160000" cy="648000"/>
            </a:xfrm>
            <a:prstGeom prst="rect">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TL</a:t>
              </a:r>
              <a:r>
                <a:rPr lang="ja-JP" altLang="en-US" sz="1400" dirty="0">
                  <a:solidFill>
                    <a:schemeClr val="tx1"/>
                  </a:solidFill>
                  <a:latin typeface="游ゴシック" panose="020B0400000000000000" pitchFamily="50" charset="-128"/>
                  <a:ea typeface="游ゴシック" panose="020B0400000000000000" pitchFamily="50" charset="-128"/>
                </a:rPr>
                <a:t> 朴邦彦</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チームメンバー </a:t>
              </a:r>
              <a:r>
                <a:rPr lang="en-US" altLang="ja-JP" sz="1400" dirty="0">
                  <a:solidFill>
                    <a:schemeClr val="tx1"/>
                  </a:solidFill>
                  <a:latin typeface="游ゴシック" panose="020B0400000000000000" pitchFamily="50" charset="-128"/>
                  <a:ea typeface="游ゴシック" panose="020B0400000000000000" pitchFamily="50" charset="-128"/>
                </a:rPr>
                <a:t>4</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22" name="片側の 2 つの角を丸めた四角形 21"/>
            <p:cNvSpPr/>
            <p:nvPr/>
          </p:nvSpPr>
          <p:spPr>
            <a:xfrm>
              <a:off x="4860000" y="4392000"/>
              <a:ext cx="2160000" cy="360000"/>
            </a:xfrm>
            <a:prstGeom prst="round2SameRect">
              <a:avLst>
                <a:gd name="adj1" fmla="val 17639"/>
                <a:gd name="adj2" fmla="val 0"/>
              </a:avLst>
            </a:prstGeom>
            <a:solidFill>
              <a:schemeClr val="accent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400" b="1" dirty="0">
                  <a:solidFill>
                    <a:schemeClr val="bg1"/>
                  </a:solidFill>
                  <a:latin typeface="游ゴシック" panose="020B0400000000000000" pitchFamily="50" charset="-128"/>
                  <a:ea typeface="游ゴシック" panose="020B0400000000000000" pitchFamily="50" charset="-128"/>
                </a:rPr>
                <a:t>IF</a:t>
              </a:r>
              <a:r>
                <a:rPr lang="ja-JP" altLang="en-US" sz="1400" b="1" dirty="0">
                  <a:solidFill>
                    <a:schemeClr val="bg1"/>
                  </a:solidFill>
                  <a:latin typeface="游ゴシック" panose="020B0400000000000000" pitchFamily="50" charset="-128"/>
                  <a:ea typeface="游ゴシック" panose="020B0400000000000000" pitchFamily="50" charset="-128"/>
                </a:rPr>
                <a:t>・バッチ開発チーム</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26" name="正方形/長方形 25"/>
            <p:cNvSpPr/>
            <p:nvPr/>
          </p:nvSpPr>
          <p:spPr>
            <a:xfrm>
              <a:off x="4860000" y="4752000"/>
              <a:ext cx="2160000" cy="648000"/>
            </a:xfrm>
            <a:prstGeom prst="rect">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TL</a:t>
              </a:r>
              <a:r>
                <a:rPr lang="ja-JP" altLang="en-US" sz="1400" dirty="0">
                  <a:solidFill>
                    <a:schemeClr val="tx1"/>
                  </a:solidFill>
                  <a:latin typeface="游ゴシック" panose="020B0400000000000000" pitchFamily="50" charset="-128"/>
                  <a:ea typeface="游ゴシック" panose="020B0400000000000000" pitchFamily="50" charset="-128"/>
                </a:rPr>
                <a:t>伊達翔互</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チームメンバー </a:t>
              </a:r>
              <a:r>
                <a:rPr lang="en-US" altLang="ja-JP" sz="1400" dirty="0">
                  <a:solidFill>
                    <a:schemeClr val="tx1"/>
                  </a:solidFill>
                  <a:latin typeface="游ゴシック" panose="020B0400000000000000" pitchFamily="50" charset="-128"/>
                  <a:ea typeface="游ゴシック" panose="020B0400000000000000" pitchFamily="50" charset="-128"/>
                </a:rPr>
                <a:t>3</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27" name="カギ線コネクタ 26"/>
            <p:cNvCxnSpPr>
              <a:stCxn id="9" idx="2"/>
              <a:endCxn id="22" idx="3"/>
            </p:cNvCxnSpPr>
            <p:nvPr/>
          </p:nvCxnSpPr>
          <p:spPr>
            <a:xfrm rot="16200000" flipH="1">
              <a:off x="5076000" y="3528000"/>
              <a:ext cx="360000" cy="1368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8" name="カギ線コネクタ 27"/>
            <p:cNvCxnSpPr>
              <a:stCxn id="39" idx="2"/>
              <a:endCxn id="35" idx="3"/>
            </p:cNvCxnSpPr>
            <p:nvPr/>
          </p:nvCxnSpPr>
          <p:spPr>
            <a:xfrm rot="5400000">
              <a:off x="3474000" y="2682000"/>
              <a:ext cx="540000" cy="165600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a:stCxn id="39" idx="2"/>
              <a:endCxn id="9" idx="2"/>
            </p:cNvCxnSpPr>
            <p:nvPr/>
          </p:nvCxnSpPr>
          <p:spPr>
            <a:xfrm>
              <a:off x="4572000" y="3240000"/>
              <a:ext cx="0" cy="792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0" name="グループ化 29"/>
            <p:cNvGrpSpPr/>
            <p:nvPr/>
          </p:nvGrpSpPr>
          <p:grpSpPr>
            <a:xfrm>
              <a:off x="6228000" y="3312000"/>
              <a:ext cx="1944000" cy="648000"/>
              <a:chOff x="6840000" y="2277489"/>
              <a:chExt cx="1944000" cy="648000"/>
            </a:xfrm>
          </p:grpSpPr>
          <p:sp>
            <p:nvSpPr>
              <p:cNvPr id="32" name="正方形/長方形 31"/>
              <p:cNvSpPr/>
              <p:nvPr/>
            </p:nvSpPr>
            <p:spPr>
              <a:xfrm>
                <a:off x="6840000" y="2277489"/>
                <a:ext cx="1944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営業</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33" name="正方形/長方形 32"/>
              <p:cNvSpPr/>
              <p:nvPr/>
            </p:nvSpPr>
            <p:spPr>
              <a:xfrm>
                <a:off x="6840000" y="2565489"/>
                <a:ext cx="1944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髙浦祐朗</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cxnSp>
          <p:nvCxnSpPr>
            <p:cNvPr id="31" name="カギ線コネクタ 30"/>
            <p:cNvCxnSpPr>
              <a:stCxn id="39" idx="2"/>
              <a:endCxn id="33" idx="1"/>
            </p:cNvCxnSpPr>
            <p:nvPr/>
          </p:nvCxnSpPr>
          <p:spPr>
            <a:xfrm rot="16200000" flipH="1">
              <a:off x="5130000" y="2682000"/>
              <a:ext cx="540000" cy="165600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113045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保守体制（保守）</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47</a:t>
            </a:fld>
            <a:endParaRPr kumimoji="1" lang="ja-JP" altLang="en-US"/>
          </a:p>
        </p:txBody>
      </p:sp>
      <p:sp>
        <p:nvSpPr>
          <p:cNvPr id="6" name="テキスト ボックス 5"/>
          <p:cNvSpPr txBox="1"/>
          <p:nvPr/>
        </p:nvSpPr>
        <p:spPr>
          <a:xfrm>
            <a:off x="144000" y="6120000"/>
            <a:ext cx="8856000" cy="276999"/>
          </a:xfrm>
          <a:prstGeom prst="rect">
            <a:avLst/>
          </a:prstGeom>
          <a:noFill/>
        </p:spPr>
        <p:txBody>
          <a:bodyPr wrap="square" rtlCol="0" anchor="b">
            <a:spAutoFit/>
          </a:bodyPr>
          <a:lstStyle/>
          <a:p>
            <a:r>
              <a:rPr lang="en-US" altLang="ja-JP" sz="1200" dirty="0">
                <a:latin typeface="游ゴシック" panose="020B0400000000000000" pitchFamily="50" charset="-128"/>
                <a:ea typeface="游ゴシック" panose="020B0400000000000000" pitchFamily="50" charset="-128"/>
                <a:cs typeface="メイリオ" pitchFamily="50" charset="-128"/>
              </a:rPr>
              <a:t>※</a:t>
            </a:r>
            <a:r>
              <a:rPr lang="ja-JP" altLang="en-US" sz="1200" dirty="0">
                <a:latin typeface="游ゴシック" panose="020B0400000000000000" pitchFamily="50" charset="-128"/>
                <a:ea typeface="游ゴシック" panose="020B0400000000000000" pitchFamily="50" charset="-128"/>
                <a:cs typeface="メイリオ" pitchFamily="50" charset="-128"/>
              </a:rPr>
              <a:t> 上記の体制は弊社協力会社（再委託）の要員を含めた体制となる場合があります。</a:t>
            </a:r>
            <a:endParaRPr lang="en-US" altLang="ja-JP" sz="1200" dirty="0">
              <a:latin typeface="游ゴシック" panose="020B0400000000000000" pitchFamily="50" charset="-128"/>
              <a:ea typeface="游ゴシック" panose="020B0400000000000000" pitchFamily="50" charset="-128"/>
              <a:cs typeface="メイリオ" pitchFamily="50" charset="-128"/>
            </a:endParaRPr>
          </a:p>
        </p:txBody>
      </p:sp>
      <p:sp>
        <p:nvSpPr>
          <p:cNvPr id="7" name="テキスト ボックス 6"/>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保守工程においては、貴社の保守業務に精通した要員をアサインします。</a:t>
            </a:r>
            <a:endParaRPr kumimoji="1" lang="en-US" altLang="ja-JP" sz="1400" dirty="0">
              <a:latin typeface="游ゴシック" panose="020B0400000000000000" pitchFamily="50" charset="-128"/>
              <a:ea typeface="游ゴシック" panose="020B0400000000000000" pitchFamily="50" charset="-128"/>
            </a:endParaRPr>
          </a:p>
        </p:txBody>
      </p:sp>
      <p:grpSp>
        <p:nvGrpSpPr>
          <p:cNvPr id="34" name="グループ化 33"/>
          <p:cNvGrpSpPr/>
          <p:nvPr/>
        </p:nvGrpSpPr>
        <p:grpSpPr>
          <a:xfrm>
            <a:off x="3348000" y="2016000"/>
            <a:ext cx="4824000" cy="3384000"/>
            <a:chOff x="3348000" y="1872000"/>
            <a:chExt cx="4824000" cy="3384000"/>
          </a:xfrm>
        </p:grpSpPr>
        <p:cxnSp>
          <p:nvCxnSpPr>
            <p:cNvPr id="10" name="直線コネクタ 9"/>
            <p:cNvCxnSpPr>
              <a:stCxn id="31" idx="2"/>
              <a:endCxn id="28" idx="0"/>
            </p:cNvCxnSpPr>
            <p:nvPr/>
          </p:nvCxnSpPr>
          <p:spPr>
            <a:xfrm>
              <a:off x="4572000" y="2520000"/>
              <a:ext cx="0" cy="288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1" name="グループ化 10"/>
            <p:cNvGrpSpPr/>
            <p:nvPr/>
          </p:nvGrpSpPr>
          <p:grpSpPr>
            <a:xfrm>
              <a:off x="3348000" y="1872000"/>
              <a:ext cx="2448000" cy="648000"/>
              <a:chOff x="3636000" y="1224000"/>
              <a:chExt cx="2232000" cy="648000"/>
            </a:xfrm>
          </p:grpSpPr>
          <p:sp>
            <p:nvSpPr>
              <p:cNvPr id="30" name="正方形/長方形 29"/>
              <p:cNvSpPr/>
              <p:nvPr/>
            </p:nvSpPr>
            <p:spPr>
              <a:xfrm>
                <a:off x="3636000" y="1224000"/>
                <a:ext cx="2232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プロジェクト責任者</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31" name="正方形/長方形 30"/>
              <p:cNvSpPr/>
              <p:nvPr/>
            </p:nvSpPr>
            <p:spPr>
              <a:xfrm>
                <a:off x="3636000" y="1512000"/>
                <a:ext cx="2232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福田慎</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grpSp>
        <p:grpSp>
          <p:nvGrpSpPr>
            <p:cNvPr id="12" name="グループ化 11"/>
            <p:cNvGrpSpPr/>
            <p:nvPr/>
          </p:nvGrpSpPr>
          <p:grpSpPr>
            <a:xfrm>
              <a:off x="3348000" y="2808000"/>
              <a:ext cx="2448000" cy="648000"/>
              <a:chOff x="3636000" y="2196000"/>
              <a:chExt cx="2232000" cy="648000"/>
            </a:xfrm>
          </p:grpSpPr>
          <p:sp>
            <p:nvSpPr>
              <p:cNvPr id="28" name="正方形/長方形 27"/>
              <p:cNvSpPr/>
              <p:nvPr/>
            </p:nvSpPr>
            <p:spPr>
              <a:xfrm>
                <a:off x="3636000" y="2196000"/>
                <a:ext cx="2232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プロジェクトマネージャー</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29" name="正方形/長方形 28"/>
              <p:cNvSpPr/>
              <p:nvPr/>
            </p:nvSpPr>
            <p:spPr>
              <a:xfrm>
                <a:off x="3636000" y="2484000"/>
                <a:ext cx="2232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小林紀昭</a:t>
                </a:r>
              </a:p>
            </p:txBody>
          </p:sp>
        </p:grpSp>
        <p:grpSp>
          <p:nvGrpSpPr>
            <p:cNvPr id="14" name="グループ化 13"/>
            <p:cNvGrpSpPr/>
            <p:nvPr/>
          </p:nvGrpSpPr>
          <p:grpSpPr>
            <a:xfrm>
              <a:off x="6228000" y="3384000"/>
              <a:ext cx="1944000" cy="648000"/>
              <a:chOff x="6755236" y="2176585"/>
              <a:chExt cx="1944000" cy="648000"/>
            </a:xfrm>
          </p:grpSpPr>
          <p:sp>
            <p:nvSpPr>
              <p:cNvPr id="26" name="正方形/長方形 25"/>
              <p:cNvSpPr/>
              <p:nvPr/>
            </p:nvSpPr>
            <p:spPr>
              <a:xfrm>
                <a:off x="6755236" y="2176585"/>
                <a:ext cx="1944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営業</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27" name="正方形/長方形 26"/>
              <p:cNvSpPr/>
              <p:nvPr/>
            </p:nvSpPr>
            <p:spPr>
              <a:xfrm>
                <a:off x="6755236" y="2464585"/>
                <a:ext cx="1944000" cy="360000"/>
              </a:xfrm>
              <a:prstGeom prst="rect">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髙浦祐朗</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grpSp>
          <p:nvGrpSpPr>
            <p:cNvPr id="33" name="グループ化 32"/>
            <p:cNvGrpSpPr/>
            <p:nvPr/>
          </p:nvGrpSpPr>
          <p:grpSpPr>
            <a:xfrm>
              <a:off x="3492000" y="4248000"/>
              <a:ext cx="2160000" cy="1008000"/>
              <a:chOff x="3492000" y="4608000"/>
              <a:chExt cx="2160000" cy="1008000"/>
            </a:xfrm>
          </p:grpSpPr>
          <p:sp>
            <p:nvSpPr>
              <p:cNvPr id="15" name="片側の 2 つの角を丸めた四角形 14"/>
              <p:cNvSpPr/>
              <p:nvPr/>
            </p:nvSpPr>
            <p:spPr>
              <a:xfrm>
                <a:off x="3492000" y="4608000"/>
                <a:ext cx="2160000" cy="360000"/>
              </a:xfrm>
              <a:prstGeom prst="round2SameRect">
                <a:avLst>
                  <a:gd name="adj1" fmla="val 17639"/>
                  <a:gd name="adj2" fmla="val 0"/>
                </a:avLst>
              </a:prstGeom>
              <a:solidFill>
                <a:schemeClr val="accent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b="1" dirty="0">
                    <a:solidFill>
                      <a:schemeClr val="bg1"/>
                    </a:solidFill>
                    <a:latin typeface="游ゴシック" panose="020B0400000000000000" pitchFamily="50" charset="-128"/>
                    <a:ea typeface="游ゴシック" panose="020B0400000000000000" pitchFamily="50" charset="-128"/>
                  </a:rPr>
                  <a:t>保守チーム</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16" name="正方形/長方形 15"/>
              <p:cNvSpPr/>
              <p:nvPr/>
            </p:nvSpPr>
            <p:spPr>
              <a:xfrm>
                <a:off x="3492000" y="4968000"/>
                <a:ext cx="2160000" cy="648000"/>
              </a:xfrm>
              <a:prstGeom prst="rect">
                <a:avLst/>
              </a:prstGeom>
              <a:solidFill>
                <a:schemeClr val="accent1">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TL</a:t>
                </a:r>
                <a:r>
                  <a:rPr lang="ja-JP" altLang="en-US" sz="1400" dirty="0">
                    <a:solidFill>
                      <a:schemeClr val="tx1"/>
                    </a:solidFill>
                    <a:latin typeface="游ゴシック" panose="020B0400000000000000" pitchFamily="50" charset="-128"/>
                    <a:ea typeface="游ゴシック" panose="020B0400000000000000" pitchFamily="50" charset="-128"/>
                  </a:rPr>
                  <a:t> 福田一希</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チームメンバー </a:t>
                </a:r>
                <a:r>
                  <a:rPr lang="en-US" altLang="ja-JP" sz="1400" dirty="0">
                    <a:solidFill>
                      <a:schemeClr val="tx1"/>
                    </a:solidFill>
                    <a:latin typeface="游ゴシック" panose="020B0400000000000000" pitchFamily="50" charset="-128"/>
                    <a:ea typeface="游ゴシック" panose="020B0400000000000000" pitchFamily="50" charset="-128"/>
                  </a:rPr>
                  <a:t>1</a:t>
                </a:r>
                <a:r>
                  <a:rPr lang="ja-JP" altLang="en-US" sz="1400" dirty="0">
                    <a:solidFill>
                      <a:schemeClr val="tx1"/>
                    </a:solidFill>
                    <a:latin typeface="游ゴシック" panose="020B0400000000000000" pitchFamily="50" charset="-128"/>
                    <a:ea typeface="游ゴシック" panose="020B0400000000000000" pitchFamily="50" charset="-128"/>
                  </a:rPr>
                  <a:t>～</a:t>
                </a:r>
                <a:r>
                  <a:rPr lang="en-US" altLang="ja-JP" sz="1400" dirty="0">
                    <a:solidFill>
                      <a:schemeClr val="tx1"/>
                    </a:solidFill>
                    <a:latin typeface="游ゴシック" panose="020B0400000000000000" pitchFamily="50" charset="-128"/>
                    <a:ea typeface="游ゴシック" panose="020B0400000000000000" pitchFamily="50" charset="-128"/>
                  </a:rPr>
                  <a:t>2</a:t>
                </a:r>
                <a:r>
                  <a:rPr lang="ja-JP" altLang="en-US" sz="1400" dirty="0">
                    <a:solidFill>
                      <a:schemeClr val="tx1"/>
                    </a:solidFill>
                    <a:latin typeface="游ゴシック" panose="020B0400000000000000" pitchFamily="50" charset="-128"/>
                    <a:ea typeface="游ゴシック" panose="020B0400000000000000" pitchFamily="50" charset="-128"/>
                  </a:rPr>
                  <a:t>名</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cxnSp>
          <p:nvCxnSpPr>
            <p:cNvPr id="20" name="カギ線コネクタ 19"/>
            <p:cNvCxnSpPr>
              <a:stCxn id="29" idx="2"/>
              <a:endCxn id="27" idx="1"/>
            </p:cNvCxnSpPr>
            <p:nvPr/>
          </p:nvCxnSpPr>
          <p:spPr>
            <a:xfrm rot="16200000" flipH="1">
              <a:off x="5202000" y="2826000"/>
              <a:ext cx="396000" cy="165600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a:stCxn id="29" idx="2"/>
              <a:endCxn id="15" idx="3"/>
            </p:cNvCxnSpPr>
            <p:nvPr/>
          </p:nvCxnSpPr>
          <p:spPr>
            <a:xfrm>
              <a:off x="4572000" y="3456000"/>
              <a:ext cx="0" cy="792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222507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貴社</a:t>
            </a:r>
            <a:r>
              <a:rPr lang="ja-JP" altLang="en-US" dirty="0"/>
              <a:t>および周辺システムベンダー</a:t>
            </a:r>
            <a:r>
              <a:rPr kumimoji="1" lang="ja-JP" altLang="en-US" dirty="0"/>
              <a:t>との連携体制</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48</a:t>
            </a:fld>
            <a:endParaRPr kumimoji="1" lang="ja-JP" altLang="en-US"/>
          </a:p>
        </p:txBody>
      </p:sp>
      <p:sp>
        <p:nvSpPr>
          <p:cNvPr id="43" name="正方形/長方形 42"/>
          <p:cNvSpPr/>
          <p:nvPr/>
        </p:nvSpPr>
        <p:spPr>
          <a:xfrm>
            <a:off x="143998" y="4680002"/>
            <a:ext cx="8856001" cy="1656000"/>
          </a:xfrm>
          <a:prstGeom prst="rect">
            <a:avLst/>
          </a:prstGeom>
          <a:solidFill>
            <a:schemeClr val="accent1">
              <a:lumMod val="20000"/>
              <a:lumOff val="80000"/>
            </a:schemeClr>
          </a:solidFill>
          <a:ln w="19050">
            <a:solidFill>
              <a:schemeClr val="accent1"/>
            </a:solidFill>
          </a:ln>
        </p:spPr>
        <p:style>
          <a:lnRef idx="3">
            <a:schemeClr val="lt1"/>
          </a:lnRef>
          <a:fillRef idx="1">
            <a:schemeClr val="accent1"/>
          </a:fillRef>
          <a:effectRef idx="1">
            <a:schemeClr val="accent1"/>
          </a:effectRef>
          <a:fontRef idx="minor">
            <a:schemeClr val="lt1"/>
          </a:fontRef>
        </p:style>
        <p:txBody>
          <a:bodyPr rtlCol="0" anchor="b"/>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周辺システム担当</a:t>
            </a:r>
          </a:p>
        </p:txBody>
      </p:sp>
      <p:sp>
        <p:nvSpPr>
          <p:cNvPr id="20" name="角丸四角形 19"/>
          <p:cNvSpPr/>
          <p:nvPr/>
        </p:nvSpPr>
        <p:spPr>
          <a:xfrm>
            <a:off x="1524000" y="4968002"/>
            <a:ext cx="1152000" cy="864000"/>
          </a:xfrm>
          <a:prstGeom prst="roundRect">
            <a:avLst>
              <a:gd name="adj" fmla="val 7350"/>
            </a:avLst>
          </a:prstGeom>
          <a:solidFill>
            <a:schemeClr val="bg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400" dirty="0">
                <a:solidFill>
                  <a:schemeClr val="tx1"/>
                </a:solidFill>
                <a:latin typeface="游ゴシック" panose="020B0400000000000000" pitchFamily="50" charset="-128"/>
                <a:ea typeface="游ゴシック" panose="020B0400000000000000" pitchFamily="50" charset="-128"/>
              </a:rPr>
              <a:t>ETS-R</a:t>
            </a: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担当ベンダー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2" name="角丸四角形 21"/>
          <p:cNvSpPr/>
          <p:nvPr/>
        </p:nvSpPr>
        <p:spPr>
          <a:xfrm>
            <a:off x="288000" y="4968002"/>
            <a:ext cx="1152000" cy="864000"/>
          </a:xfrm>
          <a:prstGeom prst="roundRect">
            <a:avLst>
              <a:gd name="adj" fmla="val 7350"/>
            </a:avLst>
          </a:prstGeom>
          <a:solidFill>
            <a:schemeClr val="bg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en-US" altLang="ja-JP" sz="1400" dirty="0" err="1">
                <a:solidFill>
                  <a:schemeClr val="tx1"/>
                </a:solidFill>
                <a:latin typeface="游ゴシック" panose="020B0400000000000000" pitchFamily="50" charset="-128"/>
                <a:ea typeface="游ゴシック" panose="020B0400000000000000" pitchFamily="50" charset="-128"/>
              </a:rPr>
              <a:t>OneSAP</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担当ベンダー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3" name="角丸四角形 22"/>
          <p:cNvSpPr/>
          <p:nvPr/>
        </p:nvSpPr>
        <p:spPr>
          <a:xfrm>
            <a:off x="2760000" y="4968002"/>
            <a:ext cx="1152000" cy="864000"/>
          </a:xfrm>
          <a:prstGeom prst="roundRect">
            <a:avLst>
              <a:gd name="adj" fmla="val 7350"/>
            </a:avLst>
          </a:prstGeom>
          <a:solidFill>
            <a:schemeClr val="bg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添加剤ロット</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管理システム</a:t>
            </a:r>
          </a:p>
          <a:p>
            <a:pPr algn="ctr"/>
            <a:r>
              <a:rPr lang="ja-JP" altLang="en-US" sz="1400" dirty="0">
                <a:solidFill>
                  <a:schemeClr val="tx1"/>
                </a:solidFill>
                <a:latin typeface="游ゴシック" panose="020B0400000000000000" pitchFamily="50" charset="-128"/>
                <a:ea typeface="游ゴシック" panose="020B0400000000000000" pitchFamily="50" charset="-128"/>
              </a:rPr>
              <a:t>担当ベンダー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4" name="角丸四角形 23"/>
          <p:cNvSpPr/>
          <p:nvPr/>
        </p:nvSpPr>
        <p:spPr>
          <a:xfrm>
            <a:off x="7704000" y="4968002"/>
            <a:ext cx="1152000" cy="864000"/>
          </a:xfrm>
          <a:prstGeom prst="roundRect">
            <a:avLst>
              <a:gd name="adj" fmla="val 7350"/>
            </a:avLst>
          </a:prstGeom>
          <a:solidFill>
            <a:schemeClr val="bg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ロット</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追跡システム</a:t>
            </a:r>
          </a:p>
          <a:p>
            <a:pPr algn="ctr"/>
            <a:r>
              <a:rPr lang="ja-JP" altLang="en-US" sz="1400" dirty="0">
                <a:solidFill>
                  <a:schemeClr val="tx1"/>
                </a:solidFill>
                <a:latin typeface="游ゴシック" panose="020B0400000000000000" pitchFamily="50" charset="-128"/>
                <a:ea typeface="游ゴシック" panose="020B0400000000000000" pitchFamily="50" charset="-128"/>
              </a:rPr>
              <a:t>担当ベンダー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5" name="角丸四角形 24"/>
          <p:cNvSpPr/>
          <p:nvPr/>
        </p:nvSpPr>
        <p:spPr>
          <a:xfrm>
            <a:off x="3996000" y="4968002"/>
            <a:ext cx="1152000" cy="864000"/>
          </a:xfrm>
          <a:prstGeom prst="roundRect">
            <a:avLst>
              <a:gd name="adj" fmla="val 7350"/>
            </a:avLst>
          </a:prstGeom>
          <a:solidFill>
            <a:schemeClr val="bg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充填管理</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システム</a:t>
            </a:r>
          </a:p>
          <a:p>
            <a:pPr algn="ctr"/>
            <a:r>
              <a:rPr lang="ja-JP" altLang="en-US" sz="1400" dirty="0">
                <a:solidFill>
                  <a:schemeClr val="tx1"/>
                </a:solidFill>
                <a:latin typeface="游ゴシック" panose="020B0400000000000000" pitchFamily="50" charset="-128"/>
                <a:ea typeface="游ゴシック" panose="020B0400000000000000" pitchFamily="50" charset="-128"/>
              </a:rPr>
              <a:t>担当ベンダー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6" name="角丸四角形 25"/>
          <p:cNvSpPr/>
          <p:nvPr/>
        </p:nvSpPr>
        <p:spPr>
          <a:xfrm>
            <a:off x="5232000" y="4968002"/>
            <a:ext cx="1152000" cy="864000"/>
          </a:xfrm>
          <a:prstGeom prst="roundRect">
            <a:avLst>
              <a:gd name="adj" fmla="val 7350"/>
            </a:avLst>
          </a:prstGeom>
          <a:solidFill>
            <a:schemeClr val="bg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自動倉庫</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システム</a:t>
            </a:r>
          </a:p>
          <a:p>
            <a:pPr algn="ctr"/>
            <a:r>
              <a:rPr lang="ja-JP" altLang="en-US" sz="1400" dirty="0">
                <a:solidFill>
                  <a:schemeClr val="tx1"/>
                </a:solidFill>
                <a:latin typeface="游ゴシック" panose="020B0400000000000000" pitchFamily="50" charset="-128"/>
                <a:ea typeface="游ゴシック" panose="020B0400000000000000" pitchFamily="50" charset="-128"/>
              </a:rPr>
              <a:t>担当ベンダー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7" name="角丸四角形 26"/>
          <p:cNvSpPr/>
          <p:nvPr/>
        </p:nvSpPr>
        <p:spPr>
          <a:xfrm>
            <a:off x="6468000" y="4968002"/>
            <a:ext cx="1152000" cy="864000"/>
          </a:xfrm>
          <a:prstGeom prst="roundRect">
            <a:avLst>
              <a:gd name="adj" fmla="val 7350"/>
            </a:avLst>
          </a:prstGeom>
          <a:solidFill>
            <a:schemeClr val="bg1"/>
          </a:solidFill>
          <a:ln w="12700">
            <a:solidFill>
              <a:schemeClr val="accent1"/>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潤滑油運転制御</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システム</a:t>
            </a:r>
          </a:p>
          <a:p>
            <a:pPr algn="ctr"/>
            <a:r>
              <a:rPr lang="ja-JP" altLang="en-US" sz="1400" dirty="0">
                <a:solidFill>
                  <a:schemeClr val="tx1"/>
                </a:solidFill>
                <a:latin typeface="游ゴシック" panose="020B0400000000000000" pitchFamily="50" charset="-128"/>
                <a:ea typeface="游ゴシック" panose="020B0400000000000000" pitchFamily="50" charset="-128"/>
              </a:rPr>
              <a:t>担当ベンダー</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99" name="テキスト ボックス 98"/>
          <p:cNvSpPr txBox="1">
            <a:spLocks/>
          </p:cNvSpPr>
          <p:nvPr/>
        </p:nvSpPr>
        <p:spPr>
          <a:xfrm>
            <a:off x="144000" y="864000"/>
            <a:ext cx="8856000" cy="504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弊社の</a:t>
            </a:r>
            <a:r>
              <a:rPr lang="en-US" altLang="ja-JP" sz="1400" dirty="0">
                <a:latin typeface="游ゴシック" panose="020B0400000000000000" pitchFamily="50" charset="-128"/>
                <a:ea typeface="游ゴシック" panose="020B0400000000000000" pitchFamily="50" charset="-128"/>
              </a:rPr>
              <a:t>PMO</a:t>
            </a:r>
            <a:r>
              <a:rPr lang="ja-JP" altLang="en-US" sz="1400" dirty="0">
                <a:latin typeface="游ゴシック" panose="020B0400000000000000" pitchFamily="50" charset="-128"/>
                <a:ea typeface="游ゴシック" panose="020B0400000000000000" pitchFamily="50" charset="-128"/>
              </a:rPr>
              <a:t>が貴社情報システム部に代わりプロジェクトの事務局を担当、</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利用部門や周辺システム担当ベンダーとの取りまとめ・各種調整を実施します。</a:t>
            </a:r>
            <a:endParaRPr kumimoji="1" lang="ja-JP" altLang="en-US" sz="1400" b="1" dirty="0">
              <a:solidFill>
                <a:schemeClr val="accent1"/>
              </a:solidFill>
              <a:latin typeface="游ゴシック" panose="020B0400000000000000" pitchFamily="50" charset="-128"/>
              <a:ea typeface="游ゴシック" panose="020B0400000000000000" pitchFamily="50" charset="-128"/>
            </a:endParaRPr>
          </a:p>
        </p:txBody>
      </p:sp>
      <p:sp>
        <p:nvSpPr>
          <p:cNvPr id="40" name="正方形/長方形 39"/>
          <p:cNvSpPr/>
          <p:nvPr/>
        </p:nvSpPr>
        <p:spPr>
          <a:xfrm>
            <a:off x="143999" y="1440000"/>
            <a:ext cx="6228000" cy="3024000"/>
          </a:xfrm>
          <a:prstGeom prst="rect">
            <a:avLst/>
          </a:prstGeom>
          <a:solidFill>
            <a:schemeClr val="accent2">
              <a:lumMod val="20000"/>
              <a:lumOff val="80000"/>
            </a:schemeClr>
          </a:solidFill>
          <a:ln w="19050">
            <a:solidFill>
              <a:schemeClr val="accent2"/>
            </a:solidFill>
          </a:ln>
        </p:spPr>
        <p:style>
          <a:lnRef idx="3">
            <a:schemeClr val="lt1"/>
          </a:lnRef>
          <a:fillRef idx="1">
            <a:schemeClr val="accent1"/>
          </a:fillRef>
          <a:effectRef idx="1">
            <a:schemeClr val="accent1"/>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出光興産様</a:t>
            </a:r>
          </a:p>
        </p:txBody>
      </p:sp>
      <p:sp>
        <p:nvSpPr>
          <p:cNvPr id="44" name="正方形/長方形 43"/>
          <p:cNvSpPr/>
          <p:nvPr/>
        </p:nvSpPr>
        <p:spPr>
          <a:xfrm>
            <a:off x="6516000" y="1440002"/>
            <a:ext cx="2484000" cy="3024000"/>
          </a:xfrm>
          <a:prstGeom prst="rect">
            <a:avLst/>
          </a:prstGeom>
          <a:solidFill>
            <a:schemeClr val="accent3">
              <a:lumMod val="20000"/>
              <a:lumOff val="80000"/>
            </a:schemeClr>
          </a:solidFill>
          <a:ln w="19050">
            <a:solidFill>
              <a:schemeClr val="accent3"/>
            </a:solidFill>
          </a:ln>
        </p:spPr>
        <p:style>
          <a:lnRef idx="3">
            <a:schemeClr val="lt1"/>
          </a:lnRef>
          <a:fillRef idx="1">
            <a:schemeClr val="accent1"/>
          </a:fillRef>
          <a:effectRef idx="1">
            <a:schemeClr val="accent1"/>
          </a:effectRef>
          <a:fontRef idx="minor">
            <a:schemeClr val="lt1"/>
          </a:fontRef>
        </p:style>
        <p:txBody>
          <a:bodyPr rtlCol="0" anchor="t"/>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弊社</a:t>
            </a:r>
          </a:p>
        </p:txBody>
      </p:sp>
      <p:sp>
        <p:nvSpPr>
          <p:cNvPr id="53" name="角丸四角形 52"/>
          <p:cNvSpPr/>
          <p:nvPr/>
        </p:nvSpPr>
        <p:spPr>
          <a:xfrm>
            <a:off x="6660000" y="3888002"/>
            <a:ext cx="2196000" cy="432000"/>
          </a:xfrm>
          <a:prstGeom prst="roundRect">
            <a:avLst>
              <a:gd name="adj" fmla="val 14699"/>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各チーム</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grpSp>
        <p:nvGrpSpPr>
          <p:cNvPr id="19" name="グループ化 18"/>
          <p:cNvGrpSpPr/>
          <p:nvPr/>
        </p:nvGrpSpPr>
        <p:grpSpPr>
          <a:xfrm>
            <a:off x="6660000" y="2160002"/>
            <a:ext cx="2196000" cy="1440000"/>
            <a:chOff x="6084000" y="1637147"/>
            <a:chExt cx="2448000" cy="1440000"/>
          </a:xfrm>
        </p:grpSpPr>
        <p:sp>
          <p:nvSpPr>
            <p:cNvPr id="9" name="正方形/長方形 8"/>
            <p:cNvSpPr/>
            <p:nvPr/>
          </p:nvSpPr>
          <p:spPr>
            <a:xfrm>
              <a:off x="6084000" y="1637147"/>
              <a:ext cx="2448000" cy="288000"/>
            </a:xfrm>
            <a:prstGeom prst="rect">
              <a:avLst/>
            </a:prstGeom>
            <a:solidFill>
              <a:schemeClr val="accent3"/>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dirty="0">
                  <a:solidFill>
                    <a:schemeClr val="bg1"/>
                  </a:solidFill>
                  <a:latin typeface="游ゴシック" panose="020B0400000000000000" pitchFamily="50" charset="-128"/>
                  <a:ea typeface="游ゴシック" panose="020B0400000000000000" pitchFamily="50" charset="-128"/>
                </a:rPr>
                <a:t>プロジェクト責任者</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sp>
          <p:nvSpPr>
            <p:cNvPr id="10" name="正方形/長方形 9"/>
            <p:cNvSpPr/>
            <p:nvPr/>
          </p:nvSpPr>
          <p:spPr>
            <a:xfrm>
              <a:off x="6084000" y="1925147"/>
              <a:ext cx="2448000" cy="360000"/>
            </a:xfrm>
            <a:prstGeom prst="rect">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福田慎</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1" name="正方形/長方形 10"/>
            <p:cNvSpPr/>
            <p:nvPr/>
          </p:nvSpPr>
          <p:spPr>
            <a:xfrm>
              <a:off x="6084000" y="2429147"/>
              <a:ext cx="2448000" cy="288000"/>
            </a:xfrm>
            <a:prstGeom prst="rect">
              <a:avLst/>
            </a:prstGeom>
            <a:solidFill>
              <a:schemeClr val="accent3"/>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lang="ja-JP" altLang="en-US" sz="1400" dirty="0">
                  <a:solidFill>
                    <a:schemeClr val="bg1"/>
                  </a:solidFill>
                  <a:latin typeface="游ゴシック" panose="020B0400000000000000" pitchFamily="50" charset="-128"/>
                  <a:ea typeface="游ゴシック" panose="020B0400000000000000" pitchFamily="50" charset="-128"/>
                </a:rPr>
                <a:t>プロジェクトマネージャー</a:t>
              </a:r>
              <a:endParaRPr kumimoji="1" lang="ja-JP" altLang="en-US" sz="1400" dirty="0">
                <a:solidFill>
                  <a:schemeClr val="bg1"/>
                </a:solidFill>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6084000" y="2717147"/>
              <a:ext cx="2448000" cy="360000"/>
            </a:xfrm>
            <a:prstGeom prst="rect">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小林紀昭</a:t>
              </a:r>
            </a:p>
          </p:txBody>
        </p:sp>
        <p:cxnSp>
          <p:nvCxnSpPr>
            <p:cNvPr id="16" name="直線コネクタ 15"/>
            <p:cNvCxnSpPr>
              <a:stCxn id="10" idx="2"/>
              <a:endCxn id="11" idx="0"/>
            </p:cNvCxnSpPr>
            <p:nvPr/>
          </p:nvCxnSpPr>
          <p:spPr>
            <a:xfrm>
              <a:off x="7308000" y="2285147"/>
              <a:ext cx="0" cy="144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29" name="角丸四角形 28"/>
          <p:cNvSpPr/>
          <p:nvPr/>
        </p:nvSpPr>
        <p:spPr>
          <a:xfrm>
            <a:off x="288000" y="1872000"/>
            <a:ext cx="2484000" cy="432000"/>
          </a:xfrm>
          <a:prstGeom prst="roundRect">
            <a:avLst>
              <a:gd name="adj" fmla="val 14699"/>
            </a:avLst>
          </a:prstGeom>
          <a:solidFill>
            <a:schemeClr val="bg1"/>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lIns="36000" rIns="36000" rtlCol="0" anchor="ctr"/>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利用部門</a:t>
            </a:r>
          </a:p>
        </p:txBody>
      </p:sp>
      <p:cxnSp>
        <p:nvCxnSpPr>
          <p:cNvPr id="57" name="直線コネクタ 56"/>
          <p:cNvCxnSpPr>
            <a:stCxn id="12" idx="2"/>
            <a:endCxn id="53" idx="0"/>
          </p:cNvCxnSpPr>
          <p:nvPr/>
        </p:nvCxnSpPr>
        <p:spPr>
          <a:xfrm>
            <a:off x="7758000" y="3600002"/>
            <a:ext cx="0" cy="288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角丸四角形 27"/>
          <p:cNvSpPr/>
          <p:nvPr/>
        </p:nvSpPr>
        <p:spPr>
          <a:xfrm>
            <a:off x="2916000" y="1872000"/>
            <a:ext cx="3312000" cy="2448000"/>
          </a:xfrm>
          <a:prstGeom prst="roundRect">
            <a:avLst>
              <a:gd name="adj" fmla="val 2594"/>
            </a:avLst>
          </a:prstGeom>
          <a:solidFill>
            <a:schemeClr val="bg1"/>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lIns="36000" rIns="36000" rtlCol="0" anchor="t"/>
          <a:lstStyle/>
          <a:p>
            <a:pPr algn="ctr"/>
            <a:r>
              <a:rPr kumimoji="1" lang="ja-JP" altLang="en-US" sz="1400" b="1" dirty="0">
                <a:solidFill>
                  <a:schemeClr val="tx1"/>
                </a:solidFill>
                <a:latin typeface="游ゴシック" panose="020B0400000000000000" pitchFamily="50" charset="-128"/>
                <a:ea typeface="游ゴシック" panose="020B0400000000000000" pitchFamily="50" charset="-128"/>
              </a:rPr>
              <a:t>情報システム部</a:t>
            </a:r>
          </a:p>
        </p:txBody>
      </p:sp>
      <p:sp>
        <p:nvSpPr>
          <p:cNvPr id="45" name="角丸四角形 44"/>
          <p:cNvSpPr/>
          <p:nvPr/>
        </p:nvSpPr>
        <p:spPr>
          <a:xfrm>
            <a:off x="3204000" y="2808002"/>
            <a:ext cx="2736000" cy="1368000"/>
          </a:xfrm>
          <a:prstGeom prst="roundRect">
            <a:avLst>
              <a:gd name="adj" fmla="val 4642"/>
            </a:avLst>
          </a:prstGeom>
          <a:solidFill>
            <a:schemeClr val="accent3">
              <a:lumMod val="20000"/>
              <a:lumOff val="8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wrap="none" lIns="36000" rIns="36000" rtlCol="0" anchor="t"/>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事務局</a:t>
            </a:r>
            <a:r>
              <a:rPr lang="en-US" altLang="ja-JP" sz="1400" b="1" dirty="0">
                <a:solidFill>
                  <a:schemeClr val="tx1"/>
                </a:solidFill>
                <a:latin typeface="游ゴシック" panose="020B0400000000000000" pitchFamily="50" charset="-128"/>
                <a:ea typeface="游ゴシック" panose="020B0400000000000000" pitchFamily="50" charset="-128"/>
              </a:rPr>
              <a:t> </a:t>
            </a:r>
          </a:p>
          <a:p>
            <a:pPr algn="ct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grpSp>
        <p:nvGrpSpPr>
          <p:cNvPr id="6" name="グループ化 5"/>
          <p:cNvGrpSpPr/>
          <p:nvPr/>
        </p:nvGrpSpPr>
        <p:grpSpPr>
          <a:xfrm>
            <a:off x="3492000" y="3168002"/>
            <a:ext cx="2160000" cy="864000"/>
            <a:chOff x="972000" y="2916000"/>
            <a:chExt cx="1944000" cy="864000"/>
          </a:xfrm>
        </p:grpSpPr>
        <p:sp>
          <p:nvSpPr>
            <p:cNvPr id="7" name="正方形/長方形 6"/>
            <p:cNvSpPr/>
            <p:nvPr/>
          </p:nvSpPr>
          <p:spPr>
            <a:xfrm>
              <a:off x="972000" y="2916000"/>
              <a:ext cx="1944000" cy="288000"/>
            </a:xfrm>
            <a:prstGeom prst="rect">
              <a:avLst/>
            </a:prstGeom>
            <a:solidFill>
              <a:schemeClr val="accent3">
                <a:lumMod val="50000"/>
              </a:scheme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36000" rIns="36000" rtlCol="0" anchor="ctr"/>
            <a:lstStyle/>
            <a:p>
              <a:pPr algn="ctr"/>
              <a:r>
                <a:rPr lang="en-US" altLang="ja-JP" sz="1400" b="1" dirty="0">
                  <a:solidFill>
                    <a:schemeClr val="bg1"/>
                  </a:solidFill>
                  <a:latin typeface="游ゴシック" panose="020B0400000000000000" pitchFamily="50" charset="-128"/>
                  <a:ea typeface="游ゴシック" panose="020B0400000000000000" pitchFamily="50" charset="-128"/>
                </a:rPr>
                <a:t>PMO</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p:txBody>
        </p:sp>
        <p:sp>
          <p:nvSpPr>
            <p:cNvPr id="8" name="正方形/長方形 7"/>
            <p:cNvSpPr/>
            <p:nvPr/>
          </p:nvSpPr>
          <p:spPr>
            <a:xfrm>
              <a:off x="972000" y="3204000"/>
              <a:ext cx="1944000" cy="576000"/>
            </a:xfrm>
            <a:prstGeom prst="rect">
              <a:avLst/>
            </a:prstGeom>
            <a:solidFill>
              <a:schemeClr val="bg1"/>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lIns="72000" tIns="108000" rIns="72000" rtlCol="0" anchor="t" anchorCtr="0"/>
            <a:lstStyle/>
            <a:p>
              <a:pPr algn="ctr"/>
              <a:r>
                <a:rPr lang="ja-JP" altLang="en-US" sz="1400" b="1" dirty="0">
                  <a:solidFill>
                    <a:schemeClr val="tx1"/>
                  </a:solidFill>
                  <a:latin typeface="游ゴシック" panose="020B0400000000000000" pitchFamily="50" charset="-128"/>
                  <a:ea typeface="游ゴシック" panose="020B0400000000000000" pitchFamily="50" charset="-128"/>
                </a:rPr>
                <a:t>福田一希</a:t>
              </a:r>
              <a:endParaRPr lang="en-US" altLang="ja-JP" sz="1400" b="1" dirty="0">
                <a:solidFill>
                  <a:schemeClr val="tx1"/>
                </a:solidFill>
                <a:latin typeface="游ゴシック" panose="020B0400000000000000" pitchFamily="50" charset="-128"/>
                <a:ea typeface="游ゴシック" panose="020B0400000000000000" pitchFamily="50" charset="-128"/>
              </a:endParaRPr>
            </a:p>
            <a:p>
              <a:pPr algn="ctr"/>
              <a:r>
                <a:rPr lang="ja-JP" altLang="en-US" sz="1400" b="1" dirty="0">
                  <a:solidFill>
                    <a:schemeClr val="tx1"/>
                  </a:solidFill>
                  <a:latin typeface="游ゴシック" panose="020B0400000000000000" pitchFamily="50" charset="-128"/>
                  <a:ea typeface="游ゴシック" panose="020B0400000000000000" pitchFamily="50" charset="-128"/>
                </a:rPr>
                <a:t>メンバー </a:t>
              </a:r>
              <a:r>
                <a:rPr lang="en-US" altLang="ja-JP" sz="1400" b="1" dirty="0">
                  <a:solidFill>
                    <a:schemeClr val="tx1"/>
                  </a:solidFill>
                  <a:latin typeface="游ゴシック" panose="020B0400000000000000" pitchFamily="50" charset="-128"/>
                  <a:ea typeface="游ゴシック" panose="020B0400000000000000" pitchFamily="50" charset="-128"/>
                </a:rPr>
                <a:t>1</a:t>
              </a:r>
              <a:r>
                <a:rPr lang="ja-JP" altLang="en-US" sz="1400" b="1" dirty="0">
                  <a:solidFill>
                    <a:schemeClr val="tx1"/>
                  </a:solidFill>
                  <a:latin typeface="游ゴシック" panose="020B0400000000000000" pitchFamily="50" charset="-128"/>
                  <a:ea typeface="游ゴシック" panose="020B0400000000000000" pitchFamily="50" charset="-128"/>
                </a:rPr>
                <a:t>名</a:t>
              </a:r>
              <a:endParaRPr lang="en-US" altLang="ja-JP" sz="1400" b="1" dirty="0">
                <a:solidFill>
                  <a:schemeClr val="tx1"/>
                </a:solidFill>
                <a:latin typeface="游ゴシック" panose="020B0400000000000000" pitchFamily="50" charset="-128"/>
                <a:ea typeface="游ゴシック" panose="020B0400000000000000" pitchFamily="50" charset="-128"/>
              </a:endParaRPr>
            </a:p>
          </p:txBody>
        </p:sp>
      </p:grpSp>
      <p:sp>
        <p:nvSpPr>
          <p:cNvPr id="101" name="角丸四角形 100"/>
          <p:cNvSpPr/>
          <p:nvPr/>
        </p:nvSpPr>
        <p:spPr>
          <a:xfrm>
            <a:off x="3204000" y="2304000"/>
            <a:ext cx="2736000" cy="360000"/>
          </a:xfrm>
          <a:prstGeom prst="roundRect">
            <a:avLst>
              <a:gd name="adj" fmla="val 17639"/>
            </a:avLst>
          </a:prstGeom>
          <a:solidFill>
            <a:schemeClr val="bg1"/>
          </a:solidFill>
          <a:ln w="12700">
            <a:solidFill>
              <a:schemeClr val="accent2"/>
            </a:solidFill>
          </a:ln>
        </p:spPr>
        <p:style>
          <a:lnRef idx="3">
            <a:schemeClr val="lt1"/>
          </a:lnRef>
          <a:fillRef idx="1">
            <a:schemeClr val="accent1"/>
          </a:fillRef>
          <a:effectRef idx="1">
            <a:schemeClr val="accent1"/>
          </a:effectRef>
          <a:fontRef idx="minor">
            <a:schemeClr val="lt1"/>
          </a:fontRef>
        </p:style>
        <p:txBody>
          <a:bodyPr wrap="none" lIns="72000" tIns="108000" rIns="72000" rtlCol="0" anchor="ctr" anchorCtr="0"/>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プロジェクトマネージャー</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cxnSp>
        <p:nvCxnSpPr>
          <p:cNvPr id="102" name="直線コネクタ 101"/>
          <p:cNvCxnSpPr>
            <a:stCxn id="101" idx="2"/>
            <a:endCxn id="45" idx="0"/>
          </p:cNvCxnSpPr>
          <p:nvPr/>
        </p:nvCxnSpPr>
        <p:spPr>
          <a:xfrm>
            <a:off x="4572000" y="2664000"/>
            <a:ext cx="0" cy="144002"/>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4" name="カギ線コネクタ 63"/>
          <p:cNvCxnSpPr>
            <a:stCxn id="45" idx="2"/>
            <a:endCxn id="22" idx="0"/>
          </p:cNvCxnSpPr>
          <p:nvPr/>
        </p:nvCxnSpPr>
        <p:spPr>
          <a:xfrm rot="5400000">
            <a:off x="2322000" y="2718002"/>
            <a:ext cx="792000" cy="3708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2" name="カギ線コネクタ 71"/>
          <p:cNvCxnSpPr>
            <a:stCxn id="45" idx="2"/>
            <a:endCxn id="20" idx="0"/>
          </p:cNvCxnSpPr>
          <p:nvPr/>
        </p:nvCxnSpPr>
        <p:spPr>
          <a:xfrm rot="5400000">
            <a:off x="2940000" y="3336002"/>
            <a:ext cx="792000" cy="2472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5" name="カギ線コネクタ 74"/>
          <p:cNvCxnSpPr>
            <a:stCxn id="45" idx="2"/>
            <a:endCxn id="23" idx="0"/>
          </p:cNvCxnSpPr>
          <p:nvPr/>
        </p:nvCxnSpPr>
        <p:spPr>
          <a:xfrm rot="5400000">
            <a:off x="3558000" y="3954002"/>
            <a:ext cx="792000" cy="1236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4" name="カギ線コネクタ 83"/>
          <p:cNvCxnSpPr>
            <a:stCxn id="45" idx="2"/>
            <a:endCxn id="26" idx="0"/>
          </p:cNvCxnSpPr>
          <p:nvPr/>
        </p:nvCxnSpPr>
        <p:spPr>
          <a:xfrm rot="16200000" flipH="1">
            <a:off x="4794000" y="3954002"/>
            <a:ext cx="792000" cy="1236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87" name="カギ線コネクタ 86"/>
          <p:cNvCxnSpPr>
            <a:stCxn id="45" idx="2"/>
            <a:endCxn id="27" idx="0"/>
          </p:cNvCxnSpPr>
          <p:nvPr/>
        </p:nvCxnSpPr>
        <p:spPr>
          <a:xfrm rot="16200000" flipH="1">
            <a:off x="5412000" y="3336002"/>
            <a:ext cx="792000" cy="2472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カギ線コネクタ 89"/>
          <p:cNvCxnSpPr>
            <a:stCxn id="45" idx="2"/>
            <a:endCxn id="24" idx="0"/>
          </p:cNvCxnSpPr>
          <p:nvPr/>
        </p:nvCxnSpPr>
        <p:spPr>
          <a:xfrm rot="16200000" flipH="1">
            <a:off x="6030000" y="2718002"/>
            <a:ext cx="792000" cy="3708000"/>
          </a:xfrm>
          <a:prstGeom prst="bentConnector3">
            <a:avLst>
              <a:gd name="adj1" fmla="val 50000"/>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7" name="四角形吹き出し 106"/>
          <p:cNvSpPr/>
          <p:nvPr/>
        </p:nvSpPr>
        <p:spPr>
          <a:xfrm>
            <a:off x="288000" y="3168000"/>
            <a:ext cx="2484000" cy="1151999"/>
          </a:xfrm>
          <a:prstGeom prst="wedgeRectCallout">
            <a:avLst>
              <a:gd name="adj1" fmla="val 67336"/>
              <a:gd name="adj2" fmla="val -21785"/>
            </a:avLst>
          </a:prstGeom>
          <a:ln>
            <a:solidFill>
              <a:schemeClr val="accent3"/>
            </a:solidFill>
          </a:ln>
        </p:spPr>
        <p:style>
          <a:lnRef idx="2">
            <a:schemeClr val="accent4"/>
          </a:lnRef>
          <a:fillRef idx="1">
            <a:schemeClr val="lt1"/>
          </a:fillRef>
          <a:effectRef idx="0">
            <a:schemeClr val="accent4"/>
          </a:effectRef>
          <a:fontRef idx="minor">
            <a:schemeClr val="dk1"/>
          </a:fontRef>
        </p:style>
        <p:txBody>
          <a:bodyPr rtlCol="0" anchor="t"/>
          <a:lstStyle/>
          <a:p>
            <a:r>
              <a:rPr lang="ja-JP" altLang="en-US" sz="1400" dirty="0">
                <a:solidFill>
                  <a:schemeClr val="tx1"/>
                </a:solidFill>
                <a:latin typeface="游ゴシック" panose="020B0400000000000000" pitchFamily="50" charset="-128"/>
                <a:ea typeface="游ゴシック" panose="020B0400000000000000" pitchFamily="50" charset="-128"/>
              </a:rPr>
              <a:t>利用部門への確認依頼、周辺システム担当ベンダーへの各種依頼・進捗状況の収集・とりまとめ、貴社</a:t>
            </a:r>
            <a:r>
              <a:rPr lang="en-US" altLang="ja-JP" sz="1400" dirty="0">
                <a:solidFill>
                  <a:schemeClr val="tx1"/>
                </a:solidFill>
                <a:latin typeface="游ゴシック" panose="020B0400000000000000" pitchFamily="50" charset="-128"/>
                <a:ea typeface="游ゴシック" panose="020B0400000000000000" pitchFamily="50" charset="-128"/>
              </a:rPr>
              <a:t>PM</a:t>
            </a:r>
            <a:r>
              <a:rPr lang="ja-JP" altLang="en-US" sz="1400" dirty="0" err="1">
                <a:solidFill>
                  <a:schemeClr val="tx1"/>
                </a:solidFill>
                <a:latin typeface="游ゴシック" panose="020B0400000000000000" pitchFamily="50" charset="-128"/>
                <a:ea typeface="游ゴシック" panose="020B0400000000000000" pitchFamily="50" charset="-128"/>
              </a:rPr>
              <a:t>への</a:t>
            </a:r>
            <a:r>
              <a:rPr lang="ja-JP" altLang="en-US" sz="1400" dirty="0">
                <a:solidFill>
                  <a:schemeClr val="tx1"/>
                </a:solidFill>
                <a:latin typeface="游ゴシック" panose="020B0400000000000000" pitchFamily="50" charset="-128"/>
                <a:ea typeface="游ゴシック" panose="020B0400000000000000" pitchFamily="50" charset="-128"/>
              </a:rPr>
              <a:t>報告等を実施します。</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cxnSp>
        <p:nvCxnSpPr>
          <p:cNvPr id="31" name="カギ線コネクタ 30"/>
          <p:cNvCxnSpPr/>
          <p:nvPr/>
        </p:nvCxnSpPr>
        <p:spPr>
          <a:xfrm rot="16200000" flipH="1">
            <a:off x="1980000" y="1818000"/>
            <a:ext cx="756000" cy="169200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p:cNvCxnSpPr>
            <a:stCxn id="45" idx="2"/>
            <a:endCxn id="25" idx="0"/>
          </p:cNvCxnSpPr>
          <p:nvPr/>
        </p:nvCxnSpPr>
        <p:spPr>
          <a:xfrm>
            <a:off x="4572000" y="4176002"/>
            <a:ext cx="0" cy="792000"/>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カギ線コネクタ 12"/>
          <p:cNvCxnSpPr>
            <a:stCxn id="12" idx="2"/>
            <a:endCxn id="8" idx="3"/>
          </p:cNvCxnSpPr>
          <p:nvPr/>
        </p:nvCxnSpPr>
        <p:spPr>
          <a:xfrm rot="5400000">
            <a:off x="6633000" y="2619002"/>
            <a:ext cx="144000" cy="2106000"/>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8753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再委託先について</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49</a:t>
            </a:fld>
            <a:endParaRPr kumimoji="1" lang="ja-JP" altLang="en-US"/>
          </a:p>
        </p:txBody>
      </p:sp>
      <p:sp>
        <p:nvSpPr>
          <p:cNvPr id="7" name="テキスト ボックス 6"/>
          <p:cNvSpPr txBox="1">
            <a:spLocks/>
          </p:cNvSpPr>
          <p:nvPr/>
        </p:nvSpPr>
        <p:spPr>
          <a:xfrm>
            <a:off x="144000" y="1080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作業の一部を弊社のグループ会社であるシステムエグゼベトナムへ再委託します。</a:t>
            </a:r>
            <a:endParaRPr kumimoji="1" lang="en-US" altLang="ja-JP" sz="1400" dirty="0">
              <a:latin typeface="游ゴシック" panose="020B0400000000000000" pitchFamily="50" charset="-128"/>
              <a:ea typeface="游ゴシック" panose="020B0400000000000000" pitchFamily="50" charset="-128"/>
            </a:endParaRPr>
          </a:p>
        </p:txBody>
      </p:sp>
      <p:graphicFrame>
        <p:nvGraphicFramePr>
          <p:cNvPr id="9" name="表 8"/>
          <p:cNvGraphicFramePr>
            <a:graphicFrameLocks noGrp="1"/>
          </p:cNvGraphicFramePr>
          <p:nvPr>
            <p:extLst>
              <p:ext uri="{D42A27DB-BD31-4B8C-83A1-F6EECF244321}">
                <p14:modId xmlns:p14="http://schemas.microsoft.com/office/powerpoint/2010/main" val="3004325347"/>
              </p:ext>
            </p:extLst>
          </p:nvPr>
        </p:nvGraphicFramePr>
        <p:xfrm>
          <a:off x="1836655" y="1728000"/>
          <a:ext cx="5470690" cy="2042160"/>
        </p:xfrm>
        <a:graphic>
          <a:graphicData uri="http://schemas.openxmlformats.org/drawingml/2006/table">
            <a:tbl>
              <a:tblPr>
                <a:tableStyleId>{2D5ABB26-0587-4C30-8999-92F81FD0307C}</a:tableStyleId>
              </a:tblPr>
              <a:tblGrid>
                <a:gridCol w="1223539">
                  <a:extLst>
                    <a:ext uri="{9D8B030D-6E8A-4147-A177-3AD203B41FA5}">
                      <a16:colId xmlns:a16="http://schemas.microsoft.com/office/drawing/2014/main" val="1183494358"/>
                    </a:ext>
                  </a:extLst>
                </a:gridCol>
                <a:gridCol w="4247151">
                  <a:extLst>
                    <a:ext uri="{9D8B030D-6E8A-4147-A177-3AD203B41FA5}">
                      <a16:colId xmlns:a16="http://schemas.microsoft.com/office/drawing/2014/main" val="1958162040"/>
                    </a:ext>
                  </a:extLst>
                </a:gridCol>
              </a:tblGrid>
              <a:tr h="163331">
                <a:tc>
                  <a:txBody>
                    <a:bodyPr/>
                    <a:lstStyle/>
                    <a:p>
                      <a:r>
                        <a:rPr kumimoji="1" lang="ja-JP" altLang="en-US" sz="1400" dirty="0">
                          <a:latin typeface="游ゴシック" panose="020B0400000000000000" pitchFamily="50" charset="-128"/>
                          <a:ea typeface="游ゴシック" panose="020B0400000000000000" pitchFamily="50" charset="-128"/>
                        </a:rPr>
                        <a:t>社名</a:t>
                      </a:r>
                    </a:p>
                  </a:txBody>
                  <a:tcPr anchor="b">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lang="en-US" altLang="ja-JP" sz="1400" dirty="0">
                          <a:latin typeface="游ゴシック" panose="020B0400000000000000" pitchFamily="50" charset="-128"/>
                          <a:ea typeface="游ゴシック" panose="020B0400000000000000" pitchFamily="50" charset="-128"/>
                        </a:rPr>
                        <a:t>SYSTEMEXE VIETNAM COMPANY LIMITED</a:t>
                      </a:r>
                      <a:endParaRPr kumimoji="1" lang="ja-JP" altLang="en-US" sz="1400" dirty="0">
                        <a:latin typeface="游ゴシック" panose="020B0400000000000000" pitchFamily="50" charset="-128"/>
                        <a:ea typeface="游ゴシック" panose="020B0400000000000000" pitchFamily="50" charset="-128"/>
                      </a:endParaRPr>
                    </a:p>
                  </a:txBody>
                  <a:tcPr anchor="b">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50695016"/>
                  </a:ext>
                </a:extLst>
              </a:tr>
              <a:tr h="163331">
                <a:tc>
                  <a:txBody>
                    <a:bodyPr/>
                    <a:lstStyle/>
                    <a:p>
                      <a:r>
                        <a:rPr kumimoji="1" lang="ja-JP" altLang="en-US" sz="1400" dirty="0">
                          <a:latin typeface="游ゴシック" panose="020B0400000000000000" pitchFamily="50" charset="-128"/>
                          <a:ea typeface="游ゴシック" panose="020B0400000000000000" pitchFamily="50" charset="-128"/>
                        </a:rPr>
                        <a:t>所在地</a:t>
                      </a:r>
                    </a:p>
                  </a:txBody>
                  <a:tcPr anchor="b">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dirty="0">
                          <a:latin typeface="游ゴシック" panose="020B0400000000000000" pitchFamily="50" charset="-128"/>
                          <a:ea typeface="游ゴシック" panose="020B0400000000000000" pitchFamily="50" charset="-128"/>
                        </a:rPr>
                        <a:t>2F, E-Town 1, 364 Cong </a:t>
                      </a:r>
                      <a:r>
                        <a:rPr lang="en-US" altLang="ja-JP" sz="1400" dirty="0" err="1">
                          <a:latin typeface="游ゴシック" panose="020B0400000000000000" pitchFamily="50" charset="-128"/>
                          <a:ea typeface="游ゴシック" panose="020B0400000000000000" pitchFamily="50" charset="-128"/>
                        </a:rPr>
                        <a:t>Hoa</a:t>
                      </a:r>
                      <a:r>
                        <a:rPr lang="en-US" altLang="ja-JP" sz="1400" dirty="0">
                          <a:latin typeface="游ゴシック" panose="020B0400000000000000" pitchFamily="50" charset="-128"/>
                          <a:ea typeface="游ゴシック" panose="020B0400000000000000" pitchFamily="50" charset="-128"/>
                        </a:rPr>
                        <a:t> ST., Tan </a:t>
                      </a:r>
                      <a:r>
                        <a:rPr lang="en-US" altLang="ja-JP" sz="1400" dirty="0" err="1">
                          <a:latin typeface="游ゴシック" panose="020B0400000000000000" pitchFamily="50" charset="-128"/>
                          <a:ea typeface="游ゴシック" panose="020B0400000000000000" pitchFamily="50" charset="-128"/>
                        </a:rPr>
                        <a:t>Binh</a:t>
                      </a:r>
                      <a:r>
                        <a:rPr lang="en-US" altLang="ja-JP" sz="1400" dirty="0">
                          <a:latin typeface="游ゴシック" panose="020B0400000000000000" pitchFamily="50" charset="-128"/>
                          <a:ea typeface="游ゴシック" panose="020B0400000000000000" pitchFamily="50" charset="-128"/>
                        </a:rPr>
                        <a:t> Dist., Ho Chi Minh City, VIETNAM</a:t>
                      </a:r>
                    </a:p>
                  </a:txBody>
                  <a:tcPr anchor="b">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054251925"/>
                  </a:ext>
                </a:extLst>
              </a:tr>
              <a:tr h="163331">
                <a:tc>
                  <a:txBody>
                    <a:bodyPr/>
                    <a:lstStyle/>
                    <a:p>
                      <a:r>
                        <a:rPr kumimoji="1" lang="en-US" altLang="ja-JP" sz="1400" dirty="0">
                          <a:latin typeface="游ゴシック" panose="020B0400000000000000" pitchFamily="50" charset="-128"/>
                          <a:ea typeface="游ゴシック" panose="020B0400000000000000" pitchFamily="50" charset="-128"/>
                        </a:rPr>
                        <a:t>TEL</a:t>
                      </a:r>
                      <a:endParaRPr kumimoji="1" lang="ja-JP" altLang="en-US" sz="1400" dirty="0">
                        <a:latin typeface="游ゴシック" panose="020B0400000000000000" pitchFamily="50" charset="-128"/>
                        <a:ea typeface="游ゴシック" panose="020B0400000000000000" pitchFamily="50" charset="-128"/>
                      </a:endParaRPr>
                    </a:p>
                  </a:txBody>
                  <a:tcPr anchor="b">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dirty="0">
                          <a:latin typeface="游ゴシック" panose="020B0400000000000000" pitchFamily="50" charset="-128"/>
                          <a:ea typeface="游ゴシック" panose="020B0400000000000000" pitchFamily="50" charset="-128"/>
                        </a:rPr>
                        <a:t>+84-28-3810-3385</a:t>
                      </a:r>
                    </a:p>
                  </a:txBody>
                  <a:tcPr anchor="b">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411563910"/>
                  </a:ext>
                </a:extLst>
              </a:tr>
              <a:tr h="163331">
                <a:tc>
                  <a:txBody>
                    <a:bodyPr/>
                    <a:lstStyle/>
                    <a:p>
                      <a:r>
                        <a:rPr kumimoji="1" lang="en-US" altLang="ja-JP" sz="1400" dirty="0">
                          <a:latin typeface="游ゴシック" panose="020B0400000000000000" pitchFamily="50" charset="-128"/>
                          <a:ea typeface="游ゴシック" panose="020B0400000000000000" pitchFamily="50" charset="-128"/>
                        </a:rPr>
                        <a:t>WEB</a:t>
                      </a:r>
                      <a:r>
                        <a:rPr kumimoji="1" lang="ja-JP" altLang="en-US" sz="1400" dirty="0">
                          <a:latin typeface="游ゴシック" panose="020B0400000000000000" pitchFamily="50" charset="-128"/>
                          <a:ea typeface="游ゴシック" panose="020B0400000000000000" pitchFamily="50" charset="-128"/>
                        </a:rPr>
                        <a:t>サイト</a:t>
                      </a:r>
                    </a:p>
                  </a:txBody>
                  <a:tcPr anchor="b">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dirty="0">
                          <a:latin typeface="游ゴシック" panose="020B0400000000000000" pitchFamily="50" charset="-128"/>
                          <a:ea typeface="游ゴシック" panose="020B0400000000000000" pitchFamily="50" charset="-128"/>
                          <a:hlinkClick r:id="rId2"/>
                        </a:rPr>
                        <a:t>http://www.system-exe.com.vn/</a:t>
                      </a:r>
                      <a:endParaRPr lang="en-US" altLang="ja-JP" sz="1400" dirty="0">
                        <a:latin typeface="游ゴシック" panose="020B0400000000000000" pitchFamily="50" charset="-128"/>
                        <a:ea typeface="游ゴシック" panose="020B0400000000000000" pitchFamily="50" charset="-128"/>
                      </a:endParaRPr>
                    </a:p>
                  </a:txBody>
                  <a:tcPr anchor="b">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56090469"/>
                  </a:ext>
                </a:extLst>
              </a:tr>
              <a:tr h="163331">
                <a:tc>
                  <a:txBody>
                    <a:bodyPr/>
                    <a:lstStyle/>
                    <a:p>
                      <a:r>
                        <a:rPr kumimoji="1" lang="ja-JP" altLang="en-US" sz="1400" dirty="0">
                          <a:latin typeface="游ゴシック" panose="020B0400000000000000" pitchFamily="50" charset="-128"/>
                          <a:ea typeface="游ゴシック" panose="020B0400000000000000" pitchFamily="50" charset="-128"/>
                        </a:rPr>
                        <a:t>契約形態</a:t>
                      </a:r>
                    </a:p>
                  </a:txBody>
                  <a:tcPr anchor="b">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ja-JP" altLang="en-US" sz="1400" dirty="0">
                          <a:latin typeface="游ゴシック" panose="020B0400000000000000" pitchFamily="50" charset="-128"/>
                          <a:ea typeface="游ゴシック" panose="020B0400000000000000" pitchFamily="50" charset="-128"/>
                        </a:rPr>
                        <a:t>準委任契約</a:t>
                      </a:r>
                    </a:p>
                  </a:txBody>
                  <a:tcPr anchor="b">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53737232"/>
                  </a:ext>
                </a:extLst>
              </a:tr>
              <a:tr h="163331">
                <a:tc>
                  <a:txBody>
                    <a:bodyPr/>
                    <a:lstStyle/>
                    <a:p>
                      <a:r>
                        <a:rPr kumimoji="1" lang="ja-JP" altLang="en-US" sz="1400" dirty="0">
                          <a:latin typeface="游ゴシック" panose="020B0400000000000000" pitchFamily="50" charset="-128"/>
                          <a:ea typeface="游ゴシック" panose="020B0400000000000000" pitchFamily="50" charset="-128"/>
                        </a:rPr>
                        <a:t>作業場所</a:t>
                      </a:r>
                    </a:p>
                  </a:txBody>
                  <a:tcPr anchor="b">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ja-JP" altLang="en-US" sz="1400" dirty="0">
                          <a:latin typeface="游ゴシック" panose="020B0400000000000000" pitchFamily="50" charset="-128"/>
                          <a:ea typeface="游ゴシック" panose="020B0400000000000000" pitchFamily="50" charset="-128"/>
                        </a:rPr>
                        <a:t>システムエグゼベトナム社内（ベトナム）</a:t>
                      </a:r>
                    </a:p>
                  </a:txBody>
                  <a:tcPr anchor="b">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61441430"/>
                  </a:ext>
                </a:extLst>
              </a:tr>
            </a:tbl>
          </a:graphicData>
        </a:graphic>
      </p:graphicFrame>
      <p:sp>
        <p:nvSpPr>
          <p:cNvPr id="10" name="テキスト ボックス 9"/>
          <p:cNvSpPr txBox="1">
            <a:spLocks/>
          </p:cNvSpPr>
          <p:nvPr/>
        </p:nvSpPr>
        <p:spPr>
          <a:xfrm>
            <a:off x="144000" y="4176000"/>
            <a:ext cx="8856000" cy="2016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上記のシステムエグゼベトナム以外におきましても</a:t>
            </a:r>
            <a:endParaRPr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再委託によ</a:t>
            </a:r>
            <a:r>
              <a:rPr lang="ja-JP" altLang="en-US" sz="1400" dirty="0">
                <a:latin typeface="游ゴシック" panose="020B0400000000000000" pitchFamily="50" charset="-128"/>
                <a:ea typeface="游ゴシック" panose="020B0400000000000000" pitchFamily="50" charset="-128"/>
              </a:rPr>
              <a:t>り数名の要員を確保</a:t>
            </a:r>
            <a:r>
              <a:rPr kumimoji="1" lang="ja-JP" altLang="en-US" sz="1400" dirty="0">
                <a:latin typeface="游ゴシック" panose="020B0400000000000000" pitchFamily="50" charset="-128"/>
                <a:ea typeface="游ゴシック" panose="020B0400000000000000" pitchFamily="50" charset="-128"/>
              </a:rPr>
              <a:t>することを想定しておりますが</a:t>
            </a:r>
            <a:endParaRPr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現時点では再委託先は未定となります。</a:t>
            </a:r>
            <a:endParaRPr kumimoji="1" lang="en-US" altLang="ja-JP" sz="1400" dirty="0">
              <a:latin typeface="游ゴシック" panose="020B0400000000000000" pitchFamily="50" charset="-128"/>
              <a:ea typeface="游ゴシック" panose="020B0400000000000000" pitchFamily="50" charset="-128"/>
            </a:endParaRPr>
          </a:p>
          <a:p>
            <a:pPr algn="ctr"/>
            <a:endParaRPr kumimoji="1"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システムエグゼベトナム以外の再委託先につきましては</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弊社管理が行き届く範囲にて実施することとするため</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準委任契約により弊社千葉オフィス内にて作業することを想定しており、</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弊社内以外での作業による再委託は実施いたしません。</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再委託につきましては、決定次第、貴社にご連絡し承諾を頂いた上で着任することとします。</a:t>
            </a:r>
            <a:endParaRPr lang="en-US" altLang="ja-JP" sz="14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2389865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役割と責任</a:t>
            </a:r>
            <a:endParaRPr kumimoji="1" lang="ja-JP" altLang="en-US" dirty="0"/>
          </a:p>
        </p:txBody>
      </p:sp>
      <p:graphicFrame>
        <p:nvGraphicFramePr>
          <p:cNvPr id="6" name="コンテンツ プレースホルダー 5"/>
          <p:cNvGraphicFramePr>
            <a:graphicFrameLocks noGrp="1"/>
          </p:cNvGraphicFramePr>
          <p:nvPr>
            <p:ph idx="1"/>
            <p:extLst>
              <p:ext uri="{D42A27DB-BD31-4B8C-83A1-F6EECF244321}">
                <p14:modId xmlns:p14="http://schemas.microsoft.com/office/powerpoint/2010/main" val="3135102266"/>
              </p:ext>
            </p:extLst>
          </p:nvPr>
        </p:nvGraphicFramePr>
        <p:xfrm>
          <a:off x="144463" y="863599"/>
          <a:ext cx="8855076" cy="5472545"/>
        </p:xfrm>
        <a:graphic>
          <a:graphicData uri="http://schemas.openxmlformats.org/drawingml/2006/table">
            <a:tbl>
              <a:tblPr firstRow="1" bandRow="1">
                <a:tableStyleId>{2D5ABB26-0587-4C30-8999-92F81FD0307C}</a:tableStyleId>
              </a:tblPr>
              <a:tblGrid>
                <a:gridCol w="3079028">
                  <a:extLst>
                    <a:ext uri="{9D8B030D-6E8A-4147-A177-3AD203B41FA5}">
                      <a16:colId xmlns:a16="http://schemas.microsoft.com/office/drawing/2014/main" val="3051579495"/>
                    </a:ext>
                  </a:extLst>
                </a:gridCol>
                <a:gridCol w="5776048">
                  <a:extLst>
                    <a:ext uri="{9D8B030D-6E8A-4147-A177-3AD203B41FA5}">
                      <a16:colId xmlns:a16="http://schemas.microsoft.com/office/drawing/2014/main" val="343900876"/>
                    </a:ext>
                  </a:extLst>
                </a:gridCol>
              </a:tblGrid>
              <a:tr h="312717">
                <a:tc>
                  <a:txBody>
                    <a:bodyPr/>
                    <a:lstStyle/>
                    <a:p>
                      <a:r>
                        <a:rPr kumimoji="1" lang="ja-JP" altLang="en-US" sz="1400" b="1" dirty="0">
                          <a:solidFill>
                            <a:schemeClr val="bg1"/>
                          </a:solidFill>
                          <a:latin typeface="游ゴシック" panose="020B0400000000000000" pitchFamily="50" charset="-128"/>
                          <a:ea typeface="游ゴシック" panose="020B0400000000000000" pitchFamily="50" charset="-128"/>
                        </a:rPr>
                        <a:t>役割</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r>
                        <a:rPr kumimoji="1" lang="ja-JP" altLang="en-US" sz="1400" b="1" dirty="0">
                          <a:solidFill>
                            <a:schemeClr val="bg1"/>
                          </a:solidFill>
                          <a:latin typeface="游ゴシック" panose="020B0400000000000000" pitchFamily="50" charset="-128"/>
                          <a:ea typeface="游ゴシック" panose="020B0400000000000000" pitchFamily="50" charset="-128"/>
                        </a:rPr>
                        <a:t>責任（作業内容）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806219429"/>
                  </a:ext>
                </a:extLst>
              </a:tr>
              <a:tr h="531619">
                <a:tc>
                  <a:txBody>
                    <a:bodyPr/>
                    <a:lstStyle/>
                    <a:p>
                      <a:r>
                        <a:rPr kumimoji="1" lang="ja-JP" altLang="en-US" sz="1400" dirty="0">
                          <a:latin typeface="游ゴシック" panose="020B0400000000000000" pitchFamily="50" charset="-128"/>
                          <a:ea typeface="游ゴシック" panose="020B0400000000000000" pitchFamily="50" charset="-128"/>
                        </a:rPr>
                        <a:t>プロジェクト責任者</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プロジェクト全般にわたるシステムエグゼの責任者</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プロジェクト全体方針の確認</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21282771"/>
                  </a:ext>
                </a:extLst>
              </a:tr>
              <a:tr h="2282833">
                <a:tc>
                  <a:txBody>
                    <a:bodyPr/>
                    <a:lstStyle/>
                    <a:p>
                      <a:r>
                        <a:rPr kumimoji="1" lang="ja-JP" altLang="en-US" sz="1400" dirty="0">
                          <a:latin typeface="游ゴシック" panose="020B0400000000000000" pitchFamily="50" charset="-128"/>
                          <a:ea typeface="游ゴシック" panose="020B0400000000000000" pitchFamily="50" charset="-128"/>
                        </a:rPr>
                        <a:t>プロジェクトマネージャー</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（略称：</a:t>
                      </a:r>
                      <a:r>
                        <a:rPr kumimoji="1" lang="en-US" altLang="ja-JP" sz="1400" dirty="0">
                          <a:latin typeface="游ゴシック" panose="020B0400000000000000" pitchFamily="50" charset="-128"/>
                          <a:ea typeface="游ゴシック" panose="020B0400000000000000" pitchFamily="50" charset="-128"/>
                        </a:rPr>
                        <a:t>PM</a:t>
                      </a:r>
                      <a:r>
                        <a:rPr kumimoji="1" lang="ja-JP" altLang="en-US" sz="1400" dirty="0">
                          <a:latin typeface="游ゴシック" panose="020B0400000000000000" pitchFamily="50" charset="-128"/>
                          <a:ea typeface="游ゴシック" panose="020B0400000000000000" pitchFamily="50" charset="-128"/>
                        </a:rPr>
                        <a: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プロジェクト全般にかかわる重要方針の決定</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プロジェクト全体の運営管理</a:t>
                      </a:r>
                      <a:br>
                        <a:rPr kumimoji="1" lang="en-US" altLang="ja-JP" sz="1400" dirty="0">
                          <a:latin typeface="游ゴシック" panose="020B0400000000000000" pitchFamily="50" charset="-128"/>
                          <a:ea typeface="游ゴシック" panose="020B0400000000000000" pitchFamily="50" charset="-128"/>
                        </a:rPr>
                      </a:br>
                      <a:r>
                        <a:rPr kumimoji="1" lang="ja-JP" altLang="en-US" sz="1400" dirty="0">
                          <a:latin typeface="游ゴシック" panose="020B0400000000000000" pitchFamily="50" charset="-128"/>
                          <a:ea typeface="游ゴシック" panose="020B0400000000000000" pitchFamily="50" charset="-128"/>
                        </a:rPr>
                        <a:t>（目標、範囲、予算、スケジュール、要員等）</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プロジェクト決定事項のメンバーへの周知</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プロジェクト全体の品質管理</a:t>
                      </a:r>
                      <a:br>
                        <a:rPr kumimoji="1" lang="en-US" altLang="ja-JP" sz="1400" dirty="0">
                          <a:latin typeface="游ゴシック" panose="020B0400000000000000" pitchFamily="50" charset="-128"/>
                          <a:ea typeface="游ゴシック" panose="020B0400000000000000" pitchFamily="50" charset="-128"/>
                        </a:rPr>
                      </a:br>
                      <a:r>
                        <a:rPr kumimoji="1" lang="ja-JP" altLang="en-US" sz="1400" dirty="0">
                          <a:latin typeface="游ゴシック" panose="020B0400000000000000" pitchFamily="50" charset="-128"/>
                          <a:ea typeface="游ゴシック" panose="020B0400000000000000" pitchFamily="50" charset="-128"/>
                        </a:rPr>
                        <a:t>（主要成果物のレビュー、成果物の標準化）</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プロジェクト全体の課題管理</a:t>
                      </a:r>
                      <a:br>
                        <a:rPr kumimoji="1" lang="en-US" altLang="ja-JP" sz="1400" dirty="0">
                          <a:latin typeface="游ゴシック" panose="020B0400000000000000" pitchFamily="50" charset="-128"/>
                          <a:ea typeface="游ゴシック" panose="020B0400000000000000" pitchFamily="50" charset="-128"/>
                        </a:rPr>
                      </a:br>
                      <a:r>
                        <a:rPr kumimoji="1" lang="ja-JP" altLang="en-US" sz="1400" dirty="0">
                          <a:latin typeface="游ゴシック" panose="020B0400000000000000" pitchFamily="50" charset="-128"/>
                          <a:ea typeface="游ゴシック" panose="020B0400000000000000" pitchFamily="50" charset="-128"/>
                        </a:rPr>
                        <a:t>（課題に対する対応策の提案、および検討）</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変更管理（変更要求の調整）</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リスク管理（リスクの認識、およびエスカレーション）</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987616112"/>
                  </a:ext>
                </a:extLst>
              </a:tr>
              <a:tr h="750520">
                <a:tc>
                  <a:txBody>
                    <a:bodyPr/>
                    <a:lstStyle/>
                    <a:p>
                      <a:r>
                        <a:rPr kumimoji="1" lang="ja-JP" altLang="en-US" sz="1400" dirty="0">
                          <a:latin typeface="游ゴシック" panose="020B0400000000000000" pitchFamily="50" charset="-128"/>
                          <a:ea typeface="游ゴシック" panose="020B0400000000000000" pitchFamily="50" charset="-128"/>
                        </a:rPr>
                        <a:t>プロジェクトマネジメントオフィス</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（略称：</a:t>
                      </a:r>
                      <a:r>
                        <a:rPr kumimoji="1" lang="en-US" altLang="ja-JP" sz="1400" dirty="0">
                          <a:latin typeface="游ゴシック" panose="020B0400000000000000" pitchFamily="50" charset="-128"/>
                          <a:ea typeface="游ゴシック" panose="020B0400000000000000" pitchFamily="50" charset="-128"/>
                        </a:rPr>
                        <a:t>PMO</a:t>
                      </a:r>
                      <a:r>
                        <a:rPr kumimoji="1" lang="ja-JP" altLang="en-US" sz="1400" dirty="0">
                          <a:latin typeface="游ゴシック" panose="020B0400000000000000" pitchFamily="50" charset="-128"/>
                          <a:ea typeface="游ゴシック" panose="020B0400000000000000" pitchFamily="50" charset="-128"/>
                        </a:rPr>
                        <a: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285750" indent="-285750">
                        <a:buFont typeface="Arial" panose="020B0604020202020204" pitchFamily="34" charset="0"/>
                        <a:buChar char="•"/>
                      </a:pPr>
                      <a:r>
                        <a:rPr kumimoji="1" lang="en-US" altLang="ja-JP" sz="1400" dirty="0">
                          <a:latin typeface="游ゴシック" panose="020B0400000000000000" pitchFamily="50" charset="-128"/>
                          <a:ea typeface="游ゴシック" panose="020B0400000000000000" pitchFamily="50" charset="-128"/>
                        </a:rPr>
                        <a:t>PM</a:t>
                      </a:r>
                      <a:r>
                        <a:rPr kumimoji="1" lang="ja-JP" altLang="en-US" sz="1400" dirty="0">
                          <a:latin typeface="游ゴシック" panose="020B0400000000000000" pitchFamily="50" charset="-128"/>
                          <a:ea typeface="游ゴシック" panose="020B0400000000000000" pitchFamily="50" charset="-128"/>
                        </a:rPr>
                        <a:t>によるプロジェクト全体運営管理の支援</a:t>
                      </a:r>
                    </a:p>
                    <a:p>
                      <a:pPr marL="285750" indent="-285750">
                        <a:buFont typeface="Arial" panose="020B0604020202020204" pitchFamily="34" charset="0"/>
                        <a:buChar char="•"/>
                      </a:pPr>
                      <a:r>
                        <a:rPr kumimoji="1" lang="en-US" altLang="ja-JP" sz="1400" dirty="0">
                          <a:latin typeface="游ゴシック" panose="020B0400000000000000" pitchFamily="50" charset="-128"/>
                          <a:ea typeface="游ゴシック" panose="020B0400000000000000" pitchFamily="50" charset="-128"/>
                        </a:rPr>
                        <a:t>PM</a:t>
                      </a:r>
                      <a:r>
                        <a:rPr kumimoji="1" lang="ja-JP" altLang="en-US" sz="1400" dirty="0">
                          <a:latin typeface="游ゴシック" panose="020B0400000000000000" pitchFamily="50" charset="-128"/>
                          <a:ea typeface="游ゴシック" panose="020B0400000000000000" pitchFamily="50" charset="-128"/>
                        </a:rPr>
                        <a:t>による品質管理、変更管理、課題管理の支援</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構成管理（バージョン、およびリリースの管理）</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675808074"/>
                  </a:ext>
                </a:extLst>
              </a:tr>
              <a:tr h="969422">
                <a:tc>
                  <a:txBody>
                    <a:bodyPr/>
                    <a:lstStyle/>
                    <a:p>
                      <a:r>
                        <a:rPr kumimoji="1" lang="ja-JP" altLang="en-US" sz="1400" dirty="0">
                          <a:latin typeface="游ゴシック" panose="020B0400000000000000" pitchFamily="50" charset="-128"/>
                          <a:ea typeface="游ゴシック" panose="020B0400000000000000" pitchFamily="50" charset="-128"/>
                        </a:rPr>
                        <a:t>チームリーダー</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（略称：</a:t>
                      </a:r>
                      <a:r>
                        <a:rPr kumimoji="1" lang="en-US" altLang="ja-JP" sz="1400" dirty="0">
                          <a:latin typeface="游ゴシック" panose="020B0400000000000000" pitchFamily="50" charset="-128"/>
                          <a:ea typeface="游ゴシック" panose="020B0400000000000000" pitchFamily="50" charset="-128"/>
                        </a:rPr>
                        <a:t>TL</a:t>
                      </a:r>
                      <a:r>
                        <a:rPr kumimoji="1" lang="ja-JP" altLang="en-US" sz="1400" dirty="0">
                          <a:latin typeface="游ゴシック" panose="020B0400000000000000" pitchFamily="50" charset="-128"/>
                          <a:ea typeface="游ゴシック" panose="020B0400000000000000" pitchFamily="50" charset="-128"/>
                        </a:rPr>
                        <a: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各チームの運営管理（範囲、スケジュール、要員等）</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各チームメンバーへの作業指示</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各チームの品質管理（全ての成果物のレビュー）</a:t>
                      </a:r>
                    </a:p>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各チームの課題管理（課題に対する対応策の提案、および検討）</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38233471"/>
                  </a:ext>
                </a:extLst>
              </a:tr>
              <a:tr h="312717">
                <a:tc>
                  <a:txBody>
                    <a:bodyPr/>
                    <a:lstStyle/>
                    <a:p>
                      <a:r>
                        <a:rPr kumimoji="1" lang="ja-JP" altLang="en-US" sz="1400" dirty="0">
                          <a:latin typeface="游ゴシック" panose="020B0400000000000000" pitchFamily="50" charset="-128"/>
                          <a:ea typeface="游ゴシック" panose="020B0400000000000000" pitchFamily="50" charset="-128"/>
                        </a:rPr>
                        <a:t>チームメンバー</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各チームリーダーの指示に基づき作業を実施</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71991719"/>
                  </a:ext>
                </a:extLst>
              </a:tr>
              <a:tr h="312717">
                <a:tc>
                  <a:txBody>
                    <a:bodyPr/>
                    <a:lstStyle/>
                    <a:p>
                      <a:r>
                        <a:rPr kumimoji="1" lang="ja-JP" altLang="en-US" sz="1400" dirty="0">
                          <a:latin typeface="游ゴシック" panose="020B0400000000000000" pitchFamily="50" charset="-128"/>
                          <a:ea typeface="游ゴシック" panose="020B0400000000000000" pitchFamily="50" charset="-128"/>
                        </a:rPr>
                        <a:t>ブリッジ</a:t>
                      </a:r>
                      <a:r>
                        <a:rPr kumimoji="1" lang="en-US" altLang="ja-JP" sz="1400" dirty="0">
                          <a:latin typeface="游ゴシック" panose="020B0400000000000000" pitchFamily="50" charset="-128"/>
                          <a:ea typeface="游ゴシック" panose="020B0400000000000000" pitchFamily="50" charset="-128"/>
                        </a:rPr>
                        <a:t>SE</a:t>
                      </a:r>
                      <a:r>
                        <a:rPr kumimoji="1" lang="ja-JP" altLang="en-US" sz="1400" dirty="0">
                          <a:latin typeface="游ゴシック" panose="020B0400000000000000" pitchFamily="50" charset="-128"/>
                          <a:ea typeface="游ゴシック" panose="020B0400000000000000" pitchFamily="50" charset="-128"/>
                        </a:rPr>
                        <a:t>（略称：</a:t>
                      </a:r>
                      <a:r>
                        <a:rPr kumimoji="1" lang="en-US" altLang="ja-JP" sz="1400" dirty="0">
                          <a:latin typeface="游ゴシック" panose="020B0400000000000000" pitchFamily="50" charset="-128"/>
                          <a:ea typeface="游ゴシック" panose="020B0400000000000000" pitchFamily="50" charset="-128"/>
                        </a:rPr>
                        <a:t>BSE</a:t>
                      </a:r>
                      <a:r>
                        <a:rPr kumimoji="1" lang="ja-JP" altLang="en-US" sz="1400" dirty="0">
                          <a:latin typeface="游ゴシック" panose="020B0400000000000000" pitchFamily="50" charset="-128"/>
                          <a:ea typeface="游ゴシック" panose="020B0400000000000000" pitchFamily="50" charset="-128"/>
                        </a:rPr>
                        <a:t>）</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285750" indent="-28575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通訳・文書の翻訳・ベトナム開発チームの進捗管理・各種調整等</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572198756"/>
                  </a:ext>
                </a:extLst>
              </a:tr>
            </a:tbl>
          </a:graphicData>
        </a:graphic>
      </p:graphicFrame>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50</a:t>
            </a:fld>
            <a:endParaRPr kumimoji="1" lang="ja-JP" altLang="en-US"/>
          </a:p>
        </p:txBody>
      </p:sp>
    </p:spTree>
    <p:extLst>
      <p:ext uri="{BB962C8B-B14F-4D97-AF65-F5344CB8AC3E}">
        <p14:creationId xmlns:p14="http://schemas.microsoft.com/office/powerpoint/2010/main" val="1469091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役割分担 </a:t>
            </a:r>
            <a:r>
              <a:rPr kumimoji="1" lang="en-US" altLang="ja-JP" dirty="0"/>
              <a:t>- 1</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51</a:t>
            </a:fld>
            <a:endParaRPr kumimoji="1" lang="ja-JP" altLang="en-US"/>
          </a:p>
        </p:txBody>
      </p:sp>
      <p:graphicFrame>
        <p:nvGraphicFramePr>
          <p:cNvPr id="8" name="コンテンツ プレースホルダー 5"/>
          <p:cNvGraphicFramePr>
            <a:graphicFrameLocks noGrp="1"/>
          </p:cNvGraphicFramePr>
          <p:nvPr>
            <p:ph idx="1"/>
            <p:extLst>
              <p:ext uri="{D42A27DB-BD31-4B8C-83A1-F6EECF244321}">
                <p14:modId xmlns:p14="http://schemas.microsoft.com/office/powerpoint/2010/main" val="3410168721"/>
              </p:ext>
            </p:extLst>
          </p:nvPr>
        </p:nvGraphicFramePr>
        <p:xfrm>
          <a:off x="144463" y="863599"/>
          <a:ext cx="8857843" cy="5507356"/>
        </p:xfrm>
        <a:graphic>
          <a:graphicData uri="http://schemas.openxmlformats.org/drawingml/2006/table">
            <a:tbl>
              <a:tblPr firstRow="1" bandRow="1">
                <a:tableStyleId>{2D5ABB26-0587-4C30-8999-92F81FD0307C}</a:tableStyleId>
              </a:tblPr>
              <a:tblGrid>
                <a:gridCol w="1753532">
                  <a:extLst>
                    <a:ext uri="{9D8B030D-6E8A-4147-A177-3AD203B41FA5}">
                      <a16:colId xmlns:a16="http://schemas.microsoft.com/office/drawing/2014/main" val="3051579495"/>
                    </a:ext>
                  </a:extLst>
                </a:gridCol>
                <a:gridCol w="1753533">
                  <a:extLst>
                    <a:ext uri="{9D8B030D-6E8A-4147-A177-3AD203B41FA5}">
                      <a16:colId xmlns:a16="http://schemas.microsoft.com/office/drawing/2014/main" val="1089234667"/>
                    </a:ext>
                  </a:extLst>
                </a:gridCol>
                <a:gridCol w="1753532">
                  <a:extLst>
                    <a:ext uri="{9D8B030D-6E8A-4147-A177-3AD203B41FA5}">
                      <a16:colId xmlns:a16="http://schemas.microsoft.com/office/drawing/2014/main" val="1297680743"/>
                    </a:ext>
                  </a:extLst>
                </a:gridCol>
                <a:gridCol w="1774707">
                  <a:extLst>
                    <a:ext uri="{9D8B030D-6E8A-4147-A177-3AD203B41FA5}">
                      <a16:colId xmlns:a16="http://schemas.microsoft.com/office/drawing/2014/main" val="2108245532"/>
                    </a:ext>
                  </a:extLst>
                </a:gridCol>
                <a:gridCol w="1822539">
                  <a:extLst>
                    <a:ext uri="{9D8B030D-6E8A-4147-A177-3AD203B41FA5}">
                      <a16:colId xmlns:a16="http://schemas.microsoft.com/office/drawing/2014/main" val="2919076970"/>
                    </a:ext>
                  </a:extLst>
                </a:gridCol>
              </a:tblGrid>
              <a:tr h="296937">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作業項目</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弊社</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情報システム部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利用部門</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周辺システム担当</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806219429"/>
                  </a:ext>
                </a:extLst>
              </a:tr>
              <a:tr h="1779823">
                <a:tc>
                  <a:txBody>
                    <a:bodyPr/>
                    <a:lstStyle/>
                    <a:p>
                      <a:r>
                        <a:rPr kumimoji="1" lang="ja-JP" altLang="en-US" sz="1400" dirty="0">
                          <a:latin typeface="游ゴシック" panose="020B0400000000000000" pitchFamily="50" charset="-128"/>
                          <a:ea typeface="游ゴシック" panose="020B0400000000000000" pitchFamily="50" charset="-128"/>
                        </a:rPr>
                        <a:t>プロジェクト全工程共通</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進捗会議の開催・報告</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課題検討会議の開催・課題検討</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利用部門・周辺システム担当との各種調整</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進捗会議への参加・状況把握</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課題検討会議への参加・課題検討</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利用部門・周辺システム担当との各種調整</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課題検討会議への参加・課題検討（必要に応じて）</a:t>
                      </a:r>
                      <a:endParaRPr kumimoji="1" lang="en-US" altLang="ja-JP"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課題検討会議への参加・課題検討（必要に応じて）</a:t>
                      </a:r>
                      <a:endParaRPr kumimoji="1" lang="en-US" altLang="ja-JP"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28483219"/>
                  </a:ext>
                </a:extLst>
              </a:tr>
              <a:tr h="821455">
                <a:tc>
                  <a:txBody>
                    <a:bodyPr/>
                    <a:lstStyle/>
                    <a:p>
                      <a:r>
                        <a:rPr kumimoji="1" lang="ja-JP" altLang="en-US" sz="1400" dirty="0">
                          <a:latin typeface="游ゴシック" panose="020B0400000000000000" pitchFamily="50" charset="-128"/>
                          <a:ea typeface="游ゴシック" panose="020B0400000000000000" pitchFamily="50" charset="-128"/>
                        </a:rPr>
                        <a:t>プロジェクトの開始</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キックオフ会議への参加</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キックオフ会議の開催</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キックオフ会議への参加</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キックオフ会議への参加（必要に応じて）</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1282771"/>
                  </a:ext>
                </a:extLst>
              </a:tr>
              <a:tr h="821455">
                <a:tc>
                  <a:txBody>
                    <a:bodyPr/>
                    <a:lstStyle/>
                    <a:p>
                      <a:r>
                        <a:rPr kumimoji="1" lang="ja-JP" altLang="en-US" sz="1400" b="0" dirty="0">
                          <a:latin typeface="游ゴシック" panose="020B0400000000000000" pitchFamily="50" charset="-128"/>
                          <a:ea typeface="游ゴシック" panose="020B0400000000000000" pitchFamily="50" charset="-128"/>
                        </a:rPr>
                        <a:t>システム方式設計 </a:t>
                      </a:r>
                      <a:r>
                        <a:rPr kumimoji="1" lang="en-US" altLang="ja-JP" sz="1400" b="0" dirty="0">
                          <a:latin typeface="游ゴシック" panose="020B0400000000000000" pitchFamily="50" charset="-128"/>
                          <a:ea typeface="游ゴシック" panose="020B0400000000000000" pitchFamily="50" charset="-128"/>
                        </a:rPr>
                        <a:t>(SA)</a:t>
                      </a:r>
                      <a:r>
                        <a:rPr kumimoji="1" lang="ja-JP" altLang="en-US" sz="1400" b="0" dirty="0">
                          <a:latin typeface="游ゴシック" panose="020B0400000000000000" pitchFamily="50" charset="-128"/>
                          <a:ea typeface="游ゴシック" panose="020B0400000000000000" pitchFamily="50" charset="-128"/>
                        </a:rPr>
                        <a:t> </a:t>
                      </a: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設計主担当</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工程終了判定会への参加・説明</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成果物承認</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工程終了判定会の開催</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工程終了判定</a:t>
                      </a:r>
                      <a:endParaRPr kumimoji="1" lang="en-US" altLang="ja-JP"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次工程開始承認</a:t>
                      </a:r>
                      <a:endParaRPr kumimoji="1" lang="ja-JP" altLang="en-US" sz="1400" b="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成果物の確認・助言</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95634491"/>
                  </a:ext>
                </a:extLst>
              </a:tr>
              <a:tr h="1779823">
                <a:tc>
                  <a:txBody>
                    <a:bodyPr/>
                    <a:lstStyle/>
                    <a:p>
                      <a:r>
                        <a:rPr kumimoji="1" lang="ja-JP" altLang="en-US" sz="1400" b="0" dirty="0">
                          <a:latin typeface="游ゴシック" panose="020B0400000000000000" pitchFamily="50" charset="-128"/>
                          <a:ea typeface="游ゴシック" panose="020B0400000000000000" pitchFamily="50" charset="-128"/>
                        </a:rPr>
                        <a:t>ユーザインタフェース設計 </a:t>
                      </a:r>
                      <a:r>
                        <a:rPr kumimoji="1" lang="en-US" altLang="ja-JP" sz="1400" b="0" dirty="0">
                          <a:latin typeface="游ゴシック" panose="020B0400000000000000" pitchFamily="50" charset="-128"/>
                          <a:ea typeface="游ゴシック" panose="020B0400000000000000" pitchFamily="50" charset="-128"/>
                        </a:rPr>
                        <a:t>(UI)</a:t>
                      </a:r>
                      <a:endParaRPr kumimoji="1" lang="ja-JP" altLang="en-US" sz="1400" b="0" dirty="0">
                        <a:latin typeface="游ゴシック" panose="020B0400000000000000" pitchFamily="50" charset="-128"/>
                        <a:ea typeface="游ゴシック" panose="020B0400000000000000" pitchFamily="50" charset="-128"/>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設計主担当</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工程終了判定会への参加・説明</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全体テスト計画の作成</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dirty="0">
                          <a:latin typeface="游ゴシック" panose="020B0400000000000000" pitchFamily="50" charset="-128"/>
                          <a:ea typeface="游ゴシック" panose="020B0400000000000000" pitchFamily="50" charset="-128"/>
                        </a:rPr>
                        <a:t>IF</a:t>
                      </a:r>
                      <a:r>
                        <a:rPr kumimoji="1" lang="ja-JP" altLang="en-US" sz="1400" dirty="0">
                          <a:latin typeface="游ゴシック" panose="020B0400000000000000" pitchFamily="50" charset="-128"/>
                          <a:ea typeface="游ゴシック" panose="020B0400000000000000" pitchFamily="50" charset="-128"/>
                        </a:rPr>
                        <a:t>仕様変更時の仕様内容説明</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成果物承認</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工程終了判定会の開催</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全体テスト計画の承認</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工程終了判定</a:t>
                      </a:r>
                      <a:endParaRPr kumimoji="1" lang="en-US" altLang="ja-JP"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次工程開始承認</a:t>
                      </a:r>
                      <a:endParaRPr kumimoji="1" lang="ja-JP" altLang="en-US" sz="1400" b="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全体テスト計画の承認</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ja-JP" sz="1400" dirty="0">
                          <a:latin typeface="游ゴシック" panose="020B0400000000000000" pitchFamily="50" charset="-128"/>
                          <a:ea typeface="游ゴシック" panose="020B0400000000000000" pitchFamily="50" charset="-128"/>
                        </a:rPr>
                        <a:t>IF</a:t>
                      </a:r>
                      <a:r>
                        <a:rPr kumimoji="1" lang="ja-JP" altLang="en-US" sz="1400" dirty="0">
                          <a:latin typeface="游ゴシック" panose="020B0400000000000000" pitchFamily="50" charset="-128"/>
                          <a:ea typeface="游ゴシック" panose="020B0400000000000000" pitchFamily="50" charset="-128"/>
                        </a:rPr>
                        <a:t>仕様変更時の仕様内容把握</a:t>
                      </a:r>
                    </a:p>
                    <a:p>
                      <a:pPr marL="144000" indent="-144000">
                        <a:buFont typeface="Arial" panose="020B0604020202020204" pitchFamily="34" charset="0"/>
                        <a:buChar cha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79784980"/>
                  </a:ext>
                </a:extLst>
              </a:tr>
            </a:tbl>
          </a:graphicData>
        </a:graphic>
      </p:graphicFrame>
    </p:spTree>
    <p:extLst>
      <p:ext uri="{BB962C8B-B14F-4D97-AF65-F5344CB8AC3E}">
        <p14:creationId xmlns:p14="http://schemas.microsoft.com/office/powerpoint/2010/main" val="20652771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役割分担 </a:t>
            </a:r>
            <a:r>
              <a:rPr kumimoji="1" lang="en-US" altLang="ja-JP" dirty="0"/>
              <a:t>- 2</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52</a:t>
            </a:fld>
            <a:endParaRPr kumimoji="1" lang="ja-JP" altLang="en-US"/>
          </a:p>
        </p:txBody>
      </p:sp>
      <p:graphicFrame>
        <p:nvGraphicFramePr>
          <p:cNvPr id="8" name="コンテンツ プレースホルダー 5"/>
          <p:cNvGraphicFramePr>
            <a:graphicFrameLocks noGrp="1"/>
          </p:cNvGraphicFramePr>
          <p:nvPr>
            <p:ph idx="1"/>
            <p:extLst>
              <p:ext uri="{D42A27DB-BD31-4B8C-83A1-F6EECF244321}">
                <p14:modId xmlns:p14="http://schemas.microsoft.com/office/powerpoint/2010/main" val="2149503796"/>
              </p:ext>
            </p:extLst>
          </p:nvPr>
        </p:nvGraphicFramePr>
        <p:xfrm>
          <a:off x="144463" y="863600"/>
          <a:ext cx="8857843" cy="5507729"/>
        </p:xfrm>
        <a:graphic>
          <a:graphicData uri="http://schemas.openxmlformats.org/drawingml/2006/table">
            <a:tbl>
              <a:tblPr firstRow="1" bandRow="1">
                <a:tableStyleId>{2D5ABB26-0587-4C30-8999-92F81FD0307C}</a:tableStyleId>
              </a:tblPr>
              <a:tblGrid>
                <a:gridCol w="1753532">
                  <a:extLst>
                    <a:ext uri="{9D8B030D-6E8A-4147-A177-3AD203B41FA5}">
                      <a16:colId xmlns:a16="http://schemas.microsoft.com/office/drawing/2014/main" val="3051579495"/>
                    </a:ext>
                  </a:extLst>
                </a:gridCol>
                <a:gridCol w="1753533">
                  <a:extLst>
                    <a:ext uri="{9D8B030D-6E8A-4147-A177-3AD203B41FA5}">
                      <a16:colId xmlns:a16="http://schemas.microsoft.com/office/drawing/2014/main" val="1089234667"/>
                    </a:ext>
                  </a:extLst>
                </a:gridCol>
                <a:gridCol w="1753532">
                  <a:extLst>
                    <a:ext uri="{9D8B030D-6E8A-4147-A177-3AD203B41FA5}">
                      <a16:colId xmlns:a16="http://schemas.microsoft.com/office/drawing/2014/main" val="1297680743"/>
                    </a:ext>
                  </a:extLst>
                </a:gridCol>
                <a:gridCol w="1774707">
                  <a:extLst>
                    <a:ext uri="{9D8B030D-6E8A-4147-A177-3AD203B41FA5}">
                      <a16:colId xmlns:a16="http://schemas.microsoft.com/office/drawing/2014/main" val="2108245532"/>
                    </a:ext>
                  </a:extLst>
                </a:gridCol>
                <a:gridCol w="1822539">
                  <a:extLst>
                    <a:ext uri="{9D8B030D-6E8A-4147-A177-3AD203B41FA5}">
                      <a16:colId xmlns:a16="http://schemas.microsoft.com/office/drawing/2014/main" val="2919076970"/>
                    </a:ext>
                  </a:extLst>
                </a:gridCol>
              </a:tblGrid>
              <a:tr h="303084">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作業項目</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弊社</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情報システム部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利用部門</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周辺システム担当</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806219429"/>
                  </a:ext>
                </a:extLst>
              </a:tr>
              <a:tr h="799531">
                <a:tc>
                  <a:txBody>
                    <a:bodyPr/>
                    <a:lstStyle/>
                    <a:p>
                      <a:r>
                        <a:rPr kumimoji="1" lang="ja-JP" altLang="en-US" sz="1400" b="0" dirty="0">
                          <a:latin typeface="游ゴシック" panose="020B0400000000000000" pitchFamily="50" charset="-128"/>
                          <a:ea typeface="游ゴシック" panose="020B0400000000000000" pitchFamily="50" charset="-128"/>
                        </a:rPr>
                        <a:t>システム構造設計 </a:t>
                      </a:r>
                      <a:r>
                        <a:rPr kumimoji="1" lang="en-US" altLang="ja-JP" sz="1400" b="0" dirty="0">
                          <a:latin typeface="游ゴシック" panose="020B0400000000000000" pitchFamily="50" charset="-128"/>
                          <a:ea typeface="游ゴシック" panose="020B0400000000000000" pitchFamily="50" charset="-128"/>
                        </a:rPr>
                        <a:t>(SS)</a:t>
                      </a:r>
                      <a:endParaRPr kumimoji="1" lang="ja-JP" altLang="en-US" sz="1400" b="0" dirty="0">
                        <a:latin typeface="游ゴシック" panose="020B0400000000000000" pitchFamily="50" charset="-128"/>
                        <a:ea typeface="游ゴシック" panose="020B0400000000000000" pitchFamily="50" charset="-128"/>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設計主担当</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成果物承認</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周辺システムの</a:t>
                      </a:r>
                      <a:r>
                        <a:rPr kumimoji="1" lang="en-US" altLang="ja-JP" sz="1400" dirty="0">
                          <a:latin typeface="游ゴシック" panose="020B0400000000000000" pitchFamily="50" charset="-128"/>
                          <a:ea typeface="游ゴシック" panose="020B0400000000000000" pitchFamily="50" charset="-128"/>
                        </a:rPr>
                        <a:t>IF</a:t>
                      </a:r>
                      <a:r>
                        <a:rPr kumimoji="1" lang="ja-JP" altLang="en-US" sz="1400" dirty="0">
                          <a:latin typeface="游ゴシック" panose="020B0400000000000000" pitchFamily="50" charset="-128"/>
                          <a:ea typeface="游ゴシック" panose="020B0400000000000000" pitchFamily="50" charset="-128"/>
                        </a:rPr>
                        <a:t>設計</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07250265"/>
                  </a:ext>
                </a:extLst>
              </a:tr>
              <a:tr h="799531">
                <a:tc>
                  <a:txBody>
                    <a:bodyPr/>
                    <a:lstStyle/>
                    <a:p>
                      <a:r>
                        <a:rPr kumimoji="1" lang="ja-JP" altLang="en-US" sz="1400" b="0" dirty="0">
                          <a:latin typeface="游ゴシック" panose="020B0400000000000000" pitchFamily="50" charset="-128"/>
                          <a:ea typeface="游ゴシック" panose="020B0400000000000000" pitchFamily="50" charset="-128"/>
                        </a:rPr>
                        <a:t>プログラミング</a:t>
                      </a:r>
                      <a:r>
                        <a:rPr kumimoji="1" lang="en-US" altLang="ja-JP" sz="1400" b="0" dirty="0">
                          <a:latin typeface="游ゴシック" panose="020B0400000000000000" pitchFamily="50" charset="-128"/>
                          <a:ea typeface="游ゴシック" panose="020B0400000000000000" pitchFamily="50" charset="-128"/>
                        </a:rPr>
                        <a:t>(PS/PG/PT)</a:t>
                      </a: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プログラミングの実施</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周辺システムのプログラム改修</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3480878"/>
                  </a:ext>
                </a:extLst>
              </a:tr>
              <a:tr h="1151719">
                <a:tc>
                  <a:txBody>
                    <a:bodyPr/>
                    <a:lstStyle/>
                    <a:p>
                      <a:r>
                        <a:rPr kumimoji="1" lang="ja-JP" altLang="en-US" sz="1400" b="0" dirty="0">
                          <a:latin typeface="游ゴシック" panose="020B0400000000000000" pitchFamily="50" charset="-128"/>
                          <a:ea typeface="游ゴシック" panose="020B0400000000000000" pitchFamily="50" charset="-128"/>
                        </a:rPr>
                        <a:t>結合テスト </a:t>
                      </a:r>
                      <a:r>
                        <a:rPr kumimoji="1" lang="en-US" altLang="ja-JP" sz="1400" b="0" dirty="0">
                          <a:latin typeface="游ゴシック" panose="020B0400000000000000" pitchFamily="50" charset="-128"/>
                          <a:ea typeface="游ゴシック" panose="020B0400000000000000" pitchFamily="50" charset="-128"/>
                        </a:rPr>
                        <a:t>(IT)</a:t>
                      </a:r>
                      <a:endParaRPr kumimoji="1" lang="ja-JP" altLang="en-US" sz="1400" b="0" dirty="0">
                        <a:latin typeface="游ゴシック" panose="020B0400000000000000" pitchFamily="50" charset="-128"/>
                        <a:ea typeface="游ゴシック" panose="020B0400000000000000" pitchFamily="50" charset="-128"/>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結合テストの実施</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結合テストで発覚した改善点の対応</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結合テストの結果報告</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成果物承認</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本番環境構築（インフラ）</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周辺システムの結合テスト実施</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結合テストで発覚した周辺システムの改善点の対応</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20440634"/>
                  </a:ext>
                </a:extLst>
              </a:tr>
              <a:tr h="2445627">
                <a:tc>
                  <a:txBody>
                    <a:bodyPr/>
                    <a:lstStyle/>
                    <a:p>
                      <a:r>
                        <a:rPr kumimoji="1" lang="ja-JP" altLang="en-US" sz="1400" b="0" dirty="0">
                          <a:latin typeface="游ゴシック" panose="020B0400000000000000" pitchFamily="50" charset="-128"/>
                          <a:ea typeface="游ゴシック" panose="020B0400000000000000" pitchFamily="50" charset="-128"/>
                        </a:rPr>
                        <a:t>システムテスト </a:t>
                      </a:r>
                      <a:r>
                        <a:rPr kumimoji="1" lang="en-US" altLang="ja-JP" sz="1400" b="0" dirty="0">
                          <a:latin typeface="游ゴシック" panose="020B0400000000000000" pitchFamily="50" charset="-128"/>
                          <a:ea typeface="游ゴシック" panose="020B0400000000000000" pitchFamily="50" charset="-128"/>
                        </a:rPr>
                        <a:t>(ST)</a:t>
                      </a:r>
                      <a:endParaRPr kumimoji="1" lang="ja-JP" altLang="en-US" sz="1400" b="0" dirty="0">
                        <a:latin typeface="游ゴシック" panose="020B0400000000000000" pitchFamily="50" charset="-128"/>
                        <a:ea typeface="游ゴシック" panose="020B0400000000000000" pitchFamily="50" charset="-128"/>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システムテストの実施</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システムテストで発覚した改善点の対応</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システムテスト結果の報告</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成果物承認</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周辺システム担当としてシステムテストを実施</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周辺システム担当として進捗会議への参加</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システムテストで発覚した周辺システムの改善点の対応</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82994342"/>
                  </a:ext>
                </a:extLst>
              </a:tr>
            </a:tbl>
          </a:graphicData>
        </a:graphic>
      </p:graphicFrame>
    </p:spTree>
    <p:extLst>
      <p:ext uri="{BB962C8B-B14F-4D97-AF65-F5344CB8AC3E}">
        <p14:creationId xmlns:p14="http://schemas.microsoft.com/office/powerpoint/2010/main" val="1401335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役割分担 </a:t>
            </a:r>
            <a:r>
              <a:rPr kumimoji="1" lang="en-US" altLang="ja-JP" dirty="0"/>
              <a:t>- 3</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53</a:t>
            </a:fld>
            <a:endParaRPr kumimoji="1" lang="ja-JP" altLang="en-US"/>
          </a:p>
        </p:txBody>
      </p:sp>
      <p:graphicFrame>
        <p:nvGraphicFramePr>
          <p:cNvPr id="8" name="コンテンツ プレースホルダー 5"/>
          <p:cNvGraphicFramePr>
            <a:graphicFrameLocks noGrp="1"/>
          </p:cNvGraphicFramePr>
          <p:nvPr>
            <p:ph idx="1"/>
            <p:extLst>
              <p:ext uri="{D42A27DB-BD31-4B8C-83A1-F6EECF244321}">
                <p14:modId xmlns:p14="http://schemas.microsoft.com/office/powerpoint/2010/main" val="705338863"/>
              </p:ext>
            </p:extLst>
          </p:nvPr>
        </p:nvGraphicFramePr>
        <p:xfrm>
          <a:off x="144463" y="863600"/>
          <a:ext cx="8857843" cy="5502208"/>
        </p:xfrm>
        <a:graphic>
          <a:graphicData uri="http://schemas.openxmlformats.org/drawingml/2006/table">
            <a:tbl>
              <a:tblPr firstRow="1" bandRow="1">
                <a:tableStyleId>{2D5ABB26-0587-4C30-8999-92F81FD0307C}</a:tableStyleId>
              </a:tblPr>
              <a:tblGrid>
                <a:gridCol w="1753532">
                  <a:extLst>
                    <a:ext uri="{9D8B030D-6E8A-4147-A177-3AD203B41FA5}">
                      <a16:colId xmlns:a16="http://schemas.microsoft.com/office/drawing/2014/main" val="3051579495"/>
                    </a:ext>
                  </a:extLst>
                </a:gridCol>
                <a:gridCol w="1753533">
                  <a:extLst>
                    <a:ext uri="{9D8B030D-6E8A-4147-A177-3AD203B41FA5}">
                      <a16:colId xmlns:a16="http://schemas.microsoft.com/office/drawing/2014/main" val="1089234667"/>
                    </a:ext>
                  </a:extLst>
                </a:gridCol>
                <a:gridCol w="1753532">
                  <a:extLst>
                    <a:ext uri="{9D8B030D-6E8A-4147-A177-3AD203B41FA5}">
                      <a16:colId xmlns:a16="http://schemas.microsoft.com/office/drawing/2014/main" val="1297680743"/>
                    </a:ext>
                  </a:extLst>
                </a:gridCol>
                <a:gridCol w="1774707">
                  <a:extLst>
                    <a:ext uri="{9D8B030D-6E8A-4147-A177-3AD203B41FA5}">
                      <a16:colId xmlns:a16="http://schemas.microsoft.com/office/drawing/2014/main" val="2108245532"/>
                    </a:ext>
                  </a:extLst>
                </a:gridCol>
                <a:gridCol w="1822539">
                  <a:extLst>
                    <a:ext uri="{9D8B030D-6E8A-4147-A177-3AD203B41FA5}">
                      <a16:colId xmlns:a16="http://schemas.microsoft.com/office/drawing/2014/main" val="2919076970"/>
                    </a:ext>
                  </a:extLst>
                </a:gridCol>
              </a:tblGrid>
              <a:tr h="302085">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作業項目</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弊社</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情報システム部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利用部門</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周辺システム担当</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2806219429"/>
                  </a:ext>
                </a:extLst>
              </a:tr>
              <a:tr h="2302208">
                <a:tc>
                  <a:txBody>
                    <a:bodyPr/>
                    <a:lstStyle/>
                    <a:p>
                      <a:r>
                        <a:rPr kumimoji="1" lang="ja-JP" altLang="en-US" sz="1400" b="0" dirty="0">
                          <a:latin typeface="游ゴシック" panose="020B0400000000000000" pitchFamily="50" charset="-128"/>
                          <a:ea typeface="游ゴシック" panose="020B0400000000000000" pitchFamily="50" charset="-128"/>
                        </a:rPr>
                        <a:t>運用テスト </a:t>
                      </a:r>
                      <a:r>
                        <a:rPr kumimoji="1" lang="en-US" altLang="ja-JP" sz="1400" b="0" dirty="0">
                          <a:latin typeface="游ゴシック" panose="020B0400000000000000" pitchFamily="50" charset="-128"/>
                          <a:ea typeface="游ゴシック" panose="020B0400000000000000" pitchFamily="50" charset="-128"/>
                        </a:rPr>
                        <a:t>(OT)</a:t>
                      </a:r>
                      <a:endParaRPr kumimoji="1" lang="ja-JP" altLang="en-US" sz="1400" b="0" dirty="0">
                        <a:latin typeface="游ゴシック" panose="020B0400000000000000" pitchFamily="50" charset="-128"/>
                        <a:ea typeface="游ゴシック" panose="020B0400000000000000" pitchFamily="50" charset="-128"/>
                      </a:endParaRP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運用テストで発覚した改善点の対応</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ユーザ教育としての説明会に参加・教育の実施</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利用部門からの問合せ対応</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本番移行判定会議への参加・説明</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ユーザ教育としての説明会の開催</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本番移行判定会議の開催</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ユーザ教育としての説明会への参加</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運用テストの実施</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不具合発覚時の報告</a:t>
                      </a: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本番移行判定会議への参加・</a:t>
                      </a:r>
                      <a:r>
                        <a:rPr kumimoji="1" lang="ja-JP" altLang="en-US"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本番移行実施承認</a:t>
                      </a:r>
                      <a:endParaRPr kumimoji="1" lang="ja-JP" altLang="en-US" sz="1400" b="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運用テストで発覚した周辺システムの改善点の対応</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66366552"/>
                  </a:ext>
                </a:extLst>
              </a:tr>
              <a:tr h="132551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本番移行</a:t>
                      </a: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移行リハーサルの実施</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本番移行の実施</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本番移行結果報告</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関係部署へシステム切り替え時の連絡・調整等</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システム切り替え後の動作確認</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移行リハーサルへの参加（必要に応じて）</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周辺システムの接続先等の切り替え</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71819771"/>
                  </a:ext>
                </a:extLst>
              </a:tr>
              <a:tr h="156968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b="0" dirty="0">
                          <a:latin typeface="游ゴシック" panose="020B0400000000000000" pitchFamily="50" charset="-128"/>
                          <a:ea typeface="游ゴシック" panose="020B0400000000000000" pitchFamily="50" charset="-128"/>
                        </a:rPr>
                        <a:t>初期流動</a:t>
                      </a:r>
                    </a:p>
                  </a:txBody>
                  <a:tcPr marT="36000" marB="36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利用部門からの問い合わせ対応</a:t>
                      </a:r>
                      <a:endParaRPr kumimoji="1" lang="en-US" altLang="ja-JP" sz="1400" dirty="0">
                        <a:latin typeface="游ゴシック" panose="020B0400000000000000" pitchFamily="50" charset="-128"/>
                        <a:ea typeface="游ゴシック" panose="020B0400000000000000" pitchFamily="50" charset="-128"/>
                      </a:endParaRPr>
                    </a:p>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初期流動で発覚した改善点の対応</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プロジェクト完了報告</a:t>
                      </a: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endParaRPr kumimoji="1" lang="en-US" altLang="ja-JP"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indent="-144000">
                        <a:buFont typeface="Arial" panose="020B0604020202020204" pitchFamily="34" charset="0"/>
                        <a:buChar char="•"/>
                      </a:pPr>
                      <a:r>
                        <a:rPr kumimoji="1" lang="ja-JP" altLang="en-US" sz="1400" dirty="0">
                          <a:latin typeface="游ゴシック" panose="020B0400000000000000" pitchFamily="50" charset="-128"/>
                          <a:ea typeface="游ゴシック" panose="020B0400000000000000" pitchFamily="50" charset="-128"/>
                        </a:rPr>
                        <a:t>不具合発覚時の報告</a:t>
                      </a: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144000" marR="0" lvl="0" indent="-144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400" dirty="0">
                          <a:latin typeface="游ゴシック" panose="020B0400000000000000" pitchFamily="50" charset="-128"/>
                          <a:ea typeface="游ゴシック" panose="020B0400000000000000" pitchFamily="50" charset="-128"/>
                        </a:rPr>
                        <a:t>初期流動で発覚した周辺システムの改善点の対応</a:t>
                      </a:r>
                      <a:endParaRPr kumimoji="1" lang="en-US" altLang="ja-JP" sz="1400" dirty="0">
                        <a:latin typeface="游ゴシック" panose="020B0400000000000000" pitchFamily="50" charset="-128"/>
                        <a:ea typeface="游ゴシック" panose="020B0400000000000000" pitchFamily="50" charset="-128"/>
                      </a:endParaRPr>
                    </a:p>
                    <a:p>
                      <a:pPr marL="144000" indent="-144000">
                        <a:buFont typeface="Arial" panose="020B0604020202020204" pitchFamily="34" charset="0"/>
                        <a:buChar char="•"/>
                      </a:pPr>
                      <a:endParaRPr kumimoji="1" lang="ja-JP" altLang="en-US" sz="1400" dirty="0">
                        <a:latin typeface="游ゴシック" panose="020B0400000000000000" pitchFamily="50" charset="-128"/>
                        <a:ea typeface="游ゴシック" panose="020B0400000000000000" pitchFamily="50" charset="-128"/>
                      </a:endParaRPr>
                    </a:p>
                  </a:txBody>
                  <a:tcPr marL="72000" marR="7200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54588060"/>
                  </a:ext>
                </a:extLst>
              </a:tr>
            </a:tbl>
          </a:graphicData>
        </a:graphic>
      </p:graphicFrame>
    </p:spTree>
    <p:extLst>
      <p:ext uri="{BB962C8B-B14F-4D97-AF65-F5344CB8AC3E}">
        <p14:creationId xmlns:p14="http://schemas.microsoft.com/office/powerpoint/2010/main" val="19773163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プロジェクト管理</a:t>
            </a:r>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3"/>
          </p:nvPr>
        </p:nvSpPr>
        <p:spPr/>
        <p:txBody>
          <a:bodyPr/>
          <a:lstStyle/>
          <a:p>
            <a:fld id="{74395F4E-A786-454B-9285-EF3DEA272B37}" type="slidenum">
              <a:rPr lang="ja-JP" altLang="en-US" smtClean="0"/>
              <a:pPr/>
              <a:t>54</a:t>
            </a:fld>
            <a:endParaRPr lang="ja-JP" altLang="en-US"/>
          </a:p>
        </p:txBody>
      </p:sp>
    </p:spTree>
    <p:extLst>
      <p:ext uri="{BB962C8B-B14F-4D97-AF65-F5344CB8AC3E}">
        <p14:creationId xmlns:p14="http://schemas.microsoft.com/office/powerpoint/2010/main" val="3636262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進捗管理</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55</a:t>
            </a:fld>
            <a:endParaRPr kumimoji="1" lang="ja-JP" altLang="en-US"/>
          </a:p>
        </p:txBody>
      </p:sp>
      <p:sp>
        <p:nvSpPr>
          <p:cNvPr id="6" name="正方形/長方形 5"/>
          <p:cNvSpPr/>
          <p:nvPr/>
        </p:nvSpPr>
        <p:spPr>
          <a:xfrm>
            <a:off x="1080000" y="864000"/>
            <a:ext cx="7920000" cy="936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tIns="46800" bIns="46800" rtlCol="0" anchor="t"/>
          <a:lstStyle/>
          <a:p>
            <a:pPr latinLnBrk="1">
              <a:lnSpc>
                <a:spcPct val="120000"/>
              </a:lnSpc>
            </a:pPr>
            <a:r>
              <a:rPr lang="ja-JP" altLang="en-US" sz="1400" dirty="0">
                <a:solidFill>
                  <a:schemeClr val="tx1"/>
                </a:solidFill>
                <a:latin typeface="游ゴシック" panose="020B0400000000000000" pitchFamily="50" charset="-128"/>
                <a:ea typeface="游ゴシック" panose="020B0400000000000000" pitchFamily="50" charset="-128"/>
              </a:rPr>
              <a:t>プロジェクトの工程を細分化し、それぞれのタスクに対してスケジュールと担当者を明確に定義します。あわせて、進捗管理を見える化しプロジェクトのメンバー全員で共有することで関連するタスクの進捗への影響を考慮しながら進め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7" name="円/楕円 11"/>
          <p:cNvSpPr/>
          <p:nvPr/>
        </p:nvSpPr>
        <p:spPr>
          <a:xfrm>
            <a:off x="216000" y="900000"/>
            <a:ext cx="749902" cy="749902"/>
          </a:xfrm>
          <a:prstGeom prst="ellipse">
            <a:avLst/>
          </a:prstGeom>
          <a:solidFill>
            <a:schemeClr val="accent1">
              <a:alpha val="59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96000" y="1061328"/>
            <a:ext cx="504000" cy="427245"/>
          </a:xfrm>
          <a:prstGeom prst="rect">
            <a:avLst/>
          </a:prstGeom>
        </p:spPr>
      </p:pic>
      <p:grpSp>
        <p:nvGrpSpPr>
          <p:cNvPr id="34" name="グループ化 33"/>
          <p:cNvGrpSpPr/>
          <p:nvPr/>
        </p:nvGrpSpPr>
        <p:grpSpPr>
          <a:xfrm>
            <a:off x="684000" y="2160000"/>
            <a:ext cx="7776000" cy="3780000"/>
            <a:chOff x="648000" y="2160000"/>
            <a:chExt cx="7776000" cy="3780000"/>
          </a:xfrm>
        </p:grpSpPr>
        <p:sp>
          <p:nvSpPr>
            <p:cNvPr id="12" name="テキスト ボックス 11"/>
            <p:cNvSpPr txBox="1">
              <a:spLocks/>
            </p:cNvSpPr>
            <p:nvPr/>
          </p:nvSpPr>
          <p:spPr>
            <a:xfrm>
              <a:off x="648000" y="2844000"/>
              <a:ext cx="2304000" cy="3096000"/>
            </a:xfrm>
            <a:prstGeom prst="rect">
              <a:avLst/>
            </a:prstGeom>
            <a:noFill/>
          </p:spPr>
          <p:txBody>
            <a:bodyPr wrap="square" rtlCol="0">
              <a:noAutofit/>
            </a:bodyPr>
            <a:lstStyle/>
            <a:p>
              <a:pPr>
                <a:spcBef>
                  <a:spcPts val="600"/>
                </a:spcBef>
              </a:pPr>
              <a:r>
                <a:rPr lang="en-US" altLang="ja-JP" sz="1400" dirty="0">
                  <a:latin typeface="游ゴシック" panose="020B0400000000000000" pitchFamily="50" charset="-128"/>
                  <a:ea typeface="游ゴシック" panose="020B0400000000000000" pitchFamily="50" charset="-128"/>
                </a:rPr>
                <a:t>WBS</a:t>
              </a:r>
              <a:r>
                <a:rPr lang="ja-JP" altLang="en-US" sz="1400" dirty="0">
                  <a:latin typeface="游ゴシック" panose="020B0400000000000000" pitchFamily="50" charset="-128"/>
                  <a:ea typeface="游ゴシック" panose="020B0400000000000000" pitchFamily="50" charset="-128"/>
                </a:rPr>
                <a:t>をもとに担当者・作業の順番・スケジュールを定義します。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担当者の工程数が実行可能か、作業工程の順番が適切かマイルストーンに間に合うのかなどの検証を漏れなく確実に行います。</a:t>
              </a:r>
              <a:endParaRPr lang="en-US" altLang="ja-JP" sz="1400" dirty="0">
                <a:latin typeface="游ゴシック" panose="020B0400000000000000" pitchFamily="50" charset="-128"/>
                <a:ea typeface="游ゴシック" panose="020B0400000000000000" pitchFamily="50" charset="-128"/>
              </a:endParaRPr>
            </a:p>
            <a:p>
              <a:pPr>
                <a:spcBef>
                  <a:spcPts val="600"/>
                </a:spcBef>
              </a:pPr>
              <a:r>
                <a:rPr lang="ja-JP" altLang="en-US" sz="1400" dirty="0">
                  <a:latin typeface="游ゴシック" panose="020B0400000000000000" pitchFamily="50" charset="-128"/>
                  <a:ea typeface="游ゴシック" panose="020B0400000000000000" pitchFamily="50" charset="-128"/>
                </a:rPr>
                <a:t>１つのタスクは原則５人日以内の完了としたうえで、ガントチャートにて可視化します。</a:t>
              </a:r>
              <a:endParaRPr kumimoji="1" lang="ja-JP" altLang="en-US" sz="1400" dirty="0">
                <a:latin typeface="游ゴシック" panose="020B0400000000000000" pitchFamily="50" charset="-128"/>
                <a:ea typeface="游ゴシック" panose="020B0400000000000000" pitchFamily="50" charset="-128"/>
              </a:endParaRPr>
            </a:p>
          </p:txBody>
        </p:sp>
        <p:grpSp>
          <p:nvGrpSpPr>
            <p:cNvPr id="32" name="グループ化 31"/>
            <p:cNvGrpSpPr/>
            <p:nvPr/>
          </p:nvGrpSpPr>
          <p:grpSpPr>
            <a:xfrm>
              <a:off x="648000" y="2160000"/>
              <a:ext cx="2699273" cy="540000"/>
              <a:chOff x="264868" y="1846034"/>
              <a:chExt cx="2699273" cy="540000"/>
            </a:xfrm>
          </p:grpSpPr>
          <p:grpSp>
            <p:nvGrpSpPr>
              <p:cNvPr id="18" name="グループ化 17"/>
              <p:cNvGrpSpPr/>
              <p:nvPr/>
            </p:nvGrpSpPr>
            <p:grpSpPr>
              <a:xfrm>
                <a:off x="264868" y="1846034"/>
                <a:ext cx="432000" cy="432000"/>
                <a:chOff x="936727" y="1596367"/>
                <a:chExt cx="432000" cy="432000"/>
              </a:xfrm>
            </p:grpSpPr>
            <p:sp>
              <p:nvSpPr>
                <p:cNvPr id="19" name="涙形 18"/>
                <p:cNvSpPr>
                  <a:spLocks noChangeAspect="1"/>
                </p:cNvSpPr>
                <p:nvPr/>
              </p:nvSpPr>
              <p:spPr>
                <a:xfrm rot="5400000">
                  <a:off x="936727" y="1596367"/>
                  <a:ext cx="432000" cy="432000"/>
                </a:xfrm>
                <a:prstGeom prst="teardrop">
                  <a:avLst/>
                </a:prstGeom>
                <a:solidFill>
                  <a:schemeClr val="accent1">
                    <a:lumMod val="20000"/>
                    <a:lumOff val="80000"/>
                  </a:schemeClr>
                </a:solidFill>
                <a:ln w="76200" cmpd="sng">
                  <a:solidFill>
                    <a:schemeClr val="accent1">
                      <a:lumMod val="40000"/>
                      <a:lumOff val="60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p:cNvSpPr txBox="1"/>
                <p:nvPr/>
              </p:nvSpPr>
              <p:spPr>
                <a:xfrm>
                  <a:off x="1001884" y="1627701"/>
                  <a:ext cx="301686" cy="369332"/>
                </a:xfrm>
                <a:prstGeom prst="rect">
                  <a:avLst/>
                </a:prstGeom>
                <a:noFill/>
              </p:spPr>
              <p:txBody>
                <a:bodyPr wrap="none" rtlCol="0" anchor="ctr">
                  <a:spAutoFit/>
                </a:bodyPr>
                <a:lstStyle/>
                <a:p>
                  <a:pPr algn="ctr"/>
                  <a:r>
                    <a:rPr kumimoji="1" lang="en-US" altLang="ja-JP" dirty="0">
                      <a:solidFill>
                        <a:schemeClr val="accent1"/>
                      </a:solidFill>
                    </a:rPr>
                    <a:t>1</a:t>
                  </a:r>
                  <a:endParaRPr kumimoji="1" lang="ja-JP" altLang="en-US" dirty="0">
                    <a:solidFill>
                      <a:schemeClr val="accent1"/>
                    </a:solidFill>
                  </a:endParaRPr>
                </a:p>
              </p:txBody>
            </p:sp>
          </p:grpSp>
          <p:sp>
            <p:nvSpPr>
              <p:cNvPr id="21" name="テキスト プレースホルダー 11"/>
              <p:cNvSpPr txBox="1">
                <a:spLocks/>
              </p:cNvSpPr>
              <p:nvPr/>
            </p:nvSpPr>
            <p:spPr>
              <a:xfrm>
                <a:off x="804141" y="1882034"/>
                <a:ext cx="2160000" cy="504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計画</a:t>
                </a:r>
                <a:endParaRPr lang="en-US" sz="1600" b="1" dirty="0">
                  <a:solidFill>
                    <a:schemeClr val="accent1">
                      <a:lumMod val="50000"/>
                    </a:schemeClr>
                  </a:solidFill>
                  <a:latin typeface="游ゴシック" panose="020B0400000000000000" pitchFamily="50" charset="-128"/>
                </a:endParaRPr>
              </a:p>
            </p:txBody>
          </p:sp>
        </p:grpSp>
        <p:grpSp>
          <p:nvGrpSpPr>
            <p:cNvPr id="33" name="グループ化 32"/>
            <p:cNvGrpSpPr/>
            <p:nvPr/>
          </p:nvGrpSpPr>
          <p:grpSpPr>
            <a:xfrm>
              <a:off x="3024000" y="2160000"/>
              <a:ext cx="5400000" cy="3780000"/>
              <a:chOff x="3248025" y="2160000"/>
              <a:chExt cx="5400000" cy="3780000"/>
            </a:xfrm>
          </p:grpSpPr>
          <p:sp>
            <p:nvSpPr>
              <p:cNvPr id="16" name="テキスト ボックス 15"/>
              <p:cNvSpPr txBox="1">
                <a:spLocks/>
              </p:cNvSpPr>
              <p:nvPr/>
            </p:nvSpPr>
            <p:spPr>
              <a:xfrm>
                <a:off x="3248025" y="2844000"/>
                <a:ext cx="5400000" cy="3096000"/>
              </a:xfrm>
              <a:prstGeom prst="rect">
                <a:avLst/>
              </a:prstGeom>
              <a:noFill/>
            </p:spPr>
            <p:txBody>
              <a:bodyPr wrap="square" rtlCol="0">
                <a:noAutofit/>
              </a:bodyPr>
              <a:lstStyle/>
              <a:p>
                <a:pPr latinLnBrk="1">
                  <a:spcBef>
                    <a:spcPts val="600"/>
                  </a:spcBef>
                </a:pPr>
                <a:r>
                  <a:rPr lang="ja-JP" altLang="en-US" sz="1400" dirty="0">
                    <a:latin typeface="游ゴシック" panose="020B0400000000000000" pitchFamily="50" charset="-128"/>
                    <a:ea typeface="游ゴシック" panose="020B0400000000000000" pitchFamily="50" charset="-128"/>
                  </a:rPr>
                  <a:t>定例進捗会議を開催し、各工程での進捗状況、品質の傾向、課題と</a:t>
                </a:r>
                <a:r>
                  <a:rPr lang="en-US" altLang="ja-JP" sz="1400" dirty="0">
                    <a:latin typeface="游ゴシック" panose="020B0400000000000000" pitchFamily="50" charset="-128"/>
                    <a:ea typeface="游ゴシック" panose="020B0400000000000000" pitchFamily="50" charset="-128"/>
                  </a:rPr>
                  <a:t>TODO</a:t>
                </a:r>
                <a:r>
                  <a:rPr lang="ja-JP" altLang="en-US" sz="1400" dirty="0">
                    <a:latin typeface="游ゴシック" panose="020B0400000000000000" pitchFamily="50" charset="-128"/>
                    <a:ea typeface="游ゴシック" panose="020B0400000000000000" pitchFamily="50" charset="-128"/>
                  </a:rPr>
                  <a:t>の発生と消化状況、変更要求の発生と消化状況を報告します。</a:t>
                </a:r>
                <a:endParaRPr lang="en-US" altLang="ja-JP" sz="1400" dirty="0">
                  <a:latin typeface="游ゴシック" panose="020B0400000000000000" pitchFamily="50" charset="-128"/>
                  <a:ea typeface="游ゴシック" panose="020B0400000000000000" pitchFamily="50" charset="-128"/>
                </a:endParaRPr>
              </a:p>
              <a:p>
                <a:pPr latinLnBrk="1">
                  <a:spcBef>
                    <a:spcPts val="600"/>
                  </a:spcBef>
                </a:pPr>
                <a:r>
                  <a:rPr lang="ja-JP" altLang="en-US" sz="1400" dirty="0">
                    <a:latin typeface="游ゴシック" panose="020B0400000000000000" pitchFamily="50" charset="-128"/>
                    <a:ea typeface="游ゴシック" panose="020B0400000000000000" pitchFamily="50" charset="-128"/>
                  </a:rPr>
                  <a:t>進捗は、定量的に把握できる指標、および定性コメントをもって報告します。予め定義した進捗率を用いて報告予定です。２週間以上の遅延タスクは、個々の遅延原因と対策について報告します。</a:t>
                </a:r>
                <a:endParaRPr lang="en-US" altLang="ja-JP" sz="1400" dirty="0">
                  <a:latin typeface="游ゴシック" panose="020B0400000000000000" pitchFamily="50" charset="-128"/>
                  <a:ea typeface="游ゴシック" panose="020B0400000000000000" pitchFamily="50" charset="-128"/>
                </a:endParaRPr>
              </a:p>
              <a:p>
                <a:pPr latinLnBrk="1">
                  <a:spcBef>
                    <a:spcPts val="600"/>
                  </a:spcBef>
                </a:pPr>
                <a:r>
                  <a:rPr lang="ja-JP" altLang="en-US" sz="1400" dirty="0">
                    <a:latin typeface="游ゴシック" panose="020B0400000000000000" pitchFamily="50" charset="-128"/>
                    <a:ea typeface="游ゴシック" panose="020B0400000000000000" pitchFamily="50" charset="-128"/>
                  </a:rPr>
                  <a:t>各工程の終了時には、工程の振り返りを行い、以下の観点で総括を行います。</a:t>
                </a:r>
                <a:endParaRPr lang="en-US" altLang="ja-JP" sz="1400" dirty="0">
                  <a:latin typeface="游ゴシック" panose="020B0400000000000000" pitchFamily="50" charset="-128"/>
                  <a:ea typeface="游ゴシック" panose="020B0400000000000000" pitchFamily="50" charset="-128"/>
                </a:endParaRPr>
              </a:p>
              <a:p>
                <a:pPr marL="742950" lvl="1" indent="-285750" latinLnBrk="1">
                  <a:spcBef>
                    <a:spcPts val="6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定量的な結果</a:t>
                </a:r>
              </a:p>
              <a:p>
                <a:pPr marL="742950" lvl="1" indent="-285750" latinLnBrk="1">
                  <a:spcBef>
                    <a:spcPts val="6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開始・計画段階で策定した計画との差異</a:t>
                </a:r>
                <a:br>
                  <a:rPr lang="en-US" altLang="ja-JP" sz="1400" dirty="0">
                    <a:latin typeface="游ゴシック" panose="020B0400000000000000" pitchFamily="50" charset="-128"/>
                    <a:ea typeface="游ゴシック" panose="020B0400000000000000" pitchFamily="50" charset="-128"/>
                  </a:rPr>
                </a:br>
                <a:r>
                  <a:rPr lang="ja-JP" altLang="en-US" sz="1400" dirty="0">
                    <a:latin typeface="游ゴシック" panose="020B0400000000000000" pitchFamily="50" charset="-128"/>
                    <a:ea typeface="游ゴシック" panose="020B0400000000000000" pitchFamily="50" charset="-128"/>
                  </a:rPr>
                  <a:t>（定量的、定性的）</a:t>
                </a:r>
              </a:p>
              <a:p>
                <a:pPr marL="742950" lvl="1" indent="-285750" latinLnBrk="1">
                  <a:spcBef>
                    <a:spcPts val="600"/>
                  </a:spcBef>
                  <a:buFont typeface="Arial" panose="020B0604020202020204" pitchFamily="34" charset="0"/>
                  <a:buChar char="•"/>
                </a:pPr>
                <a:r>
                  <a:rPr lang="ja-JP" altLang="en-US" sz="1400" dirty="0">
                    <a:latin typeface="游ゴシック" panose="020B0400000000000000" pitchFamily="50" charset="-128"/>
                    <a:ea typeface="游ゴシック" panose="020B0400000000000000" pitchFamily="50" charset="-128"/>
                  </a:rPr>
                  <a:t>総括から分かる課題と対応方法</a:t>
                </a:r>
              </a:p>
              <a:p>
                <a:pPr>
                  <a:spcBef>
                    <a:spcPts val="600"/>
                  </a:spcBef>
                </a:pPr>
                <a:endParaRPr lang="en-US" altLang="ja-JP" sz="1400" dirty="0">
                  <a:latin typeface="游ゴシック" panose="020B0400000000000000" pitchFamily="50" charset="-128"/>
                  <a:ea typeface="游ゴシック" panose="020B0400000000000000" pitchFamily="50" charset="-128"/>
                </a:endParaRPr>
              </a:p>
            </p:txBody>
          </p:sp>
          <p:grpSp>
            <p:nvGrpSpPr>
              <p:cNvPr id="31" name="グループ化 30"/>
              <p:cNvGrpSpPr/>
              <p:nvPr/>
            </p:nvGrpSpPr>
            <p:grpSpPr>
              <a:xfrm>
                <a:off x="3248025" y="2160000"/>
                <a:ext cx="2699273" cy="540000"/>
                <a:chOff x="3169302" y="1844579"/>
                <a:chExt cx="2699273" cy="540000"/>
              </a:xfrm>
            </p:grpSpPr>
            <p:grpSp>
              <p:nvGrpSpPr>
                <p:cNvPr id="22" name="グループ化 21"/>
                <p:cNvGrpSpPr/>
                <p:nvPr/>
              </p:nvGrpSpPr>
              <p:grpSpPr>
                <a:xfrm>
                  <a:off x="3169302" y="1844579"/>
                  <a:ext cx="432000" cy="432000"/>
                  <a:chOff x="936727" y="1596367"/>
                  <a:chExt cx="432000" cy="432000"/>
                </a:xfrm>
              </p:grpSpPr>
              <p:sp>
                <p:nvSpPr>
                  <p:cNvPr id="23" name="涙形 22"/>
                  <p:cNvSpPr>
                    <a:spLocks noChangeAspect="1"/>
                  </p:cNvSpPr>
                  <p:nvPr/>
                </p:nvSpPr>
                <p:spPr>
                  <a:xfrm rot="5400000">
                    <a:off x="936727" y="1596367"/>
                    <a:ext cx="432000" cy="432000"/>
                  </a:xfrm>
                  <a:prstGeom prst="teardrop">
                    <a:avLst/>
                  </a:prstGeom>
                  <a:solidFill>
                    <a:schemeClr val="accent1">
                      <a:lumMod val="20000"/>
                      <a:lumOff val="80000"/>
                    </a:schemeClr>
                  </a:solidFill>
                  <a:ln w="76200" cmpd="sng">
                    <a:solidFill>
                      <a:schemeClr val="accent1">
                        <a:lumMod val="40000"/>
                        <a:lumOff val="60000"/>
                      </a:schemeClr>
                    </a:solidFill>
                    <a:beve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p:cNvSpPr txBox="1"/>
                  <p:nvPr/>
                </p:nvSpPr>
                <p:spPr>
                  <a:xfrm>
                    <a:off x="1001884" y="1627701"/>
                    <a:ext cx="301686" cy="369332"/>
                  </a:xfrm>
                  <a:prstGeom prst="rect">
                    <a:avLst/>
                  </a:prstGeom>
                  <a:noFill/>
                </p:spPr>
                <p:txBody>
                  <a:bodyPr wrap="none" rtlCol="0" anchor="ctr">
                    <a:spAutoFit/>
                  </a:bodyPr>
                  <a:lstStyle/>
                  <a:p>
                    <a:pPr algn="ctr"/>
                    <a:r>
                      <a:rPr kumimoji="1" lang="en-US" altLang="ja-JP" dirty="0">
                        <a:solidFill>
                          <a:schemeClr val="accent1"/>
                        </a:solidFill>
                      </a:rPr>
                      <a:t>2</a:t>
                    </a:r>
                    <a:endParaRPr kumimoji="1" lang="ja-JP" altLang="en-US" dirty="0">
                      <a:solidFill>
                        <a:schemeClr val="accent1"/>
                      </a:solidFill>
                    </a:endParaRPr>
                  </a:p>
                </p:txBody>
              </p:sp>
            </p:grpSp>
            <p:sp>
              <p:nvSpPr>
                <p:cNvPr id="25" name="テキスト プレースホルダー 11"/>
                <p:cNvSpPr txBox="1">
                  <a:spLocks/>
                </p:cNvSpPr>
                <p:nvPr/>
              </p:nvSpPr>
              <p:spPr>
                <a:xfrm>
                  <a:off x="3708575" y="1880579"/>
                  <a:ext cx="2160000" cy="504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貴社への報告</a:t>
                  </a:r>
                  <a:endParaRPr lang="en-US" sz="1600" b="1" dirty="0">
                    <a:solidFill>
                      <a:schemeClr val="accent1">
                        <a:lumMod val="50000"/>
                      </a:schemeClr>
                    </a:solidFill>
                    <a:latin typeface="游ゴシック" panose="020B0400000000000000" pitchFamily="50" charset="-128"/>
                  </a:endParaRPr>
                </a:p>
              </p:txBody>
            </p:sp>
          </p:grpSp>
        </p:grpSp>
      </p:grpSp>
    </p:spTree>
    <p:extLst>
      <p:ext uri="{BB962C8B-B14F-4D97-AF65-F5344CB8AC3E}">
        <p14:creationId xmlns:p14="http://schemas.microsoft.com/office/powerpoint/2010/main" val="22390723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課題管理</a:t>
            </a:r>
            <a:endParaRPr kumimoji="1" lang="ja-JP" altLang="en-US" dirty="0"/>
          </a:p>
        </p:txBody>
      </p:sp>
      <p:sp>
        <p:nvSpPr>
          <p:cNvPr id="3" name="コンテンツ プレースホルダー 2"/>
          <p:cNvSpPr>
            <a:spLocks noGrp="1"/>
          </p:cNvSpPr>
          <p:nvPr>
            <p:ph idx="1"/>
          </p:nvPr>
        </p:nvSpPr>
        <p:spPr>
          <a:xfrm>
            <a:off x="648000" y="2160000"/>
            <a:ext cx="7848000" cy="1728000"/>
          </a:xfrm>
        </p:spPr>
        <p:txBody>
          <a:bodyPr/>
          <a:lstStyle/>
          <a:p>
            <a:pPr>
              <a:buFont typeface="Wingdings" panose="05000000000000000000" pitchFamily="2" charset="2"/>
              <a:buChar char="l"/>
            </a:pPr>
            <a:r>
              <a:rPr lang="ja-JP" altLang="en-US" dirty="0"/>
              <a:t>課題管理表は、チーム内部課題、プロジェクト内部課題、プロジェクト課題に分けて管理し、それぞれ適切なメンバーを招集した会議にて課題解決を行います。</a:t>
            </a:r>
            <a:endParaRPr lang="en-US" altLang="ja-JP" dirty="0"/>
          </a:p>
          <a:p>
            <a:pPr>
              <a:buFont typeface="Wingdings" panose="05000000000000000000" pitchFamily="2" charset="2"/>
              <a:buChar char="l"/>
            </a:pPr>
            <a:r>
              <a:rPr lang="ja-JP" altLang="en-US" dirty="0"/>
              <a:t>プロジェクトの課題は、担当者１人で解決可能な単位まで細分化し、担当と期限を設定します。</a:t>
            </a:r>
            <a:endParaRPr lang="en-US" altLang="ja-JP" dirty="0"/>
          </a:p>
          <a:p>
            <a:pPr>
              <a:buFont typeface="Wingdings" panose="05000000000000000000" pitchFamily="2" charset="2"/>
              <a:buChar char="l"/>
            </a:pPr>
            <a:r>
              <a:rPr lang="ja-JP" altLang="en-US" dirty="0"/>
              <a:t>課題管理表は、弊社</a:t>
            </a:r>
            <a:r>
              <a:rPr lang="en-US" altLang="ja-JP" dirty="0"/>
              <a:t>PM/PMO</a:t>
            </a:r>
            <a:r>
              <a:rPr lang="ja-JP" altLang="en-US" dirty="0"/>
              <a:t>および</a:t>
            </a:r>
            <a:r>
              <a:rPr lang="en-US" altLang="ja-JP" dirty="0"/>
              <a:t>TL</a:t>
            </a:r>
            <a:r>
              <a:rPr lang="ja-JP" altLang="en-US" dirty="0" err="1"/>
              <a:t>にて</a:t>
            </a:r>
            <a:r>
              <a:rPr lang="ja-JP" altLang="en-US" dirty="0"/>
              <a:t>起票・管理し、解決に向けた推進を行います。</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56</a:t>
            </a:fld>
            <a:endParaRPr kumimoji="1" lang="ja-JP" altLang="en-US"/>
          </a:p>
        </p:txBody>
      </p:sp>
      <p:sp>
        <p:nvSpPr>
          <p:cNvPr id="6" name="正方形/長方形 5"/>
          <p:cNvSpPr/>
          <p:nvPr/>
        </p:nvSpPr>
        <p:spPr>
          <a:xfrm>
            <a:off x="1080000" y="864000"/>
            <a:ext cx="7920000" cy="936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tIns="46800" bIns="46800" rtlCol="0" anchor="t"/>
          <a:lstStyle/>
          <a:p>
            <a:pPr latinLnBrk="1">
              <a:lnSpc>
                <a:spcPct val="120000"/>
              </a:lnSpc>
            </a:pPr>
            <a:r>
              <a:rPr lang="ja-JP" altLang="en-US" sz="1400" dirty="0">
                <a:solidFill>
                  <a:schemeClr val="tx1"/>
                </a:solidFill>
                <a:latin typeface="游ゴシック" panose="020B0400000000000000" pitchFamily="50" charset="-128"/>
                <a:ea typeface="游ゴシック" panose="020B0400000000000000" pitchFamily="50" charset="-128"/>
              </a:rPr>
              <a:t>プロジェクトにて顕在化した事象・問題をあるべき姿にするために解決策を検討・計画し実行します。検討事項が発生した場合は、課題管理表にて管理し、貴社を含めた関係者間での見える化を行います。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latinLnBrk="1">
              <a:lnSpc>
                <a:spcPct val="120000"/>
              </a:lnSpc>
            </a:pP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8" name="円/楕円 11"/>
          <p:cNvSpPr/>
          <p:nvPr/>
        </p:nvSpPr>
        <p:spPr>
          <a:xfrm>
            <a:off x="216000" y="900000"/>
            <a:ext cx="749902" cy="749902"/>
          </a:xfrm>
          <a:prstGeom prst="ellipse">
            <a:avLst/>
          </a:prstGeom>
          <a:solidFill>
            <a:schemeClr val="accent1">
              <a:alpha val="59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4" name="図 13"/>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75887" y="1055594"/>
            <a:ext cx="431376" cy="432000"/>
          </a:xfrm>
          <a:prstGeom prst="rect">
            <a:avLst/>
          </a:prstGeom>
        </p:spPr>
      </p:pic>
      <p:grpSp>
        <p:nvGrpSpPr>
          <p:cNvPr id="27" name="グループ化 26"/>
          <p:cNvGrpSpPr/>
          <p:nvPr/>
        </p:nvGrpSpPr>
        <p:grpSpPr>
          <a:xfrm>
            <a:off x="648000" y="3960000"/>
            <a:ext cx="7848000" cy="1728000"/>
            <a:chOff x="648000" y="4032000"/>
            <a:chExt cx="7848000" cy="1728000"/>
          </a:xfrm>
        </p:grpSpPr>
        <p:sp>
          <p:nvSpPr>
            <p:cNvPr id="17" name="角丸四角形 16"/>
            <p:cNvSpPr/>
            <p:nvPr/>
          </p:nvSpPr>
          <p:spPr>
            <a:xfrm>
              <a:off x="5976000" y="4248000"/>
              <a:ext cx="2520000" cy="1512000"/>
            </a:xfrm>
            <a:prstGeom prst="roundRect">
              <a:avLst>
                <a:gd name="adj" fmla="val 4200"/>
              </a:avLst>
            </a:prstGeom>
            <a:solidFill>
              <a:srgbClr val="FFF2CC">
                <a:alpha val="50196"/>
              </a:srgbClr>
            </a:solidFill>
            <a:ln>
              <a:solidFill>
                <a:schemeClr val="accent4"/>
              </a:solidFill>
            </a:ln>
          </p:spPr>
          <p:style>
            <a:lnRef idx="3">
              <a:schemeClr val="lt1"/>
            </a:lnRef>
            <a:fillRef idx="1">
              <a:schemeClr val="accent4"/>
            </a:fillRef>
            <a:effectRef idx="1">
              <a:schemeClr val="accent4"/>
            </a:effectRef>
            <a:fontRef idx="minor">
              <a:schemeClr val="lt1"/>
            </a:fontRef>
          </p:style>
          <p:txBody>
            <a:bodyPr lIns="72000" rIns="72000" rtlCol="0" anchor="t"/>
            <a:lstStyle/>
            <a:p>
              <a:pPr algn="ct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チーム課題の解決</a:t>
              </a:r>
              <a:endPar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endParaRP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チームリーダー</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チームメンバー</a:t>
              </a:r>
            </a:p>
          </p:txBody>
        </p:sp>
        <p:sp>
          <p:nvSpPr>
            <p:cNvPr id="18" name="正方形/長方形 17"/>
            <p:cNvSpPr/>
            <p:nvPr/>
          </p:nvSpPr>
          <p:spPr>
            <a:xfrm>
              <a:off x="6120000" y="4032000"/>
              <a:ext cx="2232000" cy="360000"/>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ja-JP" altLang="en-US" sz="1400" b="1" dirty="0">
                  <a:latin typeface="游ゴシック" panose="020B0400000000000000" pitchFamily="50" charset="-128"/>
                  <a:ea typeface="游ゴシック" panose="020B0400000000000000" pitchFamily="50" charset="-128"/>
                </a:rPr>
                <a:t>チーム内部進捗会議</a:t>
              </a:r>
              <a:endParaRPr kumimoji="1" lang="ja-JP" altLang="en-US" sz="1400" b="1" dirty="0">
                <a:latin typeface="游ゴシック" panose="020B0400000000000000" pitchFamily="50" charset="-128"/>
                <a:ea typeface="游ゴシック" panose="020B0400000000000000" pitchFamily="50" charset="-128"/>
              </a:endParaRPr>
            </a:p>
          </p:txBody>
        </p:sp>
        <p:sp>
          <p:nvSpPr>
            <p:cNvPr id="23" name="角丸四角形 22"/>
            <p:cNvSpPr/>
            <p:nvPr/>
          </p:nvSpPr>
          <p:spPr>
            <a:xfrm>
              <a:off x="3312000" y="4248000"/>
              <a:ext cx="2520000" cy="1512000"/>
            </a:xfrm>
            <a:prstGeom prst="roundRect">
              <a:avLst>
                <a:gd name="adj" fmla="val 4200"/>
              </a:avLst>
            </a:prstGeom>
            <a:solidFill>
              <a:schemeClr val="accent2">
                <a:lumMod val="20000"/>
                <a:lumOff val="80000"/>
                <a:alpha val="50196"/>
              </a:schemeClr>
            </a:solidFill>
            <a:ln>
              <a:solidFill>
                <a:schemeClr val="accent2"/>
              </a:solidFill>
            </a:ln>
          </p:spPr>
          <p:style>
            <a:lnRef idx="3">
              <a:schemeClr val="lt1"/>
            </a:lnRef>
            <a:fillRef idx="1">
              <a:schemeClr val="accent4"/>
            </a:fillRef>
            <a:effectRef idx="1">
              <a:schemeClr val="accent4"/>
            </a:effectRef>
            <a:fontRef idx="minor">
              <a:schemeClr val="lt1"/>
            </a:fontRef>
          </p:style>
          <p:txBody>
            <a:bodyPr lIns="72000" rIns="72000" rtlCol="0" anchor="t"/>
            <a:lstStyle/>
            <a:p>
              <a:pPr algn="ct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プロジェクト内部</a:t>
              </a: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課題の解決</a:t>
              </a:r>
              <a:endPar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endParaRP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プロジェクトマネージャー</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en-US" altLang="ja-JP" sz="1400" dirty="0">
                  <a:solidFill>
                    <a:schemeClr val="tx1"/>
                  </a:solidFill>
                  <a:latin typeface="游ゴシック" panose="020B0400000000000000" pitchFamily="50" charset="-128"/>
                  <a:ea typeface="游ゴシック" panose="020B0400000000000000" pitchFamily="50" charset="-128"/>
                </a:rPr>
                <a:t>PMO</a:t>
              </a: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チームリーダー</a:t>
              </a:r>
            </a:p>
          </p:txBody>
        </p:sp>
        <p:sp>
          <p:nvSpPr>
            <p:cNvPr id="24" name="正方形/長方形 23"/>
            <p:cNvSpPr/>
            <p:nvPr/>
          </p:nvSpPr>
          <p:spPr>
            <a:xfrm>
              <a:off x="3456000" y="4032000"/>
              <a:ext cx="2232000" cy="360000"/>
            </a:xfrm>
            <a:prstGeom prst="rect">
              <a:avLst/>
            </a:prstGeom>
          </p:spPr>
          <p:style>
            <a:lnRef idx="3">
              <a:schemeClr val="lt1"/>
            </a:lnRef>
            <a:fillRef idx="1">
              <a:schemeClr val="accent2"/>
            </a:fillRef>
            <a:effectRef idx="1">
              <a:schemeClr val="accent2"/>
            </a:effectRef>
            <a:fontRef idx="minor">
              <a:schemeClr val="lt1"/>
            </a:fontRef>
          </p:style>
          <p:txBody>
            <a:bodyPr wrap="none" rtlCol="0" anchor="ctr"/>
            <a:lstStyle/>
            <a:p>
              <a:pPr algn="ctr"/>
              <a:r>
                <a:rPr lang="ja-JP" altLang="en-US" sz="1400" b="1" dirty="0">
                  <a:latin typeface="游ゴシック" panose="020B0400000000000000" pitchFamily="50" charset="-128"/>
                  <a:ea typeface="游ゴシック" panose="020B0400000000000000" pitchFamily="50" charset="-128"/>
                </a:rPr>
                <a:t>内部進捗会議</a:t>
              </a:r>
              <a:endParaRPr kumimoji="1" lang="ja-JP" altLang="en-US" sz="1400" b="1" dirty="0">
                <a:latin typeface="游ゴシック" panose="020B0400000000000000" pitchFamily="50" charset="-128"/>
                <a:ea typeface="游ゴシック" panose="020B0400000000000000" pitchFamily="50" charset="-128"/>
              </a:endParaRPr>
            </a:p>
          </p:txBody>
        </p:sp>
        <p:sp>
          <p:nvSpPr>
            <p:cNvPr id="25" name="角丸四角形 24"/>
            <p:cNvSpPr/>
            <p:nvPr/>
          </p:nvSpPr>
          <p:spPr>
            <a:xfrm>
              <a:off x="648000" y="4248000"/>
              <a:ext cx="2520000" cy="1512000"/>
            </a:xfrm>
            <a:prstGeom prst="roundRect">
              <a:avLst>
                <a:gd name="adj" fmla="val 4200"/>
              </a:avLst>
            </a:prstGeom>
            <a:solidFill>
              <a:schemeClr val="accent1">
                <a:lumMod val="20000"/>
                <a:lumOff val="80000"/>
                <a:alpha val="50196"/>
              </a:schemeClr>
            </a:solidFill>
            <a:ln>
              <a:solidFill>
                <a:schemeClr val="accent1"/>
              </a:solidFill>
            </a:ln>
          </p:spPr>
          <p:style>
            <a:lnRef idx="3">
              <a:schemeClr val="lt1"/>
            </a:lnRef>
            <a:fillRef idx="1">
              <a:schemeClr val="accent4"/>
            </a:fillRef>
            <a:effectRef idx="1">
              <a:schemeClr val="accent4"/>
            </a:effectRef>
            <a:fontRef idx="minor">
              <a:schemeClr val="lt1"/>
            </a:fontRef>
          </p:style>
          <p:txBody>
            <a:bodyPr lIns="72000" rIns="72000" rtlCol="0" anchor="t"/>
            <a:lstStyle/>
            <a:p>
              <a:pPr algn="ct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プロジェクト</a:t>
              </a:r>
              <a:r>
                <a:rPr kumimoji="1" lang="ja-JP" altLang="en-US" sz="1400" b="1" dirty="0">
                  <a:solidFill>
                    <a:schemeClr val="accent1">
                      <a:lumMod val="50000"/>
                    </a:schemeClr>
                  </a:solidFill>
                  <a:latin typeface="游ゴシック" panose="020B0400000000000000" pitchFamily="50" charset="-128"/>
                  <a:ea typeface="游ゴシック" panose="020B0400000000000000" pitchFamily="50" charset="-128"/>
                </a:rPr>
                <a:t>課題の解決</a:t>
              </a:r>
              <a:endPar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endParaRPr>
            </a:p>
            <a:p>
              <a:pPr algn="ct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ja-JP" altLang="en-US" sz="1400" dirty="0">
                  <a:solidFill>
                    <a:schemeClr val="tx1"/>
                  </a:solidFill>
                  <a:latin typeface="游ゴシック" panose="020B0400000000000000" pitchFamily="50" charset="-128"/>
                  <a:ea typeface="游ゴシック" panose="020B0400000000000000" pitchFamily="50" charset="-128"/>
                </a:rPr>
                <a:t>貴社担当者</a:t>
              </a:r>
              <a:endParaRPr lang="en-US" altLang="ja-JP" sz="1400" dirty="0">
                <a:solidFill>
                  <a:schemeClr val="tx1"/>
                </a:solidFill>
                <a:latin typeface="游ゴシック" panose="020B0400000000000000" pitchFamily="50" charset="-128"/>
                <a:ea typeface="游ゴシック" panose="020B0400000000000000" pitchFamily="50" charset="-128"/>
              </a:endParaRPr>
            </a:p>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プロジェクトマネージャー</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algn="ctr"/>
              <a:r>
                <a:rPr lang="en-US" altLang="ja-JP" sz="1400" dirty="0">
                  <a:solidFill>
                    <a:schemeClr val="tx1"/>
                  </a:solidFill>
                  <a:latin typeface="游ゴシック" panose="020B0400000000000000" pitchFamily="50" charset="-128"/>
                  <a:ea typeface="游ゴシック" panose="020B0400000000000000" pitchFamily="50" charset="-128"/>
                </a:rPr>
                <a:t>PMO</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6" name="正方形/長方形 25"/>
            <p:cNvSpPr/>
            <p:nvPr/>
          </p:nvSpPr>
          <p:spPr>
            <a:xfrm>
              <a:off x="792000" y="4032000"/>
              <a:ext cx="2232000" cy="3600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b="1" dirty="0">
                  <a:latin typeface="游ゴシック" panose="020B0400000000000000" pitchFamily="50" charset="-128"/>
                  <a:ea typeface="游ゴシック" panose="020B0400000000000000" pitchFamily="50" charset="-128"/>
                </a:rPr>
                <a:t>進捗会議</a:t>
              </a:r>
              <a:endParaRPr kumimoji="1" lang="ja-JP" altLang="en-US" sz="1400" b="1" dirty="0">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33049096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リスク管理</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57</a:t>
            </a:fld>
            <a:endParaRPr kumimoji="1" lang="ja-JP" altLang="en-US"/>
          </a:p>
        </p:txBody>
      </p:sp>
      <p:sp>
        <p:nvSpPr>
          <p:cNvPr id="6" name="正方形/長方形 5"/>
          <p:cNvSpPr/>
          <p:nvPr/>
        </p:nvSpPr>
        <p:spPr>
          <a:xfrm>
            <a:off x="1080000" y="864000"/>
            <a:ext cx="7920000" cy="936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tIns="46800" bIns="46800" rtlCol="0" anchor="t"/>
          <a:lstStyle/>
          <a:p>
            <a:pPr latinLnBrk="1">
              <a:lnSpc>
                <a:spcPct val="120000"/>
              </a:lnSpc>
            </a:pPr>
            <a:r>
              <a:rPr lang="ja-JP" altLang="en-US" sz="1400" dirty="0">
                <a:solidFill>
                  <a:schemeClr val="tx1"/>
                </a:solidFill>
                <a:latin typeface="游ゴシック" panose="020B0400000000000000" pitchFamily="50" charset="-128"/>
                <a:ea typeface="游ゴシック" panose="020B0400000000000000" pitchFamily="50" charset="-128"/>
              </a:rPr>
              <a:t>プロジェクトにおけるリスクを洗い出し、リスクごとに発生確率と影響を把握します。リスクが顕在化した場合のプロジェクトが受ける影響を最小限にする対策を講じ、リスクが顕在化していないかを常に監視します。リスクが顕在化した場合には、対策を実行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7" name="円/楕円 11"/>
          <p:cNvSpPr/>
          <p:nvPr/>
        </p:nvSpPr>
        <p:spPr>
          <a:xfrm>
            <a:off x="216000" y="900000"/>
            <a:ext cx="749902" cy="749902"/>
          </a:xfrm>
          <a:prstGeom prst="ellipse">
            <a:avLst/>
          </a:prstGeom>
          <a:solidFill>
            <a:schemeClr val="accent1">
              <a:alpha val="59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2951" y="1110476"/>
            <a:ext cx="576000" cy="328949"/>
          </a:xfrm>
          <a:prstGeom prst="rect">
            <a:avLst/>
          </a:prstGeom>
        </p:spPr>
      </p:pic>
      <p:grpSp>
        <p:nvGrpSpPr>
          <p:cNvPr id="47" name="グループ化 46"/>
          <p:cNvGrpSpPr/>
          <p:nvPr/>
        </p:nvGrpSpPr>
        <p:grpSpPr>
          <a:xfrm>
            <a:off x="648000" y="2124000"/>
            <a:ext cx="7847999" cy="792000"/>
            <a:chOff x="648000" y="3240000"/>
            <a:chExt cx="7847999" cy="792000"/>
          </a:xfrm>
        </p:grpSpPr>
        <p:cxnSp>
          <p:nvCxnSpPr>
            <p:cNvPr id="43" name="直線コネクタ 42"/>
            <p:cNvCxnSpPr/>
            <p:nvPr/>
          </p:nvCxnSpPr>
          <p:spPr>
            <a:xfrm>
              <a:off x="2196000" y="3240000"/>
              <a:ext cx="0" cy="792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テキスト ボックス 43"/>
            <p:cNvSpPr txBox="1"/>
            <p:nvPr/>
          </p:nvSpPr>
          <p:spPr>
            <a:xfrm>
              <a:off x="648000" y="3240000"/>
              <a:ext cx="1512000" cy="756000"/>
            </a:xfrm>
            <a:prstGeom prst="rect">
              <a:avLst/>
            </a:prstGeom>
            <a:noFill/>
          </p:spPr>
          <p:txBody>
            <a:bodyPr wrap="square" lIns="108000" rIns="108000" rtlCol="0" anchor="ctr">
              <a:noAutofit/>
            </a:bodyPr>
            <a:lstStyle/>
            <a:p>
              <a:pPr algn="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リスクの識別</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45" name="テキスト ボックス 44"/>
            <p:cNvSpPr txBox="1"/>
            <p:nvPr/>
          </p:nvSpPr>
          <p:spPr>
            <a:xfrm>
              <a:off x="2231999" y="3240000"/>
              <a:ext cx="6264000" cy="792000"/>
            </a:xfrm>
            <a:prstGeom prst="rect">
              <a:avLst/>
            </a:prstGeom>
            <a:noFill/>
          </p:spPr>
          <p:txBody>
            <a:bodyPr wrap="square" lIns="108000" rIns="108000" rtlCol="0" anchor="ctr">
              <a:noAutofit/>
            </a:bodyPr>
            <a:lstStyle/>
            <a:p>
              <a:pPr>
                <a:spcBef>
                  <a:spcPts val="600"/>
                </a:spcBef>
              </a:pPr>
              <a:r>
                <a:rPr lang="ja-JP" altLang="ja-JP" sz="1400" dirty="0">
                  <a:latin typeface="游ゴシック" panose="020B0400000000000000" pitchFamily="50" charset="-128"/>
                  <a:ea typeface="游ゴシック" panose="020B0400000000000000" pitchFamily="50" charset="-128"/>
                </a:rPr>
                <a:t>プロジェクトの立ち上げ時、進捗評価時、およびその他重大な意思決定をする場合にリスクを識別し、リスク管理表に記述</a:t>
              </a:r>
              <a:r>
                <a:rPr lang="ja-JP" altLang="en-US" sz="1400" dirty="0">
                  <a:latin typeface="游ゴシック" panose="020B0400000000000000" pitchFamily="50" charset="-128"/>
                  <a:ea typeface="游ゴシック" panose="020B0400000000000000" pitchFamily="50" charset="-128"/>
                </a:rPr>
                <a:t>します</a:t>
              </a:r>
              <a:r>
                <a:rPr lang="ja-JP" altLang="ja-JP" sz="1400" dirty="0">
                  <a:latin typeface="游ゴシック" panose="020B0400000000000000" pitchFamily="50" charset="-128"/>
                  <a:ea typeface="游ゴシック" panose="020B0400000000000000" pitchFamily="50" charset="-128"/>
                </a:rPr>
                <a:t>。</a:t>
              </a: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48" name="グループ化 47"/>
          <p:cNvGrpSpPr/>
          <p:nvPr/>
        </p:nvGrpSpPr>
        <p:grpSpPr>
          <a:xfrm>
            <a:off x="648000" y="3096000"/>
            <a:ext cx="7847999" cy="792000"/>
            <a:chOff x="648000" y="3240000"/>
            <a:chExt cx="7847999" cy="792000"/>
          </a:xfrm>
        </p:grpSpPr>
        <p:cxnSp>
          <p:nvCxnSpPr>
            <p:cNvPr id="49" name="直線コネクタ 48"/>
            <p:cNvCxnSpPr/>
            <p:nvPr/>
          </p:nvCxnSpPr>
          <p:spPr>
            <a:xfrm>
              <a:off x="2196000" y="3240000"/>
              <a:ext cx="0" cy="792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テキスト ボックス 49"/>
            <p:cNvSpPr txBox="1"/>
            <p:nvPr/>
          </p:nvSpPr>
          <p:spPr>
            <a:xfrm>
              <a:off x="648000" y="3240000"/>
              <a:ext cx="1512000" cy="756000"/>
            </a:xfrm>
            <a:prstGeom prst="rect">
              <a:avLst/>
            </a:prstGeom>
            <a:noFill/>
          </p:spPr>
          <p:txBody>
            <a:bodyPr wrap="square" lIns="108000" rIns="108000" rtlCol="0" anchor="ctr">
              <a:noAutofit/>
            </a:bodyPr>
            <a:lstStyle/>
            <a:p>
              <a:pPr algn="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リスクの分析</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51" name="テキスト ボックス 50"/>
            <p:cNvSpPr txBox="1"/>
            <p:nvPr/>
          </p:nvSpPr>
          <p:spPr>
            <a:xfrm>
              <a:off x="2231999" y="3240000"/>
              <a:ext cx="6264000" cy="792000"/>
            </a:xfrm>
            <a:prstGeom prst="rect">
              <a:avLst/>
            </a:prstGeom>
            <a:noFill/>
          </p:spPr>
          <p:txBody>
            <a:bodyPr wrap="square" lIns="108000" rIns="108000" rtlCol="0" anchor="ctr">
              <a:noAutofit/>
            </a:bodyPr>
            <a:lstStyle/>
            <a:p>
              <a:pPr>
                <a:spcBef>
                  <a:spcPts val="600"/>
                </a:spcBef>
              </a:pPr>
              <a:r>
                <a:rPr lang="ja-JP" altLang="en-US" sz="1400" dirty="0">
                  <a:latin typeface="游ゴシック" panose="020B0400000000000000" pitchFamily="50" charset="-128"/>
                  <a:ea typeface="游ゴシック" panose="020B0400000000000000" pitchFamily="50" charset="-128"/>
                </a:rPr>
                <a:t>リスクが顕在化した際の「影響の大きさ」と「発生確率」をひとつひとつ特定し、両方を掛け合わせた結果を物差しに、それぞれのリスクがどのくらい重大なものかを比較できるようにします。</a:t>
              </a: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52" name="グループ化 51"/>
          <p:cNvGrpSpPr/>
          <p:nvPr/>
        </p:nvGrpSpPr>
        <p:grpSpPr>
          <a:xfrm>
            <a:off x="648000" y="4068000"/>
            <a:ext cx="7847999" cy="792000"/>
            <a:chOff x="648000" y="3240000"/>
            <a:chExt cx="7847999" cy="792000"/>
          </a:xfrm>
        </p:grpSpPr>
        <p:cxnSp>
          <p:nvCxnSpPr>
            <p:cNvPr id="53" name="直線コネクタ 52"/>
            <p:cNvCxnSpPr/>
            <p:nvPr/>
          </p:nvCxnSpPr>
          <p:spPr>
            <a:xfrm>
              <a:off x="2196000" y="3240000"/>
              <a:ext cx="0" cy="792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648000" y="3240000"/>
              <a:ext cx="1512000" cy="756000"/>
            </a:xfrm>
            <a:prstGeom prst="rect">
              <a:avLst/>
            </a:prstGeom>
            <a:noFill/>
          </p:spPr>
          <p:txBody>
            <a:bodyPr wrap="square" lIns="108000" rIns="108000" rtlCol="0" anchor="ctr">
              <a:noAutofit/>
            </a:bodyPr>
            <a:lstStyle/>
            <a:p>
              <a:pPr algn="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リスクの評価</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55" name="テキスト ボックス 54"/>
            <p:cNvSpPr txBox="1"/>
            <p:nvPr/>
          </p:nvSpPr>
          <p:spPr>
            <a:xfrm>
              <a:off x="2231999" y="3240000"/>
              <a:ext cx="6264000" cy="792000"/>
            </a:xfrm>
            <a:prstGeom prst="rect">
              <a:avLst/>
            </a:prstGeom>
            <a:noFill/>
          </p:spPr>
          <p:txBody>
            <a:bodyPr wrap="square" lIns="108000" rIns="108000" rtlCol="0" anchor="ctr">
              <a:noAutofit/>
            </a:bodyPr>
            <a:lstStyle/>
            <a:p>
              <a:pPr>
                <a:spcBef>
                  <a:spcPts val="600"/>
                </a:spcBef>
              </a:pPr>
              <a:r>
                <a:rPr lang="ja-JP" altLang="en-US" sz="1400" dirty="0">
                  <a:latin typeface="游ゴシック" panose="020B0400000000000000" pitchFamily="50" charset="-128"/>
                  <a:ea typeface="游ゴシック" panose="020B0400000000000000" pitchFamily="50" charset="-128"/>
                </a:rPr>
                <a:t>個々のリスク分析の結果を一覧として可視化します。「影響の大きさ」を</a:t>
              </a:r>
              <a:r>
                <a:rPr lang="en-US" altLang="ja-JP" sz="1400" dirty="0">
                  <a:latin typeface="游ゴシック" panose="020B0400000000000000" pitchFamily="50" charset="-128"/>
                  <a:ea typeface="游ゴシック" panose="020B0400000000000000" pitchFamily="50" charset="-128"/>
                </a:rPr>
                <a:t>x</a:t>
              </a:r>
              <a:r>
                <a:rPr lang="ja-JP" altLang="en-US" sz="1400" dirty="0">
                  <a:latin typeface="游ゴシック" panose="020B0400000000000000" pitchFamily="50" charset="-128"/>
                  <a:ea typeface="游ゴシック" panose="020B0400000000000000" pitchFamily="50" charset="-128"/>
                </a:rPr>
                <a:t>軸、「発生確率」を</a:t>
              </a:r>
              <a:r>
                <a:rPr lang="en-US" altLang="ja-JP" sz="1400" dirty="0">
                  <a:latin typeface="游ゴシック" panose="020B0400000000000000" pitchFamily="50" charset="-128"/>
                  <a:ea typeface="游ゴシック" panose="020B0400000000000000" pitchFamily="50" charset="-128"/>
                </a:rPr>
                <a:t>y</a:t>
              </a:r>
              <a:r>
                <a:rPr lang="ja-JP" altLang="en-US" sz="1400" dirty="0">
                  <a:latin typeface="游ゴシック" panose="020B0400000000000000" pitchFamily="50" charset="-128"/>
                  <a:ea typeface="游ゴシック" panose="020B0400000000000000" pitchFamily="50" charset="-128"/>
                </a:rPr>
                <a:t>軸にとって、リスク分析の結果に従って個々のリスクをマップ上にプロットしていきます。これにより、影響度が大きく、発生確率も高い重大なリスクがどれかが誰の目にも明らかになります。</a:t>
              </a: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56" name="グループ化 55"/>
          <p:cNvGrpSpPr/>
          <p:nvPr/>
        </p:nvGrpSpPr>
        <p:grpSpPr>
          <a:xfrm>
            <a:off x="648000" y="5040000"/>
            <a:ext cx="7847999" cy="792000"/>
            <a:chOff x="648000" y="3240000"/>
            <a:chExt cx="7847999" cy="792000"/>
          </a:xfrm>
        </p:grpSpPr>
        <p:cxnSp>
          <p:nvCxnSpPr>
            <p:cNvPr id="57" name="直線コネクタ 56"/>
            <p:cNvCxnSpPr/>
            <p:nvPr/>
          </p:nvCxnSpPr>
          <p:spPr>
            <a:xfrm>
              <a:off x="2196000" y="3240000"/>
              <a:ext cx="0" cy="79200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648000" y="3240000"/>
              <a:ext cx="1512000" cy="756000"/>
            </a:xfrm>
            <a:prstGeom prst="rect">
              <a:avLst/>
            </a:prstGeom>
            <a:noFill/>
          </p:spPr>
          <p:txBody>
            <a:bodyPr wrap="square" lIns="108000" rIns="108000" rtlCol="0" anchor="ctr">
              <a:noAutofit/>
            </a:bodyPr>
            <a:lstStyle/>
            <a:p>
              <a:pPr algn="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リスクの対応</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
          <p:nvSpPr>
            <p:cNvPr id="59" name="テキスト ボックス 58"/>
            <p:cNvSpPr txBox="1"/>
            <p:nvPr/>
          </p:nvSpPr>
          <p:spPr>
            <a:xfrm>
              <a:off x="2231999" y="3240000"/>
              <a:ext cx="6264000" cy="792000"/>
            </a:xfrm>
            <a:prstGeom prst="rect">
              <a:avLst/>
            </a:prstGeom>
            <a:noFill/>
          </p:spPr>
          <p:txBody>
            <a:bodyPr wrap="square" lIns="108000" rIns="108000" rtlCol="0" anchor="ctr">
              <a:noAutofit/>
            </a:bodyPr>
            <a:lstStyle/>
            <a:p>
              <a:r>
                <a:rPr lang="ja-JP" altLang="en-US" sz="1400" dirty="0">
                  <a:latin typeface="游ゴシック" panose="020B0400000000000000" pitchFamily="50" charset="-128"/>
                  <a:ea typeface="游ゴシック" panose="020B0400000000000000" pitchFamily="50" charset="-128"/>
                </a:rPr>
                <a:t>具体的な対応策を考えていきます。代表的な対応策として４つの選択肢は、軽減・移転・許容・回避となり、これらの対応策は、その決定理由とともにリスク管理表に記録します。</a:t>
              </a:r>
              <a:endParaRPr lang="ja-JP" altLang="ja-JP" sz="1400" dirty="0">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20653454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問題発生時の対応</a:t>
            </a:r>
          </a:p>
        </p:txBody>
      </p:sp>
      <p:sp>
        <p:nvSpPr>
          <p:cNvPr id="4" name="フッター プレースホルダー 3"/>
          <p:cNvSpPr>
            <a:spLocks noGrp="1"/>
          </p:cNvSpPr>
          <p:nvPr>
            <p:ph type="ftr" sz="quarter" idx="11"/>
          </p:nvPr>
        </p:nvSpPr>
        <p:spPr/>
        <p:txBody>
          <a:bodyPr/>
          <a:lstStyle/>
          <a:p>
            <a:r>
              <a:rPr lang="en-US" altLang="ja-JP" dirty="0"/>
              <a:t>Copyright© 2020 </a:t>
            </a:r>
            <a:r>
              <a:rPr lang="en-US" altLang="ja-JP" dirty="0" err="1"/>
              <a:t>SystemEXE,Inc</a:t>
            </a:r>
            <a:r>
              <a:rPr lang="en-US" altLang="ja-JP" dirty="0"/>
              <a:t>.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58</a:t>
            </a:fld>
            <a:endParaRPr kumimoji="1" lang="ja-JP" altLang="en-US"/>
          </a:p>
        </p:txBody>
      </p:sp>
      <p:grpSp>
        <p:nvGrpSpPr>
          <p:cNvPr id="14" name="グループ化 13"/>
          <p:cNvGrpSpPr/>
          <p:nvPr/>
        </p:nvGrpSpPr>
        <p:grpSpPr>
          <a:xfrm>
            <a:off x="144000" y="1512000"/>
            <a:ext cx="8856000" cy="864000"/>
            <a:chOff x="144000" y="1512000"/>
            <a:chExt cx="8856000" cy="864000"/>
          </a:xfrm>
        </p:grpSpPr>
        <p:sp>
          <p:nvSpPr>
            <p:cNvPr id="13" name="角丸四角形 12"/>
            <p:cNvSpPr/>
            <p:nvPr/>
          </p:nvSpPr>
          <p:spPr>
            <a:xfrm>
              <a:off x="144000" y="1512000"/>
              <a:ext cx="8856000" cy="864000"/>
            </a:xfrm>
            <a:prstGeom prst="roundRect">
              <a:avLst>
                <a:gd name="adj" fmla="val 7350"/>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2592000" tIns="108000" rIns="108000" bIns="108000" rtlCol="0" anchor="t"/>
            <a:lstStyle/>
            <a:p>
              <a:r>
                <a:rPr lang="ja-JP" altLang="en-US" sz="1400" dirty="0">
                  <a:solidFill>
                    <a:schemeClr val="tx1"/>
                  </a:solidFill>
                  <a:latin typeface="游ゴシック" panose="020B0400000000000000" pitchFamily="50" charset="-128"/>
                  <a:ea typeface="游ゴシック" panose="020B0400000000000000" pitchFamily="50" charset="-128"/>
                </a:rPr>
                <a:t>問題が発生した際は、事象発生の経緯、手順、仕組み、発生時の条件などを洗い出し、発生した事象を的確に把握します。また、発生した問題の直接的な原因を調査します。</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7" name="フローチャート: 他ページ結合子 6"/>
            <p:cNvSpPr/>
            <p:nvPr/>
          </p:nvSpPr>
          <p:spPr>
            <a:xfrm>
              <a:off x="288000" y="1656000"/>
              <a:ext cx="2304000" cy="576000"/>
            </a:xfrm>
            <a:prstGeom prst="flowChartOffpageConnector">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tIns="180000" rIns="108000" bIns="108000" rtlCol="0" anchor="ctr"/>
            <a:lstStyle/>
            <a:p>
              <a:pPr algn="ctr"/>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事象把握・原因調査</a:t>
              </a:r>
            </a:p>
          </p:txBody>
        </p:sp>
      </p:grpSp>
      <p:sp>
        <p:nvSpPr>
          <p:cNvPr id="12" name="テキスト ボックス 11"/>
          <p:cNvSpPr txBox="1">
            <a:spLocks/>
          </p:cNvSpPr>
          <p:nvPr/>
        </p:nvSpPr>
        <p:spPr>
          <a:xfrm>
            <a:off x="144000" y="864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不測の事態等により問題が発生した場合には、影響を最小限にする対応を実施し、</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また、再発防止策の策定・実行をしっかりと実施し今後同様の問題が発生しないよう努めます。</a:t>
            </a:r>
            <a:endParaRPr kumimoji="1" lang="en-US" altLang="ja-JP" sz="1400" dirty="0">
              <a:latin typeface="游ゴシック" panose="020B0400000000000000" pitchFamily="50" charset="-128"/>
              <a:ea typeface="游ゴシック" panose="020B0400000000000000" pitchFamily="50" charset="-128"/>
            </a:endParaRPr>
          </a:p>
        </p:txBody>
      </p:sp>
      <p:grpSp>
        <p:nvGrpSpPr>
          <p:cNvPr id="15" name="グループ化 14"/>
          <p:cNvGrpSpPr/>
          <p:nvPr/>
        </p:nvGrpSpPr>
        <p:grpSpPr>
          <a:xfrm>
            <a:off x="144000" y="2502000"/>
            <a:ext cx="8856000" cy="864000"/>
            <a:chOff x="144000" y="1512000"/>
            <a:chExt cx="8856000" cy="864000"/>
          </a:xfrm>
        </p:grpSpPr>
        <p:sp>
          <p:nvSpPr>
            <p:cNvPr id="16" name="角丸四角形 15"/>
            <p:cNvSpPr/>
            <p:nvPr/>
          </p:nvSpPr>
          <p:spPr>
            <a:xfrm>
              <a:off x="144000" y="1512000"/>
              <a:ext cx="8856000" cy="864000"/>
            </a:xfrm>
            <a:prstGeom prst="roundRect">
              <a:avLst>
                <a:gd name="adj" fmla="val 7350"/>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2592000" tIns="108000" rIns="108000" bIns="108000" rtlCol="0" anchor="t"/>
            <a:lstStyle/>
            <a:p>
              <a:r>
                <a:rPr kumimoji="1" lang="ja-JP" altLang="en-US" sz="1400" dirty="0">
                  <a:solidFill>
                    <a:schemeClr val="tx1"/>
                  </a:solidFill>
                  <a:latin typeface="游ゴシック" panose="020B0400000000000000" pitchFamily="50" charset="-128"/>
                  <a:ea typeface="游ゴシック" panose="020B0400000000000000" pitchFamily="50" charset="-128"/>
                </a:rPr>
                <a:t>問題発生による影響を最小限にすることを最優先に考えた対応方法を検討し実行します。１次対応後には、報告書を作成した上で貴社に１次報告いたします。</a:t>
              </a:r>
            </a:p>
          </p:txBody>
        </p:sp>
        <p:sp>
          <p:nvSpPr>
            <p:cNvPr id="17" name="フローチャート: 他ページ結合子 16"/>
            <p:cNvSpPr/>
            <p:nvPr/>
          </p:nvSpPr>
          <p:spPr>
            <a:xfrm>
              <a:off x="288000" y="1656000"/>
              <a:ext cx="2304000" cy="576000"/>
            </a:xfrm>
            <a:prstGeom prst="flowChartOffpageConnector">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tIns="180000" rIns="108000" bIns="108000" rtlCol="0" anchor="ct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１次対応</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grpSp>
        <p:nvGrpSpPr>
          <p:cNvPr id="18" name="グループ化 17"/>
          <p:cNvGrpSpPr/>
          <p:nvPr/>
        </p:nvGrpSpPr>
        <p:grpSpPr>
          <a:xfrm>
            <a:off x="144000" y="3492000"/>
            <a:ext cx="8856000" cy="864000"/>
            <a:chOff x="144000" y="1512000"/>
            <a:chExt cx="8856000" cy="864000"/>
          </a:xfrm>
        </p:grpSpPr>
        <p:sp>
          <p:nvSpPr>
            <p:cNvPr id="19" name="角丸四角形 18"/>
            <p:cNvSpPr/>
            <p:nvPr/>
          </p:nvSpPr>
          <p:spPr>
            <a:xfrm>
              <a:off x="144000" y="1512000"/>
              <a:ext cx="8856000" cy="864000"/>
            </a:xfrm>
            <a:prstGeom prst="roundRect">
              <a:avLst>
                <a:gd name="adj" fmla="val 7350"/>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2592000" tIns="108000" rIns="108000" bIns="108000" rtlCol="0" anchor="t"/>
            <a:lstStyle/>
            <a:p>
              <a:r>
                <a:rPr lang="ja-JP" altLang="en-US" sz="1400" dirty="0">
                  <a:solidFill>
                    <a:schemeClr val="tx1"/>
                  </a:solidFill>
                  <a:latin typeface="游ゴシック" panose="020B0400000000000000" pitchFamily="50" charset="-128"/>
                  <a:ea typeface="游ゴシック" panose="020B0400000000000000" pitchFamily="50" charset="-128"/>
                </a:rPr>
                <a:t>顕在化した事象の原因を「なぜなぜ分析」で分析し、潜在的なリスクを分析することで、発生した問題の再発防止の策定につなげるだけでなく関連する問題の未然防止にもつなげてまいります。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20" name="フローチャート: 他ページ結合子 19"/>
            <p:cNvSpPr/>
            <p:nvPr/>
          </p:nvSpPr>
          <p:spPr>
            <a:xfrm>
              <a:off x="288000" y="1656000"/>
              <a:ext cx="2304000" cy="576000"/>
            </a:xfrm>
            <a:prstGeom prst="flowChartOffpageConnector">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tIns="180000" rIns="108000" bIns="108000" rtlCol="0" anchor="ctr"/>
            <a:lstStyle/>
            <a:p>
              <a:pPr algn="ctr"/>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根本原因の特定</a:t>
              </a:r>
            </a:p>
          </p:txBody>
        </p:sp>
      </p:grpSp>
      <p:grpSp>
        <p:nvGrpSpPr>
          <p:cNvPr id="21" name="グループ化 20"/>
          <p:cNvGrpSpPr/>
          <p:nvPr/>
        </p:nvGrpSpPr>
        <p:grpSpPr>
          <a:xfrm>
            <a:off x="144000" y="4482000"/>
            <a:ext cx="8856000" cy="864000"/>
            <a:chOff x="144000" y="1512000"/>
            <a:chExt cx="8856000" cy="864000"/>
          </a:xfrm>
        </p:grpSpPr>
        <p:sp>
          <p:nvSpPr>
            <p:cNvPr id="22" name="角丸四角形 21"/>
            <p:cNvSpPr/>
            <p:nvPr/>
          </p:nvSpPr>
          <p:spPr>
            <a:xfrm>
              <a:off x="144000" y="1512000"/>
              <a:ext cx="8856000" cy="864000"/>
            </a:xfrm>
            <a:prstGeom prst="roundRect">
              <a:avLst>
                <a:gd name="adj" fmla="val 7350"/>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2592000" tIns="108000" rIns="108000" bIns="108000" rtlCol="0" anchor="t"/>
            <a:lstStyle/>
            <a:p>
              <a:r>
                <a:rPr kumimoji="1" lang="ja-JP" altLang="en-US" sz="1400" dirty="0">
                  <a:solidFill>
                    <a:schemeClr val="tx1"/>
                  </a:solidFill>
                  <a:latin typeface="游ゴシック" panose="020B0400000000000000" pitchFamily="50" charset="-128"/>
                  <a:ea typeface="游ゴシック" panose="020B0400000000000000" pitchFamily="50" charset="-128"/>
                </a:rPr>
                <a:t>導き出した根本原因をもとに、同様の間違いが発生しない、または発生しにくい手順・手段等を検討します。もしくは、間違いが発生しても影響が出る前に気づける状態をつくるなど未然に防ぐ方法を検討します。</a:t>
              </a:r>
            </a:p>
          </p:txBody>
        </p:sp>
        <p:sp>
          <p:nvSpPr>
            <p:cNvPr id="23" name="フローチャート: 他ページ結合子 22"/>
            <p:cNvSpPr/>
            <p:nvPr/>
          </p:nvSpPr>
          <p:spPr>
            <a:xfrm>
              <a:off x="288000" y="1656000"/>
              <a:ext cx="2304000" cy="576000"/>
            </a:xfrm>
            <a:prstGeom prst="flowChartOffpageConnector">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tIns="180000" rIns="108000" bIns="108000" rtlCol="0" anchor="ct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再発防止策の策定</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grpSp>
        <p:nvGrpSpPr>
          <p:cNvPr id="24" name="グループ化 23"/>
          <p:cNvGrpSpPr/>
          <p:nvPr/>
        </p:nvGrpSpPr>
        <p:grpSpPr>
          <a:xfrm>
            <a:off x="144000" y="5472000"/>
            <a:ext cx="8856000" cy="864000"/>
            <a:chOff x="144000" y="1512000"/>
            <a:chExt cx="8856000" cy="864000"/>
          </a:xfrm>
        </p:grpSpPr>
        <p:sp>
          <p:nvSpPr>
            <p:cNvPr id="25" name="角丸四角形 24"/>
            <p:cNvSpPr/>
            <p:nvPr/>
          </p:nvSpPr>
          <p:spPr>
            <a:xfrm>
              <a:off x="144000" y="1512000"/>
              <a:ext cx="8856000" cy="864000"/>
            </a:xfrm>
            <a:prstGeom prst="roundRect">
              <a:avLst>
                <a:gd name="adj" fmla="val 7350"/>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2592000" tIns="108000" rIns="108000" bIns="108000" rtlCol="0" anchor="t"/>
            <a:lstStyle/>
            <a:p>
              <a:r>
                <a:rPr kumimoji="1" lang="ja-JP" altLang="en-US" sz="1400" dirty="0">
                  <a:solidFill>
                    <a:schemeClr val="tx1"/>
                  </a:solidFill>
                  <a:latin typeface="游ゴシック" panose="020B0400000000000000" pitchFamily="50" charset="-128"/>
                  <a:ea typeface="游ゴシック" panose="020B0400000000000000" pitchFamily="50" charset="-128"/>
                </a:rPr>
                <a:t>策定した再発防止策を貴社にご報告するとともに、貴社業務に関わる弊社メンバー全員に周知します。再発防止策の実施状況は定期的に確認し正しく実行しているかをチェックすることで同様の問題が発生しないよう努めます。</a:t>
              </a:r>
            </a:p>
          </p:txBody>
        </p:sp>
        <p:sp>
          <p:nvSpPr>
            <p:cNvPr id="26" name="フローチャート: 他ページ結合子 25"/>
            <p:cNvSpPr/>
            <p:nvPr/>
          </p:nvSpPr>
          <p:spPr>
            <a:xfrm>
              <a:off x="288000" y="1656000"/>
              <a:ext cx="2304000" cy="576000"/>
            </a:xfrm>
            <a:prstGeom prst="flowChartOffpageConnector">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tIns="180000" rIns="108000" bIns="108000" rtlCol="0" anchor="ctr"/>
            <a:lstStyle/>
            <a:p>
              <a:pPr algn="ctr"/>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再発防止策の実行</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35220690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現時点で想定されるリスク </a:t>
            </a:r>
            <a:r>
              <a:rPr lang="en-US" altLang="ja-JP" dirty="0"/>
              <a:t>– 1</a:t>
            </a:r>
            <a:endParaRPr kumimoji="1" lang="ja-JP" altLang="en-US" dirty="0"/>
          </a:p>
        </p:txBody>
      </p:sp>
      <p:graphicFrame>
        <p:nvGraphicFramePr>
          <p:cNvPr id="6" name="コンテンツ プレースホルダー 5"/>
          <p:cNvGraphicFramePr>
            <a:graphicFrameLocks noGrp="1"/>
          </p:cNvGraphicFramePr>
          <p:nvPr>
            <p:ph idx="1"/>
            <p:extLst>
              <p:ext uri="{D42A27DB-BD31-4B8C-83A1-F6EECF244321}">
                <p14:modId xmlns:p14="http://schemas.microsoft.com/office/powerpoint/2010/main" val="2926197467"/>
              </p:ext>
            </p:extLst>
          </p:nvPr>
        </p:nvGraphicFramePr>
        <p:xfrm>
          <a:off x="144463" y="863600"/>
          <a:ext cx="8855080" cy="4998720"/>
        </p:xfrm>
        <a:graphic>
          <a:graphicData uri="http://schemas.openxmlformats.org/drawingml/2006/table">
            <a:tbl>
              <a:tblPr>
                <a:tableStyleId>{2D5ABB26-0587-4C30-8999-92F81FD0307C}</a:tableStyleId>
              </a:tblPr>
              <a:tblGrid>
                <a:gridCol w="430572">
                  <a:extLst>
                    <a:ext uri="{9D8B030D-6E8A-4147-A177-3AD203B41FA5}">
                      <a16:colId xmlns:a16="http://schemas.microsoft.com/office/drawing/2014/main" val="2705655476"/>
                    </a:ext>
                  </a:extLst>
                </a:gridCol>
                <a:gridCol w="2535810">
                  <a:extLst>
                    <a:ext uri="{9D8B030D-6E8A-4147-A177-3AD203B41FA5}">
                      <a16:colId xmlns:a16="http://schemas.microsoft.com/office/drawing/2014/main" val="391055793"/>
                    </a:ext>
                  </a:extLst>
                </a:gridCol>
                <a:gridCol w="1838227">
                  <a:extLst>
                    <a:ext uri="{9D8B030D-6E8A-4147-A177-3AD203B41FA5}">
                      <a16:colId xmlns:a16="http://schemas.microsoft.com/office/drawing/2014/main" val="631080197"/>
                    </a:ext>
                  </a:extLst>
                </a:gridCol>
                <a:gridCol w="593889">
                  <a:extLst>
                    <a:ext uri="{9D8B030D-6E8A-4147-A177-3AD203B41FA5}">
                      <a16:colId xmlns:a16="http://schemas.microsoft.com/office/drawing/2014/main" val="2074259398"/>
                    </a:ext>
                  </a:extLst>
                </a:gridCol>
                <a:gridCol w="3456582">
                  <a:extLst>
                    <a:ext uri="{9D8B030D-6E8A-4147-A177-3AD203B41FA5}">
                      <a16:colId xmlns:a16="http://schemas.microsoft.com/office/drawing/2014/main" val="3544208683"/>
                    </a:ext>
                  </a:extLst>
                </a:gridCol>
              </a:tblGrid>
              <a:tr h="224972">
                <a:tc>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No</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リスク事象</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事象ドライバー</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区分</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対応策案</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4656568"/>
                  </a:ext>
                </a:extLst>
              </a:tr>
              <a:tr h="539934">
                <a:tc>
                  <a:txBody>
                    <a:bodyPr/>
                    <a:lstStyle/>
                    <a:p>
                      <a:pPr algn="ctr"/>
                      <a:r>
                        <a:rPr kumimoji="1" lang="en-US" altLang="ja-JP" sz="1400" dirty="0">
                          <a:latin typeface="游ゴシック" panose="020B0400000000000000" pitchFamily="50" charset="-128"/>
                          <a:ea typeface="游ゴシック" panose="020B0400000000000000" pitchFamily="50" charset="-128"/>
                        </a:rPr>
                        <a:t>1</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不具合指摘が多発しプロジェクトの中断または大量の仕様変更が発生してコストが超過</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現行機能の調査・確認が不足 </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軽減</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利用部門のレビュー参加を事前に定める</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（ユーザーのレビュー参加工数割合など）</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85063323"/>
                  </a:ext>
                </a:extLst>
              </a:tr>
              <a:tr h="539934">
                <a:tc>
                  <a:txBody>
                    <a:bodyPr/>
                    <a:lstStyle/>
                    <a:p>
                      <a:pPr algn="ctr"/>
                      <a:r>
                        <a:rPr kumimoji="1" lang="en-US" altLang="ja-JP" sz="1400" dirty="0">
                          <a:latin typeface="游ゴシック" panose="020B0400000000000000" pitchFamily="50" charset="-128"/>
                          <a:ea typeface="游ゴシック" panose="020B0400000000000000" pitchFamily="50" charset="-128"/>
                        </a:rPr>
                        <a:t>2</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現行システムから引き継ぐべき要件に漏れが発生する </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現行システムとそのドキュメントが整合していない </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回避</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現行システムの動作を調査しドキュメントを最新化する（リバース、現行ソースコード解読含む）</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43065118"/>
                  </a:ext>
                </a:extLst>
              </a:tr>
              <a:tr h="539934">
                <a:tc>
                  <a:txBody>
                    <a:bodyPr/>
                    <a:lstStyle/>
                    <a:p>
                      <a:pPr algn="ctr"/>
                      <a:r>
                        <a:rPr kumimoji="1" lang="en-US" altLang="ja-JP" sz="1400" dirty="0">
                          <a:latin typeface="游ゴシック" panose="020B0400000000000000" pitchFamily="50" charset="-128"/>
                          <a:ea typeface="游ゴシック" panose="020B0400000000000000" pitchFamily="50" charset="-128"/>
                        </a:rPr>
                        <a:t>3</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利用に供する性能が出ないため、稼働不能や大規模改修に繋がる </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性能の検討が十分でない </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回避</a:t>
                      </a:r>
                      <a:endParaRPr kumimoji="1" lang="en-US" altLang="ja-JP"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システム方式設計工程において性能目標、性能見積り資料の有識者レビューを実施する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7655767"/>
                  </a:ext>
                </a:extLst>
              </a:tr>
              <a:tr h="539934">
                <a:tc>
                  <a:txBody>
                    <a:bodyPr/>
                    <a:lstStyle/>
                    <a:p>
                      <a:pPr algn="ctr"/>
                      <a:r>
                        <a:rPr kumimoji="1" lang="en-US" altLang="ja-JP" sz="1400" dirty="0">
                          <a:latin typeface="游ゴシック" panose="020B0400000000000000" pitchFamily="50" charset="-128"/>
                          <a:ea typeface="游ゴシック" panose="020B0400000000000000" pitchFamily="50" charset="-128"/>
                        </a:rPr>
                        <a:t>4</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作業効率の悪化により工程の進捗が遅れる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十分なコミュニケーションが取れていない</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軽減</a:t>
                      </a:r>
                      <a:endParaRPr kumimoji="1" lang="en-US" altLang="ja-JP"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プロジェクト計画書にコミュニケーションに関する項目を文書化する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07613921"/>
                  </a:ext>
                </a:extLst>
              </a:tr>
              <a:tr h="539934">
                <a:tc>
                  <a:txBody>
                    <a:bodyPr/>
                    <a:lstStyle/>
                    <a:p>
                      <a:pPr algn="ctr"/>
                      <a:r>
                        <a:rPr kumimoji="1" lang="en-US" altLang="ja-JP" sz="1400" dirty="0">
                          <a:latin typeface="游ゴシック" panose="020B0400000000000000" pitchFamily="50" charset="-128"/>
                          <a:ea typeface="游ゴシック" panose="020B0400000000000000" pitchFamily="50" charset="-128"/>
                        </a:rPr>
                        <a:t>5</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要件の漏れや認識の齟齬が生じる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利用部門による仕様の確認が充分でない</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回避</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業務シナリオに基づいたテストシナリオのレビューを利用部門の担当者が検証する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82572721"/>
                  </a:ext>
                </a:extLst>
              </a:tr>
              <a:tr h="382453">
                <a:tc>
                  <a:txBody>
                    <a:bodyPr/>
                    <a:lstStyle/>
                    <a:p>
                      <a:pPr algn="ctr"/>
                      <a:r>
                        <a:rPr kumimoji="1" lang="en-US" altLang="ja-JP" sz="1400" dirty="0">
                          <a:latin typeface="游ゴシック" panose="020B0400000000000000" pitchFamily="50" charset="-128"/>
                          <a:ea typeface="游ゴシック" panose="020B0400000000000000" pitchFamily="50" charset="-128"/>
                        </a:rPr>
                        <a:t>6</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設計上の誤りによる手戻りや品質問題が発生する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業務用語が共有されていない</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回避</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網羅性の充分な業務用語辞書を作成する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13188166"/>
                  </a:ext>
                </a:extLst>
              </a:tr>
              <a:tr h="382453">
                <a:tc>
                  <a:txBody>
                    <a:bodyPr/>
                    <a:lstStyle/>
                    <a:p>
                      <a:pPr algn="ctr"/>
                      <a:r>
                        <a:rPr kumimoji="1" lang="en-US" altLang="ja-JP" sz="1400" dirty="0">
                          <a:latin typeface="游ゴシック" panose="020B0400000000000000" pitchFamily="50" charset="-128"/>
                          <a:ea typeface="游ゴシック" panose="020B0400000000000000" pitchFamily="50" charset="-128"/>
                        </a:rPr>
                        <a:t>7</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在宅勤務作業による生産性の低下および進捗の遅れ</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新型コロナウイルス感染症の拡大継続</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軽減</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会議体を増やしたり増員を検討し進捗への影響を最小限にする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75280680"/>
                  </a:ext>
                </a:extLst>
              </a:tr>
            </a:tbl>
          </a:graphicData>
        </a:graphic>
      </p:graphicFrame>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59</a:t>
            </a:fld>
            <a:endParaRPr kumimoji="1" lang="ja-JP" altLang="en-US"/>
          </a:p>
        </p:txBody>
      </p:sp>
      <p:sp>
        <p:nvSpPr>
          <p:cNvPr id="7" name="テキスト ボックス 6"/>
          <p:cNvSpPr txBox="1">
            <a:spLocks/>
          </p:cNvSpPr>
          <p:nvPr/>
        </p:nvSpPr>
        <p:spPr>
          <a:xfrm>
            <a:off x="144000" y="5940000"/>
            <a:ext cx="8856000" cy="432000"/>
          </a:xfrm>
          <a:prstGeom prst="rect">
            <a:avLst/>
          </a:prstGeom>
          <a:noFill/>
        </p:spPr>
        <p:txBody>
          <a:bodyPr wrap="square" rtlCol="0">
            <a:noAutofit/>
          </a:bodyPr>
          <a:lstStyle/>
          <a:p>
            <a:pPr marL="285750" indent="-285750" latinLnBrk="1">
              <a:spcBef>
                <a:spcPts val="600"/>
              </a:spcBef>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上記は現時点で想定されるリスクを示しております。事象ドライバーにつきましても一例となり、対応策は案を記載しております。プロジェクト開始後に改めてリスクの識別・分析・評価・対策を実施します。</a:t>
            </a:r>
          </a:p>
        </p:txBody>
      </p:sp>
    </p:spTree>
    <p:extLst>
      <p:ext uri="{BB962C8B-B14F-4D97-AF65-F5344CB8AC3E}">
        <p14:creationId xmlns:p14="http://schemas.microsoft.com/office/powerpoint/2010/main" val="31265492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現時点で想定されるリスク </a:t>
            </a:r>
            <a:r>
              <a:rPr lang="en-US" altLang="ja-JP" dirty="0"/>
              <a:t>– 2</a:t>
            </a:r>
            <a:endParaRPr kumimoji="1" lang="ja-JP" altLang="en-US" dirty="0"/>
          </a:p>
        </p:txBody>
      </p:sp>
      <p:graphicFrame>
        <p:nvGraphicFramePr>
          <p:cNvPr id="6" name="コンテンツ プレースホルダー 5"/>
          <p:cNvGraphicFramePr>
            <a:graphicFrameLocks noGrp="1"/>
          </p:cNvGraphicFramePr>
          <p:nvPr>
            <p:ph idx="1"/>
            <p:extLst>
              <p:ext uri="{D42A27DB-BD31-4B8C-83A1-F6EECF244321}">
                <p14:modId xmlns:p14="http://schemas.microsoft.com/office/powerpoint/2010/main" val="3964320372"/>
              </p:ext>
            </p:extLst>
          </p:nvPr>
        </p:nvGraphicFramePr>
        <p:xfrm>
          <a:off x="144463" y="863601"/>
          <a:ext cx="8855080" cy="4175760"/>
        </p:xfrm>
        <a:graphic>
          <a:graphicData uri="http://schemas.openxmlformats.org/drawingml/2006/table">
            <a:tbl>
              <a:tblPr>
                <a:tableStyleId>{2D5ABB26-0587-4C30-8999-92F81FD0307C}</a:tableStyleId>
              </a:tblPr>
              <a:tblGrid>
                <a:gridCol w="430572">
                  <a:extLst>
                    <a:ext uri="{9D8B030D-6E8A-4147-A177-3AD203B41FA5}">
                      <a16:colId xmlns:a16="http://schemas.microsoft.com/office/drawing/2014/main" val="2705655476"/>
                    </a:ext>
                  </a:extLst>
                </a:gridCol>
                <a:gridCol w="2535810">
                  <a:extLst>
                    <a:ext uri="{9D8B030D-6E8A-4147-A177-3AD203B41FA5}">
                      <a16:colId xmlns:a16="http://schemas.microsoft.com/office/drawing/2014/main" val="391055793"/>
                    </a:ext>
                  </a:extLst>
                </a:gridCol>
                <a:gridCol w="1838227">
                  <a:extLst>
                    <a:ext uri="{9D8B030D-6E8A-4147-A177-3AD203B41FA5}">
                      <a16:colId xmlns:a16="http://schemas.microsoft.com/office/drawing/2014/main" val="631080197"/>
                    </a:ext>
                  </a:extLst>
                </a:gridCol>
                <a:gridCol w="593889">
                  <a:extLst>
                    <a:ext uri="{9D8B030D-6E8A-4147-A177-3AD203B41FA5}">
                      <a16:colId xmlns:a16="http://schemas.microsoft.com/office/drawing/2014/main" val="2074259398"/>
                    </a:ext>
                  </a:extLst>
                </a:gridCol>
                <a:gridCol w="3456582">
                  <a:extLst>
                    <a:ext uri="{9D8B030D-6E8A-4147-A177-3AD203B41FA5}">
                      <a16:colId xmlns:a16="http://schemas.microsoft.com/office/drawing/2014/main" val="3544208683"/>
                    </a:ext>
                  </a:extLst>
                </a:gridCol>
              </a:tblGrid>
              <a:tr h="171115">
                <a:tc>
                  <a:txBody>
                    <a:bodyPr/>
                    <a:lstStyle/>
                    <a:p>
                      <a:pPr algn="ctr"/>
                      <a:r>
                        <a:rPr kumimoji="1" lang="en-US" altLang="ja-JP" sz="1400" b="1" dirty="0">
                          <a:solidFill>
                            <a:schemeClr val="bg1"/>
                          </a:solidFill>
                          <a:latin typeface="游ゴシック" panose="020B0400000000000000" pitchFamily="50" charset="-128"/>
                          <a:ea typeface="游ゴシック" panose="020B0400000000000000" pitchFamily="50" charset="-128"/>
                        </a:rPr>
                        <a:t>No</a:t>
                      </a:r>
                      <a:endParaRPr kumimoji="1" lang="ja-JP" altLang="en-US" sz="1400" b="1" dirty="0">
                        <a:solidFill>
                          <a:schemeClr val="bg1"/>
                        </a:solidFill>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リスク事象</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事象ドライバー</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区分</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b="1" dirty="0">
                          <a:solidFill>
                            <a:schemeClr val="bg1"/>
                          </a:solidFill>
                          <a:latin typeface="游ゴシック" panose="020B0400000000000000" pitchFamily="50" charset="-128"/>
                          <a:ea typeface="游ゴシック" panose="020B0400000000000000" pitchFamily="50" charset="-128"/>
                        </a:rPr>
                        <a:t>対応策案</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4656568"/>
                  </a:ext>
                </a:extLst>
              </a:tr>
              <a:tr h="530458">
                <a:tc>
                  <a:txBody>
                    <a:bodyPr/>
                    <a:lstStyle/>
                    <a:p>
                      <a:pPr algn="ctr"/>
                      <a:r>
                        <a:rPr kumimoji="1" lang="en-US" altLang="ja-JP" sz="1400" dirty="0">
                          <a:latin typeface="游ゴシック" panose="020B0400000000000000" pitchFamily="50" charset="-128"/>
                          <a:ea typeface="游ゴシック" panose="020B0400000000000000" pitchFamily="50" charset="-128"/>
                        </a:rPr>
                        <a:t>8</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引き継ぎ工数が発生し生産性が低下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オフショア要員の離職等による離任</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軽減</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ベトナム開発チームのチームリーダーに勤続年数が長く離職の可能性が低い要員を採用し、メンバーの離任による影響を小さくする。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85063323"/>
                  </a:ext>
                </a:extLst>
              </a:tr>
              <a:tr h="530458">
                <a:tc>
                  <a:txBody>
                    <a:bodyPr/>
                    <a:lstStyle/>
                    <a:p>
                      <a:pPr algn="ctr"/>
                      <a:r>
                        <a:rPr kumimoji="1" lang="en-US" altLang="ja-JP" sz="1400" dirty="0">
                          <a:latin typeface="游ゴシック" panose="020B0400000000000000" pitchFamily="50" charset="-128"/>
                          <a:ea typeface="游ゴシック" panose="020B0400000000000000" pitchFamily="50" charset="-128"/>
                        </a:rPr>
                        <a:t>9</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プロジェクト期間中の現行システムの改修分の反映漏れによるデグレード</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プロジェクト進行中に周辺システム更新による現行システムの改修が生じる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回避</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dirty="0">
                          <a:latin typeface="游ゴシック" panose="020B0400000000000000" pitchFamily="50" charset="-128"/>
                          <a:ea typeface="游ゴシック" panose="020B0400000000000000" pitchFamily="50" charset="-128"/>
                        </a:rPr>
                        <a:t>現行システムの担当ベンダーと定期的に情報連携を行い、周辺システムの更新に伴う改修箇所および改修内容を把握し、適宜新システムに反映する。</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43065118"/>
                  </a:ext>
                </a:extLst>
              </a:tr>
              <a:tr h="410677">
                <a:tc>
                  <a:txBody>
                    <a:bodyPr/>
                    <a:lstStyle/>
                    <a:p>
                      <a:pPr algn="ctr"/>
                      <a:r>
                        <a:rPr kumimoji="1" lang="en-US" altLang="ja-JP" sz="1400" dirty="0">
                          <a:latin typeface="游ゴシック" panose="020B0400000000000000" pitchFamily="50" charset="-128"/>
                          <a:ea typeface="游ゴシック" panose="020B0400000000000000" pitchFamily="50" charset="-128"/>
                        </a:rPr>
                        <a:t>10</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安定稼働の保証がないため、稼働不能や大規模改修に繋がる</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可用性の検討が十分でない</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回避</a:t>
                      </a:r>
                      <a:endParaRPr kumimoji="1" lang="en-US" altLang="ja-JP"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可用性対策、稼働率見積りの利用部門を交えたレビューを実施する。</a:t>
                      </a:r>
                      <a:endParaRPr kumimoji="1" lang="en-US" altLang="ja-JP"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7655767"/>
                  </a:ext>
                </a:extLst>
              </a:tr>
              <a:tr h="410677">
                <a:tc>
                  <a:txBody>
                    <a:bodyPr/>
                    <a:lstStyle/>
                    <a:p>
                      <a:pPr algn="ctr"/>
                      <a:r>
                        <a:rPr kumimoji="1" lang="en-US" altLang="ja-JP" sz="1400" dirty="0">
                          <a:latin typeface="游ゴシック" panose="020B0400000000000000" pitchFamily="50" charset="-128"/>
                          <a:ea typeface="游ゴシック" panose="020B0400000000000000" pitchFamily="50" charset="-128"/>
                        </a:rPr>
                        <a:t>11</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実現できない、矛盾を含んだ要求仕様ができる（運用要件）</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運用要件の検討が十分でない</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軽減</a:t>
                      </a:r>
                      <a:endParaRPr kumimoji="1" lang="en-US" altLang="ja-JP"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システム運用手順書および障害発生時の代替・回復方法の手順書を作成する。</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07613921"/>
                  </a:ext>
                </a:extLst>
              </a:tr>
              <a:tr h="410677">
                <a:tc>
                  <a:txBody>
                    <a:bodyPr/>
                    <a:lstStyle/>
                    <a:p>
                      <a:pPr algn="ctr"/>
                      <a:r>
                        <a:rPr kumimoji="1" lang="en-US" altLang="ja-JP" sz="1400" dirty="0">
                          <a:latin typeface="游ゴシック" panose="020B0400000000000000" pitchFamily="50" charset="-128"/>
                          <a:ea typeface="游ゴシック" panose="020B0400000000000000" pitchFamily="50" charset="-128"/>
                        </a:rPr>
                        <a:t>12</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期待された業務運用ができない</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運用に向けての制約条件が明確でない</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回避</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非機能要求の項目を具体化し、利用部門の業務に合わせた要件定義を文書化する。</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82572721"/>
                  </a:ext>
                </a:extLst>
              </a:tr>
            </a:tbl>
          </a:graphicData>
        </a:graphic>
      </p:graphicFrame>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60</a:t>
            </a:fld>
            <a:endParaRPr kumimoji="1" lang="ja-JP" altLang="en-US"/>
          </a:p>
        </p:txBody>
      </p:sp>
      <p:sp>
        <p:nvSpPr>
          <p:cNvPr id="7" name="テキスト ボックス 6"/>
          <p:cNvSpPr txBox="1">
            <a:spLocks/>
          </p:cNvSpPr>
          <p:nvPr/>
        </p:nvSpPr>
        <p:spPr>
          <a:xfrm>
            <a:off x="144000" y="5940000"/>
            <a:ext cx="8856000" cy="432000"/>
          </a:xfrm>
          <a:prstGeom prst="rect">
            <a:avLst/>
          </a:prstGeom>
          <a:noFill/>
        </p:spPr>
        <p:txBody>
          <a:bodyPr wrap="square" rtlCol="0">
            <a:noAutofit/>
          </a:bodyPr>
          <a:lstStyle/>
          <a:p>
            <a:pPr marL="285750" indent="-285750" latinLnBrk="1">
              <a:spcBef>
                <a:spcPts val="600"/>
              </a:spcBef>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上記は現時点で想定されるリスクを示しております。事象ドライバーにつきましても一例となり、対応策は案を記載しております。プロジェクト開始後に改めてリスクの識別・分析・評価・対策を実施します。</a:t>
            </a:r>
          </a:p>
        </p:txBody>
      </p:sp>
    </p:spTree>
    <p:extLst>
      <p:ext uri="{BB962C8B-B14F-4D97-AF65-F5344CB8AC3E}">
        <p14:creationId xmlns:p14="http://schemas.microsoft.com/office/powerpoint/2010/main" val="1511567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品質管理</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61</a:t>
            </a:fld>
            <a:endParaRPr kumimoji="1" lang="ja-JP" altLang="en-US"/>
          </a:p>
        </p:txBody>
      </p:sp>
      <p:sp>
        <p:nvSpPr>
          <p:cNvPr id="6" name="正方形/長方形 5"/>
          <p:cNvSpPr/>
          <p:nvPr/>
        </p:nvSpPr>
        <p:spPr>
          <a:xfrm>
            <a:off x="1080000" y="864000"/>
            <a:ext cx="7920000" cy="936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tIns="46800" bIns="46800" rtlCol="0" anchor="t"/>
          <a:lstStyle/>
          <a:p>
            <a:pPr latinLnBrk="1">
              <a:lnSpc>
                <a:spcPct val="120000"/>
              </a:lnSpc>
            </a:pPr>
            <a:r>
              <a:rPr lang="ja-JP" altLang="en-US" sz="1400" dirty="0">
                <a:solidFill>
                  <a:schemeClr val="tx1"/>
                </a:solidFill>
                <a:latin typeface="游ゴシック" panose="020B0400000000000000" pitchFamily="50" charset="-128"/>
                <a:ea typeface="游ゴシック" panose="020B0400000000000000" pitchFamily="50" charset="-128"/>
              </a:rPr>
              <a:t>貴社「出光開発標準」の適用および弊社「品質マネジメントシステム（</a:t>
            </a:r>
            <a:r>
              <a:rPr lang="en-US" altLang="ja-JP" sz="1400" dirty="0">
                <a:solidFill>
                  <a:schemeClr val="tx1"/>
                </a:solidFill>
                <a:latin typeface="游ゴシック" panose="020B0400000000000000" pitchFamily="50" charset="-128"/>
                <a:ea typeface="游ゴシック" panose="020B0400000000000000" pitchFamily="50" charset="-128"/>
              </a:rPr>
              <a:t>QMS</a:t>
            </a:r>
            <a:r>
              <a:rPr lang="ja-JP" altLang="en-US" sz="1400" dirty="0">
                <a:solidFill>
                  <a:schemeClr val="tx1"/>
                </a:solidFill>
                <a:latin typeface="游ゴシック" panose="020B0400000000000000" pitchFamily="50" charset="-128"/>
                <a:ea typeface="游ゴシック" panose="020B0400000000000000" pitchFamily="50" charset="-128"/>
              </a:rPr>
              <a:t>）」の適用することにより、作業を標準化・均一化します。また、共通機能を先行開発することで、コーディング量・テスト量を軽減し品質向上を図ります。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7" name="円/楕円 11"/>
          <p:cNvSpPr/>
          <p:nvPr/>
        </p:nvSpPr>
        <p:spPr>
          <a:xfrm>
            <a:off x="216000" y="900000"/>
            <a:ext cx="749902" cy="749902"/>
          </a:xfrm>
          <a:prstGeom prst="ellipse">
            <a:avLst/>
          </a:prstGeom>
          <a:solidFill>
            <a:schemeClr val="accent1">
              <a:alpha val="59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14000" y="1058951"/>
            <a:ext cx="446151" cy="432000"/>
          </a:xfrm>
          <a:prstGeom prst="rect">
            <a:avLst/>
          </a:prstGeom>
        </p:spPr>
      </p:pic>
      <p:sp>
        <p:nvSpPr>
          <p:cNvPr id="11" name="正方形/長方形 10"/>
          <p:cNvSpPr/>
          <p:nvPr/>
        </p:nvSpPr>
        <p:spPr>
          <a:xfrm>
            <a:off x="0" y="2160000"/>
            <a:ext cx="4572000" cy="1944000"/>
          </a:xfrm>
          <a:prstGeom prst="rect">
            <a:avLst/>
          </a:prstGeom>
          <a:solidFill>
            <a:schemeClr val="accent1">
              <a:lumMod val="20000"/>
              <a:lumOff val="80000"/>
              <a:alpha val="50196"/>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2" name="正方形/長方形 11"/>
          <p:cNvSpPr/>
          <p:nvPr/>
        </p:nvSpPr>
        <p:spPr>
          <a:xfrm>
            <a:off x="4572000" y="2160000"/>
            <a:ext cx="4572000" cy="3888000"/>
          </a:xfrm>
          <a:prstGeom prst="rect">
            <a:avLst/>
          </a:prstGeom>
          <a:solidFill>
            <a:schemeClr val="accent2">
              <a:lumMod val="20000"/>
              <a:lumOff val="80000"/>
              <a:alpha val="50196"/>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5" name="テキスト プレースホルダー 11"/>
          <p:cNvSpPr txBox="1">
            <a:spLocks/>
          </p:cNvSpPr>
          <p:nvPr/>
        </p:nvSpPr>
        <p:spPr>
          <a:xfrm>
            <a:off x="144000" y="2304000"/>
            <a:ext cx="4284000" cy="288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出光開発標準の適用</a:t>
            </a:r>
            <a:endParaRPr lang="en-US" sz="1600" b="1" dirty="0">
              <a:solidFill>
                <a:schemeClr val="accent1">
                  <a:lumMod val="50000"/>
                </a:schemeClr>
              </a:solidFill>
              <a:latin typeface="游ゴシック" panose="020B0400000000000000" pitchFamily="50" charset="-128"/>
            </a:endParaRPr>
          </a:p>
        </p:txBody>
      </p:sp>
      <p:sp>
        <p:nvSpPr>
          <p:cNvPr id="16" name="テキスト プレースホルダー 11"/>
          <p:cNvSpPr txBox="1">
            <a:spLocks/>
          </p:cNvSpPr>
          <p:nvPr/>
        </p:nvSpPr>
        <p:spPr>
          <a:xfrm>
            <a:off x="4716000" y="2304000"/>
            <a:ext cx="4284000" cy="288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共通機能の先行開発</a:t>
            </a:r>
            <a:endParaRPr lang="en-US" sz="1600" b="1" dirty="0">
              <a:solidFill>
                <a:schemeClr val="accent1">
                  <a:lumMod val="50000"/>
                </a:schemeClr>
              </a:solidFill>
              <a:latin typeface="游ゴシック" panose="020B0400000000000000" pitchFamily="50" charset="-128"/>
            </a:endParaRPr>
          </a:p>
        </p:txBody>
      </p:sp>
      <p:grpSp>
        <p:nvGrpSpPr>
          <p:cNvPr id="21" name="グループ化 20"/>
          <p:cNvGrpSpPr/>
          <p:nvPr/>
        </p:nvGrpSpPr>
        <p:grpSpPr>
          <a:xfrm>
            <a:off x="0" y="4104000"/>
            <a:ext cx="4572000" cy="1944000"/>
            <a:chOff x="0" y="4104000"/>
            <a:chExt cx="4572000" cy="1944000"/>
          </a:xfrm>
        </p:grpSpPr>
        <p:sp>
          <p:nvSpPr>
            <p:cNvPr id="13" name="正方形/長方形 12"/>
            <p:cNvSpPr/>
            <p:nvPr/>
          </p:nvSpPr>
          <p:spPr>
            <a:xfrm>
              <a:off x="0" y="4104000"/>
              <a:ext cx="4572000" cy="1944000"/>
            </a:xfrm>
            <a:prstGeom prst="rect">
              <a:avLst/>
            </a:prstGeom>
            <a:solidFill>
              <a:schemeClr val="accent4">
                <a:lumMod val="20000"/>
                <a:lumOff val="80000"/>
                <a:alpha val="50196"/>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7" name="テキスト プレースホルダー 11"/>
            <p:cNvSpPr txBox="1">
              <a:spLocks/>
            </p:cNvSpPr>
            <p:nvPr/>
          </p:nvSpPr>
          <p:spPr>
            <a:xfrm>
              <a:off x="144000" y="4248000"/>
              <a:ext cx="4284000" cy="288000"/>
            </a:xfrm>
            <a:prstGeom prst="rect">
              <a:avLst/>
            </a:prstGeom>
          </p:spPr>
          <p:txBody>
            <a:bodyPr wrap="squar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sz="1600" b="1" dirty="0">
                  <a:solidFill>
                    <a:schemeClr val="accent1">
                      <a:lumMod val="50000"/>
                    </a:schemeClr>
                  </a:solidFill>
                  <a:latin typeface="游ゴシック" panose="020B0400000000000000" pitchFamily="50" charset="-128"/>
                </a:rPr>
                <a:t>QMS</a:t>
              </a:r>
              <a:r>
                <a:rPr lang="ja-JP" altLang="en-US" sz="1600" b="1" dirty="0">
                  <a:solidFill>
                    <a:schemeClr val="accent1">
                      <a:lumMod val="50000"/>
                    </a:schemeClr>
                  </a:solidFill>
                  <a:latin typeface="游ゴシック" panose="020B0400000000000000" pitchFamily="50" charset="-128"/>
                </a:rPr>
                <a:t>の適用</a:t>
              </a:r>
              <a:endParaRPr lang="en-US" sz="1600" b="1" dirty="0">
                <a:solidFill>
                  <a:schemeClr val="accent1">
                    <a:lumMod val="50000"/>
                  </a:schemeClr>
                </a:solidFill>
                <a:latin typeface="游ゴシック" panose="020B0400000000000000" pitchFamily="50" charset="-128"/>
              </a:endParaRPr>
            </a:p>
          </p:txBody>
        </p:sp>
      </p:grpSp>
      <p:sp>
        <p:nvSpPr>
          <p:cNvPr id="20" name="正方形/長方形 19"/>
          <p:cNvSpPr/>
          <p:nvPr/>
        </p:nvSpPr>
        <p:spPr>
          <a:xfrm>
            <a:off x="4716000" y="2628000"/>
            <a:ext cx="4284000" cy="3168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t"/>
          <a:lstStyle/>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ユーザインタフェース設計（</a:t>
            </a:r>
            <a:r>
              <a:rPr lang="en-US" altLang="ja-JP" sz="1400" dirty="0">
                <a:solidFill>
                  <a:schemeClr val="tx1"/>
                </a:solidFill>
                <a:latin typeface="游ゴシック" panose="020B0400000000000000" pitchFamily="50" charset="-128"/>
                <a:ea typeface="游ゴシック" panose="020B0400000000000000" pitchFamily="50" charset="-128"/>
              </a:rPr>
              <a:t>UI</a:t>
            </a:r>
            <a:r>
              <a:rPr lang="ja-JP" altLang="en-US" sz="1400" dirty="0">
                <a:solidFill>
                  <a:schemeClr val="tx1"/>
                </a:solidFill>
                <a:latin typeface="游ゴシック" panose="020B0400000000000000" pitchFamily="50" charset="-128"/>
                <a:ea typeface="游ゴシック" panose="020B0400000000000000" pitchFamily="50" charset="-128"/>
              </a:rPr>
              <a:t>）およびシステム構造設計（</a:t>
            </a:r>
            <a:r>
              <a:rPr lang="en-US" altLang="ja-JP" sz="1400" dirty="0">
                <a:solidFill>
                  <a:schemeClr val="tx1"/>
                </a:solidFill>
                <a:latin typeface="游ゴシック" panose="020B0400000000000000" pitchFamily="50" charset="-128"/>
                <a:ea typeface="游ゴシック" panose="020B0400000000000000" pitchFamily="50" charset="-128"/>
              </a:rPr>
              <a:t>SS</a:t>
            </a:r>
            <a:r>
              <a:rPr lang="ja-JP" altLang="en-US" sz="1400" dirty="0">
                <a:solidFill>
                  <a:schemeClr val="tx1"/>
                </a:solidFill>
                <a:latin typeface="游ゴシック" panose="020B0400000000000000" pitchFamily="50" charset="-128"/>
                <a:ea typeface="游ゴシック" panose="020B0400000000000000" pitchFamily="50" charset="-128"/>
              </a:rPr>
              <a:t>）にて標準化分析を実施し、共通機能の設計・製造・テストを業務機能に先行して行います。</a:t>
            </a: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共通機能はフレームワークとして提供し、コーディング・テスト量を軽減し、一定の品質を担保します。</a:t>
            </a: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実装規約およびフレームワーク／共通部品を前提とした製造手順を策定し、開発前にメンバーへの教育を実施します。</a:t>
            </a: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コーディング規約を定義し、コードレビューの実施により、品質のばらつきやシステム内の不統一を抑制します。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Wingdings" panose="05000000000000000000" pitchFamily="2" charset="2"/>
              <a:buChar char="l"/>
            </a:pPr>
            <a:endParaRPr lang="ja-JP" altLang="en-US" sz="1400" dirty="0">
              <a:solidFill>
                <a:schemeClr val="tx1"/>
              </a:solidFill>
              <a:latin typeface="游ゴシック" panose="020B0400000000000000" pitchFamily="50" charset="-128"/>
              <a:ea typeface="游ゴシック" panose="020B0400000000000000" pitchFamily="50" charset="-128"/>
            </a:endParaRPr>
          </a:p>
          <a:p>
            <a:pPr marL="285750" indent="-285750" algn="ctr">
              <a:buFont typeface="Wingdings" panose="05000000000000000000" pitchFamily="2" charset="2"/>
              <a:buChar char="l"/>
            </a:pPr>
            <a:endParaRPr kumimoji="1" lang="ja-JP" altLang="en-US" sz="1400" b="1" dirty="0">
              <a:solidFill>
                <a:schemeClr val="tx1"/>
              </a:solidFill>
              <a:latin typeface="游ゴシック" panose="020B0400000000000000" pitchFamily="50" charset="-128"/>
              <a:ea typeface="游ゴシック" panose="020B0400000000000000" pitchFamily="50" charset="-128"/>
            </a:endParaRPr>
          </a:p>
        </p:txBody>
      </p:sp>
      <p:sp>
        <p:nvSpPr>
          <p:cNvPr id="23" name="正方形/長方形 22"/>
          <p:cNvSpPr/>
          <p:nvPr/>
        </p:nvSpPr>
        <p:spPr>
          <a:xfrm>
            <a:off x="144000" y="2628000"/>
            <a:ext cx="4284000" cy="1368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rIns="0" rtlCol="0" anchor="t"/>
          <a:lstStyle/>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貴社「出光開発標準」を適用し、規定のプロセス・アクティビティを実行することで以下を実現します。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目的・成果物・完了基準の統一された認識</a:t>
            </a:r>
            <a:endParaRPr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伝達漏れ・</a:t>
            </a:r>
            <a:r>
              <a:rPr kumimoji="1" lang="ja-JP" altLang="en-US" sz="1400" dirty="0">
                <a:solidFill>
                  <a:schemeClr val="tx1"/>
                </a:solidFill>
                <a:latin typeface="游ゴシック" panose="020B0400000000000000" pitchFamily="50" charset="-128"/>
                <a:ea typeface="游ゴシック" panose="020B0400000000000000" pitchFamily="50" charset="-128"/>
              </a:rPr>
              <a:t>作業漏れの防止</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Wingdings" panose="05000000000000000000" pitchFamily="2" charset="2"/>
              <a:buChar char="l"/>
            </a:pPr>
            <a:r>
              <a:rPr kumimoji="1" lang="ja-JP" altLang="en-US" sz="1400" dirty="0">
                <a:solidFill>
                  <a:schemeClr val="tx1"/>
                </a:solidFill>
                <a:latin typeface="游ゴシック" panose="020B0400000000000000" pitchFamily="50" charset="-128"/>
                <a:ea typeface="游ゴシック" panose="020B0400000000000000" pitchFamily="50" charset="-128"/>
              </a:rPr>
              <a:t>役割分担の明確化</a:t>
            </a:r>
            <a:endParaRPr kumimoji="1"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18" name="正方形/長方形 17"/>
          <p:cNvSpPr/>
          <p:nvPr/>
        </p:nvSpPr>
        <p:spPr>
          <a:xfrm>
            <a:off x="144000" y="4572000"/>
            <a:ext cx="4284000" cy="1368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wrap="square" rIns="0" rtlCol="0" anchor="t"/>
          <a:lstStyle/>
          <a:p>
            <a:pPr>
              <a:spcBef>
                <a:spcPts val="600"/>
              </a:spcBef>
            </a:pPr>
            <a:r>
              <a:rPr lang="ja-JP" altLang="en-US" sz="1400" dirty="0">
                <a:solidFill>
                  <a:schemeClr val="tx1"/>
                </a:solidFill>
                <a:latin typeface="游ゴシック" panose="020B0400000000000000" pitchFamily="50" charset="-128"/>
                <a:ea typeface="游ゴシック" panose="020B0400000000000000" pitchFamily="50" charset="-128"/>
              </a:rPr>
              <a:t>弊社「品質マネジメントシステム（</a:t>
            </a:r>
            <a:r>
              <a:rPr lang="en-US" altLang="ja-JP" sz="1400" dirty="0">
                <a:solidFill>
                  <a:schemeClr val="tx1"/>
                </a:solidFill>
                <a:latin typeface="游ゴシック" panose="020B0400000000000000" pitchFamily="50" charset="-128"/>
                <a:ea typeface="游ゴシック" panose="020B0400000000000000" pitchFamily="50" charset="-128"/>
              </a:rPr>
              <a:t>QMS</a:t>
            </a:r>
            <a:r>
              <a:rPr lang="ja-JP" altLang="en-US" sz="1400" dirty="0">
                <a:solidFill>
                  <a:schemeClr val="tx1"/>
                </a:solidFill>
                <a:latin typeface="游ゴシック" panose="020B0400000000000000" pitchFamily="50" charset="-128"/>
                <a:ea typeface="游ゴシック" panose="020B0400000000000000" pitchFamily="50" charset="-128"/>
              </a:rPr>
              <a:t>）」を適用することで以下の実施を徹底します。</a:t>
            </a:r>
            <a:endParaRPr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プロジェクト計画の作成・キックオフの実施</a:t>
            </a:r>
            <a:endParaRPr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適切なレビューの実施（方法・時期・担当）</a:t>
            </a:r>
            <a:endParaRPr lang="en-US" altLang="ja-JP" sz="1400" dirty="0">
              <a:solidFill>
                <a:schemeClr val="tx1"/>
              </a:solidFill>
              <a:latin typeface="游ゴシック" panose="020B0400000000000000" pitchFamily="50" charset="-128"/>
              <a:ea typeface="游ゴシック" panose="020B0400000000000000" pitchFamily="50" charset="-128"/>
            </a:endParaRPr>
          </a:p>
          <a:p>
            <a:pPr marL="285750" indent="-285750">
              <a:spcBef>
                <a:spcPts val="600"/>
              </a:spcBef>
              <a:buFont typeface="Wingdings" panose="05000000000000000000" pitchFamily="2" charset="2"/>
              <a:buChar char="l"/>
            </a:pPr>
            <a:r>
              <a:rPr lang="ja-JP" altLang="en-US" sz="1400" dirty="0">
                <a:solidFill>
                  <a:schemeClr val="tx1"/>
                </a:solidFill>
                <a:latin typeface="游ゴシック" panose="020B0400000000000000" pitchFamily="50" charset="-128"/>
                <a:ea typeface="游ゴシック" panose="020B0400000000000000" pitchFamily="50" charset="-128"/>
              </a:rPr>
              <a:t>工程完了時の総括の実施</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24869055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p:cNvSpPr/>
          <p:nvPr/>
        </p:nvSpPr>
        <p:spPr>
          <a:xfrm>
            <a:off x="0" y="2772000"/>
            <a:ext cx="9144000" cy="3600000"/>
          </a:xfrm>
          <a:prstGeom prst="rect">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0" name="正方形/長方形 9"/>
          <p:cNvSpPr/>
          <p:nvPr/>
        </p:nvSpPr>
        <p:spPr>
          <a:xfrm>
            <a:off x="0" y="1440000"/>
            <a:ext cx="9144000" cy="1224000"/>
          </a:xfrm>
          <a:prstGeom prst="rect">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2" name="タイトル 1"/>
          <p:cNvSpPr>
            <a:spLocks noGrp="1"/>
          </p:cNvSpPr>
          <p:nvPr>
            <p:ph type="title"/>
          </p:nvPr>
        </p:nvSpPr>
        <p:spPr/>
        <p:txBody>
          <a:bodyPr/>
          <a:lstStyle/>
          <a:p>
            <a:r>
              <a:rPr kumimoji="1" lang="ja-JP" altLang="en-US" dirty="0"/>
              <a:t>利用部門への早期公開</a:t>
            </a:r>
          </a:p>
        </p:txBody>
      </p:sp>
      <p:sp>
        <p:nvSpPr>
          <p:cNvPr id="3" name="コンテンツ プレースホルダー 2"/>
          <p:cNvSpPr>
            <a:spLocks noGrp="1"/>
          </p:cNvSpPr>
          <p:nvPr>
            <p:ph idx="1"/>
          </p:nvPr>
        </p:nvSpPr>
        <p:spPr/>
        <p:txBody>
          <a:bodyPr/>
          <a:lstStyle/>
          <a:p>
            <a:pPr marL="0" indent="0" algn="ctr">
              <a:buNone/>
            </a:pPr>
            <a:r>
              <a:rPr kumimoji="1" lang="ja-JP" altLang="en-US" dirty="0"/>
              <a:t>様々な品質向上の施策を実施しますが、より</a:t>
            </a:r>
            <a:r>
              <a:rPr lang="ja-JP" altLang="en-US" dirty="0"/>
              <a:t>確実な品質で、より安全なプロジェクト進行とするため</a:t>
            </a:r>
            <a:br>
              <a:rPr lang="en-US" altLang="ja-JP" dirty="0"/>
            </a:br>
            <a:r>
              <a:rPr kumimoji="1" lang="ja-JP" altLang="en-US" dirty="0"/>
              <a:t>プレ運用テストとして早い段階で利用部門へシステムを公開することを</a:t>
            </a:r>
            <a:r>
              <a:rPr lang="ja-JP" altLang="en-US" dirty="0"/>
              <a:t>検討し実施いたします</a:t>
            </a:r>
            <a:r>
              <a:rPr kumimoji="1" lang="ja-JP" altLang="en-US" dirty="0"/>
              <a:t>。</a:t>
            </a:r>
            <a:endParaRPr kumimoji="1" lang="en-US" altLang="ja-JP"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62</a:t>
            </a:fld>
            <a:endParaRPr kumimoji="1" lang="ja-JP" altLang="en-US"/>
          </a:p>
        </p:txBody>
      </p:sp>
      <p:sp>
        <p:nvSpPr>
          <p:cNvPr id="6" name="角丸四角形 5"/>
          <p:cNvSpPr/>
          <p:nvPr/>
        </p:nvSpPr>
        <p:spPr>
          <a:xfrm>
            <a:off x="144000" y="1860000"/>
            <a:ext cx="2088000" cy="720000"/>
          </a:xfrm>
          <a:prstGeom prst="roundRect">
            <a:avLst>
              <a:gd name="adj" fmla="val 8819"/>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400" dirty="0">
                <a:solidFill>
                  <a:schemeClr val="tx1"/>
                </a:solidFill>
                <a:latin typeface="游ゴシック" panose="020B0400000000000000" pitchFamily="50" charset="-128"/>
                <a:ea typeface="游ゴシック" panose="020B0400000000000000" pitchFamily="50" charset="-128"/>
              </a:rPr>
              <a:t>出光開発標準の適用</a:t>
            </a:r>
          </a:p>
        </p:txBody>
      </p:sp>
      <p:sp>
        <p:nvSpPr>
          <p:cNvPr id="7" name="角丸四角形 6"/>
          <p:cNvSpPr/>
          <p:nvPr/>
        </p:nvSpPr>
        <p:spPr>
          <a:xfrm>
            <a:off x="2400000" y="1860000"/>
            <a:ext cx="2088000" cy="720000"/>
          </a:xfrm>
          <a:prstGeom prst="roundRect">
            <a:avLst>
              <a:gd name="adj" fmla="val 8819"/>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dirty="0">
                <a:solidFill>
                  <a:schemeClr val="tx1"/>
                </a:solidFill>
                <a:latin typeface="游ゴシック" panose="020B0400000000000000" pitchFamily="50" charset="-128"/>
                <a:ea typeface="游ゴシック" panose="020B0400000000000000" pitchFamily="50" charset="-128"/>
              </a:rPr>
              <a:t>QMS</a:t>
            </a:r>
            <a:r>
              <a:rPr kumimoji="1" lang="ja-JP" altLang="en-US" sz="1400" dirty="0">
                <a:solidFill>
                  <a:schemeClr val="tx1"/>
                </a:solidFill>
                <a:latin typeface="游ゴシック" panose="020B0400000000000000" pitchFamily="50" charset="-128"/>
                <a:ea typeface="游ゴシック" panose="020B0400000000000000" pitchFamily="50" charset="-128"/>
              </a:rPr>
              <a:t>の適用</a:t>
            </a:r>
          </a:p>
        </p:txBody>
      </p:sp>
      <p:sp>
        <p:nvSpPr>
          <p:cNvPr id="8" name="角丸四角形 7"/>
          <p:cNvSpPr/>
          <p:nvPr/>
        </p:nvSpPr>
        <p:spPr>
          <a:xfrm>
            <a:off x="4656000" y="1860000"/>
            <a:ext cx="2088000" cy="720000"/>
          </a:xfrm>
          <a:prstGeom prst="roundRect">
            <a:avLst>
              <a:gd name="adj" fmla="val 8819"/>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400" dirty="0">
                <a:solidFill>
                  <a:schemeClr val="tx1"/>
                </a:solidFill>
                <a:latin typeface="游ゴシック" panose="020B0400000000000000" pitchFamily="50" charset="-128"/>
                <a:ea typeface="游ゴシック" panose="020B0400000000000000" pitchFamily="50" charset="-128"/>
              </a:rPr>
              <a:t>共通機能の先行開発</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9" name="角丸四角形 8"/>
          <p:cNvSpPr/>
          <p:nvPr/>
        </p:nvSpPr>
        <p:spPr>
          <a:xfrm>
            <a:off x="6912000" y="1860000"/>
            <a:ext cx="2088000" cy="720000"/>
          </a:xfrm>
          <a:prstGeom prst="roundRect">
            <a:avLst>
              <a:gd name="adj" fmla="val 8819"/>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400" dirty="0">
                <a:solidFill>
                  <a:schemeClr val="tx1"/>
                </a:solidFill>
                <a:latin typeface="游ゴシック" panose="020B0400000000000000" pitchFamily="50" charset="-128"/>
                <a:ea typeface="游ゴシック" panose="020B0400000000000000" pitchFamily="50" charset="-128"/>
              </a:rPr>
              <a:t>ビジネスロジックのユニットテストでのコードカバレッジ</a:t>
            </a:r>
            <a:r>
              <a:rPr lang="en-US" altLang="ja-JP" sz="1400" dirty="0">
                <a:solidFill>
                  <a:schemeClr val="tx1"/>
                </a:solidFill>
                <a:latin typeface="游ゴシック" panose="020B0400000000000000" pitchFamily="50" charset="-128"/>
                <a:ea typeface="游ゴシック" panose="020B0400000000000000" pitchFamily="50" charset="-128"/>
              </a:rPr>
              <a:t>100%</a:t>
            </a:r>
            <a:endParaRPr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9" name="ホームベース 18"/>
          <p:cNvSpPr/>
          <p:nvPr/>
        </p:nvSpPr>
        <p:spPr>
          <a:xfrm>
            <a:off x="5256000" y="3168000"/>
            <a:ext cx="3744000" cy="2880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kumimoji="1" lang="ja-JP" altLang="en-US" sz="1400" b="1" dirty="0">
                <a:latin typeface="游ゴシック" panose="020B0400000000000000" pitchFamily="50" charset="-128"/>
                <a:ea typeface="游ゴシック" panose="020B0400000000000000" pitchFamily="50" charset="-128"/>
              </a:rPr>
              <a:t>運用テスト（</a:t>
            </a:r>
            <a:r>
              <a:rPr kumimoji="1" lang="en-US" altLang="ja-JP" sz="1400" b="1" dirty="0">
                <a:latin typeface="游ゴシック" panose="020B0400000000000000" pitchFamily="50" charset="-128"/>
                <a:ea typeface="游ゴシック" panose="020B0400000000000000" pitchFamily="50" charset="-128"/>
              </a:rPr>
              <a:t>OT</a:t>
            </a:r>
            <a:r>
              <a:rPr kumimoji="1" lang="ja-JP" altLang="en-US" sz="1400" b="1" dirty="0">
                <a:latin typeface="游ゴシック" panose="020B0400000000000000" pitchFamily="50" charset="-128"/>
                <a:ea typeface="游ゴシック" panose="020B0400000000000000" pitchFamily="50" charset="-128"/>
              </a:rPr>
              <a:t>）工程</a:t>
            </a:r>
          </a:p>
        </p:txBody>
      </p:sp>
      <p:grpSp>
        <p:nvGrpSpPr>
          <p:cNvPr id="57" name="グループ化 56"/>
          <p:cNvGrpSpPr/>
          <p:nvPr/>
        </p:nvGrpSpPr>
        <p:grpSpPr>
          <a:xfrm>
            <a:off x="1656000" y="3564000"/>
            <a:ext cx="3528029" cy="1891220"/>
            <a:chOff x="1512000" y="4356000"/>
            <a:chExt cx="3528029" cy="1891220"/>
          </a:xfrm>
        </p:grpSpPr>
        <p:pic>
          <p:nvPicPr>
            <p:cNvPr id="21" name="図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9336" y="4715786"/>
              <a:ext cx="302818" cy="432000"/>
            </a:xfrm>
            <a:prstGeom prst="rect">
              <a:avLst/>
            </a:prstGeom>
          </p:spPr>
        </p:pic>
        <p:sp>
          <p:nvSpPr>
            <p:cNvPr id="23" name="テキスト ボックス 22"/>
            <p:cNvSpPr txBox="1"/>
            <p:nvPr/>
          </p:nvSpPr>
          <p:spPr>
            <a:xfrm>
              <a:off x="1512000" y="4356000"/>
              <a:ext cx="1800000" cy="307777"/>
            </a:xfrm>
            <a:prstGeom prst="rect">
              <a:avLst/>
            </a:prstGeom>
            <a:noFill/>
          </p:spPr>
          <p:txBody>
            <a:bodyPr wrap="none" rtlCol="0">
              <a:noAutofit/>
            </a:bodyPr>
            <a:lstStyle/>
            <a:p>
              <a:pPr algn="ctr"/>
              <a:r>
                <a:rPr lang="ja-JP" altLang="en-US" sz="1400" dirty="0">
                  <a:latin typeface="游ゴシック" panose="020B0400000000000000" pitchFamily="50" charset="-128"/>
                  <a:ea typeface="游ゴシック" panose="020B0400000000000000" pitchFamily="50" charset="-128"/>
                </a:rPr>
                <a:t>システム</a:t>
              </a:r>
              <a:r>
                <a:rPr kumimoji="1" lang="ja-JP" altLang="en-US" sz="1400" dirty="0">
                  <a:latin typeface="游ゴシック" panose="020B0400000000000000" pitchFamily="50" charset="-128"/>
                  <a:ea typeface="游ゴシック" panose="020B0400000000000000" pitchFamily="50" charset="-128"/>
                </a:rPr>
                <a:t>テスト用</a:t>
              </a:r>
              <a:r>
                <a:rPr kumimoji="1" lang="en-US" altLang="ja-JP" sz="1400" dirty="0">
                  <a:latin typeface="游ゴシック" panose="020B0400000000000000" pitchFamily="50" charset="-128"/>
                  <a:ea typeface="游ゴシック" panose="020B0400000000000000" pitchFamily="50" charset="-128"/>
                </a:rPr>
                <a:t>DB</a:t>
              </a:r>
              <a:endParaRPr kumimoji="1" lang="ja-JP" altLang="en-US" sz="1400" dirty="0">
                <a:latin typeface="游ゴシック" panose="020B0400000000000000" pitchFamily="50" charset="-128"/>
                <a:ea typeface="游ゴシック" panose="020B0400000000000000" pitchFamily="50" charset="-128"/>
              </a:endParaRPr>
            </a:p>
          </p:txBody>
        </p:sp>
        <p:pic>
          <p:nvPicPr>
            <p:cNvPr id="25" name="図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28001" y="4680000"/>
              <a:ext cx="371595" cy="504000"/>
            </a:xfrm>
            <a:prstGeom prst="rect">
              <a:avLst/>
            </a:prstGeom>
          </p:spPr>
        </p:pic>
        <p:sp>
          <p:nvSpPr>
            <p:cNvPr id="27" name="テキスト ボックス 26"/>
            <p:cNvSpPr txBox="1"/>
            <p:nvPr/>
          </p:nvSpPr>
          <p:spPr>
            <a:xfrm>
              <a:off x="3060000" y="4680000"/>
              <a:ext cx="1980029" cy="523220"/>
            </a:xfrm>
            <a:prstGeom prst="rect">
              <a:avLst/>
            </a:prstGeom>
            <a:noFill/>
          </p:spPr>
          <p:txBody>
            <a:bodyPr wrap="none" rtlCol="0">
              <a:spAutoFit/>
            </a:bodyPr>
            <a:lstStyle/>
            <a:p>
              <a:r>
                <a:rPr kumimoji="1" lang="ja-JP" altLang="en-US" sz="1400" dirty="0">
                  <a:latin typeface="游ゴシック" panose="020B0400000000000000" pitchFamily="50" charset="-128"/>
                  <a:ea typeface="游ゴシック" panose="020B0400000000000000" pitchFamily="50" charset="-128"/>
                </a:rPr>
                <a:t>弊社担当者が</a:t>
              </a:r>
              <a:endParaRPr kumimoji="1" lang="en-US" altLang="ja-JP" sz="1400" dirty="0">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システムテストを実施</a:t>
              </a:r>
            </a:p>
          </p:txBody>
        </p:sp>
        <p:cxnSp>
          <p:nvCxnSpPr>
            <p:cNvPr id="30" name="直線コネクタ 29"/>
            <p:cNvCxnSpPr>
              <a:stCxn id="21" idx="3"/>
              <a:endCxn id="25" idx="1"/>
            </p:cNvCxnSpPr>
            <p:nvPr/>
          </p:nvCxnSpPr>
          <p:spPr>
            <a:xfrm>
              <a:off x="2212154" y="4931786"/>
              <a:ext cx="415847" cy="214"/>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図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09336" y="5724000"/>
              <a:ext cx="302818" cy="432000"/>
            </a:xfrm>
            <a:prstGeom prst="rect">
              <a:avLst/>
            </a:prstGeom>
          </p:spPr>
        </p:pic>
        <p:sp>
          <p:nvSpPr>
            <p:cNvPr id="24" name="テキスト ボックス 23"/>
            <p:cNvSpPr txBox="1"/>
            <p:nvPr/>
          </p:nvSpPr>
          <p:spPr>
            <a:xfrm>
              <a:off x="1512000" y="5400000"/>
              <a:ext cx="1800000" cy="307777"/>
            </a:xfrm>
            <a:prstGeom prst="rect">
              <a:avLst/>
            </a:prstGeom>
            <a:noFill/>
          </p:spPr>
          <p:txBody>
            <a:bodyPr wrap="none" rtlCol="0">
              <a:noAutofit/>
            </a:bodyPr>
            <a:lstStyle/>
            <a:p>
              <a:pPr algn="ctr"/>
              <a:r>
                <a:rPr lang="ja-JP" altLang="en-US" sz="1400" dirty="0">
                  <a:latin typeface="游ゴシック" panose="020B0400000000000000" pitchFamily="50" charset="-128"/>
                  <a:ea typeface="游ゴシック" panose="020B0400000000000000" pitchFamily="50" charset="-128"/>
                </a:rPr>
                <a:t>運用</a:t>
              </a:r>
              <a:r>
                <a:rPr kumimoji="1" lang="ja-JP" altLang="en-US" sz="1400" dirty="0">
                  <a:latin typeface="游ゴシック" panose="020B0400000000000000" pitchFamily="50" charset="-128"/>
                  <a:ea typeface="游ゴシック" panose="020B0400000000000000" pitchFamily="50" charset="-128"/>
                </a:rPr>
                <a:t>テスト用</a:t>
              </a:r>
              <a:r>
                <a:rPr kumimoji="1" lang="en-US" altLang="ja-JP" sz="1400" dirty="0">
                  <a:latin typeface="游ゴシック" panose="020B0400000000000000" pitchFamily="50" charset="-128"/>
                  <a:ea typeface="游ゴシック" panose="020B0400000000000000" pitchFamily="50" charset="-128"/>
                </a:rPr>
                <a:t>DB</a:t>
              </a:r>
              <a:endParaRPr kumimoji="1" lang="ja-JP" altLang="en-US" sz="1400" dirty="0">
                <a:latin typeface="游ゴシック" panose="020B0400000000000000" pitchFamily="50" charset="-128"/>
                <a:ea typeface="游ゴシック" panose="020B0400000000000000" pitchFamily="50" charset="-128"/>
              </a:endParaRPr>
            </a:p>
          </p:txBody>
        </p:sp>
        <p:pic>
          <p:nvPicPr>
            <p:cNvPr id="26" name="図 2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28001" y="5688000"/>
              <a:ext cx="376779" cy="504000"/>
            </a:xfrm>
            <a:prstGeom prst="rect">
              <a:avLst/>
            </a:prstGeom>
          </p:spPr>
        </p:pic>
        <p:sp>
          <p:nvSpPr>
            <p:cNvPr id="28" name="テキスト ボックス 27"/>
            <p:cNvSpPr txBox="1"/>
            <p:nvPr/>
          </p:nvSpPr>
          <p:spPr>
            <a:xfrm>
              <a:off x="3060000" y="5724000"/>
              <a:ext cx="1980029" cy="523220"/>
            </a:xfrm>
            <a:prstGeom prst="rect">
              <a:avLst/>
            </a:prstGeom>
            <a:noFill/>
          </p:spPr>
          <p:txBody>
            <a:bodyPr wrap="none" rtlCol="0">
              <a:spAutoFit/>
            </a:bodyPr>
            <a:lstStyle/>
            <a:p>
              <a:r>
                <a:rPr lang="ja-JP" altLang="en-US" sz="1400" dirty="0">
                  <a:latin typeface="游ゴシック" panose="020B0400000000000000" pitchFamily="50" charset="-128"/>
                  <a:ea typeface="游ゴシック" panose="020B0400000000000000" pitchFamily="50" charset="-128"/>
                </a:rPr>
                <a:t>貴社利用部門担当者が</a:t>
              </a:r>
              <a:endParaRPr kumimoji="1" lang="en-US" altLang="ja-JP" sz="1400" dirty="0">
                <a:latin typeface="游ゴシック" panose="020B0400000000000000" pitchFamily="50" charset="-128"/>
                <a:ea typeface="游ゴシック" panose="020B0400000000000000" pitchFamily="50" charset="-128"/>
              </a:endParaRPr>
            </a:p>
            <a:p>
              <a:r>
                <a:rPr lang="ja-JP" altLang="en-US" sz="1400" b="1" dirty="0">
                  <a:solidFill>
                    <a:schemeClr val="accent1"/>
                  </a:solidFill>
                  <a:latin typeface="游ゴシック" panose="020B0400000000000000" pitchFamily="50" charset="-128"/>
                  <a:ea typeface="游ゴシック" panose="020B0400000000000000" pitchFamily="50" charset="-128"/>
                </a:rPr>
                <a:t>プレ運用</a:t>
              </a:r>
              <a:r>
                <a:rPr kumimoji="1" lang="ja-JP" altLang="en-US" sz="1400" b="1" dirty="0">
                  <a:solidFill>
                    <a:schemeClr val="accent1"/>
                  </a:solidFill>
                  <a:latin typeface="游ゴシック" panose="020B0400000000000000" pitchFamily="50" charset="-128"/>
                  <a:ea typeface="游ゴシック" panose="020B0400000000000000" pitchFamily="50" charset="-128"/>
                </a:rPr>
                <a:t>テスト</a:t>
              </a:r>
              <a:r>
                <a:rPr kumimoji="1" lang="ja-JP" altLang="en-US" sz="1400" dirty="0">
                  <a:latin typeface="游ゴシック" panose="020B0400000000000000" pitchFamily="50" charset="-128"/>
                  <a:ea typeface="游ゴシック" panose="020B0400000000000000" pitchFamily="50" charset="-128"/>
                </a:rPr>
                <a:t>を実施</a:t>
              </a:r>
            </a:p>
          </p:txBody>
        </p:sp>
        <p:cxnSp>
          <p:nvCxnSpPr>
            <p:cNvPr id="31" name="直線コネクタ 30"/>
            <p:cNvCxnSpPr>
              <a:stCxn id="22" idx="3"/>
              <a:endCxn id="26" idx="1"/>
            </p:cNvCxnSpPr>
            <p:nvPr/>
          </p:nvCxnSpPr>
          <p:spPr>
            <a:xfrm>
              <a:off x="2212154" y="5940000"/>
              <a:ext cx="41584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4" name="直線コネクタ 33"/>
          <p:cNvCxnSpPr/>
          <p:nvPr/>
        </p:nvCxnSpPr>
        <p:spPr>
          <a:xfrm>
            <a:off x="1368000" y="4536000"/>
            <a:ext cx="7632000" cy="0"/>
          </a:xfrm>
          <a:prstGeom prst="line">
            <a:avLst/>
          </a:prstGeom>
          <a:ln w="31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ホームベース 17"/>
          <p:cNvSpPr/>
          <p:nvPr/>
        </p:nvSpPr>
        <p:spPr>
          <a:xfrm>
            <a:off x="1656000" y="3168000"/>
            <a:ext cx="3744000" cy="288000"/>
          </a:xfrm>
          <a:prstGeom prst="homePlate">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kumimoji="1" lang="ja-JP" altLang="en-US" sz="1400" b="1" dirty="0">
                <a:latin typeface="游ゴシック" panose="020B0400000000000000" pitchFamily="50" charset="-128"/>
                <a:ea typeface="游ゴシック" panose="020B0400000000000000" pitchFamily="50" charset="-128"/>
              </a:rPr>
              <a:t>システム</a:t>
            </a:r>
            <a:r>
              <a:rPr lang="ja-JP" altLang="en-US" sz="1400" b="1" dirty="0">
                <a:latin typeface="游ゴシック" panose="020B0400000000000000" pitchFamily="50" charset="-128"/>
                <a:ea typeface="游ゴシック" panose="020B0400000000000000" pitchFamily="50" charset="-128"/>
              </a:rPr>
              <a:t>テスト</a:t>
            </a:r>
            <a:r>
              <a:rPr kumimoji="1" lang="ja-JP" altLang="en-US" sz="1400" b="1" dirty="0">
                <a:latin typeface="游ゴシック" panose="020B0400000000000000" pitchFamily="50" charset="-128"/>
                <a:ea typeface="游ゴシック" panose="020B0400000000000000" pitchFamily="50" charset="-128"/>
              </a:rPr>
              <a:t>（</a:t>
            </a:r>
            <a:r>
              <a:rPr kumimoji="1" lang="en-US" altLang="ja-JP" sz="1400" b="1" dirty="0">
                <a:latin typeface="游ゴシック" panose="020B0400000000000000" pitchFamily="50" charset="-128"/>
                <a:ea typeface="游ゴシック" panose="020B0400000000000000" pitchFamily="50" charset="-128"/>
              </a:rPr>
              <a:t>ST</a:t>
            </a:r>
            <a:r>
              <a:rPr kumimoji="1" lang="ja-JP" altLang="en-US" sz="1400" b="1" dirty="0">
                <a:latin typeface="游ゴシック" panose="020B0400000000000000" pitchFamily="50" charset="-128"/>
                <a:ea typeface="游ゴシック" panose="020B0400000000000000" pitchFamily="50" charset="-128"/>
              </a:rPr>
              <a:t>）工程</a:t>
            </a:r>
          </a:p>
        </p:txBody>
      </p:sp>
      <p:sp>
        <p:nvSpPr>
          <p:cNvPr id="58" name="テキスト ボックス 57"/>
          <p:cNvSpPr txBox="1"/>
          <p:nvPr/>
        </p:nvSpPr>
        <p:spPr>
          <a:xfrm>
            <a:off x="5040000" y="2808000"/>
            <a:ext cx="4104000" cy="252000"/>
          </a:xfrm>
          <a:prstGeom prst="rect">
            <a:avLst/>
          </a:prstGeom>
          <a:noFill/>
        </p:spPr>
        <p:txBody>
          <a:bodyPr wrap="square" rtlCol="0">
            <a:noAutofit/>
          </a:bodyPr>
          <a:lstStyle/>
          <a:p>
            <a:pPr marL="171450" indent="-171450">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詳細につきましては、テスト計画時に検討いたします。</a:t>
            </a:r>
            <a:endParaRPr kumimoji="1" lang="ja-JP" altLang="en-US" sz="1200" dirty="0">
              <a:latin typeface="游ゴシック" panose="020B0400000000000000" pitchFamily="50" charset="-128"/>
              <a:ea typeface="游ゴシック" panose="020B0400000000000000" pitchFamily="50" charset="-128"/>
            </a:endParaRPr>
          </a:p>
        </p:txBody>
      </p:sp>
      <p:sp>
        <p:nvSpPr>
          <p:cNvPr id="59" name="角丸四角形 58"/>
          <p:cNvSpPr/>
          <p:nvPr/>
        </p:nvSpPr>
        <p:spPr>
          <a:xfrm>
            <a:off x="288000" y="5580000"/>
            <a:ext cx="8568000" cy="648000"/>
          </a:xfrm>
          <a:prstGeom prst="roundRect">
            <a:avLst>
              <a:gd name="adj" fmla="val 9799"/>
            </a:avLst>
          </a:prstGeom>
          <a:solidFill>
            <a:schemeClr val="accent4">
              <a:lumMod val="20000"/>
              <a:lumOff val="80000"/>
            </a:schemeClr>
          </a:solidFill>
          <a:ln w="28575">
            <a:solidFill>
              <a:schemeClr val="accent4"/>
            </a:solidFill>
          </a:ln>
        </p:spPr>
        <p:style>
          <a:lnRef idx="3">
            <a:schemeClr val="lt1"/>
          </a:lnRef>
          <a:fillRef idx="1">
            <a:schemeClr val="accent2"/>
          </a:fillRef>
          <a:effectRef idx="1">
            <a:schemeClr val="accent2"/>
          </a:effectRef>
          <a:fontRef idx="minor">
            <a:schemeClr val="lt1"/>
          </a:fontRef>
        </p:style>
        <p:txBody>
          <a:bodyPr lIns="72000" tIns="72000" rIns="72000" bIns="72000" rtlCol="0" anchor="ctr"/>
          <a:lstStyle/>
          <a:p>
            <a:pPr algn="ctr"/>
            <a:r>
              <a:rPr lang="ja-JP" altLang="en-US" sz="1600" b="1" dirty="0">
                <a:solidFill>
                  <a:schemeClr val="tx1"/>
                </a:solidFill>
                <a:latin typeface="游ゴシック" panose="020B0400000000000000" pitchFamily="50" charset="-128"/>
                <a:ea typeface="游ゴシック" panose="020B0400000000000000" pitchFamily="50" charset="-128"/>
              </a:rPr>
              <a:t>プレ運用テストにより早期に問題を抽出し</a:t>
            </a:r>
            <a:r>
              <a:rPr lang="ja-JP" altLang="en-US" sz="1600" b="1" dirty="0">
                <a:solidFill>
                  <a:schemeClr val="accent1"/>
                </a:solidFill>
                <a:latin typeface="游ゴシック" panose="020B0400000000000000" pitchFamily="50" charset="-128"/>
                <a:ea typeface="游ゴシック" panose="020B0400000000000000" pitchFamily="50" charset="-128"/>
              </a:rPr>
              <a:t>スケジュール変更のリスクを低減。</a:t>
            </a:r>
            <a:endParaRPr lang="en-US" altLang="ja-JP" sz="1600" b="1" dirty="0">
              <a:solidFill>
                <a:schemeClr val="accent1"/>
              </a:solidFill>
              <a:latin typeface="游ゴシック" panose="020B0400000000000000" pitchFamily="50" charset="-128"/>
              <a:ea typeface="游ゴシック" panose="020B0400000000000000" pitchFamily="50" charset="-128"/>
            </a:endParaRPr>
          </a:p>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また、弊社担当者が現地で運用テストを支援することでテスト作業を推進。</a:t>
            </a:r>
          </a:p>
        </p:txBody>
      </p:sp>
      <p:sp>
        <p:nvSpPr>
          <p:cNvPr id="60" name="テキスト ボックス 59"/>
          <p:cNvSpPr txBox="1"/>
          <p:nvPr/>
        </p:nvSpPr>
        <p:spPr>
          <a:xfrm>
            <a:off x="72000" y="2808000"/>
            <a:ext cx="3057247" cy="338554"/>
          </a:xfrm>
          <a:prstGeom prst="rect">
            <a:avLst/>
          </a:prstGeom>
          <a:noFill/>
        </p:spPr>
        <p:txBody>
          <a:bodyPr wrap="none" rtlCol="0">
            <a:spAutoFit/>
          </a:bodyPr>
          <a:lstStyle/>
          <a:p>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利用部門へシステムを早期公開</a:t>
            </a:r>
          </a:p>
        </p:txBody>
      </p:sp>
      <p:grpSp>
        <p:nvGrpSpPr>
          <p:cNvPr id="15" name="グループ化 14"/>
          <p:cNvGrpSpPr/>
          <p:nvPr/>
        </p:nvGrpSpPr>
        <p:grpSpPr>
          <a:xfrm>
            <a:off x="4284000" y="2520000"/>
            <a:ext cx="576000" cy="576000"/>
            <a:chOff x="4203947" y="3100805"/>
            <a:chExt cx="864000" cy="864000"/>
          </a:xfrm>
        </p:grpSpPr>
        <p:sp>
          <p:nvSpPr>
            <p:cNvPr id="13" name="正方形/長方形 12"/>
            <p:cNvSpPr/>
            <p:nvPr/>
          </p:nvSpPr>
          <p:spPr>
            <a:xfrm>
              <a:off x="4203947" y="3352805"/>
              <a:ext cx="864000" cy="360000"/>
            </a:xfrm>
            <a:prstGeom prst="rect">
              <a:avLst/>
            </a:prstGeom>
            <a:solidFill>
              <a:schemeClr val="accent3">
                <a:lumMod val="60000"/>
                <a:lumOff val="40000"/>
              </a:schemeClr>
            </a:solidFill>
            <a:ln>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4" name="正方形/長方形 13"/>
            <p:cNvSpPr/>
            <p:nvPr/>
          </p:nvSpPr>
          <p:spPr>
            <a:xfrm rot="5400000">
              <a:off x="4203947" y="3352805"/>
              <a:ext cx="864000" cy="360000"/>
            </a:xfrm>
            <a:prstGeom prst="rect">
              <a:avLst/>
            </a:prstGeom>
            <a:solidFill>
              <a:schemeClr val="accent3">
                <a:lumMod val="60000"/>
                <a:lumOff val="40000"/>
              </a:schemeClr>
            </a:solidFill>
            <a:ln>
              <a:solidFill>
                <a:schemeClr val="accent3">
                  <a:lumMod val="60000"/>
                  <a:lumOff val="4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grpSp>
      <p:grpSp>
        <p:nvGrpSpPr>
          <p:cNvPr id="20" name="グループ化 19"/>
          <p:cNvGrpSpPr/>
          <p:nvPr/>
        </p:nvGrpSpPr>
        <p:grpSpPr>
          <a:xfrm>
            <a:off x="144000" y="3600000"/>
            <a:ext cx="1674723" cy="1872000"/>
            <a:chOff x="144000" y="3744000"/>
            <a:chExt cx="1674723" cy="1872000"/>
          </a:xfrm>
        </p:grpSpPr>
        <p:grpSp>
          <p:nvGrpSpPr>
            <p:cNvPr id="11" name="グループ化 10"/>
            <p:cNvGrpSpPr/>
            <p:nvPr/>
          </p:nvGrpSpPr>
          <p:grpSpPr>
            <a:xfrm>
              <a:off x="144000" y="3744000"/>
              <a:ext cx="1440000" cy="1872000"/>
              <a:chOff x="144000" y="3744000"/>
              <a:chExt cx="1440000" cy="1872000"/>
            </a:xfrm>
          </p:grpSpPr>
          <p:sp>
            <p:nvSpPr>
              <p:cNvPr id="50" name="四角形吹き出し 49"/>
              <p:cNvSpPr/>
              <p:nvPr/>
            </p:nvSpPr>
            <p:spPr>
              <a:xfrm flipV="1">
                <a:off x="144000" y="3744000"/>
                <a:ext cx="1440000" cy="1872000"/>
              </a:xfrm>
              <a:prstGeom prst="wedgeRectCallout">
                <a:avLst>
                  <a:gd name="adj1" fmla="val 72775"/>
                  <a:gd name="adj2" fmla="val -21422"/>
                </a:avLst>
              </a:prstGeom>
              <a:solidFill>
                <a:schemeClr val="accent3">
                  <a:lumMod val="20000"/>
                  <a:lumOff val="80000"/>
                </a:schemeClr>
              </a:solidFill>
              <a:ln w="6350">
                <a:solidFill>
                  <a:schemeClr val="accent3"/>
                </a:solidFill>
              </a:ln>
            </p:spPr>
            <p:style>
              <a:lnRef idx="3">
                <a:schemeClr val="lt1"/>
              </a:lnRef>
              <a:fillRef idx="1">
                <a:schemeClr val="accent2"/>
              </a:fillRef>
              <a:effectRef idx="1">
                <a:schemeClr val="accent2"/>
              </a:effectRef>
              <a:fontRef idx="minor">
                <a:schemeClr val="lt1"/>
              </a:fontRef>
            </p:style>
            <p:txBody>
              <a:bodyPr lIns="72000" tIns="72000" rIns="72000" bIns="72000" rtlCol="0" anchor="ctr"/>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51" name="四角形吹き出し 50"/>
              <p:cNvSpPr/>
              <p:nvPr/>
            </p:nvSpPr>
            <p:spPr>
              <a:xfrm>
                <a:off x="144000" y="3744000"/>
                <a:ext cx="1440000" cy="1872000"/>
              </a:xfrm>
              <a:prstGeom prst="wedgeRectCallout">
                <a:avLst>
                  <a:gd name="adj1" fmla="val 72775"/>
                  <a:gd name="adj2" fmla="val -21422"/>
                </a:avLst>
              </a:prstGeom>
              <a:solidFill>
                <a:schemeClr val="accent3">
                  <a:lumMod val="20000"/>
                  <a:lumOff val="80000"/>
                </a:schemeClr>
              </a:solidFill>
              <a:ln w="6350">
                <a:solidFill>
                  <a:schemeClr val="accent3"/>
                </a:solidFill>
              </a:ln>
            </p:spPr>
            <p:style>
              <a:lnRef idx="3">
                <a:schemeClr val="lt1"/>
              </a:lnRef>
              <a:fillRef idx="1">
                <a:schemeClr val="accent2"/>
              </a:fillRef>
              <a:effectRef idx="1">
                <a:schemeClr val="accent2"/>
              </a:effectRef>
              <a:fontRef idx="minor">
                <a:schemeClr val="lt1"/>
              </a:fontRef>
            </p:style>
            <p:txBody>
              <a:bodyPr lIns="72000" tIns="72000" rIns="72000" bIns="72000" rtlCol="0" anchor="ctr"/>
              <a:lstStyle/>
              <a:p>
                <a:r>
                  <a:rPr kumimoji="1" lang="ja-JP" altLang="en-US" sz="1400" dirty="0">
                    <a:solidFill>
                      <a:schemeClr val="tx1"/>
                    </a:solidFill>
                    <a:latin typeface="游ゴシック" panose="020B0400000000000000" pitchFamily="50" charset="-128"/>
                    <a:ea typeface="游ゴシック" panose="020B0400000000000000" pitchFamily="50" charset="-128"/>
                  </a:rPr>
                  <a:t>システムテスト用と運用テスト用の</a:t>
                </a:r>
                <a:r>
                  <a:rPr kumimoji="1" lang="en-US" altLang="ja-JP" sz="1400" dirty="0">
                    <a:solidFill>
                      <a:schemeClr val="tx1"/>
                    </a:solidFill>
                    <a:latin typeface="游ゴシック" panose="020B0400000000000000" pitchFamily="50" charset="-128"/>
                    <a:ea typeface="游ゴシック" panose="020B0400000000000000" pitchFamily="50" charset="-128"/>
                  </a:rPr>
                  <a:t>2</a:t>
                </a:r>
                <a:r>
                  <a:rPr kumimoji="1" lang="ja-JP" altLang="en-US" sz="1400" dirty="0">
                    <a:solidFill>
                      <a:schemeClr val="tx1"/>
                    </a:solidFill>
                    <a:latin typeface="游ゴシック" panose="020B0400000000000000" pitchFamily="50" charset="-128"/>
                    <a:ea typeface="游ゴシック" panose="020B0400000000000000" pitchFamily="50" charset="-128"/>
                  </a:rPr>
                  <a:t>種類の</a:t>
                </a:r>
                <a:r>
                  <a:rPr kumimoji="1" lang="en-US" altLang="ja-JP" sz="1400" dirty="0">
                    <a:solidFill>
                      <a:schemeClr val="tx1"/>
                    </a:solidFill>
                    <a:latin typeface="游ゴシック" panose="020B0400000000000000" pitchFamily="50" charset="-128"/>
                    <a:ea typeface="游ゴシック" panose="020B0400000000000000" pitchFamily="50" charset="-128"/>
                  </a:rPr>
                  <a:t>DB</a:t>
                </a:r>
                <a:r>
                  <a:rPr kumimoji="1" lang="ja-JP" altLang="en-US" sz="1400" dirty="0">
                    <a:solidFill>
                      <a:schemeClr val="tx1"/>
                    </a:solidFill>
                    <a:latin typeface="游ゴシック" panose="020B0400000000000000" pitchFamily="50" charset="-128"/>
                    <a:ea typeface="游ゴシック" panose="020B0400000000000000" pitchFamily="50" charset="-128"/>
                  </a:rPr>
                  <a:t>（スキーマ）を用意。弊社が使用する</a:t>
                </a:r>
                <a:r>
                  <a:rPr kumimoji="1" lang="en-US" altLang="ja-JP" sz="1400" dirty="0">
                    <a:solidFill>
                      <a:schemeClr val="tx1"/>
                    </a:solidFill>
                    <a:latin typeface="游ゴシック" panose="020B0400000000000000" pitchFamily="50" charset="-128"/>
                    <a:ea typeface="游ゴシック" panose="020B0400000000000000" pitchFamily="50" charset="-128"/>
                  </a:rPr>
                  <a:t>DB</a:t>
                </a:r>
                <a:r>
                  <a:rPr kumimoji="1" lang="ja-JP" altLang="en-US" sz="1400" dirty="0">
                    <a:solidFill>
                      <a:schemeClr val="tx1"/>
                    </a:solidFill>
                    <a:latin typeface="游ゴシック" panose="020B0400000000000000" pitchFamily="50" charset="-128"/>
                    <a:ea typeface="游ゴシック" panose="020B0400000000000000" pitchFamily="50" charset="-128"/>
                  </a:rPr>
                  <a:t>と利用者が使用する</a:t>
                </a:r>
                <a:r>
                  <a:rPr kumimoji="1" lang="en-US" altLang="ja-JP" sz="1400" dirty="0">
                    <a:solidFill>
                      <a:schemeClr val="tx1"/>
                    </a:solidFill>
                    <a:latin typeface="游ゴシック" panose="020B0400000000000000" pitchFamily="50" charset="-128"/>
                    <a:ea typeface="游ゴシック" panose="020B0400000000000000" pitchFamily="50" charset="-128"/>
                  </a:rPr>
                  <a:t>DB</a:t>
                </a:r>
                <a:r>
                  <a:rPr kumimoji="1" lang="ja-JP" altLang="en-US" sz="1400" dirty="0">
                    <a:solidFill>
                      <a:schemeClr val="tx1"/>
                    </a:solidFill>
                    <a:latin typeface="游ゴシック" panose="020B0400000000000000" pitchFamily="50" charset="-128"/>
                    <a:ea typeface="游ゴシック" panose="020B0400000000000000" pitchFamily="50" charset="-128"/>
                  </a:rPr>
                  <a:t>を分ける。</a:t>
                </a:r>
              </a:p>
            </p:txBody>
          </p:sp>
        </p:grpSp>
        <p:sp>
          <p:nvSpPr>
            <p:cNvPr id="12" name="二等辺三角形 11"/>
            <p:cNvSpPr/>
            <p:nvPr/>
          </p:nvSpPr>
          <p:spPr>
            <a:xfrm rot="5400000">
              <a:off x="1458723" y="4945310"/>
              <a:ext cx="468000" cy="252000"/>
            </a:xfrm>
            <a:prstGeom prst="triangle">
              <a:avLst/>
            </a:prstGeom>
            <a:solidFill>
              <a:schemeClr val="accent3">
                <a:lumMod val="20000"/>
                <a:lumOff val="80000"/>
              </a:schemeClr>
            </a:solidFill>
            <a:ln>
              <a:solidFill>
                <a:schemeClr val="accent3">
                  <a:lumMod val="20000"/>
                  <a:lumOff val="8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grpSp>
      <p:sp>
        <p:nvSpPr>
          <p:cNvPr id="52" name="テキスト ボックス 51"/>
          <p:cNvSpPr txBox="1"/>
          <p:nvPr/>
        </p:nvSpPr>
        <p:spPr>
          <a:xfrm>
            <a:off x="144000" y="1512000"/>
            <a:ext cx="2031325" cy="338554"/>
          </a:xfrm>
          <a:prstGeom prst="rect">
            <a:avLst/>
          </a:prstGeom>
          <a:noFill/>
        </p:spPr>
        <p:txBody>
          <a:bodyPr wrap="none" rtlCol="0">
            <a:spAutoFit/>
          </a:bodyPr>
          <a:lstStyle/>
          <a:p>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品質向上の取り組み</a:t>
            </a:r>
          </a:p>
        </p:txBody>
      </p:sp>
      <p:grpSp>
        <p:nvGrpSpPr>
          <p:cNvPr id="33" name="グループ化 32"/>
          <p:cNvGrpSpPr/>
          <p:nvPr/>
        </p:nvGrpSpPr>
        <p:grpSpPr>
          <a:xfrm>
            <a:off x="5112000" y="3564000"/>
            <a:ext cx="3924000" cy="2035220"/>
            <a:chOff x="5112000" y="3636000"/>
            <a:chExt cx="3924000" cy="2035220"/>
          </a:xfrm>
        </p:grpSpPr>
        <p:grpSp>
          <p:nvGrpSpPr>
            <p:cNvPr id="29" name="グループ化 28"/>
            <p:cNvGrpSpPr/>
            <p:nvPr/>
          </p:nvGrpSpPr>
          <p:grpSpPr>
            <a:xfrm>
              <a:off x="5112000" y="3636000"/>
              <a:ext cx="3707566" cy="847220"/>
              <a:chOff x="5256000" y="3636000"/>
              <a:chExt cx="3707566" cy="847220"/>
            </a:xfrm>
          </p:grpSpPr>
          <p:pic>
            <p:nvPicPr>
              <p:cNvPr id="45" name="図 4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53336" y="3995786"/>
                <a:ext cx="302818" cy="432000"/>
              </a:xfrm>
              <a:prstGeom prst="rect">
                <a:avLst/>
              </a:prstGeom>
            </p:spPr>
          </p:pic>
          <p:sp>
            <p:nvSpPr>
              <p:cNvPr id="46" name="テキスト ボックス 45"/>
              <p:cNvSpPr txBox="1"/>
              <p:nvPr/>
            </p:nvSpPr>
            <p:spPr>
              <a:xfrm>
                <a:off x="5256000" y="3636000"/>
                <a:ext cx="1800000" cy="307777"/>
              </a:xfrm>
              <a:prstGeom prst="rect">
                <a:avLst/>
              </a:prstGeom>
              <a:noFill/>
            </p:spPr>
            <p:txBody>
              <a:bodyPr wrap="none" rtlCol="0">
                <a:noAutofit/>
              </a:bodyPr>
              <a:lstStyle/>
              <a:p>
                <a:pPr algn="ctr"/>
                <a:r>
                  <a:rPr lang="ja-JP" altLang="en-US" sz="1400" dirty="0">
                    <a:latin typeface="游ゴシック" panose="020B0400000000000000" pitchFamily="50" charset="-128"/>
                    <a:ea typeface="游ゴシック" panose="020B0400000000000000" pitchFamily="50" charset="-128"/>
                  </a:rPr>
                  <a:t>システム</a:t>
                </a:r>
                <a:r>
                  <a:rPr kumimoji="1" lang="ja-JP" altLang="en-US" sz="1400" dirty="0">
                    <a:latin typeface="游ゴシック" panose="020B0400000000000000" pitchFamily="50" charset="-128"/>
                    <a:ea typeface="游ゴシック" panose="020B0400000000000000" pitchFamily="50" charset="-128"/>
                  </a:rPr>
                  <a:t>テスト用</a:t>
                </a:r>
                <a:r>
                  <a:rPr kumimoji="1" lang="en-US" altLang="ja-JP" sz="1400" dirty="0">
                    <a:latin typeface="游ゴシック" panose="020B0400000000000000" pitchFamily="50" charset="-128"/>
                    <a:ea typeface="游ゴシック" panose="020B0400000000000000" pitchFamily="50" charset="-128"/>
                  </a:rPr>
                  <a:t>DB</a:t>
                </a:r>
                <a:endParaRPr kumimoji="1" lang="ja-JP" altLang="en-US" sz="1400" dirty="0">
                  <a:latin typeface="游ゴシック" panose="020B0400000000000000" pitchFamily="50" charset="-128"/>
                  <a:ea typeface="游ゴシック" panose="020B0400000000000000" pitchFamily="50" charset="-128"/>
                </a:endParaRPr>
              </a:p>
            </p:txBody>
          </p:sp>
          <p:pic>
            <p:nvPicPr>
              <p:cNvPr id="47" name="図 4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72001" y="3960000"/>
                <a:ext cx="371595" cy="504000"/>
              </a:xfrm>
              <a:prstGeom prst="rect">
                <a:avLst/>
              </a:prstGeom>
            </p:spPr>
          </p:pic>
          <p:sp>
            <p:nvSpPr>
              <p:cNvPr id="48" name="テキスト ボックス 47"/>
              <p:cNvSpPr txBox="1"/>
              <p:nvPr/>
            </p:nvSpPr>
            <p:spPr>
              <a:xfrm>
                <a:off x="6804000" y="3960000"/>
                <a:ext cx="2159566" cy="523220"/>
              </a:xfrm>
              <a:prstGeom prst="rect">
                <a:avLst/>
              </a:prstGeom>
              <a:noFill/>
            </p:spPr>
            <p:txBody>
              <a:bodyPr wrap="none" rtlCol="0">
                <a:spAutoFit/>
              </a:bodyPr>
              <a:lstStyle/>
              <a:p>
                <a:r>
                  <a:rPr kumimoji="1" lang="ja-JP" altLang="en-US" sz="1400" dirty="0">
                    <a:latin typeface="游ゴシック" panose="020B0400000000000000" pitchFamily="50" charset="-128"/>
                    <a:ea typeface="游ゴシック" panose="020B0400000000000000" pitchFamily="50" charset="-128"/>
                  </a:rPr>
                  <a:t>弊社担当者が</a:t>
                </a:r>
                <a:endParaRPr kumimoji="1" lang="en-US" altLang="ja-JP" sz="1400" dirty="0">
                  <a:latin typeface="游ゴシック" panose="020B0400000000000000" pitchFamily="50" charset="-128"/>
                  <a:ea typeface="游ゴシック" panose="020B0400000000000000" pitchFamily="50" charset="-128"/>
                </a:endParaRPr>
              </a:p>
              <a:p>
                <a:r>
                  <a:rPr lang="ja-JP" altLang="en-US" sz="1400" dirty="0">
                    <a:latin typeface="游ゴシック" panose="020B0400000000000000" pitchFamily="50" charset="-128"/>
                    <a:ea typeface="游ゴシック" panose="020B0400000000000000" pitchFamily="50" charset="-128"/>
                  </a:rPr>
                  <a:t>移行</a:t>
                </a:r>
                <a:r>
                  <a:rPr kumimoji="1" lang="ja-JP" altLang="en-US" sz="1400" dirty="0">
                    <a:latin typeface="游ゴシック" panose="020B0400000000000000" pitchFamily="50" charset="-128"/>
                    <a:ea typeface="游ゴシック" panose="020B0400000000000000" pitchFamily="50" charset="-128"/>
                  </a:rPr>
                  <a:t>テスト用として使用</a:t>
                </a:r>
              </a:p>
            </p:txBody>
          </p:sp>
          <p:cxnSp>
            <p:nvCxnSpPr>
              <p:cNvPr id="49" name="直線コネクタ 48"/>
              <p:cNvCxnSpPr>
                <a:stCxn id="45" idx="3"/>
                <a:endCxn id="47" idx="1"/>
              </p:cNvCxnSpPr>
              <p:nvPr/>
            </p:nvCxnSpPr>
            <p:spPr>
              <a:xfrm>
                <a:off x="5956154" y="4211786"/>
                <a:ext cx="415847" cy="214"/>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 name="角丸四角形 16"/>
            <p:cNvSpPr/>
            <p:nvPr/>
          </p:nvSpPr>
          <p:spPr>
            <a:xfrm>
              <a:off x="6804000" y="4644000"/>
              <a:ext cx="2232000" cy="504000"/>
            </a:xfrm>
            <a:prstGeom prst="roundRect">
              <a:avLst>
                <a:gd name="adj" fmla="val 50000"/>
              </a:avLst>
            </a:prstGeom>
            <a:solidFill>
              <a:schemeClr val="bg1"/>
            </a:solidFill>
            <a:ln>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36" name="図 3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09336" y="5004000"/>
              <a:ext cx="302818" cy="432000"/>
            </a:xfrm>
            <a:prstGeom prst="rect">
              <a:avLst/>
            </a:prstGeom>
          </p:spPr>
        </p:pic>
        <p:sp>
          <p:nvSpPr>
            <p:cNvPr id="37" name="テキスト ボックス 36"/>
            <p:cNvSpPr txBox="1"/>
            <p:nvPr/>
          </p:nvSpPr>
          <p:spPr>
            <a:xfrm>
              <a:off x="5112000" y="4680000"/>
              <a:ext cx="1800000" cy="307777"/>
            </a:xfrm>
            <a:prstGeom prst="rect">
              <a:avLst/>
            </a:prstGeom>
            <a:noFill/>
          </p:spPr>
          <p:txBody>
            <a:bodyPr wrap="none" rtlCol="0">
              <a:noAutofit/>
            </a:bodyPr>
            <a:lstStyle/>
            <a:p>
              <a:pPr algn="ctr"/>
              <a:r>
                <a:rPr lang="ja-JP" altLang="en-US" sz="1400" dirty="0">
                  <a:latin typeface="游ゴシック" panose="020B0400000000000000" pitchFamily="50" charset="-128"/>
                  <a:ea typeface="游ゴシック" panose="020B0400000000000000" pitchFamily="50" charset="-128"/>
                </a:rPr>
                <a:t>運用</a:t>
              </a:r>
              <a:r>
                <a:rPr kumimoji="1" lang="ja-JP" altLang="en-US" sz="1400" dirty="0">
                  <a:latin typeface="游ゴシック" panose="020B0400000000000000" pitchFamily="50" charset="-128"/>
                  <a:ea typeface="游ゴシック" panose="020B0400000000000000" pitchFamily="50" charset="-128"/>
                </a:rPr>
                <a:t>テスト用</a:t>
              </a:r>
              <a:r>
                <a:rPr kumimoji="1" lang="en-US" altLang="ja-JP" sz="1400" dirty="0">
                  <a:latin typeface="游ゴシック" panose="020B0400000000000000" pitchFamily="50" charset="-128"/>
                  <a:ea typeface="游ゴシック" panose="020B0400000000000000" pitchFamily="50" charset="-128"/>
                </a:rPr>
                <a:t>DB</a:t>
              </a:r>
              <a:endParaRPr kumimoji="1" lang="ja-JP" altLang="en-US" sz="1400" dirty="0">
                <a:latin typeface="游ゴシック" panose="020B0400000000000000" pitchFamily="50" charset="-128"/>
                <a:ea typeface="游ゴシック" panose="020B0400000000000000" pitchFamily="50" charset="-128"/>
              </a:endParaRPr>
            </a:p>
          </p:txBody>
        </p:sp>
        <p:pic>
          <p:nvPicPr>
            <p:cNvPr id="38" name="図 3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28001" y="4968000"/>
              <a:ext cx="376779" cy="504000"/>
            </a:xfrm>
            <a:prstGeom prst="rect">
              <a:avLst/>
            </a:prstGeom>
          </p:spPr>
        </p:pic>
        <p:sp>
          <p:nvSpPr>
            <p:cNvPr id="39" name="テキスト ボックス 38"/>
            <p:cNvSpPr txBox="1"/>
            <p:nvPr/>
          </p:nvSpPr>
          <p:spPr>
            <a:xfrm>
              <a:off x="6660000" y="5148000"/>
              <a:ext cx="1980029" cy="523220"/>
            </a:xfrm>
            <a:prstGeom prst="rect">
              <a:avLst/>
            </a:prstGeom>
            <a:noFill/>
          </p:spPr>
          <p:txBody>
            <a:bodyPr wrap="none" rtlCol="0">
              <a:spAutoFit/>
            </a:bodyPr>
            <a:lstStyle/>
            <a:p>
              <a:r>
                <a:rPr lang="ja-JP" altLang="en-US" sz="1400" dirty="0">
                  <a:latin typeface="游ゴシック" panose="020B0400000000000000" pitchFamily="50" charset="-128"/>
                  <a:ea typeface="游ゴシック" panose="020B0400000000000000" pitchFamily="50" charset="-128"/>
                </a:rPr>
                <a:t>貴社利用部門担当者が</a:t>
              </a:r>
              <a:endParaRPr kumimoji="1" lang="en-US" altLang="ja-JP" sz="1400" dirty="0">
                <a:latin typeface="游ゴシック" panose="020B0400000000000000" pitchFamily="50" charset="-128"/>
                <a:ea typeface="游ゴシック" panose="020B0400000000000000" pitchFamily="50" charset="-128"/>
              </a:endParaRPr>
            </a:p>
            <a:p>
              <a:r>
                <a:rPr lang="ja-JP" altLang="en-US" sz="1400" dirty="0">
                  <a:latin typeface="游ゴシック" panose="020B0400000000000000" pitchFamily="50" charset="-128"/>
                  <a:ea typeface="游ゴシック" panose="020B0400000000000000" pitchFamily="50" charset="-128"/>
                </a:rPr>
                <a:t>運用</a:t>
              </a:r>
              <a:r>
                <a:rPr kumimoji="1" lang="ja-JP" altLang="en-US" sz="1400" dirty="0">
                  <a:latin typeface="游ゴシック" panose="020B0400000000000000" pitchFamily="50" charset="-128"/>
                  <a:ea typeface="游ゴシック" panose="020B0400000000000000" pitchFamily="50" charset="-128"/>
                </a:rPr>
                <a:t>テストを実施</a:t>
              </a:r>
            </a:p>
          </p:txBody>
        </p:sp>
        <p:cxnSp>
          <p:nvCxnSpPr>
            <p:cNvPr id="40" name="直線コネクタ 39"/>
            <p:cNvCxnSpPr>
              <a:stCxn id="36" idx="3"/>
              <a:endCxn id="38" idx="1"/>
            </p:cNvCxnSpPr>
            <p:nvPr/>
          </p:nvCxnSpPr>
          <p:spPr>
            <a:xfrm>
              <a:off x="5812154" y="5220000"/>
              <a:ext cx="415847"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53" name="図 5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2000" y="4716000"/>
              <a:ext cx="265426" cy="360000"/>
            </a:xfrm>
            <a:prstGeom prst="rect">
              <a:avLst/>
            </a:prstGeom>
          </p:spPr>
        </p:pic>
        <p:sp>
          <p:nvSpPr>
            <p:cNvPr id="54" name="テキスト ボックス 53"/>
            <p:cNvSpPr txBox="1"/>
            <p:nvPr/>
          </p:nvSpPr>
          <p:spPr>
            <a:xfrm>
              <a:off x="7128000" y="4680000"/>
              <a:ext cx="1877437" cy="461665"/>
            </a:xfrm>
            <a:prstGeom prst="rect">
              <a:avLst/>
            </a:prstGeom>
            <a:noFill/>
          </p:spPr>
          <p:txBody>
            <a:bodyPr wrap="none" rtlCol="0" anchor="ctr">
              <a:spAutoFit/>
            </a:bodyPr>
            <a:lstStyle/>
            <a:p>
              <a:r>
                <a:rPr kumimoji="1" lang="ja-JP" altLang="en-US" sz="1200" dirty="0">
                  <a:latin typeface="游ゴシック" panose="020B0400000000000000" pitchFamily="50" charset="-128"/>
                  <a:ea typeface="游ゴシック" panose="020B0400000000000000" pitchFamily="50" charset="-128"/>
                </a:rPr>
                <a:t>弊社担当者が</a:t>
              </a:r>
              <a:r>
                <a:rPr kumimoji="1" lang="en-US" altLang="ja-JP" sz="1200" dirty="0">
                  <a:latin typeface="游ゴシック" panose="020B0400000000000000" pitchFamily="50" charset="-128"/>
                  <a:ea typeface="游ゴシック" panose="020B0400000000000000" pitchFamily="50" charset="-128"/>
                </a:rPr>
                <a:t>1</a:t>
              </a:r>
              <a:r>
                <a:rPr kumimoji="1" lang="ja-JP" altLang="en-US" sz="1200" dirty="0">
                  <a:latin typeface="游ゴシック" panose="020B0400000000000000" pitchFamily="50" charset="-128"/>
                  <a:ea typeface="游ゴシック" panose="020B0400000000000000" pitchFamily="50" charset="-128"/>
                </a:rPr>
                <a:t>週間程度</a:t>
              </a:r>
              <a:endParaRPr kumimoji="1" lang="en-US" altLang="ja-JP" sz="1200" dirty="0">
                <a:latin typeface="游ゴシック" panose="020B0400000000000000" pitchFamily="50" charset="-128"/>
                <a:ea typeface="游ゴシック" panose="020B0400000000000000" pitchFamily="50" charset="-128"/>
              </a:endParaRPr>
            </a:p>
            <a:p>
              <a:r>
                <a:rPr kumimoji="1" lang="ja-JP" altLang="en-US" sz="1200" dirty="0">
                  <a:latin typeface="游ゴシック" panose="020B0400000000000000" pitchFamily="50" charset="-128"/>
                  <a:ea typeface="游ゴシック" panose="020B0400000000000000" pitchFamily="50" charset="-128"/>
                </a:rPr>
                <a:t>現地</a:t>
              </a:r>
              <a:r>
                <a:rPr lang="ja-JP" altLang="en-US" sz="1200" dirty="0">
                  <a:latin typeface="游ゴシック" panose="020B0400000000000000" pitchFamily="50" charset="-128"/>
                  <a:ea typeface="游ゴシック" panose="020B0400000000000000" pitchFamily="50" charset="-128"/>
                </a:rPr>
                <a:t>で</a:t>
              </a:r>
              <a:r>
                <a:rPr kumimoji="1" lang="ja-JP" altLang="en-US" sz="1200" dirty="0">
                  <a:latin typeface="游ゴシック" panose="020B0400000000000000" pitchFamily="50" charset="-128"/>
                  <a:ea typeface="游ゴシック" panose="020B0400000000000000" pitchFamily="50" charset="-128"/>
                </a:rPr>
                <a:t>テスト作業を支援</a:t>
              </a:r>
            </a:p>
          </p:txBody>
        </p:sp>
      </p:grpSp>
    </p:spTree>
    <p:extLst>
      <p:ext uri="{BB962C8B-B14F-4D97-AF65-F5344CB8AC3E}">
        <p14:creationId xmlns:p14="http://schemas.microsoft.com/office/powerpoint/2010/main" val="7357353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資源管理</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63</a:t>
            </a:fld>
            <a:endParaRPr kumimoji="1" lang="ja-JP" altLang="en-US"/>
          </a:p>
        </p:txBody>
      </p:sp>
      <p:sp>
        <p:nvSpPr>
          <p:cNvPr id="7" name="正方形/長方形 6"/>
          <p:cNvSpPr/>
          <p:nvPr/>
        </p:nvSpPr>
        <p:spPr>
          <a:xfrm>
            <a:off x="1080000" y="864000"/>
            <a:ext cx="7920000" cy="936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tIns="46800" bIns="46800" rtlCol="0" anchor="t"/>
          <a:lstStyle/>
          <a:p>
            <a:pPr latinLnBrk="1">
              <a:lnSpc>
                <a:spcPct val="120000"/>
              </a:lnSpc>
            </a:pPr>
            <a:r>
              <a:rPr lang="ja-JP" altLang="en-US" sz="1400" dirty="0">
                <a:solidFill>
                  <a:schemeClr val="tx1"/>
                </a:solidFill>
                <a:latin typeface="游ゴシック" panose="020B0400000000000000" pitchFamily="50" charset="-128"/>
                <a:ea typeface="游ゴシック" panose="020B0400000000000000" pitchFamily="50" charset="-128"/>
              </a:rPr>
              <a:t>開発中においては、弊社内にて</a:t>
            </a:r>
            <a:r>
              <a:rPr lang="en-US" altLang="ja-JP" sz="1400" dirty="0">
                <a:solidFill>
                  <a:schemeClr val="tx1"/>
                </a:solidFill>
                <a:latin typeface="游ゴシック" panose="020B0400000000000000" pitchFamily="50" charset="-128"/>
                <a:ea typeface="游ゴシック" panose="020B0400000000000000" pitchFamily="50" charset="-128"/>
              </a:rPr>
              <a:t>SVN</a:t>
            </a:r>
            <a:r>
              <a:rPr lang="ja-JP" altLang="en-US" sz="1400" dirty="0">
                <a:solidFill>
                  <a:schemeClr val="tx1"/>
                </a:solidFill>
                <a:latin typeface="游ゴシック" panose="020B0400000000000000" pitchFamily="50" charset="-128"/>
                <a:ea typeface="游ゴシック" panose="020B0400000000000000" pitchFamily="50" charset="-128"/>
              </a:rPr>
              <a:t>を利用してドキュメントおよびプログラムソースを管理します。リリース完了時または納品時には、都度、貴社環境に最新資源を提出します。ドキュメント類は貴社</a:t>
            </a:r>
            <a:r>
              <a:rPr lang="en-US" altLang="ja-JP" sz="1400" dirty="0">
                <a:solidFill>
                  <a:schemeClr val="tx1"/>
                </a:solidFill>
                <a:latin typeface="游ゴシック" panose="020B0400000000000000" pitchFamily="50" charset="-128"/>
                <a:ea typeface="游ゴシック" panose="020B0400000000000000" pitchFamily="50" charset="-128"/>
              </a:rPr>
              <a:t>BOX</a:t>
            </a:r>
            <a:r>
              <a:rPr lang="ja-JP" altLang="en-US" sz="1400" dirty="0">
                <a:solidFill>
                  <a:schemeClr val="tx1"/>
                </a:solidFill>
                <a:latin typeface="游ゴシック" panose="020B0400000000000000" pitchFamily="50" charset="-128"/>
                <a:ea typeface="游ゴシック" panose="020B0400000000000000" pitchFamily="50" charset="-128"/>
              </a:rPr>
              <a:t>環境に、プログラムソースは貴社</a:t>
            </a:r>
            <a:r>
              <a:rPr lang="en-US" altLang="ja-JP" sz="1400" dirty="0">
                <a:solidFill>
                  <a:schemeClr val="tx1"/>
                </a:solidFill>
                <a:latin typeface="游ゴシック" panose="020B0400000000000000" pitchFamily="50" charset="-128"/>
                <a:ea typeface="游ゴシック" panose="020B0400000000000000" pitchFamily="50" charset="-128"/>
              </a:rPr>
              <a:t>SVN</a:t>
            </a:r>
            <a:r>
              <a:rPr lang="ja-JP" altLang="en-US" sz="1400" dirty="0">
                <a:solidFill>
                  <a:schemeClr val="tx1"/>
                </a:solidFill>
                <a:latin typeface="游ゴシック" panose="020B0400000000000000" pitchFamily="50" charset="-128"/>
                <a:ea typeface="游ゴシック" panose="020B0400000000000000" pitchFamily="50" charset="-128"/>
              </a:rPr>
              <a:t>環境に配置することを想定しています。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8" name="円/楕円 11"/>
          <p:cNvSpPr/>
          <p:nvPr/>
        </p:nvSpPr>
        <p:spPr>
          <a:xfrm>
            <a:off x="216000" y="900000"/>
            <a:ext cx="749902" cy="749902"/>
          </a:xfrm>
          <a:prstGeom prst="ellipse">
            <a:avLst/>
          </a:prstGeom>
          <a:solidFill>
            <a:schemeClr val="accent1">
              <a:alpha val="59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47148" y="1058951"/>
            <a:ext cx="487606" cy="432000"/>
          </a:xfrm>
          <a:prstGeom prst="rect">
            <a:avLst/>
          </a:prstGeom>
        </p:spPr>
      </p:pic>
      <p:grpSp>
        <p:nvGrpSpPr>
          <p:cNvPr id="66" name="グループ化 65"/>
          <p:cNvGrpSpPr/>
          <p:nvPr/>
        </p:nvGrpSpPr>
        <p:grpSpPr>
          <a:xfrm>
            <a:off x="864000" y="1872000"/>
            <a:ext cx="7380000" cy="4464000"/>
            <a:chOff x="864000" y="1728000"/>
            <a:chExt cx="7380000" cy="4464000"/>
          </a:xfrm>
        </p:grpSpPr>
        <p:sp>
          <p:nvSpPr>
            <p:cNvPr id="15" name="角丸四角形 14"/>
            <p:cNvSpPr/>
            <p:nvPr/>
          </p:nvSpPr>
          <p:spPr>
            <a:xfrm>
              <a:off x="1260000" y="1728000"/>
              <a:ext cx="6624000" cy="2448000"/>
            </a:xfrm>
            <a:prstGeom prst="roundRect">
              <a:avLst>
                <a:gd name="adj" fmla="val 2940"/>
              </a:avLst>
            </a:prstGeom>
            <a:solidFill>
              <a:schemeClr val="accent2">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108000" tIns="108000" rIns="108000" bIns="108000" rtlCol="0" anchor="t"/>
            <a:lstStyle/>
            <a:p>
              <a:r>
                <a:rPr lang="ja-JP" altLang="en-US" sz="1600" b="1" dirty="0">
                  <a:solidFill>
                    <a:schemeClr val="tx1"/>
                  </a:solidFill>
                  <a:latin typeface="游ゴシック" panose="020B0400000000000000" pitchFamily="50" charset="-128"/>
                  <a:ea typeface="游ゴシック" panose="020B0400000000000000" pitchFamily="50" charset="-128"/>
                </a:rPr>
                <a:t>弊社環境</a:t>
              </a:r>
              <a:endParaRPr kumimoji="1" lang="ja-JP" altLang="en-US" sz="1600" b="1" dirty="0">
                <a:solidFill>
                  <a:schemeClr val="tx1"/>
                </a:solidFill>
                <a:latin typeface="游ゴシック" panose="020B0400000000000000" pitchFamily="50" charset="-128"/>
                <a:ea typeface="游ゴシック" panose="020B0400000000000000" pitchFamily="50" charset="-128"/>
              </a:endParaRPr>
            </a:p>
          </p:txBody>
        </p:sp>
        <p:sp>
          <p:nvSpPr>
            <p:cNvPr id="59" name="角丸四角形 58"/>
            <p:cNvSpPr/>
            <p:nvPr/>
          </p:nvSpPr>
          <p:spPr>
            <a:xfrm>
              <a:off x="1404000" y="2304000"/>
              <a:ext cx="3960000" cy="1728000"/>
            </a:xfrm>
            <a:prstGeom prst="roundRect">
              <a:avLst>
                <a:gd name="adj" fmla="val 4009"/>
              </a:avLst>
            </a:prstGeom>
            <a:solidFill>
              <a:schemeClr val="bg1"/>
            </a:solidFill>
            <a:ln>
              <a:solidFill>
                <a:schemeClr val="accent2"/>
              </a:solidFill>
            </a:ln>
          </p:spPr>
          <p:style>
            <a:lnRef idx="3">
              <a:schemeClr val="lt1"/>
            </a:lnRef>
            <a:fillRef idx="1">
              <a:schemeClr val="accent1"/>
            </a:fillRef>
            <a:effectRef idx="1">
              <a:schemeClr val="accent1"/>
            </a:effectRef>
            <a:fontRef idx="minor">
              <a:schemeClr val="lt1"/>
            </a:fontRef>
          </p:style>
          <p:txBody>
            <a:bodyPr rtlCol="0" anchor="t"/>
            <a:lstStyle/>
            <a:p>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23" name="角丸四角形 22"/>
            <p:cNvSpPr/>
            <p:nvPr/>
          </p:nvSpPr>
          <p:spPr>
            <a:xfrm>
              <a:off x="5508000" y="2304000"/>
              <a:ext cx="2232000" cy="1728000"/>
            </a:xfrm>
            <a:prstGeom prst="roundRect">
              <a:avLst>
                <a:gd name="adj" fmla="val 4009"/>
              </a:avLst>
            </a:prstGeom>
            <a:solidFill>
              <a:schemeClr val="bg1"/>
            </a:solidFill>
            <a:ln>
              <a:solidFill>
                <a:schemeClr val="accent2"/>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sp>
          <p:nvSpPr>
            <p:cNvPr id="13" name="角丸四角形 12"/>
            <p:cNvSpPr/>
            <p:nvPr/>
          </p:nvSpPr>
          <p:spPr>
            <a:xfrm>
              <a:off x="1260000" y="4320000"/>
              <a:ext cx="6624000" cy="1872000"/>
            </a:xfrm>
            <a:prstGeom prst="roundRect">
              <a:avLst>
                <a:gd name="adj" fmla="val 3392"/>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lIns="108000" tIns="108000" rIns="108000" bIns="108000" rtlCol="0" anchor="t"/>
            <a:lstStyle/>
            <a:p>
              <a:r>
                <a:rPr kumimoji="1" lang="ja-JP" altLang="en-US" sz="1600" b="1" dirty="0">
                  <a:solidFill>
                    <a:schemeClr val="tx1"/>
                  </a:solidFill>
                  <a:latin typeface="游ゴシック" panose="020B0400000000000000" pitchFamily="50" charset="-128"/>
                  <a:ea typeface="游ゴシック" panose="020B0400000000000000" pitchFamily="50" charset="-128"/>
                </a:rPr>
                <a:t>貴社環境</a:t>
              </a:r>
            </a:p>
          </p:txBody>
        </p:sp>
        <p:sp>
          <p:nvSpPr>
            <p:cNvPr id="21" name="角丸四角形 20"/>
            <p:cNvSpPr/>
            <p:nvPr/>
          </p:nvSpPr>
          <p:spPr>
            <a:xfrm>
              <a:off x="1404000" y="4896000"/>
              <a:ext cx="2232000" cy="1152000"/>
            </a:xfrm>
            <a:prstGeom prst="roundRect">
              <a:avLst>
                <a:gd name="adj" fmla="val 5512"/>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11" name="図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48000" y="5112000"/>
              <a:ext cx="720000" cy="720000"/>
            </a:xfrm>
            <a:prstGeom prst="rect">
              <a:avLst/>
            </a:prstGeom>
          </p:spPr>
        </p:pic>
        <p:sp>
          <p:nvSpPr>
            <p:cNvPr id="22" name="角丸四角形 21"/>
            <p:cNvSpPr/>
            <p:nvPr/>
          </p:nvSpPr>
          <p:spPr>
            <a:xfrm>
              <a:off x="3780000" y="4896000"/>
              <a:ext cx="2232000" cy="1152000"/>
            </a:xfrm>
            <a:prstGeom prst="roundRect">
              <a:avLst>
                <a:gd name="adj" fmla="val 5512"/>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pic>
          <p:nvPicPr>
            <p:cNvPr id="12" name="図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41207" y="5112000"/>
              <a:ext cx="826793" cy="720000"/>
            </a:xfrm>
            <a:prstGeom prst="rect">
              <a:avLst/>
            </a:prstGeom>
          </p:spPr>
        </p:pic>
        <p:pic>
          <p:nvPicPr>
            <p:cNvPr id="20" name="図 1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69207" y="2880000"/>
              <a:ext cx="826793" cy="720000"/>
            </a:xfrm>
            <a:prstGeom prst="rect">
              <a:avLst/>
            </a:prstGeom>
          </p:spPr>
        </p:pic>
        <p:pic>
          <p:nvPicPr>
            <p:cNvPr id="28" name="図 2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96000" y="5256000"/>
              <a:ext cx="524033" cy="576000"/>
            </a:xfrm>
            <a:prstGeom prst="rect">
              <a:avLst/>
            </a:prstGeom>
          </p:spPr>
        </p:pic>
        <p:pic>
          <p:nvPicPr>
            <p:cNvPr id="29" name="図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44000" y="5256000"/>
              <a:ext cx="524033" cy="576000"/>
            </a:xfrm>
            <a:prstGeom prst="rect">
              <a:avLst/>
            </a:prstGeom>
          </p:spPr>
        </p:pic>
        <p:pic>
          <p:nvPicPr>
            <p:cNvPr id="31" name="図 3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96000" y="3312000"/>
              <a:ext cx="524033" cy="576000"/>
            </a:xfrm>
            <a:prstGeom prst="rect">
              <a:avLst/>
            </a:prstGeom>
          </p:spPr>
        </p:pic>
        <p:pic>
          <p:nvPicPr>
            <p:cNvPr id="32" name="図 3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44000" y="2592000"/>
              <a:ext cx="524033" cy="576000"/>
            </a:xfrm>
            <a:prstGeom prst="rect">
              <a:avLst/>
            </a:prstGeom>
          </p:spPr>
        </p:pic>
        <p:pic>
          <p:nvPicPr>
            <p:cNvPr id="33" name="図 3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24000" y="2592000"/>
              <a:ext cx="524033" cy="576000"/>
            </a:xfrm>
            <a:prstGeom prst="rect">
              <a:avLst/>
            </a:prstGeom>
          </p:spPr>
        </p:pic>
        <p:pic>
          <p:nvPicPr>
            <p:cNvPr id="34" name="図 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24000" y="3312000"/>
              <a:ext cx="524033" cy="576000"/>
            </a:xfrm>
            <a:prstGeom prst="rect">
              <a:avLst/>
            </a:prstGeom>
          </p:spPr>
        </p:pic>
        <p:cxnSp>
          <p:nvCxnSpPr>
            <p:cNvPr id="36" name="直線矢印コネクタ 35"/>
            <p:cNvCxnSpPr>
              <a:stCxn id="31" idx="3"/>
              <a:endCxn id="34" idx="1"/>
            </p:cNvCxnSpPr>
            <p:nvPr/>
          </p:nvCxnSpPr>
          <p:spPr>
            <a:xfrm>
              <a:off x="4520033" y="3600000"/>
              <a:ext cx="1203967"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p:cNvCxnSpPr>
              <a:stCxn id="31" idx="2"/>
              <a:endCxn id="28" idx="0"/>
            </p:cNvCxnSpPr>
            <p:nvPr/>
          </p:nvCxnSpPr>
          <p:spPr>
            <a:xfrm>
              <a:off x="4258017" y="3888000"/>
              <a:ext cx="0" cy="136800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p:cNvCxnSpPr>
              <a:stCxn id="32" idx="3"/>
              <a:endCxn id="33" idx="1"/>
            </p:cNvCxnSpPr>
            <p:nvPr/>
          </p:nvCxnSpPr>
          <p:spPr>
            <a:xfrm>
              <a:off x="3368033" y="2880000"/>
              <a:ext cx="2355967" cy="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p:cNvCxnSpPr>
              <a:stCxn id="32" idx="2"/>
              <a:endCxn id="29" idx="0"/>
            </p:cNvCxnSpPr>
            <p:nvPr/>
          </p:nvCxnSpPr>
          <p:spPr>
            <a:xfrm>
              <a:off x="3106017" y="3168000"/>
              <a:ext cx="0" cy="2088000"/>
            </a:xfrm>
            <a:prstGeom prst="straightConnector1">
              <a:avLst/>
            </a:prstGeom>
            <a:ln w="285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53" name="テキスト ボックス 52"/>
            <p:cNvSpPr txBox="1"/>
            <p:nvPr/>
          </p:nvSpPr>
          <p:spPr>
            <a:xfrm>
              <a:off x="1728000" y="2952000"/>
              <a:ext cx="1261884" cy="307777"/>
            </a:xfrm>
            <a:prstGeom prst="rect">
              <a:avLst/>
            </a:prstGeom>
            <a:noFill/>
          </p:spPr>
          <p:txBody>
            <a:bodyPr wrap="none" rtlCol="0">
              <a:spAutoFit/>
            </a:bodyPr>
            <a:lstStyle/>
            <a:p>
              <a:pPr algn="ctr"/>
              <a:r>
                <a:rPr kumimoji="1" lang="ja-JP" altLang="en-US" sz="1400" dirty="0">
                  <a:latin typeface="游ゴシック" panose="020B0400000000000000" pitchFamily="50" charset="-128"/>
                  <a:ea typeface="游ゴシック" panose="020B0400000000000000" pitchFamily="50" charset="-128"/>
                </a:rPr>
                <a:t>ドキュメント</a:t>
              </a:r>
            </a:p>
          </p:txBody>
        </p:sp>
        <p:sp>
          <p:nvSpPr>
            <p:cNvPr id="54" name="テキスト ボックス 53"/>
            <p:cNvSpPr txBox="1"/>
            <p:nvPr/>
          </p:nvSpPr>
          <p:spPr>
            <a:xfrm>
              <a:off x="3888000" y="3024000"/>
              <a:ext cx="1620957" cy="307777"/>
            </a:xfrm>
            <a:prstGeom prst="rect">
              <a:avLst/>
            </a:prstGeom>
            <a:noFill/>
          </p:spPr>
          <p:txBody>
            <a:bodyPr wrap="none" rtlCol="0">
              <a:spAutoFit/>
            </a:bodyPr>
            <a:lstStyle/>
            <a:p>
              <a:pPr algn="ctr"/>
              <a:r>
                <a:rPr kumimoji="1" lang="ja-JP" altLang="en-US" sz="1400" dirty="0">
                  <a:latin typeface="游ゴシック" panose="020B0400000000000000" pitchFamily="50" charset="-128"/>
                  <a:ea typeface="游ゴシック" panose="020B0400000000000000" pitchFamily="50" charset="-128"/>
                </a:rPr>
                <a:t>プログラムソース</a:t>
              </a:r>
            </a:p>
          </p:txBody>
        </p:sp>
        <p:sp>
          <p:nvSpPr>
            <p:cNvPr id="56" name="四角形吹き出し 55"/>
            <p:cNvSpPr/>
            <p:nvPr/>
          </p:nvSpPr>
          <p:spPr>
            <a:xfrm>
              <a:off x="3456000" y="2484000"/>
              <a:ext cx="2145521" cy="288000"/>
            </a:xfrm>
            <a:prstGeom prst="wedgeRectCallout">
              <a:avLst>
                <a:gd name="adj1" fmla="val -21703"/>
                <a:gd name="adj2" fmla="val 87807"/>
              </a:avLst>
            </a:prstGeom>
            <a:solidFill>
              <a:srgbClr val="EDEDED">
                <a:alpha val="69804"/>
              </a:srgb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400" dirty="0">
                  <a:solidFill>
                    <a:schemeClr val="tx1"/>
                  </a:solidFill>
                  <a:latin typeface="游ゴシック" panose="020B0400000000000000" pitchFamily="50" charset="-128"/>
                  <a:ea typeface="游ゴシック" panose="020B0400000000000000" pitchFamily="50" charset="-128"/>
                </a:rPr>
                <a:t>編集後、都度、コミット</a:t>
              </a:r>
            </a:p>
          </p:txBody>
        </p:sp>
        <p:sp>
          <p:nvSpPr>
            <p:cNvPr id="57" name="四角形吹き出し 56"/>
            <p:cNvSpPr/>
            <p:nvPr/>
          </p:nvSpPr>
          <p:spPr>
            <a:xfrm>
              <a:off x="864000" y="3434680"/>
              <a:ext cx="2016000" cy="288000"/>
            </a:xfrm>
            <a:prstGeom prst="wedgeRectCallout">
              <a:avLst>
                <a:gd name="adj1" fmla="val 60624"/>
                <a:gd name="adj2" fmla="val 24162"/>
              </a:avLst>
            </a:prstGeom>
            <a:solidFill>
              <a:srgbClr val="EDEDED">
                <a:alpha val="69804"/>
              </a:srgb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400" dirty="0">
                  <a:solidFill>
                    <a:schemeClr val="tx1"/>
                  </a:solidFill>
                  <a:latin typeface="游ゴシック" panose="020B0400000000000000" pitchFamily="50" charset="-128"/>
                  <a:ea typeface="游ゴシック" panose="020B0400000000000000" pitchFamily="50" charset="-128"/>
                </a:rPr>
                <a:t>納品時にアップロード</a:t>
              </a:r>
            </a:p>
          </p:txBody>
        </p:sp>
        <p:sp>
          <p:nvSpPr>
            <p:cNvPr id="58" name="四角形吹き出し 57"/>
            <p:cNvSpPr/>
            <p:nvPr/>
          </p:nvSpPr>
          <p:spPr>
            <a:xfrm>
              <a:off x="4428000" y="4392000"/>
              <a:ext cx="2016000" cy="288000"/>
            </a:xfrm>
            <a:prstGeom prst="wedgeRectCallout">
              <a:avLst>
                <a:gd name="adj1" fmla="val -57895"/>
                <a:gd name="adj2" fmla="val 24162"/>
              </a:avLst>
            </a:prstGeom>
            <a:solidFill>
              <a:srgbClr val="EDEDED">
                <a:alpha val="69804"/>
              </a:srgb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400" dirty="0">
                  <a:solidFill>
                    <a:schemeClr val="tx1"/>
                  </a:solidFill>
                  <a:latin typeface="游ゴシック" panose="020B0400000000000000" pitchFamily="50" charset="-128"/>
                  <a:ea typeface="游ゴシック" panose="020B0400000000000000" pitchFamily="50" charset="-128"/>
                </a:rPr>
                <a:t>リリース時</a:t>
              </a:r>
              <a:r>
                <a:rPr kumimoji="1" lang="ja-JP" altLang="en-US" sz="1400" dirty="0">
                  <a:solidFill>
                    <a:schemeClr val="tx1"/>
                  </a:solidFill>
                  <a:latin typeface="游ゴシック" panose="020B0400000000000000" pitchFamily="50" charset="-128"/>
                  <a:ea typeface="游ゴシック" panose="020B0400000000000000" pitchFamily="50" charset="-128"/>
                </a:rPr>
                <a:t>にコミット</a:t>
              </a:r>
            </a:p>
          </p:txBody>
        </p:sp>
        <p:sp>
          <p:nvSpPr>
            <p:cNvPr id="60" name="正方形/長方形 59"/>
            <p:cNvSpPr/>
            <p:nvPr/>
          </p:nvSpPr>
          <p:spPr>
            <a:xfrm>
              <a:off x="6876000" y="2160000"/>
              <a:ext cx="720000" cy="28800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SVN</a:t>
              </a:r>
              <a:endParaRPr kumimoji="1" lang="ja-JP" altLang="en-US" sz="1400" b="1" dirty="0">
                <a:latin typeface="游ゴシック" panose="020B0400000000000000" pitchFamily="50" charset="-128"/>
                <a:ea typeface="游ゴシック" panose="020B0400000000000000" pitchFamily="50" charset="-128"/>
              </a:endParaRPr>
            </a:p>
          </p:txBody>
        </p:sp>
        <p:sp>
          <p:nvSpPr>
            <p:cNvPr id="61" name="正方形/長方形 60"/>
            <p:cNvSpPr/>
            <p:nvPr/>
          </p:nvSpPr>
          <p:spPr>
            <a:xfrm>
              <a:off x="1548000" y="4752000"/>
              <a:ext cx="720000" cy="2880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ja-JP" sz="1400" b="1" dirty="0">
                  <a:latin typeface="游ゴシック" panose="020B0400000000000000" pitchFamily="50" charset="-128"/>
                  <a:ea typeface="游ゴシック" panose="020B0400000000000000" pitchFamily="50" charset="-128"/>
                </a:rPr>
                <a:t>BOX</a:t>
              </a:r>
              <a:endParaRPr kumimoji="1" lang="ja-JP" altLang="en-US" sz="1400" b="1" dirty="0">
                <a:latin typeface="游ゴシック" panose="020B0400000000000000" pitchFamily="50" charset="-128"/>
                <a:ea typeface="游ゴシック" panose="020B0400000000000000" pitchFamily="50" charset="-128"/>
              </a:endParaRPr>
            </a:p>
          </p:txBody>
        </p:sp>
        <p:sp>
          <p:nvSpPr>
            <p:cNvPr id="62" name="正方形/長方形 61"/>
            <p:cNvSpPr/>
            <p:nvPr/>
          </p:nvSpPr>
          <p:spPr>
            <a:xfrm>
              <a:off x="5148000" y="4752000"/>
              <a:ext cx="720000" cy="288000"/>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en-US" altLang="ja-JP" sz="1400" b="1" dirty="0">
                  <a:latin typeface="游ゴシック" panose="020B0400000000000000" pitchFamily="50" charset="-128"/>
                  <a:ea typeface="游ゴシック" panose="020B0400000000000000" pitchFamily="50" charset="-128"/>
                </a:rPr>
                <a:t>SVN</a:t>
              </a:r>
              <a:endParaRPr kumimoji="1" lang="ja-JP" altLang="en-US" sz="1400" b="1" dirty="0">
                <a:latin typeface="游ゴシック" panose="020B0400000000000000" pitchFamily="50" charset="-128"/>
                <a:ea typeface="游ゴシック" panose="020B0400000000000000" pitchFamily="50" charset="-128"/>
              </a:endParaRPr>
            </a:p>
          </p:txBody>
        </p:sp>
        <p:sp>
          <p:nvSpPr>
            <p:cNvPr id="63" name="四角形吹き出し 62"/>
            <p:cNvSpPr/>
            <p:nvPr/>
          </p:nvSpPr>
          <p:spPr>
            <a:xfrm>
              <a:off x="4608000" y="3960000"/>
              <a:ext cx="2145521" cy="288000"/>
            </a:xfrm>
            <a:prstGeom prst="wedgeRectCallout">
              <a:avLst>
                <a:gd name="adj1" fmla="val -21703"/>
                <a:gd name="adj2" fmla="val -164897"/>
              </a:avLst>
            </a:prstGeom>
            <a:solidFill>
              <a:srgbClr val="EDEDED">
                <a:alpha val="69804"/>
              </a:srgb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400" dirty="0">
                  <a:solidFill>
                    <a:schemeClr val="tx1"/>
                  </a:solidFill>
                  <a:latin typeface="游ゴシック" panose="020B0400000000000000" pitchFamily="50" charset="-128"/>
                  <a:ea typeface="游ゴシック" panose="020B0400000000000000" pitchFamily="50" charset="-128"/>
                </a:rPr>
                <a:t>編集後、都度、コミット</a:t>
              </a:r>
            </a:p>
          </p:txBody>
        </p:sp>
        <p:sp>
          <p:nvSpPr>
            <p:cNvPr id="64" name="四角形吹き出し 63"/>
            <p:cNvSpPr/>
            <p:nvPr/>
          </p:nvSpPr>
          <p:spPr>
            <a:xfrm>
              <a:off x="6228000" y="4896000"/>
              <a:ext cx="2016000" cy="1152000"/>
            </a:xfrm>
            <a:prstGeom prst="wedgeRectCallout">
              <a:avLst>
                <a:gd name="adj1" fmla="val -59746"/>
                <a:gd name="adj2" fmla="val 20922"/>
              </a:avLst>
            </a:prstGeom>
            <a:solidFill>
              <a:srgbClr val="EDEDED">
                <a:alpha val="69804"/>
              </a:srgbClr>
            </a:solidFill>
            <a:ln w="12700">
              <a:solidFill>
                <a:schemeClr val="accent3"/>
              </a:solid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400" dirty="0">
                  <a:solidFill>
                    <a:schemeClr val="tx1"/>
                  </a:solidFill>
                  <a:latin typeface="游ゴシック" panose="020B0400000000000000" pitchFamily="50" charset="-128"/>
                  <a:ea typeface="游ゴシック" panose="020B0400000000000000" pitchFamily="50" charset="-128"/>
                </a:rPr>
                <a:t>貴社</a:t>
              </a:r>
              <a:r>
                <a:rPr lang="en-US" altLang="ja-JP" sz="1400" dirty="0">
                  <a:solidFill>
                    <a:schemeClr val="tx1"/>
                  </a:solidFill>
                  <a:latin typeface="游ゴシック" panose="020B0400000000000000" pitchFamily="50" charset="-128"/>
                  <a:ea typeface="游ゴシック" panose="020B0400000000000000" pitchFamily="50" charset="-128"/>
                </a:rPr>
                <a:t>SVN</a:t>
              </a:r>
              <a:r>
                <a:rPr lang="ja-JP" altLang="en-US" sz="1400" dirty="0">
                  <a:solidFill>
                    <a:schemeClr val="tx1"/>
                  </a:solidFill>
                  <a:latin typeface="游ゴシック" panose="020B0400000000000000" pitchFamily="50" charset="-128"/>
                  <a:ea typeface="游ゴシック" panose="020B0400000000000000" pitchFamily="50" charset="-128"/>
                </a:rPr>
                <a:t>環境の利用にあたっては、貴社の</a:t>
              </a:r>
              <a:r>
                <a:rPr lang="en-US" altLang="ja-JP" sz="1400" dirty="0">
                  <a:solidFill>
                    <a:schemeClr val="tx1"/>
                  </a:solidFill>
                  <a:latin typeface="游ゴシック" panose="020B0400000000000000" pitchFamily="50" charset="-128"/>
                  <a:ea typeface="游ゴシック" panose="020B0400000000000000" pitchFamily="50" charset="-128"/>
                </a:rPr>
                <a:t>SVN</a:t>
              </a:r>
              <a:r>
                <a:rPr lang="ja-JP" altLang="en-US" sz="1400" dirty="0">
                  <a:solidFill>
                    <a:schemeClr val="tx1"/>
                  </a:solidFill>
                  <a:latin typeface="游ゴシック" panose="020B0400000000000000" pitchFamily="50" charset="-128"/>
                  <a:ea typeface="游ゴシック" panose="020B0400000000000000" pitchFamily="50" charset="-128"/>
                </a:rPr>
                <a:t>利用ルールに則ります。</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65" name="正方形/長方形 64"/>
            <p:cNvSpPr/>
            <p:nvPr/>
          </p:nvSpPr>
          <p:spPr>
            <a:xfrm>
              <a:off x="1548000" y="2160000"/>
              <a:ext cx="1512000" cy="288000"/>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ja-JP" altLang="en-US" sz="1400" b="1" dirty="0">
                  <a:latin typeface="游ゴシック" panose="020B0400000000000000" pitchFamily="50" charset="-128"/>
                  <a:ea typeface="游ゴシック" panose="020B0400000000000000" pitchFamily="50" charset="-128"/>
                </a:rPr>
                <a:t>クライアント</a:t>
              </a:r>
              <a:r>
                <a:rPr lang="en-US" altLang="ja-JP" sz="1400" b="1" dirty="0">
                  <a:latin typeface="游ゴシック" panose="020B0400000000000000" pitchFamily="50" charset="-128"/>
                  <a:ea typeface="游ゴシック" panose="020B0400000000000000" pitchFamily="50" charset="-128"/>
                </a:rPr>
                <a:t>PC</a:t>
              </a:r>
              <a:endParaRPr kumimoji="1" lang="ja-JP" altLang="en-US" sz="1400" b="1" dirty="0">
                <a:latin typeface="游ゴシック" panose="020B0400000000000000" pitchFamily="50" charset="-128"/>
                <a:ea typeface="游ゴシック" panose="020B0400000000000000" pitchFamily="50" charset="-128"/>
              </a:endParaRPr>
            </a:p>
          </p:txBody>
        </p:sp>
      </p:grpSp>
    </p:spTree>
    <p:extLst>
      <p:ext uri="{BB962C8B-B14F-4D97-AF65-F5344CB8AC3E}">
        <p14:creationId xmlns:p14="http://schemas.microsoft.com/office/powerpoint/2010/main" val="18222484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p:cNvSpPr/>
          <p:nvPr/>
        </p:nvSpPr>
        <p:spPr>
          <a:xfrm>
            <a:off x="1080000" y="864000"/>
            <a:ext cx="7920000" cy="936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tIns="46800" bIns="46800" rtlCol="0" anchor="t"/>
          <a:lstStyle/>
          <a:p>
            <a:pPr latinLnBrk="1">
              <a:lnSpc>
                <a:spcPct val="120000"/>
              </a:lnSpc>
            </a:pPr>
            <a:r>
              <a:rPr lang="ja-JP" altLang="en-US" sz="1400" dirty="0">
                <a:solidFill>
                  <a:schemeClr val="tx1"/>
                </a:solidFill>
                <a:latin typeface="游ゴシック" panose="020B0400000000000000" pitchFamily="50" charset="-128"/>
                <a:ea typeface="游ゴシック" panose="020B0400000000000000" pitchFamily="50" charset="-128"/>
              </a:rPr>
              <a:t>貴社とのコミュニケーションにつきましては、電話・メール以外に貴社で利用されている</a:t>
            </a:r>
            <a:r>
              <a:rPr lang="en-US" altLang="ja-JP" sz="1400" dirty="0">
                <a:solidFill>
                  <a:schemeClr val="tx1"/>
                </a:solidFill>
                <a:latin typeface="游ゴシック" panose="020B0400000000000000" pitchFamily="50" charset="-128"/>
                <a:ea typeface="游ゴシック" panose="020B0400000000000000" pitchFamily="50" charset="-128"/>
              </a:rPr>
              <a:t>BOX</a:t>
            </a:r>
            <a:r>
              <a:rPr lang="ja-JP" altLang="en-US" sz="1400" dirty="0">
                <a:solidFill>
                  <a:schemeClr val="tx1"/>
                </a:solidFill>
                <a:latin typeface="游ゴシック" panose="020B0400000000000000" pitchFamily="50" charset="-128"/>
                <a:ea typeface="游ゴシック" panose="020B0400000000000000" pitchFamily="50" charset="-128"/>
              </a:rPr>
              <a:t>および</a:t>
            </a:r>
            <a:r>
              <a:rPr lang="en-US" altLang="ja-JP" sz="1400" dirty="0">
                <a:solidFill>
                  <a:schemeClr val="tx1"/>
                </a:solidFill>
                <a:latin typeface="游ゴシック" panose="020B0400000000000000" pitchFamily="50" charset="-128"/>
                <a:ea typeface="游ゴシック" panose="020B0400000000000000" pitchFamily="50" charset="-128"/>
              </a:rPr>
              <a:t>Teams	</a:t>
            </a:r>
            <a:r>
              <a:rPr lang="ja-JP" altLang="en-US" sz="1400" dirty="0">
                <a:solidFill>
                  <a:schemeClr val="tx1"/>
                </a:solidFill>
                <a:latin typeface="游ゴシック" panose="020B0400000000000000" pitchFamily="50" charset="-128"/>
                <a:ea typeface="游ゴシック" panose="020B0400000000000000" pitchFamily="50" charset="-128"/>
              </a:rPr>
              <a:t>を利用させて頂きたく存じます。弊社内では各種ツールを活用しコミュニケーションの活性化を図ります。また、定期的な会議体を開催し適切な情報共有を図ります。</a:t>
            </a:r>
            <a:endParaRPr lang="en-US" altLang="ja-JP" sz="1400" dirty="0">
              <a:solidFill>
                <a:schemeClr val="tx1"/>
              </a:solidFill>
              <a:latin typeface="游ゴシック" panose="020B0400000000000000" pitchFamily="50" charset="-128"/>
              <a:ea typeface="游ゴシック" panose="020B0400000000000000" pitchFamily="50" charset="-128"/>
            </a:endParaRPr>
          </a:p>
        </p:txBody>
      </p:sp>
      <p:sp>
        <p:nvSpPr>
          <p:cNvPr id="2" name="タイトル 1"/>
          <p:cNvSpPr>
            <a:spLocks noGrp="1"/>
          </p:cNvSpPr>
          <p:nvPr>
            <p:ph type="title"/>
          </p:nvPr>
        </p:nvSpPr>
        <p:spPr/>
        <p:txBody>
          <a:bodyPr/>
          <a:lstStyle/>
          <a:p>
            <a:r>
              <a:rPr lang="ja-JP" altLang="en-US" dirty="0"/>
              <a:t>コミュニケーション管理</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64</a:t>
            </a:fld>
            <a:endParaRPr kumimoji="1" lang="ja-JP" altLang="en-US"/>
          </a:p>
        </p:txBody>
      </p:sp>
      <p:sp>
        <p:nvSpPr>
          <p:cNvPr id="9" name="円/楕円 11"/>
          <p:cNvSpPr/>
          <p:nvPr/>
        </p:nvSpPr>
        <p:spPr>
          <a:xfrm>
            <a:off x="216000" y="900000"/>
            <a:ext cx="749902" cy="749902"/>
          </a:xfrm>
          <a:prstGeom prst="ellipse">
            <a:avLst/>
          </a:prstGeom>
          <a:solidFill>
            <a:schemeClr val="accent1">
              <a:alpha val="59000"/>
            </a:schemeClr>
          </a:solidFill>
          <a:ln w="762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p:cNvPicPr>
            <a:picLocks noChangeAspect="1"/>
          </p:cNvPicPr>
          <p:nvPr/>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38951" y="1074227"/>
            <a:ext cx="504000" cy="401448"/>
          </a:xfrm>
          <a:prstGeom prst="rect">
            <a:avLst/>
          </a:prstGeom>
        </p:spPr>
      </p:pic>
      <p:grpSp>
        <p:nvGrpSpPr>
          <p:cNvPr id="55" name="グループ化 54"/>
          <p:cNvGrpSpPr/>
          <p:nvPr/>
        </p:nvGrpSpPr>
        <p:grpSpPr>
          <a:xfrm>
            <a:off x="648000" y="2448000"/>
            <a:ext cx="7884000" cy="3888000"/>
            <a:chOff x="648000" y="1944000"/>
            <a:chExt cx="7884000" cy="3888000"/>
          </a:xfrm>
        </p:grpSpPr>
        <p:grpSp>
          <p:nvGrpSpPr>
            <p:cNvPr id="47" name="グループ化 46"/>
            <p:cNvGrpSpPr/>
            <p:nvPr/>
          </p:nvGrpSpPr>
          <p:grpSpPr>
            <a:xfrm>
              <a:off x="1332000" y="1944000"/>
              <a:ext cx="6480000" cy="2520000"/>
              <a:chOff x="1332000" y="2232000"/>
              <a:chExt cx="6480000" cy="2520000"/>
            </a:xfrm>
          </p:grpSpPr>
          <p:sp>
            <p:nvSpPr>
              <p:cNvPr id="22" name="正方形/長方形 21"/>
              <p:cNvSpPr/>
              <p:nvPr/>
            </p:nvSpPr>
            <p:spPr>
              <a:xfrm>
                <a:off x="1332000" y="2736000"/>
                <a:ext cx="6480000" cy="288000"/>
              </a:xfrm>
              <a:prstGeom prst="rect">
                <a:avLst/>
              </a:prstGeom>
              <a:solidFill>
                <a:schemeClr val="accent3">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kumimoji="1" lang="ja-JP" altLang="en-US" sz="1600" b="1" dirty="0">
                    <a:solidFill>
                      <a:schemeClr val="tx1"/>
                    </a:solidFill>
                    <a:latin typeface="游ゴシック" panose="020B0400000000000000" pitchFamily="50" charset="-128"/>
                    <a:ea typeface="游ゴシック" panose="020B0400000000000000" pitchFamily="50" charset="-128"/>
                  </a:rPr>
                  <a:t>出光興産ご担当者様</a:t>
                </a:r>
              </a:p>
            </p:txBody>
          </p:sp>
          <p:pic>
            <p:nvPicPr>
              <p:cNvPr id="20" name="図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4000" y="2232000"/>
                <a:ext cx="538117" cy="720000"/>
              </a:xfrm>
              <a:prstGeom prst="rect">
                <a:avLst/>
              </a:prstGeom>
            </p:spPr>
          </p:pic>
          <p:sp>
            <p:nvSpPr>
              <p:cNvPr id="24" name="正方形/長方形 23"/>
              <p:cNvSpPr/>
              <p:nvPr/>
            </p:nvSpPr>
            <p:spPr>
              <a:xfrm>
                <a:off x="1332000" y="4464000"/>
                <a:ext cx="6480000" cy="288000"/>
              </a:xfrm>
              <a:prstGeom prst="rect">
                <a:avLst/>
              </a:prstGeom>
              <a:solidFill>
                <a:schemeClr val="accent3">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r>
                  <a:rPr lang="ja-JP" altLang="en-US" sz="1600" b="1" dirty="0">
                    <a:solidFill>
                      <a:schemeClr val="tx1"/>
                    </a:solidFill>
                    <a:latin typeface="游ゴシック" panose="020B0400000000000000" pitchFamily="50" charset="-128"/>
                    <a:ea typeface="游ゴシック" panose="020B0400000000000000" pitchFamily="50" charset="-128"/>
                  </a:rPr>
                  <a:t>弊社</a:t>
                </a:r>
                <a:r>
                  <a:rPr kumimoji="1" lang="ja-JP" altLang="en-US" sz="1600" b="1" dirty="0">
                    <a:solidFill>
                      <a:schemeClr val="tx1"/>
                    </a:solidFill>
                    <a:latin typeface="游ゴシック" panose="020B0400000000000000" pitchFamily="50" charset="-128"/>
                    <a:ea typeface="游ゴシック" panose="020B0400000000000000" pitchFamily="50" charset="-128"/>
                  </a:rPr>
                  <a:t>担当</a:t>
                </a:r>
              </a:p>
            </p:txBody>
          </p:sp>
          <p:sp>
            <p:nvSpPr>
              <p:cNvPr id="27" name="上下矢印 26"/>
              <p:cNvSpPr/>
              <p:nvPr/>
            </p:nvSpPr>
            <p:spPr>
              <a:xfrm>
                <a:off x="1944000" y="3024001"/>
                <a:ext cx="864000" cy="1440000"/>
              </a:xfrm>
              <a:prstGeom prst="upDownArrow">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grpSp>
            <p:nvGrpSpPr>
              <p:cNvPr id="35" name="グループ化 34"/>
              <p:cNvGrpSpPr/>
              <p:nvPr/>
            </p:nvGrpSpPr>
            <p:grpSpPr>
              <a:xfrm>
                <a:off x="2160000" y="3348000"/>
                <a:ext cx="1620957" cy="955220"/>
                <a:chOff x="2376000" y="3348000"/>
                <a:chExt cx="1620957" cy="955220"/>
              </a:xfrm>
            </p:grpSpPr>
            <p:grpSp>
              <p:nvGrpSpPr>
                <p:cNvPr id="29" name="グループ化 28"/>
                <p:cNvGrpSpPr/>
                <p:nvPr/>
              </p:nvGrpSpPr>
              <p:grpSpPr>
                <a:xfrm>
                  <a:off x="2646478" y="3348000"/>
                  <a:ext cx="1080000" cy="379871"/>
                  <a:chOff x="3312000" y="3296357"/>
                  <a:chExt cx="1080000" cy="379871"/>
                </a:xfrm>
              </p:grpSpPr>
              <p:pic>
                <p:nvPicPr>
                  <p:cNvPr id="3" name="図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12000" y="3296357"/>
                    <a:ext cx="504000" cy="379871"/>
                  </a:xfrm>
                  <a:prstGeom prst="rect">
                    <a:avLst/>
                  </a:prstGeom>
                </p:spPr>
              </p:pic>
              <p:pic>
                <p:nvPicPr>
                  <p:cNvPr id="11" name="図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60000" y="3333665"/>
                    <a:ext cx="432000" cy="305255"/>
                  </a:xfrm>
                  <a:prstGeom prst="rect">
                    <a:avLst/>
                  </a:prstGeom>
                </p:spPr>
              </p:pic>
            </p:grpSp>
            <p:sp>
              <p:nvSpPr>
                <p:cNvPr id="28" name="テキスト ボックス 27"/>
                <p:cNvSpPr txBox="1"/>
                <p:nvPr/>
              </p:nvSpPr>
              <p:spPr>
                <a:xfrm>
                  <a:off x="2376000" y="3780000"/>
                  <a:ext cx="1620957" cy="523220"/>
                </a:xfrm>
                <a:prstGeom prst="rect">
                  <a:avLst/>
                </a:prstGeom>
                <a:noFill/>
              </p:spPr>
              <p:txBody>
                <a:bodyPr wrap="none" rtlCol="0">
                  <a:spAutoFit/>
                </a:bodyPr>
                <a:lstStyle/>
                <a:p>
                  <a:pPr algn="ct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通常時の連絡</a:t>
                  </a:r>
                  <a:r>
                    <a:rPr lang="en-US" altLang="ja-JP"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電話・メール</a:t>
                  </a:r>
                </a:p>
              </p:txBody>
            </p:sp>
          </p:grpSp>
          <p:sp>
            <p:nvSpPr>
              <p:cNvPr id="30" name="上下矢印 29"/>
              <p:cNvSpPr/>
              <p:nvPr/>
            </p:nvSpPr>
            <p:spPr>
              <a:xfrm>
                <a:off x="4140000" y="3024001"/>
                <a:ext cx="864000" cy="1440000"/>
              </a:xfrm>
              <a:prstGeom prst="upDownArrow">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grpSp>
            <p:nvGrpSpPr>
              <p:cNvPr id="39" name="グループ化 38"/>
              <p:cNvGrpSpPr/>
              <p:nvPr/>
            </p:nvGrpSpPr>
            <p:grpSpPr>
              <a:xfrm>
                <a:off x="3833304" y="3348000"/>
                <a:ext cx="2159566" cy="955220"/>
                <a:chOff x="4013304" y="3348000"/>
                <a:chExt cx="2159566" cy="955220"/>
              </a:xfrm>
            </p:grpSpPr>
            <p:pic>
              <p:nvPicPr>
                <p:cNvPr id="14" name="図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77087" y="3348000"/>
                  <a:ext cx="432000" cy="432000"/>
                </a:xfrm>
                <a:prstGeom prst="rect">
                  <a:avLst/>
                </a:prstGeom>
              </p:spPr>
            </p:pic>
            <p:sp>
              <p:nvSpPr>
                <p:cNvPr id="33" name="テキスト ボックス 32"/>
                <p:cNvSpPr txBox="1"/>
                <p:nvPr/>
              </p:nvSpPr>
              <p:spPr>
                <a:xfrm>
                  <a:off x="4013304" y="3780000"/>
                  <a:ext cx="2159566" cy="523220"/>
                </a:xfrm>
                <a:prstGeom prst="rect">
                  <a:avLst/>
                </a:prstGeom>
                <a:noFill/>
              </p:spPr>
              <p:txBody>
                <a:bodyPr wrap="none" rtlCol="0">
                  <a:spAutoFit/>
                </a:bodyPr>
                <a:lstStyle/>
                <a:p>
                  <a:pPr algn="ctr"/>
                  <a:r>
                    <a:rPr kumimoji="1" lang="en-US" altLang="ja-JP" sz="1400" dirty="0">
                      <a:latin typeface="游ゴシック" panose="020B0400000000000000" pitchFamily="50" charset="-128"/>
                      <a:ea typeface="游ゴシック" panose="020B0400000000000000" pitchFamily="50" charset="-128"/>
                    </a:rPr>
                    <a:t>【</a:t>
                  </a:r>
                  <a:r>
                    <a:rPr lang="ja-JP" altLang="en-US" sz="1400" dirty="0">
                      <a:latin typeface="游ゴシック" panose="020B0400000000000000" pitchFamily="50" charset="-128"/>
                      <a:ea typeface="游ゴシック" panose="020B0400000000000000" pitchFamily="50" charset="-128"/>
                    </a:rPr>
                    <a:t>ドキュメント</a:t>
                  </a:r>
                  <a:r>
                    <a:rPr kumimoji="1" lang="ja-JP" altLang="en-US" sz="1400" dirty="0">
                      <a:latin typeface="游ゴシック" panose="020B0400000000000000" pitchFamily="50" charset="-128"/>
                      <a:ea typeface="游ゴシック" panose="020B0400000000000000" pitchFamily="50" charset="-128"/>
                    </a:rPr>
                    <a:t>の授受</a:t>
                  </a:r>
                  <a:r>
                    <a:rPr lang="en-US" altLang="ja-JP"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p>
                  <a:pPr algn="ctr"/>
                  <a:r>
                    <a:rPr kumimoji="1" lang="en-US" altLang="ja-JP" sz="1400" dirty="0">
                      <a:latin typeface="游ゴシック" panose="020B0400000000000000" pitchFamily="50" charset="-128"/>
                      <a:ea typeface="游ゴシック" panose="020B0400000000000000" pitchFamily="50" charset="-128"/>
                    </a:rPr>
                    <a:t>BOX</a:t>
                  </a:r>
                  <a:endParaRPr kumimoji="1" lang="ja-JP" altLang="en-US" sz="1400" dirty="0">
                    <a:latin typeface="游ゴシック" panose="020B0400000000000000" pitchFamily="50" charset="-128"/>
                    <a:ea typeface="游ゴシック" panose="020B0400000000000000" pitchFamily="50" charset="-128"/>
                  </a:endParaRPr>
                </a:p>
              </p:txBody>
            </p:sp>
          </p:grpSp>
          <p:sp>
            <p:nvSpPr>
              <p:cNvPr id="31" name="上下矢印 30"/>
              <p:cNvSpPr/>
              <p:nvPr/>
            </p:nvSpPr>
            <p:spPr>
              <a:xfrm>
                <a:off x="6336000" y="3024001"/>
                <a:ext cx="864000" cy="1440000"/>
              </a:xfrm>
              <a:prstGeom prst="upDownArrow">
                <a:avLst/>
              </a:prstGeom>
              <a:solidFill>
                <a:schemeClr val="accent1">
                  <a:lumMod val="20000"/>
                  <a:lumOff val="80000"/>
                </a:scheme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kumimoji="1" lang="ja-JP" altLang="en-US" sz="1600" b="1" dirty="0">
                  <a:latin typeface="游ゴシック" panose="020B0400000000000000" pitchFamily="50" charset="-128"/>
                  <a:ea typeface="游ゴシック" panose="020B0400000000000000" pitchFamily="50" charset="-128"/>
                </a:endParaRPr>
              </a:p>
            </p:txBody>
          </p:sp>
          <p:grpSp>
            <p:nvGrpSpPr>
              <p:cNvPr id="38" name="グループ化 37"/>
              <p:cNvGrpSpPr/>
              <p:nvPr/>
            </p:nvGrpSpPr>
            <p:grpSpPr>
              <a:xfrm>
                <a:off x="6444000" y="3348000"/>
                <a:ext cx="1301959" cy="955220"/>
                <a:chOff x="7343735" y="3348000"/>
                <a:chExt cx="1301959" cy="955220"/>
              </a:xfrm>
            </p:grpSpPr>
            <p:pic>
              <p:nvPicPr>
                <p:cNvPr id="15" name="図 14"/>
                <p:cNvPicPr>
                  <a:picLocks noChangeAspect="1"/>
                </p:cNvPicPr>
                <p:nvPr/>
              </p:nvPicPr>
              <p:blipFill rotWithShape="1">
                <a:blip r:embed="rId8" cstate="print">
                  <a:extLst>
                    <a:ext uri="{BEBA8EAE-BF5A-486C-A8C5-ECC9F3942E4B}">
                      <a14:imgProps xmlns:a14="http://schemas.microsoft.com/office/drawing/2010/main">
                        <a14:imgLayer r:embed="rId9">
                          <a14:imgEffect>
                            <a14:backgroundRemoval t="10000" b="90000" l="10000" r="90000">
                              <a14:foregroundMark x1="57617" y1="26953" x2="57617" y2="26953"/>
                              <a14:foregroundMark x1="74414" y1="31250" x2="74414" y2="31250"/>
                              <a14:foregroundMark x1="77539" y1="52344" x2="77539" y2="52344"/>
                              <a14:foregroundMark x1="62695" y1="52148" x2="62695" y2="52148"/>
                              <a14:foregroundMark x1="43555" y1="53711" x2="43555" y2="53711"/>
                            </a14:backgroundRemoval>
                          </a14:imgEffect>
                        </a14:imgLayer>
                      </a14:imgProps>
                    </a:ext>
                    <a:ext uri="{28A0092B-C50C-407E-A947-70E740481C1C}">
                      <a14:useLocalDpi xmlns:a14="http://schemas.microsoft.com/office/drawing/2010/main" val="0"/>
                    </a:ext>
                  </a:extLst>
                </a:blip>
                <a:srcRect l="13080" t="17669" r="14567" b="17361"/>
                <a:stretch/>
              </p:blipFill>
              <p:spPr>
                <a:xfrm>
                  <a:off x="7754169" y="3348000"/>
                  <a:ext cx="481091" cy="432000"/>
                </a:xfrm>
                <a:prstGeom prst="rect">
                  <a:avLst/>
                </a:prstGeom>
              </p:spPr>
            </p:pic>
            <p:sp>
              <p:nvSpPr>
                <p:cNvPr id="37" name="テキスト ボックス 36"/>
                <p:cNvSpPr txBox="1"/>
                <p:nvPr/>
              </p:nvSpPr>
              <p:spPr>
                <a:xfrm>
                  <a:off x="7343735" y="3780000"/>
                  <a:ext cx="1301959" cy="523220"/>
                </a:xfrm>
                <a:prstGeom prst="rect">
                  <a:avLst/>
                </a:prstGeom>
                <a:noFill/>
              </p:spPr>
              <p:txBody>
                <a:bodyPr wrap="none" rtlCol="0">
                  <a:spAutoFit/>
                </a:bodyPr>
                <a:lstStyle/>
                <a:p>
                  <a:pPr algn="ctr"/>
                  <a:r>
                    <a:rPr kumimoji="1" lang="en-US" altLang="ja-JP" sz="1400" dirty="0">
                      <a:latin typeface="游ゴシック" panose="020B0400000000000000" pitchFamily="50" charset="-128"/>
                      <a:ea typeface="游ゴシック" panose="020B0400000000000000" pitchFamily="50" charset="-128"/>
                    </a:rPr>
                    <a:t>【</a:t>
                  </a:r>
                  <a:r>
                    <a:rPr lang="en-US" altLang="ja-JP" sz="1400" dirty="0">
                      <a:latin typeface="游ゴシック" panose="020B0400000000000000" pitchFamily="50" charset="-128"/>
                      <a:ea typeface="游ゴシック" panose="020B0400000000000000" pitchFamily="50" charset="-128"/>
                    </a:rPr>
                    <a:t>WEB</a:t>
                  </a:r>
                  <a:r>
                    <a:rPr lang="ja-JP" altLang="en-US" sz="1400" dirty="0">
                      <a:latin typeface="游ゴシック" panose="020B0400000000000000" pitchFamily="50" charset="-128"/>
                      <a:ea typeface="游ゴシック" panose="020B0400000000000000" pitchFamily="50" charset="-128"/>
                    </a:rPr>
                    <a:t>会議</a:t>
                  </a:r>
                  <a:r>
                    <a:rPr lang="en-US" altLang="ja-JP"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p>
                  <a:pPr algn="ctr"/>
                  <a:r>
                    <a:rPr lang="en-US" altLang="ja-JP" sz="1400" dirty="0">
                      <a:latin typeface="游ゴシック" panose="020B0400000000000000" pitchFamily="50" charset="-128"/>
                      <a:ea typeface="游ゴシック" panose="020B0400000000000000" pitchFamily="50" charset="-128"/>
                    </a:rPr>
                    <a:t>Teams</a:t>
                  </a:r>
                  <a:endParaRPr kumimoji="1" lang="ja-JP" altLang="en-US" sz="1400" dirty="0">
                    <a:latin typeface="游ゴシック" panose="020B0400000000000000" pitchFamily="50" charset="-128"/>
                    <a:ea typeface="游ゴシック" panose="020B0400000000000000" pitchFamily="50" charset="-128"/>
                  </a:endParaRPr>
                </a:p>
              </p:txBody>
            </p:sp>
          </p:grpSp>
          <p:pic>
            <p:nvPicPr>
              <p:cNvPr id="21" name="図 2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584000" y="3960000"/>
                <a:ext cx="614505" cy="720000"/>
              </a:xfrm>
              <a:prstGeom prst="rect">
                <a:avLst/>
              </a:prstGeom>
            </p:spPr>
          </p:pic>
        </p:grpSp>
        <p:grpSp>
          <p:nvGrpSpPr>
            <p:cNvPr id="53" name="グループ化 52"/>
            <p:cNvGrpSpPr/>
            <p:nvPr/>
          </p:nvGrpSpPr>
          <p:grpSpPr>
            <a:xfrm>
              <a:off x="648000" y="4608000"/>
              <a:ext cx="2520000" cy="1224000"/>
              <a:chOff x="540000" y="4608000"/>
              <a:chExt cx="2520000" cy="1224000"/>
            </a:xfrm>
          </p:grpSpPr>
          <p:pic>
            <p:nvPicPr>
              <p:cNvPr id="16" name="図 15"/>
              <p:cNvPicPr>
                <a:picLocks noChangeAspect="1"/>
              </p:cNvPicPr>
              <p:nvPr/>
            </p:nvPicPr>
            <p:blipFill rotWithShape="1">
              <a:blip r:embed="rId11" cstate="print">
                <a:extLst>
                  <a:ext uri="{28A0092B-C50C-407E-A947-70E740481C1C}">
                    <a14:useLocalDpi xmlns:a14="http://schemas.microsoft.com/office/drawing/2010/main" val="0"/>
                  </a:ext>
                </a:extLst>
              </a:blip>
              <a:srcRect l="34274" t="26254" r="34234" b="26501"/>
              <a:stretch/>
            </p:blipFill>
            <p:spPr>
              <a:xfrm>
                <a:off x="540000" y="4608000"/>
                <a:ext cx="432000" cy="432000"/>
              </a:xfrm>
              <a:prstGeom prst="rect">
                <a:avLst/>
              </a:prstGeom>
            </p:spPr>
          </p:pic>
          <p:sp>
            <p:nvSpPr>
              <p:cNvPr id="43" name="テキスト ボックス 42"/>
              <p:cNvSpPr txBox="1"/>
              <p:nvPr/>
            </p:nvSpPr>
            <p:spPr>
              <a:xfrm>
                <a:off x="1044000" y="4608000"/>
                <a:ext cx="2016000" cy="1224000"/>
              </a:xfrm>
              <a:prstGeom prst="rect">
                <a:avLst/>
              </a:prstGeom>
              <a:noFill/>
            </p:spPr>
            <p:txBody>
              <a:bodyPr wrap="square" rtlCol="0">
                <a:noAutofit/>
              </a:bodyPr>
              <a:lstStyle/>
              <a:p>
                <a:r>
                  <a:rPr kumimoji="1" lang="en-US" altLang="ja-JP" sz="1400" b="1" dirty="0" err="1">
                    <a:solidFill>
                      <a:schemeClr val="accent1">
                        <a:lumMod val="50000"/>
                      </a:schemeClr>
                    </a:solidFill>
                    <a:latin typeface="游ゴシック" panose="020B0400000000000000" pitchFamily="50" charset="-128"/>
                    <a:ea typeface="游ゴシック" panose="020B0400000000000000" pitchFamily="50" charset="-128"/>
                  </a:rPr>
                  <a:t>RedMine</a:t>
                </a:r>
                <a:endPar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endParaRPr>
              </a:p>
              <a:p>
                <a:r>
                  <a:rPr kumimoji="1" lang="ja-JP" altLang="en-US" sz="1400" dirty="0">
                    <a:latin typeface="游ゴシック" panose="020B0400000000000000" pitchFamily="50" charset="-128"/>
                    <a:ea typeface="游ゴシック" panose="020B0400000000000000" pitchFamily="50" charset="-128"/>
                  </a:rPr>
                  <a:t>プロジェクト管理ツールおよび情報共有基盤として利用します。</a:t>
                </a:r>
              </a:p>
            </p:txBody>
          </p:sp>
        </p:grpSp>
        <p:grpSp>
          <p:nvGrpSpPr>
            <p:cNvPr id="52" name="グループ化 51"/>
            <p:cNvGrpSpPr/>
            <p:nvPr/>
          </p:nvGrpSpPr>
          <p:grpSpPr>
            <a:xfrm>
              <a:off x="6012000" y="4608000"/>
              <a:ext cx="2520000" cy="1224000"/>
              <a:chOff x="6012000" y="4608000"/>
              <a:chExt cx="2520000" cy="1224000"/>
            </a:xfrm>
          </p:grpSpPr>
          <p:pic>
            <p:nvPicPr>
              <p:cNvPr id="17" name="図 16"/>
              <p:cNvPicPr>
                <a:picLocks noChangeAspect="1"/>
              </p:cNvPicPr>
              <p:nvPr/>
            </p:nvPicPr>
            <p:blipFill rotWithShape="1">
              <a:blip r:embed="rId12" cstate="print">
                <a:extLst>
                  <a:ext uri="{28A0092B-C50C-407E-A947-70E740481C1C}">
                    <a14:useLocalDpi xmlns:a14="http://schemas.microsoft.com/office/drawing/2010/main" val="0"/>
                  </a:ext>
                </a:extLst>
              </a:blip>
              <a:srcRect l="-4" r="45252"/>
              <a:stretch/>
            </p:blipFill>
            <p:spPr>
              <a:xfrm>
                <a:off x="6012000" y="4608000"/>
                <a:ext cx="421794" cy="432000"/>
              </a:xfrm>
              <a:prstGeom prst="rect">
                <a:avLst/>
              </a:prstGeom>
            </p:spPr>
          </p:pic>
          <p:sp>
            <p:nvSpPr>
              <p:cNvPr id="44" name="テキスト ボックス 43"/>
              <p:cNvSpPr txBox="1"/>
              <p:nvPr/>
            </p:nvSpPr>
            <p:spPr>
              <a:xfrm>
                <a:off x="6516000" y="4608000"/>
                <a:ext cx="2016000" cy="1224000"/>
              </a:xfrm>
              <a:prstGeom prst="rect">
                <a:avLst/>
              </a:prstGeom>
              <a:noFill/>
            </p:spPr>
            <p:txBody>
              <a:bodyPr wrap="square" rtlCol="0">
                <a:noAutofit/>
              </a:bodyPr>
              <a:lstStyle/>
              <a:p>
                <a:r>
                  <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rPr>
                  <a:t>V-CUBE Gate</a:t>
                </a:r>
              </a:p>
              <a:p>
                <a:r>
                  <a:rPr lang="ja-JP" altLang="en-US" sz="1400" dirty="0">
                    <a:latin typeface="游ゴシック" panose="020B0400000000000000" pitchFamily="50" charset="-128"/>
                    <a:ea typeface="游ゴシック" panose="020B0400000000000000" pitchFamily="50" charset="-128"/>
                  </a:rPr>
                  <a:t>メンバー間のコミュニケーションツールとしてチャット機能を活用します。</a:t>
                </a:r>
                <a:endParaRPr kumimoji="1" lang="ja-JP" altLang="en-US" sz="1400" dirty="0">
                  <a:latin typeface="游ゴシック" panose="020B0400000000000000" pitchFamily="50" charset="-128"/>
                  <a:ea typeface="游ゴシック" panose="020B0400000000000000" pitchFamily="50" charset="-128"/>
                </a:endParaRPr>
              </a:p>
            </p:txBody>
          </p:sp>
        </p:grpSp>
        <p:grpSp>
          <p:nvGrpSpPr>
            <p:cNvPr id="51" name="グループ化 50"/>
            <p:cNvGrpSpPr/>
            <p:nvPr/>
          </p:nvGrpSpPr>
          <p:grpSpPr>
            <a:xfrm>
              <a:off x="3330000" y="4608000"/>
              <a:ext cx="2520000" cy="1224000"/>
              <a:chOff x="3600000" y="4608000"/>
              <a:chExt cx="2520000" cy="1224000"/>
            </a:xfrm>
          </p:grpSpPr>
          <p:pic>
            <p:nvPicPr>
              <p:cNvPr id="48" name="図 47"/>
              <p:cNvPicPr>
                <a:picLocks noChangeAspect="1"/>
              </p:cNvPicPr>
              <p:nvPr/>
            </p:nvPicPr>
            <p:blipFill rotWithShape="1">
              <a:blip r:embed="rId13" cstate="print">
                <a:extLst>
                  <a:ext uri="{28A0092B-C50C-407E-A947-70E740481C1C}">
                    <a14:useLocalDpi xmlns:a14="http://schemas.microsoft.com/office/drawing/2010/main" val="0"/>
                  </a:ext>
                </a:extLst>
              </a:blip>
              <a:srcRect l="35060" t="11569" r="35805" b="36686"/>
              <a:stretch/>
            </p:blipFill>
            <p:spPr>
              <a:xfrm>
                <a:off x="3600000" y="4608000"/>
                <a:ext cx="463304" cy="432000"/>
              </a:xfrm>
              <a:prstGeom prst="rect">
                <a:avLst/>
              </a:prstGeom>
            </p:spPr>
          </p:pic>
          <p:sp>
            <p:nvSpPr>
              <p:cNvPr id="50" name="テキスト ボックス 49"/>
              <p:cNvSpPr txBox="1"/>
              <p:nvPr/>
            </p:nvSpPr>
            <p:spPr>
              <a:xfrm>
                <a:off x="4104000" y="4608000"/>
                <a:ext cx="2016000" cy="1224000"/>
              </a:xfrm>
              <a:prstGeom prst="rect">
                <a:avLst/>
              </a:prstGeom>
              <a:noFill/>
            </p:spPr>
            <p:txBody>
              <a:bodyPr wrap="square" rtlCol="0">
                <a:noAutofit/>
              </a:bodyPr>
              <a:lstStyle/>
              <a:p>
                <a:r>
                  <a:rPr kumimoji="1" lang="en-US" altLang="ja-JP" sz="1400" b="1" dirty="0">
                    <a:solidFill>
                      <a:schemeClr val="accent1">
                        <a:lumMod val="50000"/>
                      </a:schemeClr>
                    </a:solidFill>
                    <a:latin typeface="游ゴシック" panose="020B0400000000000000" pitchFamily="50" charset="-128"/>
                    <a:ea typeface="游ゴシック" panose="020B0400000000000000" pitchFamily="50" charset="-128"/>
                  </a:rPr>
                  <a:t>V-CUBE</a:t>
                </a:r>
              </a:p>
              <a:p>
                <a:r>
                  <a:rPr kumimoji="1" lang="en-US" altLang="ja-JP" sz="1400" dirty="0">
                    <a:latin typeface="游ゴシック" panose="020B0400000000000000" pitchFamily="50" charset="-128"/>
                    <a:ea typeface="游ゴシック" panose="020B0400000000000000" pitchFamily="50" charset="-128"/>
                  </a:rPr>
                  <a:t>WEB</a:t>
                </a:r>
                <a:r>
                  <a:rPr lang="ja-JP" altLang="en-US" sz="1400" dirty="0">
                    <a:latin typeface="游ゴシック" panose="020B0400000000000000" pitchFamily="50" charset="-128"/>
                    <a:ea typeface="游ゴシック" panose="020B0400000000000000" pitchFamily="50" charset="-128"/>
                  </a:rPr>
                  <a:t>会議ツールとして利用します。特にベトナム開発チームとの会議に使用します。</a:t>
                </a:r>
                <a:endParaRPr kumimoji="1" lang="en-US" altLang="ja-JP" sz="1400" dirty="0">
                  <a:latin typeface="游ゴシック" panose="020B0400000000000000" pitchFamily="50" charset="-128"/>
                  <a:ea typeface="游ゴシック" panose="020B0400000000000000" pitchFamily="50" charset="-128"/>
                </a:endParaRPr>
              </a:p>
            </p:txBody>
          </p:sp>
        </p:grpSp>
      </p:grpSp>
      <p:sp>
        <p:nvSpPr>
          <p:cNvPr id="57" name="線吹き出し 1 (枠付き) 56"/>
          <p:cNvSpPr/>
          <p:nvPr/>
        </p:nvSpPr>
        <p:spPr>
          <a:xfrm>
            <a:off x="3744000" y="1872000"/>
            <a:ext cx="4068000" cy="792000"/>
          </a:xfrm>
          <a:prstGeom prst="borderCallout1">
            <a:avLst>
              <a:gd name="adj1" fmla="val 89776"/>
              <a:gd name="adj2" fmla="val -25"/>
              <a:gd name="adj3" fmla="val 214663"/>
              <a:gd name="adj4" fmla="val -25625"/>
            </a:avLst>
          </a:prstGeom>
          <a:solidFill>
            <a:srgbClr val="FFE1E1"/>
          </a:solidFill>
          <a:ln>
            <a:solidFill>
              <a:srgbClr val="FF0000"/>
            </a:solidFill>
          </a:ln>
        </p:spPr>
        <p:style>
          <a:lnRef idx="1">
            <a:schemeClr val="accent6"/>
          </a:lnRef>
          <a:fillRef idx="2">
            <a:schemeClr val="accent6"/>
          </a:fillRef>
          <a:effectRef idx="1">
            <a:schemeClr val="accent6"/>
          </a:effectRef>
          <a:fontRef idx="minor">
            <a:schemeClr val="dk1"/>
          </a:fontRef>
        </p:style>
        <p:txBody>
          <a:bodyPr rtlCol="0" anchor="ctr"/>
          <a:lstStyle/>
          <a:p>
            <a:r>
              <a:rPr lang="ja-JP" altLang="en-US" sz="1400" dirty="0">
                <a:latin typeface="游ゴシック" panose="020B0400000000000000" pitchFamily="50" charset="-128"/>
                <a:ea typeface="游ゴシック" panose="020B0400000000000000" pitchFamily="50" charset="-128"/>
              </a:rPr>
              <a:t>プロジェクト開始時に緊急連絡先（弊社担当の携帯電話番号）をお伝えします。緊急時は緊急連絡先までご連絡頂くことを想定します。</a:t>
            </a:r>
            <a:endParaRPr lang="en-US" altLang="ja-JP" sz="14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3492207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会議体</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65</a:t>
            </a:fld>
            <a:endParaRPr kumimoji="1" lang="ja-JP" altLang="en-US"/>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3949328364"/>
              </p:ext>
            </p:extLst>
          </p:nvPr>
        </p:nvGraphicFramePr>
        <p:xfrm>
          <a:off x="144000" y="1836000"/>
          <a:ext cx="8857581" cy="4513200"/>
        </p:xfrm>
        <a:graphic>
          <a:graphicData uri="http://schemas.openxmlformats.org/drawingml/2006/table">
            <a:tbl>
              <a:tblPr firstRow="1">
                <a:tableStyleId>{5C22544A-7EE6-4342-B048-85BDC9FD1C3A}</a:tableStyleId>
              </a:tblPr>
              <a:tblGrid>
                <a:gridCol w="1610908">
                  <a:extLst>
                    <a:ext uri="{9D8B030D-6E8A-4147-A177-3AD203B41FA5}">
                      <a16:colId xmlns:a16="http://schemas.microsoft.com/office/drawing/2014/main" val="20000"/>
                    </a:ext>
                  </a:extLst>
                </a:gridCol>
                <a:gridCol w="858983">
                  <a:extLst>
                    <a:ext uri="{9D8B030D-6E8A-4147-A177-3AD203B41FA5}">
                      <a16:colId xmlns:a16="http://schemas.microsoft.com/office/drawing/2014/main" val="20003"/>
                    </a:ext>
                  </a:extLst>
                </a:gridCol>
                <a:gridCol w="4011254">
                  <a:extLst>
                    <a:ext uri="{9D8B030D-6E8A-4147-A177-3AD203B41FA5}">
                      <a16:colId xmlns:a16="http://schemas.microsoft.com/office/drawing/2014/main" val="20001"/>
                    </a:ext>
                  </a:extLst>
                </a:gridCol>
                <a:gridCol w="804389">
                  <a:extLst>
                    <a:ext uri="{9D8B030D-6E8A-4147-A177-3AD203B41FA5}">
                      <a16:colId xmlns:a16="http://schemas.microsoft.com/office/drawing/2014/main" val="20002"/>
                    </a:ext>
                  </a:extLst>
                </a:gridCol>
                <a:gridCol w="767658">
                  <a:extLst>
                    <a:ext uri="{9D8B030D-6E8A-4147-A177-3AD203B41FA5}">
                      <a16:colId xmlns:a16="http://schemas.microsoft.com/office/drawing/2014/main" val="2879881064"/>
                    </a:ext>
                  </a:extLst>
                </a:gridCol>
                <a:gridCol w="804389">
                  <a:extLst>
                    <a:ext uri="{9D8B030D-6E8A-4147-A177-3AD203B41FA5}">
                      <a16:colId xmlns:a16="http://schemas.microsoft.com/office/drawing/2014/main" val="925084414"/>
                    </a:ext>
                  </a:extLst>
                </a:gridCol>
              </a:tblGrid>
              <a:tr h="434254">
                <a:tc>
                  <a:txBody>
                    <a:bodyPr/>
                    <a:lstStyle/>
                    <a:p>
                      <a:pPr algn="ctr"/>
                      <a:r>
                        <a:rPr kumimoji="1" lang="ja-JP" altLang="en-US" sz="1400" dirty="0">
                          <a:latin typeface="游ゴシック" panose="020B0400000000000000" pitchFamily="50" charset="-128"/>
                          <a:ea typeface="游ゴシック" panose="020B0400000000000000" pitchFamily="50" charset="-128"/>
                        </a:rPr>
                        <a:t>会議名</a:t>
                      </a:r>
                      <a:endParaRPr kumimoji="1" lang="en-US" altLang="ja-JP" sz="1400" dirty="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開催頻度</a:t>
                      </a:r>
                      <a:endParaRPr kumimoji="1" lang="en-US" altLang="ja-JP" sz="1400" dirty="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内容</a:t>
                      </a:r>
                      <a:endParaRPr kumimoji="1" lang="en-US" altLang="ja-JP" sz="1400" dirty="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利用</a:t>
                      </a:r>
                      <a:endParaRPr kumimoji="1"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部門</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情報</a:t>
                      </a:r>
                      <a:endParaRPr kumimoji="1" lang="en-US" altLang="ja-JP" sz="1400" dirty="0">
                        <a:latin typeface="游ゴシック" panose="020B0400000000000000" pitchFamily="50" charset="-128"/>
                        <a:ea typeface="游ゴシック" panose="020B0400000000000000" pitchFamily="50" charset="-128"/>
                      </a:endParaRPr>
                    </a:p>
                    <a:p>
                      <a:pPr algn="ctr"/>
                      <a:r>
                        <a:rPr kumimoji="1" lang="ja-JP" altLang="en-US" sz="1400" dirty="0">
                          <a:latin typeface="游ゴシック" panose="020B0400000000000000" pitchFamily="50" charset="-128"/>
                          <a:ea typeface="游ゴシック" panose="020B0400000000000000" pitchFamily="50" charset="-128"/>
                        </a:rPr>
                        <a:t>ｼｽﾃﾑ部</a:t>
                      </a: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弊社</a:t>
                      </a:r>
                      <a:endParaRPr kumimoji="1" lang="en-US" altLang="ja-JP" sz="1400" dirty="0">
                        <a:latin typeface="游ゴシック" panose="020B0400000000000000" pitchFamily="50" charset="-128"/>
                        <a:ea typeface="游ゴシック" panose="020B0400000000000000" pitchFamily="50" charset="-128"/>
                      </a:endParaRPr>
                    </a:p>
                    <a:p>
                      <a:pPr algn="ctr"/>
                      <a:endParaRPr kumimoji="1" lang="ja-JP" altLang="en-US" sz="1400" dirty="0">
                        <a:latin typeface="游ゴシック" panose="020B0400000000000000" pitchFamily="50" charset="-128"/>
                        <a:ea typeface="游ゴシック" panose="020B0400000000000000" pitchFamily="50" charset="-128"/>
                      </a:endParaRPr>
                    </a:p>
                  </a:txBody>
                  <a:tcPr marL="36000" marR="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478303">
                <a:tc>
                  <a:txBody>
                    <a:bodyPr/>
                    <a:lstStyle/>
                    <a:p>
                      <a:r>
                        <a:rPr kumimoji="1" lang="ja-JP" altLang="en-US" sz="1400" b="0" dirty="0">
                          <a:latin typeface="游ゴシック" panose="020B0400000000000000" pitchFamily="50" charset="-128"/>
                          <a:ea typeface="游ゴシック" panose="020B0400000000000000" pitchFamily="50" charset="-128"/>
                        </a:rPr>
                        <a:t>進捗会議</a:t>
                      </a: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週次</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プロジェクトでの進捗状況</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作業予定の確認、課題およびリスクの把握</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対応、連絡事項の周知</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8303">
                <a:tc>
                  <a:txBody>
                    <a:bodyPr/>
                    <a:lstStyle/>
                    <a:p>
                      <a:r>
                        <a:rPr kumimoji="1" lang="ja-JP" altLang="en-US" sz="1400" b="0" dirty="0">
                          <a:latin typeface="游ゴシック" panose="020B0400000000000000" pitchFamily="50" charset="-128"/>
                          <a:ea typeface="游ゴシック" panose="020B0400000000000000" pitchFamily="50" charset="-128"/>
                        </a:rPr>
                        <a:t>課題検討会議</a:t>
                      </a: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適時</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現行システム・業務要件・インターフェース・移行対象の確認、各種課題の検討</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解決</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78303">
                <a:tc>
                  <a:txBody>
                    <a:bodyPr/>
                    <a:lstStyle/>
                    <a:p>
                      <a:r>
                        <a:rPr kumimoji="1" lang="ja-JP" altLang="en-US" sz="1400" b="0" dirty="0">
                          <a:latin typeface="游ゴシック" panose="020B0400000000000000" pitchFamily="50" charset="-128"/>
                          <a:ea typeface="游ゴシック" panose="020B0400000000000000" pitchFamily="50" charset="-128"/>
                        </a:rPr>
                        <a:t>レビュー会議</a:t>
                      </a: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各工程</a:t>
                      </a:r>
                      <a:endParaRPr kumimoji="1" lang="en-US" altLang="ja-JP" sz="1400" dirty="0">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完了時</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要件定義、基本設計、各種テスト結果等の成果物に対するレビュー</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0" marR="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6392115"/>
                  </a:ext>
                </a:extLst>
              </a:tr>
              <a:tr h="478303">
                <a:tc>
                  <a:txBody>
                    <a:bodyPr/>
                    <a:lstStyle/>
                    <a:p>
                      <a:r>
                        <a:rPr kumimoji="1" lang="ja-JP" altLang="en-US" sz="1400" b="0" dirty="0">
                          <a:latin typeface="游ゴシック" panose="020B0400000000000000" pitchFamily="50" charset="-128"/>
                          <a:ea typeface="游ゴシック" panose="020B0400000000000000" pitchFamily="50" charset="-128"/>
                        </a:rPr>
                        <a:t>本番移行判定会議</a:t>
                      </a: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適時</a:t>
                      </a:r>
                      <a:endParaRPr kumimoji="1" lang="en-US" altLang="ja-JP" sz="1000" dirty="0">
                        <a:latin typeface="游ゴシック" panose="020B0400000000000000" pitchFamily="50" charset="-128"/>
                        <a:ea typeface="游ゴシック" panose="020B0400000000000000" pitchFamily="50" charset="-128"/>
                      </a:endParaRPr>
                    </a:p>
                    <a:p>
                      <a:pPr algn="ctr"/>
                      <a:r>
                        <a:rPr kumimoji="1" lang="en-US" altLang="ja-JP" sz="1100" dirty="0">
                          <a:latin typeface="游ゴシック" panose="020B0400000000000000" pitchFamily="50" charset="-128"/>
                          <a:ea typeface="游ゴシック" panose="020B0400000000000000" pitchFamily="50" charset="-128"/>
                        </a:rPr>
                        <a:t>(</a:t>
                      </a:r>
                      <a:r>
                        <a:rPr kumimoji="1" lang="ja-JP" altLang="en-US" sz="1100" dirty="0">
                          <a:latin typeface="游ゴシック" panose="020B0400000000000000" pitchFamily="50" charset="-128"/>
                          <a:ea typeface="游ゴシック" panose="020B0400000000000000" pitchFamily="50" charset="-128"/>
                        </a:rPr>
                        <a:t>本番稼働前</a:t>
                      </a:r>
                      <a:r>
                        <a:rPr kumimoji="1" lang="en-US" altLang="ja-JP" sz="1100" dirty="0">
                          <a:latin typeface="游ゴシック" panose="020B0400000000000000" pitchFamily="50" charset="-128"/>
                          <a:ea typeface="游ゴシック" panose="020B0400000000000000" pitchFamily="50" charset="-128"/>
                        </a:rPr>
                        <a:t>)</a:t>
                      </a:r>
                    </a:p>
                  </a:txBody>
                  <a:tcPr marL="0" marR="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本番稼働に向けたテストや移行リハーサル等の準備状況・結果の共有、本番稼働の可否判定</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〇</a:t>
                      </a:r>
                      <a:endParaRPr kumimoji="1" lang="en-US" altLang="ja-JP" sz="1400" dirty="0">
                        <a:latin typeface="游ゴシック" panose="020B0400000000000000" pitchFamily="50" charset="-128"/>
                        <a:ea typeface="游ゴシック" panose="020B0400000000000000" pitchFamily="50" charset="-128"/>
                      </a:endParaRPr>
                    </a:p>
                  </a:txBody>
                  <a:tcPr marL="0" marR="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966696361"/>
                  </a:ext>
                </a:extLst>
              </a:tr>
              <a:tr h="478303">
                <a:tc>
                  <a:txBody>
                    <a:bodyPr/>
                    <a:lstStyle/>
                    <a:p>
                      <a:r>
                        <a:rPr kumimoji="1" lang="ja-JP" altLang="en-US" sz="1400" b="0" dirty="0">
                          <a:latin typeface="游ゴシック" panose="020B0400000000000000" pitchFamily="50" charset="-128"/>
                          <a:ea typeface="游ゴシック" panose="020B0400000000000000" pitchFamily="50" charset="-128"/>
                        </a:rPr>
                        <a:t>内部進捗会議</a:t>
                      </a:r>
                      <a:endParaRPr kumimoji="1" lang="en-US" altLang="ja-JP" sz="1400" b="0" dirty="0">
                        <a:latin typeface="游ゴシック" panose="020B0400000000000000" pitchFamily="50" charset="-128"/>
                        <a:ea typeface="游ゴシック" panose="020B0400000000000000" pitchFamily="50" charset="-128"/>
                      </a:endParaRP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週次</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プロジェクトでの進捗状況</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作業予定の確認、課題およびリスクの把握</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対応、連絡事項の周知</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〇</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43259142"/>
                  </a:ext>
                </a:extLst>
              </a:tr>
              <a:tr h="478303">
                <a:tc>
                  <a:txBody>
                    <a:bodyPr/>
                    <a:lstStyle/>
                    <a:p>
                      <a:r>
                        <a:rPr kumimoji="1" lang="ja-JP" altLang="en-US" sz="1400" b="0" dirty="0">
                          <a:latin typeface="游ゴシック" panose="020B0400000000000000" pitchFamily="50" charset="-128"/>
                          <a:ea typeface="游ゴシック" panose="020B0400000000000000" pitchFamily="50" charset="-128"/>
                        </a:rPr>
                        <a:t>内部課題検討会</a:t>
                      </a: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適時</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要件</a:t>
                      </a:r>
                      <a:r>
                        <a:rPr kumimoji="1" lang="en-US" altLang="ja-JP" sz="1400" dirty="0">
                          <a:latin typeface="游ゴシック" panose="020B0400000000000000" pitchFamily="50" charset="-128"/>
                          <a:ea typeface="游ゴシック" panose="020B0400000000000000" pitchFamily="50" charset="-128"/>
                        </a:rPr>
                        <a:t>/</a:t>
                      </a:r>
                      <a:r>
                        <a:rPr kumimoji="1" lang="ja-JP" altLang="en-US" sz="1400" dirty="0">
                          <a:latin typeface="游ゴシック" panose="020B0400000000000000" pitchFamily="50" charset="-128"/>
                          <a:ea typeface="游ゴシック" panose="020B0400000000000000" pitchFamily="50" charset="-128"/>
                        </a:rPr>
                        <a:t>設計内容の確認、各種課題の解決、各チーム内での作成資料レビュー</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〇</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6751893"/>
                  </a:ext>
                </a:extLst>
              </a:tr>
              <a:tr h="478303">
                <a:tc>
                  <a:txBody>
                    <a:bodyPr/>
                    <a:lstStyle/>
                    <a:p>
                      <a:r>
                        <a:rPr kumimoji="1" lang="ja-JP" altLang="en-US" sz="1400" b="0" dirty="0">
                          <a:latin typeface="游ゴシック" panose="020B0400000000000000" pitchFamily="50" charset="-128"/>
                          <a:ea typeface="游ゴシック" panose="020B0400000000000000" pitchFamily="50" charset="-128"/>
                        </a:rPr>
                        <a:t>内部レビュー会議</a:t>
                      </a:r>
                    </a:p>
                  </a:txBody>
                  <a:tcPr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適時</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要件定義、基本設計、テスト結果等の成果物に対しての内部レビュー</a:t>
                      </a:r>
                      <a:endParaRPr kumimoji="1" lang="en-US" altLang="ja-JP" sz="1400" dirty="0">
                        <a:latin typeface="游ゴシック" panose="020B0400000000000000" pitchFamily="50" charset="-128"/>
                        <a:ea typeface="游ゴシック" panose="020B0400000000000000" pitchFamily="50" charset="-128"/>
                      </a:endParaRP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〇</a:t>
                      </a:r>
                    </a:p>
                  </a:txBody>
                  <a:tcPr marL="72000" marR="72000" marT="72000" marB="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75233655"/>
                  </a:ext>
                </a:extLst>
              </a:tr>
            </a:tbl>
          </a:graphicData>
        </a:graphic>
      </p:graphicFrame>
      <p:sp>
        <p:nvSpPr>
          <p:cNvPr id="7" name="テキスト ボックス 6"/>
          <p:cNvSpPr txBox="1"/>
          <p:nvPr/>
        </p:nvSpPr>
        <p:spPr>
          <a:xfrm>
            <a:off x="5400000" y="1548000"/>
            <a:ext cx="3600000" cy="288000"/>
          </a:xfrm>
          <a:prstGeom prst="rect">
            <a:avLst/>
          </a:prstGeom>
          <a:noFill/>
        </p:spPr>
        <p:txBody>
          <a:bodyPr wrap="square" rtlCol="0">
            <a:spAutoFit/>
          </a:bodyPr>
          <a:lstStyle/>
          <a:p>
            <a:r>
              <a:rPr lang="en-US" altLang="ja-JP" sz="1200" dirty="0">
                <a:latin typeface="游ゴシック" panose="020B0400000000000000" pitchFamily="50" charset="-128"/>
                <a:ea typeface="游ゴシック" panose="020B0400000000000000" pitchFamily="50" charset="-128"/>
                <a:cs typeface="メイリオ" pitchFamily="50" charset="-128"/>
              </a:rPr>
              <a:t>※</a:t>
            </a:r>
            <a:r>
              <a:rPr lang="ja-JP" altLang="en-US" sz="1200" dirty="0">
                <a:latin typeface="游ゴシック" panose="020B0400000000000000" pitchFamily="50" charset="-128"/>
                <a:ea typeface="游ゴシック" panose="020B0400000000000000" pitchFamily="50" charset="-128"/>
                <a:cs typeface="メイリオ" pitchFamily="50" charset="-128"/>
              </a:rPr>
              <a:t> 〇：参加　△：必要に応じて参加　</a:t>
            </a:r>
            <a:r>
              <a:rPr lang="en-US" altLang="ja-JP" sz="1200" dirty="0">
                <a:latin typeface="游ゴシック" panose="020B0400000000000000" pitchFamily="50" charset="-128"/>
                <a:ea typeface="游ゴシック" panose="020B0400000000000000" pitchFamily="50" charset="-128"/>
                <a:cs typeface="メイリオ" pitchFamily="50" charset="-128"/>
              </a:rPr>
              <a:t>-</a:t>
            </a:r>
            <a:r>
              <a:rPr lang="ja-JP" altLang="en-US" sz="1200" dirty="0">
                <a:latin typeface="游ゴシック" panose="020B0400000000000000" pitchFamily="50" charset="-128"/>
                <a:ea typeface="游ゴシック" panose="020B0400000000000000" pitchFamily="50" charset="-128"/>
                <a:cs typeface="メイリオ" pitchFamily="50" charset="-128"/>
              </a:rPr>
              <a:t>：不参加</a:t>
            </a:r>
            <a:endParaRPr lang="en-US" altLang="ja-JP" sz="1200" dirty="0">
              <a:latin typeface="游ゴシック" panose="020B0400000000000000" pitchFamily="50" charset="-128"/>
              <a:ea typeface="游ゴシック" panose="020B0400000000000000" pitchFamily="50" charset="-128"/>
              <a:cs typeface="メイリオ" pitchFamily="50" charset="-128"/>
            </a:endParaRPr>
          </a:p>
        </p:txBody>
      </p:sp>
      <p:sp>
        <p:nvSpPr>
          <p:cNvPr id="11" name="テキスト ボックス 10"/>
          <p:cNvSpPr txBox="1">
            <a:spLocks/>
          </p:cNvSpPr>
          <p:nvPr/>
        </p:nvSpPr>
        <p:spPr>
          <a:xfrm>
            <a:off x="144000" y="864000"/>
            <a:ext cx="8856000" cy="540000"/>
          </a:xfrm>
          <a:prstGeom prst="rect">
            <a:avLst/>
          </a:prstGeom>
          <a:noFill/>
        </p:spPr>
        <p:txBody>
          <a:bodyPr wrap="square" rtlCol="0">
            <a:noAutofit/>
          </a:bodyPr>
          <a:lstStyle/>
          <a:p>
            <a:pPr algn="ctr"/>
            <a:r>
              <a:rPr lang="ja-JP" altLang="en-US" sz="1400" dirty="0">
                <a:latin typeface="游ゴシック" panose="020B0400000000000000" pitchFamily="50" charset="-128"/>
                <a:ea typeface="游ゴシック" panose="020B0400000000000000" pitchFamily="50" charset="-128"/>
              </a:rPr>
              <a:t>会議体につきましては、以下の会議を開催し、進捗管理・各種調整作業・課題解決等を実施します。</a:t>
            </a:r>
            <a:endParaRPr lang="en-US" altLang="ja-JP" sz="1400" dirty="0">
              <a:latin typeface="游ゴシック" panose="020B0400000000000000" pitchFamily="50" charset="-128"/>
              <a:ea typeface="游ゴシック" panose="020B0400000000000000" pitchFamily="50" charset="-128"/>
            </a:endParaRPr>
          </a:p>
          <a:p>
            <a:pPr algn="ctr"/>
            <a:r>
              <a:rPr lang="ja-JP" altLang="en-US" sz="1400" dirty="0">
                <a:latin typeface="游ゴシック" panose="020B0400000000000000" pitchFamily="50" charset="-128"/>
                <a:ea typeface="游ゴシック" panose="020B0400000000000000" pitchFamily="50" charset="-128"/>
              </a:rPr>
              <a:t>貴社との会議体は対面での会議を想定しておりますが状況に応じて</a:t>
            </a:r>
            <a:r>
              <a:rPr lang="en-US" altLang="ja-JP" sz="1400" dirty="0">
                <a:latin typeface="游ゴシック" panose="020B0400000000000000" pitchFamily="50" charset="-128"/>
                <a:ea typeface="游ゴシック" panose="020B0400000000000000" pitchFamily="50" charset="-128"/>
              </a:rPr>
              <a:t>WEB</a:t>
            </a:r>
            <a:r>
              <a:rPr lang="ja-JP" altLang="en-US" sz="1400" dirty="0">
                <a:latin typeface="游ゴシック" panose="020B0400000000000000" pitchFamily="50" charset="-128"/>
                <a:ea typeface="游ゴシック" panose="020B0400000000000000" pitchFamily="50" charset="-128"/>
              </a:rPr>
              <a:t>会議での開催も検討します。</a:t>
            </a:r>
            <a:endParaRPr kumimoji="1" lang="en-US" altLang="ja-JP" sz="1400" dirty="0">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3843453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a:t>Appendix</a:t>
            </a:r>
            <a:endParaRPr kumimoji="1" lang="ja-JP" altLang="en-US" dirty="0"/>
          </a:p>
        </p:txBody>
      </p:sp>
      <p:sp>
        <p:nvSpPr>
          <p:cNvPr id="3" name="フッター プレースホルダー 2"/>
          <p:cNvSpPr>
            <a:spLocks noGrp="1"/>
          </p:cNvSpPr>
          <p:nvPr>
            <p:ph type="ftr" sz="quarter" idx="11"/>
          </p:nvPr>
        </p:nvSpPr>
        <p:spPr/>
        <p:txBody>
          <a:bodyPr/>
          <a:lstStyle/>
          <a:p>
            <a:r>
              <a:rPr lang="en-US" altLang="ja-JP"/>
              <a:t>Copyright© 2020 SystemEXE,Inc. all rights reserved.</a:t>
            </a:r>
            <a:endParaRPr lang="ja-JP" altLang="en-US" dirty="0"/>
          </a:p>
        </p:txBody>
      </p:sp>
      <p:sp>
        <p:nvSpPr>
          <p:cNvPr id="4" name="スライド番号プレースホルダー 3"/>
          <p:cNvSpPr>
            <a:spLocks noGrp="1"/>
          </p:cNvSpPr>
          <p:nvPr>
            <p:ph type="sldNum" sz="quarter" idx="13"/>
          </p:nvPr>
        </p:nvSpPr>
        <p:spPr/>
        <p:txBody>
          <a:bodyPr/>
          <a:lstStyle/>
          <a:p>
            <a:fld id="{74395F4E-A786-454B-9285-EF3DEA272B37}" type="slidenum">
              <a:rPr lang="ja-JP" altLang="en-US" smtClean="0"/>
              <a:pPr/>
              <a:t>66</a:t>
            </a:fld>
            <a:endParaRPr lang="ja-JP" altLang="en-US"/>
          </a:p>
        </p:txBody>
      </p:sp>
    </p:spTree>
    <p:extLst>
      <p:ext uri="{BB962C8B-B14F-4D97-AF65-F5344CB8AC3E}">
        <p14:creationId xmlns:p14="http://schemas.microsoft.com/office/powerpoint/2010/main" val="21581474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弊社情報 </a:t>
            </a:r>
            <a:r>
              <a:rPr kumimoji="1" lang="en-US" altLang="ja-JP" dirty="0"/>
              <a:t>- 1</a:t>
            </a:r>
            <a:endParaRPr kumimoji="1" lang="ja-JP" altLang="en-US" dirty="0"/>
          </a:p>
        </p:txBody>
      </p:sp>
      <p:graphicFrame>
        <p:nvGraphicFramePr>
          <p:cNvPr id="6" name="コンテンツ プレースホルダー 5"/>
          <p:cNvGraphicFramePr>
            <a:graphicFrameLocks noGrp="1"/>
          </p:cNvGraphicFramePr>
          <p:nvPr>
            <p:ph idx="1"/>
            <p:extLst>
              <p:ext uri="{D42A27DB-BD31-4B8C-83A1-F6EECF244321}">
                <p14:modId xmlns:p14="http://schemas.microsoft.com/office/powerpoint/2010/main" val="2784427319"/>
              </p:ext>
            </p:extLst>
          </p:nvPr>
        </p:nvGraphicFramePr>
        <p:xfrm>
          <a:off x="144463" y="1224000"/>
          <a:ext cx="8855849" cy="1828800"/>
        </p:xfrm>
        <a:graphic>
          <a:graphicData uri="http://schemas.openxmlformats.org/drawingml/2006/table">
            <a:tbl>
              <a:tblPr>
                <a:tableStyleId>{2D5ABB26-0587-4C30-8999-92F81FD0307C}</a:tableStyleId>
              </a:tblPr>
              <a:tblGrid>
                <a:gridCol w="2221890">
                  <a:extLst>
                    <a:ext uri="{9D8B030D-6E8A-4147-A177-3AD203B41FA5}">
                      <a16:colId xmlns:a16="http://schemas.microsoft.com/office/drawing/2014/main" val="3407761811"/>
                    </a:ext>
                  </a:extLst>
                </a:gridCol>
                <a:gridCol w="2243354">
                  <a:extLst>
                    <a:ext uri="{9D8B030D-6E8A-4147-A177-3AD203B41FA5}">
                      <a16:colId xmlns:a16="http://schemas.microsoft.com/office/drawing/2014/main" val="3000738167"/>
                    </a:ext>
                  </a:extLst>
                </a:gridCol>
                <a:gridCol w="2196446">
                  <a:extLst>
                    <a:ext uri="{9D8B030D-6E8A-4147-A177-3AD203B41FA5}">
                      <a16:colId xmlns:a16="http://schemas.microsoft.com/office/drawing/2014/main" val="3003974926"/>
                    </a:ext>
                  </a:extLst>
                </a:gridCol>
                <a:gridCol w="2194159">
                  <a:extLst>
                    <a:ext uri="{9D8B030D-6E8A-4147-A177-3AD203B41FA5}">
                      <a16:colId xmlns:a16="http://schemas.microsoft.com/office/drawing/2014/main" val="2437852157"/>
                    </a:ext>
                  </a:extLst>
                </a:gridCol>
              </a:tblGrid>
              <a:tr h="140078">
                <a:tc>
                  <a:txBody>
                    <a:bodyPr/>
                    <a:lstStyle/>
                    <a:p>
                      <a:r>
                        <a:rPr kumimoji="1" lang="ja-JP" altLang="en-US" sz="1400" dirty="0">
                          <a:latin typeface="游ゴシック" panose="020B0400000000000000" pitchFamily="50" charset="-128"/>
                          <a:ea typeface="游ゴシック" panose="020B0400000000000000" pitchFamily="50" charset="-128"/>
                        </a:rPr>
                        <a:t>会社名</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r>
                        <a:rPr kumimoji="1" lang="ja-JP" altLang="en-US" sz="1400" dirty="0">
                          <a:latin typeface="游ゴシック" panose="020B0400000000000000" pitchFamily="50" charset="-128"/>
                          <a:ea typeface="游ゴシック" panose="020B0400000000000000" pitchFamily="50" charset="-128"/>
                        </a:rPr>
                        <a:t>株式会社システムエグゼ</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1065407"/>
                  </a:ext>
                </a:extLst>
              </a:tr>
              <a:tr h="140078">
                <a:tc>
                  <a:txBody>
                    <a:bodyPr/>
                    <a:lstStyle/>
                    <a:p>
                      <a:r>
                        <a:rPr kumimoji="1" lang="ja-JP" altLang="en-US" sz="1400" dirty="0">
                          <a:latin typeface="游ゴシック" panose="020B0400000000000000" pitchFamily="50" charset="-128"/>
                          <a:ea typeface="游ゴシック" panose="020B0400000000000000" pitchFamily="50" charset="-128"/>
                        </a:rPr>
                        <a:t>本社住所</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a:t>
                      </a:r>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104-0028</a:t>
                      </a: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　東京都中央区八重洲</a:t>
                      </a:r>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2-7-2</a:t>
                      </a: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 八重洲三井ビルディング </a:t>
                      </a:r>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5</a:t>
                      </a: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階</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280755089"/>
                  </a:ext>
                </a:extLst>
              </a:tr>
              <a:tr h="140078">
                <a:tc>
                  <a:txBody>
                    <a:bodyPr/>
                    <a:lstStyle/>
                    <a:p>
                      <a:r>
                        <a:rPr kumimoji="1" lang="ja-JP" altLang="en-US" sz="1400" dirty="0">
                          <a:latin typeface="游ゴシック" panose="020B0400000000000000" pitchFamily="50" charset="-128"/>
                          <a:ea typeface="游ゴシック" panose="020B0400000000000000" pitchFamily="50" charset="-128"/>
                        </a:rPr>
                        <a:t>電話番号</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03-5299-5351</a:t>
                      </a: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 （代表）</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755144384"/>
                  </a:ext>
                </a:extLst>
              </a:tr>
              <a:tr h="140078">
                <a:tc>
                  <a:txBody>
                    <a:bodyPr/>
                    <a:lstStyle/>
                    <a:p>
                      <a:r>
                        <a:rPr kumimoji="1" lang="ja-JP" altLang="en-US" sz="1400" dirty="0">
                          <a:latin typeface="游ゴシック" panose="020B0400000000000000" pitchFamily="50" charset="-128"/>
                          <a:ea typeface="游ゴシック" panose="020B0400000000000000" pitchFamily="50" charset="-128"/>
                        </a:rPr>
                        <a:t>ホームページアドレス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400" dirty="0">
                          <a:solidFill>
                            <a:prstClr val="black"/>
                          </a:solidFill>
                          <a:latin typeface="游ゴシック" panose="020B0400000000000000" pitchFamily="50" charset="-128"/>
                          <a:ea typeface="游ゴシック" panose="020B0400000000000000" pitchFamily="50" charset="-128"/>
                          <a:cs typeface="Meiryo UI" panose="020B0604030504040204" pitchFamily="50" charset="-128"/>
                        </a:rPr>
                        <a:t>http://www.system-exe.co.jp/</a:t>
                      </a:r>
                      <a:endParaRPr kumimoji="1" lang="en-US" altLang="ja-JP" sz="1400" dirty="0">
                        <a:solidFill>
                          <a:schemeClr val="tx1"/>
                        </a:solidFill>
                        <a:latin typeface="游ゴシック" panose="020B0400000000000000" pitchFamily="50" charset="-128"/>
                        <a:ea typeface="游ゴシック" panose="020B0400000000000000" pitchFamily="50" charset="-128"/>
                        <a:cs typeface="+mn-cs"/>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72778614"/>
                  </a:ext>
                </a:extLst>
              </a:tr>
              <a:tr h="140078">
                <a:tc>
                  <a:txBody>
                    <a:bodyPr/>
                    <a:lstStyle/>
                    <a:p>
                      <a:r>
                        <a:rPr kumimoji="1" lang="ja-JP" altLang="en-US" sz="1400" dirty="0">
                          <a:latin typeface="游ゴシック" panose="020B0400000000000000" pitchFamily="50" charset="-128"/>
                          <a:ea typeface="游ゴシック" panose="020B0400000000000000" pitchFamily="50" charset="-128"/>
                        </a:rPr>
                        <a:t>設立</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dirty="0">
                          <a:latin typeface="游ゴシック" panose="020B0400000000000000" pitchFamily="50" charset="-128"/>
                          <a:ea typeface="游ゴシック" panose="020B0400000000000000" pitchFamily="50" charset="-128"/>
                        </a:rPr>
                        <a:t>1998</a:t>
                      </a:r>
                      <a:r>
                        <a:rPr kumimoji="1" lang="ja-JP" altLang="en-US" sz="1400" dirty="0">
                          <a:latin typeface="游ゴシック" panose="020B0400000000000000" pitchFamily="50" charset="-128"/>
                          <a:ea typeface="游ゴシック" panose="020B0400000000000000" pitchFamily="50" charset="-128"/>
                        </a:rPr>
                        <a:t>年</a:t>
                      </a:r>
                      <a:r>
                        <a:rPr kumimoji="1" lang="en-US" altLang="ja-JP" sz="1400" dirty="0">
                          <a:latin typeface="游ゴシック" panose="020B0400000000000000" pitchFamily="50" charset="-128"/>
                          <a:ea typeface="游ゴシック" panose="020B0400000000000000" pitchFamily="50" charset="-128"/>
                        </a:rPr>
                        <a:t>2</a:t>
                      </a:r>
                      <a:r>
                        <a:rPr kumimoji="1" lang="ja-JP" altLang="en-US" sz="1400" dirty="0">
                          <a:latin typeface="游ゴシック" panose="020B0400000000000000" pitchFamily="50" charset="-128"/>
                          <a:ea typeface="游ゴシック" panose="020B0400000000000000" pitchFamily="50" charset="-128"/>
                        </a:rPr>
                        <a:t>月</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ja-JP" altLang="en-US" sz="1400" dirty="0">
                          <a:latin typeface="游ゴシック" panose="020B0400000000000000" pitchFamily="50" charset="-128"/>
                          <a:ea typeface="游ゴシック" panose="020B0400000000000000" pitchFamily="50" charset="-128"/>
                        </a:rPr>
                        <a:t>資本金</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4</a:t>
                      </a:r>
                      <a:r>
                        <a:rPr kumimoji="1" lang="ja-JP" altLang="en-US" sz="1400" dirty="0">
                          <a:latin typeface="游ゴシック" panose="020B0400000000000000" pitchFamily="50" charset="-128"/>
                          <a:ea typeface="游ゴシック" panose="020B0400000000000000" pitchFamily="50" charset="-128"/>
                        </a:rPr>
                        <a:t>億</a:t>
                      </a:r>
                      <a:r>
                        <a:rPr kumimoji="1" lang="en-US" altLang="ja-JP" sz="1400" dirty="0">
                          <a:latin typeface="游ゴシック" panose="020B0400000000000000" pitchFamily="50" charset="-128"/>
                          <a:ea typeface="游ゴシック" panose="020B0400000000000000" pitchFamily="50" charset="-128"/>
                        </a:rPr>
                        <a:t>7</a:t>
                      </a:r>
                      <a:r>
                        <a:rPr kumimoji="1" lang="ja-JP" altLang="en-US" sz="1400" dirty="0">
                          <a:latin typeface="游ゴシック" panose="020B0400000000000000" pitchFamily="50" charset="-128"/>
                          <a:ea typeface="游ゴシック" panose="020B0400000000000000" pitchFamily="50" charset="-128"/>
                        </a:rPr>
                        <a:t>千</a:t>
                      </a:r>
                      <a:r>
                        <a:rPr kumimoji="1" lang="en-US" altLang="ja-JP" sz="1400" dirty="0">
                          <a:latin typeface="游ゴシック" panose="020B0400000000000000" pitchFamily="50" charset="-128"/>
                          <a:ea typeface="游ゴシック" panose="020B0400000000000000" pitchFamily="50" charset="-128"/>
                        </a:rPr>
                        <a:t>5</a:t>
                      </a:r>
                      <a:r>
                        <a:rPr kumimoji="1" lang="ja-JP" altLang="en-US" sz="1400" dirty="0">
                          <a:latin typeface="游ゴシック" panose="020B0400000000000000" pitchFamily="50" charset="-128"/>
                          <a:ea typeface="游ゴシック" panose="020B0400000000000000" pitchFamily="50" charset="-128"/>
                        </a:rPr>
                        <a:t>百万円</a:t>
                      </a:r>
                      <a:endParaRPr kumimoji="1" lang="en-US" altLang="ja-JP"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326114341"/>
                  </a:ext>
                </a:extLst>
              </a:tr>
              <a:tr h="140078">
                <a:tc>
                  <a:txBody>
                    <a:bodyPr/>
                    <a:lstStyle/>
                    <a:p>
                      <a:r>
                        <a:rPr kumimoji="1" lang="ja-JP" altLang="en-US" sz="1400" dirty="0">
                          <a:latin typeface="游ゴシック" panose="020B0400000000000000" pitchFamily="50" charset="-128"/>
                          <a:ea typeface="游ゴシック" panose="020B0400000000000000" pitchFamily="50" charset="-128"/>
                        </a:rPr>
                        <a:t>代表者</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dirty="0">
                          <a:latin typeface="游ゴシック" panose="020B0400000000000000" pitchFamily="50" charset="-128"/>
                          <a:ea typeface="游ゴシック" panose="020B0400000000000000" pitchFamily="50" charset="-128"/>
                        </a:rPr>
                        <a:t>大場康次</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r>
                        <a:rPr kumimoji="1" lang="ja-JP" altLang="en-US" sz="1400" dirty="0">
                          <a:latin typeface="游ゴシック" panose="020B0400000000000000" pitchFamily="50" charset="-128"/>
                          <a:ea typeface="游ゴシック" panose="020B0400000000000000" pitchFamily="50" charset="-128"/>
                        </a:rPr>
                        <a:t>従業員数</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dirty="0">
                          <a:latin typeface="游ゴシック" panose="020B0400000000000000" pitchFamily="50" charset="-128"/>
                          <a:ea typeface="游ゴシック" panose="020B0400000000000000" pitchFamily="50" charset="-128"/>
                        </a:rPr>
                        <a:t>633</a:t>
                      </a:r>
                      <a:r>
                        <a:rPr kumimoji="1" lang="ja-JP" altLang="en-US" sz="1400" dirty="0">
                          <a:latin typeface="游ゴシック" panose="020B0400000000000000" pitchFamily="50" charset="-128"/>
                          <a:ea typeface="游ゴシック" panose="020B0400000000000000" pitchFamily="50" charset="-128"/>
                        </a:rPr>
                        <a:t>名 </a:t>
                      </a:r>
                      <a:r>
                        <a:rPr kumimoji="1" lang="en-US" altLang="ja-JP" sz="1200" dirty="0">
                          <a:latin typeface="游ゴシック" panose="020B0400000000000000" pitchFamily="50" charset="-128"/>
                          <a:ea typeface="游ゴシック" panose="020B0400000000000000" pitchFamily="50" charset="-128"/>
                        </a:rPr>
                        <a:t>※ 2020</a:t>
                      </a:r>
                      <a:r>
                        <a:rPr kumimoji="1" lang="ja-JP" altLang="en-US" sz="1200" dirty="0">
                          <a:latin typeface="游ゴシック" panose="020B0400000000000000" pitchFamily="50" charset="-128"/>
                          <a:ea typeface="游ゴシック" panose="020B0400000000000000" pitchFamily="50" charset="-128"/>
                        </a:rPr>
                        <a:t>年</a:t>
                      </a:r>
                      <a:r>
                        <a:rPr kumimoji="1" lang="en-US" altLang="ja-JP" sz="1200" dirty="0">
                          <a:latin typeface="游ゴシック" panose="020B0400000000000000" pitchFamily="50" charset="-128"/>
                          <a:ea typeface="游ゴシック" panose="020B0400000000000000" pitchFamily="50" charset="-128"/>
                        </a:rPr>
                        <a:t>4</a:t>
                      </a:r>
                      <a:r>
                        <a:rPr kumimoji="1" lang="ja-JP" altLang="en-US" sz="1200" dirty="0">
                          <a:latin typeface="游ゴシック" panose="020B0400000000000000" pitchFamily="50" charset="-128"/>
                          <a:ea typeface="游ゴシック" panose="020B0400000000000000" pitchFamily="50" charset="-128"/>
                        </a:rPr>
                        <a:t>月現在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75565086"/>
                  </a:ext>
                </a:extLst>
              </a:tr>
            </a:tbl>
          </a:graphicData>
        </a:graphic>
      </p:graphicFrame>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67</a:t>
            </a:fld>
            <a:endParaRPr kumimoji="1" lang="ja-JP" altLang="en-US"/>
          </a:p>
        </p:txBody>
      </p:sp>
      <p:sp>
        <p:nvSpPr>
          <p:cNvPr id="7" name="正方形/長方形 6"/>
          <p:cNvSpPr/>
          <p:nvPr/>
        </p:nvSpPr>
        <p:spPr>
          <a:xfrm>
            <a:off x="144000" y="864000"/>
            <a:ext cx="8856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会社概要</a:t>
            </a:r>
          </a:p>
        </p:txBody>
      </p:sp>
      <p:graphicFrame>
        <p:nvGraphicFramePr>
          <p:cNvPr id="11" name="コンテンツ プレースホルダー 5"/>
          <p:cNvGraphicFramePr>
            <a:graphicFrameLocks/>
          </p:cNvGraphicFramePr>
          <p:nvPr>
            <p:extLst>
              <p:ext uri="{D42A27DB-BD31-4B8C-83A1-F6EECF244321}">
                <p14:modId xmlns:p14="http://schemas.microsoft.com/office/powerpoint/2010/main" val="2913453892"/>
              </p:ext>
            </p:extLst>
          </p:nvPr>
        </p:nvGraphicFramePr>
        <p:xfrm>
          <a:off x="144151" y="3527997"/>
          <a:ext cx="8855852" cy="2863378"/>
        </p:xfrm>
        <a:graphic>
          <a:graphicData uri="http://schemas.openxmlformats.org/drawingml/2006/table">
            <a:tbl>
              <a:tblPr>
                <a:tableStyleId>{2D5ABB26-0587-4C30-8999-92F81FD0307C}</a:tableStyleId>
              </a:tblPr>
              <a:tblGrid>
                <a:gridCol w="4427926">
                  <a:extLst>
                    <a:ext uri="{9D8B030D-6E8A-4147-A177-3AD203B41FA5}">
                      <a16:colId xmlns:a16="http://schemas.microsoft.com/office/drawing/2014/main" val="3407761811"/>
                    </a:ext>
                  </a:extLst>
                </a:gridCol>
                <a:gridCol w="4427926">
                  <a:extLst>
                    <a:ext uri="{9D8B030D-6E8A-4147-A177-3AD203B41FA5}">
                      <a16:colId xmlns:a16="http://schemas.microsoft.com/office/drawing/2014/main" val="1793112206"/>
                    </a:ext>
                  </a:extLst>
                </a:gridCol>
              </a:tblGrid>
              <a:tr h="418246">
                <a:tc>
                  <a:txBody>
                    <a:bodyPr/>
                    <a:lstStyle/>
                    <a:p>
                      <a:pPr marL="0" indent="0" latinLnBrk="1">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京橋オフィス</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104-0032</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東京都中央区八丁堀</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4-3-3</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Daiwa</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京橋ビル</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8</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府中オフィス</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183-0056</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東京都府中市寿町</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1-1-3</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三ツ木寿町ビル</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6</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91065407"/>
                  </a:ext>
                </a:extLst>
              </a:tr>
              <a:tr h="611283">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千葉オフィス</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260-0045</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千葉県千葉市中央区弁天</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1-5-1</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オーパスビルディング</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9</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横浜オフィス</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221-0056</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神奈川県横浜市神奈川区金港町</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6-6</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横浜みなと第一生命ビル</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3</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12658605"/>
                  </a:ext>
                </a:extLst>
              </a:tr>
              <a:tr h="611283">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長野オフィス</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390-0811</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長野県松本市中央</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2-1-27</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松本本町第一生命ビルディング</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7</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名古屋オフィス</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460-0003</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愛知県名古屋市中区錦</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2-20-8</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東栄ビル </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7</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65195391"/>
                  </a:ext>
                </a:extLst>
              </a:tr>
              <a:tr h="611283">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関西オフィス</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530-0005</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大阪府大阪市北区中之島</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3-3-3</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中之島三井ビルディング </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20</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 </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2006</a:t>
                      </a:r>
                      <a:r>
                        <a:rPr kumimoji="1" lang="ja-JP" altLang="en-US"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号室</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システムエグゼベトナム</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2/F, E-Town 1, 364 Cong </a:t>
                      </a:r>
                      <a:r>
                        <a:rPr kumimoji="1" lang="en-US" altLang="ja-JP" sz="1200" u="none" strike="noStrike" kern="1200" dirty="0" err="1">
                          <a:solidFill>
                            <a:schemeClr val="tx1"/>
                          </a:solidFill>
                          <a:effectLst/>
                          <a:latin typeface="游ゴシック" panose="020B0400000000000000" pitchFamily="50" charset="-128"/>
                          <a:ea typeface="游ゴシック" panose="020B0400000000000000" pitchFamily="50" charset="-128"/>
                          <a:cs typeface="+mn-cs"/>
                        </a:rPr>
                        <a:t>Hoa</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ST., Tan </a:t>
                      </a:r>
                      <a:r>
                        <a:rPr kumimoji="1" lang="en-US" altLang="ja-JP" sz="1200" u="none" strike="noStrike" kern="1200" dirty="0" err="1">
                          <a:solidFill>
                            <a:schemeClr val="tx1"/>
                          </a:solidFill>
                          <a:effectLst/>
                          <a:latin typeface="游ゴシック" panose="020B0400000000000000" pitchFamily="50" charset="-128"/>
                          <a:ea typeface="游ゴシック" panose="020B0400000000000000" pitchFamily="50" charset="-128"/>
                          <a:cs typeface="+mn-cs"/>
                        </a:rPr>
                        <a:t>Binh</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Dist., Ho Chi Minh City, VIETNAM</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06430726"/>
                  </a:ext>
                </a:extLst>
              </a:tr>
              <a:tr h="611283">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システムエグゼタイランド</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1/20 Village No 4, </a:t>
                      </a:r>
                      <a:r>
                        <a:rPr kumimoji="1" lang="en-US" altLang="ja-JP" sz="1200" u="none" strike="noStrike" kern="1200" dirty="0" err="1">
                          <a:solidFill>
                            <a:schemeClr val="tx1"/>
                          </a:solidFill>
                          <a:effectLst/>
                          <a:latin typeface="游ゴシック" panose="020B0400000000000000" pitchFamily="50" charset="-128"/>
                          <a:ea typeface="游ゴシック" panose="020B0400000000000000" pitchFamily="50" charset="-128"/>
                          <a:cs typeface="+mn-cs"/>
                        </a:rPr>
                        <a:t>Bangrakpattana</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Sub-district, </a:t>
                      </a:r>
                      <a:r>
                        <a:rPr kumimoji="1" lang="en-US" altLang="ja-JP" sz="1200" u="none" strike="noStrike" kern="1200" dirty="0" err="1">
                          <a:solidFill>
                            <a:schemeClr val="tx1"/>
                          </a:solidFill>
                          <a:effectLst/>
                          <a:latin typeface="游ゴシック" panose="020B0400000000000000" pitchFamily="50" charset="-128"/>
                          <a:ea typeface="游ゴシック" panose="020B0400000000000000" pitchFamily="50" charset="-128"/>
                          <a:cs typeface="+mn-cs"/>
                        </a:rPr>
                        <a:t>Bangbuathong</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District, </a:t>
                      </a:r>
                      <a:r>
                        <a:rPr kumimoji="1" lang="en-US" altLang="ja-JP" sz="1200" u="none" strike="noStrike" kern="1200" dirty="0" err="1">
                          <a:solidFill>
                            <a:schemeClr val="tx1"/>
                          </a:solidFill>
                          <a:effectLst/>
                          <a:latin typeface="游ゴシック" panose="020B0400000000000000" pitchFamily="50" charset="-128"/>
                          <a:ea typeface="游ゴシック" panose="020B0400000000000000" pitchFamily="50" charset="-128"/>
                          <a:cs typeface="+mn-cs"/>
                        </a:rPr>
                        <a:t>Nonthaburi</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11110 Thailand</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buFont typeface="Wingdings" panose="05000000000000000000" pitchFamily="2" charset="2"/>
                        <a:buNone/>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システムエグゼミャンマー</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Room No.209-210, Level 2, No.37, </a:t>
                      </a:r>
                      <a:r>
                        <a:rPr kumimoji="1" lang="en-US" altLang="ja-JP" sz="1200" u="none" strike="noStrike" kern="1200" dirty="0" err="1">
                          <a:solidFill>
                            <a:schemeClr val="tx1"/>
                          </a:solidFill>
                          <a:effectLst/>
                          <a:latin typeface="游ゴシック" panose="020B0400000000000000" pitchFamily="50" charset="-128"/>
                          <a:ea typeface="游ゴシック" panose="020B0400000000000000" pitchFamily="50" charset="-128"/>
                          <a:cs typeface="+mn-cs"/>
                        </a:rPr>
                        <a:t>Alanpya</a:t>
                      </a:r>
                      <a:r>
                        <a:rPr kumimoji="1" lang="en-US" altLang="ja-JP" sz="1200" u="none" strike="noStrike" kern="1200" dirty="0">
                          <a:solidFill>
                            <a:schemeClr val="tx1"/>
                          </a:solidFill>
                          <a:effectLst/>
                          <a:latin typeface="游ゴシック" panose="020B0400000000000000" pitchFamily="50" charset="-128"/>
                          <a:ea typeface="游ゴシック" panose="020B0400000000000000" pitchFamily="50" charset="-128"/>
                          <a:cs typeface="+mn-cs"/>
                        </a:rPr>
                        <a:t> Pagoda Road, Dagon Township, Yangon, Myanmar</a:t>
                      </a:r>
                      <a:endParaRPr kumimoji="1" lang="ja-JP" altLang="en-US" sz="1200" dirty="0">
                        <a:latin typeface="游ゴシック" panose="020B0400000000000000" pitchFamily="50" charset="-128"/>
                        <a:ea typeface="游ゴシック" panose="020B0400000000000000" pitchFamily="50" charset="-128"/>
                      </a:endParaRPr>
                    </a:p>
                  </a:txBody>
                  <a:tcPr marT="0" marB="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63456470"/>
                  </a:ext>
                </a:extLst>
              </a:tr>
            </a:tbl>
          </a:graphicData>
        </a:graphic>
      </p:graphicFrame>
      <p:sp>
        <p:nvSpPr>
          <p:cNvPr id="12" name="正方形/長方形 11"/>
          <p:cNvSpPr/>
          <p:nvPr/>
        </p:nvSpPr>
        <p:spPr>
          <a:xfrm>
            <a:off x="144000" y="3168000"/>
            <a:ext cx="8856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拠点</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10566395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弊社情報 </a:t>
            </a:r>
            <a:r>
              <a:rPr kumimoji="1" lang="en-US" altLang="ja-JP" dirty="0"/>
              <a:t>- 2</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68</a:t>
            </a:fld>
            <a:endParaRPr kumimoji="1" lang="ja-JP" altLang="en-US"/>
          </a:p>
        </p:txBody>
      </p:sp>
      <p:sp>
        <p:nvSpPr>
          <p:cNvPr id="6" name="正方形/長方形 5"/>
          <p:cNvSpPr/>
          <p:nvPr/>
        </p:nvSpPr>
        <p:spPr>
          <a:xfrm>
            <a:off x="144000" y="864000"/>
            <a:ext cx="5040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収益・社員数推移</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aphicFrame>
        <p:nvGraphicFramePr>
          <p:cNvPr id="7" name="グラフ 6"/>
          <p:cNvGraphicFramePr/>
          <p:nvPr>
            <p:extLst>
              <p:ext uri="{D42A27DB-BD31-4B8C-83A1-F6EECF244321}">
                <p14:modId xmlns:p14="http://schemas.microsoft.com/office/powerpoint/2010/main" val="1105268794"/>
              </p:ext>
            </p:extLst>
          </p:nvPr>
        </p:nvGraphicFramePr>
        <p:xfrm>
          <a:off x="144000" y="1223998"/>
          <a:ext cx="5040000" cy="32400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表 7"/>
          <p:cNvGraphicFramePr>
            <a:graphicFrameLocks noGrp="1"/>
          </p:cNvGraphicFramePr>
          <p:nvPr>
            <p:extLst>
              <p:ext uri="{D42A27DB-BD31-4B8C-83A1-F6EECF244321}">
                <p14:modId xmlns:p14="http://schemas.microsoft.com/office/powerpoint/2010/main" val="3506796787"/>
              </p:ext>
            </p:extLst>
          </p:nvPr>
        </p:nvGraphicFramePr>
        <p:xfrm>
          <a:off x="144000" y="4824000"/>
          <a:ext cx="5040000" cy="1432560"/>
        </p:xfrm>
        <a:graphic>
          <a:graphicData uri="http://schemas.openxmlformats.org/drawingml/2006/table">
            <a:tbl>
              <a:tblPr>
                <a:tableStyleId>{2D5ABB26-0587-4C30-8999-92F81FD0307C}</a:tableStyleId>
              </a:tblPr>
              <a:tblGrid>
                <a:gridCol w="1953814">
                  <a:extLst>
                    <a:ext uri="{9D8B030D-6E8A-4147-A177-3AD203B41FA5}">
                      <a16:colId xmlns:a16="http://schemas.microsoft.com/office/drawing/2014/main" val="20000"/>
                    </a:ext>
                  </a:extLst>
                </a:gridCol>
                <a:gridCol w="1028729">
                  <a:extLst>
                    <a:ext uri="{9D8B030D-6E8A-4147-A177-3AD203B41FA5}">
                      <a16:colId xmlns:a16="http://schemas.microsoft.com/office/drawing/2014/main" val="20001"/>
                    </a:ext>
                  </a:extLst>
                </a:gridCol>
                <a:gridCol w="1028729">
                  <a:extLst>
                    <a:ext uri="{9D8B030D-6E8A-4147-A177-3AD203B41FA5}">
                      <a16:colId xmlns:a16="http://schemas.microsoft.com/office/drawing/2014/main" val="20002"/>
                    </a:ext>
                  </a:extLst>
                </a:gridCol>
                <a:gridCol w="1028728">
                  <a:extLst>
                    <a:ext uri="{9D8B030D-6E8A-4147-A177-3AD203B41FA5}">
                      <a16:colId xmlns:a16="http://schemas.microsoft.com/office/drawing/2014/main" val="20003"/>
                    </a:ext>
                  </a:extLst>
                </a:gridCol>
              </a:tblGrid>
              <a:tr h="320807">
                <a:tc>
                  <a:txBody>
                    <a:bodyPr/>
                    <a:lstStyle/>
                    <a:p>
                      <a:endParaRPr kumimoji="1" lang="ja-JP" altLang="en-US" sz="1400" b="1" dirty="0">
                        <a:solidFill>
                          <a:schemeClr val="bg1"/>
                        </a:solidFill>
                        <a:latin typeface="游ゴシック" panose="020B0400000000000000" pitchFamily="50" charset="-128"/>
                        <a:ea typeface="游ゴシック" panose="020B0400000000000000" pitchFamily="50" charset="-128"/>
                        <a:cs typeface="Meiryo UI"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bg1"/>
                          </a:solidFill>
                          <a:latin typeface="游ゴシック" panose="020B0400000000000000" pitchFamily="50" charset="-128"/>
                          <a:ea typeface="游ゴシック" panose="020B0400000000000000" pitchFamily="50" charset="-128"/>
                        </a:rPr>
                        <a:t>2017</a:t>
                      </a:r>
                      <a:r>
                        <a:rPr kumimoji="1" lang="ja-JP" altLang="en-US" sz="1400" b="1" dirty="0">
                          <a:solidFill>
                            <a:schemeClr val="bg1"/>
                          </a:solidFill>
                          <a:latin typeface="游ゴシック" panose="020B0400000000000000" pitchFamily="50" charset="-128"/>
                          <a:ea typeface="游ゴシック" panose="020B0400000000000000" pitchFamily="50" charset="-128"/>
                        </a:rPr>
                        <a:t>年</a:t>
                      </a:r>
                      <a:br>
                        <a:rPr kumimoji="1" lang="en-US" altLang="ja-JP" sz="1400" b="1" dirty="0">
                          <a:solidFill>
                            <a:schemeClr val="bg1"/>
                          </a:solidFill>
                          <a:latin typeface="游ゴシック" panose="020B0400000000000000" pitchFamily="50" charset="-128"/>
                          <a:ea typeface="游ゴシック" panose="020B0400000000000000" pitchFamily="50" charset="-128"/>
                        </a:rPr>
                      </a:br>
                      <a:r>
                        <a:rPr kumimoji="1" lang="en-US" altLang="ja-JP" sz="1400" b="1" dirty="0">
                          <a:solidFill>
                            <a:schemeClr val="bg1"/>
                          </a:solidFill>
                          <a:latin typeface="游ゴシック" panose="020B0400000000000000" pitchFamily="50" charset="-128"/>
                          <a:ea typeface="游ゴシック" panose="020B0400000000000000" pitchFamily="50" charset="-128"/>
                        </a:rPr>
                        <a:t>(20</a:t>
                      </a:r>
                      <a:r>
                        <a:rPr kumimoji="1" lang="ja-JP" altLang="en-US" sz="1400" b="1" dirty="0">
                          <a:solidFill>
                            <a:schemeClr val="bg1"/>
                          </a:solidFill>
                          <a:latin typeface="游ゴシック" panose="020B0400000000000000" pitchFamily="50" charset="-128"/>
                          <a:ea typeface="游ゴシック" panose="020B0400000000000000" pitchFamily="50" charset="-128"/>
                        </a:rPr>
                        <a:t>期</a:t>
                      </a:r>
                      <a:r>
                        <a:rPr kumimoji="1" lang="en-US" altLang="ja-JP" sz="1400" b="1" dirty="0">
                          <a:solidFill>
                            <a:schemeClr val="bg1"/>
                          </a:solidFill>
                          <a:latin typeface="游ゴシック" panose="020B0400000000000000" pitchFamily="50" charset="-128"/>
                          <a:ea typeface="游ゴシック" panose="020B0400000000000000" pitchFamily="50" charset="-128"/>
                        </a:rPr>
                        <a:t>)</a:t>
                      </a:r>
                      <a:endParaRPr kumimoji="1" lang="ja-JP" altLang="en-US" sz="1400" b="1" dirty="0">
                        <a:solidFill>
                          <a:schemeClr val="bg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bg1"/>
                          </a:solidFill>
                          <a:latin typeface="游ゴシック" panose="020B0400000000000000" pitchFamily="50" charset="-128"/>
                          <a:ea typeface="游ゴシック" panose="020B0400000000000000" pitchFamily="50" charset="-128"/>
                        </a:rPr>
                        <a:t>2018</a:t>
                      </a:r>
                      <a:r>
                        <a:rPr kumimoji="1" lang="ja-JP" altLang="en-US" sz="1400" b="1" dirty="0">
                          <a:solidFill>
                            <a:schemeClr val="bg1"/>
                          </a:solidFill>
                          <a:latin typeface="游ゴシック" panose="020B0400000000000000" pitchFamily="50" charset="-128"/>
                          <a:ea typeface="游ゴシック" panose="020B0400000000000000" pitchFamily="50" charset="-128"/>
                        </a:rPr>
                        <a:t>年</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bg1"/>
                          </a:solidFill>
                          <a:latin typeface="游ゴシック" panose="020B0400000000000000" pitchFamily="50" charset="-128"/>
                          <a:ea typeface="游ゴシック" panose="020B0400000000000000" pitchFamily="50" charset="-128"/>
                        </a:rPr>
                        <a:t>(21</a:t>
                      </a:r>
                      <a:r>
                        <a:rPr kumimoji="1" lang="ja-JP" altLang="en-US" sz="1400" b="1" dirty="0">
                          <a:solidFill>
                            <a:schemeClr val="bg1"/>
                          </a:solidFill>
                          <a:latin typeface="游ゴシック" panose="020B0400000000000000" pitchFamily="50" charset="-128"/>
                          <a:ea typeface="游ゴシック" panose="020B0400000000000000" pitchFamily="50" charset="-128"/>
                        </a:rPr>
                        <a:t>期</a:t>
                      </a:r>
                      <a:r>
                        <a:rPr kumimoji="1" lang="en-US" altLang="ja-JP" sz="1400" b="1" dirty="0">
                          <a:solidFill>
                            <a:schemeClr val="bg1"/>
                          </a:solidFill>
                          <a:latin typeface="游ゴシック" panose="020B0400000000000000" pitchFamily="50" charset="-128"/>
                          <a:ea typeface="游ゴシック" panose="020B0400000000000000" pitchFamily="50" charset="-128"/>
                        </a:rPr>
                        <a:t>)</a:t>
                      </a:r>
                      <a:endParaRPr kumimoji="1" lang="ja-JP" altLang="en-US" sz="1400" b="1" dirty="0">
                        <a:solidFill>
                          <a:schemeClr val="bg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bg1"/>
                          </a:solidFill>
                          <a:latin typeface="游ゴシック" panose="020B0400000000000000" pitchFamily="50" charset="-128"/>
                          <a:ea typeface="游ゴシック" panose="020B0400000000000000" pitchFamily="50" charset="-128"/>
                        </a:rPr>
                        <a:t>2019</a:t>
                      </a:r>
                      <a:r>
                        <a:rPr kumimoji="1" lang="ja-JP" altLang="en-US" sz="1400" b="1" dirty="0">
                          <a:solidFill>
                            <a:schemeClr val="bg1"/>
                          </a:solidFill>
                          <a:latin typeface="游ゴシック" panose="020B0400000000000000" pitchFamily="50" charset="-128"/>
                          <a:ea typeface="游ゴシック" panose="020B0400000000000000" pitchFamily="50" charset="-128"/>
                        </a:rPr>
                        <a:t>年</a:t>
                      </a:r>
                      <a:endParaRPr kumimoji="1" lang="en-US" altLang="ja-JP" sz="1400" b="1" dirty="0">
                        <a:solidFill>
                          <a:schemeClr val="bg1"/>
                        </a:solidFill>
                        <a:latin typeface="游ゴシック" panose="020B0400000000000000" pitchFamily="50" charset="-128"/>
                        <a:ea typeface="游ゴシック" panose="020B0400000000000000"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en-US" altLang="ja-JP" sz="1400" b="1" dirty="0">
                          <a:solidFill>
                            <a:schemeClr val="bg1"/>
                          </a:solidFill>
                          <a:latin typeface="游ゴシック" panose="020B0400000000000000" pitchFamily="50" charset="-128"/>
                          <a:ea typeface="游ゴシック" panose="020B0400000000000000" pitchFamily="50" charset="-128"/>
                        </a:rPr>
                        <a:t>(22</a:t>
                      </a:r>
                      <a:r>
                        <a:rPr kumimoji="1" lang="ja-JP" altLang="en-US" sz="1400" b="1" dirty="0">
                          <a:solidFill>
                            <a:schemeClr val="bg1"/>
                          </a:solidFill>
                          <a:latin typeface="游ゴシック" panose="020B0400000000000000" pitchFamily="50" charset="-128"/>
                          <a:ea typeface="游ゴシック" panose="020B0400000000000000" pitchFamily="50" charset="-128"/>
                        </a:rPr>
                        <a:t>期</a:t>
                      </a:r>
                      <a:r>
                        <a:rPr kumimoji="1" lang="en-US" altLang="ja-JP" sz="1400" b="1" dirty="0">
                          <a:solidFill>
                            <a:schemeClr val="bg1"/>
                          </a:solidFill>
                          <a:latin typeface="游ゴシック" panose="020B0400000000000000" pitchFamily="50" charset="-128"/>
                          <a:ea typeface="游ゴシック" panose="020B0400000000000000" pitchFamily="50" charset="-128"/>
                        </a:rPr>
                        <a:t>)</a:t>
                      </a:r>
                      <a:endParaRPr kumimoji="1" lang="ja-JP" altLang="en-US" sz="1400" b="1" dirty="0">
                        <a:solidFill>
                          <a:schemeClr val="bg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188710">
                <a:tc>
                  <a:txBody>
                    <a:bodyPr/>
                    <a:lstStyle/>
                    <a:p>
                      <a:r>
                        <a:rPr kumimoji="1" lang="ja-JP" altLang="en-US" sz="1400" dirty="0">
                          <a:latin typeface="游ゴシック" panose="020B0400000000000000" pitchFamily="50" charset="-128"/>
                          <a:ea typeface="游ゴシック" panose="020B0400000000000000" pitchFamily="50" charset="-128"/>
                        </a:rPr>
                        <a:t>売上高（億）</a:t>
                      </a:r>
                      <a:endParaRPr kumimoji="1" lang="en-US" altLang="ja-JP" sz="1400" dirty="0">
                        <a:latin typeface="游ゴシック" panose="020B0400000000000000" pitchFamily="50" charset="-128"/>
                        <a:ea typeface="游ゴシック" panose="020B0400000000000000" pitchFamily="50" charset="-128"/>
                        <a:cs typeface="Meiryo UI"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71.41</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77.21</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85.86</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88710">
                <a:tc>
                  <a:txBody>
                    <a:bodyPr/>
                    <a:lstStyle/>
                    <a:p>
                      <a:r>
                        <a:rPr kumimoji="1" lang="ja-JP" altLang="en-US" sz="1400" dirty="0">
                          <a:latin typeface="游ゴシック" panose="020B0400000000000000" pitchFamily="50" charset="-128"/>
                          <a:ea typeface="游ゴシック" panose="020B0400000000000000" pitchFamily="50" charset="-128"/>
                        </a:rPr>
                        <a:t>経常利益（億）</a:t>
                      </a:r>
                      <a:endParaRPr kumimoji="1" lang="ja-JP" altLang="en-US" sz="1400" dirty="0">
                        <a:latin typeface="游ゴシック" panose="020B0400000000000000" pitchFamily="50" charset="-128"/>
                        <a:ea typeface="游ゴシック" panose="020B0400000000000000" pitchFamily="50" charset="-128"/>
                        <a:cs typeface="Meiryo UI"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4.05</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5.07</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4.59</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88710">
                <a:tc>
                  <a:txBody>
                    <a:bodyPr/>
                    <a:lstStyle/>
                    <a:p>
                      <a:r>
                        <a:rPr kumimoji="1" lang="ja-JP" altLang="en-US" sz="1400" dirty="0">
                          <a:latin typeface="游ゴシック" panose="020B0400000000000000" pitchFamily="50" charset="-128"/>
                          <a:ea typeface="游ゴシック" panose="020B0400000000000000" pitchFamily="50" charset="-128"/>
                        </a:rPr>
                        <a:t>社員数（人）</a:t>
                      </a:r>
                      <a:endParaRPr kumimoji="1" lang="ja-JP" altLang="en-US" sz="1400" dirty="0">
                        <a:latin typeface="游ゴシック" panose="020B0400000000000000" pitchFamily="50" charset="-128"/>
                        <a:ea typeface="游ゴシック" panose="020B0400000000000000" pitchFamily="50" charset="-128"/>
                        <a:cs typeface="Meiryo UI"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506</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539</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a:r>
                        <a:rPr kumimoji="1" lang="en-US" altLang="ja-JP" sz="1400" dirty="0">
                          <a:latin typeface="游ゴシック" panose="020B0400000000000000" pitchFamily="50" charset="-128"/>
                          <a:ea typeface="游ゴシック" panose="020B0400000000000000" pitchFamily="50" charset="-128"/>
                        </a:rPr>
                        <a:t>591</a:t>
                      </a:r>
                      <a:endParaRPr kumimoji="1" lang="ja-JP" altLang="en-US" sz="1400" dirty="0">
                        <a:latin typeface="游ゴシック" panose="020B0400000000000000" pitchFamily="50" charset="-128"/>
                        <a:ea typeface="游ゴシック" panose="020B0400000000000000" pitchFamily="50" charset="-128"/>
                        <a:cs typeface="メイリオ" panose="020B0604030504040204"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10" name="正方形/長方形 9"/>
          <p:cNvSpPr/>
          <p:nvPr/>
        </p:nvSpPr>
        <p:spPr>
          <a:xfrm>
            <a:off x="144000" y="4464000"/>
            <a:ext cx="4356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過去３年間の収支</a:t>
            </a:r>
            <a:endParaRPr lang="en-US" altLang="ja-JP"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aphicFrame>
        <p:nvGraphicFramePr>
          <p:cNvPr id="11" name="表 10"/>
          <p:cNvGraphicFramePr>
            <a:graphicFrameLocks noGrp="1"/>
          </p:cNvGraphicFramePr>
          <p:nvPr>
            <p:extLst>
              <p:ext uri="{D42A27DB-BD31-4B8C-83A1-F6EECF244321}">
                <p14:modId xmlns:p14="http://schemas.microsoft.com/office/powerpoint/2010/main" val="2054031009"/>
              </p:ext>
            </p:extLst>
          </p:nvPr>
        </p:nvGraphicFramePr>
        <p:xfrm>
          <a:off x="5328000" y="4824000"/>
          <a:ext cx="3672000" cy="1432560"/>
        </p:xfrm>
        <a:graphic>
          <a:graphicData uri="http://schemas.openxmlformats.org/drawingml/2006/table">
            <a:tbl>
              <a:tblPr>
                <a:tableStyleId>{2D5ABB26-0587-4C30-8999-92F81FD0307C}</a:tableStyleId>
              </a:tblPr>
              <a:tblGrid>
                <a:gridCol w="3672000">
                  <a:extLst>
                    <a:ext uri="{9D8B030D-6E8A-4147-A177-3AD203B41FA5}">
                      <a16:colId xmlns:a16="http://schemas.microsoft.com/office/drawing/2014/main" val="20000"/>
                    </a:ext>
                  </a:extLst>
                </a:gridCol>
              </a:tblGrid>
              <a:tr h="553489">
                <a:tc>
                  <a:txBody>
                    <a:bodyPr/>
                    <a:lstStyle/>
                    <a:p>
                      <a:pPr marL="0" marR="0" lvl="0" indent="0" algn="l" defTabSz="914400" rtl="0" eaLnBrk="1" fontAlgn="auto" latinLnBrk="1" hangingPunct="1">
                        <a:lnSpc>
                          <a:spcPct val="100000"/>
                        </a:lnSpc>
                        <a:spcBef>
                          <a:spcPts val="0"/>
                        </a:spcBef>
                        <a:spcAft>
                          <a:spcPts val="0"/>
                        </a:spcAft>
                        <a:buClrTx/>
                        <a:buSzTx/>
                        <a:buFont typeface="Wingdings" panose="05000000000000000000" pitchFamily="2" charset="2"/>
                        <a:buNone/>
                        <a:tabLst/>
                        <a:defRPr/>
                      </a:pPr>
                      <a: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ISO/IEC 27001:2013/JIS Q 27001:2014</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lang="ja-JP" altLang="en-US" sz="1400" dirty="0">
                          <a:latin typeface="游ゴシック" panose="020B0400000000000000" pitchFamily="50" charset="-128"/>
                          <a:ea typeface="游ゴシック" panose="020B0400000000000000" pitchFamily="50" charset="-128"/>
                          <a:cs typeface="Meiryo UI" panose="020B0604030504040204" pitchFamily="50" charset="-128"/>
                        </a:rPr>
                        <a:t>登録組織：府中オフィス</a:t>
                      </a:r>
                    </a:p>
                  </a:txBody>
                  <a:tcPr marR="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08927575"/>
                  </a:ext>
                </a:extLst>
              </a:tr>
              <a:tr h="55348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ISO 9001:2015/JIS Q 9001:2015</a:t>
                      </a:r>
                      <a:br>
                        <a:rPr kumimoji="1" lang="en-US" altLang="ja-JP"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br>
                      <a:r>
                        <a:rPr kumimoji="1" lang="ja-JP" altLang="en-US" sz="1400" b="0" u="none" strike="noStrike" kern="1200" dirty="0">
                          <a:solidFill>
                            <a:schemeClr val="tx1"/>
                          </a:solidFill>
                          <a:effectLst/>
                          <a:latin typeface="游ゴシック" panose="020B0400000000000000" pitchFamily="50" charset="-128"/>
                          <a:ea typeface="游ゴシック" panose="020B0400000000000000" pitchFamily="50" charset="-128"/>
                          <a:cs typeface="+mn-cs"/>
                        </a:rPr>
                        <a:t>登録組織：千葉オフィス</a:t>
                      </a:r>
                      <a:endParaRPr lang="ja-JP" altLang="en-US" sz="1400" b="0" dirty="0">
                        <a:latin typeface="游ゴシック" panose="020B0400000000000000" pitchFamily="50" charset="-128"/>
                        <a:ea typeface="游ゴシック" panose="020B0400000000000000" pitchFamily="50" charset="-128"/>
                        <a:cs typeface="Meiryo UI" panose="020B0604030504040204" pitchFamily="50" charset="-128"/>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944508"/>
                  </a:ext>
                </a:extLst>
              </a:tr>
              <a:tr h="325582">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ja-JP" altLang="en-US" sz="1400" b="1" u="none" strike="noStrike" kern="1200" dirty="0">
                          <a:solidFill>
                            <a:schemeClr val="tx1"/>
                          </a:solidFill>
                          <a:effectLst/>
                          <a:latin typeface="游ゴシック" panose="020B0400000000000000" pitchFamily="50" charset="-128"/>
                          <a:ea typeface="游ゴシック" panose="020B0400000000000000" pitchFamily="50" charset="-128"/>
                          <a:cs typeface="+mn-cs"/>
                        </a:rPr>
                        <a:t>プライバシーマーク</a:t>
                      </a:r>
                      <a:endParaRPr lang="ja-JP" altLang="en-US" sz="1400" dirty="0">
                        <a:latin typeface="游ゴシック" panose="020B0400000000000000" pitchFamily="50" charset="-128"/>
                        <a:ea typeface="游ゴシック" panose="020B0400000000000000" pitchFamily="50" charset="-128"/>
                        <a:cs typeface="Meiryo UI" panose="020B0604030504040204" pitchFamily="50" charset="-128"/>
                      </a:endParaRP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6058962"/>
                  </a:ext>
                </a:extLst>
              </a:tr>
            </a:tbl>
          </a:graphicData>
        </a:graphic>
      </p:graphicFrame>
      <p:sp>
        <p:nvSpPr>
          <p:cNvPr id="12" name="正方形/長方形 11"/>
          <p:cNvSpPr/>
          <p:nvPr/>
        </p:nvSpPr>
        <p:spPr>
          <a:xfrm>
            <a:off x="5328000" y="864000"/>
            <a:ext cx="3672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主要ビジネスパートナー</a:t>
            </a:r>
            <a:endParaRPr lang="en-US" altLang="ja-JP"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aphicFrame>
        <p:nvGraphicFramePr>
          <p:cNvPr id="18" name="表 17"/>
          <p:cNvGraphicFramePr>
            <a:graphicFrameLocks noGrp="1"/>
          </p:cNvGraphicFramePr>
          <p:nvPr>
            <p:extLst>
              <p:ext uri="{D42A27DB-BD31-4B8C-83A1-F6EECF244321}">
                <p14:modId xmlns:p14="http://schemas.microsoft.com/office/powerpoint/2010/main" val="305833235"/>
              </p:ext>
            </p:extLst>
          </p:nvPr>
        </p:nvGraphicFramePr>
        <p:xfrm>
          <a:off x="5328000" y="1224000"/>
          <a:ext cx="3672000" cy="3175200"/>
        </p:xfrm>
        <a:graphic>
          <a:graphicData uri="http://schemas.openxmlformats.org/drawingml/2006/table">
            <a:tbl>
              <a:tblPr>
                <a:tableStyleId>{2D5ABB26-0587-4C30-8999-92F81FD0307C}</a:tableStyleId>
              </a:tblPr>
              <a:tblGrid>
                <a:gridCol w="3672000">
                  <a:extLst>
                    <a:ext uri="{9D8B030D-6E8A-4147-A177-3AD203B41FA5}">
                      <a16:colId xmlns:a16="http://schemas.microsoft.com/office/drawing/2014/main" val="20000"/>
                    </a:ext>
                  </a:extLst>
                </a:gridCol>
              </a:tblGrid>
              <a:tr h="258000">
                <a:tc>
                  <a:txBody>
                    <a:bodyPr/>
                    <a:lstStyle/>
                    <a:p>
                      <a:pPr algn="l" fontAlgn="auto">
                        <a:lnSpc>
                          <a:spcPts val="1800"/>
                        </a:lnSpc>
                        <a:spcBef>
                          <a:spcPts val="0"/>
                        </a:spcBef>
                        <a:spcAft>
                          <a:spcPts val="0"/>
                        </a:spcAft>
                        <a:defRPr/>
                      </a:pPr>
                      <a:r>
                        <a:rPr lang="ja-JP" altLang="en-US" sz="1400" dirty="0">
                          <a:latin typeface="游ゴシック" panose="020B0400000000000000" pitchFamily="50" charset="-128"/>
                          <a:ea typeface="游ゴシック" panose="020B0400000000000000" pitchFamily="50" charset="-128"/>
                        </a:rPr>
                        <a:t>株式会社アシスト</a:t>
                      </a:r>
                      <a:endParaRPr lang="ja-JP" altLang="en-US" sz="1400" dirty="0">
                        <a:latin typeface="游ゴシック" panose="020B0400000000000000" pitchFamily="50" charset="-128"/>
                        <a:ea typeface="游ゴシック" panose="020B0400000000000000" pitchFamily="50" charset="-128"/>
                        <a:cs typeface="Meiryo UI"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08927575"/>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株式会社インターネットイニシアティブ</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15541110"/>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インフォサイエンス株式会社</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18502730"/>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ヴイエムウェア株式会社</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90273954"/>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ウイングアーク１ｓｔ株式会社</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09908918"/>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en-US" altLang="ja-JP" sz="1400" dirty="0">
                          <a:latin typeface="游ゴシック" panose="020B0400000000000000" pitchFamily="50" charset="-128"/>
                          <a:ea typeface="游ゴシック" panose="020B0400000000000000" pitchFamily="50" charset="-128"/>
                        </a:rPr>
                        <a:t>NTT</a:t>
                      </a:r>
                      <a:r>
                        <a:rPr kumimoji="0" lang="ja-JP" altLang="en-US" sz="1400" dirty="0">
                          <a:latin typeface="游ゴシック" panose="020B0400000000000000" pitchFamily="50" charset="-128"/>
                          <a:ea typeface="游ゴシック" panose="020B0400000000000000" pitchFamily="50" charset="-128"/>
                        </a:rPr>
                        <a:t>コミュニケーションズ株式会社</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1090830"/>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株式会社セールスフォース・ドットコム</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1245699"/>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日本アイ・ビーエム株式会社</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22911460"/>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日本オラクル株式会社</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4941731"/>
                  </a:ext>
                </a:extLst>
              </a:tr>
              <a:tr h="258000">
                <a:tc>
                  <a:txBody>
                    <a:bodyPr/>
                    <a:lstStyle/>
                    <a:p>
                      <a:pPr algn="l" fontAlgn="auto">
                        <a:lnSpc>
                          <a:spcPts val="1800"/>
                        </a:lnSpc>
                        <a:spcBef>
                          <a:spcPts val="0"/>
                        </a:spcBef>
                        <a:spcAft>
                          <a:spcPts val="0"/>
                        </a:spcAft>
                        <a:defRPr/>
                      </a:pPr>
                      <a:r>
                        <a:rPr kumimoji="0" lang="ja-JP" altLang="en-US" sz="1400" dirty="0">
                          <a:latin typeface="游ゴシック" panose="020B0400000000000000" pitchFamily="50" charset="-128"/>
                          <a:ea typeface="游ゴシック" panose="020B0400000000000000" pitchFamily="50" charset="-128"/>
                        </a:rPr>
                        <a:t>日本マイクロソフト株式会社</a:t>
                      </a:r>
                      <a:endParaRPr lang="ja-JP" altLang="en-US" sz="1400" dirty="0">
                        <a:latin typeface="游ゴシック" panose="020B0400000000000000" pitchFamily="50" charset="-128"/>
                        <a:ea typeface="游ゴシック" panose="020B0400000000000000" pitchFamily="50" charset="-128"/>
                        <a:cs typeface="Meiryo UI"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3350513"/>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富士通株式会社およびグループ会社</a:t>
                      </a:r>
                      <a:endParaRPr kumimoji="0" lang="ja-JP" altLang="en-US"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68944508"/>
                  </a:ext>
                </a:extLst>
              </a:tr>
              <a:tr h="258000">
                <a:tc>
                  <a:txBody>
                    <a:bodyPr/>
                    <a:lstStyle/>
                    <a:p>
                      <a:pPr marL="0" marR="0" indent="0" algn="l" defTabSz="914400" rtl="0" eaLnBrk="1" fontAlgn="auto" latinLnBrk="0" hangingPunct="1">
                        <a:lnSpc>
                          <a:spcPts val="1800"/>
                        </a:lnSpc>
                        <a:spcBef>
                          <a:spcPts val="0"/>
                        </a:spcBef>
                        <a:spcAft>
                          <a:spcPts val="0"/>
                        </a:spcAft>
                        <a:buClrTx/>
                        <a:buSzTx/>
                        <a:buFontTx/>
                        <a:buNone/>
                        <a:tabLst/>
                        <a:defRPr/>
                      </a:pPr>
                      <a:r>
                        <a:rPr kumimoji="0" lang="ja-JP" altLang="en-US" sz="1400" dirty="0">
                          <a:latin typeface="游ゴシック" panose="020B0400000000000000" pitchFamily="50" charset="-128"/>
                          <a:ea typeface="游ゴシック" panose="020B0400000000000000" pitchFamily="50" charset="-128"/>
                        </a:rPr>
                        <a:t>マイクロストラテジー・ジャパン株式会社</a:t>
                      </a:r>
                      <a:endParaRPr kumimoji="0" lang="en-US" altLang="ja-JP" sz="1400" dirty="0">
                        <a:solidFill>
                          <a:schemeClr val="tx1"/>
                        </a:solidFill>
                        <a:latin typeface="游ゴシック" panose="020B0400000000000000" pitchFamily="50" charset="-128"/>
                        <a:ea typeface="游ゴシック" panose="020B0400000000000000" pitchFamily="50" charset="-128"/>
                        <a:cs typeface="メイリオ" panose="020B0604030504040204" pitchFamily="50" charset="-128"/>
                      </a:endParaRPr>
                    </a:p>
                  </a:txBody>
                  <a:tcPr marL="72000" marR="72000" marT="18000" marB="18000">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56058962"/>
                  </a:ext>
                </a:extLst>
              </a:tr>
            </a:tbl>
          </a:graphicData>
        </a:graphic>
      </p:graphicFrame>
      <p:sp>
        <p:nvSpPr>
          <p:cNvPr id="19" name="正方形/長方形 18"/>
          <p:cNvSpPr/>
          <p:nvPr/>
        </p:nvSpPr>
        <p:spPr>
          <a:xfrm>
            <a:off x="5328000" y="4464000"/>
            <a:ext cx="3672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取得認証</a:t>
            </a:r>
            <a:endParaRPr lang="en-US" altLang="ja-JP"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32627989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弊社情報 </a:t>
            </a:r>
            <a:r>
              <a:rPr lang="en-US" altLang="ja-JP" dirty="0"/>
              <a:t>- 3</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69</a:t>
            </a:fld>
            <a:endParaRPr kumimoji="1" lang="ja-JP" altLang="en-US"/>
          </a:p>
        </p:txBody>
      </p:sp>
      <p:sp>
        <p:nvSpPr>
          <p:cNvPr id="47" name="正方形/長方形 46"/>
          <p:cNvSpPr/>
          <p:nvPr/>
        </p:nvSpPr>
        <p:spPr>
          <a:xfrm>
            <a:off x="144000" y="864000"/>
            <a:ext cx="8856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組織体制図</a:t>
            </a:r>
          </a:p>
        </p:txBody>
      </p:sp>
      <p:sp>
        <p:nvSpPr>
          <p:cNvPr id="19" name="角丸四角形 18"/>
          <p:cNvSpPr/>
          <p:nvPr/>
        </p:nvSpPr>
        <p:spPr bwMode="auto">
          <a:xfrm>
            <a:off x="3456000" y="1296000"/>
            <a:ext cx="2232000" cy="360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rtlCol="0" anchor="ctr"/>
          <a:lstStyle/>
          <a:p>
            <a:pPr algn="ctr"/>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株主総会</a:t>
            </a:r>
          </a:p>
        </p:txBody>
      </p:sp>
      <p:sp>
        <p:nvSpPr>
          <p:cNvPr id="20" name="角丸四角形 19"/>
          <p:cNvSpPr/>
          <p:nvPr/>
        </p:nvSpPr>
        <p:spPr bwMode="auto">
          <a:xfrm>
            <a:off x="3456000" y="1800000"/>
            <a:ext cx="2232000" cy="360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rtlCol="0" anchor="ctr"/>
          <a:lstStyle/>
          <a:p>
            <a:pPr algn="ctr"/>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取締役会</a:t>
            </a:r>
          </a:p>
        </p:txBody>
      </p:sp>
      <p:sp>
        <p:nvSpPr>
          <p:cNvPr id="21" name="角丸四角形 20"/>
          <p:cNvSpPr/>
          <p:nvPr/>
        </p:nvSpPr>
        <p:spPr bwMode="auto">
          <a:xfrm>
            <a:off x="3456000" y="2304000"/>
            <a:ext cx="2232000" cy="360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rtlCol="0" anchor="ctr"/>
          <a:lstStyle/>
          <a:p>
            <a:pPr algn="ctr"/>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社長</a:t>
            </a:r>
          </a:p>
        </p:txBody>
      </p:sp>
      <p:cxnSp>
        <p:nvCxnSpPr>
          <p:cNvPr id="22" name="カギ線コネクタ 21">
            <a:extLst>
              <a:ext uri="{FF2B5EF4-FFF2-40B4-BE49-F238E27FC236}">
                <a16:creationId xmlns:a16="http://schemas.microsoft.com/office/drawing/2014/main" id="{91AE217A-FBCA-354B-828D-0E86F232468A}"/>
              </a:ext>
            </a:extLst>
          </p:cNvPr>
          <p:cNvCxnSpPr>
            <a:cxnSpLocks/>
            <a:stCxn id="21" idx="2"/>
            <a:endCxn id="6" idx="0"/>
          </p:cNvCxnSpPr>
          <p:nvPr/>
        </p:nvCxnSpPr>
        <p:spPr bwMode="auto">
          <a:xfrm rot="5400000">
            <a:off x="2448000" y="900000"/>
            <a:ext cx="360000" cy="3888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23" name="カギ線コネクタ 22">
            <a:extLst>
              <a:ext uri="{FF2B5EF4-FFF2-40B4-BE49-F238E27FC236}">
                <a16:creationId xmlns:a16="http://schemas.microsoft.com/office/drawing/2014/main" id="{1619E94C-F7F1-CF42-A504-96C4CAF90A38}"/>
              </a:ext>
            </a:extLst>
          </p:cNvPr>
          <p:cNvCxnSpPr>
            <a:cxnSpLocks/>
            <a:stCxn id="21" idx="2"/>
            <a:endCxn id="11" idx="0"/>
          </p:cNvCxnSpPr>
          <p:nvPr/>
        </p:nvCxnSpPr>
        <p:spPr bwMode="auto">
          <a:xfrm rot="5400000">
            <a:off x="2664000" y="1116000"/>
            <a:ext cx="360000" cy="3456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24" name="カギ線コネクタ 23">
            <a:extLst>
              <a:ext uri="{FF2B5EF4-FFF2-40B4-BE49-F238E27FC236}">
                <a16:creationId xmlns:a16="http://schemas.microsoft.com/office/drawing/2014/main" id="{2BBD3B8C-CDC3-CC4B-B50D-E0984474F9D5}"/>
              </a:ext>
            </a:extLst>
          </p:cNvPr>
          <p:cNvCxnSpPr>
            <a:cxnSpLocks/>
            <a:stCxn id="21" idx="2"/>
            <a:endCxn id="14" idx="0"/>
          </p:cNvCxnSpPr>
          <p:nvPr/>
        </p:nvCxnSpPr>
        <p:spPr bwMode="auto">
          <a:xfrm rot="5400000">
            <a:off x="2880000" y="1332000"/>
            <a:ext cx="360000" cy="3024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25" name="カギ線コネクタ 24">
            <a:extLst>
              <a:ext uri="{FF2B5EF4-FFF2-40B4-BE49-F238E27FC236}">
                <a16:creationId xmlns:a16="http://schemas.microsoft.com/office/drawing/2014/main" id="{28F78CA6-4335-4349-9071-EF85F49D0398}"/>
              </a:ext>
            </a:extLst>
          </p:cNvPr>
          <p:cNvCxnSpPr>
            <a:cxnSpLocks/>
            <a:stCxn id="21" idx="2"/>
            <a:endCxn id="7" idx="0"/>
          </p:cNvCxnSpPr>
          <p:nvPr/>
        </p:nvCxnSpPr>
        <p:spPr bwMode="auto">
          <a:xfrm rot="5400000">
            <a:off x="3096000" y="1548000"/>
            <a:ext cx="360000" cy="2592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26" name="カギ線コネクタ 25">
            <a:extLst>
              <a:ext uri="{FF2B5EF4-FFF2-40B4-BE49-F238E27FC236}">
                <a16:creationId xmlns:a16="http://schemas.microsoft.com/office/drawing/2014/main" id="{C7BB8B85-2429-6644-A003-95F2D26D8CD8}"/>
              </a:ext>
            </a:extLst>
          </p:cNvPr>
          <p:cNvCxnSpPr>
            <a:cxnSpLocks/>
            <a:stCxn id="21" idx="2"/>
            <a:endCxn id="9" idx="0"/>
          </p:cNvCxnSpPr>
          <p:nvPr/>
        </p:nvCxnSpPr>
        <p:spPr bwMode="auto">
          <a:xfrm rot="5400000">
            <a:off x="3744000" y="2196000"/>
            <a:ext cx="360000" cy="1296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27" name="カギ線コネクタ 26">
            <a:extLst>
              <a:ext uri="{FF2B5EF4-FFF2-40B4-BE49-F238E27FC236}">
                <a16:creationId xmlns:a16="http://schemas.microsoft.com/office/drawing/2014/main" id="{4CE79724-E73D-2C41-97AF-B2DCAFF24B71}"/>
              </a:ext>
            </a:extLst>
          </p:cNvPr>
          <p:cNvCxnSpPr>
            <a:cxnSpLocks/>
            <a:stCxn id="21" idx="2"/>
            <a:endCxn id="16" idx="0"/>
          </p:cNvCxnSpPr>
          <p:nvPr/>
        </p:nvCxnSpPr>
        <p:spPr bwMode="auto">
          <a:xfrm rot="5400000">
            <a:off x="4392000" y="2844000"/>
            <a:ext cx="360000" cy="127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28" name="カギ線コネクタ 27">
            <a:extLst>
              <a:ext uri="{FF2B5EF4-FFF2-40B4-BE49-F238E27FC236}">
                <a16:creationId xmlns:a16="http://schemas.microsoft.com/office/drawing/2014/main" id="{100A0997-8DBB-D34A-BC6E-5F49EFD092DC}"/>
              </a:ext>
            </a:extLst>
          </p:cNvPr>
          <p:cNvCxnSpPr>
            <a:cxnSpLocks/>
            <a:stCxn id="21" idx="2"/>
            <a:endCxn id="37" idx="0"/>
          </p:cNvCxnSpPr>
          <p:nvPr/>
        </p:nvCxnSpPr>
        <p:spPr bwMode="auto">
          <a:xfrm rot="16200000" flipH="1">
            <a:off x="5472000" y="1764000"/>
            <a:ext cx="360000" cy="2160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29" name="カギ線コネクタ 28">
            <a:extLst>
              <a:ext uri="{FF2B5EF4-FFF2-40B4-BE49-F238E27FC236}">
                <a16:creationId xmlns:a16="http://schemas.microsoft.com/office/drawing/2014/main" id="{1B51A8E7-323B-D745-8CED-C2891AA789F4}"/>
              </a:ext>
            </a:extLst>
          </p:cNvPr>
          <p:cNvCxnSpPr>
            <a:cxnSpLocks/>
            <a:stCxn id="21" idx="2"/>
            <a:endCxn id="38" idx="0"/>
          </p:cNvCxnSpPr>
          <p:nvPr/>
        </p:nvCxnSpPr>
        <p:spPr bwMode="auto">
          <a:xfrm rot="16200000" flipH="1">
            <a:off x="5688000" y="1548000"/>
            <a:ext cx="360000" cy="2592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30" name="カギ線コネクタ 29">
            <a:extLst>
              <a:ext uri="{FF2B5EF4-FFF2-40B4-BE49-F238E27FC236}">
                <a16:creationId xmlns:a16="http://schemas.microsoft.com/office/drawing/2014/main" id="{B2229A75-414B-DC4E-85A2-F6E4A05DF018}"/>
              </a:ext>
            </a:extLst>
          </p:cNvPr>
          <p:cNvCxnSpPr>
            <a:cxnSpLocks/>
            <a:stCxn id="21" idx="2"/>
            <a:endCxn id="39" idx="0"/>
          </p:cNvCxnSpPr>
          <p:nvPr/>
        </p:nvCxnSpPr>
        <p:spPr bwMode="auto">
          <a:xfrm rot="16200000" flipH="1">
            <a:off x="5904000" y="1332000"/>
            <a:ext cx="360000" cy="3024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31" name="カギ線コネクタ 30">
            <a:extLst>
              <a:ext uri="{FF2B5EF4-FFF2-40B4-BE49-F238E27FC236}">
                <a16:creationId xmlns:a16="http://schemas.microsoft.com/office/drawing/2014/main" id="{6E4A2957-DB97-4C4E-B3EF-6200812CC7AF}"/>
              </a:ext>
            </a:extLst>
          </p:cNvPr>
          <p:cNvCxnSpPr>
            <a:cxnSpLocks/>
            <a:stCxn id="21" idx="2"/>
            <a:endCxn id="40" idx="0"/>
          </p:cNvCxnSpPr>
          <p:nvPr/>
        </p:nvCxnSpPr>
        <p:spPr bwMode="auto">
          <a:xfrm rot="16200000" flipH="1">
            <a:off x="6120000" y="1116000"/>
            <a:ext cx="360000" cy="3456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32" name="カギ線コネクタ 31">
            <a:extLst>
              <a:ext uri="{FF2B5EF4-FFF2-40B4-BE49-F238E27FC236}">
                <a16:creationId xmlns:a16="http://schemas.microsoft.com/office/drawing/2014/main" id="{100A0997-8DBB-D34A-BC6E-5F49EFD092DC}"/>
              </a:ext>
            </a:extLst>
          </p:cNvPr>
          <p:cNvCxnSpPr>
            <a:cxnSpLocks/>
            <a:stCxn id="21" idx="2"/>
            <a:endCxn id="17" idx="0"/>
          </p:cNvCxnSpPr>
          <p:nvPr/>
        </p:nvCxnSpPr>
        <p:spPr bwMode="auto">
          <a:xfrm rot="16200000" flipH="1">
            <a:off x="4824000" y="2412000"/>
            <a:ext cx="360000" cy="864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33" name="カギ線コネクタ 32">
            <a:extLst>
              <a:ext uri="{FF2B5EF4-FFF2-40B4-BE49-F238E27FC236}">
                <a16:creationId xmlns:a16="http://schemas.microsoft.com/office/drawing/2014/main" id="{100A0997-8DBB-D34A-BC6E-5F49EFD092DC}"/>
              </a:ext>
            </a:extLst>
          </p:cNvPr>
          <p:cNvCxnSpPr>
            <a:cxnSpLocks/>
            <a:stCxn id="21" idx="2"/>
            <a:endCxn id="12" idx="0"/>
          </p:cNvCxnSpPr>
          <p:nvPr/>
        </p:nvCxnSpPr>
        <p:spPr bwMode="auto">
          <a:xfrm rot="16200000" flipH="1">
            <a:off x="5040000" y="2196000"/>
            <a:ext cx="360000" cy="1296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34" name="カギ線コネクタ 33">
            <a:extLst>
              <a:ext uri="{FF2B5EF4-FFF2-40B4-BE49-F238E27FC236}">
                <a16:creationId xmlns:a16="http://schemas.microsoft.com/office/drawing/2014/main" id="{4CE79724-E73D-2C41-97AF-B2DCAFF24B71}"/>
              </a:ext>
            </a:extLst>
          </p:cNvPr>
          <p:cNvCxnSpPr>
            <a:cxnSpLocks/>
            <a:stCxn id="21" idx="2"/>
            <a:endCxn id="18" idx="0"/>
          </p:cNvCxnSpPr>
          <p:nvPr/>
        </p:nvCxnSpPr>
        <p:spPr bwMode="auto">
          <a:xfrm rot="16200000" flipH="1">
            <a:off x="4608000" y="2628000"/>
            <a:ext cx="360000" cy="432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35" name="カギ線コネクタ 34">
            <a:extLst>
              <a:ext uri="{FF2B5EF4-FFF2-40B4-BE49-F238E27FC236}">
                <a16:creationId xmlns:a16="http://schemas.microsoft.com/office/drawing/2014/main" id="{100A0997-8DBB-D34A-BC6E-5F49EFD092DC}"/>
              </a:ext>
            </a:extLst>
          </p:cNvPr>
          <p:cNvCxnSpPr>
            <a:cxnSpLocks/>
            <a:stCxn id="21" idx="2"/>
            <a:endCxn id="13" idx="0"/>
          </p:cNvCxnSpPr>
          <p:nvPr/>
        </p:nvCxnSpPr>
        <p:spPr bwMode="auto">
          <a:xfrm rot="16200000" flipH="1">
            <a:off x="5256000" y="1980000"/>
            <a:ext cx="360000" cy="1728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36" name="カギ線コネクタ 35">
            <a:extLst>
              <a:ext uri="{FF2B5EF4-FFF2-40B4-BE49-F238E27FC236}">
                <a16:creationId xmlns:a16="http://schemas.microsoft.com/office/drawing/2014/main" id="{4CE79724-E73D-2C41-97AF-B2DCAFF24B71}"/>
              </a:ext>
            </a:extLst>
          </p:cNvPr>
          <p:cNvCxnSpPr>
            <a:cxnSpLocks/>
            <a:stCxn id="21" idx="2"/>
            <a:endCxn id="15" idx="0"/>
          </p:cNvCxnSpPr>
          <p:nvPr/>
        </p:nvCxnSpPr>
        <p:spPr bwMode="auto">
          <a:xfrm rot="5400000">
            <a:off x="4176000" y="2628000"/>
            <a:ext cx="360000" cy="432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42" name="カギ線コネクタ 41">
            <a:extLst>
              <a:ext uri="{FF2B5EF4-FFF2-40B4-BE49-F238E27FC236}">
                <a16:creationId xmlns:a16="http://schemas.microsoft.com/office/drawing/2014/main" id="{6E4A2957-DB97-4C4E-B3EF-6200812CC7AF}"/>
              </a:ext>
            </a:extLst>
          </p:cNvPr>
          <p:cNvCxnSpPr>
            <a:cxnSpLocks/>
            <a:stCxn id="21" idx="2"/>
            <a:endCxn id="41" idx="0"/>
          </p:cNvCxnSpPr>
          <p:nvPr/>
        </p:nvCxnSpPr>
        <p:spPr bwMode="auto">
          <a:xfrm rot="16200000" flipH="1">
            <a:off x="6336000" y="900000"/>
            <a:ext cx="360000" cy="3888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43" name="カギ線コネクタ 42">
            <a:extLst>
              <a:ext uri="{FF2B5EF4-FFF2-40B4-BE49-F238E27FC236}">
                <a16:creationId xmlns:a16="http://schemas.microsoft.com/office/drawing/2014/main" id="{4CE79724-E73D-2C41-97AF-B2DCAFF24B71}"/>
              </a:ext>
            </a:extLst>
          </p:cNvPr>
          <p:cNvCxnSpPr>
            <a:cxnSpLocks/>
            <a:stCxn id="21" idx="2"/>
            <a:endCxn id="10" idx="0"/>
          </p:cNvCxnSpPr>
          <p:nvPr/>
        </p:nvCxnSpPr>
        <p:spPr bwMode="auto">
          <a:xfrm rot="5400000">
            <a:off x="3960000" y="2412000"/>
            <a:ext cx="360000" cy="864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sp>
        <p:nvSpPr>
          <p:cNvPr id="6" name="角丸四角形 5"/>
          <p:cNvSpPr/>
          <p:nvPr/>
        </p:nvSpPr>
        <p:spPr bwMode="auto">
          <a:xfrm>
            <a:off x="504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保険ソリューション本部</a:t>
            </a:r>
          </a:p>
        </p:txBody>
      </p:sp>
      <p:sp>
        <p:nvSpPr>
          <p:cNvPr id="7" name="角丸四角形 6"/>
          <p:cNvSpPr/>
          <p:nvPr/>
        </p:nvSpPr>
        <p:spPr bwMode="auto">
          <a:xfrm>
            <a:off x="1800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医療ソリューション本部</a:t>
            </a:r>
          </a:p>
        </p:txBody>
      </p:sp>
      <p:sp>
        <p:nvSpPr>
          <p:cNvPr id="8" name="角丸四角形 7"/>
          <p:cNvSpPr/>
          <p:nvPr/>
        </p:nvSpPr>
        <p:spPr bwMode="auto">
          <a:xfrm>
            <a:off x="2664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a:solidFill>
                  <a:schemeClr val="tx1"/>
                </a:solidFill>
                <a:latin typeface="游ゴシック" panose="020B0400000000000000" pitchFamily="50" charset="-128"/>
                <a:ea typeface="游ゴシック" panose="020B0400000000000000" pitchFamily="50" charset="-128"/>
                <a:cs typeface="Meiryo" charset="-128"/>
              </a:rPr>
              <a:t>インフラソリューション本部</a:t>
            </a:r>
            <a:endParaRPr kumimoji="0" lang="en-US" altLang="ja-JP" sz="1400" dirty="0">
              <a:solidFill>
                <a:schemeClr val="tx1"/>
              </a:solidFill>
              <a:latin typeface="游ゴシック" panose="020B0400000000000000" pitchFamily="50" charset="-128"/>
              <a:ea typeface="游ゴシック" panose="020B0400000000000000" pitchFamily="50" charset="-128"/>
              <a:cs typeface="Meiryo" charset="-128"/>
            </a:endParaRPr>
          </a:p>
        </p:txBody>
      </p:sp>
      <p:sp>
        <p:nvSpPr>
          <p:cNvPr id="9" name="角丸四角形 8"/>
          <p:cNvSpPr/>
          <p:nvPr/>
        </p:nvSpPr>
        <p:spPr bwMode="auto">
          <a:xfrm>
            <a:off x="3096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データベースソリューション本部</a:t>
            </a:r>
          </a:p>
        </p:txBody>
      </p:sp>
      <p:sp>
        <p:nvSpPr>
          <p:cNvPr id="10" name="角丸四角形 9"/>
          <p:cNvSpPr/>
          <p:nvPr/>
        </p:nvSpPr>
        <p:spPr bwMode="auto">
          <a:xfrm>
            <a:off x="3528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a:solidFill>
                  <a:schemeClr val="tx1"/>
                </a:solidFill>
                <a:latin typeface="游ゴシック" panose="020B0400000000000000" pitchFamily="50" charset="-128"/>
                <a:ea typeface="游ゴシック" panose="020B0400000000000000" pitchFamily="50" charset="-128"/>
                <a:cs typeface="Meiryo" charset="-128"/>
              </a:rPr>
              <a:t>ＢＩソリューション本部</a:t>
            </a:r>
            <a:endParaRPr kumimoji="0" lang="en-US" altLang="ja-JP" sz="1400" dirty="0">
              <a:solidFill>
                <a:schemeClr val="tx1"/>
              </a:solidFill>
              <a:latin typeface="游ゴシック" panose="020B0400000000000000" pitchFamily="50" charset="-128"/>
              <a:ea typeface="游ゴシック" panose="020B0400000000000000" pitchFamily="50" charset="-128"/>
              <a:cs typeface="Meiryo" charset="-128"/>
            </a:endParaRPr>
          </a:p>
        </p:txBody>
      </p:sp>
      <p:sp>
        <p:nvSpPr>
          <p:cNvPr id="11" name="角丸四角形 10"/>
          <p:cNvSpPr/>
          <p:nvPr/>
        </p:nvSpPr>
        <p:spPr bwMode="auto">
          <a:xfrm>
            <a:off x="936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不動産ソリューション本部</a:t>
            </a:r>
          </a:p>
        </p:txBody>
      </p:sp>
      <p:sp>
        <p:nvSpPr>
          <p:cNvPr id="12" name="角丸四角形 11"/>
          <p:cNvSpPr/>
          <p:nvPr/>
        </p:nvSpPr>
        <p:spPr bwMode="auto">
          <a:xfrm>
            <a:off x="5688000" y="3024000"/>
            <a:ext cx="360000" cy="3168000"/>
          </a:xfrm>
          <a:prstGeom prst="roundRect">
            <a:avLst>
              <a:gd name="adj" fmla="val 17639"/>
            </a:avLst>
          </a:prstGeom>
          <a:solidFill>
            <a:schemeClr val="accent2">
              <a:lumMod val="20000"/>
              <a:lumOff val="80000"/>
            </a:schemeClr>
          </a:solidFill>
          <a:ln w="28575">
            <a:solidFill>
              <a:schemeClr val="accent2"/>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b="1" dirty="0">
                <a:solidFill>
                  <a:schemeClr val="tx1"/>
                </a:solidFill>
                <a:latin typeface="游ゴシック" panose="020B0400000000000000" pitchFamily="50" charset="-128"/>
                <a:ea typeface="游ゴシック" panose="020B0400000000000000" pitchFamily="50" charset="-128"/>
                <a:cs typeface="Meiryo" charset="-128"/>
              </a:rPr>
              <a:t>営業本部</a:t>
            </a:r>
          </a:p>
        </p:txBody>
      </p:sp>
      <p:sp>
        <p:nvSpPr>
          <p:cNvPr id="13" name="角丸四角形 12"/>
          <p:cNvSpPr/>
          <p:nvPr/>
        </p:nvSpPr>
        <p:spPr bwMode="auto">
          <a:xfrm>
            <a:off x="6120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経営管理本部</a:t>
            </a:r>
          </a:p>
        </p:txBody>
      </p:sp>
      <p:sp>
        <p:nvSpPr>
          <p:cNvPr id="14" name="角丸四角形 13"/>
          <p:cNvSpPr/>
          <p:nvPr/>
        </p:nvSpPr>
        <p:spPr bwMode="auto">
          <a:xfrm>
            <a:off x="1368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製造ビジネスソリューション本部　　</a:t>
            </a:r>
            <a:r>
              <a:rPr kumimoji="0" lang="en-US" altLang="ja-JP" sz="1400" dirty="0">
                <a:solidFill>
                  <a:schemeClr val="tx1"/>
                </a:solidFill>
                <a:latin typeface="游ゴシック" panose="020B0400000000000000" pitchFamily="50" charset="-128"/>
                <a:ea typeface="游ゴシック" panose="020B0400000000000000" pitchFamily="50" charset="-128"/>
                <a:cs typeface="Meiryo" charset="-128"/>
              </a:rPr>
              <a:t> </a:t>
            </a:r>
          </a:p>
        </p:txBody>
      </p:sp>
      <p:sp>
        <p:nvSpPr>
          <p:cNvPr id="15" name="角丸四角形 14"/>
          <p:cNvSpPr/>
          <p:nvPr/>
        </p:nvSpPr>
        <p:spPr bwMode="auto">
          <a:xfrm>
            <a:off x="3960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サービスインテグレーション本部</a:t>
            </a:r>
          </a:p>
        </p:txBody>
      </p:sp>
      <p:sp>
        <p:nvSpPr>
          <p:cNvPr id="16" name="角丸四角形 15"/>
          <p:cNvSpPr/>
          <p:nvPr/>
        </p:nvSpPr>
        <p:spPr bwMode="auto">
          <a:xfrm>
            <a:off x="4392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システムソリューション本部</a:t>
            </a:r>
          </a:p>
        </p:txBody>
      </p:sp>
      <p:sp>
        <p:nvSpPr>
          <p:cNvPr id="17" name="角丸四角形 16"/>
          <p:cNvSpPr/>
          <p:nvPr/>
        </p:nvSpPr>
        <p:spPr bwMode="auto">
          <a:xfrm>
            <a:off x="5256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a:solidFill>
                  <a:schemeClr val="tx1"/>
                </a:solidFill>
                <a:latin typeface="游ゴシック" panose="020B0400000000000000" pitchFamily="50" charset="-128"/>
                <a:ea typeface="游ゴシック" panose="020B0400000000000000" pitchFamily="50" charset="-128"/>
                <a:cs typeface="Meiryo" charset="-128"/>
              </a:rPr>
              <a:t>ブランド推進本部</a:t>
            </a:r>
            <a:endPar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endParaRPr>
          </a:p>
        </p:txBody>
      </p:sp>
      <p:sp>
        <p:nvSpPr>
          <p:cNvPr id="18" name="角丸四角形 17"/>
          <p:cNvSpPr/>
          <p:nvPr/>
        </p:nvSpPr>
        <p:spPr bwMode="auto">
          <a:xfrm>
            <a:off x="4824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西日本支店</a:t>
            </a:r>
          </a:p>
        </p:txBody>
      </p:sp>
      <p:sp>
        <p:nvSpPr>
          <p:cNvPr id="37" name="角丸四角形 36"/>
          <p:cNvSpPr/>
          <p:nvPr/>
        </p:nvSpPr>
        <p:spPr bwMode="auto">
          <a:xfrm>
            <a:off x="6552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 sz="1400" dirty="0">
                <a:solidFill>
                  <a:schemeClr val="tx1"/>
                </a:solidFill>
                <a:latin typeface="游ゴシック" panose="020B0400000000000000" pitchFamily="50" charset="-128"/>
                <a:ea typeface="游ゴシック" panose="020B0400000000000000" pitchFamily="50" charset="-128"/>
                <a:cs typeface="Meiryo" charset="-128"/>
              </a:rPr>
              <a:t>ｘＴｅｃｈＩｎｎｏｖａｔｉｏｎ</a:t>
            </a:r>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室</a:t>
            </a:r>
          </a:p>
        </p:txBody>
      </p:sp>
      <p:sp>
        <p:nvSpPr>
          <p:cNvPr id="38" name="角丸四角形 37"/>
          <p:cNvSpPr/>
          <p:nvPr/>
        </p:nvSpPr>
        <p:spPr bwMode="auto">
          <a:xfrm>
            <a:off x="6984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品質管理室</a:t>
            </a:r>
          </a:p>
        </p:txBody>
      </p:sp>
      <p:sp>
        <p:nvSpPr>
          <p:cNvPr id="39" name="角丸四角形 38"/>
          <p:cNvSpPr/>
          <p:nvPr/>
        </p:nvSpPr>
        <p:spPr bwMode="auto">
          <a:xfrm>
            <a:off x="7416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海外ビジネス推進室</a:t>
            </a:r>
          </a:p>
        </p:txBody>
      </p:sp>
      <p:sp>
        <p:nvSpPr>
          <p:cNvPr id="40" name="角丸四角形 39">
            <a:extLst>
              <a:ext uri="{FF2B5EF4-FFF2-40B4-BE49-F238E27FC236}">
                <a16:creationId xmlns:a16="http://schemas.microsoft.com/office/drawing/2014/main" id="{3B841F71-7C50-EB43-A476-F77281A981B1}"/>
              </a:ext>
            </a:extLst>
          </p:cNvPr>
          <p:cNvSpPr/>
          <p:nvPr/>
        </p:nvSpPr>
        <p:spPr bwMode="auto">
          <a:xfrm>
            <a:off x="7848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広報室</a:t>
            </a:r>
          </a:p>
        </p:txBody>
      </p:sp>
      <p:sp>
        <p:nvSpPr>
          <p:cNvPr id="41" name="角丸四角形 40">
            <a:extLst>
              <a:ext uri="{FF2B5EF4-FFF2-40B4-BE49-F238E27FC236}">
                <a16:creationId xmlns:a16="http://schemas.microsoft.com/office/drawing/2014/main" id="{3B841F71-7C50-EB43-A476-F77281A981B1}"/>
              </a:ext>
            </a:extLst>
          </p:cNvPr>
          <p:cNvSpPr/>
          <p:nvPr/>
        </p:nvSpPr>
        <p:spPr bwMode="auto">
          <a:xfrm>
            <a:off x="8280000" y="3024000"/>
            <a:ext cx="360000" cy="3168000"/>
          </a:xfrm>
          <a:prstGeom prst="roundRect">
            <a:avLst>
              <a:gd name="adj" fmla="val 17639"/>
            </a:avLst>
          </a:prstGeom>
          <a:solidFill>
            <a:schemeClr val="bg1"/>
          </a:solidFill>
          <a:ln w="19050">
            <a:solidFill>
              <a:schemeClr val="accent3"/>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rPr>
              <a:t>内部統制室</a:t>
            </a:r>
          </a:p>
        </p:txBody>
      </p:sp>
      <p:sp>
        <p:nvSpPr>
          <p:cNvPr id="44" name="角丸四角形 43"/>
          <p:cNvSpPr/>
          <p:nvPr/>
        </p:nvSpPr>
        <p:spPr bwMode="auto">
          <a:xfrm>
            <a:off x="2232000" y="3024000"/>
            <a:ext cx="360000" cy="3168000"/>
          </a:xfrm>
          <a:prstGeom prst="roundRect">
            <a:avLst>
              <a:gd name="adj" fmla="val 17639"/>
            </a:avLst>
          </a:prstGeom>
          <a:solidFill>
            <a:schemeClr val="accent2">
              <a:lumMod val="20000"/>
              <a:lumOff val="80000"/>
            </a:schemeClr>
          </a:solidFill>
          <a:ln w="28575">
            <a:solidFill>
              <a:schemeClr val="accent2"/>
            </a:solidFill>
            <a:headEnd/>
            <a:tailEnd/>
          </a:ln>
          <a:effectLst/>
        </p:spPr>
        <p:style>
          <a:lnRef idx="2">
            <a:schemeClr val="accent3"/>
          </a:lnRef>
          <a:fillRef idx="1">
            <a:schemeClr val="lt1"/>
          </a:fillRef>
          <a:effectRef idx="0">
            <a:schemeClr val="accent3"/>
          </a:effectRef>
          <a:fontRef idx="minor">
            <a:schemeClr val="dk1"/>
          </a:fontRef>
        </p:style>
        <p:txBody>
          <a:bodyPr vert="eaVert" wrap="none" lIns="0" tIns="72000" rIns="0" bIns="72000" rtlCol="0" anchor="ctr" anchorCtr="0"/>
          <a:lstStyle/>
          <a:p>
            <a:r>
              <a:rPr kumimoji="0" lang="ja-JP" altLang="en-US" sz="1400" b="1" dirty="0">
                <a:solidFill>
                  <a:schemeClr val="tx1"/>
                </a:solidFill>
                <a:latin typeface="游ゴシック" panose="020B0400000000000000" pitchFamily="50" charset="-128"/>
                <a:ea typeface="游ゴシック" panose="020B0400000000000000" pitchFamily="50" charset="-128"/>
                <a:cs typeface="Meiryo" charset="-128"/>
              </a:rPr>
              <a:t>石油・化学ソリューション本部</a:t>
            </a:r>
          </a:p>
        </p:txBody>
      </p:sp>
      <p:cxnSp>
        <p:nvCxnSpPr>
          <p:cNvPr id="45" name="カギ線コネクタ 44">
            <a:extLst>
              <a:ext uri="{FF2B5EF4-FFF2-40B4-BE49-F238E27FC236}">
                <a16:creationId xmlns:a16="http://schemas.microsoft.com/office/drawing/2014/main" id="{28F78CA6-4335-4349-9071-EF85F49D0398}"/>
              </a:ext>
            </a:extLst>
          </p:cNvPr>
          <p:cNvCxnSpPr>
            <a:cxnSpLocks/>
            <a:stCxn id="21" idx="2"/>
            <a:endCxn id="44" idx="0"/>
          </p:cNvCxnSpPr>
          <p:nvPr/>
        </p:nvCxnSpPr>
        <p:spPr bwMode="auto">
          <a:xfrm rot="5400000">
            <a:off x="3312000" y="1764000"/>
            <a:ext cx="360000" cy="2160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46" name="カギ線コネクタ 45">
            <a:extLst>
              <a:ext uri="{FF2B5EF4-FFF2-40B4-BE49-F238E27FC236}">
                <a16:creationId xmlns:a16="http://schemas.microsoft.com/office/drawing/2014/main" id="{28F78CA6-4335-4349-9071-EF85F49D0398}"/>
              </a:ext>
            </a:extLst>
          </p:cNvPr>
          <p:cNvCxnSpPr>
            <a:cxnSpLocks/>
            <a:stCxn id="21" idx="2"/>
            <a:endCxn id="8" idx="0"/>
          </p:cNvCxnSpPr>
          <p:nvPr/>
        </p:nvCxnSpPr>
        <p:spPr bwMode="auto">
          <a:xfrm rot="5400000">
            <a:off x="3528000" y="1980000"/>
            <a:ext cx="360000" cy="1728000"/>
          </a:xfrm>
          <a:prstGeom prst="bentConnector3">
            <a:avLst>
              <a:gd name="adj1" fmla="val 50000"/>
            </a:avLst>
          </a:prstGeom>
          <a:solidFill>
            <a:schemeClr val="bg1"/>
          </a:solidFill>
          <a:ln w="19050" cap="flat" cmpd="sng" algn="ctr">
            <a:solidFill>
              <a:schemeClr val="accent3"/>
            </a:solidFill>
            <a:prstDash val="solid"/>
            <a:round/>
            <a:headEnd type="none" w="med" len="med"/>
            <a:tailEnd type="none" w="med" len="sm"/>
          </a:ln>
          <a:effectLst/>
        </p:spPr>
      </p:cxnSp>
      <p:cxnSp>
        <p:nvCxnSpPr>
          <p:cNvPr id="72" name="直線コネクタ 71"/>
          <p:cNvCxnSpPr>
            <a:stCxn id="19" idx="2"/>
            <a:endCxn id="20" idx="0"/>
          </p:cNvCxnSpPr>
          <p:nvPr/>
        </p:nvCxnSpPr>
        <p:spPr>
          <a:xfrm>
            <a:off x="4572000" y="1656000"/>
            <a:ext cx="0" cy="1440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3" name="直線コネクタ 72"/>
          <p:cNvCxnSpPr>
            <a:stCxn id="20" idx="2"/>
            <a:endCxn id="21" idx="0"/>
          </p:cNvCxnSpPr>
          <p:nvPr/>
        </p:nvCxnSpPr>
        <p:spPr>
          <a:xfrm>
            <a:off x="4572000" y="2160000"/>
            <a:ext cx="0" cy="1440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6" name="テキスト ボックス 75"/>
          <p:cNvSpPr txBox="1"/>
          <p:nvPr/>
        </p:nvSpPr>
        <p:spPr>
          <a:xfrm>
            <a:off x="6984001" y="2375999"/>
            <a:ext cx="1655999" cy="288000"/>
          </a:xfrm>
          <a:prstGeom prst="rect">
            <a:avLst/>
          </a:prstGeom>
          <a:noFill/>
        </p:spPr>
        <p:txBody>
          <a:bodyPr wrap="square" rtlCol="0">
            <a:spAutoFit/>
          </a:bodyPr>
          <a:lstStyle/>
          <a:p>
            <a:r>
              <a:rPr kumimoji="1" lang="ja-JP" altLang="en-US" sz="1400" dirty="0">
                <a:latin typeface="游ゴシック" panose="020B0400000000000000" pitchFamily="50" charset="-128"/>
                <a:ea typeface="游ゴシック" panose="020B0400000000000000" pitchFamily="50" charset="-128"/>
              </a:rPr>
              <a:t>今回担当する部門</a:t>
            </a:r>
          </a:p>
        </p:txBody>
      </p:sp>
      <p:sp>
        <p:nvSpPr>
          <p:cNvPr id="77" name="角丸四角形 76"/>
          <p:cNvSpPr/>
          <p:nvPr/>
        </p:nvSpPr>
        <p:spPr bwMode="auto">
          <a:xfrm>
            <a:off x="6552000" y="2412000"/>
            <a:ext cx="432000" cy="216000"/>
          </a:xfrm>
          <a:prstGeom prst="roundRect">
            <a:avLst>
              <a:gd name="adj" fmla="val 17639"/>
            </a:avLst>
          </a:prstGeom>
          <a:solidFill>
            <a:schemeClr val="accent2">
              <a:lumMod val="20000"/>
              <a:lumOff val="80000"/>
            </a:schemeClr>
          </a:solidFill>
          <a:ln w="19050">
            <a:solidFill>
              <a:schemeClr val="accent2"/>
            </a:solidFill>
            <a:headEnd/>
            <a:tailEnd/>
          </a:ln>
          <a:effectLst/>
        </p:spPr>
        <p:style>
          <a:lnRef idx="2">
            <a:schemeClr val="accent3"/>
          </a:lnRef>
          <a:fillRef idx="1">
            <a:schemeClr val="lt1"/>
          </a:fillRef>
          <a:effectRef idx="0">
            <a:schemeClr val="accent3"/>
          </a:effectRef>
          <a:fontRef idx="minor">
            <a:schemeClr val="dk1"/>
          </a:fontRef>
        </p:style>
        <p:txBody>
          <a:bodyPr rtlCol="0" anchor="ctr"/>
          <a:lstStyle/>
          <a:p>
            <a:pPr algn="ctr"/>
            <a:endParaRPr kumimoji="0" lang="ja-JP" altLang="en-US" sz="1400" dirty="0">
              <a:solidFill>
                <a:schemeClr val="tx1"/>
              </a:solidFill>
              <a:latin typeface="游ゴシック" panose="020B0400000000000000" pitchFamily="50" charset="-128"/>
              <a:ea typeface="游ゴシック" panose="020B0400000000000000" pitchFamily="50" charset="-128"/>
              <a:cs typeface="Meiryo" charset="-128"/>
            </a:endParaRPr>
          </a:p>
        </p:txBody>
      </p:sp>
    </p:spTree>
    <p:extLst>
      <p:ext uri="{BB962C8B-B14F-4D97-AF65-F5344CB8AC3E}">
        <p14:creationId xmlns:p14="http://schemas.microsoft.com/office/powerpoint/2010/main" val="372685066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弊社担当者</a:t>
            </a:r>
            <a:r>
              <a:rPr kumimoji="1" lang="ja-JP" altLang="en-US" dirty="0"/>
              <a:t>情報</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70</a:t>
            </a:fld>
            <a:endParaRPr kumimoji="1" lang="ja-JP" altLang="en-US"/>
          </a:p>
        </p:txBody>
      </p:sp>
      <p:sp>
        <p:nvSpPr>
          <p:cNvPr id="7" name="正方形/長方形 6"/>
          <p:cNvSpPr/>
          <p:nvPr/>
        </p:nvSpPr>
        <p:spPr>
          <a:xfrm>
            <a:off x="144000" y="864000"/>
            <a:ext cx="8856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提案責任者</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aphicFrame>
        <p:nvGraphicFramePr>
          <p:cNvPr id="10" name="コンテンツ プレースホルダー 5"/>
          <p:cNvGraphicFramePr>
            <a:graphicFrameLocks/>
          </p:cNvGraphicFramePr>
          <p:nvPr>
            <p:extLst>
              <p:ext uri="{D42A27DB-BD31-4B8C-83A1-F6EECF244321}">
                <p14:modId xmlns:p14="http://schemas.microsoft.com/office/powerpoint/2010/main" val="4294070345"/>
              </p:ext>
            </p:extLst>
          </p:nvPr>
        </p:nvGraphicFramePr>
        <p:xfrm>
          <a:off x="144000" y="1224000"/>
          <a:ext cx="8856704" cy="1219200"/>
        </p:xfrm>
        <a:graphic>
          <a:graphicData uri="http://schemas.openxmlformats.org/drawingml/2006/table">
            <a:tbl>
              <a:tblPr>
                <a:tableStyleId>{2D5ABB26-0587-4C30-8999-92F81FD0307C}</a:tableStyleId>
              </a:tblPr>
              <a:tblGrid>
                <a:gridCol w="2234314">
                  <a:extLst>
                    <a:ext uri="{9D8B030D-6E8A-4147-A177-3AD203B41FA5}">
                      <a16:colId xmlns:a16="http://schemas.microsoft.com/office/drawing/2014/main" val="3407761811"/>
                    </a:ext>
                  </a:extLst>
                </a:gridCol>
                <a:gridCol w="2213360">
                  <a:extLst>
                    <a:ext uri="{9D8B030D-6E8A-4147-A177-3AD203B41FA5}">
                      <a16:colId xmlns:a16="http://schemas.microsoft.com/office/drawing/2014/main" val="646267526"/>
                    </a:ext>
                  </a:extLst>
                </a:gridCol>
                <a:gridCol w="2234314">
                  <a:extLst>
                    <a:ext uri="{9D8B030D-6E8A-4147-A177-3AD203B41FA5}">
                      <a16:colId xmlns:a16="http://schemas.microsoft.com/office/drawing/2014/main" val="3229855764"/>
                    </a:ext>
                  </a:extLst>
                </a:gridCol>
                <a:gridCol w="2174716">
                  <a:extLst>
                    <a:ext uri="{9D8B030D-6E8A-4147-A177-3AD203B41FA5}">
                      <a16:colId xmlns:a16="http://schemas.microsoft.com/office/drawing/2014/main" val="3026528195"/>
                    </a:ext>
                  </a:extLst>
                </a:gridCol>
              </a:tblGrid>
              <a:tr h="0">
                <a:tc>
                  <a:txBody>
                    <a:bodyPr/>
                    <a:lstStyle/>
                    <a:p>
                      <a:r>
                        <a:rPr kumimoji="1" lang="ja-JP" altLang="en-US" sz="1400" dirty="0">
                          <a:latin typeface="游ゴシック" panose="020B0400000000000000" pitchFamily="50" charset="-128"/>
                          <a:ea typeface="游ゴシック" panose="020B0400000000000000" pitchFamily="50" charset="-128"/>
                        </a:rPr>
                        <a:t>氏名（メールアドレス）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r>
                        <a:rPr kumimoji="1" lang="ja-JP" altLang="en-US" sz="1400" dirty="0">
                          <a:latin typeface="游ゴシック" panose="020B0400000000000000" pitchFamily="50" charset="-128"/>
                          <a:ea typeface="游ゴシック" panose="020B0400000000000000" pitchFamily="50" charset="-128"/>
                        </a:rPr>
                        <a:t>福田 慎　（ </a:t>
                      </a:r>
                      <a:r>
                        <a:rPr kumimoji="1" lang="en-US" altLang="ja-JP" sz="1400" dirty="0">
                          <a:latin typeface="游ゴシック" panose="020B0400000000000000" pitchFamily="50" charset="-128"/>
                          <a:ea typeface="游ゴシック" panose="020B0400000000000000" pitchFamily="50" charset="-128"/>
                        </a:rPr>
                        <a:t>m-fukuda@system-exe.co.jp</a:t>
                      </a:r>
                      <a:r>
                        <a:rPr kumimoji="1" lang="ja-JP" altLang="en-US" sz="1400" dirty="0">
                          <a:latin typeface="游ゴシック" panose="020B0400000000000000" pitchFamily="50" charset="-128"/>
                          <a:ea typeface="游ゴシック" panose="020B0400000000000000" pitchFamily="50" charset="-128"/>
                        </a:rPr>
                        <a:t> ）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1065407"/>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所属部署</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r>
                        <a:rPr kumimoji="1" lang="ja-JP" altLang="en-US" sz="1400" dirty="0">
                          <a:latin typeface="游ゴシック" panose="020B0400000000000000" pitchFamily="50" charset="-128"/>
                          <a:ea typeface="游ゴシック" panose="020B0400000000000000" pitchFamily="50" charset="-128"/>
                        </a:rPr>
                        <a:t>石油・化学ソリューション本部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336948900"/>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拠点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dirty="0">
                          <a:latin typeface="游ゴシック" panose="020B0400000000000000" pitchFamily="50" charset="-128"/>
                          <a:ea typeface="游ゴシック" panose="020B0400000000000000" pitchFamily="50" charset="-128"/>
                        </a:rPr>
                        <a:t>千葉オフィス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ja-JP" altLang="en-US" sz="1400" dirty="0">
                          <a:latin typeface="游ゴシック" panose="020B0400000000000000" pitchFamily="50" charset="-128"/>
                          <a:ea typeface="游ゴシック" panose="020B0400000000000000" pitchFamily="50" charset="-128"/>
                        </a:rPr>
                        <a:t>電話番号</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dirty="0">
                          <a:latin typeface="游ゴシック" panose="020B0400000000000000" pitchFamily="50" charset="-128"/>
                          <a:ea typeface="游ゴシック" panose="020B0400000000000000" pitchFamily="50" charset="-128"/>
                        </a:rPr>
                        <a:t>043-287-7030</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81805884"/>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住所</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260-0045</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千葉県千葉市中央区弁天</a:t>
                      </a:r>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1-5-1</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オーパスビルディング</a:t>
                      </a:r>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9</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280755089"/>
                  </a:ext>
                </a:extLst>
              </a:tr>
            </a:tbl>
          </a:graphicData>
        </a:graphic>
      </p:graphicFrame>
      <p:sp>
        <p:nvSpPr>
          <p:cNvPr id="17" name="正方形/長方形 16"/>
          <p:cNvSpPr/>
          <p:nvPr/>
        </p:nvSpPr>
        <p:spPr>
          <a:xfrm>
            <a:off x="144000" y="2700000"/>
            <a:ext cx="8856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プロジェクト担当</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aphicFrame>
        <p:nvGraphicFramePr>
          <p:cNvPr id="18" name="コンテンツ プレースホルダー 5"/>
          <p:cNvGraphicFramePr>
            <a:graphicFrameLocks/>
          </p:cNvGraphicFramePr>
          <p:nvPr>
            <p:extLst>
              <p:ext uri="{D42A27DB-BD31-4B8C-83A1-F6EECF244321}">
                <p14:modId xmlns:p14="http://schemas.microsoft.com/office/powerpoint/2010/main" val="1078946165"/>
              </p:ext>
            </p:extLst>
          </p:nvPr>
        </p:nvGraphicFramePr>
        <p:xfrm>
          <a:off x="144000" y="3060000"/>
          <a:ext cx="8856704" cy="1219200"/>
        </p:xfrm>
        <a:graphic>
          <a:graphicData uri="http://schemas.openxmlformats.org/drawingml/2006/table">
            <a:tbl>
              <a:tblPr>
                <a:tableStyleId>{2D5ABB26-0587-4C30-8999-92F81FD0307C}</a:tableStyleId>
              </a:tblPr>
              <a:tblGrid>
                <a:gridCol w="2234314">
                  <a:extLst>
                    <a:ext uri="{9D8B030D-6E8A-4147-A177-3AD203B41FA5}">
                      <a16:colId xmlns:a16="http://schemas.microsoft.com/office/drawing/2014/main" val="3407761811"/>
                    </a:ext>
                  </a:extLst>
                </a:gridCol>
                <a:gridCol w="2213360">
                  <a:extLst>
                    <a:ext uri="{9D8B030D-6E8A-4147-A177-3AD203B41FA5}">
                      <a16:colId xmlns:a16="http://schemas.microsoft.com/office/drawing/2014/main" val="646267526"/>
                    </a:ext>
                  </a:extLst>
                </a:gridCol>
                <a:gridCol w="2234314">
                  <a:extLst>
                    <a:ext uri="{9D8B030D-6E8A-4147-A177-3AD203B41FA5}">
                      <a16:colId xmlns:a16="http://schemas.microsoft.com/office/drawing/2014/main" val="3229855764"/>
                    </a:ext>
                  </a:extLst>
                </a:gridCol>
                <a:gridCol w="2174716">
                  <a:extLst>
                    <a:ext uri="{9D8B030D-6E8A-4147-A177-3AD203B41FA5}">
                      <a16:colId xmlns:a16="http://schemas.microsoft.com/office/drawing/2014/main" val="3026528195"/>
                    </a:ext>
                  </a:extLst>
                </a:gridCol>
              </a:tblGrid>
              <a:tr h="0">
                <a:tc>
                  <a:txBody>
                    <a:bodyPr/>
                    <a:lstStyle/>
                    <a:p>
                      <a:r>
                        <a:rPr kumimoji="1" lang="ja-JP" altLang="en-US" sz="1400" dirty="0">
                          <a:latin typeface="游ゴシック" panose="020B0400000000000000" pitchFamily="50" charset="-128"/>
                          <a:ea typeface="游ゴシック" panose="020B0400000000000000" pitchFamily="50" charset="-128"/>
                        </a:rPr>
                        <a:t>氏名（メールアドレス）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r>
                        <a:rPr kumimoji="1" lang="ja-JP" altLang="en-US" sz="1400" dirty="0">
                          <a:latin typeface="游ゴシック" panose="020B0400000000000000" pitchFamily="50" charset="-128"/>
                          <a:ea typeface="游ゴシック" panose="020B0400000000000000" pitchFamily="50" charset="-128"/>
                        </a:rPr>
                        <a:t>小林 紀昭　（ </a:t>
                      </a:r>
                      <a:r>
                        <a:rPr kumimoji="1" lang="en-US" altLang="ja-JP"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nori-kobayashi</a:t>
                      </a:r>
                      <a:r>
                        <a:rPr kumimoji="1" lang="en-US" altLang="ja-JP" sz="1400" dirty="0">
                          <a:latin typeface="游ゴシック" panose="020B0400000000000000" pitchFamily="50" charset="-128"/>
                          <a:ea typeface="游ゴシック" panose="020B0400000000000000" pitchFamily="50" charset="-128"/>
                        </a:rPr>
                        <a:t>@system-exe.co.jp</a:t>
                      </a:r>
                      <a:r>
                        <a:rPr kumimoji="1" lang="ja-JP" altLang="en-US" sz="1400" dirty="0">
                          <a:latin typeface="游ゴシック" panose="020B0400000000000000" pitchFamily="50" charset="-128"/>
                          <a:ea typeface="游ゴシック" panose="020B0400000000000000" pitchFamily="50" charset="-128"/>
                        </a:rPr>
                        <a:t> ）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1065407"/>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所属部署</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r>
                        <a:rPr kumimoji="1" lang="ja-JP" altLang="en-US" sz="1400" dirty="0">
                          <a:latin typeface="游ゴシック" panose="020B0400000000000000" pitchFamily="50" charset="-128"/>
                          <a:ea typeface="游ゴシック" panose="020B0400000000000000" pitchFamily="50" charset="-128"/>
                        </a:rPr>
                        <a:t>石油・化学ソリューション本部ソリューション２部</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336948900"/>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拠点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dirty="0">
                          <a:latin typeface="游ゴシック" panose="020B0400000000000000" pitchFamily="50" charset="-128"/>
                          <a:ea typeface="游ゴシック" panose="020B0400000000000000" pitchFamily="50" charset="-128"/>
                        </a:rPr>
                        <a:t>千葉オフィス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ja-JP" altLang="en-US" sz="1400" dirty="0">
                          <a:latin typeface="游ゴシック" panose="020B0400000000000000" pitchFamily="50" charset="-128"/>
                          <a:ea typeface="游ゴシック" panose="020B0400000000000000" pitchFamily="50" charset="-128"/>
                        </a:rPr>
                        <a:t>電話番号</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dirty="0">
                          <a:latin typeface="游ゴシック" panose="020B0400000000000000" pitchFamily="50" charset="-128"/>
                          <a:ea typeface="游ゴシック" panose="020B0400000000000000" pitchFamily="50" charset="-128"/>
                        </a:rPr>
                        <a:t>043-287-7030</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81805884"/>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住所</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a:t>
                      </a:r>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260-0045</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千葉県千葉市中央区弁天</a:t>
                      </a:r>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1-5-1</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　オーパスビルディング</a:t>
                      </a:r>
                      <a:r>
                        <a:rPr kumimoji="1" lang="en-US" altLang="ja-JP"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9</a:t>
                      </a:r>
                      <a:r>
                        <a:rPr kumimoji="1" lang="ja-JP" altLang="en-US" sz="1400" u="none" strike="noStrike" kern="1200" dirty="0">
                          <a:solidFill>
                            <a:schemeClr val="tx1"/>
                          </a:solidFill>
                          <a:effectLst/>
                          <a:latin typeface="游ゴシック" panose="020B0400000000000000" pitchFamily="50" charset="-128"/>
                          <a:ea typeface="游ゴシック" panose="020B0400000000000000" pitchFamily="50" charset="-128"/>
                          <a:cs typeface="+mn-cs"/>
                        </a:rPr>
                        <a:t>階</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280755089"/>
                  </a:ext>
                </a:extLst>
              </a:tr>
            </a:tbl>
          </a:graphicData>
        </a:graphic>
      </p:graphicFrame>
      <p:sp>
        <p:nvSpPr>
          <p:cNvPr id="19" name="正方形/長方形 18"/>
          <p:cNvSpPr/>
          <p:nvPr/>
        </p:nvSpPr>
        <p:spPr>
          <a:xfrm>
            <a:off x="144000" y="4536000"/>
            <a:ext cx="8856000" cy="360000"/>
          </a:xfrm>
          <a:prstGeom prst="rect">
            <a:avLst/>
          </a:prstGeom>
          <a:noFill/>
          <a:ln>
            <a:noFill/>
          </a:ln>
        </p:spPr>
        <p:style>
          <a:lnRef idx="3">
            <a:schemeClr val="lt1"/>
          </a:lnRef>
          <a:fillRef idx="1">
            <a:schemeClr val="accent1"/>
          </a:fillRef>
          <a:effectRef idx="1">
            <a:schemeClr val="accent1"/>
          </a:effectRef>
          <a:fontRef idx="minor">
            <a:schemeClr val="lt1"/>
          </a:fontRef>
        </p:style>
        <p:txBody>
          <a:bodyPr rtlCol="0" anchor="ctr"/>
          <a:lstStyle/>
          <a:p>
            <a:r>
              <a:rPr lang="ja-JP" altLang="en-US" sz="1600" b="1" dirty="0">
                <a:solidFill>
                  <a:schemeClr val="accent1">
                    <a:lumMod val="50000"/>
                  </a:schemeClr>
                </a:solidFill>
                <a:latin typeface="游ゴシック" panose="020B0400000000000000" pitchFamily="50" charset="-128"/>
                <a:ea typeface="游ゴシック" panose="020B0400000000000000" pitchFamily="50" charset="-128"/>
              </a:rPr>
              <a:t>営業担当（提案窓口・契約窓口）</a:t>
            </a:r>
            <a:endParaRPr kumimoji="1" lang="ja-JP" altLang="en-US" sz="1600" b="1" dirty="0">
              <a:solidFill>
                <a:schemeClr val="accent1">
                  <a:lumMod val="50000"/>
                </a:schemeClr>
              </a:solidFill>
              <a:latin typeface="游ゴシック" panose="020B0400000000000000" pitchFamily="50" charset="-128"/>
              <a:ea typeface="游ゴシック" panose="020B0400000000000000" pitchFamily="50" charset="-128"/>
            </a:endParaRPr>
          </a:p>
        </p:txBody>
      </p:sp>
      <p:graphicFrame>
        <p:nvGraphicFramePr>
          <p:cNvPr id="20" name="コンテンツ プレースホルダー 5"/>
          <p:cNvGraphicFramePr>
            <a:graphicFrameLocks/>
          </p:cNvGraphicFramePr>
          <p:nvPr>
            <p:extLst>
              <p:ext uri="{D42A27DB-BD31-4B8C-83A1-F6EECF244321}">
                <p14:modId xmlns:p14="http://schemas.microsoft.com/office/powerpoint/2010/main" val="2773060106"/>
              </p:ext>
            </p:extLst>
          </p:nvPr>
        </p:nvGraphicFramePr>
        <p:xfrm>
          <a:off x="144000" y="4896000"/>
          <a:ext cx="8856704" cy="1219200"/>
        </p:xfrm>
        <a:graphic>
          <a:graphicData uri="http://schemas.openxmlformats.org/drawingml/2006/table">
            <a:tbl>
              <a:tblPr>
                <a:tableStyleId>{2D5ABB26-0587-4C30-8999-92F81FD0307C}</a:tableStyleId>
              </a:tblPr>
              <a:tblGrid>
                <a:gridCol w="2234314">
                  <a:extLst>
                    <a:ext uri="{9D8B030D-6E8A-4147-A177-3AD203B41FA5}">
                      <a16:colId xmlns:a16="http://schemas.microsoft.com/office/drawing/2014/main" val="3407761811"/>
                    </a:ext>
                  </a:extLst>
                </a:gridCol>
                <a:gridCol w="2213360">
                  <a:extLst>
                    <a:ext uri="{9D8B030D-6E8A-4147-A177-3AD203B41FA5}">
                      <a16:colId xmlns:a16="http://schemas.microsoft.com/office/drawing/2014/main" val="646267526"/>
                    </a:ext>
                  </a:extLst>
                </a:gridCol>
                <a:gridCol w="2234314">
                  <a:extLst>
                    <a:ext uri="{9D8B030D-6E8A-4147-A177-3AD203B41FA5}">
                      <a16:colId xmlns:a16="http://schemas.microsoft.com/office/drawing/2014/main" val="3229855764"/>
                    </a:ext>
                  </a:extLst>
                </a:gridCol>
                <a:gridCol w="2174716">
                  <a:extLst>
                    <a:ext uri="{9D8B030D-6E8A-4147-A177-3AD203B41FA5}">
                      <a16:colId xmlns:a16="http://schemas.microsoft.com/office/drawing/2014/main" val="3026528195"/>
                    </a:ext>
                  </a:extLst>
                </a:gridCol>
              </a:tblGrid>
              <a:tr h="0">
                <a:tc>
                  <a:txBody>
                    <a:bodyPr/>
                    <a:lstStyle/>
                    <a:p>
                      <a:r>
                        <a:rPr kumimoji="1" lang="ja-JP" altLang="en-US" sz="1400" dirty="0">
                          <a:latin typeface="游ゴシック" panose="020B0400000000000000" pitchFamily="50" charset="-128"/>
                          <a:ea typeface="游ゴシック" panose="020B0400000000000000" pitchFamily="50" charset="-128"/>
                        </a:rPr>
                        <a:t>氏名（メールアドレス）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r>
                        <a:rPr kumimoji="1" lang="ja-JP" altLang="en-US"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髙浦 祐朗</a:t>
                      </a:r>
                      <a:r>
                        <a:rPr kumimoji="1" lang="ja-JP" altLang="en-US" sz="1400" dirty="0">
                          <a:latin typeface="游ゴシック" panose="020B0400000000000000" pitchFamily="50" charset="-128"/>
                          <a:ea typeface="游ゴシック" panose="020B0400000000000000" pitchFamily="50" charset="-128"/>
                        </a:rPr>
                        <a:t>　（ </a:t>
                      </a:r>
                      <a:r>
                        <a:rPr kumimoji="1" lang="en-US" altLang="ja-JP"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m-takaura@system-exe.co.jp</a:t>
                      </a:r>
                      <a:r>
                        <a:rPr kumimoji="1" lang="ja-JP" altLang="en-US" sz="1400" dirty="0">
                          <a:latin typeface="游ゴシック" panose="020B0400000000000000" pitchFamily="50" charset="-128"/>
                          <a:ea typeface="游ゴシック" panose="020B0400000000000000" pitchFamily="50" charset="-128"/>
                        </a:rPr>
                        <a:t> ）　</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991065407"/>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所属部署</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r>
                        <a:rPr kumimoji="1" lang="ja-JP" altLang="en-US" sz="1400" b="0" i="0" u="none" strike="noStrike" kern="1200" dirty="0">
                          <a:solidFill>
                            <a:schemeClr val="tx1"/>
                          </a:solidFill>
                          <a:effectLst/>
                          <a:latin typeface="游ゴシック" panose="020B0400000000000000" pitchFamily="50" charset="-128"/>
                          <a:ea typeface="游ゴシック" panose="020B0400000000000000" pitchFamily="50" charset="-128"/>
                          <a:cs typeface="+mn-cs"/>
                        </a:rPr>
                        <a:t>営業本部アカウント営業部</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336948900"/>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拠点</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dirty="0">
                          <a:latin typeface="游ゴシック" panose="020B0400000000000000" pitchFamily="50" charset="-128"/>
                          <a:ea typeface="游ゴシック" panose="020B0400000000000000" pitchFamily="50" charset="-128"/>
                        </a:rPr>
                        <a:t>本社</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ja-JP" altLang="en-US" sz="1400" dirty="0">
                          <a:latin typeface="游ゴシック" panose="020B0400000000000000" pitchFamily="50" charset="-128"/>
                          <a:ea typeface="游ゴシック" panose="020B0400000000000000" pitchFamily="50" charset="-128"/>
                        </a:rPr>
                        <a:t>電話番号</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03-5299-5352</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581805884"/>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住所</a:t>
                      </a: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a:t>
                      </a:r>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104-0028</a:t>
                      </a: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　東京都中央区八重洲</a:t>
                      </a:r>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2-7-2</a:t>
                      </a: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 八重洲三井ビルディング </a:t>
                      </a:r>
                      <a:r>
                        <a:rPr kumimoji="1" lang="en-US" altLang="ja-JP"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5</a:t>
                      </a:r>
                      <a:r>
                        <a:rPr kumimoji="1" lang="ja-JP" altLang="en-US" sz="1400" b="0" kern="1200" dirty="0">
                          <a:solidFill>
                            <a:schemeClr val="dk1"/>
                          </a:solidFill>
                          <a:effectLst/>
                          <a:latin typeface="游ゴシック" panose="020B0400000000000000" pitchFamily="50" charset="-128"/>
                          <a:ea typeface="游ゴシック" panose="020B0400000000000000" pitchFamily="50" charset="-128"/>
                          <a:cs typeface="Meiryo UI" pitchFamily="50" charset="-128"/>
                        </a:rPr>
                        <a:t>階</a:t>
                      </a:r>
                      <a:endParaRPr kumimoji="1" lang="ja-JP" altLang="en-US" sz="140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280755089"/>
                  </a:ext>
                </a:extLst>
              </a:tr>
            </a:tbl>
          </a:graphicData>
        </a:graphic>
      </p:graphicFrame>
    </p:spTree>
    <p:extLst>
      <p:ext uri="{BB962C8B-B14F-4D97-AF65-F5344CB8AC3E}">
        <p14:creationId xmlns:p14="http://schemas.microsoft.com/office/powerpoint/2010/main" val="4804422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提案環境に関する弊社情報</a:t>
            </a:r>
          </a:p>
        </p:txBody>
      </p:sp>
      <p:graphicFrame>
        <p:nvGraphicFramePr>
          <p:cNvPr id="7" name="コンテンツ プレースホルダー 6"/>
          <p:cNvGraphicFramePr>
            <a:graphicFrameLocks noGrp="1"/>
          </p:cNvGraphicFramePr>
          <p:nvPr>
            <p:ph idx="1"/>
            <p:extLst>
              <p:ext uri="{D42A27DB-BD31-4B8C-83A1-F6EECF244321}">
                <p14:modId xmlns:p14="http://schemas.microsoft.com/office/powerpoint/2010/main" val="4002094839"/>
              </p:ext>
            </p:extLst>
          </p:nvPr>
        </p:nvGraphicFramePr>
        <p:xfrm>
          <a:off x="144463" y="4392000"/>
          <a:ext cx="8855537" cy="1524000"/>
        </p:xfrm>
        <a:graphic>
          <a:graphicData uri="http://schemas.openxmlformats.org/drawingml/2006/table">
            <a:tbl>
              <a:tblPr firstRow="1" bandRow="1">
                <a:tableStyleId>{2D5ABB26-0587-4C30-8999-92F81FD0307C}</a:tableStyleId>
              </a:tblPr>
              <a:tblGrid>
                <a:gridCol w="2212573">
                  <a:extLst>
                    <a:ext uri="{9D8B030D-6E8A-4147-A177-3AD203B41FA5}">
                      <a16:colId xmlns:a16="http://schemas.microsoft.com/office/drawing/2014/main" val="4290466352"/>
                    </a:ext>
                  </a:extLst>
                </a:gridCol>
                <a:gridCol w="4430391">
                  <a:extLst>
                    <a:ext uri="{9D8B030D-6E8A-4147-A177-3AD203B41FA5}">
                      <a16:colId xmlns:a16="http://schemas.microsoft.com/office/drawing/2014/main" val="24545813"/>
                    </a:ext>
                  </a:extLst>
                </a:gridCol>
                <a:gridCol w="2212573">
                  <a:extLst>
                    <a:ext uri="{9D8B030D-6E8A-4147-A177-3AD203B41FA5}">
                      <a16:colId xmlns:a16="http://schemas.microsoft.com/office/drawing/2014/main" val="1801651582"/>
                    </a:ext>
                  </a:extLst>
                </a:gridCol>
              </a:tblGrid>
              <a:tr h="0">
                <a:tc gridSpan="2">
                  <a:txBody>
                    <a:bodyPr/>
                    <a:lstStyle/>
                    <a:p>
                      <a:r>
                        <a:rPr kumimoji="1" lang="ja-JP" altLang="en-US" sz="1400" b="1" dirty="0">
                          <a:solidFill>
                            <a:schemeClr val="bg1"/>
                          </a:solidFill>
                          <a:latin typeface="游ゴシック" panose="020B0400000000000000" pitchFamily="50" charset="-128"/>
                          <a:ea typeface="游ゴシック" panose="020B0400000000000000" pitchFamily="50" charset="-128"/>
                        </a:rPr>
                        <a:t>スキル項目</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endParaRPr kumimoji="1" lang="ja-JP" altLang="en-US"/>
                    </a:p>
                  </a:txBody>
                  <a:tcPr/>
                </a:tc>
                <a:tc>
                  <a:txBody>
                    <a:bodyPr/>
                    <a:lstStyle/>
                    <a:p>
                      <a:pPr algn="r"/>
                      <a:r>
                        <a:rPr kumimoji="1" lang="ja-JP" altLang="en-US" sz="1400" b="1" dirty="0">
                          <a:solidFill>
                            <a:schemeClr val="bg1"/>
                          </a:solidFill>
                          <a:latin typeface="游ゴシック" panose="020B0400000000000000" pitchFamily="50" charset="-128"/>
                          <a:ea typeface="游ゴシック" panose="020B0400000000000000" pitchFamily="50" charset="-128"/>
                        </a:rPr>
                        <a:t>技術者数</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488982562"/>
                  </a:ext>
                </a:extLst>
              </a:tr>
              <a:tr h="0">
                <a:tc>
                  <a:txBody>
                    <a:bodyPr/>
                    <a:lstStyle/>
                    <a:p>
                      <a:r>
                        <a:rPr kumimoji="1" lang="en-US" altLang="ja-JP" sz="1400" dirty="0">
                          <a:latin typeface="游ゴシック" panose="020B0400000000000000" pitchFamily="50" charset="-128"/>
                          <a:ea typeface="游ゴシック" panose="020B0400000000000000" pitchFamily="50" charset="-128"/>
                        </a:rPr>
                        <a:t>OS</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400" dirty="0">
                          <a:latin typeface="游ゴシック" panose="020B0400000000000000" pitchFamily="50" charset="-128"/>
                          <a:ea typeface="游ゴシック" panose="020B0400000000000000" pitchFamily="50" charset="-128"/>
                        </a:rPr>
                        <a:t>Windows Server</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101</a:t>
                      </a:r>
                      <a:r>
                        <a:rPr kumimoji="1" lang="ja-JP" altLang="en-US" sz="1400" dirty="0">
                          <a:latin typeface="游ゴシック" panose="020B0400000000000000" pitchFamily="50" charset="-128"/>
                          <a:ea typeface="游ゴシック" panose="020B0400000000000000" pitchFamily="50" charset="-128"/>
                        </a:rPr>
                        <a:t>人</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36726"/>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データベース</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400" dirty="0">
                          <a:latin typeface="游ゴシック" panose="020B0400000000000000" pitchFamily="50" charset="-128"/>
                          <a:ea typeface="游ゴシック" panose="020B0400000000000000" pitchFamily="50" charset="-128"/>
                        </a:rPr>
                        <a:t>Oracle</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176</a:t>
                      </a:r>
                      <a:r>
                        <a:rPr kumimoji="1" lang="ja-JP" altLang="en-US" sz="1400" dirty="0">
                          <a:latin typeface="游ゴシック" panose="020B0400000000000000" pitchFamily="50" charset="-128"/>
                          <a:ea typeface="游ゴシック" panose="020B0400000000000000" pitchFamily="50" charset="-128"/>
                        </a:rPr>
                        <a:t>人</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29801427"/>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フレームワーク</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400" dirty="0">
                          <a:latin typeface="游ゴシック" panose="020B0400000000000000" pitchFamily="50" charset="-128"/>
                          <a:ea typeface="游ゴシック" panose="020B0400000000000000" pitchFamily="50" charset="-128"/>
                        </a:rPr>
                        <a:t>.NET Framework</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55</a:t>
                      </a:r>
                      <a:r>
                        <a:rPr kumimoji="1" lang="ja-JP" altLang="en-US" sz="1400" dirty="0">
                          <a:latin typeface="游ゴシック" panose="020B0400000000000000" pitchFamily="50" charset="-128"/>
                          <a:ea typeface="游ゴシック" panose="020B0400000000000000" pitchFamily="50" charset="-128"/>
                        </a:rPr>
                        <a:t>人</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653907923"/>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言語</a:t>
                      </a:r>
                      <a:endParaRPr kumimoji="1" lang="en-US" altLang="ja-JP"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400" dirty="0">
                          <a:latin typeface="游ゴシック" panose="020B0400000000000000" pitchFamily="50" charset="-128"/>
                          <a:ea typeface="游ゴシック" panose="020B0400000000000000" pitchFamily="50" charset="-128"/>
                        </a:rPr>
                        <a:t>Visual Basic</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78</a:t>
                      </a:r>
                      <a:r>
                        <a:rPr kumimoji="1" lang="ja-JP" altLang="en-US" sz="1400" dirty="0">
                          <a:latin typeface="游ゴシック" panose="020B0400000000000000" pitchFamily="50" charset="-128"/>
                          <a:ea typeface="游ゴシック" panose="020B0400000000000000" pitchFamily="50" charset="-128"/>
                        </a:rPr>
                        <a:t>人</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545763241"/>
                  </a:ext>
                </a:extLst>
              </a:tr>
            </a:tbl>
          </a:graphicData>
        </a:graphic>
      </p:graphicFrame>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71</a:t>
            </a:fld>
            <a:endParaRPr kumimoji="1" lang="ja-JP" altLang="en-US"/>
          </a:p>
        </p:txBody>
      </p:sp>
      <p:sp>
        <p:nvSpPr>
          <p:cNvPr id="10" name="テキスト プレースホルダー 11"/>
          <p:cNvSpPr txBox="1">
            <a:spLocks/>
          </p:cNvSpPr>
          <p:nvPr/>
        </p:nvSpPr>
        <p:spPr>
          <a:xfrm>
            <a:off x="144000" y="3996000"/>
            <a:ext cx="2736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提案環境技術に関する技術者数</a:t>
            </a:r>
            <a:endParaRPr lang="en-US" sz="1600" b="1" dirty="0">
              <a:solidFill>
                <a:schemeClr val="accent1">
                  <a:lumMod val="50000"/>
                </a:schemeClr>
              </a:solidFill>
              <a:latin typeface="游ゴシック" panose="020B0400000000000000" pitchFamily="50" charset="-128"/>
            </a:endParaRPr>
          </a:p>
        </p:txBody>
      </p:sp>
      <p:sp>
        <p:nvSpPr>
          <p:cNvPr id="13" name="テキスト プレースホルダー 11"/>
          <p:cNvSpPr txBox="1">
            <a:spLocks/>
          </p:cNvSpPr>
          <p:nvPr/>
        </p:nvSpPr>
        <p:spPr>
          <a:xfrm>
            <a:off x="144000" y="1080000"/>
            <a:ext cx="2736000" cy="288000"/>
          </a:xfrm>
          <a:prstGeom prst="rect">
            <a:avLst/>
          </a:prstGeom>
        </p:spPr>
        <p:txBody>
          <a:bodyPr wrap="none" anchor="ctr">
            <a:noAutofit/>
          </a:bodyPr>
          <a:lstStyle>
            <a:lvl1pPr marL="228600" indent="-228600" algn="l" defTabSz="914400" rtl="0" eaLnBrk="1" latinLnBrk="1" hangingPunct="1">
              <a:lnSpc>
                <a:spcPct val="100000"/>
              </a:lnSpc>
              <a:spcBef>
                <a:spcPts val="0"/>
              </a:spcBef>
              <a:buFont typeface="Arial" panose="020B0604020202020204" pitchFamily="34" charset="0"/>
              <a:buChar char="•"/>
              <a:defRPr kumimoji="1" sz="3200" kern="1200" spc="300">
                <a:solidFill>
                  <a:schemeClr val="accent1"/>
                </a:solidFill>
                <a:latin typeface="+mj-lt"/>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1600" b="1" dirty="0">
                <a:solidFill>
                  <a:schemeClr val="accent1">
                    <a:lumMod val="50000"/>
                  </a:schemeClr>
                </a:solidFill>
                <a:latin typeface="游ゴシック" panose="020B0400000000000000" pitchFamily="50" charset="-128"/>
              </a:rPr>
              <a:t>提案環境の導入数およびユーザ数</a:t>
            </a:r>
            <a:endParaRPr lang="en-US" sz="1600" b="1" dirty="0">
              <a:solidFill>
                <a:schemeClr val="accent1">
                  <a:lumMod val="50000"/>
                </a:schemeClr>
              </a:solidFill>
              <a:latin typeface="游ゴシック" panose="020B0400000000000000" pitchFamily="50" charset="-128"/>
            </a:endParaRPr>
          </a:p>
        </p:txBody>
      </p:sp>
      <p:sp>
        <p:nvSpPr>
          <p:cNvPr id="17" name="コンテンツ プレースホルダー 2"/>
          <p:cNvSpPr txBox="1">
            <a:spLocks/>
          </p:cNvSpPr>
          <p:nvPr/>
        </p:nvSpPr>
        <p:spPr>
          <a:xfrm>
            <a:off x="144000" y="1440001"/>
            <a:ext cx="8856000" cy="792000"/>
          </a:xfrm>
          <a:prstGeom prst="rect">
            <a:avLst/>
          </a:prstGeom>
        </p:spPr>
        <p:txBody>
          <a:bodyPr vert="horz" lIns="91440" tIns="45720" rIns="91440" bIns="45720" rtlCol="0">
            <a:noAutofit/>
          </a:bodyPr>
          <a:lstStyle>
            <a:lvl1pPr marL="228600" indent="-228600" algn="l" defTabSz="914400" rtl="0" eaLnBrk="1" latinLnBrk="1" hangingPunct="1">
              <a:lnSpc>
                <a:spcPct val="100000"/>
              </a:lnSpc>
              <a:spcBef>
                <a:spcPts val="10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dirty="0"/>
              <a:t>今回ご提案しております環境である</a:t>
            </a:r>
            <a:r>
              <a:rPr lang="en-US" altLang="ja-JP" dirty="0"/>
              <a:t>Windows Server/Oracle/VB.NET</a:t>
            </a:r>
            <a:r>
              <a:rPr lang="ja-JP" altLang="en-US" dirty="0"/>
              <a:t>につきましては、いづれも導入実績が多数ございます。下記は、今回開発を担当します石油・化学ソリューション本部の過去３年間における提案環境のおおよその導入数およびユーザ数（導入企業数）を提示いたします。</a:t>
            </a:r>
            <a:endParaRPr lang="en-US" altLang="ja-JP" dirty="0"/>
          </a:p>
        </p:txBody>
      </p:sp>
      <p:graphicFrame>
        <p:nvGraphicFramePr>
          <p:cNvPr id="18" name="コンテンツ プレースホルダー 6"/>
          <p:cNvGraphicFramePr>
            <a:graphicFrameLocks/>
          </p:cNvGraphicFramePr>
          <p:nvPr>
            <p:extLst>
              <p:ext uri="{D42A27DB-BD31-4B8C-83A1-F6EECF244321}">
                <p14:modId xmlns:p14="http://schemas.microsoft.com/office/powerpoint/2010/main" val="2048225247"/>
              </p:ext>
            </p:extLst>
          </p:nvPr>
        </p:nvGraphicFramePr>
        <p:xfrm>
          <a:off x="144463" y="2304000"/>
          <a:ext cx="8855537" cy="1219200"/>
        </p:xfrm>
        <a:graphic>
          <a:graphicData uri="http://schemas.openxmlformats.org/drawingml/2006/table">
            <a:tbl>
              <a:tblPr firstRow="1" bandRow="1">
                <a:tableStyleId>{2D5ABB26-0587-4C30-8999-92F81FD0307C}</a:tableStyleId>
              </a:tblPr>
              <a:tblGrid>
                <a:gridCol w="2212238">
                  <a:extLst>
                    <a:ext uri="{9D8B030D-6E8A-4147-A177-3AD203B41FA5}">
                      <a16:colId xmlns:a16="http://schemas.microsoft.com/office/drawing/2014/main" val="4290466352"/>
                    </a:ext>
                  </a:extLst>
                </a:gridCol>
                <a:gridCol w="3102763">
                  <a:extLst>
                    <a:ext uri="{9D8B030D-6E8A-4147-A177-3AD203B41FA5}">
                      <a16:colId xmlns:a16="http://schemas.microsoft.com/office/drawing/2014/main" val="24545813"/>
                    </a:ext>
                  </a:extLst>
                </a:gridCol>
                <a:gridCol w="1374969">
                  <a:extLst>
                    <a:ext uri="{9D8B030D-6E8A-4147-A177-3AD203B41FA5}">
                      <a16:colId xmlns:a16="http://schemas.microsoft.com/office/drawing/2014/main" val="2523728328"/>
                    </a:ext>
                  </a:extLst>
                </a:gridCol>
                <a:gridCol w="2165567">
                  <a:extLst>
                    <a:ext uri="{9D8B030D-6E8A-4147-A177-3AD203B41FA5}">
                      <a16:colId xmlns:a16="http://schemas.microsoft.com/office/drawing/2014/main" val="1801651582"/>
                    </a:ext>
                  </a:extLst>
                </a:gridCol>
              </a:tblGrid>
              <a:tr h="0">
                <a:tc gridSpan="2">
                  <a:txBody>
                    <a:bodyPr/>
                    <a:lstStyle/>
                    <a:p>
                      <a:r>
                        <a:rPr kumimoji="1" lang="ja-JP" altLang="en-US" sz="1400" b="1" dirty="0">
                          <a:solidFill>
                            <a:schemeClr val="bg1"/>
                          </a:solidFill>
                          <a:latin typeface="游ゴシック" panose="020B0400000000000000" pitchFamily="50" charset="-128"/>
                          <a:ea typeface="游ゴシック" panose="020B0400000000000000" pitchFamily="50" charset="-128"/>
                        </a:rPr>
                        <a:t>技術</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hMerge="1">
                  <a:txBody>
                    <a:bodyPr/>
                    <a:lstStyle/>
                    <a:p>
                      <a:endParaRPr kumimoji="1" lang="ja-JP" altLang="en-US"/>
                    </a:p>
                  </a:txBody>
                  <a:tcPr/>
                </a:tc>
                <a:tc>
                  <a:txBody>
                    <a:bodyPr/>
                    <a:lstStyle/>
                    <a:p>
                      <a:pPr algn="r"/>
                      <a:r>
                        <a:rPr kumimoji="1" lang="ja-JP" altLang="en-US" sz="1400" b="1" dirty="0">
                          <a:solidFill>
                            <a:schemeClr val="bg1"/>
                          </a:solidFill>
                          <a:latin typeface="游ゴシック" panose="020B0400000000000000" pitchFamily="50" charset="-128"/>
                          <a:ea typeface="游ゴシック" panose="020B0400000000000000" pitchFamily="50" charset="-128"/>
                        </a:rPr>
                        <a:t>導入数</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r"/>
                      <a:r>
                        <a:rPr kumimoji="1" lang="ja-JP" altLang="en-US" sz="1400" b="1" dirty="0">
                          <a:solidFill>
                            <a:schemeClr val="bg1"/>
                          </a:solidFill>
                          <a:latin typeface="游ゴシック" panose="020B0400000000000000" pitchFamily="50" charset="-128"/>
                          <a:ea typeface="游ゴシック" panose="020B0400000000000000" pitchFamily="50" charset="-128"/>
                        </a:rPr>
                        <a:t>ユーザ数（導入企業数）</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488982562"/>
                  </a:ext>
                </a:extLst>
              </a:tr>
              <a:tr h="0">
                <a:tc>
                  <a:txBody>
                    <a:bodyPr/>
                    <a:lstStyle/>
                    <a:p>
                      <a:r>
                        <a:rPr kumimoji="1" lang="en-US" altLang="ja-JP" sz="1400" dirty="0">
                          <a:latin typeface="游ゴシック" panose="020B0400000000000000" pitchFamily="50" charset="-128"/>
                          <a:ea typeface="游ゴシック" panose="020B0400000000000000" pitchFamily="50" charset="-128"/>
                        </a:rPr>
                        <a:t>OS</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400" dirty="0">
                          <a:latin typeface="游ゴシック" panose="020B0400000000000000" pitchFamily="50" charset="-128"/>
                          <a:ea typeface="游ゴシック" panose="020B0400000000000000" pitchFamily="50" charset="-128"/>
                        </a:rPr>
                        <a:t>Windows Server</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25</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13</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012136726"/>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データベース</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400" dirty="0">
                          <a:latin typeface="游ゴシック" panose="020B0400000000000000" pitchFamily="50" charset="-128"/>
                          <a:ea typeface="游ゴシック" panose="020B0400000000000000" pitchFamily="50" charset="-128"/>
                        </a:rPr>
                        <a:t>Oracle</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28</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4</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129801427"/>
                  </a:ext>
                </a:extLst>
              </a:tr>
              <a:tr h="0">
                <a:tc>
                  <a:txBody>
                    <a:bodyPr/>
                    <a:lstStyle/>
                    <a:p>
                      <a:r>
                        <a:rPr kumimoji="1" lang="ja-JP" altLang="en-US" sz="1400" dirty="0">
                          <a:latin typeface="游ゴシック" panose="020B0400000000000000" pitchFamily="50" charset="-128"/>
                          <a:ea typeface="游ゴシック" panose="020B0400000000000000" pitchFamily="50" charset="-128"/>
                        </a:rPr>
                        <a:t>開発言語</a:t>
                      </a: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r>
                        <a:rPr kumimoji="1" lang="en-US" altLang="ja-JP" sz="1400" dirty="0">
                          <a:latin typeface="游ゴシック" panose="020B0400000000000000" pitchFamily="50" charset="-128"/>
                          <a:ea typeface="游ゴシック" panose="020B0400000000000000" pitchFamily="50" charset="-128"/>
                        </a:rPr>
                        <a:t>VB.NET</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20</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tc>
                  <a:txBody>
                    <a:bodyPr/>
                    <a:lstStyle/>
                    <a:p>
                      <a:pPr algn="r"/>
                      <a:r>
                        <a:rPr kumimoji="1" lang="en-US" altLang="ja-JP" sz="1400" dirty="0">
                          <a:latin typeface="游ゴシック" panose="020B0400000000000000" pitchFamily="50" charset="-128"/>
                          <a:ea typeface="游ゴシック" panose="020B0400000000000000" pitchFamily="50" charset="-128"/>
                        </a:rPr>
                        <a:t>11</a:t>
                      </a:r>
                      <a:endParaRPr kumimoji="1" lang="ja-JP" altLang="en-US" sz="1400" dirty="0">
                        <a:latin typeface="游ゴシック" panose="020B0400000000000000" pitchFamily="50" charset="-128"/>
                        <a:ea typeface="游ゴシック" panose="020B0400000000000000" pitchFamily="50" charset="-128"/>
                      </a:endParaRPr>
                    </a:p>
                  </a:txBody>
                  <a:tcP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653907923"/>
                  </a:ext>
                </a:extLst>
              </a:tr>
            </a:tbl>
          </a:graphicData>
        </a:graphic>
      </p:graphicFrame>
    </p:spTree>
    <p:extLst>
      <p:ext uri="{BB962C8B-B14F-4D97-AF65-F5344CB8AC3E}">
        <p14:creationId xmlns:p14="http://schemas.microsoft.com/office/powerpoint/2010/main" val="28436058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類似</a:t>
            </a:r>
            <a:r>
              <a:rPr kumimoji="1" lang="ja-JP" altLang="en-US" dirty="0"/>
              <a:t>案件の実績 </a:t>
            </a:r>
            <a:r>
              <a:rPr lang="en-US" altLang="ja-JP" dirty="0"/>
              <a:t>-</a:t>
            </a:r>
            <a:r>
              <a:rPr kumimoji="1" lang="en-US" altLang="ja-JP" dirty="0"/>
              <a:t> 1</a:t>
            </a:r>
            <a:r>
              <a:rPr kumimoji="1" lang="ja-JP" altLang="en-US" dirty="0"/>
              <a:t>　（全社実績）</a:t>
            </a:r>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72</a:t>
            </a:fld>
            <a:endParaRPr kumimoji="1" lang="ja-JP" altLang="en-US"/>
          </a:p>
        </p:txBody>
      </p:sp>
      <p:graphicFrame>
        <p:nvGraphicFramePr>
          <p:cNvPr id="6" name="表 5"/>
          <p:cNvGraphicFramePr>
            <a:graphicFrameLocks noGrp="1"/>
          </p:cNvGraphicFramePr>
          <p:nvPr>
            <p:extLst>
              <p:ext uri="{D42A27DB-BD31-4B8C-83A1-F6EECF244321}">
                <p14:modId xmlns:p14="http://schemas.microsoft.com/office/powerpoint/2010/main" val="1027926122"/>
              </p:ext>
            </p:extLst>
          </p:nvPr>
        </p:nvGraphicFramePr>
        <p:xfrm>
          <a:off x="144000" y="864003"/>
          <a:ext cx="8856000" cy="5453952"/>
        </p:xfrm>
        <a:graphic>
          <a:graphicData uri="http://schemas.openxmlformats.org/drawingml/2006/table">
            <a:tbl>
              <a:tblPr>
                <a:tableStyleId>{5C22544A-7EE6-4342-B048-85BDC9FD1C3A}</a:tableStyleId>
              </a:tblPr>
              <a:tblGrid>
                <a:gridCol w="383901">
                  <a:extLst>
                    <a:ext uri="{9D8B030D-6E8A-4147-A177-3AD203B41FA5}">
                      <a16:colId xmlns:a16="http://schemas.microsoft.com/office/drawing/2014/main" val="20000"/>
                    </a:ext>
                  </a:extLst>
                </a:gridCol>
                <a:gridCol w="556181">
                  <a:extLst>
                    <a:ext uri="{9D8B030D-6E8A-4147-A177-3AD203B41FA5}">
                      <a16:colId xmlns:a16="http://schemas.microsoft.com/office/drawing/2014/main" val="20001"/>
                    </a:ext>
                  </a:extLst>
                </a:gridCol>
                <a:gridCol w="5354425">
                  <a:extLst>
                    <a:ext uri="{9D8B030D-6E8A-4147-A177-3AD203B41FA5}">
                      <a16:colId xmlns:a16="http://schemas.microsoft.com/office/drawing/2014/main" val="20002"/>
                    </a:ext>
                  </a:extLst>
                </a:gridCol>
                <a:gridCol w="1489435">
                  <a:extLst>
                    <a:ext uri="{9D8B030D-6E8A-4147-A177-3AD203B41FA5}">
                      <a16:colId xmlns:a16="http://schemas.microsoft.com/office/drawing/2014/main" val="20003"/>
                    </a:ext>
                  </a:extLst>
                </a:gridCol>
                <a:gridCol w="1072058">
                  <a:extLst>
                    <a:ext uri="{9D8B030D-6E8A-4147-A177-3AD203B41FA5}">
                      <a16:colId xmlns:a16="http://schemas.microsoft.com/office/drawing/2014/main" val="20005"/>
                    </a:ext>
                  </a:extLst>
                </a:gridCol>
              </a:tblGrid>
              <a:tr h="2189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業種</a:t>
                      </a:r>
                      <a:endPar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873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不動産</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商業施設運営管理システム開発</a:t>
                      </a: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テナントとの契約、修繕・原状復旧工事、警備・植栽・備品等の施設管理、販促、会計・オーナー請求、予実績管理など、商業施設運営に関わる一連の業務をシステム化。アプリ、インフラ領域の全てを担当。</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C#,PL/SQL</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2,800</a:t>
                      </a: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p>
                  </a:txBody>
                  <a:tcPr marL="72000" marR="72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54644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建設</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経営診断システム開発</a:t>
                      </a:r>
                      <a:endParaRPr kumimoji="1" lang="en-US" altLang="ja-JP" sz="140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建設業登録時の審査対応として、経営状況分析システムを建設系財団法人様へ導入。現在は自社リモート環境で保守対応を継続中。</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VB.NET</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400</a:t>
                      </a: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p>
                  </a:txBody>
                  <a:tcPr marL="72000" marR="72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0929575"/>
                  </a:ext>
                </a:extLst>
              </a:tr>
              <a:tr h="57918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25000"/>
                        </a:spcAft>
                        <a:buClrTx/>
                        <a:buSzPct val="70000"/>
                        <a:buFont typeface="Wingdings" pitchFamily="2" charset="2"/>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船舶</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u="sng" strike="noStrike" kern="1200" baseline="0" dirty="0">
                          <a:latin typeface="游ゴシック" panose="020B0400000000000000" pitchFamily="50" charset="-128"/>
                          <a:ea typeface="游ゴシック" panose="020B0400000000000000" pitchFamily="50" charset="-128"/>
                          <a:cs typeface="Meiryo UI" panose="020B0604030504040204" pitchFamily="50" charset="-128"/>
                        </a:rPr>
                        <a:t>船舶検査情報管理システム開発</a:t>
                      </a:r>
                      <a:endParaRPr kumimoji="1" lang="ja-JP" altLang="en-US" sz="1400" u="none" strike="noStrike" kern="1200" baseline="0" dirty="0">
                        <a:latin typeface="游ゴシック" panose="020B0400000000000000" pitchFamily="50" charset="-128"/>
                        <a:ea typeface="游ゴシック" panose="020B0400000000000000" pitchFamily="50" charset="-128"/>
                        <a:cs typeface="Meiryo UI" panose="020B0604030504040204" pitchFamily="50" charset="-128"/>
                      </a:endParaRPr>
                    </a:p>
                    <a:p>
                      <a:r>
                        <a:rPr kumimoji="1" lang="ja-JP" altLang="en-US" sz="1400" u="none" strike="noStrike" kern="1200" baseline="0" dirty="0">
                          <a:latin typeface="游ゴシック" panose="020B0400000000000000" pitchFamily="50" charset="-128"/>
                          <a:ea typeface="游ゴシック" panose="020B0400000000000000" pitchFamily="50" charset="-128"/>
                          <a:cs typeface="Meiryo UI" panose="020B0604030504040204" pitchFamily="50" charset="-128"/>
                        </a:rPr>
                        <a:t>船舶の検査情報を管理し証書を出力するシステム。現在も保守対応継続中。</a:t>
                      </a:r>
                      <a:endParaRPr kumimoji="1" lang="ja-JP" altLang="en-US" sz="1400" dirty="0">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Solaris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C#.NET</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250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5136893"/>
                  </a:ext>
                </a:extLst>
              </a:tr>
              <a:tr h="710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船舶</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温室効果ガス計算システム開発</a:t>
                      </a:r>
                      <a:endParaRPr kumimoji="1" lang="en-US" altLang="ja-JP"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船舶での燃料消費量を基に</a:t>
                      </a:r>
                      <a:r>
                        <a:rPr kumimoji="1" lang="en-US" altLang="ja-JP"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CO2</a:t>
                      </a: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排出量を計算、任意の期間でその結果をグラフィカルに閲覧できるシステムを構築。また、</a:t>
                      </a:r>
                      <a:r>
                        <a:rPr kumimoji="1" lang="en-US" altLang="ja-JP" sz="1400" u="none" strike="noStrike" cap="none" normalizeH="0" baseline="0" dirty="0" err="1">
                          <a:ln>
                            <a:noFill/>
                          </a:ln>
                          <a:effectLst/>
                          <a:latin typeface="游ゴシック" panose="020B0400000000000000" pitchFamily="50" charset="-128"/>
                          <a:ea typeface="游ゴシック" panose="020B0400000000000000" pitchFamily="50" charset="-128"/>
                          <a:cs typeface="Meiryo UI" panose="020B0604030504040204" pitchFamily="50" charset="-128"/>
                        </a:rPr>
                        <a:t>AdobeFlex</a:t>
                      </a: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を利用し</a:t>
                      </a:r>
                      <a:r>
                        <a:rPr kumimoji="1" lang="en-US" altLang="ja-JP"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Web</a:t>
                      </a: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上でグラフ表示するリッチな</a:t>
                      </a:r>
                      <a:r>
                        <a:rPr kumimoji="1" lang="en-US" altLang="ja-JP"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I/F</a:t>
                      </a: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を提供。</a:t>
                      </a:r>
                      <a:endPar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C#.NET</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150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7695766"/>
                  </a:ext>
                </a:extLst>
              </a:tr>
              <a:tr h="8739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アパレル</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物流パッケージ開発</a:t>
                      </a:r>
                      <a:endParaRPr kumimoji="1" lang="en-US" altLang="ja-JP" sz="140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自社倉庫での利用、他物流会社への販売を目的にアパレル業界向けの物流パッケージを新規に作成。倉庫での主要業務をフルスクラッチにて開発し現在でも同社の主力製品として販売されている。</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 VB.NET</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100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29561531"/>
                  </a:ext>
                </a:extLst>
              </a:tr>
              <a:tr h="54644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保険</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少額短期保険ソリューション開発</a:t>
                      </a:r>
                      <a:endParaRPr kumimoji="1" lang="en-US" altLang="ja-JP"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少額短期保険事業者に向けての自社パッケージ提供に伴う開発を保険会社様</a:t>
                      </a:r>
                      <a:r>
                        <a:rPr kumimoji="1" lang="en-US" altLang="ja-JP"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5</a:t>
                      </a:r>
                      <a:r>
                        <a:rPr kumimoji="1" lang="ja-JP" altLang="en-US" sz="140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社に向けて実施。</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Windows</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a:t>
                      </a:r>
                      <a:r>
                        <a:rPr kumimoji="1" lang="en-US" altLang="ja-JP" sz="1400" b="0" u="none" strike="noStrike" cap="none" normalizeH="0" baseline="0" dirty="0" err="1">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SQLServer</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C#.NET</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100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39443281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類似</a:t>
            </a:r>
            <a:r>
              <a:rPr lang="ja-JP" altLang="en-US" dirty="0"/>
              <a:t>案件の実績 </a:t>
            </a:r>
            <a:r>
              <a:rPr lang="en-US" altLang="ja-JP" dirty="0"/>
              <a:t>- 2</a:t>
            </a:r>
            <a:r>
              <a:rPr lang="ja-JP" altLang="en-US" dirty="0"/>
              <a:t>　（開発担当部門の実績）</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73</a:t>
            </a:fld>
            <a:endParaRPr kumimoji="1" lang="ja-JP" altLang="en-US"/>
          </a:p>
        </p:txBody>
      </p:sp>
      <p:graphicFrame>
        <p:nvGraphicFramePr>
          <p:cNvPr id="7" name="表 6"/>
          <p:cNvGraphicFramePr>
            <a:graphicFrameLocks noGrp="1"/>
          </p:cNvGraphicFramePr>
          <p:nvPr>
            <p:extLst>
              <p:ext uri="{D42A27DB-BD31-4B8C-83A1-F6EECF244321}">
                <p14:modId xmlns:p14="http://schemas.microsoft.com/office/powerpoint/2010/main" val="856219173"/>
              </p:ext>
            </p:extLst>
          </p:nvPr>
        </p:nvGraphicFramePr>
        <p:xfrm>
          <a:off x="144000" y="864002"/>
          <a:ext cx="8856000" cy="5454274"/>
        </p:xfrm>
        <a:graphic>
          <a:graphicData uri="http://schemas.openxmlformats.org/drawingml/2006/table">
            <a:tbl>
              <a:tblPr>
                <a:tableStyleId>{5C22544A-7EE6-4342-B048-85BDC9FD1C3A}</a:tableStyleId>
              </a:tblPr>
              <a:tblGrid>
                <a:gridCol w="383901">
                  <a:extLst>
                    <a:ext uri="{9D8B030D-6E8A-4147-A177-3AD203B41FA5}">
                      <a16:colId xmlns:a16="http://schemas.microsoft.com/office/drawing/2014/main" val="20000"/>
                    </a:ext>
                  </a:extLst>
                </a:gridCol>
                <a:gridCol w="556181">
                  <a:extLst>
                    <a:ext uri="{9D8B030D-6E8A-4147-A177-3AD203B41FA5}">
                      <a16:colId xmlns:a16="http://schemas.microsoft.com/office/drawing/2014/main" val="20001"/>
                    </a:ext>
                  </a:extLst>
                </a:gridCol>
                <a:gridCol w="5354425">
                  <a:extLst>
                    <a:ext uri="{9D8B030D-6E8A-4147-A177-3AD203B41FA5}">
                      <a16:colId xmlns:a16="http://schemas.microsoft.com/office/drawing/2014/main" val="20002"/>
                    </a:ext>
                  </a:extLst>
                </a:gridCol>
                <a:gridCol w="1489435">
                  <a:extLst>
                    <a:ext uri="{9D8B030D-6E8A-4147-A177-3AD203B41FA5}">
                      <a16:colId xmlns:a16="http://schemas.microsoft.com/office/drawing/2014/main" val="20003"/>
                    </a:ext>
                  </a:extLst>
                </a:gridCol>
                <a:gridCol w="1072058">
                  <a:extLst>
                    <a:ext uri="{9D8B030D-6E8A-4147-A177-3AD203B41FA5}">
                      <a16:colId xmlns:a16="http://schemas.microsoft.com/office/drawing/2014/main" val="20005"/>
                    </a:ext>
                  </a:extLst>
                </a:gridCol>
              </a:tblGrid>
              <a:tr h="28304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業種</a:t>
                      </a:r>
                      <a:endPar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965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石油化学</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貴社案件</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VB6</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965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石油化学</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貴社案件</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化学工場にて稼働する製造工程に関わる４つのシステムを統合。レガシー</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Oracle11g </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Oracle12c </a:t>
                      </a:r>
                      <a:r>
                        <a:rPr kumimoji="1" lang="ja-JP" altLang="en-US" sz="1400" b="0" u="none" strike="noStrike" cap="none" normalizeH="0" baseline="0" dirty="0" err="1">
                          <a:ln>
                            <a:noFill/>
                          </a:ln>
                          <a:effectLst/>
                          <a:latin typeface="游ゴシック" panose="020B0400000000000000" pitchFamily="50" charset="-128"/>
                          <a:ea typeface="游ゴシック" panose="020B0400000000000000" pitchFamily="50" charset="-128"/>
                          <a:cs typeface="Meiryo UI" panose="020B0604030504040204" pitchFamily="50" charset="-128"/>
                        </a:rPr>
                        <a:t>への</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バージョンアップ対応も実施。</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ASP,VB6</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0929575"/>
                  </a:ext>
                </a:extLst>
              </a:tr>
              <a:tr h="7873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25000"/>
                        </a:spcAft>
                        <a:buClrTx/>
                        <a:buSzPct val="70000"/>
                        <a:buFont typeface="Wingdings" pitchFamily="2" charset="2"/>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石油化学</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千葉品質管理システム再構築</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貴社案件</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化学工場にて稼働する品質管理に関わる５つのシステムを統合。レガシー</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言語</a:t>
                      </a: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 Java</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120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5136893"/>
                  </a:ext>
                </a:extLst>
              </a:tr>
              <a:tr h="7427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石油化学</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latinLnBrk="1"/>
                      <a:r>
                        <a:rPr kumimoji="1" lang="en-US" altLang="ja-JP" sz="1400" b="0" u="sng"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MES</a:t>
                      </a:r>
                      <a:r>
                        <a:rPr kumimoji="1" lang="ja-JP" altLang="en-US" sz="1400" b="0" u="sng"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システム更新</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貴社案件</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auto" latinLnBrk="1" hangingPunct="1">
                        <a:lnSpc>
                          <a:spcPct val="100000"/>
                        </a:lnSpc>
                        <a:spcBef>
                          <a:spcPts val="0"/>
                        </a:spcBef>
                        <a:spcAft>
                          <a:spcPts val="0"/>
                        </a:spcAft>
                        <a:buClrTx/>
                        <a:buSzTx/>
                        <a:buFontTx/>
                        <a:buNone/>
                        <a:tabLst/>
                        <a:defRPr/>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サーバ老朽化に伴う</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MES</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システムのバージョンアップ対応。</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で構築されたシステムのサーバ</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更新。</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Windows</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Oracle</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VB.NET</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20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7695766"/>
                  </a:ext>
                </a:extLst>
              </a:tr>
              <a:tr h="96534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不動産</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spcBef>
                          <a:spcPts val="0"/>
                        </a:spcBef>
                        <a:buFont typeface="Wingdings" panose="05000000000000000000" pitchFamily="2" charset="2"/>
                        <a:buNone/>
                      </a:pPr>
                      <a:r>
                        <a:rPr kumimoji="1" lang="ja-JP" altLang="en-US" sz="1400" b="0" u="sng" dirty="0">
                          <a:latin typeface="游ゴシック" panose="020B0400000000000000" pitchFamily="50" charset="-128"/>
                          <a:ea typeface="游ゴシック" panose="020B0400000000000000" pitchFamily="50" charset="-128"/>
                        </a:rPr>
                        <a:t>契約書・品質検査写真管理システム構築</a:t>
                      </a:r>
                      <a:endParaRPr kumimoji="1" lang="en-US" altLang="ja-JP" sz="1400" b="0" u="sng" dirty="0">
                        <a:latin typeface="游ゴシック" panose="020B0400000000000000" pitchFamily="50" charset="-128"/>
                        <a:ea typeface="游ゴシック" panose="020B0400000000000000" pitchFamily="50" charset="-128"/>
                      </a:endParaRPr>
                    </a:p>
                    <a:p>
                      <a:pPr marL="0" indent="0" latinLnBrk="1">
                        <a:spcBef>
                          <a:spcPts val="0"/>
                        </a:spcBef>
                        <a:buFont typeface="Wingdings" panose="05000000000000000000" pitchFamily="2" charset="2"/>
                        <a:buNone/>
                      </a:pPr>
                      <a:r>
                        <a:rPr kumimoji="1" lang="ja-JP" altLang="en-US" sz="1400" u="none" dirty="0">
                          <a:latin typeface="游ゴシック" panose="020B0400000000000000" pitchFamily="50" charset="-128"/>
                          <a:ea typeface="游ゴシック" panose="020B0400000000000000" pitchFamily="50" charset="-128"/>
                        </a:rPr>
                        <a:t>不動産契約に関連する契約書類管理システム、</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建築中物件の品質検査写真の承認システム及び品質検査写真を契約者に公開し、</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SNS</a:t>
                      </a:r>
                      <a:r>
                        <a:rPr kumimoji="1" lang="ja-JP" altLang="en-US" sz="1400" b="0" u="none" strike="noStrike" cap="none" normalizeH="0" baseline="0" dirty="0" err="1">
                          <a:ln>
                            <a:noFill/>
                          </a:ln>
                          <a:effectLst/>
                          <a:latin typeface="游ゴシック" panose="020B0400000000000000" pitchFamily="50" charset="-128"/>
                          <a:ea typeface="游ゴシック" panose="020B0400000000000000" pitchFamily="50" charset="-128"/>
                          <a:cs typeface="Meiryo UI" panose="020B0604030504040204" pitchFamily="50" charset="-128"/>
                        </a:rPr>
                        <a:t>への</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投稿を可能とする契約者向けサービスシステムの構築。</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Windows</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Oracle</a:t>
                      </a: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VB.NET</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29561531"/>
                  </a:ext>
                </a:extLst>
              </a:tr>
              <a:tr h="7427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6</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食品卸</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spcBef>
                          <a:spcPts val="0"/>
                        </a:spcBef>
                        <a:buFont typeface="Wingdings" panose="05000000000000000000" pitchFamily="2" charset="2"/>
                        <a:buNone/>
                      </a:pPr>
                      <a:r>
                        <a:rPr kumimoji="1" lang="ja-JP" altLang="en-US" sz="1400" b="0" u="sng"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販売管理システム構築</a:t>
                      </a:r>
                      <a:endParaRPr kumimoji="1" lang="en-US" altLang="ja-JP" sz="1400" b="0" u="sng"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indent="0">
                        <a:spcBef>
                          <a:spcPts val="0"/>
                        </a:spcBef>
                        <a:buFont typeface="Wingdings" panose="05000000000000000000" pitchFamily="2" charset="2"/>
                        <a:buNone/>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見積・受注・売上・発注・仕入・在庫・入出金・会計システム連携機能など販売管理の機能全般を搭載するシステムの構築。</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Windows</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a:t>
                      </a:r>
                      <a:r>
                        <a:rPr kumimoji="1" lang="en-US" altLang="ja-JP" sz="1400" b="0" u="none" strike="noStrike" cap="none" normalizeH="0" baseline="0" dirty="0" err="1">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SQLServer</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VB.NET</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100</a:t>
                      </a: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人月</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41170676"/>
                  </a:ext>
                </a:extLst>
              </a:tr>
            </a:tbl>
          </a:graphicData>
        </a:graphic>
      </p:graphicFrame>
    </p:spTree>
    <p:extLst>
      <p:ext uri="{BB962C8B-B14F-4D97-AF65-F5344CB8AC3E}">
        <p14:creationId xmlns:p14="http://schemas.microsoft.com/office/powerpoint/2010/main" val="4773174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オフショア利用</a:t>
            </a:r>
            <a:r>
              <a:rPr kumimoji="1" lang="ja-JP" altLang="en-US" dirty="0"/>
              <a:t>案件の実績</a:t>
            </a:r>
          </a:p>
        </p:txBody>
      </p:sp>
      <p:sp>
        <p:nvSpPr>
          <p:cNvPr id="4" name="フッター プレースホルダー 3"/>
          <p:cNvSpPr>
            <a:spLocks noGrp="1"/>
          </p:cNvSpPr>
          <p:nvPr>
            <p:ph type="ftr" sz="quarter" idx="11"/>
          </p:nvPr>
        </p:nvSpPr>
        <p:spPr/>
        <p:txBody>
          <a:bodyPr/>
          <a:lstStyle/>
          <a:p>
            <a:r>
              <a:rPr lang="en-US" altLang="ja-JP" dirty="0"/>
              <a:t>Copyright© 2020 </a:t>
            </a:r>
            <a:r>
              <a:rPr lang="en-US" altLang="ja-JP" dirty="0" err="1"/>
              <a:t>SystemEXE,Inc</a:t>
            </a:r>
            <a:r>
              <a:rPr lang="en-US" altLang="ja-JP"/>
              <a:t>.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74</a:t>
            </a:fld>
            <a:endParaRPr kumimoji="1" lang="ja-JP" altLang="en-US"/>
          </a:p>
        </p:txBody>
      </p:sp>
      <p:graphicFrame>
        <p:nvGraphicFramePr>
          <p:cNvPr id="6" name="表 5"/>
          <p:cNvGraphicFramePr>
            <a:graphicFrameLocks noGrp="1"/>
          </p:cNvGraphicFramePr>
          <p:nvPr>
            <p:extLst>
              <p:ext uri="{D42A27DB-BD31-4B8C-83A1-F6EECF244321}">
                <p14:modId xmlns:p14="http://schemas.microsoft.com/office/powerpoint/2010/main" val="2921106239"/>
              </p:ext>
            </p:extLst>
          </p:nvPr>
        </p:nvGraphicFramePr>
        <p:xfrm>
          <a:off x="144000" y="864005"/>
          <a:ext cx="8856000" cy="5256934"/>
        </p:xfrm>
        <a:graphic>
          <a:graphicData uri="http://schemas.openxmlformats.org/drawingml/2006/table">
            <a:tbl>
              <a:tblPr>
                <a:tableStyleId>{5C22544A-7EE6-4342-B048-85BDC9FD1C3A}</a:tableStyleId>
              </a:tblPr>
              <a:tblGrid>
                <a:gridCol w="389542">
                  <a:extLst>
                    <a:ext uri="{9D8B030D-6E8A-4147-A177-3AD203B41FA5}">
                      <a16:colId xmlns:a16="http://schemas.microsoft.com/office/drawing/2014/main" val="20000"/>
                    </a:ext>
                  </a:extLst>
                </a:gridCol>
                <a:gridCol w="549823">
                  <a:extLst>
                    <a:ext uri="{9D8B030D-6E8A-4147-A177-3AD203B41FA5}">
                      <a16:colId xmlns:a16="http://schemas.microsoft.com/office/drawing/2014/main" val="20001"/>
                    </a:ext>
                  </a:extLst>
                </a:gridCol>
                <a:gridCol w="4263887">
                  <a:extLst>
                    <a:ext uri="{9D8B030D-6E8A-4147-A177-3AD203B41FA5}">
                      <a16:colId xmlns:a16="http://schemas.microsoft.com/office/drawing/2014/main" val="20002"/>
                    </a:ext>
                  </a:extLst>
                </a:gridCol>
                <a:gridCol w="1510748">
                  <a:extLst>
                    <a:ext uri="{9D8B030D-6E8A-4147-A177-3AD203B41FA5}">
                      <a16:colId xmlns:a16="http://schemas.microsoft.com/office/drawing/2014/main" val="20003"/>
                    </a:ext>
                  </a:extLst>
                </a:gridCol>
                <a:gridCol w="1073426">
                  <a:extLst>
                    <a:ext uri="{9D8B030D-6E8A-4147-A177-3AD203B41FA5}">
                      <a16:colId xmlns:a16="http://schemas.microsoft.com/office/drawing/2014/main" val="20004"/>
                    </a:ext>
                  </a:extLst>
                </a:gridCol>
                <a:gridCol w="1068574">
                  <a:extLst>
                    <a:ext uri="{9D8B030D-6E8A-4147-A177-3AD203B41FA5}">
                      <a16:colId xmlns:a16="http://schemas.microsoft.com/office/drawing/2014/main" val="20005"/>
                    </a:ext>
                  </a:extLst>
                </a:gridCol>
              </a:tblGrid>
              <a:tr h="2844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No</a:t>
                      </a:r>
                      <a:endPar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業種</a:t>
                      </a:r>
                      <a:endPar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プロジェクト概要</a:t>
                      </a:r>
                      <a:endParaRPr kumimoji="1" lang="en-US" altLang="ja-JP"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環境</a:t>
                      </a:r>
                      <a:endPar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ｵﾌｼｮｱ</a:t>
                      </a:r>
                      <a:r>
                        <a:rPr kumimoji="1" lang="ja-JP" altLang="en-US" sz="1400" b="1" i="0"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itchFamily="50" charset="-128"/>
                        </a:rPr>
                        <a:t>範囲</a:t>
                      </a: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rPr>
                        <a:t>開発規模</a:t>
                      </a:r>
                      <a:endParaRPr kumimoji="1" lang="en-US" altLang="ja-JP" sz="1400" b="1" u="none" strike="noStrike" cap="none" normalizeH="0" baseline="0" dirty="0">
                        <a:ln>
                          <a:noFill/>
                        </a:ln>
                        <a:solidFill>
                          <a:schemeClr val="bg1"/>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anchor="ctr"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9852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dk1"/>
                          </a:solidFill>
                          <a:effectLst/>
                          <a:latin typeface="游ゴシック" panose="020B0400000000000000" pitchFamily="50" charset="-128"/>
                          <a:ea typeface="游ゴシック" panose="020B0400000000000000" pitchFamily="50" charset="-128"/>
                          <a:cs typeface="Meiryo UI" pitchFamily="50" charset="-128"/>
                        </a:rPr>
                        <a:t>1</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石油化学</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製品倉庫システム再構築</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貴社案件</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VB6.0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で構築されたシステムを</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VB.NET</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2008 R2 + Windows7 </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から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Windows Server 2016 + Windows10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への更新</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VB.NET</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:VB6</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開発</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単体ﾃｽﾄ</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70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(30</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人月</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9852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2</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石油化学</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化学工場システム再構築</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貴社案件</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化学工場にて稼働する４つのシステムを統合。レガシー</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ASP</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および</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VB</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で構築されているシステムを</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Java</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で再構築。</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Oracle</a:t>
                      </a: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のバージョンアップ対応も実施。</a:t>
                      </a:r>
                      <a:endPar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DB: Oracle</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 Java</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その他</a:t>
                      </a:r>
                      <a:r>
                        <a:rPr kumimoji="1" lang="en-US" altLang="ja-JP" sz="1400" b="0" u="none" strike="noStrike" cap="none" normalizeH="0" baseline="0" dirty="0">
                          <a:ln>
                            <a:noFill/>
                          </a:ln>
                          <a:effectLst/>
                          <a:latin typeface="游ゴシック" panose="020B0400000000000000" pitchFamily="50" charset="-128"/>
                          <a:ea typeface="游ゴシック" panose="020B0400000000000000" pitchFamily="50" charset="-128"/>
                          <a:cs typeface="Meiryo UI" panose="020B0604030504040204" pitchFamily="50" charset="-128"/>
                        </a:rPr>
                        <a:t>:ASP,VB6</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開発</a:t>
                      </a:r>
                      <a:endPar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単体ﾃｽﾄ</a:t>
                      </a:r>
                      <a:endPar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結合ﾃｽﾄ</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170</a:t>
                      </a: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endPar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(70</a:t>
                      </a:r>
                      <a:r>
                        <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人月</a:t>
                      </a:r>
                      <a:r>
                        <a:rPr kumimoji="1" lang="en-US" altLang="ja-JP"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rPr>
                        <a:t>)</a:t>
                      </a:r>
                      <a:endParaRPr kumimoji="1" lang="ja-JP" altLang="en-US" sz="1400" b="0" i="0" u="none" strike="noStrike" cap="none" normalizeH="0" baseline="0" dirty="0">
                        <a:ln>
                          <a:noFill/>
                        </a:ln>
                        <a:solidFill>
                          <a:schemeClr val="tx1"/>
                        </a:solidFill>
                        <a:effectLst/>
                        <a:latin typeface="游ゴシック" panose="020B0400000000000000" pitchFamily="50" charset="-128"/>
                        <a:ea typeface="游ゴシック" panose="020B0400000000000000" pitchFamily="50" charset="-128"/>
                        <a:cs typeface="Meiryo UI" pitchFamily="50" charset="-128"/>
                      </a:endParaRPr>
                    </a:p>
                  </a:txBody>
                  <a:tcPr marL="72000" marR="72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260929575"/>
                  </a:ext>
                </a:extLst>
              </a:tr>
              <a:tr h="103065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3</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25000"/>
                        </a:spcAft>
                        <a:buClrTx/>
                        <a:buSzPct val="70000"/>
                        <a:buFont typeface="Wingdings" pitchFamily="2" charset="2"/>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保険</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保険金支払いワークフローシステム開発</a:t>
                      </a: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外資系大手保険会社様の</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BPO</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プロジェクトの一環。保全・保険金支払い業務の効率化や、サービスレベルの向上を目的としたシステムを構築。</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Windows</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Oracle</a:t>
                      </a:r>
                    </a:p>
                    <a:p>
                      <a:pPr marL="0" marR="0" lvl="0" indent="0" algn="l" defTabSz="914400" rtl="0" eaLnBrk="1" fontAlgn="base" latinLnBrk="1" hangingPunct="1">
                        <a:lnSpc>
                          <a:spcPct val="100000"/>
                        </a:lnSpc>
                        <a:spcBef>
                          <a:spcPct val="0"/>
                        </a:spcBef>
                        <a:spcAft>
                          <a:spcPct val="10000"/>
                        </a:spcAft>
                        <a:buClrTx/>
                        <a:buSzPct val="70000"/>
                        <a:buFont typeface="Wingdings" pitchFamily="2" charset="2"/>
                        <a:buNone/>
                        <a:tabLst/>
                        <a:defRPr/>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ASP.NET,PL/SQL</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技術検証</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開発</a:t>
                      </a: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単体ﾃｽﾄ</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200</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(60</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人月</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85136893"/>
                  </a:ext>
                </a:extLst>
              </a:tr>
              <a:tr h="9852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4</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製造</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u="sng" strike="noStrike" kern="1200" baseline="0" dirty="0">
                          <a:solidFill>
                            <a:srgbClr val="000000"/>
                          </a:solidFill>
                          <a:latin typeface="游ゴシック" panose="020B0400000000000000" pitchFamily="50" charset="-128"/>
                          <a:ea typeface="游ゴシック" panose="020B0400000000000000" pitchFamily="50" charset="-128"/>
                          <a:cs typeface="Meiryo UI" panose="020B0604030504040204" pitchFamily="50" charset="-128"/>
                        </a:rPr>
                        <a:t>生産管理システム開発</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樹脂成形品製造業様に向けた、弊社の製品「</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EXEX</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生産管理」をベースとしたスクラッチ開発。開発だけではなく設計フェーズにおいてもオフショア実施。</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Windows</a:t>
                      </a: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a:t>
                      </a:r>
                      <a:r>
                        <a:rPr kumimoji="1" lang="en-US" altLang="ja-JP" sz="1400" b="0" u="none" strike="noStrike" kern="1200" baseline="0" dirty="0">
                          <a:solidFill>
                            <a:srgbClr val="000000"/>
                          </a:solidFill>
                          <a:latin typeface="游ゴシック" panose="020B0400000000000000" pitchFamily="50" charset="-128"/>
                          <a:ea typeface="游ゴシック" panose="020B0400000000000000" pitchFamily="50" charset="-128"/>
                          <a:cs typeface="Meiryo UI" panose="020B0604030504040204" pitchFamily="50" charset="-128"/>
                        </a:rPr>
                        <a:t>Oracle</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1"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a:t>
                      </a:r>
                      <a:r>
                        <a:rPr kumimoji="1" lang="en-US" altLang="ja-JP" sz="1400" b="0" u="none" strike="noStrike" cap="none" normalizeH="0" baseline="0" dirty="0" err="1">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Java,PL</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a:t>
                      </a:r>
                      <a:r>
                        <a:rPr kumimoji="1" lang="en-US" altLang="ja-JP" sz="1400" b="0" u="none" strike="noStrike" cap="none" normalizeH="0" baseline="0" dirty="0" err="1">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SQL,ActionScript</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詳細設計</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開発</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単体ﾃｽﾄ</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結合ﾃｽﾄ</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65</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(30</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人月</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37695766"/>
                  </a:ext>
                </a:extLst>
              </a:tr>
              <a:tr h="98522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5</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病院</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sng"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電子カルテシステム開発</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大規模私立病院様に向けた、医療・健康情報を統合したデータの集約・活用を目的とした、次世代医療システムの構築。</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OS: Windows</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1"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DB: DB</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２</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l" defTabSz="914400" rtl="0" eaLnBrk="1" fontAlgn="base" latinLnBrk="1" hangingPunct="1">
                        <a:lnSpc>
                          <a:spcPct val="100000"/>
                        </a:lnSpc>
                        <a:spcBef>
                          <a:spcPct val="0"/>
                        </a:spcBef>
                        <a:spcAft>
                          <a:spcPct val="0"/>
                        </a:spcAft>
                        <a:buClrTx/>
                        <a:buSzTx/>
                        <a:buFontTx/>
                        <a:buNone/>
                        <a:tabLst/>
                        <a:defRPr/>
                      </a:pP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言語</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 Java,HTML5,AngularJS</a:t>
                      </a: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技術検証</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ﾓｯｸｱｯﾌﾟ作成</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開発</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rPr>
                        <a:t>単体ﾃｽﾄ</a:t>
                      </a:r>
                      <a:endParaRPr kumimoji="1" lang="en-US" altLang="ja-JP"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300</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人月</a:t>
                      </a:r>
                      <a:endPar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endParaRPr>
                    </a:p>
                    <a:p>
                      <a:pPr marL="0" marR="0" lvl="0" indent="0" algn="r" defTabSz="914400" rtl="0" eaLnBrk="1" fontAlgn="base" latinLnBrk="0" hangingPunct="1">
                        <a:lnSpc>
                          <a:spcPct val="100000"/>
                        </a:lnSpc>
                        <a:spcBef>
                          <a:spcPct val="0"/>
                        </a:spcBef>
                        <a:spcAft>
                          <a:spcPct val="0"/>
                        </a:spcAft>
                        <a:buClrTx/>
                        <a:buSzTx/>
                        <a:buFontTx/>
                        <a:buNone/>
                        <a:tabLst/>
                      </a:pP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(250</a:t>
                      </a:r>
                      <a:r>
                        <a:rPr kumimoji="1" lang="ja-JP" altLang="en-US"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人月</a:t>
                      </a:r>
                      <a:r>
                        <a:rPr kumimoji="1" lang="en-US" altLang="ja-JP" sz="1400" b="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anose="020B0604030504040204" pitchFamily="50" charset="-128"/>
                        </a:rPr>
                        <a:t>)</a:t>
                      </a:r>
                      <a:endParaRPr kumimoji="1" lang="ja-JP" altLang="en-US" sz="1400" b="0" i="0" u="none" strike="noStrike" cap="none" normalizeH="0" baseline="0" dirty="0">
                        <a:ln>
                          <a:noFill/>
                        </a:ln>
                        <a:solidFill>
                          <a:srgbClr val="000000"/>
                        </a:solidFill>
                        <a:effectLst/>
                        <a:latin typeface="游ゴシック" panose="020B0400000000000000" pitchFamily="50" charset="-128"/>
                        <a:ea typeface="游ゴシック" panose="020B0400000000000000" pitchFamily="50" charset="-128"/>
                        <a:cs typeface="Meiryo UI" pitchFamily="50" charset="-128"/>
                      </a:endParaRPr>
                    </a:p>
                  </a:txBody>
                  <a:tcPr marL="36000" marR="36000" marT="36000" marB="36000" horzOverflow="overflow">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29561531"/>
                  </a:ext>
                </a:extLst>
              </a:tr>
            </a:tbl>
          </a:graphicData>
        </a:graphic>
      </p:graphicFrame>
      <p:sp>
        <p:nvSpPr>
          <p:cNvPr id="7" name="テキスト ボックス 6"/>
          <p:cNvSpPr txBox="1">
            <a:spLocks/>
          </p:cNvSpPr>
          <p:nvPr/>
        </p:nvSpPr>
        <p:spPr>
          <a:xfrm>
            <a:off x="144000" y="6120000"/>
            <a:ext cx="8856000" cy="288000"/>
          </a:xfrm>
          <a:prstGeom prst="rect">
            <a:avLst/>
          </a:prstGeom>
          <a:noFill/>
        </p:spPr>
        <p:txBody>
          <a:bodyPr wrap="square" rtlCol="0" anchor="b">
            <a:noAutofit/>
          </a:bodyPr>
          <a:lstStyle/>
          <a:p>
            <a:pPr marL="285750" indent="-285750" latinLnBrk="1">
              <a:spcBef>
                <a:spcPts val="600"/>
              </a:spcBef>
              <a:buFont typeface="游ゴシック" panose="020B0400000000000000" pitchFamily="50" charset="-128"/>
              <a:buChar char="※"/>
            </a:pPr>
            <a:r>
              <a:rPr lang="en-US" altLang="ja-JP" sz="1200" b="1" dirty="0">
                <a:solidFill>
                  <a:schemeClr val="bg1"/>
                </a:solidFill>
                <a:latin typeface="游ゴシック" panose="020B0400000000000000" pitchFamily="50" charset="-128"/>
                <a:ea typeface="游ゴシック" panose="020B0400000000000000" pitchFamily="50" charset="-128"/>
                <a:cs typeface="Meiryo UI" panose="020B0604030504040204" pitchFamily="50" charset="-128"/>
              </a:rPr>
              <a:t>()</a:t>
            </a:r>
            <a:r>
              <a:rPr lang="ja-JP" altLang="en-US" sz="1200" b="1" dirty="0">
                <a:solidFill>
                  <a:schemeClr val="bg1"/>
                </a:solidFill>
                <a:latin typeface="游ゴシック" panose="020B0400000000000000" pitchFamily="50" charset="-128"/>
                <a:ea typeface="游ゴシック" panose="020B0400000000000000" pitchFamily="50" charset="-128"/>
                <a:cs typeface="Meiryo UI" panose="020B0604030504040204" pitchFamily="50" charset="-128"/>
              </a:rPr>
              <a:t>はｵﾌｼｮｱ工数</a:t>
            </a:r>
            <a:endParaRPr lang="en-US" altLang="ja-JP" sz="1200" b="1" dirty="0">
              <a:solidFill>
                <a:schemeClr val="bg1"/>
              </a:solidFill>
              <a:latin typeface="游ゴシック" panose="020B0400000000000000" pitchFamily="50" charset="-128"/>
              <a:ea typeface="游ゴシック" panose="020B0400000000000000" pitchFamily="50" charset="-128"/>
              <a:cs typeface="Meiryo UI" panose="020B0604030504040204" pitchFamily="50" charset="-128"/>
            </a:endParaRPr>
          </a:p>
          <a:p>
            <a:pPr marL="285750" indent="-285750" latinLnBrk="1">
              <a:spcBef>
                <a:spcPts val="600"/>
              </a:spcBef>
              <a:buFont typeface="游ゴシック" panose="020B0400000000000000" pitchFamily="50" charset="-128"/>
              <a:buChar char="※"/>
            </a:pPr>
            <a:r>
              <a:rPr lang="ja-JP" altLang="en-US" sz="1200" dirty="0">
                <a:latin typeface="游ゴシック" panose="020B0400000000000000" pitchFamily="50" charset="-128"/>
                <a:ea typeface="游ゴシック" panose="020B0400000000000000" pitchFamily="50" charset="-128"/>
              </a:rPr>
              <a:t>開発規模の</a:t>
            </a:r>
            <a:r>
              <a:rPr lang="en-US" altLang="ja-JP" sz="1200" dirty="0">
                <a:latin typeface="游ゴシック" panose="020B0400000000000000" pitchFamily="50" charset="-128"/>
                <a:ea typeface="游ゴシック" panose="020B0400000000000000" pitchFamily="50" charset="-128"/>
              </a:rPr>
              <a:t>()</a:t>
            </a:r>
            <a:r>
              <a:rPr lang="ja-JP" altLang="en-US" sz="1200" dirty="0">
                <a:latin typeface="游ゴシック" panose="020B0400000000000000" pitchFamily="50" charset="-128"/>
                <a:ea typeface="游ゴシック" panose="020B0400000000000000" pitchFamily="50" charset="-128"/>
              </a:rPr>
              <a:t>はオフショア工数を記載しております。</a:t>
            </a:r>
          </a:p>
        </p:txBody>
      </p:sp>
    </p:spTree>
    <p:extLst>
      <p:ext uri="{BB962C8B-B14F-4D97-AF65-F5344CB8AC3E}">
        <p14:creationId xmlns:p14="http://schemas.microsoft.com/office/powerpoint/2010/main" val="50400120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COVID-19</a:t>
            </a:r>
            <a:r>
              <a:rPr lang="ja-JP" altLang="en-US" dirty="0"/>
              <a:t>に関するベトナムの状況</a:t>
            </a:r>
            <a:endParaRPr kumimoji="1" lang="ja-JP" altLang="en-US" dirty="0"/>
          </a:p>
        </p:txBody>
      </p:sp>
      <p:sp>
        <p:nvSpPr>
          <p:cNvPr id="3" name="コンテンツ プレースホルダー 2"/>
          <p:cNvSpPr>
            <a:spLocks noGrp="1"/>
          </p:cNvSpPr>
          <p:nvPr>
            <p:ph idx="1"/>
          </p:nvPr>
        </p:nvSpPr>
        <p:spPr/>
        <p:txBody>
          <a:bodyPr/>
          <a:lstStyle/>
          <a:p>
            <a:pPr marL="0" indent="0">
              <a:buNone/>
            </a:pPr>
            <a:r>
              <a:rPr kumimoji="1" lang="ja-JP" altLang="en-US" dirty="0"/>
              <a:t>ベトナムの新型コロナウイルス感染症</a:t>
            </a:r>
            <a:r>
              <a:rPr lang="en-US" altLang="ja-JP" dirty="0"/>
              <a:t>(COVID-19)</a:t>
            </a:r>
            <a:r>
              <a:rPr lang="ja-JP" altLang="en-US" dirty="0"/>
              <a:t>の感染者数は</a:t>
            </a:r>
            <a:r>
              <a:rPr lang="en-US" altLang="ja-JP" dirty="0"/>
              <a:t>4</a:t>
            </a:r>
            <a:r>
              <a:rPr lang="ja-JP" altLang="en-US" dirty="0"/>
              <a:t>月</a:t>
            </a:r>
            <a:r>
              <a:rPr lang="en-US" altLang="ja-JP" dirty="0"/>
              <a:t>16</a:t>
            </a:r>
            <a:r>
              <a:rPr lang="ja-JP" altLang="en-US" dirty="0"/>
              <a:t>日現在</a:t>
            </a:r>
            <a:r>
              <a:rPr lang="en-US" altLang="ja-JP" dirty="0"/>
              <a:t>267</a:t>
            </a:r>
            <a:r>
              <a:rPr lang="ja-JP" altLang="en-US" dirty="0"/>
              <a:t>人となり死亡者はおりません。ベトナム政府は、</a:t>
            </a:r>
            <a:r>
              <a:rPr lang="en-US" altLang="ja-JP" dirty="0"/>
              <a:t>3</a:t>
            </a:r>
            <a:r>
              <a:rPr lang="ja-JP" altLang="en-US" dirty="0"/>
              <a:t>月</a:t>
            </a:r>
            <a:r>
              <a:rPr lang="en-US" altLang="ja-JP" dirty="0"/>
              <a:t>22</a:t>
            </a:r>
            <a:r>
              <a:rPr lang="ja-JP" altLang="en-US" dirty="0"/>
              <a:t>日に新型コロナウイルス対策として、すべての外国人の入国を一時停止しました。また、</a:t>
            </a:r>
            <a:r>
              <a:rPr lang="en-US" altLang="ja-JP" dirty="0"/>
              <a:t>4</a:t>
            </a:r>
            <a:r>
              <a:rPr lang="ja-JP" altLang="en-US" dirty="0"/>
              <a:t>月</a:t>
            </a:r>
            <a:r>
              <a:rPr lang="en-US" altLang="ja-JP" dirty="0"/>
              <a:t>1</a:t>
            </a:r>
            <a:r>
              <a:rPr lang="ja-JP" altLang="en-US" dirty="0"/>
              <a:t>日より</a:t>
            </a:r>
            <a:r>
              <a:rPr lang="en-US" altLang="ja-JP" dirty="0"/>
              <a:t>15</a:t>
            </a:r>
            <a:r>
              <a:rPr lang="ja-JP" altLang="en-US" dirty="0"/>
              <a:t>日間の全国隔離措置をとっており、感染拡大対策を強化しています。同措置の実施以降、新規感染者は減少傾向にあります。</a:t>
            </a:r>
            <a:endParaRPr lang="en-US" altLang="ja-JP" dirty="0"/>
          </a:p>
          <a:p>
            <a:pPr marL="0" indent="0">
              <a:buNone/>
            </a:pPr>
            <a:r>
              <a:rPr lang="ja-JP" altLang="en-US" dirty="0"/>
              <a:t>現在、システムエグゼベトナムでは、全社員が在宅勤務を実施しております。日本側の環境に直接アクセスできるのは、限定された者（チームリーダー以上）のみとしており、メンバーは、チームリーダーによりシステムエグゼベトナム内に展開された必要最低限の資料・ソース を利用しています。また、システムエグゼベトナムのテレワーク環境は、システムエグゼ（日本）と同等のセキュリティを整備しております。</a:t>
            </a:r>
            <a:endParaRPr lang="en-US" altLang="ja-JP" dirty="0"/>
          </a:p>
          <a:p>
            <a:pPr marL="0" indent="0">
              <a:buNone/>
            </a:pPr>
            <a:r>
              <a:rPr lang="ja-JP" altLang="en-US" dirty="0"/>
              <a:t>テレワークでの開発作業を実施しておりますが、大きな問題なく開発作業を進めることができております。</a:t>
            </a:r>
            <a:endParaRPr lang="en-US" altLang="ja-JP" dirty="0"/>
          </a:p>
          <a:p>
            <a:pPr marL="0" indent="0">
              <a:buNone/>
            </a:pPr>
            <a:r>
              <a:rPr lang="ja-JP" altLang="en-US" u="sng" dirty="0"/>
              <a:t>全国隔離措置</a:t>
            </a:r>
            <a:endParaRPr lang="en-US" altLang="ja-JP" u="sng" dirty="0"/>
          </a:p>
          <a:p>
            <a:pPr lvl="1"/>
            <a:r>
              <a:rPr lang="ja-JP" altLang="en-US" dirty="0"/>
              <a:t>外出自粛（食料品や医薬品の購入、病気や怪我、必要な商品・サービスを取り扱う施設で働いている場合を除く）</a:t>
            </a:r>
          </a:p>
          <a:p>
            <a:pPr lvl="1"/>
            <a:r>
              <a:rPr lang="ja-JP" altLang="en-US" dirty="0"/>
              <a:t>コミュニケーションが必要な場合は</a:t>
            </a:r>
            <a:r>
              <a:rPr lang="en-US" altLang="ja-JP" dirty="0"/>
              <a:t>2m</a:t>
            </a:r>
            <a:r>
              <a:rPr lang="ja-JP" altLang="en-US" dirty="0"/>
              <a:t>以上の距離を保つ</a:t>
            </a:r>
          </a:p>
          <a:p>
            <a:pPr lvl="1"/>
            <a:r>
              <a:rPr lang="ja-JP" altLang="en-US" dirty="0"/>
              <a:t>公共の場に</a:t>
            </a:r>
            <a:r>
              <a:rPr lang="en-US" altLang="ja-JP" dirty="0"/>
              <a:t>3</a:t>
            </a:r>
            <a:r>
              <a:rPr lang="ja-JP" altLang="en-US" dirty="0"/>
              <a:t>人以上で集まることは禁止</a:t>
            </a:r>
          </a:p>
          <a:p>
            <a:pPr lvl="1"/>
            <a:r>
              <a:rPr lang="ja-JP" altLang="en-US" dirty="0"/>
              <a:t>路線バスの運行停止</a:t>
            </a:r>
            <a:endParaRPr lang="en-US" altLang="ja-JP" dirty="0"/>
          </a:p>
          <a:p>
            <a:pPr lvl="1"/>
            <a:endParaRPr lang="en-US" altLang="ja-JP" dirty="0"/>
          </a:p>
          <a:p>
            <a:pPr lvl="1"/>
            <a:endParaRPr lang="en-US" altLang="ja-JP" dirty="0"/>
          </a:p>
          <a:p>
            <a:pPr lvl="1"/>
            <a:endParaRPr lang="en-US" altLang="ja-JP" dirty="0"/>
          </a:p>
          <a:p>
            <a:pPr lvl="1"/>
            <a:endParaRPr lang="en-US" altLang="ja-JP" dirty="0"/>
          </a:p>
          <a:p>
            <a:pPr marL="457200" lvl="1" indent="0">
              <a:buNone/>
            </a:pPr>
            <a:endParaRPr lang="en-US" altLang="ja-JP" dirty="0"/>
          </a:p>
          <a:p>
            <a:pPr marL="0" indent="0">
              <a:buNone/>
            </a:pPr>
            <a:r>
              <a:rPr lang="en-US" altLang="ja-JP" sz="1200" dirty="0"/>
              <a:t>※</a:t>
            </a:r>
            <a:r>
              <a:rPr lang="ja-JP" altLang="en-US" sz="1200" dirty="0"/>
              <a:t> 上記は</a:t>
            </a:r>
            <a:r>
              <a:rPr lang="en-US" altLang="ja-JP" sz="1200" dirty="0"/>
              <a:t>2020</a:t>
            </a:r>
            <a:r>
              <a:rPr lang="ja-JP" altLang="en-US" sz="1200" dirty="0"/>
              <a:t>年</a:t>
            </a:r>
            <a:r>
              <a:rPr lang="en-US" altLang="ja-JP" sz="1200" dirty="0"/>
              <a:t>4</a:t>
            </a:r>
            <a:r>
              <a:rPr lang="ja-JP" altLang="en-US" sz="1200" dirty="0"/>
              <a:t>月</a:t>
            </a:r>
            <a:r>
              <a:rPr lang="en-US" altLang="ja-JP" sz="1200" dirty="0"/>
              <a:t>27</a:t>
            </a:r>
            <a:r>
              <a:rPr lang="ja-JP" altLang="en-US" sz="1200" dirty="0"/>
              <a:t>日時点の情報となります。</a:t>
            </a:r>
          </a:p>
          <a:p>
            <a:pPr marL="0" indent="0">
              <a:buNone/>
            </a:pP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75</a:t>
            </a:fld>
            <a:endParaRPr kumimoji="1" lang="ja-JP" altLang="en-US"/>
          </a:p>
        </p:txBody>
      </p:sp>
    </p:spTree>
    <p:extLst>
      <p:ext uri="{BB962C8B-B14F-4D97-AF65-F5344CB8AC3E}">
        <p14:creationId xmlns:p14="http://schemas.microsoft.com/office/powerpoint/2010/main" val="141105982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RFP</a:t>
            </a:r>
            <a:r>
              <a:rPr kumimoji="1" lang="ja-JP" altLang="en-US" dirty="0"/>
              <a:t>提案項目対照表 </a:t>
            </a:r>
            <a:r>
              <a:rPr kumimoji="1" lang="en-US" altLang="ja-JP" dirty="0"/>
              <a:t>- 1</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76</a:t>
            </a:fld>
            <a:endParaRPr kumimoji="1" lang="ja-JP" altLang="en-US"/>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2518151808"/>
              </p:ext>
            </p:extLst>
          </p:nvPr>
        </p:nvGraphicFramePr>
        <p:xfrm>
          <a:off x="144001" y="828000"/>
          <a:ext cx="8857581" cy="5551766"/>
        </p:xfrm>
        <a:graphic>
          <a:graphicData uri="http://schemas.openxmlformats.org/drawingml/2006/table">
            <a:tbl>
              <a:tblPr firstRow="1">
                <a:tableStyleId>{5C22544A-7EE6-4342-B048-85BDC9FD1C3A}</a:tableStyleId>
              </a:tblPr>
              <a:tblGrid>
                <a:gridCol w="563009">
                  <a:extLst>
                    <a:ext uri="{9D8B030D-6E8A-4147-A177-3AD203B41FA5}">
                      <a16:colId xmlns:a16="http://schemas.microsoft.com/office/drawing/2014/main" val="431313381"/>
                    </a:ext>
                  </a:extLst>
                </a:gridCol>
                <a:gridCol w="1338606">
                  <a:extLst>
                    <a:ext uri="{9D8B030D-6E8A-4147-A177-3AD203B41FA5}">
                      <a16:colId xmlns:a16="http://schemas.microsoft.com/office/drawing/2014/main" val="20000"/>
                    </a:ext>
                  </a:extLst>
                </a:gridCol>
                <a:gridCol w="3355943">
                  <a:extLst>
                    <a:ext uri="{9D8B030D-6E8A-4147-A177-3AD203B41FA5}">
                      <a16:colId xmlns:a16="http://schemas.microsoft.com/office/drawing/2014/main" val="20003"/>
                    </a:ext>
                  </a:extLst>
                </a:gridCol>
                <a:gridCol w="3600023">
                  <a:extLst>
                    <a:ext uri="{9D8B030D-6E8A-4147-A177-3AD203B41FA5}">
                      <a16:colId xmlns:a16="http://schemas.microsoft.com/office/drawing/2014/main" val="20001"/>
                    </a:ext>
                  </a:extLst>
                </a:gridCol>
              </a:tblGrid>
              <a:tr h="297260">
                <a:tc>
                  <a:txBody>
                    <a:bodyPr/>
                    <a:lstStyle/>
                    <a:p>
                      <a:pPr algn="ctr"/>
                      <a:r>
                        <a:rPr kumimoji="1" lang="ja-JP" altLang="en-US" sz="1400" dirty="0">
                          <a:latin typeface="游ゴシック" panose="020B0400000000000000" pitchFamily="50" charset="-128"/>
                          <a:ea typeface="游ゴシック" panose="020B0400000000000000" pitchFamily="50" charset="-128"/>
                        </a:rPr>
                        <a:t>項番</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項目名</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内容</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本提案書における記載箇所</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1717388">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1</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rowSpan="2">
                  <a:txBody>
                    <a:bodyPr/>
                    <a:lstStyle/>
                    <a:p>
                      <a:r>
                        <a:rPr kumimoji="1" lang="zh-TW"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見積金額</a:t>
                      </a:r>
                      <a:r>
                        <a:rPr kumimoji="1" lang="zh-TW" altLang="en-US" sz="12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（開発費、運用費</a:t>
                      </a:r>
                      <a:r>
                        <a:rPr kumimoji="1" lang="ja-JP" altLang="en-US" sz="12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別に提示。運用費は参考扱い）</a:t>
                      </a:r>
                      <a:endParaRPr kumimoji="1" lang="ja-JP" altLang="en-US" sz="12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コスト構造、計算根拠</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P.74 </a:t>
                      </a:r>
                      <a:r>
                        <a:rPr kumimoji="1" lang="ja-JP" altLang="en-US" sz="1400" dirty="0">
                          <a:latin typeface="游ゴシック" panose="020B0400000000000000" pitchFamily="50" charset="-128"/>
                          <a:ea typeface="游ゴシック" panose="020B0400000000000000" pitchFamily="50" charset="-128"/>
                        </a:rPr>
                        <a:t>お見積もり（方式設計～初期流動）</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P.75 </a:t>
                      </a:r>
                      <a:r>
                        <a:rPr kumimoji="1" lang="ja-JP" altLang="en-US" sz="1400" baseline="0" dirty="0">
                          <a:latin typeface="游ゴシック" panose="020B0400000000000000" pitchFamily="50" charset="-128"/>
                          <a:ea typeface="游ゴシック" panose="020B0400000000000000" pitchFamily="50" charset="-128"/>
                        </a:rPr>
                        <a:t>お見積もり（保守）</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P.76 </a:t>
                      </a:r>
                      <a:r>
                        <a:rPr kumimoji="1" lang="ja-JP" altLang="en-US" sz="1400" dirty="0">
                          <a:latin typeface="游ゴシック" panose="020B0400000000000000" pitchFamily="50" charset="-128"/>
                          <a:ea typeface="游ゴシック" panose="020B0400000000000000" pitchFamily="50" charset="-128"/>
                        </a:rPr>
                        <a:t>お見積もりの前提条件</a:t>
                      </a:r>
                      <a:r>
                        <a:rPr kumimoji="1" lang="ja-JP" altLang="en-US" sz="1400" baseline="0" dirty="0">
                          <a:latin typeface="游ゴシック" panose="020B0400000000000000" pitchFamily="50" charset="-128"/>
                          <a:ea typeface="游ゴシック" panose="020B0400000000000000" pitchFamily="50" charset="-128"/>
                        </a:rPr>
                        <a:t> </a:t>
                      </a:r>
                      <a:r>
                        <a:rPr kumimoji="1" lang="en-US" altLang="ja-JP" sz="1400" baseline="0" dirty="0">
                          <a:latin typeface="游ゴシック" panose="020B0400000000000000" pitchFamily="50" charset="-128"/>
                          <a:ea typeface="游ゴシック" panose="020B0400000000000000" pitchFamily="50" charset="-128"/>
                        </a:rPr>
                        <a:t>- </a:t>
                      </a:r>
                      <a:r>
                        <a:rPr kumimoji="1" lang="en-US" altLang="ja-JP" sz="1400" dirty="0">
                          <a:latin typeface="游ゴシック" panose="020B0400000000000000" pitchFamily="50" charset="-128"/>
                          <a:ea typeface="游ゴシック" panose="020B0400000000000000" pitchFamily="50" charset="-128"/>
                        </a:rPr>
                        <a:t>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P.77 </a:t>
                      </a:r>
                      <a:r>
                        <a:rPr kumimoji="1" lang="ja-JP" altLang="en-US" sz="1400" dirty="0">
                          <a:latin typeface="游ゴシック" panose="020B0400000000000000" pitchFamily="50" charset="-128"/>
                          <a:ea typeface="游ゴシック" panose="020B0400000000000000" pitchFamily="50" charset="-128"/>
                        </a:rPr>
                        <a:t>お見積もりの前提条件 </a:t>
                      </a:r>
                      <a:r>
                        <a:rPr kumimoji="1" lang="en-US" altLang="ja-JP" sz="1400" dirty="0">
                          <a:latin typeface="游ゴシック" panose="020B0400000000000000" pitchFamily="50" charset="-128"/>
                          <a:ea typeface="游ゴシック" panose="020B0400000000000000" pitchFamily="50" charset="-128"/>
                        </a:rPr>
                        <a:t>-</a:t>
                      </a:r>
                      <a:r>
                        <a:rPr kumimoji="1" lang="en-US" altLang="ja-JP" sz="1400" baseline="0" dirty="0">
                          <a:latin typeface="游ゴシック" panose="020B0400000000000000" pitchFamily="50" charset="-128"/>
                          <a:ea typeface="游ゴシック" panose="020B0400000000000000" pitchFamily="50" charset="-128"/>
                        </a:rPr>
                        <a:t> </a:t>
                      </a:r>
                      <a:r>
                        <a:rPr kumimoji="1" lang="en-US" altLang="ja-JP" sz="1400" dirty="0">
                          <a:latin typeface="游ゴシック" panose="020B0400000000000000" pitchFamily="50" charset="-128"/>
                          <a:ea typeface="游ゴシック" panose="020B0400000000000000" pitchFamily="50" charset="-128"/>
                        </a:rPr>
                        <a:t>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P.78 </a:t>
                      </a:r>
                      <a:r>
                        <a:rPr kumimoji="1" lang="ja-JP" altLang="en-US" sz="1400" dirty="0">
                          <a:latin typeface="游ゴシック" panose="020B0400000000000000" pitchFamily="50" charset="-128"/>
                          <a:ea typeface="游ゴシック" panose="020B0400000000000000" pitchFamily="50" charset="-128"/>
                        </a:rPr>
                        <a:t>参考）冗長化構成構築に関わる</a:t>
                      </a:r>
                      <a:endParaRPr kumimoji="1" lang="en-US" altLang="ja-JP" sz="1400" dirty="0">
                        <a:latin typeface="游ゴシック" panose="020B0400000000000000" pitchFamily="50" charset="-128"/>
                        <a:ea typeface="游ゴシック" panose="020B04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　　 お見積もり</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2438">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zh-TW"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見積有効期限</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P.76 </a:t>
                      </a:r>
                      <a:r>
                        <a:rPr kumimoji="1" lang="ja-JP" altLang="en-US" sz="1400" dirty="0">
                          <a:latin typeface="游ゴシック" panose="020B0400000000000000" pitchFamily="50" charset="-128"/>
                          <a:ea typeface="游ゴシック" panose="020B0400000000000000" pitchFamily="50" charset="-128"/>
                        </a:rPr>
                        <a:t>お見積もりの前提条件</a:t>
                      </a:r>
                      <a:r>
                        <a:rPr kumimoji="1" lang="ja-JP" altLang="en-US" sz="1400" baseline="0" dirty="0">
                          <a:latin typeface="游ゴシック" panose="020B0400000000000000" pitchFamily="50" charset="-128"/>
                          <a:ea typeface="游ゴシック" panose="020B0400000000000000" pitchFamily="50" charset="-128"/>
                        </a:rPr>
                        <a:t> </a:t>
                      </a:r>
                      <a:r>
                        <a:rPr kumimoji="1" lang="en-US" altLang="ja-JP" sz="1400" baseline="0" dirty="0">
                          <a:latin typeface="游ゴシック" panose="020B0400000000000000" pitchFamily="50" charset="-128"/>
                          <a:ea typeface="游ゴシック" panose="020B0400000000000000" pitchFamily="50" charset="-128"/>
                        </a:rPr>
                        <a:t>– </a:t>
                      </a:r>
                      <a:r>
                        <a:rPr kumimoji="1" lang="en-US" altLang="ja-JP" sz="1400" dirty="0">
                          <a:latin typeface="游ゴシック" panose="020B0400000000000000" pitchFamily="50" charset="-128"/>
                          <a:ea typeface="游ゴシック" panose="020B0400000000000000" pitchFamily="50" charset="-128"/>
                        </a:rPr>
                        <a:t>1</a:t>
                      </a: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51396677"/>
                  </a:ext>
                </a:extLst>
              </a:tr>
              <a:tr h="6334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2</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0" dirty="0">
                          <a:latin typeface="游ゴシック" panose="020B0400000000000000" pitchFamily="50" charset="-128"/>
                          <a:ea typeface="游ゴシック" panose="020B0400000000000000" pitchFamily="50" charset="-128"/>
                        </a:rPr>
                        <a:t>工数の明細</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出光情シス・周辺システムパートナー含むフェーズ毎の発生工数</a:t>
                      </a:r>
                      <a:endParaRPr kumimoji="1" lang="ja-JP" altLang="en-US" sz="11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400" dirty="0">
                          <a:latin typeface="游ゴシック" panose="020B0400000000000000" pitchFamily="50" charset="-128"/>
                          <a:ea typeface="游ゴシック" panose="020B0400000000000000" pitchFamily="50" charset="-128"/>
                        </a:rPr>
                        <a:t>別紙「</a:t>
                      </a:r>
                      <a:r>
                        <a:rPr lang="ja-JP" altLang="en-US" sz="1400" dirty="0">
                          <a:latin typeface="游ゴシック" panose="020B0400000000000000" pitchFamily="50" charset="-128"/>
                          <a:ea typeface="游ゴシック" panose="020B0400000000000000" pitchFamily="50" charset="-128"/>
                        </a:rPr>
                        <a:t>工数入力シート（株式会社システムエグゼ）</a:t>
                      </a:r>
                      <a:r>
                        <a:rPr lang="en-US" altLang="ja-JP" sz="1400" dirty="0">
                          <a:latin typeface="游ゴシック" panose="020B0400000000000000" pitchFamily="50" charset="-128"/>
                          <a:ea typeface="游ゴシック" panose="020B0400000000000000" pitchFamily="50" charset="-128"/>
                        </a:rPr>
                        <a:t>.</a:t>
                      </a:r>
                      <a:r>
                        <a:rPr lang="en-US" altLang="ja-JP" sz="1400" dirty="0" err="1">
                          <a:latin typeface="游ゴシック" panose="020B0400000000000000" pitchFamily="50" charset="-128"/>
                          <a:ea typeface="游ゴシック" panose="020B0400000000000000" pitchFamily="50" charset="-128"/>
                        </a:rPr>
                        <a:t>xlsx</a:t>
                      </a: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02010932"/>
                  </a:ext>
                </a:extLst>
              </a:tr>
              <a:tr h="6334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3</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0" dirty="0">
                          <a:latin typeface="游ゴシック" panose="020B0400000000000000" pitchFamily="50" charset="-128"/>
                          <a:ea typeface="游ゴシック" panose="020B0400000000000000" pitchFamily="50" charset="-128"/>
                        </a:rPr>
                        <a:t>スケジュール</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マイルストーンと</a:t>
                      </a:r>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実現性の根拠</a:t>
                      </a:r>
                      <a:endParaRPr kumimoji="1" lang="ja-JP" altLang="en-US" sz="1400" b="0" dirty="0">
                        <a:solidFill>
                          <a:schemeClr val="tx1"/>
                        </a:solidFill>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P.34 </a:t>
                      </a:r>
                      <a:r>
                        <a:rPr kumimoji="1" lang="ja-JP" altLang="en-US" sz="1400" dirty="0">
                          <a:latin typeface="游ゴシック" panose="020B0400000000000000" pitchFamily="50" charset="-128"/>
                          <a:ea typeface="游ゴシック" panose="020B0400000000000000" pitchFamily="50" charset="-128"/>
                        </a:rPr>
                        <a:t>スケジュール</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P.35 </a:t>
                      </a:r>
                      <a:r>
                        <a:rPr kumimoji="1" lang="ja-JP" altLang="en-US" sz="1400" dirty="0">
                          <a:latin typeface="游ゴシック" panose="020B0400000000000000" pitchFamily="50" charset="-128"/>
                          <a:ea typeface="游ゴシック" panose="020B0400000000000000" pitchFamily="50" charset="-128"/>
                        </a:rPr>
                        <a:t>要員計画</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16654805"/>
                  </a:ext>
                </a:extLst>
              </a:tr>
              <a:tr h="633428">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4</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rowSpan="3">
                  <a:txBody>
                    <a:bodyPr/>
                    <a:lstStyle/>
                    <a:p>
                      <a:r>
                        <a:rPr kumimoji="1" lang="ja-JP" altLang="en-US" sz="1400" b="0" dirty="0">
                          <a:latin typeface="游ゴシック" panose="020B0400000000000000" pitchFamily="50" charset="-128"/>
                          <a:ea typeface="游ゴシック" panose="020B0400000000000000" pitchFamily="50" charset="-128"/>
                        </a:rPr>
                        <a:t>実現方法</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.NET</a:t>
                      </a:r>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化の方法とその選定理由</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P.25</a:t>
                      </a:r>
                      <a:r>
                        <a:rPr kumimoji="1" lang="en-US" altLang="ja-JP" sz="1400" baseline="0" dirty="0">
                          <a:latin typeface="游ゴシック" panose="020B0400000000000000" pitchFamily="50" charset="-128"/>
                          <a:ea typeface="游ゴシック" panose="020B0400000000000000" pitchFamily="50" charset="-128"/>
                        </a:rPr>
                        <a:t> </a:t>
                      </a:r>
                      <a:r>
                        <a:rPr kumimoji="1" lang="ja-JP" altLang="en-US" sz="1400" baseline="0" dirty="0">
                          <a:latin typeface="游ゴシック" panose="020B0400000000000000" pitchFamily="50" charset="-128"/>
                          <a:ea typeface="游ゴシック" panose="020B0400000000000000" pitchFamily="50" charset="-128"/>
                        </a:rPr>
                        <a:t>開発環境の変更点</a:t>
                      </a:r>
                      <a:endParaRPr kumimoji="1" lang="en-US" altLang="ja-JP" sz="1400" baseline="0" dirty="0">
                        <a:latin typeface="游ゴシック" panose="020B0400000000000000" pitchFamily="50" charset="-128"/>
                        <a:ea typeface="游ゴシック" panose="020B0400000000000000" pitchFamily="50" charset="-128"/>
                      </a:endParaRPr>
                    </a:p>
                    <a:p>
                      <a:pPr algn="l"/>
                      <a:r>
                        <a:rPr kumimoji="1" lang="en-US" altLang="ja-JP" sz="1400" baseline="0" dirty="0">
                          <a:latin typeface="游ゴシック" panose="020B0400000000000000" pitchFamily="50" charset="-128"/>
                          <a:ea typeface="游ゴシック" panose="020B0400000000000000" pitchFamily="50" charset="-128"/>
                        </a:rPr>
                        <a:t>P.26 </a:t>
                      </a:r>
                      <a:r>
                        <a:rPr lang="en-US" altLang="ja-JP" sz="1400" dirty="0">
                          <a:latin typeface="游ゴシック" panose="020B0400000000000000" pitchFamily="50" charset="-128"/>
                          <a:ea typeface="游ゴシック" panose="020B0400000000000000" pitchFamily="50" charset="-128"/>
                        </a:rPr>
                        <a:t>.NET</a:t>
                      </a:r>
                      <a:r>
                        <a:rPr lang="ja-JP" altLang="en-US" sz="1400" dirty="0" err="1">
                          <a:latin typeface="游ゴシック" panose="020B0400000000000000" pitchFamily="50" charset="-128"/>
                          <a:ea typeface="游ゴシック" panose="020B0400000000000000" pitchFamily="50" charset="-128"/>
                        </a:rPr>
                        <a:t>への</a:t>
                      </a:r>
                      <a:r>
                        <a:rPr lang="ja-JP" altLang="en-US" sz="1400" dirty="0">
                          <a:latin typeface="游ゴシック" panose="020B0400000000000000" pitchFamily="50" charset="-128"/>
                          <a:ea typeface="游ゴシック" panose="020B0400000000000000" pitchFamily="50" charset="-128"/>
                        </a:rPr>
                        <a:t>マイグレーション方法</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1567583"/>
                  </a:ext>
                </a:extLst>
              </a:tr>
              <a:tr h="90441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SAP</a:t>
                      </a:r>
                      <a:r>
                        <a:rPr kumimoji="1" lang="ja-JP" altLang="en-US" sz="1400" b="0" i="0" u="none" strike="noStrike" kern="1200" baseline="0" dirty="0" err="1">
                          <a:solidFill>
                            <a:schemeClr val="dk1"/>
                          </a:solidFill>
                          <a:latin typeface="游ゴシック" panose="020B0400000000000000" pitchFamily="50" charset="-128"/>
                          <a:ea typeface="游ゴシック" panose="020B0400000000000000" pitchFamily="50" charset="-128"/>
                          <a:cs typeface="+mn-cs"/>
                        </a:rPr>
                        <a:t>、</a:t>
                      </a:r>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周辺システム担当チームとの連携やテスト方法</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P.39 </a:t>
                      </a:r>
                      <a:r>
                        <a:rPr kumimoji="1" lang="ja-JP" altLang="en-US" sz="1400" dirty="0">
                          <a:latin typeface="游ゴシック" panose="020B0400000000000000" pitchFamily="50" charset="-128"/>
                          <a:ea typeface="游ゴシック" panose="020B0400000000000000" pitchFamily="50" charset="-128"/>
                        </a:rPr>
                        <a:t>テスト（</a:t>
                      </a:r>
                      <a:r>
                        <a:rPr kumimoji="1" lang="en-US" altLang="ja-JP" sz="1400" dirty="0">
                          <a:latin typeface="游ゴシック" panose="020B0400000000000000" pitchFamily="50" charset="-128"/>
                          <a:ea typeface="游ゴシック" panose="020B0400000000000000" pitchFamily="50" charset="-128"/>
                        </a:rPr>
                        <a:t>IT/ST/OT</a:t>
                      </a:r>
                      <a:r>
                        <a:rPr kumimoji="1" lang="ja-JP" altLang="en-US" sz="1400" dirty="0">
                          <a:latin typeface="游ゴシック" panose="020B0400000000000000" pitchFamily="50" charset="-128"/>
                          <a:ea typeface="游ゴシック" panose="020B0400000000000000" pitchFamily="50" charset="-128"/>
                        </a:rPr>
                        <a:t>）</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P.40 </a:t>
                      </a:r>
                      <a:r>
                        <a:rPr kumimoji="1" lang="ja-JP" altLang="en-US" sz="1400" dirty="0">
                          <a:latin typeface="游ゴシック" panose="020B0400000000000000" pitchFamily="50" charset="-128"/>
                          <a:ea typeface="游ゴシック" panose="020B0400000000000000" pitchFamily="50" charset="-128"/>
                        </a:rPr>
                        <a:t>テスト時における周辺システム担当</a:t>
                      </a:r>
                      <a:endParaRPr kumimoji="1" lang="en-US" altLang="ja-JP" sz="1400" dirty="0">
                        <a:latin typeface="游ゴシック" panose="020B0400000000000000" pitchFamily="50" charset="-128"/>
                        <a:ea typeface="游ゴシック" panose="020B0400000000000000" pitchFamily="50" charset="-128"/>
                      </a:endParaRPr>
                    </a:p>
                    <a:p>
                      <a:pPr algn="l"/>
                      <a:r>
                        <a:rPr kumimoji="1" lang="ja-JP" altLang="en-US" sz="1400" dirty="0">
                          <a:latin typeface="游ゴシック" panose="020B0400000000000000" pitchFamily="50" charset="-128"/>
                          <a:ea typeface="游ゴシック" panose="020B0400000000000000" pitchFamily="50" charset="-128"/>
                        </a:rPr>
                        <a:t>　　 との連携方法</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3845269"/>
                  </a:ext>
                </a:extLst>
              </a:tr>
              <a:tr h="362438">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採用するシステム移行方法の選定理由</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P.41 </a:t>
                      </a:r>
                      <a:r>
                        <a:rPr kumimoji="1" lang="ja-JP" altLang="en-US" sz="1400" dirty="0">
                          <a:latin typeface="游ゴシック" panose="020B0400000000000000" pitchFamily="50" charset="-128"/>
                          <a:ea typeface="游ゴシック" panose="020B0400000000000000" pitchFamily="50" charset="-128"/>
                        </a:rPr>
                        <a:t>本番移行</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1758412"/>
                  </a:ext>
                </a:extLst>
              </a:tr>
            </a:tbl>
          </a:graphicData>
        </a:graphic>
      </p:graphicFrame>
    </p:spTree>
    <p:extLst>
      <p:ext uri="{BB962C8B-B14F-4D97-AF65-F5344CB8AC3E}">
        <p14:creationId xmlns:p14="http://schemas.microsoft.com/office/powerpoint/2010/main" val="123252980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RFP</a:t>
            </a:r>
            <a:r>
              <a:rPr kumimoji="1" lang="ja-JP" altLang="en-US" dirty="0"/>
              <a:t>提案項目対照表 </a:t>
            </a:r>
            <a:r>
              <a:rPr kumimoji="1" lang="en-US" altLang="ja-JP" dirty="0"/>
              <a:t>- 2</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77</a:t>
            </a:fld>
            <a:endParaRPr kumimoji="1" lang="ja-JP" altLang="en-US"/>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940831286"/>
              </p:ext>
            </p:extLst>
          </p:nvPr>
        </p:nvGraphicFramePr>
        <p:xfrm>
          <a:off x="144001" y="828000"/>
          <a:ext cx="8857581" cy="5528669"/>
        </p:xfrm>
        <a:graphic>
          <a:graphicData uri="http://schemas.openxmlformats.org/drawingml/2006/table">
            <a:tbl>
              <a:tblPr firstRow="1">
                <a:tableStyleId>{5C22544A-7EE6-4342-B048-85BDC9FD1C3A}</a:tableStyleId>
              </a:tblPr>
              <a:tblGrid>
                <a:gridCol w="563009">
                  <a:extLst>
                    <a:ext uri="{9D8B030D-6E8A-4147-A177-3AD203B41FA5}">
                      <a16:colId xmlns:a16="http://schemas.microsoft.com/office/drawing/2014/main" val="431313381"/>
                    </a:ext>
                  </a:extLst>
                </a:gridCol>
                <a:gridCol w="1338606">
                  <a:extLst>
                    <a:ext uri="{9D8B030D-6E8A-4147-A177-3AD203B41FA5}">
                      <a16:colId xmlns:a16="http://schemas.microsoft.com/office/drawing/2014/main" val="20000"/>
                    </a:ext>
                  </a:extLst>
                </a:gridCol>
                <a:gridCol w="3355943">
                  <a:extLst>
                    <a:ext uri="{9D8B030D-6E8A-4147-A177-3AD203B41FA5}">
                      <a16:colId xmlns:a16="http://schemas.microsoft.com/office/drawing/2014/main" val="20003"/>
                    </a:ext>
                  </a:extLst>
                </a:gridCol>
                <a:gridCol w="3600023">
                  <a:extLst>
                    <a:ext uri="{9D8B030D-6E8A-4147-A177-3AD203B41FA5}">
                      <a16:colId xmlns:a16="http://schemas.microsoft.com/office/drawing/2014/main" val="20001"/>
                    </a:ext>
                  </a:extLst>
                </a:gridCol>
              </a:tblGrid>
              <a:tr h="301304">
                <a:tc>
                  <a:txBody>
                    <a:bodyPr/>
                    <a:lstStyle/>
                    <a:p>
                      <a:pPr algn="ctr"/>
                      <a:r>
                        <a:rPr kumimoji="1" lang="ja-JP" altLang="en-US" sz="1400" dirty="0">
                          <a:latin typeface="游ゴシック" panose="020B0400000000000000" pitchFamily="50" charset="-128"/>
                          <a:ea typeface="游ゴシック" panose="020B0400000000000000" pitchFamily="50" charset="-128"/>
                        </a:rPr>
                        <a:t>項番</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項目名</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内容</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本提案書における記載箇所</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2038825">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5</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rowSpan="4">
                  <a:txBody>
                    <a:bodyPr/>
                    <a:lstStyle/>
                    <a:p>
                      <a:r>
                        <a:rPr kumimoji="1" lang="ja-JP" altLang="en-US" sz="1400" b="0" dirty="0">
                          <a:latin typeface="游ゴシック" panose="020B0400000000000000" pitchFamily="50" charset="-128"/>
                          <a:ea typeface="游ゴシック" panose="020B0400000000000000" pitchFamily="50" charset="-128"/>
                        </a:rPr>
                        <a:t>体制</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プロジェクト運営、推進、体制維持の方法（</a:t>
                      </a:r>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再委託先の詳細含む</a:t>
                      </a:r>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P.35 </a:t>
                      </a:r>
                      <a:r>
                        <a:rPr kumimoji="1" lang="ja-JP" altLang="en-US" sz="1400" dirty="0">
                          <a:latin typeface="游ゴシック" panose="020B0400000000000000" pitchFamily="50" charset="-128"/>
                          <a:ea typeface="游ゴシック" panose="020B0400000000000000" pitchFamily="50" charset="-128"/>
                        </a:rPr>
                        <a:t>要員計画</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P.48 </a:t>
                      </a:r>
                      <a:r>
                        <a:rPr kumimoji="1" lang="ja-JP" altLang="en-US" sz="1400" dirty="0">
                          <a:latin typeface="游ゴシック" panose="020B0400000000000000" pitchFamily="50" charset="-128"/>
                          <a:ea typeface="游ゴシック" panose="020B0400000000000000" pitchFamily="50" charset="-128"/>
                        </a:rPr>
                        <a:t>開発体制（システム方式設計～運用</a:t>
                      </a:r>
                      <a:endParaRPr kumimoji="1" lang="en-US" altLang="ja-JP" sz="1400" dirty="0">
                        <a:latin typeface="游ゴシック" panose="020B0400000000000000" pitchFamily="50" charset="-128"/>
                        <a:ea typeface="游ゴシック" panose="020B0400000000000000" pitchFamily="50" charset="-128"/>
                      </a:endParaRPr>
                    </a:p>
                    <a:p>
                      <a:pPr algn="l"/>
                      <a:r>
                        <a:rPr kumimoji="1" lang="ja-JP" altLang="en-US" sz="1400" dirty="0">
                          <a:latin typeface="游ゴシック" panose="020B0400000000000000" pitchFamily="50" charset="-128"/>
                          <a:ea typeface="游ゴシック" panose="020B0400000000000000" pitchFamily="50" charset="-128"/>
                        </a:rPr>
                        <a:t>　　 テスト）</a:t>
                      </a:r>
                    </a:p>
                    <a:p>
                      <a:pPr algn="l"/>
                      <a:r>
                        <a:rPr kumimoji="1" lang="en-US" altLang="ja-JP" sz="1400" dirty="0">
                          <a:latin typeface="游ゴシック" panose="020B0400000000000000" pitchFamily="50" charset="-128"/>
                          <a:ea typeface="游ゴシック" panose="020B0400000000000000" pitchFamily="50" charset="-128"/>
                        </a:rPr>
                        <a:t>P.49 </a:t>
                      </a:r>
                      <a:r>
                        <a:rPr kumimoji="1" lang="ja-JP" altLang="en-US" sz="1400" dirty="0">
                          <a:latin typeface="游ゴシック" panose="020B0400000000000000" pitchFamily="50" charset="-128"/>
                          <a:ea typeface="游ゴシック" panose="020B0400000000000000" pitchFamily="50" charset="-128"/>
                        </a:rPr>
                        <a:t>初期流動体制（初期流動）</a:t>
                      </a:r>
                    </a:p>
                    <a:p>
                      <a:pPr algn="l"/>
                      <a:r>
                        <a:rPr kumimoji="1" lang="en-US" altLang="ja-JP" sz="1400" dirty="0">
                          <a:latin typeface="游ゴシック" panose="020B0400000000000000" pitchFamily="50" charset="-128"/>
                          <a:ea typeface="游ゴシック" panose="020B0400000000000000" pitchFamily="50" charset="-128"/>
                        </a:rPr>
                        <a:t>P.50 </a:t>
                      </a:r>
                      <a:r>
                        <a:rPr kumimoji="1" lang="ja-JP" altLang="en-US" sz="1400" dirty="0">
                          <a:latin typeface="游ゴシック" panose="020B0400000000000000" pitchFamily="50" charset="-128"/>
                          <a:ea typeface="游ゴシック" panose="020B0400000000000000" pitchFamily="50" charset="-128"/>
                        </a:rPr>
                        <a:t>保守体制（保守）</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P.51 </a:t>
                      </a:r>
                      <a:r>
                        <a:rPr kumimoji="1" lang="ja-JP" altLang="en-US" sz="1400" dirty="0">
                          <a:latin typeface="游ゴシック" panose="020B0400000000000000" pitchFamily="50" charset="-128"/>
                          <a:ea typeface="游ゴシック" panose="020B0400000000000000" pitchFamily="50" charset="-128"/>
                        </a:rPr>
                        <a:t>貴社および周辺システムベンダーと</a:t>
                      </a:r>
                      <a:endParaRPr kumimoji="1" lang="en-US" altLang="ja-JP" sz="1400" dirty="0">
                        <a:latin typeface="游ゴシック" panose="020B0400000000000000" pitchFamily="50" charset="-128"/>
                        <a:ea typeface="游ゴシック" panose="020B0400000000000000" pitchFamily="50" charset="-128"/>
                      </a:endParaRPr>
                    </a:p>
                    <a:p>
                      <a:pPr algn="l"/>
                      <a:r>
                        <a:rPr kumimoji="1" lang="ja-JP" altLang="en-US" sz="1400" baseline="0" dirty="0">
                          <a:latin typeface="游ゴシック" panose="020B0400000000000000" pitchFamily="50" charset="-128"/>
                          <a:ea typeface="游ゴシック" panose="020B0400000000000000" pitchFamily="50" charset="-128"/>
                        </a:rPr>
                        <a:t>　　 </a:t>
                      </a:r>
                      <a:r>
                        <a:rPr kumimoji="1" lang="ja-JP" altLang="en-US" sz="1400" dirty="0">
                          <a:latin typeface="游ゴシック" panose="020B0400000000000000" pitchFamily="50" charset="-128"/>
                          <a:ea typeface="游ゴシック" panose="020B0400000000000000" pitchFamily="50" charset="-128"/>
                        </a:rPr>
                        <a:t>の連携体制</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P.52 </a:t>
                      </a:r>
                      <a:r>
                        <a:rPr kumimoji="1" lang="ja-JP" altLang="en-US" sz="1400" dirty="0">
                          <a:latin typeface="游ゴシック" panose="020B0400000000000000" pitchFamily="50" charset="-128"/>
                          <a:ea typeface="游ゴシック" panose="020B0400000000000000" pitchFamily="50" charset="-128"/>
                        </a:rPr>
                        <a:t>再委託先について</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64642032"/>
                  </a:ext>
                </a:extLst>
              </a:tr>
              <a:tr h="327059">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貴社関係者の責任・権限</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P.53 </a:t>
                      </a:r>
                      <a:r>
                        <a:rPr kumimoji="1" lang="ja-JP" altLang="en-US" sz="1400" dirty="0">
                          <a:latin typeface="游ゴシック" panose="020B0400000000000000" pitchFamily="50" charset="-128"/>
                          <a:ea typeface="游ゴシック" panose="020B0400000000000000" pitchFamily="50" charset="-128"/>
                        </a:rPr>
                        <a:t>役割と責任</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61630384"/>
                  </a:ext>
                </a:extLst>
              </a:tr>
              <a:tr h="571597">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通常時、</a:t>
                      </a:r>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緊急時の関係者とのコミュニケーション方法</a:t>
                      </a:r>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とタイミング</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P.70 </a:t>
                      </a:r>
                      <a:r>
                        <a:rPr kumimoji="1" lang="ja-JP" altLang="en-US" sz="1400" dirty="0">
                          <a:latin typeface="游ゴシック" panose="020B0400000000000000" pitchFamily="50" charset="-128"/>
                          <a:ea typeface="游ゴシック" panose="020B0400000000000000" pitchFamily="50" charset="-128"/>
                        </a:rPr>
                        <a:t>コミュニケーション管理</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P.71 </a:t>
                      </a:r>
                      <a:r>
                        <a:rPr kumimoji="1" lang="ja-JP" altLang="en-US" sz="1400" dirty="0">
                          <a:latin typeface="游ゴシック" panose="020B0400000000000000" pitchFamily="50" charset="-128"/>
                          <a:ea typeface="游ゴシック" panose="020B0400000000000000" pitchFamily="50" charset="-128"/>
                        </a:rPr>
                        <a:t>会議体</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7159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初期流動時の体制と内容</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lang="en-US" altLang="ja-JP" sz="1400" dirty="0">
                          <a:latin typeface="游ゴシック" panose="020B0400000000000000" pitchFamily="50" charset="-128"/>
                          <a:ea typeface="游ゴシック" panose="020B0400000000000000" pitchFamily="50" charset="-128"/>
                        </a:rPr>
                        <a:t>P.43</a:t>
                      </a:r>
                      <a:r>
                        <a:rPr lang="en-US" altLang="ja-JP" sz="1400" baseline="0" dirty="0">
                          <a:latin typeface="游ゴシック" panose="020B0400000000000000" pitchFamily="50" charset="-128"/>
                          <a:ea typeface="游ゴシック" panose="020B0400000000000000" pitchFamily="50" charset="-128"/>
                        </a:rPr>
                        <a:t> </a:t>
                      </a:r>
                      <a:r>
                        <a:rPr lang="ja-JP" altLang="en-US" sz="1400" baseline="0" dirty="0">
                          <a:latin typeface="游ゴシック" panose="020B0400000000000000" pitchFamily="50" charset="-128"/>
                          <a:ea typeface="游ゴシック" panose="020B0400000000000000" pitchFamily="50" charset="-128"/>
                        </a:rPr>
                        <a:t>初期流動</a:t>
                      </a:r>
                      <a:endParaRPr lang="en-US" altLang="ja-JP" sz="1400" dirty="0">
                        <a:latin typeface="游ゴシック" panose="020B0400000000000000" pitchFamily="50" charset="-128"/>
                        <a:ea typeface="游ゴシック" panose="020B0400000000000000" pitchFamily="50" charset="-128"/>
                      </a:endParaRPr>
                    </a:p>
                    <a:p>
                      <a:pPr algn="l"/>
                      <a:r>
                        <a:rPr lang="en-US" altLang="ja-JP" sz="1400" dirty="0">
                          <a:latin typeface="游ゴシック" panose="020B0400000000000000" pitchFamily="50" charset="-128"/>
                          <a:ea typeface="游ゴシック" panose="020B0400000000000000" pitchFamily="50" charset="-128"/>
                        </a:rPr>
                        <a:t>P.49</a:t>
                      </a:r>
                      <a:r>
                        <a:rPr lang="en-US" altLang="ja-JP" sz="1400" baseline="0" dirty="0">
                          <a:latin typeface="游ゴシック" panose="020B0400000000000000" pitchFamily="50" charset="-128"/>
                          <a:ea typeface="游ゴシック" panose="020B0400000000000000" pitchFamily="50" charset="-128"/>
                        </a:rPr>
                        <a:t> </a:t>
                      </a:r>
                      <a:r>
                        <a:rPr lang="ja-JP" altLang="en-US" sz="1400" dirty="0">
                          <a:latin typeface="游ゴシック" panose="020B0400000000000000" pitchFamily="50" charset="-128"/>
                          <a:ea typeface="游ゴシック" panose="020B0400000000000000" pitchFamily="50" charset="-128"/>
                        </a:rPr>
                        <a:t>初期流動体制（初期流動）</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51396677"/>
                  </a:ext>
                </a:extLst>
              </a:tr>
              <a:tr h="816135">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6</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rowSpan="3">
                  <a:txBody>
                    <a:bodyPr/>
                    <a:lstStyle/>
                    <a:p>
                      <a:r>
                        <a:rPr kumimoji="1" lang="ja-JP" altLang="en-US" sz="1400" b="0" dirty="0">
                          <a:latin typeface="游ゴシック" panose="020B0400000000000000" pitchFamily="50" charset="-128"/>
                          <a:ea typeface="游ゴシック" panose="020B0400000000000000" pitchFamily="50" charset="-128"/>
                        </a:rPr>
                        <a:t>保守</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保守内容とその体制（</a:t>
                      </a:r>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停止可能日、メンテ日</a:t>
                      </a:r>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P.44</a:t>
                      </a:r>
                      <a:r>
                        <a:rPr kumimoji="1" lang="en-US" altLang="ja-JP" sz="1400" baseline="0" dirty="0">
                          <a:latin typeface="游ゴシック" panose="020B0400000000000000" pitchFamily="50" charset="-128"/>
                          <a:ea typeface="游ゴシック" panose="020B0400000000000000" pitchFamily="50" charset="-128"/>
                        </a:rPr>
                        <a:t> </a:t>
                      </a:r>
                      <a:r>
                        <a:rPr kumimoji="1" lang="ja-JP" altLang="en-US" sz="1400" baseline="0" dirty="0">
                          <a:latin typeface="游ゴシック" panose="020B0400000000000000" pitchFamily="50" charset="-128"/>
                          <a:ea typeface="游ゴシック" panose="020B0400000000000000" pitchFamily="50" charset="-128"/>
                        </a:rPr>
                        <a:t>保守</a:t>
                      </a:r>
                      <a:endParaRPr kumimoji="1" lang="en-US" altLang="ja-JP" sz="1400" baseline="0" dirty="0">
                        <a:latin typeface="游ゴシック" panose="020B0400000000000000" pitchFamily="50" charset="-128"/>
                        <a:ea typeface="游ゴシック" panose="020B0400000000000000" pitchFamily="50" charset="-128"/>
                      </a:endParaRPr>
                    </a:p>
                    <a:p>
                      <a:pPr algn="l"/>
                      <a:r>
                        <a:rPr kumimoji="1" lang="en-US" altLang="ja-JP" sz="1400" baseline="0" dirty="0">
                          <a:latin typeface="游ゴシック" panose="020B0400000000000000" pitchFamily="50" charset="-128"/>
                          <a:ea typeface="游ゴシック" panose="020B0400000000000000" pitchFamily="50" charset="-128"/>
                        </a:rPr>
                        <a:t>P.45 </a:t>
                      </a:r>
                      <a:r>
                        <a:rPr kumimoji="1" lang="ja-JP" altLang="en-US" sz="1400" baseline="0" dirty="0">
                          <a:latin typeface="游ゴシック" panose="020B0400000000000000" pitchFamily="50" charset="-128"/>
                          <a:ea typeface="游ゴシック" panose="020B0400000000000000" pitchFamily="50" charset="-128"/>
                        </a:rPr>
                        <a:t>定期メンテナンスについて</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P.50 </a:t>
                      </a:r>
                      <a:r>
                        <a:rPr kumimoji="1" lang="ja-JP" altLang="en-US" sz="1400" dirty="0">
                          <a:latin typeface="游ゴシック" panose="020B0400000000000000" pitchFamily="50" charset="-128"/>
                          <a:ea typeface="游ゴシック" panose="020B0400000000000000" pitchFamily="50" charset="-128"/>
                        </a:rPr>
                        <a:t>保守体制（保守）</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9526823"/>
                  </a:ext>
                </a:extLst>
              </a:tr>
              <a:tr h="57159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利用者への教育方法と</a:t>
                      </a:r>
                      <a:r>
                        <a:rPr kumimoji="1" lang="en-US" altLang="ja-JP"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ASD</a:t>
                      </a:r>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のナレッジトランスファー方法</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P.42 </a:t>
                      </a:r>
                      <a:r>
                        <a:rPr kumimoji="1" lang="ja-JP" altLang="en-US" sz="1400" dirty="0">
                          <a:latin typeface="游ゴシック" panose="020B0400000000000000" pitchFamily="50" charset="-128"/>
                          <a:ea typeface="游ゴシック" panose="020B0400000000000000" pitchFamily="50" charset="-128"/>
                        </a:rPr>
                        <a:t>ユーザ教育</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02010932"/>
                  </a:ext>
                </a:extLst>
              </a:tr>
              <a:tr h="327059">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zh-TW"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瑕疵担保責任期間</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P.76 </a:t>
                      </a:r>
                      <a:r>
                        <a:rPr kumimoji="1" lang="ja-JP" altLang="en-US" sz="1400" dirty="0">
                          <a:latin typeface="游ゴシック" panose="020B0400000000000000" pitchFamily="50" charset="-128"/>
                          <a:ea typeface="游ゴシック" panose="020B0400000000000000" pitchFamily="50" charset="-128"/>
                        </a:rPr>
                        <a:t>お見積もりの前提条件</a:t>
                      </a:r>
                      <a:r>
                        <a:rPr kumimoji="1" lang="ja-JP" altLang="en-US" sz="1400" baseline="0" dirty="0">
                          <a:latin typeface="游ゴシック" panose="020B0400000000000000" pitchFamily="50" charset="-128"/>
                          <a:ea typeface="游ゴシック" panose="020B0400000000000000" pitchFamily="50" charset="-128"/>
                        </a:rPr>
                        <a:t> </a:t>
                      </a:r>
                      <a:r>
                        <a:rPr kumimoji="1" lang="en-US" altLang="ja-JP" sz="1400" baseline="0" dirty="0">
                          <a:latin typeface="游ゴシック" panose="020B0400000000000000" pitchFamily="50" charset="-128"/>
                          <a:ea typeface="游ゴシック" panose="020B0400000000000000" pitchFamily="50" charset="-128"/>
                        </a:rPr>
                        <a:t>- 1</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16654805"/>
                  </a:ext>
                </a:extLst>
              </a:tr>
            </a:tbl>
          </a:graphicData>
        </a:graphic>
      </p:graphicFrame>
    </p:spTree>
    <p:extLst>
      <p:ext uri="{BB962C8B-B14F-4D97-AF65-F5344CB8AC3E}">
        <p14:creationId xmlns:p14="http://schemas.microsoft.com/office/powerpoint/2010/main" val="356961218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RFP</a:t>
            </a:r>
            <a:r>
              <a:rPr lang="ja-JP" altLang="en-US" dirty="0"/>
              <a:t>提案項目対照表 </a:t>
            </a:r>
            <a:r>
              <a:rPr lang="en-US" altLang="ja-JP" dirty="0"/>
              <a:t>- 3</a:t>
            </a:r>
            <a:endParaRPr kumimoji="1" lang="ja-JP" altLang="en-US" dirty="0"/>
          </a:p>
        </p:txBody>
      </p:sp>
      <p:sp>
        <p:nvSpPr>
          <p:cNvPr id="4" name="フッター プレースホルダー 3"/>
          <p:cNvSpPr>
            <a:spLocks noGrp="1"/>
          </p:cNvSpPr>
          <p:nvPr>
            <p:ph type="ftr" sz="quarter" idx="11"/>
          </p:nvPr>
        </p:nvSpPr>
        <p:spPr/>
        <p:txBody>
          <a:bodyPr/>
          <a:lstStyle/>
          <a:p>
            <a:r>
              <a:rPr lang="en-US" altLang="ja-JP"/>
              <a:t>Copyright© 2020 SystemEXE,Inc. all rights reserved.</a:t>
            </a:r>
            <a:endParaRPr lang="ja-JP" altLang="en-US" dirty="0"/>
          </a:p>
        </p:txBody>
      </p:sp>
      <p:sp>
        <p:nvSpPr>
          <p:cNvPr id="5" name="スライド番号プレースホルダー 4"/>
          <p:cNvSpPr>
            <a:spLocks noGrp="1"/>
          </p:cNvSpPr>
          <p:nvPr>
            <p:ph type="sldNum" sz="quarter" idx="12"/>
          </p:nvPr>
        </p:nvSpPr>
        <p:spPr/>
        <p:txBody>
          <a:bodyPr/>
          <a:lstStyle/>
          <a:p>
            <a:fld id="{74395F4E-A786-454B-9285-EF3DEA272B37}" type="slidenum">
              <a:rPr kumimoji="1" lang="ja-JP" altLang="en-US" smtClean="0"/>
              <a:t>78</a:t>
            </a:fld>
            <a:endParaRPr kumimoji="1" lang="ja-JP" altLang="en-US"/>
          </a:p>
        </p:txBody>
      </p:sp>
      <p:graphicFrame>
        <p:nvGraphicFramePr>
          <p:cNvPr id="6" name="コンテンツ プレースホルダー 6"/>
          <p:cNvGraphicFramePr>
            <a:graphicFrameLocks/>
          </p:cNvGraphicFramePr>
          <p:nvPr>
            <p:extLst>
              <p:ext uri="{D42A27DB-BD31-4B8C-83A1-F6EECF244321}">
                <p14:modId xmlns:p14="http://schemas.microsoft.com/office/powerpoint/2010/main" val="3254211740"/>
              </p:ext>
            </p:extLst>
          </p:nvPr>
        </p:nvGraphicFramePr>
        <p:xfrm>
          <a:off x="144001" y="828001"/>
          <a:ext cx="8857581" cy="5546260"/>
        </p:xfrm>
        <a:graphic>
          <a:graphicData uri="http://schemas.openxmlformats.org/drawingml/2006/table">
            <a:tbl>
              <a:tblPr firstRow="1">
                <a:tableStyleId>{5C22544A-7EE6-4342-B048-85BDC9FD1C3A}</a:tableStyleId>
              </a:tblPr>
              <a:tblGrid>
                <a:gridCol w="563009">
                  <a:extLst>
                    <a:ext uri="{9D8B030D-6E8A-4147-A177-3AD203B41FA5}">
                      <a16:colId xmlns:a16="http://schemas.microsoft.com/office/drawing/2014/main" val="431313381"/>
                    </a:ext>
                  </a:extLst>
                </a:gridCol>
                <a:gridCol w="1338606">
                  <a:extLst>
                    <a:ext uri="{9D8B030D-6E8A-4147-A177-3AD203B41FA5}">
                      <a16:colId xmlns:a16="http://schemas.microsoft.com/office/drawing/2014/main" val="20000"/>
                    </a:ext>
                  </a:extLst>
                </a:gridCol>
                <a:gridCol w="3355943">
                  <a:extLst>
                    <a:ext uri="{9D8B030D-6E8A-4147-A177-3AD203B41FA5}">
                      <a16:colId xmlns:a16="http://schemas.microsoft.com/office/drawing/2014/main" val="20003"/>
                    </a:ext>
                  </a:extLst>
                </a:gridCol>
                <a:gridCol w="3600023">
                  <a:extLst>
                    <a:ext uri="{9D8B030D-6E8A-4147-A177-3AD203B41FA5}">
                      <a16:colId xmlns:a16="http://schemas.microsoft.com/office/drawing/2014/main" val="20001"/>
                    </a:ext>
                  </a:extLst>
                </a:gridCol>
              </a:tblGrid>
              <a:tr h="302764">
                <a:tc>
                  <a:txBody>
                    <a:bodyPr/>
                    <a:lstStyle/>
                    <a:p>
                      <a:pPr algn="ctr"/>
                      <a:r>
                        <a:rPr kumimoji="1" lang="ja-JP" altLang="en-US" sz="1400" dirty="0">
                          <a:latin typeface="游ゴシック" panose="020B0400000000000000" pitchFamily="50" charset="-128"/>
                          <a:ea typeface="游ゴシック" panose="020B0400000000000000" pitchFamily="50" charset="-128"/>
                        </a:rPr>
                        <a:t>項番</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項目名</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l"/>
                      <a:r>
                        <a:rPr kumimoji="1" lang="ja-JP" altLang="en-US" sz="1400" dirty="0">
                          <a:latin typeface="游ゴシック" panose="020B0400000000000000" pitchFamily="50" charset="-128"/>
                          <a:ea typeface="游ゴシック" panose="020B0400000000000000" pitchFamily="50" charset="-128"/>
                        </a:rPr>
                        <a:t>内容</a:t>
                      </a:r>
                      <a:endParaRPr kumimoji="1" lang="en-US" altLang="ja-JP" sz="1400" dirty="0">
                        <a:latin typeface="游ゴシック" panose="020B0400000000000000" pitchFamily="50" charset="-128"/>
                        <a:ea typeface="游ゴシック" panose="020B0400000000000000" pitchFamily="50" charset="-128"/>
                      </a:endParaRP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tc>
                  <a:txBody>
                    <a:bodyPr/>
                    <a:lstStyle/>
                    <a:p>
                      <a:pPr algn="ctr"/>
                      <a:r>
                        <a:rPr kumimoji="1" lang="ja-JP" altLang="en-US" sz="1400" dirty="0">
                          <a:latin typeface="游ゴシック" panose="020B0400000000000000" pitchFamily="50" charset="-128"/>
                          <a:ea typeface="游ゴシック" panose="020B0400000000000000" pitchFamily="50" charset="-128"/>
                        </a:rPr>
                        <a:t>本提案書における記載箇所</a:t>
                      </a:r>
                    </a:p>
                  </a:txBody>
                  <a:tcPr marL="72000" marR="72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50000"/>
                      </a:schemeClr>
                    </a:solidFill>
                  </a:tcPr>
                </a:tc>
                <a:extLst>
                  <a:ext uri="{0D108BD9-81ED-4DB2-BD59-A6C34878D82A}">
                    <a16:rowId xmlns:a16="http://schemas.microsoft.com/office/drawing/2014/main" val="10000"/>
                  </a:ext>
                </a:extLst>
              </a:tr>
              <a:tr h="1191040">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7</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rowSpan="2">
                  <a:txBody>
                    <a:bodyPr/>
                    <a:lstStyle/>
                    <a:p>
                      <a:r>
                        <a:rPr kumimoji="1" lang="ja-JP" altLang="en-US" sz="1400" b="0" dirty="0">
                          <a:latin typeface="游ゴシック" panose="020B0400000000000000" pitchFamily="50" charset="-128"/>
                          <a:ea typeface="游ゴシック" panose="020B0400000000000000" pitchFamily="50" charset="-128"/>
                        </a:rPr>
                        <a:t>リスク・品質管理</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ja-JP" altLang="en-US" sz="1400" b="0" i="0" u="none" strike="noStrike" kern="1200" baseline="0" dirty="0">
                          <a:solidFill>
                            <a:schemeClr val="tx1"/>
                          </a:solidFill>
                          <a:latin typeface="游ゴシック" panose="020B0400000000000000" pitchFamily="50" charset="-128"/>
                          <a:ea typeface="游ゴシック" panose="020B0400000000000000" pitchFamily="50" charset="-128"/>
                          <a:cs typeface="+mn-cs"/>
                        </a:rPr>
                        <a:t>想定されるリスクとリスク対処プラン</a:t>
                      </a:r>
                      <a:endParaRPr kumimoji="1" lang="ja-JP" altLang="en-US" sz="1400" b="0" dirty="0">
                        <a:solidFill>
                          <a:schemeClr val="tx1"/>
                        </a:solidFill>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P.63 </a:t>
                      </a:r>
                      <a:r>
                        <a:rPr kumimoji="1" lang="ja-JP" altLang="en-US" sz="1400" dirty="0">
                          <a:latin typeface="游ゴシック" panose="020B0400000000000000" pitchFamily="50" charset="-128"/>
                          <a:ea typeface="游ゴシック" panose="020B0400000000000000" pitchFamily="50" charset="-128"/>
                        </a:rPr>
                        <a:t>リスク管理</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P.64 </a:t>
                      </a:r>
                      <a:r>
                        <a:rPr kumimoji="1" lang="ja-JP" altLang="en-US" sz="1400" dirty="0">
                          <a:latin typeface="游ゴシック" panose="020B0400000000000000" pitchFamily="50" charset="-128"/>
                          <a:ea typeface="游ゴシック" panose="020B0400000000000000" pitchFamily="50" charset="-128"/>
                        </a:rPr>
                        <a:t>問題発生時の対応</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P.65 </a:t>
                      </a:r>
                      <a:r>
                        <a:rPr kumimoji="1" lang="ja-JP" altLang="en-US" sz="1400" dirty="0">
                          <a:latin typeface="游ゴシック" panose="020B0400000000000000" pitchFamily="50" charset="-128"/>
                          <a:ea typeface="游ゴシック" panose="020B0400000000000000" pitchFamily="50" charset="-128"/>
                        </a:rPr>
                        <a:t>現時点で想定されるリスク </a:t>
                      </a:r>
                      <a:r>
                        <a:rPr kumimoji="1" lang="en-US" altLang="ja-JP" sz="1400" dirty="0">
                          <a:latin typeface="游ゴシック" panose="020B0400000000000000" pitchFamily="50" charset="-128"/>
                          <a:ea typeface="游ゴシック" panose="020B0400000000000000" pitchFamily="50" charset="-128"/>
                        </a:rPr>
                        <a:t>- 1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latin typeface="游ゴシック" panose="020B0400000000000000" pitchFamily="50" charset="-128"/>
                          <a:ea typeface="游ゴシック" panose="020B0400000000000000" pitchFamily="50" charset="-128"/>
                        </a:rPr>
                        <a:t>P.66 </a:t>
                      </a:r>
                      <a:r>
                        <a:rPr kumimoji="1" lang="ja-JP" altLang="en-US" sz="1400" dirty="0">
                          <a:latin typeface="游ゴシック" panose="020B0400000000000000" pitchFamily="50" charset="-128"/>
                          <a:ea typeface="游ゴシック" panose="020B0400000000000000" pitchFamily="50" charset="-128"/>
                        </a:rPr>
                        <a:t>現時点で想定されるリスク </a:t>
                      </a:r>
                      <a:r>
                        <a:rPr kumimoji="1" lang="en-US" altLang="ja-JP" sz="1400" dirty="0">
                          <a:latin typeface="游ゴシック" panose="020B0400000000000000" pitchFamily="50" charset="-128"/>
                          <a:ea typeface="游ゴシック" panose="020B0400000000000000" pitchFamily="50" charset="-128"/>
                        </a:rPr>
                        <a:t>– 2</a:t>
                      </a: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21567583"/>
                  </a:ext>
                </a:extLst>
              </a:tr>
              <a:tr h="834170">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vMerge="1">
                  <a:txBody>
                    <a:bodyPr/>
                    <a:lstStyle/>
                    <a:p>
                      <a:endParaRPr kumimoji="1" lang="ja-JP" altLang="en-US" sz="1400" b="0" dirty="0">
                        <a:latin typeface="游ゴシック" panose="020B0400000000000000" pitchFamily="50" charset="-128"/>
                        <a:ea typeface="游ゴシック" panose="020B0400000000000000" pitchFamily="50" charset="-128"/>
                      </a:endParaRPr>
                    </a:p>
                  </a:txBody>
                  <a:tcPr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zh-TW"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品質管理方法</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P.67</a:t>
                      </a:r>
                      <a:r>
                        <a:rPr kumimoji="1" lang="ja-JP" altLang="en-US" sz="1400" dirty="0">
                          <a:latin typeface="游ゴシック" panose="020B0400000000000000" pitchFamily="50" charset="-128"/>
                          <a:ea typeface="游ゴシック" panose="020B0400000000000000" pitchFamily="50" charset="-128"/>
                        </a:rPr>
                        <a:t> 品質管理</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P.68</a:t>
                      </a:r>
                      <a:r>
                        <a:rPr kumimoji="1" lang="ja-JP" altLang="en-US" sz="1400" dirty="0">
                          <a:latin typeface="游ゴシック" panose="020B0400000000000000" pitchFamily="50" charset="-128"/>
                          <a:ea typeface="游ゴシック" panose="020B0400000000000000" pitchFamily="50" charset="-128"/>
                        </a:rPr>
                        <a:t> 利用部門への早期公開</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43845269"/>
                  </a:ext>
                </a:extLst>
              </a:tr>
              <a:tr h="119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8</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0" dirty="0">
                          <a:latin typeface="游ゴシック" panose="020B0400000000000000" pitchFamily="50" charset="-128"/>
                          <a:ea typeface="游ゴシック" panose="020B0400000000000000" pitchFamily="50" charset="-128"/>
                        </a:rPr>
                        <a:t>役割分担</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貴社外</a:t>
                      </a:r>
                      <a:r>
                        <a:rPr kumimoji="1" lang="en-US" altLang="ja-JP"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PJ</a:t>
                      </a:r>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関係者（周辺システム担当、情シス、利用者など）への協力事項と</a:t>
                      </a:r>
                    </a:p>
                    <a:p>
                      <a:r>
                        <a:rPr kumimoji="1" lang="zh-CN"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役割分担（主担当、副担当）</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P.54 </a:t>
                      </a:r>
                      <a:r>
                        <a:rPr kumimoji="1" lang="ja-JP" altLang="en-US" sz="1400" dirty="0">
                          <a:latin typeface="游ゴシック" panose="020B0400000000000000" pitchFamily="50" charset="-128"/>
                          <a:ea typeface="游ゴシック" panose="020B0400000000000000" pitchFamily="50" charset="-128"/>
                        </a:rPr>
                        <a:t>役割分担 </a:t>
                      </a:r>
                      <a:r>
                        <a:rPr kumimoji="1" lang="en-US" altLang="ja-JP" sz="1400" dirty="0">
                          <a:latin typeface="游ゴシック" panose="020B0400000000000000" pitchFamily="50" charset="-128"/>
                          <a:ea typeface="游ゴシック" panose="020B0400000000000000" pitchFamily="50" charset="-128"/>
                        </a:rPr>
                        <a:t>–</a:t>
                      </a:r>
                      <a:r>
                        <a:rPr kumimoji="1" lang="en-US" altLang="ja-JP" sz="1400" baseline="0" dirty="0">
                          <a:latin typeface="游ゴシック" panose="020B0400000000000000" pitchFamily="50" charset="-128"/>
                          <a:ea typeface="游ゴシック" panose="020B0400000000000000" pitchFamily="50" charset="-128"/>
                        </a:rPr>
                        <a:t> 1</a:t>
                      </a:r>
                    </a:p>
                    <a:p>
                      <a:pPr algn="l"/>
                      <a:r>
                        <a:rPr kumimoji="1" lang="en-US" altLang="ja-JP" sz="1400" baseline="0" dirty="0">
                          <a:latin typeface="游ゴシック" panose="020B0400000000000000" pitchFamily="50" charset="-128"/>
                          <a:ea typeface="游ゴシック" panose="020B0400000000000000" pitchFamily="50" charset="-128"/>
                        </a:rPr>
                        <a:t>P.55 </a:t>
                      </a:r>
                      <a:r>
                        <a:rPr kumimoji="1" lang="ja-JP" altLang="en-US" sz="1400" baseline="0" dirty="0">
                          <a:latin typeface="游ゴシック" panose="020B0400000000000000" pitchFamily="50" charset="-128"/>
                          <a:ea typeface="游ゴシック" panose="020B0400000000000000" pitchFamily="50" charset="-128"/>
                        </a:rPr>
                        <a:t>役割分担 </a:t>
                      </a:r>
                      <a:r>
                        <a:rPr kumimoji="1" lang="en-US" altLang="ja-JP" sz="1400" baseline="0" dirty="0">
                          <a:latin typeface="游ゴシック" panose="020B0400000000000000" pitchFamily="50" charset="-128"/>
                          <a:ea typeface="游ゴシック" panose="020B0400000000000000" pitchFamily="50" charset="-128"/>
                        </a:rPr>
                        <a:t>– 2</a:t>
                      </a:r>
                    </a:p>
                    <a:p>
                      <a:pPr algn="l"/>
                      <a:r>
                        <a:rPr kumimoji="1" lang="en-US" altLang="ja-JP" sz="1400" dirty="0">
                          <a:latin typeface="游ゴシック" panose="020B0400000000000000" pitchFamily="50" charset="-128"/>
                          <a:ea typeface="游ゴシック" panose="020B0400000000000000" pitchFamily="50" charset="-128"/>
                        </a:rPr>
                        <a:t>P.56 </a:t>
                      </a:r>
                      <a:r>
                        <a:rPr kumimoji="1" lang="ja-JP" altLang="en-US" sz="1400" dirty="0">
                          <a:latin typeface="游ゴシック" panose="020B0400000000000000" pitchFamily="50" charset="-128"/>
                          <a:ea typeface="游ゴシック" panose="020B0400000000000000" pitchFamily="50" charset="-128"/>
                        </a:rPr>
                        <a:t>役割分担 </a:t>
                      </a:r>
                      <a:r>
                        <a:rPr kumimoji="1" lang="en-US" altLang="ja-JP" sz="1400" dirty="0">
                          <a:latin typeface="游ゴシック" panose="020B0400000000000000" pitchFamily="50" charset="-128"/>
                          <a:ea typeface="游ゴシック" panose="020B0400000000000000" pitchFamily="50" charset="-128"/>
                        </a:rPr>
                        <a:t>– 3</a:t>
                      </a: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21758412"/>
                  </a:ext>
                </a:extLst>
              </a:tr>
              <a:tr h="83417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9</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納品物と文書管理</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文書名一覧とその管理方法</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P.46 </a:t>
                      </a:r>
                      <a:r>
                        <a:rPr kumimoji="1" lang="ja-JP" altLang="en-US" sz="1400" dirty="0">
                          <a:latin typeface="游ゴシック" panose="020B0400000000000000" pitchFamily="50" charset="-128"/>
                          <a:ea typeface="游ゴシック" panose="020B0400000000000000" pitchFamily="50" charset="-128"/>
                        </a:rPr>
                        <a:t>成果物</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P.69 </a:t>
                      </a:r>
                      <a:r>
                        <a:rPr kumimoji="1" lang="ja-JP" altLang="en-US" sz="1400" dirty="0">
                          <a:latin typeface="游ゴシック" panose="020B0400000000000000" pitchFamily="50" charset="-128"/>
                          <a:ea typeface="游ゴシック" panose="020B0400000000000000" pitchFamily="50" charset="-128"/>
                        </a:rPr>
                        <a:t>資源管理</a:t>
                      </a:r>
                      <a:endParaRPr kumimoji="1" lang="en-US" altLang="ja-JP"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54059904"/>
                  </a:ext>
                </a:extLst>
              </a:tr>
              <a:tr h="11910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400" b="0" dirty="0">
                          <a:latin typeface="游ゴシック" panose="020B0400000000000000" pitchFamily="50" charset="-128"/>
                          <a:ea typeface="游ゴシック" panose="020B0400000000000000" pitchFamily="50" charset="-128"/>
                        </a:rPr>
                        <a:t>10</a:t>
                      </a:r>
                      <a:endParaRPr kumimoji="1" lang="ja-JP" altLang="en-US" sz="1400" b="0" dirty="0">
                        <a:latin typeface="游ゴシック" panose="020B0400000000000000" pitchFamily="50" charset="-128"/>
                        <a:ea typeface="游ゴシック" panose="020B0400000000000000" pitchFamily="50" charset="-128"/>
                      </a:endParaRP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accent3">
                        <a:lumMod val="20000"/>
                        <a:lumOff val="80000"/>
                      </a:schemeClr>
                    </a:solidFill>
                  </a:tcPr>
                </a:tc>
                <a:tc>
                  <a:txBody>
                    <a:bodyPr/>
                    <a:lstStyle/>
                    <a:p>
                      <a:r>
                        <a:rPr kumimoji="1" lang="ja-JP" altLang="en-US" sz="1400" b="0" dirty="0">
                          <a:latin typeface="游ゴシック" panose="020B0400000000000000" pitchFamily="50" charset="-128"/>
                          <a:ea typeface="游ゴシック" panose="020B0400000000000000" pitchFamily="50" charset="-128"/>
                        </a:rPr>
                        <a:t>前提</a:t>
                      </a:r>
                    </a:p>
                  </a:txBody>
                  <a:tcPr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r>
                        <a:rPr kumimoji="1" lang="ja-JP" altLang="en-US" sz="1400" b="0" i="0" u="none" strike="noStrike" kern="1200" baseline="0" dirty="0">
                          <a:solidFill>
                            <a:schemeClr val="dk1"/>
                          </a:solidFill>
                          <a:latin typeface="游ゴシック" panose="020B0400000000000000" pitchFamily="50" charset="-128"/>
                          <a:ea typeface="游ゴシック" panose="020B0400000000000000" pitchFamily="50" charset="-128"/>
                          <a:cs typeface="+mn-cs"/>
                        </a:rPr>
                        <a:t>上記或いはそれ以外に関する前提（責任範囲、契約形態など）</a:t>
                      </a:r>
                      <a:endParaRPr kumimoji="1" lang="ja-JP" altLang="en-US" sz="1400" dirty="0">
                        <a:latin typeface="游ゴシック" panose="020B0400000000000000" pitchFamily="50" charset="-128"/>
                        <a:ea typeface="游ゴシック" panose="020B0400000000000000" pitchFamily="50" charset="-128"/>
                      </a:endParaRP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algn="l"/>
                      <a:r>
                        <a:rPr kumimoji="1" lang="en-US" altLang="ja-JP" sz="1400" dirty="0">
                          <a:latin typeface="游ゴシック" panose="020B0400000000000000" pitchFamily="50" charset="-128"/>
                          <a:ea typeface="游ゴシック" panose="020B0400000000000000" pitchFamily="50" charset="-128"/>
                        </a:rPr>
                        <a:t>P.73 </a:t>
                      </a:r>
                      <a:r>
                        <a:rPr kumimoji="1" lang="ja-JP" altLang="en-US" sz="1400" dirty="0">
                          <a:latin typeface="游ゴシック" panose="020B0400000000000000" pitchFamily="50" charset="-128"/>
                          <a:ea typeface="游ゴシック" panose="020B0400000000000000" pitchFamily="50" charset="-128"/>
                        </a:rPr>
                        <a:t>ご契約について</a:t>
                      </a:r>
                      <a:endParaRPr kumimoji="1" lang="en-US" altLang="ja-JP" sz="1400" dirty="0">
                        <a:latin typeface="游ゴシック" panose="020B0400000000000000" pitchFamily="50" charset="-128"/>
                        <a:ea typeface="游ゴシック" panose="020B0400000000000000" pitchFamily="50" charset="-128"/>
                      </a:endParaRPr>
                    </a:p>
                    <a:p>
                      <a:pPr algn="l"/>
                      <a:r>
                        <a:rPr kumimoji="1" lang="en-US" altLang="ja-JP" sz="1400" dirty="0">
                          <a:latin typeface="游ゴシック" panose="020B0400000000000000" pitchFamily="50" charset="-128"/>
                          <a:ea typeface="游ゴシック" panose="020B0400000000000000" pitchFamily="50" charset="-128"/>
                        </a:rPr>
                        <a:t>P.76 </a:t>
                      </a:r>
                      <a:r>
                        <a:rPr kumimoji="1" lang="ja-JP" altLang="en-US" sz="1400" dirty="0">
                          <a:latin typeface="游ゴシック" panose="020B0400000000000000" pitchFamily="50" charset="-128"/>
                          <a:ea typeface="游ゴシック" panose="020B0400000000000000" pitchFamily="50" charset="-128"/>
                        </a:rPr>
                        <a:t>お見積もりの前提条件 </a:t>
                      </a:r>
                      <a:r>
                        <a:rPr kumimoji="1" lang="en-US" altLang="ja-JP" sz="1400" dirty="0">
                          <a:latin typeface="游ゴシック" panose="020B0400000000000000" pitchFamily="50" charset="-128"/>
                          <a:ea typeface="游ゴシック" panose="020B0400000000000000" pitchFamily="50" charset="-128"/>
                        </a:rPr>
                        <a:t>- 1</a:t>
                      </a:r>
                    </a:p>
                    <a:p>
                      <a:pPr algn="l"/>
                      <a:r>
                        <a:rPr kumimoji="1" lang="en-US" altLang="ja-JP" sz="1400" dirty="0">
                          <a:latin typeface="游ゴシック" panose="020B0400000000000000" pitchFamily="50" charset="-128"/>
                          <a:ea typeface="游ゴシック" panose="020B0400000000000000" pitchFamily="50" charset="-128"/>
                        </a:rPr>
                        <a:t>P.77 </a:t>
                      </a:r>
                      <a:r>
                        <a:rPr kumimoji="1" lang="ja-JP" altLang="en-US" sz="1400" dirty="0">
                          <a:latin typeface="游ゴシック" panose="020B0400000000000000" pitchFamily="50" charset="-128"/>
                          <a:ea typeface="游ゴシック" panose="020B0400000000000000" pitchFamily="50" charset="-128"/>
                        </a:rPr>
                        <a:t>お見積もりの前提条件 </a:t>
                      </a:r>
                      <a:r>
                        <a:rPr kumimoji="1" lang="en-US" altLang="ja-JP" sz="1400" dirty="0">
                          <a:latin typeface="游ゴシック" panose="020B0400000000000000" pitchFamily="50" charset="-128"/>
                          <a:ea typeface="游ゴシック" panose="020B0400000000000000" pitchFamily="50" charset="-128"/>
                        </a:rPr>
                        <a:t>– 2</a:t>
                      </a:r>
                    </a:p>
                  </a:txBody>
                  <a:tcPr marL="72000" marR="21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03366038"/>
                  </a:ext>
                </a:extLst>
              </a:tr>
            </a:tbl>
          </a:graphicData>
        </a:graphic>
      </p:graphicFrame>
    </p:spTree>
    <p:extLst>
      <p:ext uri="{BB962C8B-B14F-4D97-AF65-F5344CB8AC3E}">
        <p14:creationId xmlns:p14="http://schemas.microsoft.com/office/powerpoint/2010/main" val="6696905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en-US" altLang="ja-JP"/>
              <a:t>Copyright© 2020 SystemEXE,Inc. all rights reserved.</a:t>
            </a:r>
            <a:endParaRPr lang="ja-JP" altLang="en-US" dirty="0"/>
          </a:p>
        </p:txBody>
      </p:sp>
      <p:sp>
        <p:nvSpPr>
          <p:cNvPr id="3" name="スライド番号プレースホルダー 2"/>
          <p:cNvSpPr>
            <a:spLocks noGrp="1"/>
          </p:cNvSpPr>
          <p:nvPr>
            <p:ph type="sldNum" sz="quarter" idx="12"/>
          </p:nvPr>
        </p:nvSpPr>
        <p:spPr/>
        <p:txBody>
          <a:bodyPr/>
          <a:lstStyle/>
          <a:p>
            <a:fld id="{74395F4E-A786-454B-9285-EF3DEA272B37}" type="slidenum">
              <a:rPr kumimoji="1" lang="ja-JP" altLang="en-US" smtClean="0"/>
              <a:t>79</a:t>
            </a:fld>
            <a:endParaRPr kumimoji="1" lang="ja-JP" altLang="en-US"/>
          </a:p>
        </p:txBody>
      </p:sp>
      <p:sp>
        <p:nvSpPr>
          <p:cNvPr id="4" name="コンテンツ プレースホルダー 2"/>
          <p:cNvSpPr txBox="1">
            <a:spLocks/>
          </p:cNvSpPr>
          <p:nvPr/>
        </p:nvSpPr>
        <p:spPr>
          <a:xfrm>
            <a:off x="648000" y="1512000"/>
            <a:ext cx="7848000" cy="2520000"/>
          </a:xfrm>
          <a:prstGeom prst="rect">
            <a:avLst/>
          </a:prstGeom>
        </p:spPr>
        <p:txBody>
          <a:bodyPr anchor="t" anchorCtr="0">
            <a:noAutofit/>
          </a:bodyPr>
          <a:lstStyle>
            <a:lvl1pPr marL="228600" indent="-228600" algn="l" defTabSz="914400" rtl="0" eaLnBrk="1" latinLnBrk="1" hangingPunct="1">
              <a:lnSpc>
                <a:spcPct val="100000"/>
              </a:lnSpc>
              <a:spcBef>
                <a:spcPts val="10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2000" dirty="0">
                <a:latin typeface="游明朝" panose="02020400000000000000" pitchFamily="18" charset="-128"/>
                <a:ea typeface="游明朝" panose="02020400000000000000" pitchFamily="18" charset="-128"/>
              </a:rPr>
              <a:t>ご高覧ありがとうございました。</a:t>
            </a:r>
            <a:endParaRPr lang="en-US" altLang="ja-JP" sz="2000" dirty="0">
              <a:latin typeface="游明朝" panose="02020400000000000000" pitchFamily="18" charset="-128"/>
              <a:ea typeface="游明朝" panose="02020400000000000000" pitchFamily="18" charset="-128"/>
            </a:endParaRPr>
          </a:p>
          <a:p>
            <a:pPr marL="0" indent="0" algn="ctr">
              <a:buNone/>
            </a:pPr>
            <a:endParaRPr lang="ja-JP" altLang="en-US" dirty="0">
              <a:latin typeface="游明朝" panose="02020400000000000000" pitchFamily="18" charset="-128"/>
              <a:ea typeface="游明朝" panose="02020400000000000000" pitchFamily="18" charset="-128"/>
            </a:endParaRPr>
          </a:p>
          <a:p>
            <a:pPr marL="0" indent="0">
              <a:buNone/>
            </a:pPr>
            <a:r>
              <a:rPr lang="ja-JP" altLang="en-US" dirty="0">
                <a:latin typeface="游明朝" panose="02020400000000000000" pitchFamily="18" charset="-128"/>
                <a:ea typeface="游明朝" panose="02020400000000000000" pitchFamily="18" charset="-128"/>
              </a:rPr>
              <a:t>千葉運転管理システムは、貴社潤滑油事業における重要な位置づけとなるシステムと認識しております。本提案では、現在の業務を変えずに新たなシステム環境に対応させることを第一に考え、今後長きにわたりシステムが安定稼働することを実現できるものと考えております。</a:t>
            </a:r>
          </a:p>
          <a:p>
            <a:pPr marL="0" indent="0">
              <a:buNone/>
            </a:pPr>
            <a:r>
              <a:rPr lang="ja-JP" altLang="en-US" dirty="0">
                <a:latin typeface="游明朝" panose="02020400000000000000" pitchFamily="18" charset="-128"/>
                <a:ea typeface="游明朝" panose="02020400000000000000" pitchFamily="18" charset="-128"/>
              </a:rPr>
              <a:t>本提案をご検討いただき、是非とも、弊社による対応のご決定を賜れれば幸いです。弊社は、これまでのシステム導入経験により培ってきたノウハウを活用し、貴社のますますのご発展の一助となることを願っております。</a:t>
            </a:r>
          </a:p>
        </p:txBody>
      </p:sp>
      <p:sp>
        <p:nvSpPr>
          <p:cNvPr id="5" name="コンテンツ プレースホルダー 2"/>
          <p:cNvSpPr txBox="1">
            <a:spLocks/>
          </p:cNvSpPr>
          <p:nvPr/>
        </p:nvSpPr>
        <p:spPr>
          <a:xfrm>
            <a:off x="1584000" y="5184000"/>
            <a:ext cx="5976000" cy="1152000"/>
          </a:xfrm>
          <a:prstGeom prst="rect">
            <a:avLst/>
          </a:prstGeom>
        </p:spPr>
        <p:txBody>
          <a:bodyPr anchor="t" anchorCtr="0">
            <a:noAutofit/>
          </a:bodyPr>
          <a:lstStyle>
            <a:lvl1pPr marL="228600" indent="-228600" algn="l" defTabSz="914400" rtl="0" eaLnBrk="1" latinLnBrk="1" hangingPunct="1">
              <a:lnSpc>
                <a:spcPct val="100000"/>
              </a:lnSpc>
              <a:spcBef>
                <a:spcPts val="10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1" hangingPunct="1">
              <a:lnSpc>
                <a:spcPct val="100000"/>
              </a:lnSpc>
              <a:spcBef>
                <a:spcPts val="500"/>
              </a:spcBef>
              <a:buFont typeface="Arial" panose="020B0604020202020204" pitchFamily="34" charset="0"/>
              <a:buChar char="•"/>
              <a:defRPr kumimoji="1" sz="14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US" altLang="ja-JP" dirty="0"/>
              <a:t>【</a:t>
            </a:r>
            <a:r>
              <a:rPr lang="ja-JP" altLang="en-US" dirty="0"/>
              <a:t>本提案書に関するお問い合わせ先</a:t>
            </a:r>
            <a:r>
              <a:rPr lang="en-US" altLang="ja-JP" dirty="0"/>
              <a:t>】</a:t>
            </a:r>
          </a:p>
          <a:p>
            <a:pPr marL="0" indent="0">
              <a:buNone/>
            </a:pPr>
            <a:r>
              <a:rPr lang="ja-JP" altLang="en-US" dirty="0"/>
              <a:t>福田慎　　</a:t>
            </a:r>
            <a:r>
              <a:rPr lang="en-US" altLang="ja-JP" dirty="0"/>
              <a:t>Tel: 043-287-7030</a:t>
            </a:r>
            <a:r>
              <a:rPr lang="ja-JP" altLang="en-US" dirty="0"/>
              <a:t>　</a:t>
            </a:r>
            <a:r>
              <a:rPr lang="en-US" altLang="ja-JP" dirty="0"/>
              <a:t>Mail: m-fukuda@system-exe.co.jp</a:t>
            </a:r>
            <a:br>
              <a:rPr lang="en-US" altLang="ja-JP" dirty="0"/>
            </a:br>
            <a:r>
              <a:rPr lang="ja-JP" altLang="en-US" dirty="0"/>
              <a:t>小林紀昭　</a:t>
            </a:r>
            <a:r>
              <a:rPr lang="en-US" altLang="ja-JP" dirty="0"/>
              <a:t>Tel: 043-287-7030</a:t>
            </a:r>
            <a:r>
              <a:rPr lang="ja-JP" altLang="en-US" dirty="0"/>
              <a:t>　</a:t>
            </a:r>
            <a:r>
              <a:rPr lang="en-US" altLang="ja-JP" dirty="0"/>
              <a:t>Mail: nori-kobayashi@system-exe.co.jp</a:t>
            </a:r>
            <a:br>
              <a:rPr lang="en-US" altLang="ja-JP" dirty="0"/>
            </a:br>
            <a:r>
              <a:rPr lang="ja-JP" altLang="en-US" dirty="0"/>
              <a:t>髙浦祐朗　</a:t>
            </a:r>
            <a:r>
              <a:rPr lang="en-US" altLang="ja-JP" dirty="0"/>
              <a:t>Tel: 03-5299-5351</a:t>
            </a:r>
            <a:r>
              <a:rPr lang="ja-JP" altLang="en-US" dirty="0"/>
              <a:t>　</a:t>
            </a:r>
            <a:r>
              <a:rPr lang="en-US" altLang="ja-JP" dirty="0"/>
              <a:t>Mail: m-takaura@system-exe.co.jp</a:t>
            </a:r>
          </a:p>
        </p:txBody>
      </p:sp>
    </p:spTree>
    <p:extLst>
      <p:ext uri="{BB962C8B-B14F-4D97-AF65-F5344CB8AC3E}">
        <p14:creationId xmlns:p14="http://schemas.microsoft.com/office/powerpoint/2010/main" val="40774543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p:cNvSpPr>
            <a:spLocks noGrp="1"/>
          </p:cNvSpPr>
          <p:nvPr>
            <p:ph type="ftr" sz="quarter" idx="11"/>
          </p:nvPr>
        </p:nvSpPr>
        <p:spPr/>
        <p:txBody>
          <a:bodyPr/>
          <a:lstStyle/>
          <a:p>
            <a:r>
              <a:rPr lang="en-US" altLang="ja-JP"/>
              <a:t>Copyright© 2020 SystemEXE,Inc. all rights reserved.</a:t>
            </a:r>
            <a:endParaRPr lang="ja-JP" altLang="en-US" dirty="0"/>
          </a:p>
        </p:txBody>
      </p:sp>
    </p:spTree>
    <p:extLst>
      <p:ext uri="{BB962C8B-B14F-4D97-AF65-F5344CB8AC3E}">
        <p14:creationId xmlns:p14="http://schemas.microsoft.com/office/powerpoint/2010/main" val="146040566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kumimoji="1" sz="1600" b="1" dirty="0" smtClean="0">
            <a:latin typeface="游ゴシック" panose="020B0400000000000000" pitchFamily="50" charset="-128"/>
            <a:ea typeface="游ゴシック" panose="020B0400000000000000" pitchFamily="50" charset="-128"/>
          </a:defRPr>
        </a:defPPr>
      </a:lstStyle>
      <a:style>
        <a:lnRef idx="3">
          <a:schemeClr val="lt1"/>
        </a:lnRef>
        <a:fillRef idx="1">
          <a:schemeClr val="accent1"/>
        </a:fillRef>
        <a:effectRef idx="1">
          <a:schemeClr val="accent1"/>
        </a:effectRef>
        <a:fontRef idx="minor">
          <a:schemeClr val="lt1"/>
        </a:fontRef>
      </a:style>
    </a:spDef>
    <a:lnDef>
      <a:spPr>
        <a:ln w="317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kumimoji="1" sz="14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44527</TotalTime>
  <Words>16258</Words>
  <Application>Microsoft Office PowerPoint</Application>
  <PresentationFormat>画面に合わせる (4:3)</PresentationFormat>
  <Paragraphs>2600</Paragraphs>
  <Slides>81</Slides>
  <Notes>8</Notes>
  <HiddenSlides>0</HiddenSlides>
  <MMClips>0</MMClips>
  <ScaleCrop>false</ScaleCrop>
  <HeadingPairs>
    <vt:vector size="6" baseType="variant">
      <vt:variant>
        <vt:lpstr>使用されているフォント</vt:lpstr>
      </vt:variant>
      <vt:variant>
        <vt:i4>10</vt:i4>
      </vt:variant>
      <vt:variant>
        <vt:lpstr>テーマ</vt:lpstr>
      </vt:variant>
      <vt:variant>
        <vt:i4>1</vt:i4>
      </vt:variant>
      <vt:variant>
        <vt:lpstr>スライド タイトル</vt:lpstr>
      </vt:variant>
      <vt:variant>
        <vt:i4>81</vt:i4>
      </vt:variant>
    </vt:vector>
  </HeadingPairs>
  <TitlesOfParts>
    <vt:vector size="92" baseType="lpstr">
      <vt:lpstr>Meiryo UI</vt:lpstr>
      <vt:lpstr>ＭＳ Ｐゴシック</vt:lpstr>
      <vt:lpstr>Meiryo</vt:lpstr>
      <vt:lpstr>Meiryo</vt:lpstr>
      <vt:lpstr>游ゴシック</vt:lpstr>
      <vt:lpstr>游明朝</vt:lpstr>
      <vt:lpstr>Arial</vt:lpstr>
      <vt:lpstr>Calibri</vt:lpstr>
      <vt:lpstr>Calibri Light</vt:lpstr>
      <vt:lpstr>Wingdings</vt:lpstr>
      <vt:lpstr>Office テーマ</vt:lpstr>
      <vt:lpstr>千葉運転管理システム更新 に関するご提案</vt:lpstr>
      <vt:lpstr>目次</vt:lpstr>
      <vt:lpstr>ご提案のポイント</vt:lpstr>
      <vt:lpstr>プロジェクトの背景・目的</vt:lpstr>
      <vt:lpstr>プロジェクトの方針</vt:lpstr>
      <vt:lpstr>実績・経験を活かした高品質・高生産性</vt:lpstr>
      <vt:lpstr>貴社開発標準に則った開発プロセス</vt:lpstr>
      <vt:lpstr>情報共有を重視したプロジェクト管理</vt:lpstr>
      <vt:lpstr>オフショア開発によるコスト削減</vt:lpstr>
      <vt:lpstr>柔軟な対応で安定稼働をサポートする保守</vt:lpstr>
      <vt:lpstr>現行システムの理解</vt:lpstr>
      <vt:lpstr>千葉運転管理システムの位置づけ</vt:lpstr>
      <vt:lpstr>システム構成（AsIs）</vt:lpstr>
      <vt:lpstr>システム配置（AsIs）</vt:lpstr>
      <vt:lpstr>アプリケーションの配置（AsIs）</vt:lpstr>
      <vt:lpstr>機能概要（AsIs）</vt:lpstr>
      <vt:lpstr>機能数（AsIs）</vt:lpstr>
      <vt:lpstr>システム更新の実現方法</vt:lpstr>
      <vt:lpstr>システム構成（ToBe）</vt:lpstr>
      <vt:lpstr>システム配置（ToBe）</vt:lpstr>
      <vt:lpstr>機能概要（ToBe）</vt:lpstr>
      <vt:lpstr>機能数（ToBe）</vt:lpstr>
      <vt:lpstr>開発環境の変更点</vt:lpstr>
      <vt:lpstr>.NETへのマイグレーション方法</vt:lpstr>
      <vt:lpstr>実行環境の変更点</vt:lpstr>
      <vt:lpstr>パフォーマンス</vt:lpstr>
      <vt:lpstr>バックアップ方式</vt:lpstr>
      <vt:lpstr>リストア方式</vt:lpstr>
      <vt:lpstr>冗長化構成</vt:lpstr>
      <vt:lpstr>プロジェクトの進め方</vt:lpstr>
      <vt:lpstr>工程と作業概要</vt:lpstr>
      <vt:lpstr>スケジュール</vt:lpstr>
      <vt:lpstr>要員計画</vt:lpstr>
      <vt:lpstr>システム方式設計（SA）</vt:lpstr>
      <vt:lpstr>設計（UI/SS）</vt:lpstr>
      <vt:lpstr>プログラミング（PS/PG/PT）</vt:lpstr>
      <vt:lpstr>テスト（IT/ST/OT）</vt:lpstr>
      <vt:lpstr>テスト時における周辺システム担当との連携方法</vt:lpstr>
      <vt:lpstr>本番移行</vt:lpstr>
      <vt:lpstr>ユーザ教育</vt:lpstr>
      <vt:lpstr>初期流動</vt:lpstr>
      <vt:lpstr>保守</vt:lpstr>
      <vt:lpstr>定期メンテナンスについて</vt:lpstr>
      <vt:lpstr>成果物</vt:lpstr>
      <vt:lpstr>プロジェクトの体制</vt:lpstr>
      <vt:lpstr>開発体制（システム方式設計～運用テスト）</vt:lpstr>
      <vt:lpstr>初期流動体制（初期流動）</vt:lpstr>
      <vt:lpstr>保守体制（保守）</vt:lpstr>
      <vt:lpstr>貴社および周辺システムベンダーとの連携体制</vt:lpstr>
      <vt:lpstr>再委託先について</vt:lpstr>
      <vt:lpstr>役割と責任</vt:lpstr>
      <vt:lpstr>役割分担 - 1</vt:lpstr>
      <vt:lpstr>役割分担 - 2</vt:lpstr>
      <vt:lpstr>役割分担 - 3</vt:lpstr>
      <vt:lpstr>プロジェクト管理</vt:lpstr>
      <vt:lpstr>進捗管理</vt:lpstr>
      <vt:lpstr>課題管理</vt:lpstr>
      <vt:lpstr>リスク管理</vt:lpstr>
      <vt:lpstr>問題発生時の対応</vt:lpstr>
      <vt:lpstr>現時点で想定されるリスク – 1</vt:lpstr>
      <vt:lpstr>現時点で想定されるリスク – 2</vt:lpstr>
      <vt:lpstr>品質管理</vt:lpstr>
      <vt:lpstr>利用部門への早期公開</vt:lpstr>
      <vt:lpstr>資源管理</vt:lpstr>
      <vt:lpstr>コミュニケーション管理</vt:lpstr>
      <vt:lpstr>会議体</vt:lpstr>
      <vt:lpstr>Appendix</vt:lpstr>
      <vt:lpstr>弊社情報 - 1</vt:lpstr>
      <vt:lpstr>弊社情報 - 2</vt:lpstr>
      <vt:lpstr>弊社情報 - 3</vt:lpstr>
      <vt:lpstr>弊社担当者情報</vt:lpstr>
      <vt:lpstr>提案環境に関する弊社情報</vt:lpstr>
      <vt:lpstr>類似案件の実績 - 1　（全社実績）</vt:lpstr>
      <vt:lpstr>類似案件の実績 - 2　（開発担当部門の実績）</vt:lpstr>
      <vt:lpstr>オフショア利用案件の実績</vt:lpstr>
      <vt:lpstr>COVID-19に関するベトナムの状況</vt:lpstr>
      <vt:lpstr>RFP提案項目対照表 - 1</vt:lpstr>
      <vt:lpstr>RFP提案項目対照表 - 2</vt:lpstr>
      <vt:lpstr>RFP提案項目対照表 - 3</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株式会社システムエグゼ</dc:creator>
  <cp:lastModifiedBy>野村康二</cp:lastModifiedBy>
  <cp:revision>5752</cp:revision>
  <cp:lastPrinted>2020-07-06T00:54:30Z</cp:lastPrinted>
  <dcterms:created xsi:type="dcterms:W3CDTF">2017-12-05T05:18:47Z</dcterms:created>
  <dcterms:modified xsi:type="dcterms:W3CDTF">2021-03-10T08:33:49Z</dcterms:modified>
</cp:coreProperties>
</file>