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19"/>
  </p:notesMasterIdLst>
  <p:sldIdLst>
    <p:sldId id="256" r:id="rId5"/>
    <p:sldId id="262" r:id="rId6"/>
    <p:sldId id="259" r:id="rId7"/>
    <p:sldId id="260" r:id="rId8"/>
    <p:sldId id="275" r:id="rId9"/>
    <p:sldId id="258" r:id="rId10"/>
    <p:sldId id="274" r:id="rId11"/>
    <p:sldId id="281" r:id="rId12"/>
    <p:sldId id="276" r:id="rId13"/>
    <p:sldId id="285" r:id="rId14"/>
    <p:sldId id="283" r:id="rId15"/>
    <p:sldId id="277" r:id="rId16"/>
    <p:sldId id="280" r:id="rId17"/>
    <p:sldId id="28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4B2"/>
    <a:srgbClr val="E9ECF3"/>
    <a:srgbClr val="FF0066"/>
    <a:srgbClr val="CC99FF"/>
    <a:srgbClr val="FFFFFF"/>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p:restoredTop sz="92998" autoAdjust="0"/>
  </p:normalViewPr>
  <p:slideViewPr>
    <p:cSldViewPr snapToObjects="1">
      <p:cViewPr varScale="1">
        <p:scale>
          <a:sx n="104" d="100"/>
          <a:sy n="104" d="100"/>
        </p:scale>
        <p:origin x="166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FF120-A316-0848-898C-5F096073A265}" type="datetimeFigureOut">
              <a:rPr kumimoji="1" lang="ja-JP" altLang="en-US" smtClean="0"/>
              <a:t>2020/8/24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DF984-7E53-D84E-AC3B-72FE35197BB6}" type="slidenum">
              <a:rPr kumimoji="1" lang="ja-JP" altLang="en-US" smtClean="0"/>
              <a:t>‹#›</a:t>
            </a:fld>
            <a:endParaRPr kumimoji="1" lang="ja-JP" altLang="en-US"/>
          </a:p>
        </p:txBody>
      </p:sp>
    </p:spTree>
    <p:extLst>
      <p:ext uri="{BB962C8B-B14F-4D97-AF65-F5344CB8AC3E}">
        <p14:creationId xmlns:p14="http://schemas.microsoft.com/office/powerpoint/2010/main" val="130643272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7</a:t>
            </a:fld>
            <a:endParaRPr kumimoji="1" lang="ja-JP" altLang="en-US"/>
          </a:p>
        </p:txBody>
      </p:sp>
    </p:spTree>
    <p:extLst>
      <p:ext uri="{BB962C8B-B14F-4D97-AF65-F5344CB8AC3E}">
        <p14:creationId xmlns:p14="http://schemas.microsoft.com/office/powerpoint/2010/main" val="391953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8</a:t>
            </a:fld>
            <a:endParaRPr kumimoji="1" lang="ja-JP" altLang="en-US"/>
          </a:p>
        </p:txBody>
      </p:sp>
    </p:spTree>
    <p:extLst>
      <p:ext uri="{BB962C8B-B14F-4D97-AF65-F5344CB8AC3E}">
        <p14:creationId xmlns:p14="http://schemas.microsoft.com/office/powerpoint/2010/main" val="1450080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9</a:t>
            </a:fld>
            <a:endParaRPr kumimoji="1" lang="ja-JP" altLang="en-US"/>
          </a:p>
        </p:txBody>
      </p:sp>
    </p:spTree>
    <p:extLst>
      <p:ext uri="{BB962C8B-B14F-4D97-AF65-F5344CB8AC3E}">
        <p14:creationId xmlns:p14="http://schemas.microsoft.com/office/powerpoint/2010/main" val="961808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10</a:t>
            </a:fld>
            <a:endParaRPr kumimoji="1" lang="ja-JP" altLang="en-US"/>
          </a:p>
        </p:txBody>
      </p:sp>
    </p:spTree>
    <p:extLst>
      <p:ext uri="{BB962C8B-B14F-4D97-AF65-F5344CB8AC3E}">
        <p14:creationId xmlns:p14="http://schemas.microsoft.com/office/powerpoint/2010/main" val="4240711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11</a:t>
            </a:fld>
            <a:endParaRPr kumimoji="1" lang="ja-JP" altLang="en-US"/>
          </a:p>
        </p:txBody>
      </p:sp>
    </p:spTree>
    <p:extLst>
      <p:ext uri="{BB962C8B-B14F-4D97-AF65-F5344CB8AC3E}">
        <p14:creationId xmlns:p14="http://schemas.microsoft.com/office/powerpoint/2010/main" val="832659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12</a:t>
            </a:fld>
            <a:endParaRPr kumimoji="1" lang="ja-JP" altLang="en-US"/>
          </a:p>
        </p:txBody>
      </p:sp>
    </p:spTree>
    <p:extLst>
      <p:ext uri="{BB962C8B-B14F-4D97-AF65-F5344CB8AC3E}">
        <p14:creationId xmlns:p14="http://schemas.microsoft.com/office/powerpoint/2010/main" val="431682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13</a:t>
            </a:fld>
            <a:endParaRPr kumimoji="1" lang="ja-JP" altLang="en-US"/>
          </a:p>
        </p:txBody>
      </p:sp>
    </p:spTree>
    <p:extLst>
      <p:ext uri="{BB962C8B-B14F-4D97-AF65-F5344CB8AC3E}">
        <p14:creationId xmlns:p14="http://schemas.microsoft.com/office/powerpoint/2010/main" val="2933417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14</a:t>
            </a:fld>
            <a:endParaRPr kumimoji="1" lang="ja-JP" altLang="en-US"/>
          </a:p>
        </p:txBody>
      </p:sp>
    </p:spTree>
    <p:extLst>
      <p:ext uri="{BB962C8B-B14F-4D97-AF65-F5344CB8AC3E}">
        <p14:creationId xmlns:p14="http://schemas.microsoft.com/office/powerpoint/2010/main" val="9813508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8" name="図 7" descr="スクリーンショット, 鳥, 花 が含まれている画像&#10;&#10;自動的に生成された説明">
            <a:extLst>
              <a:ext uri="{FF2B5EF4-FFF2-40B4-BE49-F238E27FC236}">
                <a16:creationId xmlns:a16="http://schemas.microsoft.com/office/drawing/2014/main" id="{16CE98C3-47F0-9A4D-97B8-459EDC445E28}"/>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noChangeAspect="1"/>
          </p:cNvSpPr>
          <p:nvPr>
            <p:ph type="ctrTitle"/>
          </p:nvPr>
        </p:nvSpPr>
        <p:spPr>
          <a:xfrm>
            <a:off x="1908001" y="2916000"/>
            <a:ext cx="6480000" cy="432000"/>
          </a:xfrm>
        </p:spPr>
        <p:txBody>
          <a:bodyPr vert="horz" lIns="0" tIns="72000" rIns="0" bIns="0" numCol="1" anchor="ctr" anchorCtr="0">
            <a:noAutofit/>
          </a:bodyPr>
          <a:lstStyle>
            <a:lvl1pPr algn="l">
              <a:defRPr sz="30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908000" y="3420000"/>
            <a:ext cx="6480000" cy="324000"/>
          </a:xfrm>
        </p:spPr>
        <p:txBody>
          <a:bodyPr lIns="0" tIns="72000" rIns="0" bIns="0" anchor="ctr" anchorCtr="0">
            <a:noAutofit/>
          </a:bodyPr>
          <a:lstStyle>
            <a:lvl1pPr marL="0" indent="0" algn="l">
              <a:buNone/>
              <a:defRPr sz="2400" b="0" i="0">
                <a:latin typeface="Meiryo" panose="020B0604030504040204" pitchFamily="34" charset="-128"/>
                <a:ea typeface="Meiryo"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noChangeAspect="1"/>
          </p:cNvSpPr>
          <p:nvPr>
            <p:ph type="dt" sz="half" idx="10"/>
          </p:nvPr>
        </p:nvSpPr>
        <p:spPr>
          <a:xfrm>
            <a:off x="3492000" y="5400000"/>
            <a:ext cx="2160000" cy="288000"/>
          </a:xfrm>
        </p:spPr>
        <p:txBody>
          <a:bodyPr lIns="0" tIns="36000" rIns="0" bIns="0" anchor="ctr"/>
          <a:lstStyle>
            <a:lvl1pPr algn="ctr">
              <a:defRPr sz="1700" b="0" i="0">
                <a:solidFill>
                  <a:schemeClr val="tx1"/>
                </a:solidFill>
                <a:latin typeface="Meiryo" panose="020B0604030504040204" pitchFamily="34" charset="-128"/>
                <a:ea typeface="Meiryo" panose="020B0604030504040204" pitchFamily="34" charset="-128"/>
              </a:defRPr>
            </a:lvl1pPr>
          </a:lstStyle>
          <a:p>
            <a:endParaRPr kumimoji="1" lang="ja-JP" altLang="en-US"/>
          </a:p>
        </p:txBody>
      </p:sp>
    </p:spTree>
    <p:extLst>
      <p:ext uri="{BB962C8B-B14F-4D97-AF65-F5344CB8AC3E}">
        <p14:creationId xmlns:p14="http://schemas.microsoft.com/office/powerpoint/2010/main" val="2406918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4" name="図 3" descr="スクリーンショット が含まれている画像&#10;&#10;自動的に生成された説明">
            <a:extLst>
              <a:ext uri="{FF2B5EF4-FFF2-40B4-BE49-F238E27FC236}">
                <a16:creationId xmlns:a16="http://schemas.microsoft.com/office/drawing/2014/main" id="{BDB12FB3-01CF-9C46-ABA3-CE2AF3627729}"/>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1116000" y="360000"/>
            <a:ext cx="7703999" cy="360000"/>
          </a:xfrm>
        </p:spPr>
        <p:txBody>
          <a:bodyPr lIns="0" tIns="72000" rIns="0" bIns="0">
            <a:noAutofit/>
          </a:bodyPr>
          <a:lstStyle>
            <a:lvl1pPr>
              <a:defRPr sz="2400" b="0" i="0">
                <a:latin typeface="Meiryo" panose="020B0604030504040204" pitchFamily="34" charset="-128"/>
                <a:ea typeface="Meiryo" panose="020B0604030504040204" pitchFamily="34" charset="-128"/>
              </a:defRPr>
            </a:lvl1pPr>
          </a:lstStyle>
          <a:p>
            <a:r>
              <a:rPr lang="ja-JP" altLang="en-US" dirty="0"/>
              <a:t>マスター タイトルの書式設定</a:t>
            </a:r>
            <a:endParaRPr lang="en-US" dirty="0"/>
          </a:p>
        </p:txBody>
      </p:sp>
      <p:sp>
        <p:nvSpPr>
          <p:cNvPr id="5" name="Slide Number Placeholder 4"/>
          <p:cNvSpPr>
            <a:spLocks noGrp="1"/>
          </p:cNvSpPr>
          <p:nvPr>
            <p:ph type="sldNum" sz="quarter" idx="12"/>
          </p:nvPr>
        </p:nvSpPr>
        <p:spPr>
          <a:xfrm>
            <a:off x="8532000" y="6624000"/>
            <a:ext cx="432000" cy="144000"/>
          </a:xfrm>
        </p:spPr>
        <p:txBody>
          <a:bodyPr lIns="0" tIns="0" rIns="0" bIns="0"/>
          <a:lstStyle>
            <a:lvl1pPr algn="r">
              <a:defRPr sz="800" b="0" i="0">
                <a:solidFill>
                  <a:schemeClr val="tx1"/>
                </a:solidFill>
                <a:latin typeface="Meiryo" panose="020B0604030504040204" pitchFamily="34" charset="-128"/>
                <a:ea typeface="Meiryo" panose="020B0604030504040204" pitchFamily="34" charset="-128"/>
              </a:defRPr>
            </a:lvl1pPr>
          </a:lstStyle>
          <a:p>
            <a:fld id="{59F857F7-C215-C24D-8BD9-19720E902953}" type="slidenum">
              <a:rPr kumimoji="1" lang="ja-JP" altLang="en-US" smtClean="0"/>
              <a:pPr/>
              <a:t>‹#›</a:t>
            </a:fld>
            <a:endParaRPr kumimoji="1" lang="ja-JP" altLang="en-US"/>
          </a:p>
        </p:txBody>
      </p:sp>
    </p:spTree>
    <p:extLst>
      <p:ext uri="{BB962C8B-B14F-4D97-AF65-F5344CB8AC3E}">
        <p14:creationId xmlns:p14="http://schemas.microsoft.com/office/powerpoint/2010/main" val="34298570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857F7-C215-C24D-8BD9-19720E902953}" type="slidenum">
              <a:rPr kumimoji="1" lang="ja-JP" altLang="en-US" smtClean="0"/>
              <a:t>‹#›</a:t>
            </a:fld>
            <a:endParaRPr kumimoji="1" lang="ja-JP" altLang="en-US"/>
          </a:p>
        </p:txBody>
      </p:sp>
    </p:spTree>
    <p:extLst>
      <p:ext uri="{BB962C8B-B14F-4D97-AF65-F5344CB8AC3E}">
        <p14:creationId xmlns:p14="http://schemas.microsoft.com/office/powerpoint/2010/main" val="17394744"/>
      </p:ext>
    </p:extLst>
  </p:cSld>
  <p:clrMap bg1="lt1" tx1="dk1" bg2="lt2" tx2="dk2" accent1="accent1" accent2="accent2" accent3="accent3" accent4="accent4" accent5="accent5" accent6="accent6" hlink="hlink" folHlink="folHlink"/>
  <p:sldLayoutIdLst>
    <p:sldLayoutId id="2147483661" r:id="rId1"/>
    <p:sldLayoutId id="2147483666" r:id="rId2"/>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95BB6-2D13-D24F-A314-EFFFA44DDAF1}"/>
              </a:ext>
            </a:extLst>
          </p:cNvPr>
          <p:cNvSpPr>
            <a:spLocks noGrp="1"/>
          </p:cNvSpPr>
          <p:nvPr>
            <p:ph type="ctrTitle"/>
          </p:nvPr>
        </p:nvSpPr>
        <p:spPr/>
        <p:txBody>
          <a:bodyPr>
            <a:normAutofit fontScale="90000"/>
          </a:bodyPr>
          <a:lstStyle/>
          <a:p>
            <a:r>
              <a:rPr kumimoji="1" lang="ja-JP" altLang="en-US" dirty="0" smtClean="0"/>
              <a:t>千葉事業所 運転管理システム更新</a:t>
            </a:r>
            <a:endParaRPr kumimoji="1" lang="ja-JP" altLang="en-US" dirty="0"/>
          </a:p>
        </p:txBody>
      </p:sp>
      <p:sp>
        <p:nvSpPr>
          <p:cNvPr id="3" name="字幕 2">
            <a:extLst>
              <a:ext uri="{FF2B5EF4-FFF2-40B4-BE49-F238E27FC236}">
                <a16:creationId xmlns:a16="http://schemas.microsoft.com/office/drawing/2014/main" id="{D6448047-CEE5-2245-B601-7B450A3549F5}"/>
              </a:ext>
            </a:extLst>
          </p:cNvPr>
          <p:cNvSpPr>
            <a:spLocks noGrp="1"/>
          </p:cNvSpPr>
          <p:nvPr>
            <p:ph type="subTitle" idx="1"/>
          </p:nvPr>
        </p:nvSpPr>
        <p:spPr/>
        <p:txBody>
          <a:bodyPr>
            <a:normAutofit fontScale="92500" lnSpcReduction="20000"/>
          </a:bodyPr>
          <a:lstStyle/>
          <a:p>
            <a:r>
              <a:rPr lang="ja-JP" altLang="en-US" dirty="0" smtClean="0"/>
              <a:t>（</a:t>
            </a:r>
            <a:r>
              <a:rPr kumimoji="1" lang="ja-JP" altLang="en-US" dirty="0" smtClean="0"/>
              <a:t>キックオフ）</a:t>
            </a:r>
            <a:endParaRPr kumimoji="1" lang="ja-JP" altLang="en-US" dirty="0"/>
          </a:p>
        </p:txBody>
      </p:sp>
      <p:sp>
        <p:nvSpPr>
          <p:cNvPr id="6" name="日付プレースホルダー 5">
            <a:extLst>
              <a:ext uri="{FF2B5EF4-FFF2-40B4-BE49-F238E27FC236}">
                <a16:creationId xmlns:a16="http://schemas.microsoft.com/office/drawing/2014/main" id="{E2CCA44A-83DA-124D-B542-BF22EBDBF5B5}"/>
              </a:ext>
            </a:extLst>
          </p:cNvPr>
          <p:cNvSpPr>
            <a:spLocks noGrp="1"/>
          </p:cNvSpPr>
          <p:nvPr>
            <p:ph type="dt" sz="half" idx="10"/>
          </p:nvPr>
        </p:nvSpPr>
        <p:spPr/>
        <p:txBody>
          <a:bodyPr/>
          <a:lstStyle/>
          <a:p>
            <a:r>
              <a:rPr kumimoji="1" lang="en-US" altLang="ja-JP" dirty="0" smtClean="0"/>
              <a:t>2020</a:t>
            </a:r>
            <a:r>
              <a:rPr kumimoji="1" lang="ja-JP" altLang="en-US" dirty="0" smtClean="0"/>
              <a:t>年</a:t>
            </a:r>
            <a:r>
              <a:rPr kumimoji="1" lang="en-US" altLang="ja-JP" dirty="0" smtClean="0"/>
              <a:t>9</a:t>
            </a:r>
            <a:r>
              <a:rPr kumimoji="1" lang="ja-JP" altLang="en-US" dirty="0" smtClean="0"/>
              <a:t>月</a:t>
            </a:r>
            <a:r>
              <a:rPr kumimoji="1" lang="en-US" altLang="ja-JP" dirty="0" smtClean="0"/>
              <a:t>xx</a:t>
            </a:r>
            <a:r>
              <a:rPr kumimoji="1" lang="ja-JP" altLang="en-US" dirty="0" smtClean="0"/>
              <a:t>日</a:t>
            </a:r>
            <a:endParaRPr kumimoji="1" lang="ja-JP" altLang="en-US" dirty="0"/>
          </a:p>
        </p:txBody>
      </p:sp>
    </p:spTree>
    <p:extLst>
      <p:ext uri="{BB962C8B-B14F-4D97-AF65-F5344CB8AC3E}">
        <p14:creationId xmlns:p14="http://schemas.microsoft.com/office/powerpoint/2010/main" val="39581206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目次</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2</a:t>
            </a:fld>
            <a:endParaRPr kumimoji="1" lang="ja-JP" altLang="en-US"/>
          </a:p>
        </p:txBody>
      </p:sp>
      <p:sp>
        <p:nvSpPr>
          <p:cNvPr id="4" name="Title 1">
            <a:extLst>
              <a:ext uri="{FF2B5EF4-FFF2-40B4-BE49-F238E27FC236}">
                <a16:creationId xmlns:a16="http://schemas.microsoft.com/office/drawing/2014/main" id="{6EE08A3A-3E2F-4DEE-ABEA-27E06DB1530C}"/>
              </a:ext>
            </a:extLst>
          </p:cNvPr>
          <p:cNvSpPr txBox="1">
            <a:spLocks/>
          </p:cNvSpPr>
          <p:nvPr/>
        </p:nvSpPr>
        <p:spPr>
          <a:xfrm>
            <a:off x="315060" y="1041423"/>
            <a:ext cx="8504940" cy="520845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marL="342900" indent="-342900">
              <a:buAutoNum type="arabicPeriod"/>
            </a:pPr>
            <a:r>
              <a:rPr lang="ja-JP" altLang="en-US" sz="1800" dirty="0" smtClean="0">
                <a:latin typeface="メイリオ" panose="020B0604030504040204" pitchFamily="50" charset="-128"/>
                <a:ea typeface="メイリオ" panose="020B0604030504040204" pitchFamily="50" charset="-128"/>
                <a:cs typeface="メイリオ" panose="020B0604030504040204" pitchFamily="50" charset="-128"/>
              </a:rPr>
              <a:t>はじめに</a:t>
            </a:r>
            <a:endParaRPr lang="en-US" altLang="ja-JP" sz="18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574045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１．はじめに</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3</a:t>
            </a:fld>
            <a:endParaRPr kumimoji="1" lang="ja-JP" altLang="en-US"/>
          </a:p>
        </p:txBody>
      </p:sp>
      <p:sp>
        <p:nvSpPr>
          <p:cNvPr id="45" name="Title 1">
            <a:extLst>
              <a:ext uri="{FF2B5EF4-FFF2-40B4-BE49-F238E27FC236}">
                <a16:creationId xmlns:a16="http://schemas.microsoft.com/office/drawing/2014/main" id="{6EE08A3A-3E2F-4DEE-ABEA-27E06DB1530C}"/>
              </a:ext>
            </a:extLst>
          </p:cNvPr>
          <p:cNvSpPr txBox="1">
            <a:spLocks/>
          </p:cNvSpPr>
          <p:nvPr/>
        </p:nvSpPr>
        <p:spPr>
          <a:xfrm>
            <a:off x="315060" y="1000478"/>
            <a:ext cx="8504940" cy="518725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千葉事業所の運転管理システムは、現在「</a:t>
            </a:r>
            <a:r>
              <a:rPr lang="en-US" altLang="ja-JP" sz="1800" dirty="0" err="1" smtClean="0">
                <a:latin typeface="游ゴシック" panose="020B0400000000000000" pitchFamily="50" charset="-128"/>
                <a:ea typeface="游ゴシック" panose="020B0400000000000000" pitchFamily="50" charset="-128"/>
                <a:cs typeface="メイリオ" panose="020B0604030504040204" pitchFamily="50" charset="-128"/>
              </a:rPr>
              <a:t>WindowsXP</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」で稼働する仕組みとなっており、開発言語においても「</a:t>
            </a:r>
            <a:r>
              <a:rPr lang="en-US" altLang="ja-JP" sz="1800" dirty="0" smtClean="0">
                <a:latin typeface="游ゴシック" panose="020B0400000000000000" pitchFamily="50" charset="-128"/>
                <a:ea typeface="游ゴシック" panose="020B0400000000000000" pitchFamily="50" charset="-128"/>
                <a:cs typeface="メイリオ" panose="020B0604030504040204" pitchFamily="50" charset="-128"/>
              </a:rPr>
              <a:t>VB6</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」により開発されております。</a:t>
            </a:r>
            <a:endParaRPr lang="en-US" altLang="ja-JP" sz="1800" dirty="0" smtClean="0">
              <a:latin typeface="游ゴシック" panose="020B0400000000000000" pitchFamily="50" charset="-128"/>
              <a:ea typeface="游ゴシック" panose="020B0400000000000000" pitchFamily="50" charset="-128"/>
              <a:cs typeface="メイリオ" panose="020B0604030504040204" pitchFamily="50" charset="-128"/>
            </a:endParaRPr>
          </a:p>
          <a:p>
            <a:endParaRPr lang="en-US" altLang="ja-JP" sz="1800" dirty="0">
              <a:latin typeface="游ゴシック" panose="020B0400000000000000" pitchFamily="50" charset="-128"/>
              <a:ea typeface="游ゴシック" panose="020B0400000000000000" pitchFamily="50" charset="-128"/>
              <a:cs typeface="メイリオ" panose="020B0604030504040204" pitchFamily="50" charset="-128"/>
            </a:endParaRPr>
          </a:p>
          <a:p>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これら</a:t>
            </a:r>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は、いずれも既にマイクロソフト社のサポートが終了しております。</a:t>
            </a:r>
          </a:p>
          <a:p>
            <a:endPar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endParaRPr>
          </a:p>
          <a:p>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また、現行システムは潤滑油</a:t>
            </a:r>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二課様が主管部門となり、保守・運用を行って</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おりますが、これを情報</a:t>
            </a:r>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システム部を主管部門とする保守体制を構築することにより、</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サービスレベルを向上</a:t>
            </a:r>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を図る必要があります。</a:t>
            </a:r>
          </a:p>
          <a:p>
            <a:endPar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endParaRPr>
          </a:p>
          <a:p>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これらの背景を踏まえまして、最新の稼働環境ならびに、開発環境に</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より再構築</a:t>
            </a:r>
            <a:r>
              <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rPr>
              <a:t>することにより、今後も持続的にシステムの利用が出来るよう、保守性、可用性および、セキュリティの向上を図ること</a:t>
            </a:r>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を目的としてシステムを更新致します。</a:t>
            </a:r>
            <a:endParaRPr lang="en-US" altLang="ja-JP" sz="1800" dirty="0" smtClean="0">
              <a:latin typeface="游ゴシック" panose="020B0400000000000000" pitchFamily="50" charset="-128"/>
              <a:ea typeface="游ゴシック" panose="020B0400000000000000" pitchFamily="50" charset="-128"/>
              <a:cs typeface="メイリオ" panose="020B0604030504040204" pitchFamily="50" charset="-128"/>
            </a:endParaRPr>
          </a:p>
          <a:p>
            <a:endParaRPr lang="en-US" altLang="ja-JP" sz="1800" dirty="0">
              <a:latin typeface="游ゴシック" panose="020B0400000000000000" pitchFamily="50" charset="-128"/>
              <a:ea typeface="游ゴシック" panose="020B0400000000000000" pitchFamily="50" charset="-128"/>
              <a:cs typeface="メイリオ" panose="020B0604030504040204" pitchFamily="50" charset="-128"/>
            </a:endParaRPr>
          </a:p>
          <a:p>
            <a:r>
              <a:rPr lang="ja-JP" altLang="en-US" sz="1800" dirty="0" smtClean="0">
                <a:latin typeface="游ゴシック" panose="020B0400000000000000" pitchFamily="50" charset="-128"/>
                <a:ea typeface="游ゴシック" panose="020B0400000000000000" pitchFamily="50" charset="-128"/>
                <a:cs typeface="メイリオ" panose="020B0604030504040204" pitchFamily="50" charset="-128"/>
              </a:rPr>
              <a:t>システムの開発にあたっては、関係者の皆様に会議の参加や、各種レビュー等のご支援を賜りたく存じますので、何卒ご理解、ご協力の程、お願い申し上げます。</a:t>
            </a:r>
            <a:endParaRPr lang="ja-JP" altLang="en-US" sz="1800" dirty="0">
              <a:latin typeface="游ゴシック" panose="020B0400000000000000" pitchFamily="50" charset="-128"/>
              <a:ea typeface="游ゴシック" panose="020B0400000000000000" pitchFamily="50" charset="-128"/>
              <a:cs typeface="メイリオ" panose="020B0604030504040204" pitchFamily="50" charset="-128"/>
            </a:endParaRPr>
          </a:p>
        </p:txBody>
      </p:sp>
    </p:spTree>
    <p:extLst>
      <p:ext uri="{BB962C8B-B14F-4D97-AF65-F5344CB8AC3E}">
        <p14:creationId xmlns:p14="http://schemas.microsoft.com/office/powerpoint/2010/main" val="31975587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２．プロジェクトのスコープ</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4</a:t>
            </a:fld>
            <a:endParaRPr kumimoji="1" lang="ja-JP" altLang="en-US"/>
          </a:p>
        </p:txBody>
      </p:sp>
      <p:sp>
        <p:nvSpPr>
          <p:cNvPr id="8" name="角丸四角形 7"/>
          <p:cNvSpPr/>
          <p:nvPr/>
        </p:nvSpPr>
        <p:spPr>
          <a:xfrm>
            <a:off x="2484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添加剤ロット</a:t>
            </a:r>
            <a:endParaRPr lang="en-US" altLang="ja-JP" sz="1200" dirty="0" smtClean="0">
              <a:solidFill>
                <a:schemeClr val="bg1"/>
              </a:solidFill>
              <a:latin typeface="游ゴシック" panose="020B0400000000000000" pitchFamily="50" charset="-128"/>
              <a:ea typeface="游ゴシック" panose="020B0400000000000000" pitchFamily="50" charset="-128"/>
            </a:endParaRPr>
          </a:p>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管理システム</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sp>
        <p:nvSpPr>
          <p:cNvPr id="9" name="角丸四角形 8"/>
          <p:cNvSpPr/>
          <p:nvPr/>
        </p:nvSpPr>
        <p:spPr>
          <a:xfrm>
            <a:off x="4104000" y="3600000"/>
            <a:ext cx="1656000" cy="1296000"/>
          </a:xfrm>
          <a:prstGeom prst="roundRect">
            <a:avLst>
              <a:gd name="adj" fmla="val 4900"/>
            </a:avLst>
          </a:prstGeom>
          <a:solidFill>
            <a:schemeClr val="accent2"/>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ctr" anchorCtr="0"/>
          <a:lstStyle/>
          <a:p>
            <a:pPr algn="ctr" latinLnBrk="1"/>
            <a:r>
              <a:rPr kumimoji="1" lang="ja-JP" altLang="en-US" sz="1600" b="1" dirty="0" smtClean="0">
                <a:solidFill>
                  <a:schemeClr val="bg1"/>
                </a:solidFill>
                <a:latin typeface="游ゴシック" panose="020B0400000000000000" pitchFamily="50" charset="-128"/>
                <a:ea typeface="游ゴシック" panose="020B0400000000000000" pitchFamily="50" charset="-128"/>
              </a:rPr>
              <a:t>千葉運転管理</a:t>
            </a:r>
            <a:endParaRPr kumimoji="1" lang="en-US" altLang="ja-JP" sz="1600" b="1" dirty="0" smtClean="0">
              <a:solidFill>
                <a:schemeClr val="bg1"/>
              </a:solidFill>
              <a:latin typeface="游ゴシック" panose="020B0400000000000000" pitchFamily="50" charset="-128"/>
              <a:ea typeface="游ゴシック" panose="020B0400000000000000" pitchFamily="50" charset="-128"/>
            </a:endParaRPr>
          </a:p>
          <a:p>
            <a:pPr algn="ctr" latinLnBrk="1"/>
            <a:r>
              <a:rPr kumimoji="1" lang="ja-JP" altLang="en-US" sz="1600" b="1" dirty="0" smtClean="0">
                <a:solidFill>
                  <a:schemeClr val="bg1"/>
                </a:solidFill>
                <a:latin typeface="游ゴシック" panose="020B0400000000000000" pitchFamily="50" charset="-128"/>
                <a:ea typeface="游ゴシック" panose="020B0400000000000000" pitchFamily="50" charset="-128"/>
              </a:rPr>
              <a:t>システム</a:t>
            </a:r>
          </a:p>
        </p:txBody>
      </p:sp>
      <p:sp>
        <p:nvSpPr>
          <p:cNvPr id="10" name="角丸四角形 9"/>
          <p:cNvSpPr/>
          <p:nvPr/>
        </p:nvSpPr>
        <p:spPr>
          <a:xfrm>
            <a:off x="86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200" dirty="0" smtClean="0">
                <a:solidFill>
                  <a:schemeClr val="bg1"/>
                </a:solidFill>
                <a:latin typeface="游ゴシック" panose="020B0400000000000000" pitchFamily="50" charset="-128"/>
                <a:ea typeface="游ゴシック" panose="020B0400000000000000" pitchFamily="50" charset="-128"/>
              </a:rPr>
              <a:t>ETS-R</a:t>
            </a:r>
          </a:p>
          <a:p>
            <a:pPr algn="ctr"/>
            <a:r>
              <a:rPr kumimoji="1" lang="en-US" altLang="ja-JP" sz="1200" dirty="0" smtClean="0">
                <a:solidFill>
                  <a:schemeClr val="bg1"/>
                </a:solidFill>
                <a:latin typeface="游ゴシック" panose="020B0400000000000000" pitchFamily="50" charset="-128"/>
                <a:ea typeface="游ゴシック" panose="020B0400000000000000" pitchFamily="50" charset="-128"/>
              </a:rPr>
              <a:t>(</a:t>
            </a:r>
            <a:r>
              <a:rPr lang="ja-JP" altLang="en-US" sz="1200" dirty="0" smtClean="0">
                <a:solidFill>
                  <a:schemeClr val="bg1"/>
                </a:solidFill>
                <a:latin typeface="游ゴシック" panose="020B0400000000000000" pitchFamily="50" charset="-128"/>
                <a:ea typeface="游ゴシック" panose="020B0400000000000000" pitchFamily="50" charset="-128"/>
              </a:rPr>
              <a:t>運転管理</a:t>
            </a:r>
            <a:r>
              <a:rPr kumimoji="1" lang="en-US" altLang="ja-JP" sz="1200" dirty="0" smtClean="0">
                <a:solidFill>
                  <a:schemeClr val="bg1"/>
                </a:solidFill>
                <a:latin typeface="游ゴシック" panose="020B0400000000000000" pitchFamily="50" charset="-128"/>
                <a:ea typeface="游ゴシック" panose="020B0400000000000000" pitchFamily="50" charset="-128"/>
              </a:rPr>
              <a:t>)</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p:cNvSpPr txBox="1"/>
          <p:nvPr/>
        </p:nvSpPr>
        <p:spPr>
          <a:xfrm>
            <a:off x="5832000" y="1260000"/>
            <a:ext cx="3168000" cy="612000"/>
          </a:xfrm>
          <a:prstGeom prst="rect">
            <a:avLst/>
          </a:prstGeom>
          <a:noFill/>
        </p:spPr>
        <p:txBody>
          <a:bodyPr wrap="square" rtlCol="0" anchor="t">
            <a:noAutofit/>
          </a:bodyPr>
          <a:lstStyle/>
          <a:p>
            <a:pPr marL="171450" indent="-171450">
              <a:buFont typeface="游ゴシック" panose="020B0400000000000000" pitchFamily="50" charset="-128"/>
              <a:buChar char="※"/>
            </a:pPr>
            <a:r>
              <a:rPr lang="ja-JP" altLang="en-US" sz="1200" dirty="0" smtClean="0">
                <a:latin typeface="游ゴシック" panose="020B0400000000000000" pitchFamily="50" charset="-128"/>
                <a:ea typeface="游ゴシック" panose="020B0400000000000000" pitchFamily="50" charset="-128"/>
              </a:rPr>
              <a:t>各システムが配置されているレベルは現段階</a:t>
            </a:r>
            <a:r>
              <a:rPr lang="ja-JP" altLang="en-US" sz="1200" dirty="0">
                <a:latin typeface="游ゴシック" panose="020B0400000000000000" pitchFamily="50" charset="-128"/>
                <a:ea typeface="游ゴシック" panose="020B0400000000000000" pitchFamily="50" charset="-128"/>
              </a:rPr>
              <a:t>での弊社による想定</a:t>
            </a:r>
            <a:r>
              <a:rPr kumimoji="1" lang="ja-JP" altLang="en-US" sz="1200" dirty="0" smtClean="0">
                <a:latin typeface="游ゴシック" panose="020B0400000000000000" pitchFamily="50" charset="-128"/>
                <a:ea typeface="游ゴシック" panose="020B0400000000000000" pitchFamily="50" charset="-128"/>
              </a:rPr>
              <a:t>です。プロジェクト開始後に改めて確認いたします。</a:t>
            </a:r>
          </a:p>
        </p:txBody>
      </p:sp>
      <p:sp>
        <p:nvSpPr>
          <p:cNvPr id="12" name="正方形/長方形 11"/>
          <p:cNvSpPr/>
          <p:nvPr/>
        </p:nvSpPr>
        <p:spPr>
          <a:xfrm>
            <a:off x="504000" y="5796000"/>
            <a:ext cx="288000" cy="540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smtClean="0">
                <a:latin typeface="游ゴシック" panose="020B0400000000000000" pitchFamily="50" charset="-128"/>
                <a:ea typeface="游ゴシック" panose="020B0400000000000000" pitchFamily="50" charset="-128"/>
              </a:rPr>
              <a:t>L2</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504000" y="5076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lIns="36000" rIns="36000" rtlCol="0" anchor="ctr"/>
          <a:lstStyle/>
          <a:p>
            <a:pPr algn="ctr"/>
            <a:r>
              <a:rPr lang="en-US" altLang="ja-JP" sz="1400" b="1" dirty="0" smtClean="0">
                <a:latin typeface="游ゴシック" panose="020B0400000000000000" pitchFamily="50" charset="-128"/>
                <a:ea typeface="游ゴシック" panose="020B0400000000000000" pitchFamily="50" charset="-128"/>
              </a:rPr>
              <a:t>L2.5</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14" name="正方形/長方形 13"/>
          <p:cNvSpPr/>
          <p:nvPr/>
        </p:nvSpPr>
        <p:spPr>
          <a:xfrm>
            <a:off x="504000" y="3492000"/>
            <a:ext cx="288000" cy="1512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smtClean="0">
                <a:latin typeface="游ゴシック" panose="020B0400000000000000" pitchFamily="50" charset="-128"/>
                <a:ea typeface="游ゴシック" panose="020B0400000000000000" pitchFamily="50" charset="-128"/>
              </a:rPr>
              <a:t>L3</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15" name="正方形/長方形 14"/>
          <p:cNvSpPr/>
          <p:nvPr/>
        </p:nvSpPr>
        <p:spPr>
          <a:xfrm>
            <a:off x="504000" y="2772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en-US" altLang="ja-JP" sz="1400" b="1" dirty="0" smtClean="0">
                <a:latin typeface="游ゴシック" panose="020B0400000000000000" pitchFamily="50" charset="-128"/>
                <a:ea typeface="游ゴシック" panose="020B0400000000000000" pitchFamily="50" charset="-128"/>
              </a:rPr>
              <a:t>L3.5</a:t>
            </a:r>
            <a:endParaRPr kumimoji="1" lang="ja-JP" altLang="en-US" sz="1400" b="1" dirty="0" smtClean="0">
              <a:latin typeface="游ゴシック" panose="020B0400000000000000" pitchFamily="50" charset="-128"/>
              <a:ea typeface="游ゴシック" panose="020B0400000000000000" pitchFamily="50" charset="-128"/>
            </a:endParaRPr>
          </a:p>
        </p:txBody>
      </p:sp>
      <p:cxnSp>
        <p:nvCxnSpPr>
          <p:cNvPr id="16" name="直線コネクタ 15"/>
          <p:cNvCxnSpPr/>
          <p:nvPr/>
        </p:nvCxnSpPr>
        <p:spPr>
          <a:xfrm>
            <a:off x="503999" y="273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503999" y="345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a:off x="503999" y="504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03999" y="576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144000" y="2016000"/>
            <a:ext cx="8856000" cy="0"/>
          </a:xfrm>
          <a:prstGeom prst="line">
            <a:avLst/>
          </a:prstGeom>
          <a:ln w="12700">
            <a:solidFill>
              <a:srgbClr val="A01D45"/>
            </a:solidFill>
            <a:prstDash val="solid"/>
          </a:ln>
        </p:spPr>
        <p:style>
          <a:lnRef idx="1">
            <a:schemeClr val="accent1"/>
          </a:lnRef>
          <a:fillRef idx="0">
            <a:schemeClr val="accent1"/>
          </a:fillRef>
          <a:effectRef idx="0">
            <a:schemeClr val="accent1"/>
          </a:effectRef>
          <a:fontRef idx="minor">
            <a:schemeClr val="tx1"/>
          </a:fontRef>
        </p:style>
      </p:cxnSp>
      <p:sp>
        <p:nvSpPr>
          <p:cNvPr id="21" name="正方形/長方形 20"/>
          <p:cNvSpPr/>
          <p:nvPr/>
        </p:nvSpPr>
        <p:spPr>
          <a:xfrm>
            <a:off x="144000" y="864000"/>
            <a:ext cx="288000" cy="1116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ja-JP" altLang="en-US" sz="1400" b="1" dirty="0" smtClean="0">
                <a:latin typeface="游ゴシック" panose="020B0400000000000000" pitchFamily="50" charset="-128"/>
                <a:ea typeface="游ゴシック" panose="020B0400000000000000" pitchFamily="50" charset="-128"/>
              </a:rPr>
              <a:t>館林</a:t>
            </a:r>
            <a:r>
              <a:rPr lang="en-US" altLang="ja-JP" sz="1400" b="1" dirty="0" smtClean="0">
                <a:latin typeface="游ゴシック" panose="020B0400000000000000" pitchFamily="50" charset="-128"/>
                <a:ea typeface="游ゴシック" panose="020B0400000000000000" pitchFamily="50" charset="-128"/>
              </a:rPr>
              <a:t>DC</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22" name="正方形/長方形 21"/>
          <p:cNvSpPr/>
          <p:nvPr/>
        </p:nvSpPr>
        <p:spPr>
          <a:xfrm>
            <a:off x="144000" y="2052000"/>
            <a:ext cx="288000" cy="4284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ja-JP" altLang="en-US" sz="1400" b="1" dirty="0" smtClean="0">
                <a:latin typeface="游ゴシック" panose="020B0400000000000000" pitchFamily="50" charset="-128"/>
                <a:ea typeface="游ゴシック" panose="020B0400000000000000" pitchFamily="50" charset="-128"/>
              </a:rPr>
              <a:t>千葉事業所</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23" name="正方形/長方形 22"/>
          <p:cNvSpPr/>
          <p:nvPr/>
        </p:nvSpPr>
        <p:spPr>
          <a:xfrm>
            <a:off x="504000" y="864000"/>
            <a:ext cx="288000" cy="1836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smtClean="0">
                <a:latin typeface="游ゴシック" panose="020B0400000000000000" pitchFamily="50" charset="-128"/>
                <a:ea typeface="游ゴシック" panose="020B0400000000000000" pitchFamily="50" charset="-128"/>
              </a:rPr>
              <a:t>L4</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24" name="角丸四角形 23"/>
          <p:cNvSpPr/>
          <p:nvPr/>
        </p:nvSpPr>
        <p:spPr>
          <a:xfrm>
            <a:off x="4212000" y="8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200" dirty="0" err="1" smtClean="0">
                <a:solidFill>
                  <a:schemeClr val="bg1"/>
                </a:solidFill>
                <a:latin typeface="游ゴシック" panose="020B0400000000000000" pitchFamily="50" charset="-128"/>
                <a:ea typeface="游ゴシック" panose="020B0400000000000000" pitchFamily="50" charset="-128"/>
              </a:rPr>
              <a:t>OneSAP</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cxnSp>
        <p:nvCxnSpPr>
          <p:cNvPr id="25" name="カギ線コネクタ 24"/>
          <p:cNvCxnSpPr>
            <a:endCxn id="8" idx="2"/>
          </p:cNvCxnSpPr>
          <p:nvPr/>
        </p:nvCxnSpPr>
        <p:spPr>
          <a:xfrm rot="10800000">
            <a:off x="3204000" y="4032000"/>
            <a:ext cx="90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6" name="グループ化 25"/>
          <p:cNvGrpSpPr/>
          <p:nvPr/>
        </p:nvGrpSpPr>
        <p:grpSpPr>
          <a:xfrm>
            <a:off x="6025773" y="900000"/>
            <a:ext cx="2938227" cy="307777"/>
            <a:chOff x="7056000" y="5796000"/>
            <a:chExt cx="2938227" cy="307777"/>
          </a:xfrm>
        </p:grpSpPr>
        <p:sp>
          <p:nvSpPr>
            <p:cNvPr id="27" name="正方形/長方形 26"/>
            <p:cNvSpPr/>
            <p:nvPr/>
          </p:nvSpPr>
          <p:spPr>
            <a:xfrm>
              <a:off x="7056000" y="5832000"/>
              <a:ext cx="360000" cy="216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endParaRPr kumimoji="1" lang="ja-JP" altLang="en-US" sz="1200" b="1" dirty="0" smtClean="0">
                <a:solidFill>
                  <a:schemeClr val="tx1"/>
                </a:solidFill>
                <a:latin typeface="游ゴシック" panose="020B0400000000000000" pitchFamily="50" charset="-128"/>
                <a:ea typeface="游ゴシック" panose="020B0400000000000000" pitchFamily="50" charset="-128"/>
              </a:endParaRPr>
            </a:p>
          </p:txBody>
        </p:sp>
        <p:sp>
          <p:nvSpPr>
            <p:cNvPr id="28" name="テキスト ボックス 27"/>
            <p:cNvSpPr txBox="1"/>
            <p:nvPr/>
          </p:nvSpPr>
          <p:spPr>
            <a:xfrm>
              <a:off x="7379999" y="5796000"/>
              <a:ext cx="2614228" cy="307777"/>
            </a:xfrm>
            <a:prstGeom prst="rect">
              <a:avLst/>
            </a:prstGeom>
            <a:noFill/>
          </p:spPr>
          <p:txBody>
            <a:bodyPr wrap="none" rtlCol="0">
              <a:noAutofit/>
            </a:bodyPr>
            <a:lstStyle/>
            <a:p>
              <a:r>
                <a:rPr kumimoji="1" lang="ja-JP" altLang="en-US" sz="1400" dirty="0" smtClean="0">
                  <a:latin typeface="游ゴシック" panose="020B0400000000000000" pitchFamily="50" charset="-128"/>
                  <a:ea typeface="游ゴシック" panose="020B0400000000000000" pitchFamily="50" charset="-128"/>
                </a:rPr>
                <a:t>本プロジェクトのスコープ</a:t>
              </a:r>
            </a:p>
          </p:txBody>
        </p:sp>
      </p:grpSp>
      <p:sp>
        <p:nvSpPr>
          <p:cNvPr id="29" name="角丸四角形 28"/>
          <p:cNvSpPr/>
          <p:nvPr/>
        </p:nvSpPr>
        <p:spPr>
          <a:xfrm>
            <a:off x="7560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自動倉庫</a:t>
            </a:r>
            <a:endParaRPr lang="en-US" altLang="ja-JP" sz="1200" dirty="0" smtClean="0">
              <a:solidFill>
                <a:schemeClr val="bg1"/>
              </a:solidFill>
              <a:latin typeface="游ゴシック" panose="020B0400000000000000" pitchFamily="50" charset="-128"/>
              <a:ea typeface="游ゴシック" panose="020B0400000000000000" pitchFamily="50" charset="-128"/>
            </a:endParaRPr>
          </a:p>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sp>
        <p:nvSpPr>
          <p:cNvPr id="30" name="角丸四角形 29"/>
          <p:cNvSpPr/>
          <p:nvPr/>
        </p:nvSpPr>
        <p:spPr>
          <a:xfrm>
            <a:off x="7560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充填</a:t>
            </a:r>
            <a:r>
              <a:rPr lang="ja-JP" altLang="en-US" sz="1200" dirty="0">
                <a:solidFill>
                  <a:schemeClr val="bg1"/>
                </a:solidFill>
                <a:latin typeface="游ゴシック" panose="020B0400000000000000" pitchFamily="50" charset="-128"/>
                <a:ea typeface="游ゴシック" panose="020B0400000000000000" pitchFamily="50" charset="-128"/>
              </a:rPr>
              <a:t>管理</a:t>
            </a:r>
            <a:endParaRPr lang="en-US" altLang="ja-JP" sz="1200" dirty="0" smtClean="0">
              <a:solidFill>
                <a:schemeClr val="bg1"/>
              </a:solidFill>
              <a:latin typeface="游ゴシック" panose="020B0400000000000000" pitchFamily="50" charset="-128"/>
              <a:ea typeface="游ゴシック" panose="020B0400000000000000" pitchFamily="50" charset="-128"/>
            </a:endParaRPr>
          </a:p>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sp>
        <p:nvSpPr>
          <p:cNvPr id="31" name="角丸四角形 30"/>
          <p:cNvSpPr/>
          <p:nvPr/>
        </p:nvSpPr>
        <p:spPr>
          <a:xfrm>
            <a:off x="248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ロット</a:t>
            </a:r>
            <a:endParaRPr lang="en-US" altLang="ja-JP" sz="1200" dirty="0" smtClean="0">
              <a:solidFill>
                <a:schemeClr val="bg1"/>
              </a:solidFill>
              <a:latin typeface="游ゴシック" panose="020B0400000000000000" pitchFamily="50" charset="-128"/>
              <a:ea typeface="游ゴシック" panose="020B0400000000000000" pitchFamily="50" charset="-128"/>
            </a:endParaRPr>
          </a:p>
          <a:p>
            <a:pPr algn="ctr"/>
            <a:r>
              <a:rPr lang="ja-JP" altLang="en-US" sz="1200" dirty="0" smtClean="0">
                <a:solidFill>
                  <a:schemeClr val="bg1"/>
                </a:solidFill>
                <a:latin typeface="游ゴシック" panose="020B0400000000000000" pitchFamily="50" charset="-128"/>
                <a:ea typeface="游ゴシック" panose="020B0400000000000000" pitchFamily="50" charset="-128"/>
              </a:rPr>
              <a:t>追跡システム</a:t>
            </a:r>
            <a:endParaRPr kumimoji="1" lang="ja-JP" altLang="en-US" sz="1200" dirty="0" smtClean="0">
              <a:solidFill>
                <a:schemeClr val="bg1"/>
              </a:solidFill>
              <a:latin typeface="游ゴシック" panose="020B0400000000000000" pitchFamily="50" charset="-128"/>
              <a:ea typeface="游ゴシック" panose="020B0400000000000000" pitchFamily="50" charset="-128"/>
            </a:endParaRPr>
          </a:p>
        </p:txBody>
      </p:sp>
      <p:cxnSp>
        <p:nvCxnSpPr>
          <p:cNvPr id="32" name="カギ線コネクタ 31"/>
          <p:cNvCxnSpPr>
            <a:endCxn id="29" idx="0"/>
          </p:cNvCxnSpPr>
          <p:nvPr/>
        </p:nvCxnSpPr>
        <p:spPr>
          <a:xfrm>
            <a:off x="5760000" y="4320000"/>
            <a:ext cx="2520000" cy="1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カギ線コネクタ 32"/>
          <p:cNvCxnSpPr>
            <a:endCxn id="30" idx="2"/>
          </p:cNvCxnSpPr>
          <p:nvPr/>
        </p:nvCxnSpPr>
        <p:spPr>
          <a:xfrm flipV="1">
            <a:off x="5760000" y="4032000"/>
            <a:ext cx="252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p:cNvCxnSpPr/>
          <p:nvPr/>
        </p:nvCxnSpPr>
        <p:spPr>
          <a:xfrm flipH="1">
            <a:off x="1584000" y="4896000"/>
            <a:ext cx="0" cy="1008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5" name="角丸四角形 34"/>
          <p:cNvSpPr/>
          <p:nvPr/>
        </p:nvSpPr>
        <p:spPr>
          <a:xfrm>
            <a:off x="864000" y="5184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smtClean="0">
                <a:solidFill>
                  <a:schemeClr val="tx1"/>
                </a:solidFill>
                <a:latin typeface="游ゴシック" panose="020B0400000000000000" pitchFamily="50" charset="-128"/>
                <a:ea typeface="游ゴシック" panose="020B0400000000000000" pitchFamily="50" charset="-128"/>
              </a:rPr>
              <a:t>EAI(L2.5)</a:t>
            </a:r>
            <a:endParaRPr kumimoji="1" lang="ja-JP" altLang="en-US" sz="1200" dirty="0" smtClean="0">
              <a:solidFill>
                <a:schemeClr val="tx1"/>
              </a:solidFill>
              <a:latin typeface="游ゴシック" panose="020B0400000000000000" pitchFamily="50" charset="-128"/>
              <a:ea typeface="游ゴシック" panose="020B0400000000000000" pitchFamily="50" charset="-128"/>
            </a:endParaRPr>
          </a:p>
        </p:txBody>
      </p:sp>
      <p:cxnSp>
        <p:nvCxnSpPr>
          <p:cNvPr id="36" name="カギ線コネクタ 35"/>
          <p:cNvCxnSpPr>
            <a:endCxn id="31" idx="0"/>
          </p:cNvCxnSpPr>
          <p:nvPr/>
        </p:nvCxnSpPr>
        <p:spPr>
          <a:xfrm rot="10800000" flipV="1">
            <a:off x="3204000" y="4320000"/>
            <a:ext cx="900000" cy="144000"/>
          </a:xfrm>
          <a:prstGeom prst="bentConnector2">
            <a:avLst/>
          </a:prstGeom>
          <a:ln w="28575">
            <a:solidFill>
              <a:schemeClr val="accent3"/>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カギ線コネクタ 36"/>
          <p:cNvCxnSpPr>
            <a:endCxn id="10" idx="0"/>
          </p:cNvCxnSpPr>
          <p:nvPr/>
        </p:nvCxnSpPr>
        <p:spPr>
          <a:xfrm rot="16200000" flipH="1" flipV="1">
            <a:off x="2754000" y="2430000"/>
            <a:ext cx="864000" cy="3204000"/>
          </a:xfrm>
          <a:prstGeom prst="bentConnector3">
            <a:avLst>
              <a:gd name="adj1" fmla="val -45793"/>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p:nvPr/>
        </p:nvCxnSpPr>
        <p:spPr>
          <a:xfrm>
            <a:off x="5076000" y="1296000"/>
            <a:ext cx="0" cy="2304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9" name="角丸四角形 38"/>
          <p:cNvSpPr/>
          <p:nvPr/>
        </p:nvSpPr>
        <p:spPr>
          <a:xfrm>
            <a:off x="4212000" y="144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200" dirty="0" smtClean="0">
                <a:solidFill>
                  <a:schemeClr val="tx1"/>
                </a:solidFill>
                <a:latin typeface="游ゴシック" panose="020B0400000000000000" pitchFamily="50" charset="-128"/>
                <a:ea typeface="游ゴシック" panose="020B0400000000000000" pitchFamily="50" charset="-128"/>
              </a:rPr>
              <a:t>連携</a:t>
            </a:r>
            <a:r>
              <a:rPr lang="ja-JP" altLang="en-US" sz="1200" dirty="0">
                <a:solidFill>
                  <a:schemeClr val="tx1"/>
                </a:solidFill>
                <a:latin typeface="游ゴシック" panose="020B0400000000000000" pitchFamily="50" charset="-128"/>
                <a:ea typeface="游ゴシック" panose="020B0400000000000000" pitchFamily="50" charset="-128"/>
              </a:rPr>
              <a:t>基盤</a:t>
            </a:r>
            <a:endParaRPr kumimoji="1" lang="ja-JP" altLang="en-US" sz="1200" dirty="0" smtClean="0">
              <a:solidFill>
                <a:schemeClr val="tx1"/>
              </a:solidFill>
              <a:latin typeface="游ゴシック" panose="020B0400000000000000" pitchFamily="50" charset="-128"/>
              <a:ea typeface="游ゴシック" panose="020B0400000000000000" pitchFamily="50" charset="-128"/>
            </a:endParaRPr>
          </a:p>
        </p:txBody>
      </p:sp>
      <p:cxnSp>
        <p:nvCxnSpPr>
          <p:cNvPr id="40" name="カギ線コネクタ 39"/>
          <p:cNvCxnSpPr/>
          <p:nvPr/>
        </p:nvCxnSpPr>
        <p:spPr>
          <a:xfrm>
            <a:off x="5760000" y="4680000"/>
            <a:ext cx="936000" cy="122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41" name="角丸四角形 40"/>
          <p:cNvSpPr/>
          <p:nvPr/>
        </p:nvSpPr>
        <p:spPr>
          <a:xfrm>
            <a:off x="5940000" y="4464000"/>
            <a:ext cx="1440000" cy="432000"/>
          </a:xfrm>
          <a:prstGeom prst="roundRect">
            <a:avLst>
              <a:gd name="adj" fmla="val 14699"/>
            </a:avLst>
          </a:prstGeom>
          <a:solidFill>
            <a:srgbClr val="DEEBF7">
              <a:alpha val="50196"/>
            </a:srgbClr>
          </a:solidFill>
          <a:ln>
            <a:solidFill>
              <a:schemeClr val="accent1"/>
            </a:solidFill>
            <a:prstDash val="dash"/>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b="1" dirty="0" smtClean="0">
                <a:solidFill>
                  <a:srgbClr val="FF0000"/>
                </a:solidFill>
                <a:latin typeface="游ゴシック" panose="020B0400000000000000" pitchFamily="50" charset="-128"/>
                <a:ea typeface="游ゴシック" panose="020B0400000000000000" pitchFamily="50" charset="-128"/>
              </a:rPr>
              <a:t>制御システム</a:t>
            </a:r>
            <a:endParaRPr lang="en-US" altLang="ja-JP" sz="1200" b="1" dirty="0" smtClean="0">
              <a:solidFill>
                <a:srgbClr val="FF0000"/>
              </a:solidFill>
              <a:latin typeface="游ゴシック" panose="020B0400000000000000" pitchFamily="50" charset="-128"/>
              <a:ea typeface="游ゴシック" panose="020B0400000000000000" pitchFamily="50" charset="-128"/>
            </a:endParaRPr>
          </a:p>
          <a:p>
            <a:pPr algn="ctr"/>
            <a:r>
              <a:rPr lang="ja-JP" altLang="en-US" sz="1200" b="1" dirty="0" smtClean="0">
                <a:solidFill>
                  <a:srgbClr val="FF0000"/>
                </a:solidFill>
                <a:latin typeface="游ゴシック" panose="020B0400000000000000" pitchFamily="50" charset="-128"/>
                <a:ea typeface="游ゴシック" panose="020B0400000000000000" pitchFamily="50" charset="-128"/>
              </a:rPr>
              <a:t>通信サーバ</a:t>
            </a:r>
            <a:endParaRPr lang="en-US" altLang="ja-JP" sz="1200" b="1" dirty="0" smtClean="0">
              <a:solidFill>
                <a:srgbClr val="FF0000"/>
              </a:solidFill>
              <a:latin typeface="游ゴシック" panose="020B0400000000000000" pitchFamily="50" charset="-128"/>
              <a:ea typeface="游ゴシック" panose="020B0400000000000000" pitchFamily="50" charset="-128"/>
            </a:endParaRPr>
          </a:p>
        </p:txBody>
      </p:sp>
      <p:sp>
        <p:nvSpPr>
          <p:cNvPr id="42" name="角丸四角形 41"/>
          <p:cNvSpPr/>
          <p:nvPr/>
        </p:nvSpPr>
        <p:spPr>
          <a:xfrm>
            <a:off x="864000" y="288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smtClean="0">
                <a:solidFill>
                  <a:schemeClr val="tx1"/>
                </a:solidFill>
                <a:latin typeface="游ゴシック" panose="020B0400000000000000" pitchFamily="50" charset="-128"/>
                <a:ea typeface="游ゴシック" panose="020B0400000000000000" pitchFamily="50" charset="-128"/>
              </a:rPr>
              <a:t>EAI(L3.5)</a:t>
            </a:r>
            <a:endParaRPr kumimoji="1" lang="ja-JP" altLang="en-US" sz="1200" dirty="0" smtClean="0">
              <a:solidFill>
                <a:schemeClr val="tx1"/>
              </a:solidFill>
              <a:latin typeface="游ゴシック" panose="020B0400000000000000" pitchFamily="50" charset="-128"/>
              <a:ea typeface="游ゴシック" panose="020B0400000000000000" pitchFamily="50" charset="-128"/>
            </a:endParaRPr>
          </a:p>
        </p:txBody>
      </p:sp>
      <p:sp>
        <p:nvSpPr>
          <p:cNvPr id="43" name="角丸四角形 42"/>
          <p:cNvSpPr/>
          <p:nvPr/>
        </p:nvSpPr>
        <p:spPr>
          <a:xfrm>
            <a:off x="4212000" y="2879999"/>
            <a:ext cx="1440000" cy="432000"/>
          </a:xfrm>
          <a:prstGeom prst="roundRect">
            <a:avLst>
              <a:gd name="adj" fmla="val 14699"/>
            </a:avLst>
          </a:prstGeom>
          <a:solidFill>
            <a:srgbClr val="DEEBF7">
              <a:alpha val="50196"/>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dirty="0" smtClean="0">
                <a:solidFill>
                  <a:schemeClr val="tx1"/>
                </a:solidFill>
                <a:latin typeface="游ゴシック" panose="020B0400000000000000" pitchFamily="50" charset="-128"/>
                <a:ea typeface="游ゴシック" panose="020B0400000000000000" pitchFamily="50" charset="-128"/>
              </a:rPr>
              <a:t>通信サーバ</a:t>
            </a:r>
            <a:endParaRPr kumimoji="1" lang="ja-JP" altLang="en-US" sz="1200" dirty="0" smtClean="0">
              <a:solidFill>
                <a:schemeClr val="tx1"/>
              </a:solidFill>
              <a:latin typeface="游ゴシック" panose="020B0400000000000000" pitchFamily="50" charset="-128"/>
              <a:ea typeface="游ゴシック" panose="020B0400000000000000" pitchFamily="50" charset="-128"/>
            </a:endParaRPr>
          </a:p>
        </p:txBody>
      </p:sp>
      <p:cxnSp>
        <p:nvCxnSpPr>
          <p:cNvPr id="44" name="カギ線コネクタ 43"/>
          <p:cNvCxnSpPr>
            <a:stCxn id="29" idx="2"/>
            <a:endCxn id="31" idx="2"/>
          </p:cNvCxnSpPr>
          <p:nvPr/>
        </p:nvCxnSpPr>
        <p:spPr>
          <a:xfrm rot="5400000">
            <a:off x="5742000" y="2358000"/>
            <a:ext cx="12700" cy="5076000"/>
          </a:xfrm>
          <a:prstGeom prst="bentConnector3">
            <a:avLst>
              <a:gd name="adj1" fmla="val 1800000"/>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5" name="正方形/長方形 44"/>
          <p:cNvSpPr/>
          <p:nvPr/>
        </p:nvSpPr>
        <p:spPr>
          <a:xfrm>
            <a:off x="4716000" y="2246825"/>
            <a:ext cx="720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ja-JP" sz="1000" b="1" dirty="0" smtClean="0">
                <a:solidFill>
                  <a:srgbClr val="FF0000"/>
                </a:solidFill>
                <a:latin typeface="游ゴシック" panose="020B0400000000000000" pitchFamily="50" charset="-128"/>
                <a:ea typeface="游ゴシック" panose="020B0400000000000000" pitchFamily="50" charset="-128"/>
              </a:rPr>
              <a:t>NA</a:t>
            </a:r>
            <a:r>
              <a:rPr lang="en-US" altLang="ja-JP" sz="1000" b="1" dirty="0">
                <a:solidFill>
                  <a:srgbClr val="FF0000"/>
                </a:solidFill>
                <a:latin typeface="游ゴシック" panose="020B0400000000000000" pitchFamily="50" charset="-128"/>
                <a:ea typeface="游ゴシック" panose="020B0400000000000000" pitchFamily="50" charset="-128"/>
              </a:rPr>
              <a:t>S</a:t>
            </a:r>
            <a:endParaRPr kumimoji="1" lang="ja-JP" altLang="en-US" sz="1000" b="1" dirty="0" smtClean="0">
              <a:solidFill>
                <a:srgbClr val="FF0000"/>
              </a:solidFill>
              <a:latin typeface="游ゴシック" panose="020B0400000000000000" pitchFamily="50" charset="-128"/>
              <a:ea typeface="游ゴシック" panose="020B0400000000000000" pitchFamily="50" charset="-128"/>
            </a:endParaRPr>
          </a:p>
        </p:txBody>
      </p:sp>
      <p:sp>
        <p:nvSpPr>
          <p:cNvPr id="46" name="正方形/長方形 45"/>
          <p:cNvSpPr/>
          <p:nvPr/>
        </p:nvSpPr>
        <p:spPr>
          <a:xfrm>
            <a:off x="7560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kumimoji="1" lang="ja-JP" altLang="en-US" sz="1000" dirty="0" smtClean="0">
                <a:solidFill>
                  <a:schemeClr val="tx1"/>
                </a:solidFill>
                <a:latin typeface="游ゴシック" panose="020B0400000000000000" pitchFamily="50" charset="-128"/>
                <a:ea typeface="游ゴシック" panose="020B0400000000000000" pitchFamily="50" charset="-128"/>
              </a:rPr>
              <a:t>ﾘﾝｸ</a:t>
            </a:r>
          </a:p>
        </p:txBody>
      </p:sp>
      <p:sp>
        <p:nvSpPr>
          <p:cNvPr id="47" name="正方形/長方形 46"/>
          <p:cNvSpPr/>
          <p:nvPr/>
        </p:nvSpPr>
        <p:spPr>
          <a:xfrm>
            <a:off x="7560000" y="42564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kumimoji="1" lang="ja-JP" altLang="en-US" sz="1000" dirty="0" smtClean="0">
                <a:solidFill>
                  <a:schemeClr val="tx1"/>
                </a:solidFill>
                <a:latin typeface="游ゴシック" panose="020B0400000000000000" pitchFamily="50" charset="-128"/>
                <a:ea typeface="游ゴシック" panose="020B0400000000000000" pitchFamily="50" charset="-128"/>
              </a:rPr>
              <a:t>ﾘﾝｸ</a:t>
            </a:r>
          </a:p>
        </p:txBody>
      </p:sp>
      <p:sp>
        <p:nvSpPr>
          <p:cNvPr id="48" name="正方形/長方形 47"/>
          <p:cNvSpPr/>
          <p:nvPr/>
        </p:nvSpPr>
        <p:spPr>
          <a:xfrm>
            <a:off x="3348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smtClean="0">
              <a:solidFill>
                <a:schemeClr val="tx1"/>
              </a:solidFill>
              <a:latin typeface="游ゴシック" panose="020B0400000000000000" pitchFamily="50" charset="-128"/>
              <a:ea typeface="游ゴシック" panose="020B0400000000000000" pitchFamily="50" charset="-128"/>
            </a:endParaRPr>
          </a:p>
        </p:txBody>
      </p:sp>
      <p:sp>
        <p:nvSpPr>
          <p:cNvPr id="49" name="正方形/長方形 48"/>
          <p:cNvSpPr/>
          <p:nvPr/>
        </p:nvSpPr>
        <p:spPr>
          <a:xfrm>
            <a:off x="3348000" y="4248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smtClean="0">
              <a:solidFill>
                <a:schemeClr val="tx1"/>
              </a:solidFill>
              <a:latin typeface="游ゴシック" panose="020B0400000000000000" pitchFamily="50" charset="-128"/>
              <a:ea typeface="游ゴシック" panose="020B0400000000000000" pitchFamily="50" charset="-128"/>
            </a:endParaRPr>
          </a:p>
        </p:txBody>
      </p:sp>
      <p:sp>
        <p:nvSpPr>
          <p:cNvPr id="50" name="正方形/長方形 49"/>
          <p:cNvSpPr/>
          <p:nvPr/>
        </p:nvSpPr>
        <p:spPr>
          <a:xfrm>
            <a:off x="6408000" y="5256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kumimoji="1" lang="ja-JP" altLang="en-US" sz="1000" dirty="0" smtClean="0">
                <a:solidFill>
                  <a:schemeClr val="tx1"/>
                </a:solidFill>
                <a:latin typeface="游ゴシック" panose="020B0400000000000000" pitchFamily="50" charset="-128"/>
                <a:ea typeface="游ゴシック" panose="020B0400000000000000" pitchFamily="50" charset="-128"/>
              </a:rPr>
              <a:t>ﾘﾝｸ</a:t>
            </a:r>
          </a:p>
        </p:txBody>
      </p:sp>
      <p:sp>
        <p:nvSpPr>
          <p:cNvPr id="51" name="正方形/長方形 50"/>
          <p:cNvSpPr/>
          <p:nvPr/>
        </p:nvSpPr>
        <p:spPr>
          <a:xfrm>
            <a:off x="4644000" y="5040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smtClean="0">
              <a:solidFill>
                <a:schemeClr val="tx1"/>
              </a:solidFill>
              <a:latin typeface="游ゴシック" panose="020B0400000000000000" pitchFamily="50" charset="-128"/>
              <a:ea typeface="游ゴシック" panose="020B0400000000000000" pitchFamily="50" charset="-128"/>
            </a:endParaRPr>
          </a:p>
        </p:txBody>
      </p:sp>
      <p:sp>
        <p:nvSpPr>
          <p:cNvPr id="52" name="正方形/長方形 51"/>
          <p:cNvSpPr/>
          <p:nvPr/>
        </p:nvSpPr>
        <p:spPr>
          <a:xfrm>
            <a:off x="3348000" y="3132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smtClean="0">
                <a:solidFill>
                  <a:schemeClr val="tx1"/>
                </a:solidFill>
                <a:latin typeface="游ゴシック" panose="020B0400000000000000" pitchFamily="50" charset="-128"/>
                <a:ea typeface="游ゴシック" panose="020B0400000000000000" pitchFamily="50" charset="-128"/>
              </a:rPr>
              <a:t>NAS</a:t>
            </a:r>
            <a:endParaRPr kumimoji="1" lang="ja-JP" altLang="en-US" sz="1000" dirty="0" smtClean="0">
              <a:solidFill>
                <a:schemeClr val="tx1"/>
              </a:solidFill>
              <a:latin typeface="游ゴシック" panose="020B0400000000000000" pitchFamily="50" charset="-128"/>
              <a:ea typeface="游ゴシック" panose="020B0400000000000000" pitchFamily="50" charset="-128"/>
            </a:endParaRPr>
          </a:p>
        </p:txBody>
      </p:sp>
      <p:sp>
        <p:nvSpPr>
          <p:cNvPr id="53" name="正方形/長方形 52"/>
          <p:cNvSpPr/>
          <p:nvPr/>
        </p:nvSpPr>
        <p:spPr>
          <a:xfrm>
            <a:off x="3996000" y="2808000"/>
            <a:ext cx="3456000" cy="216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endParaRPr kumimoji="1" lang="ja-JP" altLang="en-US" sz="1200" b="1" dirty="0" smtClean="0">
              <a:solidFill>
                <a:schemeClr val="tx1"/>
              </a:solidFill>
              <a:latin typeface="游ゴシック" panose="020B0400000000000000" pitchFamily="50" charset="-128"/>
              <a:ea typeface="游ゴシック" panose="020B0400000000000000" pitchFamily="50" charset="-128"/>
            </a:endParaRPr>
          </a:p>
        </p:txBody>
      </p:sp>
      <p:sp>
        <p:nvSpPr>
          <p:cNvPr id="54" name="線吹き出し 1 (枠付き) 53"/>
          <p:cNvSpPr/>
          <p:nvPr/>
        </p:nvSpPr>
        <p:spPr>
          <a:xfrm flipH="1">
            <a:off x="2988000" y="5256000"/>
            <a:ext cx="3240000" cy="432000"/>
          </a:xfrm>
          <a:prstGeom prst="borderCallout1">
            <a:avLst>
              <a:gd name="adj1" fmla="val 22697"/>
              <a:gd name="adj2" fmla="val -141"/>
              <a:gd name="adj3" fmla="val -83871"/>
              <a:gd name="adj4" fmla="val -7450"/>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smtClean="0">
                <a:solidFill>
                  <a:schemeClr val="tx1"/>
                </a:solidFill>
                <a:latin typeface="游ゴシック" panose="020B0400000000000000" pitchFamily="50" charset="-128"/>
                <a:ea typeface="游ゴシック" panose="020B0400000000000000" pitchFamily="50" charset="-128"/>
              </a:rPr>
              <a:t>制御システム通信サーバにつきましては、要否・役割</a:t>
            </a:r>
            <a:r>
              <a:rPr lang="ja-JP" altLang="en-US" sz="1200" dirty="0" smtClean="0">
                <a:solidFill>
                  <a:schemeClr val="tx1"/>
                </a:solidFill>
                <a:latin typeface="游ゴシック" panose="020B0400000000000000" pitchFamily="50" charset="-128"/>
                <a:ea typeface="游ゴシック" panose="020B0400000000000000" pitchFamily="50" charset="-128"/>
              </a:rPr>
              <a:t>・配置場所</a:t>
            </a:r>
            <a:r>
              <a:rPr kumimoji="1" lang="ja-JP" altLang="en-US" sz="1200" dirty="0" smtClean="0">
                <a:solidFill>
                  <a:schemeClr val="tx1"/>
                </a:solidFill>
                <a:latin typeface="游ゴシック" panose="020B0400000000000000" pitchFamily="50" charset="-128"/>
                <a:ea typeface="游ゴシック" panose="020B0400000000000000" pitchFamily="50" charset="-128"/>
              </a:rPr>
              <a:t>を改めて検討いたします。</a:t>
            </a:r>
          </a:p>
        </p:txBody>
      </p:sp>
      <p:sp>
        <p:nvSpPr>
          <p:cNvPr id="55" name="線吹き出し 1 (枠付き) 54"/>
          <p:cNvSpPr/>
          <p:nvPr/>
        </p:nvSpPr>
        <p:spPr>
          <a:xfrm flipH="1">
            <a:off x="1656000" y="2160000"/>
            <a:ext cx="2808000" cy="432000"/>
          </a:xfrm>
          <a:prstGeom prst="borderCallout1">
            <a:avLst>
              <a:gd name="adj1" fmla="val 22697"/>
              <a:gd name="adj2" fmla="val -141"/>
              <a:gd name="adj3" fmla="val 35859"/>
              <a:gd name="adj4" fmla="val -8982"/>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1200" dirty="0" err="1" smtClean="0">
                <a:solidFill>
                  <a:schemeClr val="tx1"/>
                </a:solidFill>
                <a:latin typeface="游ゴシック" panose="020B0400000000000000" pitchFamily="50" charset="-128"/>
                <a:ea typeface="游ゴシック" panose="020B0400000000000000" pitchFamily="50" charset="-128"/>
              </a:rPr>
              <a:t>OneSAP</a:t>
            </a:r>
            <a:r>
              <a:rPr kumimoji="1" lang="ja-JP" altLang="en-US" sz="1200" dirty="0" smtClean="0">
                <a:solidFill>
                  <a:schemeClr val="tx1"/>
                </a:solidFill>
                <a:latin typeface="游ゴシック" panose="020B0400000000000000" pitchFamily="50" charset="-128"/>
                <a:ea typeface="游ゴシック" panose="020B0400000000000000" pitchFamily="50" charset="-128"/>
              </a:rPr>
              <a:t>との連携方式は</a:t>
            </a:r>
            <a:r>
              <a:rPr kumimoji="1" lang="en-US" altLang="ja-JP" sz="1200" dirty="0" smtClean="0">
                <a:solidFill>
                  <a:schemeClr val="tx1"/>
                </a:solidFill>
                <a:latin typeface="游ゴシック" panose="020B0400000000000000" pitchFamily="50" charset="-128"/>
                <a:ea typeface="游ゴシック" panose="020B0400000000000000" pitchFamily="50" charset="-128"/>
              </a:rPr>
              <a:t>OWFT</a:t>
            </a:r>
            <a:r>
              <a:rPr kumimoji="1" lang="ja-JP" altLang="en-US" sz="1200" dirty="0" smtClean="0">
                <a:solidFill>
                  <a:schemeClr val="tx1"/>
                </a:solidFill>
                <a:latin typeface="游ゴシック" panose="020B0400000000000000" pitchFamily="50" charset="-128"/>
                <a:ea typeface="游ゴシック" panose="020B0400000000000000" pitchFamily="50" charset="-128"/>
              </a:rPr>
              <a:t>から連携</a:t>
            </a:r>
            <a:r>
              <a:rPr kumimoji="1" lang="en-US" altLang="ja-JP" sz="1200" dirty="0" smtClean="0">
                <a:solidFill>
                  <a:schemeClr val="tx1"/>
                </a:solidFill>
                <a:latin typeface="游ゴシック" panose="020B0400000000000000" pitchFamily="50" charset="-128"/>
                <a:ea typeface="游ゴシック" panose="020B0400000000000000" pitchFamily="50" charset="-128"/>
              </a:rPr>
              <a:t>NAS</a:t>
            </a:r>
            <a:r>
              <a:rPr kumimoji="1" lang="ja-JP" altLang="en-US" sz="1200" dirty="0" smtClean="0">
                <a:solidFill>
                  <a:schemeClr val="tx1"/>
                </a:solidFill>
                <a:latin typeface="游ゴシック" panose="020B0400000000000000" pitchFamily="50" charset="-128"/>
                <a:ea typeface="游ゴシック" panose="020B0400000000000000" pitchFamily="50" charset="-128"/>
              </a:rPr>
              <a:t>経由での連携方式に変更します。</a:t>
            </a:r>
          </a:p>
        </p:txBody>
      </p:sp>
      <p:sp>
        <p:nvSpPr>
          <p:cNvPr id="56" name="角丸四角形 55"/>
          <p:cNvSpPr/>
          <p:nvPr/>
        </p:nvSpPr>
        <p:spPr>
          <a:xfrm>
            <a:off x="863999"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smtClean="0">
                <a:solidFill>
                  <a:schemeClr val="bg1"/>
                </a:solidFill>
                <a:latin typeface="游ゴシック" panose="020B0400000000000000" pitchFamily="50" charset="-128"/>
                <a:ea typeface="游ゴシック" panose="020B0400000000000000" pitchFamily="50" charset="-128"/>
              </a:rPr>
              <a:t>燃料油運転制御システム</a:t>
            </a:r>
          </a:p>
        </p:txBody>
      </p:sp>
      <p:sp>
        <p:nvSpPr>
          <p:cNvPr id="57" name="角丸四角形 56"/>
          <p:cNvSpPr/>
          <p:nvPr/>
        </p:nvSpPr>
        <p:spPr>
          <a:xfrm>
            <a:off x="5004000"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smtClean="0">
                <a:solidFill>
                  <a:schemeClr val="bg1"/>
                </a:solidFill>
                <a:latin typeface="游ゴシック" panose="020B0400000000000000" pitchFamily="50" charset="-128"/>
                <a:ea typeface="游ゴシック" panose="020B0400000000000000" pitchFamily="50" charset="-128"/>
              </a:rPr>
              <a:t>潤滑油運転制御システム</a:t>
            </a:r>
          </a:p>
        </p:txBody>
      </p:sp>
    </p:spTree>
    <p:extLst>
      <p:ext uri="{BB962C8B-B14F-4D97-AF65-F5344CB8AC3E}">
        <p14:creationId xmlns:p14="http://schemas.microsoft.com/office/powerpoint/2010/main" val="2920933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３．全体スケジュール</a:t>
            </a:r>
            <a:endParaRPr kumimoji="1" lang="ja-JP" altLang="en-US" dirty="0"/>
          </a:p>
        </p:txBody>
      </p:sp>
      <p:graphicFrame>
        <p:nvGraphicFramePr>
          <p:cNvPr id="27" name="コンテンツ プレースホルダー 5"/>
          <p:cNvGraphicFramePr>
            <a:graphicFrameLocks/>
          </p:cNvGraphicFramePr>
          <p:nvPr>
            <p:extLst/>
          </p:nvPr>
        </p:nvGraphicFramePr>
        <p:xfrm>
          <a:off x="144464" y="863586"/>
          <a:ext cx="8855552" cy="5537214"/>
        </p:xfrm>
        <a:graphic>
          <a:graphicData uri="http://schemas.openxmlformats.org/drawingml/2006/table">
            <a:tbl>
              <a:tblPr firstRow="1" bandRow="1">
                <a:tableStyleId>{5C22544A-7EE6-4342-B048-85BDC9FD1C3A}</a:tableStyleId>
              </a:tblPr>
              <a:tblGrid>
                <a:gridCol w="363536">
                  <a:extLst>
                    <a:ext uri="{9D8B030D-6E8A-4147-A177-3AD203B41FA5}">
                      <a16:colId xmlns:a16="http://schemas.microsoft.com/office/drawing/2014/main" val="20000"/>
                    </a:ext>
                  </a:extLst>
                </a:gridCol>
                <a:gridCol w="1099036">
                  <a:extLst>
                    <a:ext uri="{9D8B030D-6E8A-4147-A177-3AD203B41FA5}">
                      <a16:colId xmlns:a16="http://schemas.microsoft.com/office/drawing/2014/main" val="3366360077"/>
                    </a:ext>
                  </a:extLst>
                </a:gridCol>
                <a:gridCol w="214176">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11228">
                  <a:extLst>
                    <a:ext uri="{9D8B030D-6E8A-4147-A177-3AD203B41FA5}">
                      <a16:colId xmlns:a16="http://schemas.microsoft.com/office/drawing/2014/main" val="20003"/>
                    </a:ext>
                  </a:extLst>
                </a:gridCol>
                <a:gridCol w="211228">
                  <a:extLst>
                    <a:ext uri="{9D8B030D-6E8A-4147-A177-3AD203B41FA5}">
                      <a16:colId xmlns:a16="http://schemas.microsoft.com/office/drawing/2014/main" val="20004"/>
                    </a:ext>
                  </a:extLst>
                </a:gridCol>
                <a:gridCol w="211228">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14176">
                  <a:extLst>
                    <a:ext uri="{9D8B030D-6E8A-4147-A177-3AD203B41FA5}">
                      <a16:colId xmlns:a16="http://schemas.microsoft.com/office/drawing/2014/main" val="20007"/>
                    </a:ext>
                  </a:extLst>
                </a:gridCol>
                <a:gridCol w="211228">
                  <a:extLst>
                    <a:ext uri="{9D8B030D-6E8A-4147-A177-3AD203B41FA5}">
                      <a16:colId xmlns:a16="http://schemas.microsoft.com/office/drawing/2014/main" val="20008"/>
                    </a:ext>
                  </a:extLst>
                </a:gridCol>
                <a:gridCol w="211228">
                  <a:extLst>
                    <a:ext uri="{9D8B030D-6E8A-4147-A177-3AD203B41FA5}">
                      <a16:colId xmlns:a16="http://schemas.microsoft.com/office/drawing/2014/main" val="20009"/>
                    </a:ext>
                  </a:extLst>
                </a:gridCol>
                <a:gridCol w="211228">
                  <a:extLst>
                    <a:ext uri="{9D8B030D-6E8A-4147-A177-3AD203B41FA5}">
                      <a16:colId xmlns:a16="http://schemas.microsoft.com/office/drawing/2014/main" val="20010"/>
                    </a:ext>
                  </a:extLst>
                </a:gridCol>
                <a:gridCol w="211228">
                  <a:extLst>
                    <a:ext uri="{9D8B030D-6E8A-4147-A177-3AD203B41FA5}">
                      <a16:colId xmlns:a16="http://schemas.microsoft.com/office/drawing/2014/main" val="20011"/>
                    </a:ext>
                  </a:extLst>
                </a:gridCol>
                <a:gridCol w="211228">
                  <a:extLst>
                    <a:ext uri="{9D8B030D-6E8A-4147-A177-3AD203B41FA5}">
                      <a16:colId xmlns:a16="http://schemas.microsoft.com/office/drawing/2014/main" val="20012"/>
                    </a:ext>
                  </a:extLst>
                </a:gridCol>
                <a:gridCol w="211228">
                  <a:extLst>
                    <a:ext uri="{9D8B030D-6E8A-4147-A177-3AD203B41FA5}">
                      <a16:colId xmlns:a16="http://schemas.microsoft.com/office/drawing/2014/main" val="20013"/>
                    </a:ext>
                  </a:extLst>
                </a:gridCol>
                <a:gridCol w="211228">
                  <a:extLst>
                    <a:ext uri="{9D8B030D-6E8A-4147-A177-3AD203B41FA5}">
                      <a16:colId xmlns:a16="http://schemas.microsoft.com/office/drawing/2014/main" val="20014"/>
                    </a:ext>
                  </a:extLst>
                </a:gridCol>
                <a:gridCol w="211228">
                  <a:extLst>
                    <a:ext uri="{9D8B030D-6E8A-4147-A177-3AD203B41FA5}">
                      <a16:colId xmlns:a16="http://schemas.microsoft.com/office/drawing/2014/main" val="20015"/>
                    </a:ext>
                  </a:extLst>
                </a:gridCol>
                <a:gridCol w="211228">
                  <a:extLst>
                    <a:ext uri="{9D8B030D-6E8A-4147-A177-3AD203B41FA5}">
                      <a16:colId xmlns:a16="http://schemas.microsoft.com/office/drawing/2014/main" val="20016"/>
                    </a:ext>
                  </a:extLst>
                </a:gridCol>
                <a:gridCol w="211228">
                  <a:extLst>
                    <a:ext uri="{9D8B030D-6E8A-4147-A177-3AD203B41FA5}">
                      <a16:colId xmlns:a16="http://schemas.microsoft.com/office/drawing/2014/main" val="20017"/>
                    </a:ext>
                  </a:extLst>
                </a:gridCol>
                <a:gridCol w="211228">
                  <a:extLst>
                    <a:ext uri="{9D8B030D-6E8A-4147-A177-3AD203B41FA5}">
                      <a16:colId xmlns:a16="http://schemas.microsoft.com/office/drawing/2014/main" val="20018"/>
                    </a:ext>
                  </a:extLst>
                </a:gridCol>
                <a:gridCol w="211228">
                  <a:extLst>
                    <a:ext uri="{9D8B030D-6E8A-4147-A177-3AD203B41FA5}">
                      <a16:colId xmlns:a16="http://schemas.microsoft.com/office/drawing/2014/main" val="20019"/>
                    </a:ext>
                  </a:extLst>
                </a:gridCol>
                <a:gridCol w="211228">
                  <a:extLst>
                    <a:ext uri="{9D8B030D-6E8A-4147-A177-3AD203B41FA5}">
                      <a16:colId xmlns:a16="http://schemas.microsoft.com/office/drawing/2014/main" val="20020"/>
                    </a:ext>
                  </a:extLst>
                </a:gridCol>
                <a:gridCol w="211228">
                  <a:extLst>
                    <a:ext uri="{9D8B030D-6E8A-4147-A177-3AD203B41FA5}">
                      <a16:colId xmlns:a16="http://schemas.microsoft.com/office/drawing/2014/main" val="20021"/>
                    </a:ext>
                  </a:extLst>
                </a:gridCol>
                <a:gridCol w="211228">
                  <a:extLst>
                    <a:ext uri="{9D8B030D-6E8A-4147-A177-3AD203B41FA5}">
                      <a16:colId xmlns:a16="http://schemas.microsoft.com/office/drawing/2014/main" val="20022"/>
                    </a:ext>
                  </a:extLst>
                </a:gridCol>
                <a:gridCol w="211228">
                  <a:extLst>
                    <a:ext uri="{9D8B030D-6E8A-4147-A177-3AD203B41FA5}">
                      <a16:colId xmlns:a16="http://schemas.microsoft.com/office/drawing/2014/main" val="20023"/>
                    </a:ext>
                  </a:extLst>
                </a:gridCol>
                <a:gridCol w="211228">
                  <a:extLst>
                    <a:ext uri="{9D8B030D-6E8A-4147-A177-3AD203B41FA5}">
                      <a16:colId xmlns:a16="http://schemas.microsoft.com/office/drawing/2014/main" val="20024"/>
                    </a:ext>
                  </a:extLst>
                </a:gridCol>
                <a:gridCol w="211228">
                  <a:extLst>
                    <a:ext uri="{9D8B030D-6E8A-4147-A177-3AD203B41FA5}">
                      <a16:colId xmlns:a16="http://schemas.microsoft.com/office/drawing/2014/main" val="20025"/>
                    </a:ext>
                  </a:extLst>
                </a:gridCol>
                <a:gridCol w="211228">
                  <a:extLst>
                    <a:ext uri="{9D8B030D-6E8A-4147-A177-3AD203B41FA5}">
                      <a16:colId xmlns:a16="http://schemas.microsoft.com/office/drawing/2014/main" val="20026"/>
                    </a:ext>
                  </a:extLst>
                </a:gridCol>
                <a:gridCol w="211228">
                  <a:extLst>
                    <a:ext uri="{9D8B030D-6E8A-4147-A177-3AD203B41FA5}">
                      <a16:colId xmlns:a16="http://schemas.microsoft.com/office/drawing/2014/main" val="4114230898"/>
                    </a:ext>
                  </a:extLst>
                </a:gridCol>
                <a:gridCol w="211228">
                  <a:extLst>
                    <a:ext uri="{9D8B030D-6E8A-4147-A177-3AD203B41FA5}">
                      <a16:colId xmlns:a16="http://schemas.microsoft.com/office/drawing/2014/main" val="1648438691"/>
                    </a:ext>
                  </a:extLst>
                </a:gridCol>
                <a:gridCol w="211228">
                  <a:extLst>
                    <a:ext uri="{9D8B030D-6E8A-4147-A177-3AD203B41FA5}">
                      <a16:colId xmlns:a16="http://schemas.microsoft.com/office/drawing/2014/main" val="2948712564"/>
                    </a:ext>
                  </a:extLst>
                </a:gridCol>
                <a:gridCol w="211228">
                  <a:extLst>
                    <a:ext uri="{9D8B030D-6E8A-4147-A177-3AD203B41FA5}">
                      <a16:colId xmlns:a16="http://schemas.microsoft.com/office/drawing/2014/main" val="1304346756"/>
                    </a:ext>
                  </a:extLst>
                </a:gridCol>
                <a:gridCol w="211228">
                  <a:extLst>
                    <a:ext uri="{9D8B030D-6E8A-4147-A177-3AD203B41FA5}">
                      <a16:colId xmlns:a16="http://schemas.microsoft.com/office/drawing/2014/main" val="3209152221"/>
                    </a:ext>
                  </a:extLst>
                </a:gridCol>
                <a:gridCol w="211228">
                  <a:extLst>
                    <a:ext uri="{9D8B030D-6E8A-4147-A177-3AD203B41FA5}">
                      <a16:colId xmlns:a16="http://schemas.microsoft.com/office/drawing/2014/main" val="20027"/>
                    </a:ext>
                  </a:extLst>
                </a:gridCol>
                <a:gridCol w="211228">
                  <a:extLst>
                    <a:ext uri="{9D8B030D-6E8A-4147-A177-3AD203B41FA5}">
                      <a16:colId xmlns:a16="http://schemas.microsoft.com/office/drawing/2014/main" val="20028"/>
                    </a:ext>
                  </a:extLst>
                </a:gridCol>
                <a:gridCol w="211228">
                  <a:extLst>
                    <a:ext uri="{9D8B030D-6E8A-4147-A177-3AD203B41FA5}">
                      <a16:colId xmlns:a16="http://schemas.microsoft.com/office/drawing/2014/main" val="20029"/>
                    </a:ext>
                  </a:extLst>
                </a:gridCol>
                <a:gridCol w="211228">
                  <a:extLst>
                    <a:ext uri="{9D8B030D-6E8A-4147-A177-3AD203B41FA5}">
                      <a16:colId xmlns:a16="http://schemas.microsoft.com/office/drawing/2014/main" val="20030"/>
                    </a:ext>
                  </a:extLst>
                </a:gridCol>
              </a:tblGrid>
              <a:tr h="161650">
                <a:tc rowSpan="2" gridSpan="2">
                  <a:txBody>
                    <a:bodyPr/>
                    <a:lstStyle/>
                    <a:p>
                      <a:r>
                        <a:rPr kumimoji="1" lang="ja-JP" altLang="en-US" sz="1400" b="1" dirty="0" smtClean="0">
                          <a:solidFill>
                            <a:schemeClr val="bg1"/>
                          </a:solidFill>
                          <a:latin typeface="游ゴシック" panose="020B0400000000000000" pitchFamily="50" charset="-128"/>
                          <a:ea typeface="游ゴシック" panose="020B0400000000000000" pitchFamily="50" charset="-128"/>
                        </a:rPr>
                        <a:t>工程</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rowSpan="2" hMerge="1">
                  <a:txBody>
                    <a:bodyPr/>
                    <a:lstStyle/>
                    <a:p>
                      <a:endParaRPr kumimoji="1" lang="ja-JP" altLang="en-US"/>
                    </a:p>
                  </a:txBody>
                  <a:tcPr/>
                </a:tc>
                <a:tc gridSpan="4">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2019</a:t>
                      </a:r>
                      <a:r>
                        <a:rPr kumimoji="1" lang="ja-JP" altLang="en-US" sz="1400" b="1" dirty="0" smtClean="0">
                          <a:solidFill>
                            <a:schemeClr val="bg1"/>
                          </a:solidFill>
                          <a:latin typeface="游ゴシック" panose="020B0400000000000000" pitchFamily="50" charset="-128"/>
                          <a:ea typeface="游ゴシック" panose="020B0400000000000000" pitchFamily="50" charset="-128"/>
                        </a:rPr>
                        <a:t>年度</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12">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2020</a:t>
                      </a:r>
                      <a:r>
                        <a:rPr kumimoji="1" lang="ja-JP" altLang="en-US" sz="1400" b="1" dirty="0" smtClean="0">
                          <a:solidFill>
                            <a:schemeClr val="bg1"/>
                          </a:solidFill>
                          <a:latin typeface="游ゴシック" panose="020B0400000000000000" pitchFamily="50" charset="-128"/>
                          <a:ea typeface="游ゴシック" panose="020B0400000000000000" pitchFamily="50" charset="-128"/>
                        </a:rPr>
                        <a:t>年度</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12">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2021</a:t>
                      </a:r>
                      <a:r>
                        <a:rPr kumimoji="1" lang="ja-JP" altLang="en-US" sz="1400" b="1" dirty="0" smtClean="0">
                          <a:solidFill>
                            <a:schemeClr val="bg1"/>
                          </a:solidFill>
                          <a:latin typeface="游ゴシック" panose="020B0400000000000000" pitchFamily="50" charset="-128"/>
                          <a:ea typeface="游ゴシック" panose="020B0400000000000000" pitchFamily="50" charset="-128"/>
                        </a:rPr>
                        <a:t>年度</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7">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2022</a:t>
                      </a:r>
                      <a:r>
                        <a:rPr kumimoji="1" lang="ja-JP" altLang="en-US" sz="1400" b="1" dirty="0" smtClean="0">
                          <a:solidFill>
                            <a:schemeClr val="bg1"/>
                          </a:solidFill>
                          <a:latin typeface="游ゴシック" panose="020B0400000000000000" pitchFamily="50" charset="-128"/>
                          <a:ea typeface="游ゴシック" panose="020B0400000000000000" pitchFamily="50" charset="-128"/>
                        </a:rPr>
                        <a:t>年度</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extLst>
                  <a:ext uri="{0D108BD9-81ED-4DB2-BD59-A6C34878D82A}">
                    <a16:rowId xmlns:a16="http://schemas.microsoft.com/office/drawing/2014/main" val="10000"/>
                  </a:ext>
                </a:extLst>
              </a:tr>
              <a:tr h="0">
                <a:tc gridSpan="2" vMerge="1">
                  <a:txBody>
                    <a:bodyPr/>
                    <a:lstStyle/>
                    <a:p>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vMerge="1">
                  <a:txBody>
                    <a:bodyPr/>
                    <a:lstStyle/>
                    <a:p>
                      <a:endParaRPr kumimoji="1" lang="ja-JP" altLang="en-US"/>
                    </a:p>
                  </a:txBody>
                  <a:tcPr/>
                </a:tc>
                <a:tc>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smtClean="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1"/>
                  </a:ext>
                </a:extLst>
              </a:tr>
              <a:tr h="1631199">
                <a:tc gridSpan="2">
                  <a:txBody>
                    <a:bodyPr/>
                    <a:lstStyle/>
                    <a:p>
                      <a:r>
                        <a:rPr kumimoji="1" lang="ja-JP" altLang="en-US" sz="1400" b="0" dirty="0" smtClean="0">
                          <a:latin typeface="游ゴシック" panose="020B0400000000000000" pitchFamily="50" charset="-128"/>
                          <a:ea typeface="游ゴシック" panose="020B0400000000000000" pitchFamily="50" charset="-128"/>
                        </a:rPr>
                        <a:t>周辺システム更新スケジュール</a:t>
                      </a:r>
                      <a:endParaRPr kumimoji="1" lang="en-US" altLang="ja-JP" sz="1400" b="0" dirty="0" smtClean="0">
                        <a:latin typeface="游ゴシック" panose="020B0400000000000000" pitchFamily="50" charset="-128"/>
                        <a:ea typeface="游ゴシック" panose="020B0400000000000000" pitchFamily="50" charset="-128"/>
                      </a:endParaRPr>
                    </a:p>
                    <a:p>
                      <a:endParaRPr kumimoji="1" lang="en-US" altLang="ja-JP" sz="1400" b="0" dirty="0" smtClean="0">
                        <a:latin typeface="游ゴシック" panose="020B0400000000000000" pitchFamily="50" charset="-128"/>
                        <a:ea typeface="游ゴシック" panose="020B0400000000000000" pitchFamily="50" charset="-128"/>
                      </a:endParaRPr>
                    </a:p>
                    <a:p>
                      <a:endParaRPr kumimoji="1" lang="en-US" altLang="ja-JP" sz="1400" b="0" dirty="0" smtClean="0">
                        <a:latin typeface="游ゴシック" panose="020B0400000000000000" pitchFamily="50" charset="-128"/>
                        <a:ea typeface="游ゴシック" panose="020B0400000000000000" pitchFamily="50" charset="-128"/>
                      </a:endParaRPr>
                    </a:p>
                    <a:p>
                      <a:endParaRPr kumimoji="1" lang="en-US" altLang="ja-JP" sz="1400" b="0"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0291">
                <a:tc gridSpan="2">
                  <a:txBody>
                    <a:bodyPr/>
                    <a:lstStyle/>
                    <a:p>
                      <a:r>
                        <a:rPr kumimoji="1" lang="ja-JP" altLang="en-US" sz="1400" b="0" dirty="0" smtClean="0">
                          <a:latin typeface="游ゴシック" panose="020B0400000000000000" pitchFamily="50" charset="-128"/>
                          <a:ea typeface="游ゴシック" panose="020B0400000000000000" pitchFamily="50" charset="-128"/>
                        </a:rPr>
                        <a:t>現行千葉運転管理システム改修</a:t>
                      </a:r>
                      <a:endParaRPr kumimoji="1" lang="en-US" altLang="ja-JP" sz="1400" b="0"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en-US" altLang="ja-JP" sz="1400" b="0"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72095">
                <a:tc rowSpan="3">
                  <a:txBody>
                    <a:bodyPr/>
                    <a:lstStyle/>
                    <a:p>
                      <a:r>
                        <a:rPr kumimoji="1" lang="ja-JP" altLang="en-US" sz="1400" b="1" dirty="0" smtClean="0">
                          <a:latin typeface="游ゴシック" panose="020B0400000000000000" pitchFamily="50" charset="-128"/>
                          <a:ea typeface="游ゴシック" panose="020B0400000000000000" pitchFamily="50" charset="-128"/>
                        </a:rPr>
                        <a:t>新千葉運転管理システム</a:t>
                      </a:r>
                      <a:endParaRPr kumimoji="1" lang="ja-JP" altLang="en-US" sz="1400" b="1"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smtClean="0">
                          <a:latin typeface="游ゴシック" panose="020B0400000000000000" pitchFamily="50" charset="-128"/>
                          <a:ea typeface="游ゴシック" panose="020B0400000000000000" pitchFamily="50" charset="-128"/>
                        </a:rPr>
                        <a:t>アプリケーション開発</a:t>
                      </a:r>
                      <a:endParaRPr kumimoji="1" lang="en-US" altLang="ja-JP" sz="1400" b="1" dirty="0" smtClean="0">
                        <a:latin typeface="游ゴシック" panose="020B0400000000000000" pitchFamily="50" charset="-128"/>
                        <a:ea typeface="游ゴシック" panose="020B0400000000000000" pitchFamily="50" charset="-128"/>
                      </a:endParaRPr>
                    </a:p>
                    <a:p>
                      <a:endParaRPr kumimoji="1" lang="en-US" altLang="ja-JP" sz="1400" b="1" dirty="0" smtClean="0">
                        <a:latin typeface="游ゴシック" panose="020B0400000000000000" pitchFamily="50" charset="-128"/>
                        <a:ea typeface="游ゴシック" panose="020B0400000000000000" pitchFamily="50" charset="-128"/>
                      </a:endParaRPr>
                    </a:p>
                    <a:p>
                      <a:endParaRPr kumimoji="1" lang="en-US" altLang="ja-JP" sz="1400" b="1" dirty="0" smtClean="0">
                        <a:latin typeface="游ゴシック" panose="020B0400000000000000" pitchFamily="50" charset="-128"/>
                        <a:ea typeface="游ゴシック" panose="020B0400000000000000" pitchFamily="50" charset="-128"/>
                      </a:endParaRPr>
                    </a:p>
                    <a:p>
                      <a:endParaRPr kumimoji="1" lang="en-US" altLang="ja-JP" sz="1400" b="1"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7509442"/>
                  </a:ext>
                </a:extLst>
              </a:tr>
              <a:tr h="1052945">
                <a:tc vMerge="1">
                  <a:txBody>
                    <a:bodyPr/>
                    <a:lstStyle/>
                    <a:p>
                      <a:endParaRPr kumimoji="1" lang="en-US" altLang="ja-JP" sz="1400" b="0"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smtClean="0">
                          <a:latin typeface="游ゴシック" panose="020B0400000000000000" pitchFamily="50" charset="-128"/>
                          <a:ea typeface="游ゴシック" panose="020B0400000000000000" pitchFamily="50" charset="-128"/>
                        </a:rPr>
                        <a:t>環境構築</a:t>
                      </a:r>
                      <a:endParaRPr kumimoji="1" lang="en-US" altLang="ja-JP" sz="1400" b="1"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72655">
                <a:tc vMerge="1">
                  <a:txBody>
                    <a:bodyPr/>
                    <a:lstStyle/>
                    <a:p>
                      <a:endParaRPr kumimoji="1" lang="en-US" altLang="ja-JP" sz="1400" b="0"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smtClean="0">
                          <a:latin typeface="游ゴシック" panose="020B0400000000000000" pitchFamily="50" charset="-128"/>
                          <a:ea typeface="游ゴシック" panose="020B0400000000000000" pitchFamily="50" charset="-128"/>
                        </a:rPr>
                        <a:t>本番移行</a:t>
                      </a:r>
                      <a:endParaRPr kumimoji="1" lang="en-US" altLang="ja-JP" sz="1400" b="1" dirty="0" smtClean="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8" name="角丸四角形 27"/>
          <p:cNvSpPr/>
          <p:nvPr/>
        </p:nvSpPr>
        <p:spPr>
          <a:xfrm>
            <a:off x="1654760" y="5148000"/>
            <a:ext cx="2016000" cy="1224000"/>
          </a:xfrm>
          <a:prstGeom prst="roundRect">
            <a:avLst>
              <a:gd name="adj" fmla="val 5188"/>
            </a:avLst>
          </a:prstGeom>
          <a:solidFill>
            <a:schemeClr val="bg1"/>
          </a:solidFill>
          <a:ln>
            <a:solidFill>
              <a:schemeClr val="accent3"/>
            </a:solidFill>
          </a:ln>
        </p:spPr>
        <p:style>
          <a:lnRef idx="2">
            <a:schemeClr val="accent3"/>
          </a:lnRef>
          <a:fillRef idx="1">
            <a:schemeClr val="lt1"/>
          </a:fillRef>
          <a:effectRef idx="0">
            <a:schemeClr val="accent3"/>
          </a:effectRef>
          <a:fontRef idx="minor">
            <a:schemeClr val="dk1"/>
          </a:fontRef>
        </p:style>
        <p:txBody>
          <a:bodyPr rtlCol="0" anchor="t" anchorCtr="0"/>
          <a:lstStyle/>
          <a:p>
            <a:pPr>
              <a:spcBef>
                <a:spcPts val="300"/>
              </a:spcBef>
            </a:pPr>
            <a:r>
              <a:rPr kumimoji="1" lang="ja-JP" altLang="en-US" sz="1200" dirty="0" smtClean="0">
                <a:latin typeface="游ゴシック" panose="020B0400000000000000" pitchFamily="50" charset="-128"/>
                <a:ea typeface="游ゴシック" panose="020B0400000000000000" pitchFamily="50" charset="-128"/>
              </a:rPr>
              <a:t>凡例</a:t>
            </a:r>
            <a:endParaRPr kumimoji="1" lang="en-US" altLang="ja-JP" sz="1200" dirty="0" smtClean="0">
              <a:latin typeface="游ゴシック" panose="020B0400000000000000" pitchFamily="50" charset="-128"/>
              <a:ea typeface="游ゴシック" panose="020B0400000000000000" pitchFamily="50" charset="-128"/>
            </a:endParaRPr>
          </a:p>
          <a:p>
            <a:pPr>
              <a:spcBef>
                <a:spcPts val="300"/>
              </a:spcBef>
            </a:pPr>
            <a:r>
              <a:rPr lang="ja-JP" altLang="en-US" sz="1200" dirty="0">
                <a:latin typeface="游ゴシック" panose="020B0400000000000000" pitchFamily="50" charset="-128"/>
                <a:ea typeface="游ゴシック" panose="020B0400000000000000" pitchFamily="50" charset="-128"/>
              </a:rPr>
              <a:t>　</a:t>
            </a:r>
            <a:r>
              <a:rPr lang="ja-JP" altLang="en-US" sz="1200" dirty="0" smtClean="0">
                <a:latin typeface="游ゴシック" panose="020B0400000000000000" pitchFamily="50" charset="-128"/>
                <a:ea typeface="游ゴシック" panose="020B0400000000000000" pitchFamily="50" charset="-128"/>
              </a:rPr>
              <a:t>　　　周辺ｼｽﾃﾑｽｹｼﾞｭｰﾙ</a:t>
            </a:r>
            <a:endParaRPr lang="en-US" altLang="ja-JP" sz="1200" dirty="0" smtClean="0">
              <a:latin typeface="游ゴシック" panose="020B0400000000000000" pitchFamily="50" charset="-128"/>
              <a:ea typeface="游ゴシック" panose="020B0400000000000000" pitchFamily="50" charset="-128"/>
            </a:endParaRPr>
          </a:p>
          <a:p>
            <a:pPr>
              <a:spcBef>
                <a:spcPts val="300"/>
              </a:spcBef>
            </a:pPr>
            <a:r>
              <a:rPr kumimoji="1" lang="ja-JP" altLang="en-US" sz="1200" dirty="0">
                <a:latin typeface="游ゴシック" panose="020B0400000000000000" pitchFamily="50" charset="-128"/>
                <a:ea typeface="游ゴシック" panose="020B0400000000000000" pitchFamily="50" charset="-128"/>
              </a:rPr>
              <a:t>　</a:t>
            </a:r>
            <a:r>
              <a:rPr kumimoji="1" lang="ja-JP" altLang="en-US" sz="1200" dirty="0" smtClean="0">
                <a:latin typeface="游ゴシック" panose="020B0400000000000000" pitchFamily="50" charset="-128"/>
                <a:ea typeface="游ゴシック" panose="020B0400000000000000" pitchFamily="50" charset="-128"/>
              </a:rPr>
              <a:t>　　　弊社主体作業</a:t>
            </a:r>
            <a:endParaRPr kumimoji="1" lang="en-US" altLang="ja-JP" sz="1200" dirty="0" smtClean="0">
              <a:latin typeface="游ゴシック" panose="020B0400000000000000" pitchFamily="50" charset="-128"/>
              <a:ea typeface="游ゴシック" panose="020B0400000000000000" pitchFamily="50" charset="-128"/>
            </a:endParaRPr>
          </a:p>
          <a:p>
            <a:pPr>
              <a:spcBef>
                <a:spcPts val="300"/>
              </a:spcBef>
            </a:pPr>
            <a:r>
              <a:rPr lang="ja-JP" altLang="en-US" sz="1200" dirty="0">
                <a:latin typeface="游ゴシック" panose="020B0400000000000000" pitchFamily="50" charset="-128"/>
                <a:ea typeface="游ゴシック" panose="020B0400000000000000" pitchFamily="50" charset="-128"/>
              </a:rPr>
              <a:t>　</a:t>
            </a:r>
            <a:r>
              <a:rPr lang="ja-JP" altLang="en-US" sz="1200" dirty="0" smtClean="0">
                <a:latin typeface="游ゴシック" panose="020B0400000000000000" pitchFamily="50" charset="-128"/>
                <a:ea typeface="游ゴシック" panose="020B0400000000000000" pitchFamily="50" charset="-128"/>
              </a:rPr>
              <a:t>　　　貴社主体作業</a:t>
            </a:r>
            <a:endParaRPr lang="en-US" altLang="ja-JP" sz="1200" dirty="0" smtClean="0">
              <a:latin typeface="游ゴシック" panose="020B0400000000000000" pitchFamily="50" charset="-128"/>
              <a:ea typeface="游ゴシック" panose="020B0400000000000000" pitchFamily="50" charset="-128"/>
            </a:endParaRPr>
          </a:p>
          <a:p>
            <a:pPr>
              <a:spcBef>
                <a:spcPts val="300"/>
              </a:spcBef>
            </a:pPr>
            <a:r>
              <a:rPr kumimoji="1" lang="ja-JP" altLang="en-US" sz="1200" dirty="0">
                <a:latin typeface="游ゴシック" panose="020B0400000000000000" pitchFamily="50" charset="-128"/>
                <a:ea typeface="游ゴシック" panose="020B0400000000000000" pitchFamily="50" charset="-128"/>
              </a:rPr>
              <a:t>　</a:t>
            </a:r>
            <a:r>
              <a:rPr kumimoji="1" lang="ja-JP" altLang="en-US" sz="1200" dirty="0" smtClean="0">
                <a:latin typeface="游ゴシック" panose="020B0400000000000000" pitchFamily="50" charset="-128"/>
                <a:ea typeface="游ゴシック" panose="020B0400000000000000" pitchFamily="50" charset="-128"/>
              </a:rPr>
              <a:t>　　　本提案範囲</a:t>
            </a:r>
          </a:p>
        </p:txBody>
      </p:sp>
      <p:cxnSp>
        <p:nvCxnSpPr>
          <p:cNvPr id="29" name="直線コネクタ 28"/>
          <p:cNvCxnSpPr/>
          <p:nvPr/>
        </p:nvCxnSpPr>
        <p:spPr>
          <a:xfrm>
            <a:off x="1836000" y="5521752"/>
            <a:ext cx="36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grpSp>
        <p:nvGrpSpPr>
          <p:cNvPr id="30" name="グループ化 29"/>
          <p:cNvGrpSpPr/>
          <p:nvPr/>
        </p:nvGrpSpPr>
        <p:grpSpPr>
          <a:xfrm>
            <a:off x="1611788" y="1656000"/>
            <a:ext cx="828254" cy="497665"/>
            <a:chOff x="2073600" y="1584000"/>
            <a:chExt cx="828254" cy="497665"/>
          </a:xfrm>
        </p:grpSpPr>
        <p:cxnSp>
          <p:nvCxnSpPr>
            <p:cNvPr id="31" name="直線コネクタ 30"/>
            <p:cNvCxnSpPr/>
            <p:nvPr/>
          </p:nvCxnSpPr>
          <p:spPr>
            <a:xfrm>
              <a:off x="2073854" y="1584000"/>
              <a:ext cx="828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37" name="テキスト ボックス 36"/>
            <p:cNvSpPr txBox="1"/>
            <p:nvPr/>
          </p:nvSpPr>
          <p:spPr>
            <a:xfrm>
              <a:off x="2073600" y="1620000"/>
              <a:ext cx="828000" cy="461665"/>
            </a:xfrm>
            <a:prstGeom prst="rect">
              <a:avLst/>
            </a:prstGeom>
            <a:noFill/>
          </p:spPr>
          <p:txBody>
            <a:bodyPr wrap="none" lIns="36000" rIns="0" rtlCol="0">
              <a:noAutofit/>
            </a:bodyPr>
            <a:lstStyle/>
            <a:p>
              <a:pPr algn="ctr"/>
              <a:r>
                <a:rPr kumimoji="1" lang="ja-JP" altLang="en-US" sz="1200" dirty="0" smtClean="0">
                  <a:latin typeface="游ゴシック" panose="020B0400000000000000" pitchFamily="50" charset="-128"/>
                  <a:ea typeface="游ゴシック" panose="020B0400000000000000" pitchFamily="50" charset="-128"/>
                </a:rPr>
                <a:t>添加剤ﾛｯﾄ管理</a:t>
              </a:r>
              <a:endParaRPr kumimoji="1" lang="en-US" altLang="ja-JP" sz="1200" dirty="0" smtClean="0">
                <a:latin typeface="游ゴシック" panose="020B0400000000000000" pitchFamily="50" charset="-128"/>
                <a:ea typeface="游ゴシック" panose="020B0400000000000000" pitchFamily="50" charset="-128"/>
              </a:endParaRPr>
            </a:p>
            <a:p>
              <a:pPr algn="ctr"/>
              <a:r>
                <a:rPr kumimoji="1" lang="ja-JP" altLang="en-US" sz="1200" dirty="0" smtClean="0">
                  <a:latin typeface="游ゴシック" panose="020B0400000000000000" pitchFamily="50" charset="-128"/>
                  <a:ea typeface="游ゴシック" panose="020B0400000000000000" pitchFamily="50" charset="-128"/>
                </a:rPr>
                <a:t>ｼｽﾃﾑ更新</a:t>
              </a:r>
            </a:p>
          </p:txBody>
        </p:sp>
      </p:grpSp>
      <p:grpSp>
        <p:nvGrpSpPr>
          <p:cNvPr id="38" name="グループ化 37"/>
          <p:cNvGrpSpPr/>
          <p:nvPr/>
        </p:nvGrpSpPr>
        <p:grpSpPr>
          <a:xfrm>
            <a:off x="1611792" y="2376000"/>
            <a:ext cx="828000" cy="682331"/>
            <a:chOff x="2073600" y="2196000"/>
            <a:chExt cx="828000" cy="682331"/>
          </a:xfrm>
        </p:grpSpPr>
        <p:cxnSp>
          <p:nvCxnSpPr>
            <p:cNvPr id="42" name="直線コネクタ 41"/>
            <p:cNvCxnSpPr/>
            <p:nvPr/>
          </p:nvCxnSpPr>
          <p:spPr>
            <a:xfrm>
              <a:off x="2073600" y="2196000"/>
              <a:ext cx="828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3" name="テキスト ボックス 42"/>
            <p:cNvSpPr txBox="1"/>
            <p:nvPr/>
          </p:nvSpPr>
          <p:spPr>
            <a:xfrm>
              <a:off x="2073600" y="2232000"/>
              <a:ext cx="828000" cy="646331"/>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運転制御</a:t>
              </a:r>
              <a:endParaRPr lang="en-US" altLang="ja-JP" sz="1200" dirty="0" smtClean="0">
                <a:latin typeface="游ゴシック" panose="020B0400000000000000" pitchFamily="50" charset="-128"/>
                <a:ea typeface="游ゴシック" panose="020B0400000000000000" pitchFamily="50" charset="-128"/>
              </a:endParaRPr>
            </a:p>
            <a:p>
              <a:pPr algn="ctr"/>
              <a:r>
                <a:rPr lang="ja-JP" altLang="en-US" sz="1200" dirty="0" smtClean="0">
                  <a:latin typeface="游ゴシック" panose="020B0400000000000000" pitchFamily="50" charset="-128"/>
                  <a:ea typeface="游ゴシック" panose="020B0400000000000000" pitchFamily="50" charset="-128"/>
                </a:rPr>
                <a:t>ﾊﾞﾙﾌﾞﾊﾞｰｺｰﾄﾞ</a:t>
              </a:r>
              <a:endParaRPr lang="en-US" altLang="ja-JP" sz="1200" dirty="0" smtClean="0">
                <a:latin typeface="游ゴシック" panose="020B0400000000000000" pitchFamily="50" charset="-128"/>
                <a:ea typeface="游ゴシック" panose="020B0400000000000000" pitchFamily="50" charset="-128"/>
              </a:endParaRPr>
            </a:p>
            <a:p>
              <a:pPr algn="ctr"/>
              <a:r>
                <a:rPr lang="ja-JP" altLang="en-US" sz="1200" dirty="0" smtClean="0">
                  <a:latin typeface="游ゴシック" panose="020B0400000000000000" pitchFamily="50" charset="-128"/>
                  <a:ea typeface="游ゴシック" panose="020B0400000000000000" pitchFamily="50" charset="-128"/>
                </a:rPr>
                <a:t>新規構築</a:t>
              </a:r>
              <a:endParaRPr kumimoji="1" lang="ja-JP" altLang="en-US" sz="1200" dirty="0" smtClean="0">
                <a:latin typeface="游ゴシック" panose="020B0400000000000000" pitchFamily="50" charset="-128"/>
                <a:ea typeface="游ゴシック" panose="020B0400000000000000" pitchFamily="50" charset="-128"/>
              </a:endParaRPr>
            </a:p>
          </p:txBody>
        </p:sp>
      </p:grpSp>
      <p:grpSp>
        <p:nvGrpSpPr>
          <p:cNvPr id="44" name="グループ化 43"/>
          <p:cNvGrpSpPr/>
          <p:nvPr/>
        </p:nvGrpSpPr>
        <p:grpSpPr>
          <a:xfrm>
            <a:off x="2448000" y="1656000"/>
            <a:ext cx="2520254" cy="497665"/>
            <a:chOff x="2073600" y="1584000"/>
            <a:chExt cx="2520254" cy="497665"/>
          </a:xfrm>
        </p:grpSpPr>
        <p:cxnSp>
          <p:nvCxnSpPr>
            <p:cNvPr id="45" name="直線コネクタ 44"/>
            <p:cNvCxnSpPr/>
            <p:nvPr/>
          </p:nvCxnSpPr>
          <p:spPr>
            <a:xfrm>
              <a:off x="2073854" y="1584000"/>
              <a:ext cx="252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2073600" y="1620000"/>
              <a:ext cx="2520000" cy="461665"/>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ﾛｯﾄ追跡ｼｽﾃﾑ更新</a:t>
              </a:r>
              <a:endParaRPr kumimoji="1" lang="ja-JP" altLang="en-US" sz="1200" dirty="0" smtClean="0">
                <a:latin typeface="游ゴシック" panose="020B0400000000000000" pitchFamily="50" charset="-128"/>
                <a:ea typeface="游ゴシック" panose="020B0400000000000000" pitchFamily="50" charset="-128"/>
              </a:endParaRPr>
            </a:p>
          </p:txBody>
        </p:sp>
      </p:grpSp>
      <p:grpSp>
        <p:nvGrpSpPr>
          <p:cNvPr id="47" name="グループ化 46"/>
          <p:cNvGrpSpPr/>
          <p:nvPr/>
        </p:nvGrpSpPr>
        <p:grpSpPr>
          <a:xfrm>
            <a:off x="4968000" y="1656000"/>
            <a:ext cx="1908254" cy="497665"/>
            <a:chOff x="2073600" y="1584000"/>
            <a:chExt cx="1908254" cy="497665"/>
          </a:xfrm>
        </p:grpSpPr>
        <p:cxnSp>
          <p:nvCxnSpPr>
            <p:cNvPr id="48" name="直線コネクタ 47"/>
            <p:cNvCxnSpPr/>
            <p:nvPr/>
          </p:nvCxnSpPr>
          <p:spPr>
            <a:xfrm>
              <a:off x="2073854" y="1584000"/>
              <a:ext cx="1908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9" name="テキスト ボックス 48"/>
            <p:cNvSpPr txBox="1"/>
            <p:nvPr/>
          </p:nvSpPr>
          <p:spPr>
            <a:xfrm>
              <a:off x="2073600" y="1620000"/>
              <a:ext cx="1908000" cy="461665"/>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運転制御ｼｽﾃﾑ</a:t>
              </a:r>
              <a:r>
                <a:rPr lang="en-US" altLang="ja-JP" sz="1200" dirty="0" smtClean="0">
                  <a:latin typeface="游ゴシック" panose="020B0400000000000000" pitchFamily="50" charset="-128"/>
                  <a:ea typeface="游ゴシック" panose="020B0400000000000000" pitchFamily="50" charset="-128"/>
                </a:rPr>
                <a:t>(DCS)</a:t>
              </a:r>
              <a:r>
                <a:rPr lang="ja-JP" altLang="en-US" sz="1200" dirty="0" smtClean="0">
                  <a:latin typeface="游ゴシック" panose="020B0400000000000000" pitchFamily="50" charset="-128"/>
                  <a:ea typeface="游ゴシック" panose="020B0400000000000000" pitchFamily="50" charset="-128"/>
                </a:rPr>
                <a:t>更新</a:t>
              </a:r>
              <a:endParaRPr kumimoji="1" lang="ja-JP" altLang="en-US" sz="1200" dirty="0" smtClean="0">
                <a:latin typeface="游ゴシック" panose="020B0400000000000000" pitchFamily="50" charset="-128"/>
                <a:ea typeface="游ゴシック" panose="020B0400000000000000" pitchFamily="50" charset="-128"/>
              </a:endParaRPr>
            </a:p>
          </p:txBody>
        </p:sp>
      </p:grpSp>
      <p:grpSp>
        <p:nvGrpSpPr>
          <p:cNvPr id="50" name="グループ化 49"/>
          <p:cNvGrpSpPr/>
          <p:nvPr/>
        </p:nvGrpSpPr>
        <p:grpSpPr>
          <a:xfrm>
            <a:off x="6876000" y="1656000"/>
            <a:ext cx="2124254" cy="497665"/>
            <a:chOff x="2073600" y="1584000"/>
            <a:chExt cx="2124254" cy="497665"/>
          </a:xfrm>
        </p:grpSpPr>
        <p:cxnSp>
          <p:nvCxnSpPr>
            <p:cNvPr id="51" name="直線コネクタ 50"/>
            <p:cNvCxnSpPr/>
            <p:nvPr/>
          </p:nvCxnSpPr>
          <p:spPr>
            <a:xfrm>
              <a:off x="2073854" y="1584000"/>
              <a:ext cx="2124000" cy="0"/>
            </a:xfrm>
            <a:prstGeom prst="line">
              <a:avLst/>
            </a:prstGeom>
            <a:ln w="38100">
              <a:solidFill>
                <a:schemeClr val="accent1"/>
              </a:solidFill>
              <a:headEnd type="oval"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2" name="テキスト ボックス 51"/>
            <p:cNvSpPr txBox="1"/>
            <p:nvPr/>
          </p:nvSpPr>
          <p:spPr>
            <a:xfrm>
              <a:off x="2073600" y="1620000"/>
              <a:ext cx="2124000" cy="461665"/>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充填管理</a:t>
              </a:r>
              <a:r>
                <a:rPr lang="ja-JP" altLang="en-US" sz="1200" dirty="0">
                  <a:latin typeface="游ゴシック" panose="020B0400000000000000" pitchFamily="50" charset="-128"/>
                  <a:ea typeface="游ゴシック" panose="020B0400000000000000" pitchFamily="50" charset="-128"/>
                </a:rPr>
                <a:t>ｼｽﾃﾑ</a:t>
              </a:r>
              <a:r>
                <a:rPr lang="ja-JP" altLang="en-US" sz="1200" dirty="0" smtClean="0">
                  <a:latin typeface="游ゴシック" panose="020B0400000000000000" pitchFamily="50" charset="-128"/>
                  <a:ea typeface="游ゴシック" panose="020B0400000000000000" pitchFamily="50" charset="-128"/>
                </a:rPr>
                <a:t>更新</a:t>
              </a:r>
              <a:endParaRPr kumimoji="1" lang="ja-JP" altLang="en-US" sz="1200" dirty="0" smtClean="0">
                <a:latin typeface="游ゴシック" panose="020B0400000000000000" pitchFamily="50" charset="-128"/>
                <a:ea typeface="游ゴシック" panose="020B0400000000000000" pitchFamily="50" charset="-128"/>
              </a:endParaRPr>
            </a:p>
          </p:txBody>
        </p:sp>
      </p:grpSp>
      <p:grpSp>
        <p:nvGrpSpPr>
          <p:cNvPr id="53" name="グループ化 52"/>
          <p:cNvGrpSpPr/>
          <p:nvPr/>
        </p:nvGrpSpPr>
        <p:grpSpPr>
          <a:xfrm>
            <a:off x="2448000" y="2376000"/>
            <a:ext cx="1260000" cy="288000"/>
            <a:chOff x="2073600" y="2196000"/>
            <a:chExt cx="1260000" cy="288000"/>
          </a:xfrm>
        </p:grpSpPr>
        <p:cxnSp>
          <p:nvCxnSpPr>
            <p:cNvPr id="54" name="直線コネクタ 53"/>
            <p:cNvCxnSpPr/>
            <p:nvPr/>
          </p:nvCxnSpPr>
          <p:spPr>
            <a:xfrm>
              <a:off x="2073600" y="2196000"/>
              <a:ext cx="126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2073600" y="2232000"/>
              <a:ext cx="1260000" cy="252000"/>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ﾀﾝｸｹﾞｰｼﾞ</a:t>
              </a:r>
              <a:endParaRPr lang="en-US" altLang="ja-JP" sz="1200" dirty="0" smtClean="0">
                <a:latin typeface="游ゴシック" panose="020B0400000000000000" pitchFamily="50" charset="-128"/>
                <a:ea typeface="游ゴシック" panose="020B0400000000000000" pitchFamily="50" charset="-128"/>
              </a:endParaRPr>
            </a:p>
            <a:p>
              <a:pPr algn="ctr"/>
              <a:r>
                <a:rPr kumimoji="1" lang="ja-JP" altLang="en-US" sz="1200" dirty="0" smtClean="0">
                  <a:latin typeface="游ゴシック" panose="020B0400000000000000" pitchFamily="50" charset="-128"/>
                  <a:ea typeface="游ゴシック" panose="020B0400000000000000" pitchFamily="50" charset="-128"/>
                </a:rPr>
                <a:t>老朽化</a:t>
              </a:r>
              <a:r>
                <a:rPr kumimoji="1" lang="ja-JP" altLang="en-US" sz="1200" dirty="0">
                  <a:latin typeface="游ゴシック" panose="020B0400000000000000" pitchFamily="50" charset="-128"/>
                  <a:ea typeface="游ゴシック" panose="020B0400000000000000" pitchFamily="50" charset="-128"/>
                </a:rPr>
                <a:t>更新</a:t>
              </a:r>
              <a:endParaRPr kumimoji="1" lang="ja-JP" altLang="en-US" sz="1200" dirty="0" smtClean="0">
                <a:latin typeface="游ゴシック" panose="020B0400000000000000" pitchFamily="50" charset="-128"/>
                <a:ea typeface="游ゴシック" panose="020B0400000000000000" pitchFamily="50" charset="-128"/>
              </a:endParaRPr>
            </a:p>
          </p:txBody>
        </p:sp>
      </p:grpSp>
      <p:grpSp>
        <p:nvGrpSpPr>
          <p:cNvPr id="56" name="グループ化 55"/>
          <p:cNvGrpSpPr/>
          <p:nvPr/>
        </p:nvGrpSpPr>
        <p:grpSpPr>
          <a:xfrm>
            <a:off x="3096000" y="2016000"/>
            <a:ext cx="3780000" cy="497665"/>
            <a:chOff x="3585600" y="1944000"/>
            <a:chExt cx="3780000" cy="497665"/>
          </a:xfrm>
        </p:grpSpPr>
        <p:cxnSp>
          <p:nvCxnSpPr>
            <p:cNvPr id="57" name="直線コネクタ 56"/>
            <p:cNvCxnSpPr/>
            <p:nvPr/>
          </p:nvCxnSpPr>
          <p:spPr>
            <a:xfrm>
              <a:off x="3585854" y="1944000"/>
              <a:ext cx="1224000" cy="0"/>
            </a:xfrm>
            <a:prstGeom prst="line">
              <a:avLst/>
            </a:prstGeom>
            <a:ln w="38100">
              <a:solidFill>
                <a:schemeClr val="accent1"/>
              </a:solidFill>
              <a:headEnd type="oval"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585600" y="1980000"/>
              <a:ext cx="3780000" cy="461665"/>
            </a:xfrm>
            <a:prstGeom prst="rect">
              <a:avLst/>
            </a:prstGeom>
            <a:noFill/>
          </p:spPr>
          <p:txBody>
            <a:bodyPr wrap="none" lIns="36000" rIns="0" rtlCol="0">
              <a:noAutofit/>
            </a:bodyPr>
            <a:lstStyle/>
            <a:p>
              <a:pPr algn="ctr"/>
              <a:r>
                <a:rPr lang="ja-JP" altLang="en-US" sz="1200" dirty="0" smtClean="0">
                  <a:latin typeface="游ゴシック" panose="020B0400000000000000" pitchFamily="50" charset="-128"/>
                  <a:ea typeface="游ゴシック" panose="020B0400000000000000" pitchFamily="50" charset="-128"/>
                </a:rPr>
                <a:t>自動倉庫ｼｽﾃﾑ更新</a:t>
              </a:r>
              <a:endParaRPr kumimoji="1" lang="ja-JP" altLang="en-US" sz="1200" dirty="0" smtClean="0">
                <a:latin typeface="游ゴシック" panose="020B0400000000000000" pitchFamily="50" charset="-128"/>
                <a:ea typeface="游ゴシック" panose="020B0400000000000000" pitchFamily="50" charset="-128"/>
              </a:endParaRPr>
            </a:p>
          </p:txBody>
        </p:sp>
        <p:cxnSp>
          <p:nvCxnSpPr>
            <p:cNvPr id="59" name="直線コネクタ 58"/>
            <p:cNvCxnSpPr/>
            <p:nvPr/>
          </p:nvCxnSpPr>
          <p:spPr>
            <a:xfrm>
              <a:off x="6753600" y="1944000"/>
              <a:ext cx="612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60" name="直線コネクタ 59"/>
            <p:cNvCxnSpPr/>
            <p:nvPr/>
          </p:nvCxnSpPr>
          <p:spPr>
            <a:xfrm>
              <a:off x="4809600" y="1944000"/>
              <a:ext cx="1908000" cy="0"/>
            </a:xfrm>
            <a:prstGeom prst="line">
              <a:avLst/>
            </a:prstGeom>
            <a:ln w="38100">
              <a:solidFill>
                <a:schemeClr val="accent1"/>
              </a:solidFill>
              <a:prstDash val="sysDash"/>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sp>
        <p:nvSpPr>
          <p:cNvPr id="61" name="ホームベース 60"/>
          <p:cNvSpPr/>
          <p:nvPr/>
        </p:nvSpPr>
        <p:spPr>
          <a:xfrm>
            <a:off x="8150113" y="3888000"/>
            <a:ext cx="955714" cy="792000"/>
          </a:xfrm>
          <a:prstGeom prst="homePlate">
            <a:avLst>
              <a:gd name="adj" fmla="val 6201"/>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保守</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kumimoji="1"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2" name="テキスト ボックス 61"/>
          <p:cNvSpPr txBox="1"/>
          <p:nvPr/>
        </p:nvSpPr>
        <p:spPr>
          <a:xfrm>
            <a:off x="2277781" y="3096000"/>
            <a:ext cx="2262158"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★添加剤ﾛｯﾄ管理ｼｽﾃﾑ更新対応</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3" name="テキスト ボックス 62"/>
          <p:cNvSpPr txBox="1"/>
          <p:nvPr/>
        </p:nvSpPr>
        <p:spPr>
          <a:xfrm>
            <a:off x="3552141" y="3312000"/>
            <a:ext cx="2031325"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★ﾀﾝｸｹﾞｰｼﾞ老朽化更新対応</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4" name="テキスト ボックス 63"/>
          <p:cNvSpPr txBox="1"/>
          <p:nvPr/>
        </p:nvSpPr>
        <p:spPr>
          <a:xfrm>
            <a:off x="4816511" y="3096000"/>
            <a:ext cx="1800493"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★ﾛｯﾄ追跡ｼｽﾃﾑ更新対応</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5" name="テキスト ボックス 64"/>
          <p:cNvSpPr txBox="1"/>
          <p:nvPr/>
        </p:nvSpPr>
        <p:spPr>
          <a:xfrm>
            <a:off x="6723708" y="3096000"/>
            <a:ext cx="2311851"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★運転制御ｼｽﾃﾑ</a:t>
            </a:r>
            <a:r>
              <a:rPr lang="en-US" altLang="ja-JP" sz="1200" dirty="0" smtClean="0">
                <a:ln w="3175">
                  <a:noFill/>
                </a:ln>
                <a:effectLst/>
                <a:latin typeface="游ゴシック" panose="020B0400000000000000" pitchFamily="50" charset="-128"/>
                <a:ea typeface="游ゴシック" panose="020B0400000000000000" pitchFamily="50" charset="-128"/>
              </a:rPr>
              <a:t>(DCS)</a:t>
            </a:r>
            <a:r>
              <a:rPr lang="ja-JP" altLang="en-US" sz="1200" dirty="0" smtClean="0">
                <a:ln w="3175">
                  <a:noFill/>
                </a:ln>
                <a:effectLst/>
                <a:latin typeface="游ゴシック" panose="020B0400000000000000" pitchFamily="50" charset="-128"/>
                <a:ea typeface="游ゴシック" panose="020B0400000000000000" pitchFamily="50" charset="-128"/>
              </a:rPr>
              <a:t>更新対応</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6" name="テキスト ボックス 65"/>
          <p:cNvSpPr txBox="1"/>
          <p:nvPr/>
        </p:nvSpPr>
        <p:spPr>
          <a:xfrm>
            <a:off x="6723708" y="3312000"/>
            <a:ext cx="1877437"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★自動倉庫ｼｽﾃﾑ更新対応</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7" name="テキスト ボックス 66"/>
          <p:cNvSpPr txBox="1"/>
          <p:nvPr/>
        </p:nvSpPr>
        <p:spPr>
          <a:xfrm>
            <a:off x="6930000" y="3636000"/>
            <a:ext cx="2262158"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★現行ｼｽﾃﾑ最新ｿｰｽ取得・ﾏｰｼﾞ</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8" name="テキスト ボックス 67"/>
          <p:cNvSpPr txBox="1"/>
          <p:nvPr/>
        </p:nvSpPr>
        <p:spPr>
          <a:xfrm>
            <a:off x="4500000" y="3636000"/>
            <a:ext cx="1800493" cy="276999"/>
          </a:xfrm>
          <a:prstGeom prst="rect">
            <a:avLst/>
          </a:prstGeom>
          <a:noFill/>
        </p:spPr>
        <p:txBody>
          <a:bodyPr wrap="none" rtlCol="0" anchor="ctr">
            <a:spAutoFit/>
          </a:bodyPr>
          <a:lstStyle/>
          <a:p>
            <a:r>
              <a:rPr lang="ja-JP" altLang="en-US" sz="1200" dirty="0" smtClean="0">
                <a:ln w="3175">
                  <a:noFill/>
                </a:ln>
                <a:effectLst/>
                <a:latin typeface="游ゴシック" panose="020B0400000000000000" pitchFamily="50" charset="-128"/>
                <a:ea typeface="游ゴシック" panose="020B0400000000000000" pitchFamily="50" charset="-128"/>
              </a:rPr>
              <a:t>★現行ｼｽﾃﾑ最新ｿｰｽ取得</a:t>
            </a:r>
            <a:endParaRPr kumimoji="1" lang="ja-JP" altLang="en-US" sz="1200" dirty="0" smtClean="0">
              <a:ln w="3175">
                <a:noFill/>
              </a:ln>
              <a:effectLst/>
              <a:latin typeface="游ゴシック" panose="020B0400000000000000" pitchFamily="50" charset="-128"/>
              <a:ea typeface="游ゴシック" panose="020B0400000000000000" pitchFamily="50" charset="-128"/>
            </a:endParaRPr>
          </a:p>
        </p:txBody>
      </p:sp>
      <p:sp>
        <p:nvSpPr>
          <p:cNvPr id="69" name="ホームベース 68"/>
          <p:cNvSpPr/>
          <p:nvPr/>
        </p:nvSpPr>
        <p:spPr>
          <a:xfrm>
            <a:off x="6036362" y="4860000"/>
            <a:ext cx="414000" cy="396000"/>
          </a:xfrm>
          <a:prstGeom prst="homePlate">
            <a:avLst>
              <a:gd name="adj" fmla="val 13525"/>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本番</a:t>
            </a: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環境</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ｲﾝﾌﾗ構築</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0" name="ホームベース 69"/>
          <p:cNvSpPr/>
          <p:nvPr/>
        </p:nvSpPr>
        <p:spPr>
          <a:xfrm>
            <a:off x="6445608" y="5328000"/>
            <a:ext cx="414000" cy="396000"/>
          </a:xfrm>
          <a:prstGeom prst="homePlate">
            <a:avLst>
              <a:gd name="adj" fmla="val 12395"/>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本番</a:t>
            </a: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環境</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ｾｯﾄｱｯﾌﾟ</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1" name="ホームベース 70"/>
          <p:cNvSpPr/>
          <p:nvPr/>
        </p:nvSpPr>
        <p:spPr>
          <a:xfrm>
            <a:off x="4136126" y="5328000"/>
            <a:ext cx="630000" cy="396000"/>
          </a:xfrm>
          <a:prstGeom prst="homePlate">
            <a:avLst>
              <a:gd name="adj" fmla="val 12395"/>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開発環境構築</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a:t>
            </a: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弊社内</a:t>
            </a:r>
            <a:r>
              <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2" name="ホームベース 71"/>
          <p:cNvSpPr/>
          <p:nvPr/>
        </p:nvSpPr>
        <p:spPr>
          <a:xfrm>
            <a:off x="3717235" y="4860000"/>
            <a:ext cx="612000" cy="396000"/>
          </a:xfrm>
          <a:prstGeom prst="homePlate">
            <a:avLst>
              <a:gd name="adj" fmla="val 12396"/>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必要資源</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調達</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3" name="ホームベース 72"/>
          <p:cNvSpPr/>
          <p:nvPr/>
        </p:nvSpPr>
        <p:spPr>
          <a:xfrm>
            <a:off x="7651592" y="5904000"/>
            <a:ext cx="288000" cy="396000"/>
          </a:xfrm>
          <a:prstGeom prst="homePlate">
            <a:avLst>
              <a:gd name="adj" fmla="val 16536"/>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本番</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移行</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4" name="ホームベース 73"/>
          <p:cNvSpPr/>
          <p:nvPr/>
        </p:nvSpPr>
        <p:spPr>
          <a:xfrm>
            <a:off x="7287886"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smtClean="0">
                <a:ln w="3175">
                  <a:noFill/>
                </a:ln>
                <a:solidFill>
                  <a:schemeClr val="tx1"/>
                </a:solidFill>
                <a:latin typeface="游ゴシック" panose="020B0400000000000000" pitchFamily="50" charset="-128"/>
                <a:ea typeface="游ゴシック" panose="020B0400000000000000" pitchFamily="50" charset="-128"/>
              </a:rPr>
              <a:t>3</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5" name="ホームベース 74"/>
          <p:cNvSpPr/>
          <p:nvPr/>
        </p:nvSpPr>
        <p:spPr>
          <a:xfrm>
            <a:off x="6895251"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smtClean="0">
                <a:ln w="3175">
                  <a:noFill/>
                </a:ln>
                <a:solidFill>
                  <a:schemeClr val="tx1"/>
                </a:solidFill>
                <a:latin typeface="游ゴシック" panose="020B0400000000000000" pitchFamily="50" charset="-128"/>
                <a:ea typeface="游ゴシック" panose="020B0400000000000000" pitchFamily="50" charset="-128"/>
              </a:rPr>
              <a:t>2</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6" name="ホームベース 75"/>
          <p:cNvSpPr/>
          <p:nvPr/>
        </p:nvSpPr>
        <p:spPr>
          <a:xfrm>
            <a:off x="6464642"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smtClean="0">
                <a:ln w="3175">
                  <a:noFill/>
                </a:ln>
                <a:solidFill>
                  <a:schemeClr val="tx1"/>
                </a:solidFill>
                <a:latin typeface="游ゴシック" panose="020B0400000000000000" pitchFamily="50" charset="-128"/>
                <a:ea typeface="游ゴシック" panose="020B0400000000000000" pitchFamily="50" charset="-128"/>
              </a:rPr>
              <a:t>1</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7" name="ホームベース 76"/>
          <p:cNvSpPr/>
          <p:nvPr/>
        </p:nvSpPr>
        <p:spPr>
          <a:xfrm>
            <a:off x="4136126" y="5904000"/>
            <a:ext cx="630000" cy="396000"/>
          </a:xfrm>
          <a:prstGeom prst="homePlate">
            <a:avLst>
              <a:gd name="adj" fmla="val 13598"/>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移行計画</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作成</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8" name="ホームベース 77"/>
          <p:cNvSpPr/>
          <p:nvPr/>
        </p:nvSpPr>
        <p:spPr>
          <a:xfrm>
            <a:off x="5405908" y="5904000"/>
            <a:ext cx="846000" cy="396000"/>
          </a:xfrm>
          <a:prstGeom prst="homePlate">
            <a:avLst>
              <a:gd name="adj" fmla="val 13598"/>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移行</a:t>
            </a:r>
            <a:r>
              <a:rPr lang="en-US" altLang="ja-JP" sz="1200" dirty="0" smtClean="0">
                <a:ln w="3175">
                  <a:noFill/>
                </a:ln>
                <a:solidFill>
                  <a:schemeClr val="tx1"/>
                </a:solidFill>
                <a:latin typeface="游ゴシック" panose="020B0400000000000000" pitchFamily="50" charset="-128"/>
                <a:ea typeface="游ゴシック" panose="020B0400000000000000" pitchFamily="50" charset="-128"/>
              </a:rPr>
              <a:t>PG</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作成</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9" name="ホームベース 78"/>
          <p:cNvSpPr/>
          <p:nvPr/>
        </p:nvSpPr>
        <p:spPr>
          <a:xfrm>
            <a:off x="1800000" y="5647752"/>
            <a:ext cx="432000" cy="180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80" name="ホームベース 79"/>
          <p:cNvSpPr/>
          <p:nvPr/>
        </p:nvSpPr>
        <p:spPr>
          <a:xfrm>
            <a:off x="1800000" y="5881620"/>
            <a:ext cx="432000" cy="180000"/>
          </a:xfrm>
          <a:prstGeom prst="homePlate">
            <a:avLst>
              <a:gd name="adj" fmla="val 23219"/>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81" name="正方形/長方形 80"/>
          <p:cNvSpPr/>
          <p:nvPr/>
        </p:nvSpPr>
        <p:spPr>
          <a:xfrm>
            <a:off x="108000" y="3564000"/>
            <a:ext cx="8928000" cy="288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82" name="正方形/長方形 81"/>
          <p:cNvSpPr/>
          <p:nvPr/>
        </p:nvSpPr>
        <p:spPr>
          <a:xfrm>
            <a:off x="1800000" y="6127686"/>
            <a:ext cx="432000" cy="144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83" name="ホームベース 82"/>
          <p:cNvSpPr/>
          <p:nvPr/>
        </p:nvSpPr>
        <p:spPr>
          <a:xfrm>
            <a:off x="7850255" y="3888000"/>
            <a:ext cx="288000" cy="792000"/>
          </a:xfrm>
          <a:prstGeom prst="homePlate">
            <a:avLst>
              <a:gd name="adj" fmla="val 1595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初</a:t>
            </a:r>
            <a:endPar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期</a:t>
            </a:r>
            <a:endPar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流</a:t>
            </a:r>
            <a:endPar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動</a:t>
            </a:r>
          </a:p>
        </p:txBody>
      </p:sp>
      <p:sp>
        <p:nvSpPr>
          <p:cNvPr id="84" name="ホームベース 83"/>
          <p:cNvSpPr/>
          <p:nvPr/>
        </p:nvSpPr>
        <p:spPr>
          <a:xfrm>
            <a:off x="6891690"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(ST)</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85" name="ホームベース 84"/>
          <p:cNvSpPr/>
          <p:nvPr/>
        </p:nvSpPr>
        <p:spPr>
          <a:xfrm>
            <a:off x="7526580" y="3888000"/>
            <a:ext cx="288000" cy="792000"/>
          </a:xfrm>
          <a:prstGeom prst="homePlate">
            <a:avLst>
              <a:gd name="adj" fmla="val 14515"/>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運</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用</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(OT)</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86" name="テキスト ボックス 85"/>
          <p:cNvSpPr txBox="1"/>
          <p:nvPr/>
        </p:nvSpPr>
        <p:spPr>
          <a:xfrm>
            <a:off x="7626541" y="4104000"/>
            <a:ext cx="441146" cy="400110"/>
          </a:xfrm>
          <a:prstGeom prst="rect">
            <a:avLst/>
          </a:prstGeom>
          <a:noFill/>
          <a:ln>
            <a:noFill/>
          </a:ln>
        </p:spPr>
        <p:txBody>
          <a:bodyPr wrap="none" rtlCol="0" anchor="ctr">
            <a:spAutoFit/>
          </a:bodyPr>
          <a:lstStyle/>
          <a:p>
            <a:pPr algn="ctr"/>
            <a:r>
              <a:rPr lang="ja-JP" altLang="en-US" sz="2000" dirty="0" smtClean="0">
                <a:ln w="3175">
                  <a:noFill/>
                </a:ln>
                <a:solidFill>
                  <a:schemeClr val="accent2"/>
                </a:solidFill>
                <a:effectLst/>
                <a:latin typeface="游ゴシック" panose="020B0400000000000000" pitchFamily="50" charset="-128"/>
                <a:ea typeface="游ゴシック" panose="020B0400000000000000" pitchFamily="50" charset="-128"/>
              </a:rPr>
              <a:t>★</a:t>
            </a:r>
            <a:endParaRPr kumimoji="1" lang="ja-JP" altLang="en-US" sz="2000" dirty="0" smtClean="0">
              <a:ln w="3175">
                <a:noFill/>
              </a:ln>
              <a:solidFill>
                <a:schemeClr val="accent2"/>
              </a:solidFill>
              <a:effectLst/>
              <a:latin typeface="游ゴシック" panose="020B0400000000000000" pitchFamily="50" charset="-128"/>
              <a:ea typeface="游ゴシック" panose="020B0400000000000000" pitchFamily="50" charset="-128"/>
            </a:endParaRPr>
          </a:p>
        </p:txBody>
      </p:sp>
      <p:cxnSp>
        <p:nvCxnSpPr>
          <p:cNvPr id="87" name="直線コネクタ 86"/>
          <p:cNvCxnSpPr/>
          <p:nvPr/>
        </p:nvCxnSpPr>
        <p:spPr>
          <a:xfrm>
            <a:off x="7833576" y="1440000"/>
            <a:ext cx="0" cy="49680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8" name="ホームベース 87"/>
          <p:cNvSpPr/>
          <p:nvPr/>
        </p:nvSpPr>
        <p:spPr>
          <a:xfrm>
            <a:off x="6256799"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結合</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(IT)</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89" name="ホームベース 88"/>
          <p:cNvSpPr/>
          <p:nvPr/>
        </p:nvSpPr>
        <p:spPr>
          <a:xfrm>
            <a:off x="5405908" y="3888000"/>
            <a:ext cx="846000" cy="792000"/>
          </a:xfrm>
          <a:prstGeom prst="homePlate">
            <a:avLst>
              <a:gd name="adj" fmla="val 6373"/>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ﾌﾟﾛｸﾞﾗﾐﾝｸﾞ</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(PS/PG/PT)</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90" name="ホームベース 89"/>
          <p:cNvSpPr/>
          <p:nvPr/>
        </p:nvSpPr>
        <p:spPr>
          <a:xfrm>
            <a:off x="4771017"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構造</a:t>
            </a:r>
            <a:endParaRPr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(SS)</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91" name="ホームベース 90"/>
          <p:cNvSpPr/>
          <p:nvPr/>
        </p:nvSpPr>
        <p:spPr>
          <a:xfrm>
            <a:off x="4136126" y="3888000"/>
            <a:ext cx="630000" cy="792000"/>
          </a:xfrm>
          <a:prstGeom prst="homePlate">
            <a:avLst>
              <a:gd name="adj" fmla="val 818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ﾕｰｻﾞ</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ｲﾝﾀﾌｪｰｽ</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(UI)</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92" name="ホームベース 91"/>
          <p:cNvSpPr/>
          <p:nvPr/>
        </p:nvSpPr>
        <p:spPr>
          <a:xfrm>
            <a:off x="3717235" y="3888000"/>
            <a:ext cx="414000" cy="792000"/>
          </a:xfrm>
          <a:prstGeom prst="homePlate">
            <a:avLst>
              <a:gd name="adj" fmla="val 1154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方式</a:t>
            </a:r>
            <a:endParaRPr lang="en-US" altLang="ja-JP" sz="1200" dirty="0" smtClean="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smtClean="0">
                <a:ln w="3175">
                  <a:noFill/>
                </a:ln>
                <a:solidFill>
                  <a:schemeClr val="tx1"/>
                </a:solidFill>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smtClean="0">
                <a:ln w="3175">
                  <a:noFill/>
                </a:ln>
                <a:solidFill>
                  <a:schemeClr val="tx1"/>
                </a:solidFill>
                <a:effectLst/>
                <a:latin typeface="游ゴシック" panose="020B0400000000000000" pitchFamily="50" charset="-128"/>
                <a:ea typeface="游ゴシック" panose="020B0400000000000000" pitchFamily="50" charset="-128"/>
              </a:rPr>
              <a:t>(SA)</a:t>
            </a:r>
            <a:endParaRPr kumimoji="1" lang="ja-JP" altLang="en-US" sz="1200" dirty="0" smtClean="0">
              <a:ln w="3175">
                <a:noFill/>
              </a:ln>
              <a:solidFill>
                <a:schemeClr val="tx1"/>
              </a:solidFill>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659666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４．開発プロセス</a:t>
            </a:r>
            <a:endParaRPr kumimoji="1" lang="ja-JP" altLang="en-US" dirty="0"/>
          </a:p>
        </p:txBody>
      </p:sp>
      <p:sp>
        <p:nvSpPr>
          <p:cNvPr id="3" name="スライド番号プレースホルダー 2"/>
          <p:cNvSpPr>
            <a:spLocks noGrp="1"/>
          </p:cNvSpPr>
          <p:nvPr>
            <p:ph type="sldNum" sz="quarter" idx="12"/>
          </p:nvPr>
        </p:nvSpPr>
        <p:spPr>
          <a:xfrm>
            <a:off x="8422816" y="6624000"/>
            <a:ext cx="432000" cy="144000"/>
          </a:xfrm>
        </p:spPr>
        <p:txBody>
          <a:bodyPr/>
          <a:lstStyle/>
          <a:p>
            <a:fld id="{59F857F7-C215-C24D-8BD9-19720E902953}" type="slidenum">
              <a:rPr kumimoji="1" lang="ja-JP" altLang="en-US" smtClean="0"/>
              <a:pPr/>
              <a:t>6</a:t>
            </a:fld>
            <a:endParaRPr kumimoji="1" lang="ja-JP" altLang="en-US"/>
          </a:p>
        </p:txBody>
      </p:sp>
      <p:sp>
        <p:nvSpPr>
          <p:cNvPr id="37" name="テキスト ボックス 36"/>
          <p:cNvSpPr txBox="1">
            <a:spLocks/>
          </p:cNvSpPr>
          <p:nvPr/>
        </p:nvSpPr>
        <p:spPr>
          <a:xfrm>
            <a:off x="144000" y="1242264"/>
            <a:ext cx="8856000" cy="576000"/>
          </a:xfrm>
          <a:prstGeom prst="rect">
            <a:avLst/>
          </a:prstGeom>
          <a:noFill/>
        </p:spPr>
        <p:txBody>
          <a:bodyPr wrap="square" rtlCol="0">
            <a:noAutofit/>
          </a:bodyPr>
          <a:lstStyle/>
          <a:p>
            <a:pPr algn="ctr">
              <a:lnSpc>
                <a:spcPts val="2100"/>
              </a:lnSpc>
              <a:defRPr sz="1000"/>
            </a:pPr>
            <a:r>
              <a:rPr lang="ja-JP" altLang="en-US" sz="1400" dirty="0" smtClean="0">
                <a:latin typeface="游ゴシック" panose="020B0400000000000000" pitchFamily="50" charset="-128"/>
                <a:ea typeface="游ゴシック" panose="020B0400000000000000" pitchFamily="50" charset="-128"/>
              </a:rPr>
              <a:t>貴社「出光開発標準」に即して</a:t>
            </a:r>
            <a:r>
              <a:rPr lang="ja-JP" altLang="en-US" sz="1400" dirty="0">
                <a:latin typeface="游ゴシック" panose="020B0400000000000000" pitchFamily="50" charset="-128"/>
                <a:ea typeface="游ゴシック" panose="020B0400000000000000" pitchFamily="50" charset="-128"/>
              </a:rPr>
              <a:t>プロジェクト</a:t>
            </a:r>
            <a:r>
              <a:rPr lang="ja-JP" altLang="en-US" sz="1400" dirty="0" smtClean="0">
                <a:latin typeface="游ゴシック" panose="020B0400000000000000" pitchFamily="50" charset="-128"/>
                <a:ea typeface="游ゴシック" panose="020B0400000000000000" pitchFamily="50" charset="-128"/>
              </a:rPr>
              <a:t>を進めてまいります</a:t>
            </a:r>
            <a:r>
              <a:rPr lang="ja-JP" altLang="en-US" sz="1400" dirty="0">
                <a:latin typeface="游ゴシック" panose="020B0400000000000000" pitchFamily="50" charset="-128"/>
                <a:ea typeface="游ゴシック" panose="020B0400000000000000" pitchFamily="50" charset="-128"/>
              </a:rPr>
              <a:t>。</a:t>
            </a:r>
            <a:endParaRPr lang="en-US" altLang="ja-JP" sz="1400" dirty="0" smtClean="0">
              <a:latin typeface="游ゴシック" panose="020B0400000000000000" pitchFamily="50" charset="-128"/>
              <a:ea typeface="游ゴシック" panose="020B0400000000000000" pitchFamily="50" charset="-128"/>
            </a:endParaRPr>
          </a:p>
          <a:p>
            <a:pPr algn="ctr">
              <a:lnSpc>
                <a:spcPts val="2100"/>
              </a:lnSpc>
              <a:defRPr sz="1000"/>
            </a:pPr>
            <a:r>
              <a:rPr lang="ja-JP" altLang="en-US" sz="1400" dirty="0" smtClean="0">
                <a:solidFill>
                  <a:srgbClr val="000000"/>
                </a:solidFill>
                <a:latin typeface="游ゴシック" panose="020B0400000000000000" pitchFamily="50" charset="-128"/>
                <a:ea typeface="游ゴシック" panose="020B0400000000000000" pitchFamily="50" charset="-128"/>
              </a:rPr>
              <a:t>それにより、貴社・弊社の両社において開発</a:t>
            </a:r>
            <a:r>
              <a:rPr lang="ja-JP" altLang="en-US" sz="1400" dirty="0">
                <a:solidFill>
                  <a:srgbClr val="000000"/>
                </a:solidFill>
                <a:latin typeface="游ゴシック" panose="020B0400000000000000" pitchFamily="50" charset="-128"/>
                <a:ea typeface="游ゴシック" panose="020B0400000000000000" pitchFamily="50" charset="-128"/>
              </a:rPr>
              <a:t>の最終目的</a:t>
            </a:r>
            <a:r>
              <a:rPr lang="ja-JP" altLang="en-US" sz="1400" dirty="0" smtClean="0">
                <a:solidFill>
                  <a:srgbClr val="000000"/>
                </a:solidFill>
                <a:latin typeface="游ゴシック" panose="020B0400000000000000" pitchFamily="50" charset="-128"/>
                <a:ea typeface="游ゴシック" panose="020B0400000000000000" pitchFamily="50" charset="-128"/>
              </a:rPr>
              <a:t>とそこ</a:t>
            </a:r>
            <a:r>
              <a:rPr lang="ja-JP" altLang="en-US" sz="1400" dirty="0">
                <a:solidFill>
                  <a:srgbClr val="000000"/>
                </a:solidFill>
                <a:latin typeface="游ゴシック" panose="020B0400000000000000" pitchFamily="50" charset="-128"/>
                <a:ea typeface="游ゴシック" panose="020B0400000000000000" pitchFamily="50" charset="-128"/>
              </a:rPr>
              <a:t>に至るまで</a:t>
            </a:r>
            <a:r>
              <a:rPr lang="ja-JP" altLang="en-US" sz="1400" dirty="0" smtClean="0">
                <a:solidFill>
                  <a:srgbClr val="000000"/>
                </a:solidFill>
                <a:latin typeface="游ゴシック" panose="020B0400000000000000" pitchFamily="50" charset="-128"/>
                <a:ea typeface="游ゴシック" panose="020B0400000000000000" pitchFamily="50" charset="-128"/>
              </a:rPr>
              <a:t>の確認内容</a:t>
            </a:r>
            <a:r>
              <a:rPr lang="ja-JP" altLang="en-US" sz="1400" dirty="0">
                <a:solidFill>
                  <a:srgbClr val="000000"/>
                </a:solidFill>
                <a:latin typeface="游ゴシック" panose="020B0400000000000000" pitchFamily="50" charset="-128"/>
                <a:ea typeface="游ゴシック" panose="020B0400000000000000" pitchFamily="50" charset="-128"/>
              </a:rPr>
              <a:t>を明確に</a:t>
            </a:r>
            <a:r>
              <a:rPr lang="ja-JP" altLang="en-US" sz="1400" dirty="0" smtClean="0">
                <a:solidFill>
                  <a:srgbClr val="000000"/>
                </a:solidFill>
                <a:latin typeface="游ゴシック" panose="020B0400000000000000" pitchFamily="50" charset="-128"/>
                <a:ea typeface="游ゴシック" panose="020B0400000000000000" pitchFamily="50" charset="-128"/>
              </a:rPr>
              <a:t>します。</a:t>
            </a:r>
            <a:endParaRPr lang="ja-JP" altLang="en-US" sz="1400" dirty="0">
              <a:solidFill>
                <a:srgbClr val="000000"/>
              </a:solidFill>
              <a:latin typeface="游ゴシック" panose="020B0400000000000000" pitchFamily="50" charset="-128"/>
              <a:ea typeface="游ゴシック" panose="020B0400000000000000" pitchFamily="50" charset="-128"/>
            </a:endParaRPr>
          </a:p>
        </p:txBody>
      </p:sp>
      <p:sp>
        <p:nvSpPr>
          <p:cNvPr id="38" name="正方形/長方形 37"/>
          <p:cNvSpPr/>
          <p:nvPr/>
        </p:nvSpPr>
        <p:spPr>
          <a:xfrm>
            <a:off x="144000" y="5885737"/>
            <a:ext cx="8856644" cy="215999"/>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lIns="36000" tIns="0" rIns="36000" bIns="0" rtlCol="0" anchor="b"/>
          <a:lstStyle/>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上記は、「出光開発標準」から</a:t>
            </a:r>
            <a:r>
              <a:rPr lang="ja-JP" altLang="en-US" sz="1200" dirty="0" smtClean="0">
                <a:latin typeface="游ゴシック" panose="020B0400000000000000" pitchFamily="50" charset="-128"/>
                <a:ea typeface="游ゴシック" panose="020B0400000000000000" pitchFamily="50" charset="-128"/>
              </a:rPr>
              <a:t>抜粋させて頂き記載</a:t>
            </a:r>
            <a:r>
              <a:rPr lang="ja-JP" altLang="en-US" sz="1200" dirty="0">
                <a:latin typeface="游ゴシック" panose="020B0400000000000000" pitchFamily="50" charset="-128"/>
                <a:ea typeface="游ゴシック" panose="020B0400000000000000" pitchFamily="50" charset="-128"/>
              </a:rPr>
              <a:t>しております</a:t>
            </a:r>
            <a:r>
              <a:rPr lang="ja-JP" altLang="en-US" sz="1200" dirty="0" smtClean="0">
                <a:latin typeface="游ゴシック" panose="020B0400000000000000" pitchFamily="50" charset="-128"/>
                <a:ea typeface="游ゴシック" panose="020B0400000000000000" pitchFamily="50" charset="-128"/>
              </a:rPr>
              <a:t>。</a:t>
            </a:r>
            <a:endParaRPr lang="en-US" altLang="ja-JP" sz="1200" dirty="0" smtClean="0">
              <a:latin typeface="游ゴシック" panose="020B0400000000000000" pitchFamily="50" charset="-128"/>
              <a:ea typeface="游ゴシック" panose="020B0400000000000000" pitchFamily="50" charset="-128"/>
            </a:endParaRPr>
          </a:p>
        </p:txBody>
      </p:sp>
      <p:sp>
        <p:nvSpPr>
          <p:cNvPr id="47" name="角丸四角形 46"/>
          <p:cNvSpPr/>
          <p:nvPr/>
        </p:nvSpPr>
        <p:spPr>
          <a:xfrm>
            <a:off x="216000" y="2142264"/>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目的の明確化</a:t>
            </a: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48" name="角丸四角形 47"/>
          <p:cNvSpPr/>
          <p:nvPr/>
        </p:nvSpPr>
        <p:spPr>
          <a:xfrm>
            <a:off x="6840000" y="2142264"/>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工程完了基準</a:t>
            </a:r>
            <a:r>
              <a:rPr lang="ja-JP" altLang="en-US" sz="1600" b="1" dirty="0" smtClean="0">
                <a:latin typeface="游ゴシック" panose="020B0400000000000000" pitchFamily="50" charset="-128"/>
                <a:ea typeface="游ゴシック" panose="020B0400000000000000" pitchFamily="50" charset="-128"/>
              </a:rPr>
              <a:t>の統一</a:t>
            </a: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49" name="角丸四角形 48"/>
          <p:cNvSpPr/>
          <p:nvPr/>
        </p:nvSpPr>
        <p:spPr>
          <a:xfrm>
            <a:off x="2424000" y="2142264"/>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作業漏れの</a:t>
            </a:r>
            <a:r>
              <a:rPr lang="ja-JP" altLang="en-US" sz="1600" b="1" dirty="0">
                <a:latin typeface="游ゴシック" panose="020B0400000000000000" pitchFamily="50" charset="-128"/>
                <a:ea typeface="游ゴシック" panose="020B0400000000000000" pitchFamily="50" charset="-128"/>
              </a:rPr>
              <a:t>防止</a:t>
            </a: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50" name="角丸四角形 49"/>
          <p:cNvSpPr/>
          <p:nvPr/>
        </p:nvSpPr>
        <p:spPr>
          <a:xfrm>
            <a:off x="4632000" y="2142264"/>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役割分担の明確化</a:t>
            </a:r>
            <a:endParaRPr kumimoji="1" lang="ja-JP" altLang="en-US" sz="1600" b="1" dirty="0" smtClean="0">
              <a:latin typeface="游ゴシック" panose="020B0400000000000000" pitchFamily="50" charset="-128"/>
              <a:ea typeface="游ゴシック" panose="020B0400000000000000" pitchFamily="50" charset="-128"/>
            </a:endParaRPr>
          </a:p>
        </p:txBody>
      </p:sp>
      <p:grpSp>
        <p:nvGrpSpPr>
          <p:cNvPr id="51" name="グループ化 50"/>
          <p:cNvGrpSpPr/>
          <p:nvPr/>
        </p:nvGrpSpPr>
        <p:grpSpPr>
          <a:xfrm>
            <a:off x="215999" y="2862264"/>
            <a:ext cx="8712000" cy="2880000"/>
            <a:chOff x="215999" y="2700000"/>
            <a:chExt cx="8712000" cy="2880000"/>
          </a:xfrm>
        </p:grpSpPr>
        <p:sp>
          <p:nvSpPr>
            <p:cNvPr id="52" name="正方形/長方形 51"/>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smtClean="0">
                <a:latin typeface="游ゴシック" panose="020B0400000000000000" pitchFamily="50" charset="-128"/>
                <a:ea typeface="游ゴシック" panose="020B0400000000000000" pitchFamily="50" charset="-128"/>
              </a:endParaRPr>
            </a:p>
          </p:txBody>
        </p:sp>
        <p:cxnSp>
          <p:nvCxnSpPr>
            <p:cNvPr id="53" name="直線コネクタ 52"/>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2520000" y="3600001"/>
              <a:ext cx="1476000" cy="360000"/>
            </a:xfrm>
            <a:prstGeom prst="rect">
              <a:avLst/>
            </a:prstGeom>
            <a:noFill/>
          </p:spPr>
          <p:txBody>
            <a:bodyPr wrap="none" rtlCol="0" anchor="ctr">
              <a:noAutofit/>
            </a:bodyPr>
            <a:lstStyle/>
            <a:p>
              <a:pPr algn="r"/>
              <a:r>
                <a:rPr kumimoji="1" lang="ja-JP" altLang="en-US" sz="1400" b="1" dirty="0" smtClean="0">
                  <a:latin typeface="游ゴシック" panose="020B0400000000000000" pitchFamily="50" charset="-128"/>
                  <a:ea typeface="游ゴシック" panose="020B0400000000000000" pitchFamily="50" charset="-128"/>
                </a:rPr>
                <a:t>ユーザインタフェース設計</a:t>
              </a:r>
              <a:r>
                <a:rPr kumimoji="1" lang="en-US" altLang="ja-JP" sz="1400" b="1" dirty="0" smtClean="0">
                  <a:latin typeface="游ゴシック" panose="020B0400000000000000" pitchFamily="50" charset="-128"/>
                  <a:ea typeface="游ゴシック" panose="020B0400000000000000" pitchFamily="50" charset="-128"/>
                </a:rPr>
                <a:t>(UI)</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56" name="テキスト ボックス 55"/>
            <p:cNvSpPr txBox="1"/>
            <p:nvPr/>
          </p:nvSpPr>
          <p:spPr>
            <a:xfrm>
              <a:off x="3132000" y="4176000"/>
              <a:ext cx="1476000" cy="360000"/>
            </a:xfrm>
            <a:prstGeom prst="rect">
              <a:avLst/>
            </a:prstGeom>
            <a:noFill/>
          </p:spPr>
          <p:txBody>
            <a:bodyPr wrap="none" rtlCol="0" anchor="ctr">
              <a:noAutofit/>
            </a:bodyPr>
            <a:lstStyle/>
            <a:p>
              <a:pPr algn="r"/>
              <a:r>
                <a:rPr lang="ja-JP" altLang="en-US" sz="1400" b="1" dirty="0" smtClean="0">
                  <a:latin typeface="游ゴシック" panose="020B0400000000000000" pitchFamily="50" charset="-128"/>
                  <a:ea typeface="游ゴシック" panose="020B0400000000000000" pitchFamily="50" charset="-128"/>
                </a:rPr>
                <a:t>システム構造設計</a:t>
              </a:r>
              <a:r>
                <a:rPr lang="en-US" altLang="ja-JP" sz="1400" b="1" dirty="0" smtClean="0">
                  <a:latin typeface="游ゴシック" panose="020B0400000000000000" pitchFamily="50" charset="-128"/>
                  <a:ea typeface="游ゴシック" panose="020B0400000000000000" pitchFamily="50" charset="-128"/>
                </a:rPr>
                <a:t>(SS)</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57" name="テキスト ボックス 56"/>
            <p:cNvSpPr txBox="1"/>
            <p:nvPr/>
          </p:nvSpPr>
          <p:spPr>
            <a:xfrm>
              <a:off x="3708000" y="4752000"/>
              <a:ext cx="1476000" cy="360000"/>
            </a:xfrm>
            <a:prstGeom prst="rect">
              <a:avLst/>
            </a:prstGeom>
            <a:noFill/>
          </p:spPr>
          <p:txBody>
            <a:bodyPr wrap="none" rtlCol="0" anchor="ctr">
              <a:noAutofit/>
            </a:bodyPr>
            <a:lstStyle/>
            <a:p>
              <a:pPr algn="r"/>
              <a:r>
                <a:rPr lang="ja-JP" altLang="en-US" sz="1400" b="1" dirty="0" smtClean="0">
                  <a:latin typeface="游ゴシック" panose="020B0400000000000000" pitchFamily="50" charset="-128"/>
                  <a:ea typeface="游ゴシック" panose="020B0400000000000000" pitchFamily="50" charset="-128"/>
                </a:rPr>
                <a:t>プログラム構造設計</a:t>
              </a:r>
              <a:r>
                <a:rPr lang="en-US" altLang="ja-JP" sz="1400" b="1" dirty="0" smtClean="0">
                  <a:latin typeface="游ゴシック" panose="020B0400000000000000" pitchFamily="50" charset="-128"/>
                  <a:ea typeface="游ゴシック" panose="020B0400000000000000" pitchFamily="50" charset="-128"/>
                </a:rPr>
                <a:t>(PS)</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58" name="テキスト ボックス 57"/>
            <p:cNvSpPr txBox="1"/>
            <p:nvPr/>
          </p:nvSpPr>
          <p:spPr>
            <a:xfrm>
              <a:off x="5508000" y="4752000"/>
              <a:ext cx="1476000" cy="360000"/>
            </a:xfrm>
            <a:prstGeom prst="rect">
              <a:avLst/>
            </a:prstGeom>
            <a:noFill/>
          </p:spPr>
          <p:txBody>
            <a:bodyPr wrap="none" rtlCol="0" anchor="ctr">
              <a:noAutofit/>
            </a:bodyPr>
            <a:lstStyle/>
            <a:p>
              <a:r>
                <a:rPr lang="ja-JP" altLang="en-US" sz="1400" b="1" dirty="0" smtClean="0">
                  <a:latin typeface="游ゴシック" panose="020B0400000000000000" pitchFamily="50" charset="-128"/>
                  <a:ea typeface="游ゴシック" panose="020B0400000000000000" pitchFamily="50" charset="-128"/>
                </a:rPr>
                <a:t>プログラムテスト</a:t>
              </a:r>
              <a:r>
                <a:rPr lang="en-US" altLang="ja-JP" sz="1400" b="1" dirty="0" smtClean="0">
                  <a:latin typeface="游ゴシック" panose="020B0400000000000000" pitchFamily="50" charset="-128"/>
                  <a:ea typeface="游ゴシック" panose="020B0400000000000000" pitchFamily="50" charset="-128"/>
                </a:rPr>
                <a:t>(PT)</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59" name="テキスト ボックス 58"/>
            <p:cNvSpPr txBox="1"/>
            <p:nvPr/>
          </p:nvSpPr>
          <p:spPr>
            <a:xfrm>
              <a:off x="6084000" y="4176000"/>
              <a:ext cx="1476000" cy="360000"/>
            </a:xfrm>
            <a:prstGeom prst="rect">
              <a:avLst/>
            </a:prstGeom>
            <a:noFill/>
          </p:spPr>
          <p:txBody>
            <a:bodyPr wrap="none" rtlCol="0" anchor="ctr">
              <a:noAutofit/>
            </a:bodyPr>
            <a:lstStyle/>
            <a:p>
              <a:r>
                <a:rPr lang="ja-JP" altLang="en-US" sz="1400" b="1" dirty="0" smtClean="0">
                  <a:latin typeface="游ゴシック" panose="020B0400000000000000" pitchFamily="50" charset="-128"/>
                  <a:ea typeface="游ゴシック" panose="020B0400000000000000" pitchFamily="50" charset="-128"/>
                </a:rPr>
                <a:t>結合テスト</a:t>
              </a:r>
              <a:r>
                <a:rPr lang="en-US" altLang="ja-JP" sz="1400" b="1" dirty="0" smtClean="0">
                  <a:latin typeface="游ゴシック" panose="020B0400000000000000" pitchFamily="50" charset="-128"/>
                  <a:ea typeface="游ゴシック" panose="020B0400000000000000" pitchFamily="50" charset="-128"/>
                </a:rPr>
                <a:t>(IT)</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60" name="テキスト ボックス 59"/>
            <p:cNvSpPr txBox="1"/>
            <p:nvPr/>
          </p:nvSpPr>
          <p:spPr>
            <a:xfrm>
              <a:off x="6660000" y="3600001"/>
              <a:ext cx="1476000" cy="360000"/>
            </a:xfrm>
            <a:prstGeom prst="rect">
              <a:avLst/>
            </a:prstGeom>
            <a:noFill/>
          </p:spPr>
          <p:txBody>
            <a:bodyPr wrap="none" rtlCol="0" anchor="ctr">
              <a:noAutofit/>
            </a:bodyPr>
            <a:lstStyle/>
            <a:p>
              <a:r>
                <a:rPr lang="ja-JP" altLang="en-US" sz="1400" b="1" dirty="0" smtClean="0">
                  <a:latin typeface="游ゴシック" panose="020B0400000000000000" pitchFamily="50" charset="-128"/>
                  <a:ea typeface="游ゴシック" panose="020B0400000000000000" pitchFamily="50" charset="-128"/>
                </a:rPr>
                <a:t>システムテスト</a:t>
              </a:r>
              <a:r>
                <a:rPr lang="en-US" altLang="ja-JP" sz="1400" b="1" dirty="0" smtClean="0">
                  <a:latin typeface="游ゴシック" panose="020B0400000000000000" pitchFamily="50" charset="-128"/>
                  <a:ea typeface="游ゴシック" panose="020B0400000000000000" pitchFamily="50" charset="-128"/>
                </a:rPr>
                <a:t>(ST)</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61" name="テキスト ボックス 60"/>
            <p:cNvSpPr txBox="1"/>
            <p:nvPr/>
          </p:nvSpPr>
          <p:spPr>
            <a:xfrm>
              <a:off x="432000" y="2808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sz="1600" b="1" dirty="0" smtClean="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62" name="テキスト ボックス 61"/>
            <p:cNvSpPr txBox="1"/>
            <p:nvPr/>
          </p:nvSpPr>
          <p:spPr>
            <a:xfrm>
              <a:off x="432000" y="3384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sz="1600" b="1" dirty="0" smtClean="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63" name="テキスト ボックス 62"/>
            <p:cNvSpPr txBox="1"/>
            <p:nvPr/>
          </p:nvSpPr>
          <p:spPr>
            <a:xfrm>
              <a:off x="432000" y="3960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sz="1600" b="1" dirty="0" smtClean="0">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64" name="直線コネクタ 63"/>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65" name="直線コネクタ 64"/>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66" name="直線コネクタ 65"/>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67" name="テキスト ボックス 66"/>
            <p:cNvSpPr txBox="1"/>
            <p:nvPr/>
          </p:nvSpPr>
          <p:spPr>
            <a:xfrm>
              <a:off x="1944000" y="3024000"/>
              <a:ext cx="1476000" cy="360000"/>
            </a:xfrm>
            <a:prstGeom prst="rect">
              <a:avLst/>
            </a:prstGeom>
            <a:noFill/>
          </p:spPr>
          <p:txBody>
            <a:bodyPr wrap="none" rtlCol="0" anchor="ctr">
              <a:noAutofit/>
            </a:bodyPr>
            <a:lstStyle/>
            <a:p>
              <a:pPr algn="r"/>
              <a:r>
                <a:rPr kumimoji="1" lang="ja-JP" altLang="en-US" sz="1400" b="1" dirty="0" smtClean="0">
                  <a:latin typeface="游ゴシック" panose="020B0400000000000000" pitchFamily="50" charset="-128"/>
                  <a:ea typeface="游ゴシック" panose="020B0400000000000000" pitchFamily="50" charset="-128"/>
                </a:rPr>
                <a:t>システム方式設計</a:t>
              </a:r>
              <a:r>
                <a:rPr kumimoji="1" lang="en-US" altLang="ja-JP" sz="1400" b="1" dirty="0" smtClean="0">
                  <a:latin typeface="游ゴシック" panose="020B0400000000000000" pitchFamily="50" charset="-128"/>
                  <a:ea typeface="游ゴシック" panose="020B0400000000000000" pitchFamily="50" charset="-128"/>
                </a:rPr>
                <a:t>(SA)</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68" name="テキスト ボックス 67"/>
            <p:cNvSpPr txBox="1"/>
            <p:nvPr/>
          </p:nvSpPr>
          <p:spPr>
            <a:xfrm>
              <a:off x="7236000" y="3024000"/>
              <a:ext cx="1476000" cy="360000"/>
            </a:xfrm>
            <a:prstGeom prst="rect">
              <a:avLst/>
            </a:prstGeom>
            <a:noFill/>
          </p:spPr>
          <p:txBody>
            <a:bodyPr wrap="none" rtlCol="0" anchor="ctr">
              <a:noAutofit/>
            </a:bodyPr>
            <a:lstStyle/>
            <a:p>
              <a:r>
                <a:rPr lang="ja-JP" altLang="en-US" sz="1400" b="1" dirty="0" smtClean="0">
                  <a:latin typeface="游ゴシック" panose="020B0400000000000000" pitchFamily="50" charset="-128"/>
                  <a:ea typeface="游ゴシック" panose="020B0400000000000000" pitchFamily="50" charset="-128"/>
                </a:rPr>
                <a:t>運用テスト</a:t>
              </a:r>
              <a:r>
                <a:rPr lang="en-US" altLang="ja-JP" sz="1400" b="1" dirty="0" smtClean="0">
                  <a:latin typeface="游ゴシック" panose="020B0400000000000000" pitchFamily="50" charset="-128"/>
                  <a:ea typeface="游ゴシック" panose="020B0400000000000000" pitchFamily="50" charset="-128"/>
                </a:rPr>
                <a:t>(OT)</a:t>
              </a:r>
              <a:endParaRPr kumimoji="1" lang="ja-JP" altLang="en-US" sz="1400" b="1" dirty="0" smtClean="0">
                <a:latin typeface="游ゴシック" panose="020B0400000000000000" pitchFamily="50" charset="-128"/>
                <a:ea typeface="游ゴシック" panose="020B0400000000000000" pitchFamily="50" charset="-128"/>
              </a:endParaRPr>
            </a:p>
          </p:txBody>
        </p:sp>
        <p:sp>
          <p:nvSpPr>
            <p:cNvPr id="69" name="テキスト ボックス 68"/>
            <p:cNvSpPr txBox="1"/>
            <p:nvPr/>
          </p:nvSpPr>
          <p:spPr>
            <a:xfrm>
              <a:off x="4320000" y="5040000"/>
              <a:ext cx="1476000" cy="360000"/>
            </a:xfrm>
            <a:prstGeom prst="rect">
              <a:avLst/>
            </a:prstGeom>
            <a:noFill/>
          </p:spPr>
          <p:txBody>
            <a:bodyPr wrap="none" rtlCol="0" anchor="ctr">
              <a:noAutofit/>
            </a:bodyPr>
            <a:lstStyle/>
            <a:p>
              <a:r>
                <a:rPr lang="ja-JP" altLang="en-US" sz="1400" b="1" dirty="0" smtClean="0">
                  <a:latin typeface="游ゴシック" panose="020B0400000000000000" pitchFamily="50" charset="-128"/>
                  <a:ea typeface="游ゴシック" panose="020B0400000000000000" pitchFamily="50" charset="-128"/>
                </a:rPr>
                <a:t>プログラミング</a:t>
              </a:r>
              <a:r>
                <a:rPr lang="en-US" altLang="ja-JP" sz="1400" b="1" dirty="0" smtClean="0">
                  <a:latin typeface="游ゴシック" panose="020B0400000000000000" pitchFamily="50" charset="-128"/>
                  <a:ea typeface="游ゴシック" panose="020B0400000000000000" pitchFamily="50" charset="-128"/>
                </a:rPr>
                <a:t>(PG)</a:t>
              </a:r>
              <a:endParaRPr kumimoji="1" lang="ja-JP" altLang="en-US" sz="1400" b="1" dirty="0" smtClean="0">
                <a:latin typeface="游ゴシック" panose="020B0400000000000000" pitchFamily="50" charset="-128"/>
                <a:ea typeface="游ゴシック" panose="020B0400000000000000" pitchFamily="50" charset="-128"/>
              </a:endParaRPr>
            </a:p>
          </p:txBody>
        </p:sp>
        <p:cxnSp>
          <p:nvCxnSpPr>
            <p:cNvPr id="70" name="直線矢印コネクタ 69"/>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3" name="テキスト ボックス 72"/>
            <p:cNvSpPr txBox="1"/>
            <p:nvPr/>
          </p:nvSpPr>
          <p:spPr>
            <a:xfrm>
              <a:off x="4255078" y="2880000"/>
              <a:ext cx="2159566" cy="307777"/>
            </a:xfrm>
            <a:prstGeom prst="rect">
              <a:avLst/>
            </a:prstGeom>
            <a:noFill/>
          </p:spPr>
          <p:txBody>
            <a:bodyPr wrap="none" rtlCol="0">
              <a:spAutoFit/>
            </a:bodyPr>
            <a:lstStyle/>
            <a:p>
              <a:pPr algn="ctr"/>
              <a:r>
                <a:rPr kumimoji="1" lang="ja-JP" altLang="en-US" sz="1400" dirty="0" smtClean="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74" name="テキスト ボックス 73"/>
            <p:cNvSpPr txBox="1"/>
            <p:nvPr/>
          </p:nvSpPr>
          <p:spPr>
            <a:xfrm>
              <a:off x="4521724" y="3456000"/>
              <a:ext cx="1620957" cy="307777"/>
            </a:xfrm>
            <a:prstGeom prst="rect">
              <a:avLst/>
            </a:prstGeom>
            <a:noFill/>
          </p:spPr>
          <p:txBody>
            <a:bodyPr wrap="none" rtlCol="0">
              <a:spAutoFit/>
            </a:bodyPr>
            <a:lstStyle/>
            <a:p>
              <a:pPr algn="ctr"/>
              <a:r>
                <a:rPr kumimoji="1" lang="ja-JP" altLang="en-US" sz="1400" dirty="0" smtClean="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75" name="テキスト ボックス 74"/>
            <p:cNvSpPr txBox="1"/>
            <p:nvPr/>
          </p:nvSpPr>
          <p:spPr>
            <a:xfrm>
              <a:off x="4516406" y="4032000"/>
              <a:ext cx="1620957" cy="307777"/>
            </a:xfrm>
            <a:prstGeom prst="rect">
              <a:avLst/>
            </a:prstGeom>
            <a:noFill/>
          </p:spPr>
          <p:txBody>
            <a:bodyPr wrap="none" rtlCol="0">
              <a:spAutoFit/>
            </a:bodyPr>
            <a:lstStyle/>
            <a:p>
              <a:pPr algn="ctr"/>
              <a:r>
                <a:rPr lang="ja-JP" altLang="en-US" sz="1400" dirty="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400" dirty="0" smtClean="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76" name="テキスト ボックス 75"/>
            <p:cNvSpPr txBox="1"/>
            <p:nvPr/>
          </p:nvSpPr>
          <p:spPr>
            <a:xfrm>
              <a:off x="431999" y="4536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sz="1600" b="1" dirty="0" smtClean="0">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30603139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５．各工程の作業概要</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7</a:t>
            </a:fld>
            <a:endParaRPr kumimoji="1" lang="ja-JP" altLang="en-US"/>
          </a:p>
        </p:txBody>
      </p:sp>
      <p:graphicFrame>
        <p:nvGraphicFramePr>
          <p:cNvPr id="20" name="コンテンツ プレースホルダー 6"/>
          <p:cNvGraphicFramePr>
            <a:graphicFrameLocks/>
          </p:cNvGraphicFramePr>
          <p:nvPr>
            <p:extLst>
              <p:ext uri="{D42A27DB-BD31-4B8C-83A1-F6EECF244321}">
                <p14:modId xmlns:p14="http://schemas.microsoft.com/office/powerpoint/2010/main" val="1615797132"/>
              </p:ext>
            </p:extLst>
          </p:nvPr>
        </p:nvGraphicFramePr>
        <p:xfrm>
          <a:off x="144000" y="864005"/>
          <a:ext cx="8856000" cy="5508740"/>
        </p:xfrm>
        <a:graphic>
          <a:graphicData uri="http://schemas.openxmlformats.org/drawingml/2006/table">
            <a:tbl>
              <a:tblPr firstRow="1">
                <a:tableStyleId>{5C22544A-7EE6-4342-B048-85BDC9FD1C3A}</a:tableStyleId>
              </a:tblPr>
              <a:tblGrid>
                <a:gridCol w="2028832">
                  <a:extLst>
                    <a:ext uri="{9D8B030D-6E8A-4147-A177-3AD203B41FA5}">
                      <a16:colId xmlns:a16="http://schemas.microsoft.com/office/drawing/2014/main" val="20000"/>
                    </a:ext>
                  </a:extLst>
                </a:gridCol>
                <a:gridCol w="6827168">
                  <a:extLst>
                    <a:ext uri="{9D8B030D-6E8A-4147-A177-3AD203B41FA5}">
                      <a16:colId xmlns:a16="http://schemas.microsoft.com/office/drawing/2014/main" val="20001"/>
                    </a:ext>
                  </a:extLst>
                </a:gridCol>
              </a:tblGrid>
              <a:tr h="285719">
                <a:tc>
                  <a:txBody>
                    <a:bodyPr/>
                    <a:lstStyle/>
                    <a:p>
                      <a:r>
                        <a:rPr kumimoji="1" lang="ja-JP" altLang="en-US" sz="1400" dirty="0" smtClean="0">
                          <a:latin typeface="游ゴシック" panose="020B0400000000000000" pitchFamily="50" charset="-128"/>
                          <a:ea typeface="游ゴシック" panose="020B0400000000000000" pitchFamily="50" charset="-128"/>
                        </a:rPr>
                        <a:t>工程</a:t>
                      </a: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l"/>
                      <a:r>
                        <a:rPr kumimoji="1" lang="ja-JP" altLang="en-US" sz="1400" dirty="0" smtClean="0">
                          <a:latin typeface="游ゴシック" panose="020B0400000000000000" pitchFamily="50" charset="-128"/>
                          <a:ea typeface="游ゴシック" panose="020B0400000000000000" pitchFamily="50" charset="-128"/>
                        </a:rPr>
                        <a:t>作業概要</a:t>
                      </a: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593738">
                <a:tc>
                  <a:txBody>
                    <a:bodyPr/>
                    <a:lstStyle/>
                    <a:p>
                      <a:r>
                        <a:rPr kumimoji="1" lang="ja-JP" altLang="en-US" sz="1400" b="0" dirty="0" smtClean="0">
                          <a:latin typeface="游ゴシック" panose="020B0400000000000000" pitchFamily="50" charset="-128"/>
                          <a:ea typeface="游ゴシック" panose="020B0400000000000000" pitchFamily="50" charset="-128"/>
                        </a:rPr>
                        <a:t>システム方式設計 </a:t>
                      </a:r>
                      <a:r>
                        <a:rPr kumimoji="1" lang="en-US" altLang="ja-JP" sz="1400" b="0" dirty="0" smtClean="0">
                          <a:latin typeface="游ゴシック" panose="020B0400000000000000" pitchFamily="50" charset="-128"/>
                          <a:ea typeface="游ゴシック" panose="020B0400000000000000" pitchFamily="50" charset="-128"/>
                        </a:rPr>
                        <a:t>(SA)</a:t>
                      </a:r>
                      <a:r>
                        <a:rPr kumimoji="1" lang="ja-JP" altLang="en-US" sz="1400" b="0" dirty="0" smtClean="0">
                          <a:latin typeface="游ゴシック" panose="020B0400000000000000" pitchFamily="50" charset="-128"/>
                          <a:ea typeface="游ゴシック" panose="020B0400000000000000" pitchFamily="50" charset="-128"/>
                        </a:rPr>
                        <a:t> </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機能については現行踏襲を原則として要件を定義します。また、性能要件、運用要件などの非機能要件を定義します。</a:t>
                      </a: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593738">
                <a:tc>
                  <a:txBody>
                    <a:bodyPr/>
                    <a:lstStyle/>
                    <a:p>
                      <a:r>
                        <a:rPr kumimoji="1" lang="ja-JP" altLang="en-US" sz="1400" b="0" dirty="0" smtClean="0">
                          <a:latin typeface="游ゴシック" panose="020B0400000000000000" pitchFamily="50" charset="-128"/>
                          <a:ea typeface="游ゴシック" panose="020B0400000000000000" pitchFamily="50" charset="-128"/>
                        </a:rPr>
                        <a:t>ユーザインタフェース設計 </a:t>
                      </a:r>
                      <a:r>
                        <a:rPr kumimoji="1" lang="en-US" altLang="ja-JP" sz="1400" b="0" dirty="0" smtClean="0">
                          <a:latin typeface="游ゴシック" panose="020B0400000000000000" pitchFamily="50" charset="-128"/>
                          <a:ea typeface="游ゴシック" panose="020B0400000000000000" pitchFamily="50" charset="-128"/>
                        </a:rPr>
                        <a:t>(UI)</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プロセス構造およびデータ構造の検討を行い、システム内の処理の流れを整理しプロセス機能（画面・帳票・バッチ）を決定します。</a:t>
                      </a: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49258">
                <a:tc>
                  <a:txBody>
                    <a:bodyPr/>
                    <a:lstStyle/>
                    <a:p>
                      <a:r>
                        <a:rPr kumimoji="1" lang="ja-JP" altLang="en-US" sz="1400" b="0" dirty="0" smtClean="0">
                          <a:latin typeface="游ゴシック" panose="020B0400000000000000" pitchFamily="50" charset="-128"/>
                          <a:ea typeface="游ゴシック" panose="020B0400000000000000" pitchFamily="50" charset="-128"/>
                        </a:rPr>
                        <a:t>システム構造設計 </a:t>
                      </a:r>
                      <a:r>
                        <a:rPr kumimoji="1" lang="en-US" altLang="ja-JP" sz="1400" b="0" dirty="0" smtClean="0">
                          <a:latin typeface="游ゴシック" panose="020B0400000000000000" pitchFamily="50" charset="-128"/>
                          <a:ea typeface="游ゴシック" panose="020B0400000000000000" pitchFamily="50" charset="-128"/>
                        </a:rPr>
                        <a:t>(SS)</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プロセスを機能単位でプログラムに分割し、個々のプログラムの機能を定義します。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593738">
                <a:tc>
                  <a:txBody>
                    <a:bodyPr/>
                    <a:lstStyle/>
                    <a:p>
                      <a:r>
                        <a:rPr kumimoji="1" lang="ja-JP" altLang="en-US" sz="1400" b="0" dirty="0" smtClean="0">
                          <a:latin typeface="游ゴシック" panose="020B0400000000000000" pitchFamily="50" charset="-128"/>
                          <a:ea typeface="游ゴシック" panose="020B0400000000000000" pitchFamily="50" charset="-128"/>
                        </a:rPr>
                        <a:t>プログラミング </a:t>
                      </a:r>
                      <a:r>
                        <a:rPr kumimoji="1" lang="en-US" altLang="ja-JP" sz="1400" b="0" dirty="0" smtClean="0">
                          <a:latin typeface="游ゴシック" panose="020B0400000000000000" pitchFamily="50" charset="-128"/>
                          <a:ea typeface="游ゴシック" panose="020B0400000000000000" pitchFamily="50" charset="-128"/>
                        </a:rPr>
                        <a:t>(PS/PG/PT)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kumimoji="1" lang="ja-JP" altLang="en-US" sz="1400" dirty="0" smtClean="0">
                          <a:latin typeface="游ゴシック" panose="020B0400000000000000" pitchFamily="50" charset="-128"/>
                          <a:ea typeface="游ゴシック" panose="020B0400000000000000" pitchFamily="50" charset="-128"/>
                        </a:rPr>
                        <a:t>プログラミングを実施します。また、実装したプログラムが設計通りかを検証します。プログラム設計</a:t>
                      </a:r>
                      <a:r>
                        <a:rPr kumimoji="1" lang="en-US" altLang="ja-JP" sz="1400" dirty="0" smtClean="0">
                          <a:latin typeface="游ゴシック" panose="020B0400000000000000" pitchFamily="50" charset="-128"/>
                          <a:ea typeface="游ゴシック" panose="020B0400000000000000" pitchFamily="50" charset="-128"/>
                        </a:rPr>
                        <a:t>(PS)</a:t>
                      </a:r>
                      <a:r>
                        <a:rPr kumimoji="1" lang="ja-JP" altLang="en-US" sz="1400" dirty="0" smtClean="0">
                          <a:latin typeface="游ゴシック" panose="020B0400000000000000" pitchFamily="50" charset="-128"/>
                          <a:ea typeface="游ゴシック" panose="020B0400000000000000" pitchFamily="50" charset="-128"/>
                        </a:rPr>
                        <a:t>としてのドキュメント作成は実施いたしません。</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49258">
                <a:tc>
                  <a:txBody>
                    <a:bodyPr/>
                    <a:lstStyle/>
                    <a:p>
                      <a:r>
                        <a:rPr kumimoji="1" lang="ja-JP" altLang="en-US" sz="1400" b="0" dirty="0" smtClean="0">
                          <a:latin typeface="游ゴシック" panose="020B0400000000000000" pitchFamily="50" charset="-128"/>
                          <a:ea typeface="游ゴシック" panose="020B0400000000000000" pitchFamily="50" charset="-128"/>
                        </a:rPr>
                        <a:t>結合テスト </a:t>
                      </a:r>
                      <a:r>
                        <a:rPr kumimoji="1" lang="en-US" altLang="ja-JP" sz="1400" b="0" dirty="0" smtClean="0">
                          <a:latin typeface="游ゴシック" panose="020B0400000000000000" pitchFamily="50" charset="-128"/>
                          <a:ea typeface="游ゴシック" panose="020B0400000000000000" pitchFamily="50" charset="-128"/>
                        </a:rPr>
                        <a:t>(IT)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弊社内の環境にて、結合テストを実施し、品質を検証します。</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593738">
                <a:tc>
                  <a:txBody>
                    <a:bodyPr/>
                    <a:lstStyle/>
                    <a:p>
                      <a:r>
                        <a:rPr kumimoji="1" lang="ja-JP" altLang="en-US" sz="1400" b="0" dirty="0" smtClean="0">
                          <a:latin typeface="游ゴシック" panose="020B0400000000000000" pitchFamily="50" charset="-128"/>
                          <a:ea typeface="游ゴシック" panose="020B0400000000000000" pitchFamily="50" charset="-128"/>
                        </a:rPr>
                        <a:t>システムテスト </a:t>
                      </a:r>
                      <a:r>
                        <a:rPr kumimoji="1" lang="en-US" altLang="ja-JP" sz="1400" b="0" dirty="0" smtClean="0">
                          <a:latin typeface="游ゴシック" panose="020B0400000000000000" pitchFamily="50" charset="-128"/>
                          <a:ea typeface="游ゴシック" panose="020B0400000000000000" pitchFamily="50" charset="-128"/>
                        </a:rPr>
                        <a:t>(ST)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新本番環境にて、システムテストを実施し、機能、性能、信頼性、セキュリティ等の要件を充足するかを検証します。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593738">
                <a:tc>
                  <a:txBody>
                    <a:bodyPr/>
                    <a:lstStyle/>
                    <a:p>
                      <a:r>
                        <a:rPr kumimoji="1" lang="ja-JP" altLang="en-US" sz="1400" b="0" dirty="0" smtClean="0">
                          <a:latin typeface="游ゴシック" panose="020B0400000000000000" pitchFamily="50" charset="-128"/>
                          <a:ea typeface="游ゴシック" panose="020B0400000000000000" pitchFamily="50" charset="-128"/>
                        </a:rPr>
                        <a:t>運用テスト </a:t>
                      </a:r>
                      <a:r>
                        <a:rPr kumimoji="1" lang="en-US" altLang="ja-JP" sz="1400" b="0" dirty="0" smtClean="0">
                          <a:latin typeface="游ゴシック" panose="020B0400000000000000" pitchFamily="50" charset="-128"/>
                          <a:ea typeface="游ゴシック" panose="020B0400000000000000" pitchFamily="50" charset="-128"/>
                        </a:rPr>
                        <a:t>(OT)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運用テスト環境の整備、問合せ対応等を実施します。運用テストの作業は貴社にて実施をお願いします。運用テスト環境は、貴社の新本番環境を想定します。</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5937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smtClean="0">
                          <a:latin typeface="游ゴシック" panose="020B0400000000000000" pitchFamily="50" charset="-128"/>
                          <a:ea typeface="游ゴシック" panose="020B0400000000000000" pitchFamily="50" charset="-128"/>
                        </a:rPr>
                        <a:t>本番移行</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移行方式設計を実施し移行方式設計書を作成します。移行のリハーサルを実施し、手順に問題ないことを確認した上で、本番移行を実施します。</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39055325"/>
                  </a:ext>
                </a:extLst>
              </a:tr>
              <a:tr h="3492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smtClean="0">
                          <a:latin typeface="游ゴシック" panose="020B0400000000000000" pitchFamily="50" charset="-128"/>
                          <a:ea typeface="游ゴシック" panose="020B0400000000000000" pitchFamily="50" charset="-128"/>
                        </a:rPr>
                        <a:t>初期流動</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切替後の初期流動期間中の問合せ対応等を実施します。</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8"/>
                  </a:ext>
                </a:extLst>
              </a:tr>
              <a:tr h="5937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smtClean="0">
                          <a:latin typeface="游ゴシック" panose="020B0400000000000000" pitchFamily="50" charset="-128"/>
                          <a:ea typeface="游ゴシック" panose="020B0400000000000000" pitchFamily="50" charset="-128"/>
                        </a:rPr>
                        <a:t>プロジェクト管理</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進捗管理、課題管理、要員管理等を実施します。定例会議にてプロジェクト状況を報告します。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1090813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６</a:t>
            </a:r>
            <a:r>
              <a:rPr lang="ja-JP" altLang="en-US" dirty="0" smtClean="0"/>
              <a:t>．システム再構築方針</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8</a:t>
            </a:fld>
            <a:endParaRPr kumimoji="1" lang="ja-JP" altLang="en-US"/>
          </a:p>
        </p:txBody>
      </p:sp>
      <p:sp>
        <p:nvSpPr>
          <p:cNvPr id="5" name="コンテンツ プレースホルダー 3"/>
          <p:cNvSpPr txBox="1">
            <a:spLocks/>
          </p:cNvSpPr>
          <p:nvPr/>
        </p:nvSpPr>
        <p:spPr>
          <a:xfrm>
            <a:off x="319656" y="1032182"/>
            <a:ext cx="8500343" cy="884650"/>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marL="0" indent="0" algn="l" rtl="0" eaLnBrk="0" fontAlgn="base" hangingPunct="0">
              <a:spcBef>
                <a:spcPct val="0"/>
              </a:spcBef>
              <a:spcAft>
                <a:spcPct val="0"/>
              </a:spcAft>
              <a:buClr>
                <a:schemeClr val="folHlink"/>
              </a:buClr>
              <a:buSzPct val="50000"/>
              <a:buFont typeface="Wingdings" pitchFamily="2" charset="2"/>
              <a:buNone/>
              <a:defRPr kumimoji="1" lang="ja-JP" altLang="en-US" sz="1600" b="0" dirty="0" smtClean="0">
                <a:solidFill>
                  <a:schemeClr val="tx1"/>
                </a:solidFill>
                <a:effectLst/>
                <a:latin typeface="HGP創英角ｺﾞｼｯｸUB" pitchFamily="50" charset="-128"/>
                <a:ea typeface="HGP創英角ｺﾞｼｯｸUB" pitchFamily="50" charset="-128"/>
                <a:cs typeface="+mj-cs"/>
              </a:defRPr>
            </a:lvl1pPr>
            <a:lvl2pPr marL="740559" indent="-283856" algn="l" rtl="0" eaLnBrk="0" fontAlgn="base" hangingPunct="0">
              <a:spcBef>
                <a:spcPct val="20000"/>
              </a:spcBef>
              <a:spcAft>
                <a:spcPct val="0"/>
              </a:spcAft>
              <a:buClr>
                <a:schemeClr val="accent1"/>
              </a:buClr>
              <a:buFont typeface="Wingdings" pitchFamily="2" charset="2"/>
              <a:buChar char="Ø"/>
              <a:defRPr kumimoji="1" sz="2400" b="1">
                <a:solidFill>
                  <a:schemeClr val="tx1"/>
                </a:solidFill>
                <a:effectLst>
                  <a:outerShdw blurRad="38100" dist="38100" dir="2700000" algn="tl">
                    <a:srgbClr val="C0C0C0"/>
                  </a:outerShdw>
                </a:effectLst>
                <a:latin typeface="+mn-lt"/>
                <a:ea typeface="+mn-ea"/>
              </a:defRPr>
            </a:lvl2pPr>
            <a:lvl3pPr marL="1140178" indent="-226767" algn="l" rtl="0" eaLnBrk="0" fontAlgn="base" hangingPunct="0">
              <a:spcBef>
                <a:spcPct val="20000"/>
              </a:spcBef>
              <a:spcAft>
                <a:spcPct val="0"/>
              </a:spcAft>
              <a:buClr>
                <a:srgbClr val="FF0000"/>
              </a:buClr>
              <a:buSzPct val="60000"/>
              <a:buFont typeface="Wingdings" pitchFamily="2" charset="2"/>
              <a:buChar char="ü"/>
              <a:defRPr kumimoji="1" sz="2000" b="1">
                <a:solidFill>
                  <a:schemeClr val="tx1"/>
                </a:solidFill>
                <a:effectLst>
                  <a:outerShdw blurRad="38100" dist="38100" dir="2700000" algn="tl">
                    <a:srgbClr val="C0C0C0"/>
                  </a:outerShdw>
                </a:effectLst>
                <a:latin typeface="+mn-lt"/>
                <a:ea typeface="+mn-ea"/>
              </a:defRPr>
            </a:lvl3pPr>
            <a:lvl4pPr marL="1558827" indent="-226767" algn="l" rtl="0" eaLnBrk="0" fontAlgn="base" hangingPunct="0">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4pPr>
            <a:lvl5pPr marL="1977472" indent="-226767" algn="l" rtl="0" eaLnBrk="0" fontAlgn="base" hangingPunct="0">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5pPr>
            <a:lvl6pPr marL="2434594" indent="-228244" algn="l" rtl="0" eaLnBrk="1" fontAlgn="base" hangingPunct="1">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6pPr>
            <a:lvl7pPr marL="2891081" indent="-228244" algn="l" rtl="0" eaLnBrk="1" fontAlgn="base" hangingPunct="1">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7pPr>
            <a:lvl8pPr marL="3347567" indent="-228244" algn="l" rtl="0" eaLnBrk="1" fontAlgn="base" hangingPunct="1">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8pPr>
            <a:lvl9pPr marL="3804052" indent="-228244" algn="l" rtl="0" eaLnBrk="1" fontAlgn="base" hangingPunct="1">
              <a:spcBef>
                <a:spcPct val="20000"/>
              </a:spcBef>
              <a:spcAft>
                <a:spcPct val="0"/>
              </a:spcAft>
              <a:buChar char="•"/>
              <a:defRPr kumimoji="1" sz="2000" b="1">
                <a:solidFill>
                  <a:schemeClr val="tx1"/>
                </a:solidFill>
                <a:effectLst>
                  <a:outerShdw blurRad="38100" dist="38100" dir="2700000" algn="tl">
                    <a:srgbClr val="C0C0C0"/>
                  </a:outerShdw>
                </a:effectLst>
                <a:latin typeface="+mn-lt"/>
                <a:ea typeface="+mn-ea"/>
              </a:defRPr>
            </a:lvl9pPr>
          </a:lstStyle>
          <a:p>
            <a:pPr eaLnBrk="1">
              <a:lnSpc>
                <a:spcPct val="95000"/>
              </a:lnSpc>
            </a:pPr>
            <a:r>
              <a:rPr lang="ja-JP" altLang="en-US" sz="1400" dirty="0" smtClean="0">
                <a:latin typeface="游ゴシック" panose="020B0400000000000000" pitchFamily="50" charset="-128"/>
                <a:ea typeface="游ゴシック" panose="020B0400000000000000" pitchFamily="50" charset="-128"/>
                <a:cs typeface="Meiryo UI" panose="020B0604030504040204" pitchFamily="50" charset="-128"/>
              </a:rPr>
              <a:t>本プロジェクトで</a:t>
            </a:r>
            <a:r>
              <a:rPr lang="ja-JP" altLang="en-US" sz="1400" dirty="0">
                <a:latin typeface="游ゴシック" panose="020B0400000000000000" pitchFamily="50" charset="-128"/>
                <a:ea typeface="游ゴシック" panose="020B0400000000000000" pitchFamily="50" charset="-128"/>
                <a:cs typeface="Meiryo UI" panose="020B0604030504040204" pitchFamily="50" charset="-128"/>
              </a:rPr>
              <a:t>は</a:t>
            </a:r>
            <a:r>
              <a:rPr lang="ja-JP" altLang="en-US" sz="1400" dirty="0" smtClean="0">
                <a:latin typeface="游ゴシック" panose="020B0400000000000000" pitchFamily="50" charset="-128"/>
                <a:ea typeface="游ゴシック" panose="020B0400000000000000" pitchFamily="50" charset="-128"/>
              </a:rPr>
              <a:t>原則として現行踏襲を基本とします。</a:t>
            </a:r>
            <a:endParaRPr lang="en-US" altLang="ja-JP" sz="1400" dirty="0" smtClean="0">
              <a:latin typeface="游ゴシック" panose="020B0400000000000000" pitchFamily="50" charset="-128"/>
              <a:ea typeface="游ゴシック" panose="020B0400000000000000" pitchFamily="50" charset="-128"/>
            </a:endParaRPr>
          </a:p>
          <a:p>
            <a:pPr eaLnBrk="1">
              <a:lnSpc>
                <a:spcPct val="95000"/>
              </a:lnSpc>
            </a:pPr>
            <a:r>
              <a:rPr lang="ja-JP" altLang="en-US" sz="1400" dirty="0" smtClean="0">
                <a:latin typeface="游ゴシック" panose="020B0400000000000000" pitchFamily="50" charset="-128"/>
                <a:ea typeface="游ゴシック" panose="020B0400000000000000" pitchFamily="50" charset="-128"/>
              </a:rPr>
              <a:t>ただし、システム方式設計工程においてヒアリングさせていただき、必要に応じて機能追加・改修・廃止を検討致します。</a:t>
            </a:r>
            <a:endParaRPr lang="en-US" altLang="ja-JP" sz="1400" dirty="0" smtClean="0">
              <a:latin typeface="游ゴシック" panose="020B0400000000000000" pitchFamily="50" charset="-128"/>
              <a:ea typeface="游ゴシック" panose="020B0400000000000000" pitchFamily="50" charset="-128"/>
            </a:endParaRPr>
          </a:p>
          <a:p>
            <a:pPr eaLnBrk="1">
              <a:lnSpc>
                <a:spcPct val="95000"/>
              </a:lnSpc>
            </a:pPr>
            <a:r>
              <a:rPr lang="ja-JP" altLang="en-US" sz="1400" dirty="0" smtClean="0">
                <a:latin typeface="游ゴシック" panose="020B0400000000000000" pitchFamily="50" charset="-128"/>
                <a:ea typeface="游ゴシック" panose="020B0400000000000000" pitchFamily="50" charset="-128"/>
              </a:rPr>
              <a:t>また、システム構成については、共通化や同一機能の統廃合を推進し、システム最適化を図ります。</a:t>
            </a:r>
            <a:endParaRPr lang="en-US" altLang="ja-JP" sz="1400" dirty="0">
              <a:latin typeface="游ゴシック" panose="020B0400000000000000" pitchFamily="50" charset="-128"/>
              <a:ea typeface="游ゴシック" panose="020B0400000000000000" pitchFamily="50" charset="-128"/>
            </a:endParaRPr>
          </a:p>
        </p:txBody>
      </p:sp>
      <p:sp>
        <p:nvSpPr>
          <p:cNvPr id="6" name="正方形/長方形 5"/>
          <p:cNvSpPr/>
          <p:nvPr/>
        </p:nvSpPr>
        <p:spPr bwMode="auto">
          <a:xfrm>
            <a:off x="3455160" y="2650236"/>
            <a:ext cx="2233681" cy="3240360"/>
          </a:xfrm>
          <a:prstGeom prst="rect">
            <a:avLst/>
          </a:prstGeom>
          <a:noFill/>
          <a:ln w="19050" cap="flat" cmpd="sng" algn="ctr">
            <a:solidFill>
              <a:schemeClr val="accent6"/>
            </a:solidFill>
            <a:prstDash val="sysDot"/>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algn="ctr"/>
            <a:r>
              <a:rPr kumimoji="1" lang="en-US" altLang="ja-JP" sz="1400" dirty="0">
                <a:ln w="3175">
                  <a:noFill/>
                </a:ln>
                <a:latin typeface="游ゴシック" panose="020B0400000000000000" pitchFamily="50" charset="-128"/>
                <a:ea typeface="游ゴシック" panose="020B0400000000000000" pitchFamily="50" charset="-128"/>
              </a:rPr>
              <a:t>【</a:t>
            </a:r>
            <a:r>
              <a:rPr kumimoji="1" lang="ja-JP" altLang="en-US" sz="1400" dirty="0">
                <a:ln w="3175">
                  <a:noFill/>
                </a:ln>
                <a:latin typeface="游ゴシック" panose="020B0400000000000000" pitchFamily="50" charset="-128"/>
                <a:ea typeface="游ゴシック" panose="020B0400000000000000" pitchFamily="50" charset="-128"/>
              </a:rPr>
              <a:t>再開発</a:t>
            </a:r>
            <a:r>
              <a:rPr kumimoji="1" lang="en-US" altLang="ja-JP" sz="1400" dirty="0" smtClean="0">
                <a:ln w="3175">
                  <a:noFill/>
                </a:ln>
                <a:latin typeface="游ゴシック" panose="020B0400000000000000" pitchFamily="50" charset="-128"/>
                <a:ea typeface="游ゴシック" panose="020B0400000000000000" pitchFamily="50" charset="-128"/>
              </a:rPr>
              <a:t>】</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7" name="テキスト ボックス 6"/>
          <p:cNvSpPr txBox="1"/>
          <p:nvPr/>
        </p:nvSpPr>
        <p:spPr>
          <a:xfrm>
            <a:off x="247650" y="2162837"/>
            <a:ext cx="3312368" cy="307777"/>
          </a:xfrm>
          <a:prstGeom prst="rect">
            <a:avLst/>
          </a:prstGeom>
          <a:noFill/>
        </p:spPr>
        <p:txBody>
          <a:bodyPr wrap="square" rtlCol="0" anchor="ctr">
            <a:spAutoFit/>
          </a:bodyPr>
          <a:lstStyle/>
          <a:p>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システム再構築イメージ</a:t>
            </a:r>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sp>
        <p:nvSpPr>
          <p:cNvPr id="8" name="正方形/長方形 7"/>
          <p:cNvSpPr/>
          <p:nvPr/>
        </p:nvSpPr>
        <p:spPr bwMode="auto">
          <a:xfrm>
            <a:off x="6128578" y="2650236"/>
            <a:ext cx="2692800" cy="3240360"/>
          </a:xfrm>
          <a:prstGeom prst="rect">
            <a:avLst/>
          </a:prstGeom>
          <a:solidFill>
            <a:schemeClr val="accent3">
              <a:lumMod val="20000"/>
              <a:lumOff val="80000"/>
            </a:schemeClr>
          </a:solidFill>
          <a:ln w="19050" cap="flat" cmpd="sng" algn="ctr">
            <a:solidFill>
              <a:schemeClr val="accent3"/>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lvl="0" algn="ctr"/>
            <a:r>
              <a:rPr lang="ja-JP" altLang="en-US" sz="1400" dirty="0" smtClean="0">
                <a:ln w="3175">
                  <a:noFill/>
                </a:ln>
                <a:latin typeface="游ゴシック" panose="020B0400000000000000" pitchFamily="50" charset="-128"/>
                <a:ea typeface="游ゴシック" panose="020B0400000000000000" pitchFamily="50" charset="-128"/>
              </a:rPr>
              <a:t>新システム</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9" name="正方形/長方形 8"/>
          <p:cNvSpPr/>
          <p:nvPr/>
        </p:nvSpPr>
        <p:spPr bwMode="auto">
          <a:xfrm>
            <a:off x="366906" y="2650236"/>
            <a:ext cx="2692926" cy="2520280"/>
          </a:xfrm>
          <a:prstGeom prst="rect">
            <a:avLst/>
          </a:prstGeom>
          <a:solidFill>
            <a:schemeClr val="accent3">
              <a:lumMod val="20000"/>
              <a:lumOff val="80000"/>
            </a:schemeClr>
          </a:solidFill>
          <a:ln w="19050" cap="flat" cmpd="sng" algn="ctr">
            <a:solidFill>
              <a:schemeClr val="accent3"/>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lvl="0" algn="ctr"/>
            <a:r>
              <a:rPr lang="ja-JP" altLang="en-US" sz="1400" dirty="0" smtClean="0">
                <a:ln w="3175">
                  <a:noFill/>
                </a:ln>
                <a:latin typeface="游ゴシック" panose="020B0400000000000000" pitchFamily="50" charset="-128"/>
                <a:ea typeface="游ゴシック" panose="020B0400000000000000" pitchFamily="50" charset="-128"/>
              </a:rPr>
              <a:t>現行システム</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0" name="正方形/長方形 9"/>
          <p:cNvSpPr/>
          <p:nvPr/>
        </p:nvSpPr>
        <p:spPr bwMode="auto">
          <a:xfrm>
            <a:off x="438911" y="4666458"/>
            <a:ext cx="2548913" cy="360042"/>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未使用機能</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1" name="正方形/長方形 10"/>
          <p:cNvSpPr/>
          <p:nvPr/>
        </p:nvSpPr>
        <p:spPr bwMode="auto">
          <a:xfrm>
            <a:off x="438912" y="3966711"/>
            <a:ext cx="2548912" cy="700844"/>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現行業務に沿わない機能</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2" name="正方形/長方形 11"/>
          <p:cNvSpPr/>
          <p:nvPr/>
        </p:nvSpPr>
        <p:spPr bwMode="auto">
          <a:xfrm>
            <a:off x="6200589" y="4326752"/>
            <a:ext cx="2548800" cy="360044"/>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solidFill>
                  <a:schemeClr val="accent2"/>
                </a:solidFill>
                <a:latin typeface="游ゴシック" panose="020B0400000000000000" pitchFamily="50" charset="-128"/>
                <a:ea typeface="游ゴシック" panose="020B0400000000000000" pitchFamily="50" charset="-128"/>
              </a:rPr>
              <a:t>新規機能</a:t>
            </a:r>
            <a:endParaRPr kumimoji="1" lang="ja-JP" altLang="en-US" sz="1400" dirty="0">
              <a:ln w="3175">
                <a:noFill/>
              </a:ln>
              <a:solidFill>
                <a:schemeClr val="accent2"/>
              </a:solidFill>
              <a:latin typeface="游ゴシック" panose="020B0400000000000000" pitchFamily="50" charset="-128"/>
              <a:ea typeface="游ゴシック" panose="020B0400000000000000" pitchFamily="50" charset="-128"/>
            </a:endParaRPr>
          </a:p>
        </p:txBody>
      </p:sp>
      <p:sp>
        <p:nvSpPr>
          <p:cNvPr id="13" name="正方形/長方形 12"/>
          <p:cNvSpPr/>
          <p:nvPr/>
        </p:nvSpPr>
        <p:spPr bwMode="auto">
          <a:xfrm>
            <a:off x="3603798" y="3966710"/>
            <a:ext cx="1936404" cy="699747"/>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機能改修</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4" name="正方形/長方形 13"/>
          <p:cNvSpPr/>
          <p:nvPr/>
        </p:nvSpPr>
        <p:spPr bwMode="auto">
          <a:xfrm>
            <a:off x="6200588" y="3717033"/>
            <a:ext cx="2548800" cy="613138"/>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solidFill>
                  <a:schemeClr val="accent2"/>
                </a:solidFill>
                <a:latin typeface="游ゴシック" panose="020B0400000000000000" pitchFamily="50" charset="-128"/>
                <a:ea typeface="游ゴシック" panose="020B0400000000000000" pitchFamily="50" charset="-128"/>
              </a:rPr>
              <a:t>改修機能</a:t>
            </a:r>
            <a:endParaRPr kumimoji="1" lang="ja-JP" altLang="en-US" sz="1400" dirty="0">
              <a:ln w="3175">
                <a:noFill/>
              </a:ln>
              <a:solidFill>
                <a:schemeClr val="accent2"/>
              </a:solidFill>
              <a:latin typeface="游ゴシック" panose="020B0400000000000000" pitchFamily="50" charset="-128"/>
              <a:ea typeface="游ゴシック" panose="020B0400000000000000" pitchFamily="50" charset="-128"/>
            </a:endParaRPr>
          </a:p>
        </p:txBody>
      </p:sp>
      <p:sp>
        <p:nvSpPr>
          <p:cNvPr id="15" name="正方形/長方形 14"/>
          <p:cNvSpPr/>
          <p:nvPr/>
        </p:nvSpPr>
        <p:spPr bwMode="auto">
          <a:xfrm>
            <a:off x="3603798" y="3010276"/>
            <a:ext cx="1936404" cy="547973"/>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現行仕様に</a:t>
            </a:r>
            <a:endParaRPr kumimoji="1" lang="en-US" altLang="ja-JP" sz="1400" dirty="0" smtClean="0">
              <a:ln w="3175">
                <a:noFill/>
              </a:ln>
              <a:latin typeface="游ゴシック" panose="020B0400000000000000" pitchFamily="50" charset="-128"/>
              <a:ea typeface="游ゴシック" panose="020B0400000000000000" pitchFamily="50" charset="-128"/>
            </a:endParaRPr>
          </a:p>
          <a:p>
            <a:pPr lvl="0" algn="ctr"/>
            <a:r>
              <a:rPr kumimoji="1" lang="ja-JP" altLang="en-US" sz="1400" dirty="0" smtClean="0">
                <a:ln w="3175">
                  <a:noFill/>
                </a:ln>
                <a:latin typeface="游ゴシック" panose="020B0400000000000000" pitchFamily="50" charset="-128"/>
                <a:ea typeface="游ゴシック" panose="020B0400000000000000" pitchFamily="50" charset="-128"/>
              </a:rPr>
              <a:t>基づく開発</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6" name="正方形/長方形 15"/>
          <p:cNvSpPr/>
          <p:nvPr/>
        </p:nvSpPr>
        <p:spPr bwMode="auto">
          <a:xfrm>
            <a:off x="6200587" y="3010277"/>
            <a:ext cx="2548800" cy="706756"/>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現行仕様機能</a:t>
            </a:r>
            <a:endParaRPr kumimoji="1" lang="en-US" altLang="ja-JP" sz="1400" dirty="0" smtClean="0">
              <a:ln w="3175">
                <a:noFill/>
              </a:ln>
              <a:latin typeface="游ゴシック" panose="020B0400000000000000" pitchFamily="50" charset="-128"/>
              <a:ea typeface="游ゴシック" panose="020B0400000000000000" pitchFamily="50" charset="-128"/>
            </a:endParaRPr>
          </a:p>
          <a:p>
            <a:pPr lvl="0" algn="ctr"/>
            <a:r>
              <a:rPr kumimoji="1" lang="ja-JP" altLang="en-US" sz="1200" dirty="0" smtClean="0">
                <a:ln w="3175">
                  <a:noFill/>
                </a:ln>
                <a:latin typeface="游ゴシック" panose="020B0400000000000000" pitchFamily="50" charset="-128"/>
                <a:ea typeface="游ゴシック" panose="020B0400000000000000" pitchFamily="50" charset="-128"/>
              </a:rPr>
              <a:t>（共通化・統廃合による最適化）</a:t>
            </a:r>
            <a:endParaRPr kumimoji="1" lang="ja-JP" altLang="en-US" sz="1200" dirty="0">
              <a:ln w="3175">
                <a:noFill/>
              </a:ln>
              <a:latin typeface="游ゴシック" panose="020B0400000000000000" pitchFamily="50" charset="-128"/>
              <a:ea typeface="游ゴシック" panose="020B0400000000000000" pitchFamily="50" charset="-128"/>
            </a:endParaRPr>
          </a:p>
        </p:txBody>
      </p:sp>
      <p:sp>
        <p:nvSpPr>
          <p:cNvPr id="17" name="正方形/長方形 16"/>
          <p:cNvSpPr/>
          <p:nvPr/>
        </p:nvSpPr>
        <p:spPr bwMode="auto">
          <a:xfrm>
            <a:off x="438913" y="3010275"/>
            <a:ext cx="2548912" cy="956434"/>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現行仕様から変更のない機能</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18" name="右矢印 17"/>
          <p:cNvSpPr/>
          <p:nvPr/>
        </p:nvSpPr>
        <p:spPr bwMode="auto">
          <a:xfrm>
            <a:off x="2997417" y="3176250"/>
            <a:ext cx="576064" cy="216024"/>
          </a:xfrm>
          <a:prstGeom prst="rightArrow">
            <a:avLst/>
          </a:prstGeom>
          <a:solidFill>
            <a:schemeClr val="accent1"/>
          </a:solidFill>
          <a:ln w="9525" cap="flat" cmpd="sng" algn="ctr">
            <a:solidFill>
              <a:srgbClr val="FF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400" b="0" i="0" u="none" strike="noStrike" cap="none" normalizeH="0" baseline="0" smtClean="0">
              <a:solidFill>
                <a:schemeClr val="tx1"/>
              </a:solidFill>
              <a:effectLst/>
              <a:latin typeface="游ゴシック" panose="020B0400000000000000" pitchFamily="50" charset="-128"/>
              <a:ea typeface="游ゴシック" panose="020B0400000000000000" pitchFamily="50" charset="-128"/>
            </a:endParaRPr>
          </a:p>
        </p:txBody>
      </p:sp>
      <p:sp>
        <p:nvSpPr>
          <p:cNvPr id="19" name="右矢印 18"/>
          <p:cNvSpPr/>
          <p:nvPr/>
        </p:nvSpPr>
        <p:spPr bwMode="auto">
          <a:xfrm>
            <a:off x="2997417" y="4213853"/>
            <a:ext cx="576064" cy="216024"/>
          </a:xfrm>
          <a:prstGeom prst="rightArrow">
            <a:avLst/>
          </a:prstGeom>
          <a:solidFill>
            <a:schemeClr val="accent1"/>
          </a:solidFill>
          <a:ln w="9525" cap="flat" cmpd="sng" algn="ctr">
            <a:solidFill>
              <a:srgbClr val="FF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400" b="0" i="0" u="none" strike="noStrike" cap="none" normalizeH="0" baseline="0" smtClean="0">
              <a:solidFill>
                <a:schemeClr val="tx1"/>
              </a:solidFill>
              <a:effectLst/>
              <a:latin typeface="游ゴシック" panose="020B0400000000000000" pitchFamily="50" charset="-128"/>
              <a:ea typeface="游ゴシック" panose="020B0400000000000000" pitchFamily="50" charset="-128"/>
            </a:endParaRPr>
          </a:p>
        </p:txBody>
      </p:sp>
      <p:sp>
        <p:nvSpPr>
          <p:cNvPr id="23" name="正方形/長方形 22"/>
          <p:cNvSpPr/>
          <p:nvPr/>
        </p:nvSpPr>
        <p:spPr bwMode="auto">
          <a:xfrm>
            <a:off x="3603799" y="4666458"/>
            <a:ext cx="1936403" cy="360042"/>
          </a:xfrm>
          <a:prstGeom prst="rect">
            <a:avLst/>
          </a:prstGeom>
          <a:solidFill>
            <a:schemeClr val="bg1"/>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solidFill>
                  <a:srgbClr val="FF0000"/>
                </a:solidFill>
                <a:latin typeface="游ゴシック" panose="020B0400000000000000" pitchFamily="50" charset="-128"/>
                <a:ea typeface="游ゴシック" panose="020B0400000000000000" pitchFamily="50" charset="-128"/>
              </a:rPr>
              <a:t>廃止</a:t>
            </a:r>
            <a:endParaRPr kumimoji="1" lang="ja-JP" altLang="en-US" sz="1400" dirty="0">
              <a:ln w="3175">
                <a:noFill/>
              </a:ln>
              <a:solidFill>
                <a:srgbClr val="FF0000"/>
              </a:solidFill>
              <a:latin typeface="游ゴシック" panose="020B0400000000000000" pitchFamily="50" charset="-128"/>
              <a:ea typeface="游ゴシック" panose="020B0400000000000000" pitchFamily="50" charset="-128"/>
            </a:endParaRPr>
          </a:p>
        </p:txBody>
      </p:sp>
      <p:sp>
        <p:nvSpPr>
          <p:cNvPr id="24" name="右矢印 23"/>
          <p:cNvSpPr/>
          <p:nvPr/>
        </p:nvSpPr>
        <p:spPr bwMode="auto">
          <a:xfrm>
            <a:off x="2997417" y="4737917"/>
            <a:ext cx="576064" cy="216024"/>
          </a:xfrm>
          <a:prstGeom prst="rightArrow">
            <a:avLst/>
          </a:prstGeom>
          <a:solidFill>
            <a:schemeClr val="accent1"/>
          </a:solidFill>
          <a:ln w="9525" cap="flat" cmpd="sng" algn="ctr">
            <a:solidFill>
              <a:srgbClr val="FF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400" b="0" i="0" u="none" strike="noStrike" cap="none" normalizeH="0" baseline="0" smtClean="0">
              <a:solidFill>
                <a:schemeClr val="tx1"/>
              </a:solidFill>
              <a:effectLst/>
              <a:latin typeface="游ゴシック" panose="020B0400000000000000" pitchFamily="50" charset="-128"/>
              <a:ea typeface="游ゴシック" panose="020B0400000000000000" pitchFamily="50" charset="-128"/>
            </a:endParaRPr>
          </a:p>
        </p:txBody>
      </p:sp>
      <p:sp>
        <p:nvSpPr>
          <p:cNvPr id="25" name="正方形/長方形 24"/>
          <p:cNvSpPr/>
          <p:nvPr/>
        </p:nvSpPr>
        <p:spPr bwMode="auto">
          <a:xfrm>
            <a:off x="438911" y="5434961"/>
            <a:ext cx="2548913" cy="355929"/>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高生産性が見込める</a:t>
            </a:r>
            <a:r>
              <a:rPr kumimoji="1" lang="ja-JP" altLang="en-US" sz="1400" dirty="0">
                <a:ln w="3175">
                  <a:noFill/>
                </a:ln>
                <a:latin typeface="游ゴシック" panose="020B0400000000000000" pitchFamily="50" charset="-128"/>
                <a:ea typeface="游ゴシック" panose="020B0400000000000000" pitchFamily="50" charset="-128"/>
              </a:rPr>
              <a:t>新</a:t>
            </a:r>
            <a:r>
              <a:rPr kumimoji="1" lang="ja-JP" altLang="en-US" sz="1400" dirty="0" smtClean="0">
                <a:ln w="3175">
                  <a:noFill/>
                </a:ln>
                <a:latin typeface="游ゴシック" panose="020B0400000000000000" pitchFamily="50" charset="-128"/>
                <a:ea typeface="游ゴシック" panose="020B0400000000000000" pitchFamily="50" charset="-128"/>
              </a:rPr>
              <a:t>機能</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26" name="正方形/長方形 25"/>
          <p:cNvSpPr/>
          <p:nvPr/>
        </p:nvSpPr>
        <p:spPr bwMode="auto">
          <a:xfrm>
            <a:off x="3603798" y="5434961"/>
            <a:ext cx="1936404" cy="355929"/>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新規開発</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27" name="右矢印 26"/>
          <p:cNvSpPr/>
          <p:nvPr/>
        </p:nvSpPr>
        <p:spPr bwMode="auto">
          <a:xfrm>
            <a:off x="2997417" y="5500311"/>
            <a:ext cx="576064" cy="216024"/>
          </a:xfrm>
          <a:prstGeom prst="rightArrow">
            <a:avLst/>
          </a:prstGeom>
          <a:solidFill>
            <a:schemeClr val="accent1"/>
          </a:solidFill>
          <a:ln w="9525" cap="flat" cmpd="sng" algn="ctr">
            <a:solidFill>
              <a:srgbClr val="FF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400" b="0" i="0" u="none" strike="noStrike" cap="none" normalizeH="0" baseline="0" smtClean="0">
              <a:solidFill>
                <a:schemeClr val="tx1"/>
              </a:solidFill>
              <a:effectLst/>
              <a:latin typeface="游ゴシック" panose="020B0400000000000000" pitchFamily="50" charset="-128"/>
              <a:ea typeface="游ゴシック" panose="020B0400000000000000" pitchFamily="50" charset="-128"/>
            </a:endParaRPr>
          </a:p>
        </p:txBody>
      </p:sp>
      <p:sp>
        <p:nvSpPr>
          <p:cNvPr id="29" name="正方形/長方形 28"/>
          <p:cNvSpPr/>
          <p:nvPr/>
        </p:nvSpPr>
        <p:spPr bwMode="auto">
          <a:xfrm>
            <a:off x="3603798" y="3558249"/>
            <a:ext cx="1936404" cy="408460"/>
          </a:xfrm>
          <a:prstGeom prst="rect">
            <a:avLst/>
          </a:prstGeom>
          <a:solidFill>
            <a:schemeClr val="accent1">
              <a:lumMod val="20000"/>
              <a:lumOff val="80000"/>
            </a:schemeClr>
          </a:solidFill>
          <a:ln w="19050" cap="flat" cmpd="sng" algn="ctr">
            <a:solidFill>
              <a:schemeClr val="accent5">
                <a:lumMod val="75000"/>
              </a:schemeClr>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lvl="0" algn="ctr"/>
            <a:r>
              <a:rPr kumimoji="1" lang="ja-JP" altLang="en-US" sz="1400" dirty="0" smtClean="0">
                <a:ln w="3175">
                  <a:noFill/>
                </a:ln>
                <a:latin typeface="游ゴシック" panose="020B0400000000000000" pitchFamily="50" charset="-128"/>
                <a:ea typeface="游ゴシック" panose="020B0400000000000000" pitchFamily="50" charset="-128"/>
              </a:rPr>
              <a:t>共通化・統廃合</a:t>
            </a:r>
            <a:endParaRPr kumimoji="1" lang="ja-JP" altLang="en-US" sz="1400" dirty="0">
              <a:ln w="3175">
                <a:noFill/>
              </a:ln>
              <a:latin typeface="游ゴシック" panose="020B0400000000000000" pitchFamily="50" charset="-128"/>
              <a:ea typeface="游ゴシック" panose="020B0400000000000000" pitchFamily="50" charset="-128"/>
            </a:endParaRPr>
          </a:p>
        </p:txBody>
      </p:sp>
      <p:sp>
        <p:nvSpPr>
          <p:cNvPr id="32" name="右矢印 31"/>
          <p:cNvSpPr/>
          <p:nvPr/>
        </p:nvSpPr>
        <p:spPr bwMode="auto">
          <a:xfrm>
            <a:off x="2997417" y="3654467"/>
            <a:ext cx="576064" cy="216024"/>
          </a:xfrm>
          <a:prstGeom prst="rightArrow">
            <a:avLst/>
          </a:prstGeom>
          <a:solidFill>
            <a:schemeClr val="accent1"/>
          </a:solidFill>
          <a:ln w="9525" cap="flat" cmpd="sng" algn="ctr">
            <a:solidFill>
              <a:srgbClr val="FF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400" b="0" i="0" u="none" strike="noStrike" cap="none" normalizeH="0" baseline="0" smtClean="0">
              <a:solidFill>
                <a:schemeClr val="tx1"/>
              </a:solidFill>
              <a:effectLst/>
              <a:latin typeface="游ゴシック" panose="020B0400000000000000" pitchFamily="50" charset="-128"/>
              <a:ea typeface="游ゴシック" panose="020B0400000000000000" pitchFamily="50" charset="-128"/>
            </a:endParaRPr>
          </a:p>
        </p:txBody>
      </p:sp>
      <p:cxnSp>
        <p:nvCxnSpPr>
          <p:cNvPr id="34" name="直線コネクタ 33"/>
          <p:cNvCxnSpPr/>
          <p:nvPr/>
        </p:nvCxnSpPr>
        <p:spPr>
          <a:xfrm>
            <a:off x="5540202" y="3010277"/>
            <a:ext cx="66038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V="1">
            <a:off x="5540202" y="4326753"/>
            <a:ext cx="660387" cy="3397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5540202" y="4326751"/>
            <a:ext cx="660387" cy="11082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V="1">
            <a:off x="5540202" y="4686794"/>
            <a:ext cx="660385" cy="109998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7290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７．システム方式設計の進め方</a:t>
            </a:r>
            <a:r>
              <a:rPr lang="ja-JP" altLang="en-US" sz="1800" dirty="0" smtClean="0"/>
              <a:t>（</a:t>
            </a:r>
            <a:r>
              <a:rPr lang="en-US" altLang="ja-JP" sz="1800" dirty="0" smtClean="0"/>
              <a:t>1/2</a:t>
            </a:r>
            <a:r>
              <a:rPr lang="ja-JP" altLang="en-US" sz="1800" dirty="0" smtClean="0"/>
              <a:t>）</a:t>
            </a:r>
            <a:endParaRPr kumimoji="1" lang="ja-JP" altLang="en-US" sz="1800"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9</a:t>
            </a:fld>
            <a:endParaRPr kumimoji="1" lang="ja-JP" altLang="en-US"/>
          </a:p>
        </p:txBody>
      </p:sp>
      <p:sp>
        <p:nvSpPr>
          <p:cNvPr id="5" name="楕円 4"/>
          <p:cNvSpPr>
            <a:spLocks noChangeAspect="1"/>
          </p:cNvSpPr>
          <p:nvPr/>
        </p:nvSpPr>
        <p:spPr>
          <a:xfrm>
            <a:off x="3528000" y="1404000"/>
            <a:ext cx="2088000" cy="2088000"/>
          </a:xfrm>
          <a:prstGeom prst="ellipse">
            <a:avLst/>
          </a:prstGeom>
          <a:noFill/>
          <a:ln w="3810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6" name="正方形/長方形 5"/>
          <p:cNvSpPr/>
          <p:nvPr/>
        </p:nvSpPr>
        <p:spPr>
          <a:xfrm>
            <a:off x="396000" y="3492000"/>
            <a:ext cx="2088000" cy="2448000"/>
          </a:xfrm>
          <a:prstGeom prst="rect">
            <a:avLst/>
          </a:prstGeom>
          <a:solidFill>
            <a:srgbClr val="DEEBF7">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latinLnBrk="1">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現行システムに</a:t>
            </a:r>
            <a:r>
              <a:rPr lang="ja-JP" altLang="en-US" sz="1400" dirty="0">
                <a:solidFill>
                  <a:schemeClr val="tx1"/>
                </a:solidFill>
                <a:latin typeface="游ゴシック" panose="020B0400000000000000" pitchFamily="50" charset="-128"/>
                <a:ea typeface="游ゴシック" panose="020B0400000000000000" pitchFamily="50" charset="-128"/>
              </a:rPr>
              <a:t>関する</a:t>
            </a:r>
            <a:r>
              <a:rPr lang="ja-JP" altLang="en-US" sz="1400" dirty="0" smtClean="0">
                <a:solidFill>
                  <a:schemeClr val="tx1"/>
                </a:solidFill>
                <a:latin typeface="游ゴシック" panose="020B0400000000000000" pitchFamily="50" charset="-128"/>
                <a:ea typeface="游ゴシック" panose="020B0400000000000000" pitchFamily="50" charset="-128"/>
              </a:rPr>
              <a:t>資料を</a:t>
            </a:r>
            <a:r>
              <a:rPr lang="ja-JP" altLang="en-US" sz="1400" dirty="0">
                <a:solidFill>
                  <a:schemeClr val="tx1"/>
                </a:solidFill>
                <a:latin typeface="游ゴシック" panose="020B0400000000000000" pitchFamily="50" charset="-128"/>
                <a:ea typeface="游ゴシック" panose="020B0400000000000000" pitchFamily="50" charset="-128"/>
              </a:rPr>
              <a:t>収集</a:t>
            </a:r>
            <a:r>
              <a:rPr lang="ja-JP" altLang="en-US" sz="1400" dirty="0" smtClean="0">
                <a:solidFill>
                  <a:schemeClr val="tx1"/>
                </a:solidFill>
                <a:latin typeface="游ゴシック" panose="020B0400000000000000" pitchFamily="50" charset="-128"/>
                <a:ea typeface="游ゴシック" panose="020B0400000000000000" pitchFamily="50" charset="-128"/>
              </a:rPr>
              <a:t>します。システムの内容・流れ</a:t>
            </a:r>
            <a:r>
              <a:rPr lang="ja-JP" altLang="en-US" sz="1400" dirty="0">
                <a:solidFill>
                  <a:schemeClr val="tx1"/>
                </a:solidFill>
                <a:latin typeface="游ゴシック" panose="020B0400000000000000" pitchFamily="50" charset="-128"/>
                <a:ea typeface="游ゴシック" panose="020B0400000000000000" pitchFamily="50" charset="-128"/>
              </a:rPr>
              <a:t>を把握</a:t>
            </a:r>
            <a:r>
              <a:rPr lang="ja-JP" altLang="en-US" sz="1400" dirty="0" smtClean="0">
                <a:solidFill>
                  <a:schemeClr val="tx1"/>
                </a:solidFill>
                <a:latin typeface="游ゴシック" panose="020B0400000000000000" pitchFamily="50" charset="-128"/>
                <a:ea typeface="游ゴシック" panose="020B0400000000000000" pitchFamily="50" charset="-128"/>
              </a:rPr>
              <a:t>したら、機能概要</a:t>
            </a:r>
            <a:r>
              <a:rPr lang="ja-JP" altLang="en-US" sz="1400" dirty="0">
                <a:solidFill>
                  <a:schemeClr val="tx1"/>
                </a:solidFill>
                <a:latin typeface="游ゴシック" panose="020B0400000000000000" pitchFamily="50" charset="-128"/>
                <a:ea typeface="游ゴシック" panose="020B0400000000000000" pitchFamily="50" charset="-128"/>
              </a:rPr>
              <a:t>を</a:t>
            </a:r>
            <a:r>
              <a:rPr lang="ja-JP" altLang="en-US" sz="1400" dirty="0" smtClean="0">
                <a:solidFill>
                  <a:schemeClr val="tx1"/>
                </a:solidFill>
                <a:latin typeface="游ゴシック" panose="020B0400000000000000" pitchFamily="50" charset="-128"/>
                <a:ea typeface="游ゴシック" panose="020B0400000000000000" pitchFamily="50" charset="-128"/>
              </a:rPr>
              <a:t>まとます。</a:t>
            </a:r>
            <a:endParaRPr lang="en-US" altLang="ja-JP" sz="1400" dirty="0" smtClean="0">
              <a:solidFill>
                <a:schemeClr val="tx1"/>
              </a:solidFill>
              <a:latin typeface="游ゴシック" panose="020B0400000000000000" pitchFamily="50" charset="-128"/>
              <a:ea typeface="游ゴシック" panose="020B0400000000000000" pitchFamily="50" charset="-128"/>
            </a:endParaRPr>
          </a:p>
          <a:p>
            <a:pPr latinLnBrk="1">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また、システム化のゴールおよびその</a:t>
            </a:r>
            <a:r>
              <a:rPr lang="ja-JP" altLang="en-US" sz="1400" dirty="0">
                <a:solidFill>
                  <a:schemeClr val="tx1"/>
                </a:solidFill>
                <a:latin typeface="游ゴシック" panose="020B0400000000000000" pitchFamily="50" charset="-128"/>
                <a:ea typeface="游ゴシック" panose="020B0400000000000000" pitchFamily="50" charset="-128"/>
              </a:rPr>
              <a:t>進め方を検討</a:t>
            </a:r>
            <a:r>
              <a:rPr lang="ja-JP" altLang="en-US" sz="1400" dirty="0" smtClean="0">
                <a:solidFill>
                  <a:schemeClr val="tx1"/>
                </a:solidFill>
                <a:latin typeface="游ゴシック" panose="020B0400000000000000" pitchFamily="50" charset="-128"/>
                <a:ea typeface="游ゴシック" panose="020B0400000000000000" pitchFamily="50" charset="-128"/>
              </a:rPr>
              <a:t>し、システム化方針案として作成します。</a:t>
            </a:r>
            <a:endParaRPr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7" name="正方形/長方形 6"/>
          <p:cNvSpPr/>
          <p:nvPr/>
        </p:nvSpPr>
        <p:spPr>
          <a:xfrm>
            <a:off x="2485029" y="3492000"/>
            <a:ext cx="2088000" cy="2448000"/>
          </a:xfrm>
          <a:prstGeom prst="rect">
            <a:avLst/>
          </a:prstGeom>
          <a:solidFill>
            <a:srgbClr val="FBE5D6">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システム化方針案をもとに具体化・詳細化</a:t>
            </a:r>
            <a:r>
              <a:rPr lang="ja-JP" altLang="en-US" sz="1400" dirty="0">
                <a:solidFill>
                  <a:schemeClr val="tx1"/>
                </a:solidFill>
                <a:latin typeface="游ゴシック" panose="020B0400000000000000" pitchFamily="50" charset="-128"/>
                <a:ea typeface="游ゴシック" panose="020B0400000000000000" pitchFamily="50" charset="-128"/>
              </a:rPr>
              <a:t>し、システム化</a:t>
            </a:r>
            <a:r>
              <a:rPr lang="ja-JP" altLang="en-US" sz="1400" dirty="0" smtClean="0">
                <a:solidFill>
                  <a:schemeClr val="tx1"/>
                </a:solidFill>
                <a:latin typeface="游ゴシック" panose="020B0400000000000000" pitchFamily="50" charset="-128"/>
                <a:ea typeface="游ゴシック" panose="020B0400000000000000" pitchFamily="50" charset="-128"/>
              </a:rPr>
              <a:t>範囲および非機能要件を定義します。</a:t>
            </a:r>
            <a:endParaRPr lang="en-US" altLang="ja-JP" sz="1400" dirty="0" smtClean="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機能</a:t>
            </a:r>
            <a:r>
              <a:rPr lang="ja-JP" altLang="en-US" sz="1400" dirty="0">
                <a:solidFill>
                  <a:schemeClr val="tx1"/>
                </a:solidFill>
                <a:latin typeface="游ゴシック" panose="020B0400000000000000" pitchFamily="50" charset="-128"/>
                <a:ea typeface="游ゴシック" panose="020B0400000000000000" pitchFamily="50" charset="-128"/>
              </a:rPr>
              <a:t>集約や未使用機能の廃止</a:t>
            </a:r>
            <a:r>
              <a:rPr lang="ja-JP" altLang="en-US" sz="1400" dirty="0" smtClean="0">
                <a:solidFill>
                  <a:schemeClr val="tx1"/>
                </a:solidFill>
                <a:latin typeface="游ゴシック" panose="020B0400000000000000" pitchFamily="50" charset="-128"/>
                <a:ea typeface="游ゴシック" panose="020B0400000000000000" pitchFamily="50" charset="-128"/>
              </a:rPr>
              <a:t>などについても検討</a:t>
            </a:r>
            <a:r>
              <a:rPr lang="ja-JP" altLang="en-US" sz="1400" dirty="0">
                <a:solidFill>
                  <a:schemeClr val="tx1"/>
                </a:solidFill>
                <a:latin typeface="游ゴシック" panose="020B0400000000000000" pitchFamily="50" charset="-128"/>
                <a:ea typeface="游ゴシック" panose="020B0400000000000000" pitchFamily="50" charset="-128"/>
              </a:rPr>
              <a:t>し、システムの最適化を図ります</a:t>
            </a:r>
            <a:r>
              <a:rPr lang="ja-JP" altLang="en-US" sz="1400" dirty="0" smtClean="0">
                <a:solidFill>
                  <a:schemeClr val="tx1"/>
                </a:solidFill>
                <a:latin typeface="游ゴシック" panose="020B0400000000000000" pitchFamily="50" charset="-128"/>
                <a:ea typeface="游ゴシック" panose="020B0400000000000000" pitchFamily="50" charset="-128"/>
              </a:rPr>
              <a:t>。</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p:cNvSpPr/>
          <p:nvPr/>
        </p:nvSpPr>
        <p:spPr>
          <a:xfrm>
            <a:off x="4572000" y="3492000"/>
            <a:ext cx="2088000" cy="2448000"/>
          </a:xfrm>
          <a:prstGeom prst="rect">
            <a:avLst/>
          </a:prstGeom>
          <a:solidFill>
            <a:srgbClr val="FFF2CC">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kumimoji="1" lang="ja-JP" altLang="en-US" sz="1400" dirty="0" smtClean="0">
                <a:solidFill>
                  <a:schemeClr val="tx1"/>
                </a:solidFill>
                <a:latin typeface="游ゴシック" panose="020B0400000000000000" pitchFamily="50" charset="-128"/>
                <a:ea typeface="游ゴシック" panose="020B0400000000000000" pitchFamily="50" charset="-128"/>
              </a:rPr>
              <a:t>システム化範囲およ</a:t>
            </a:r>
            <a:r>
              <a:rPr lang="ja-JP" altLang="en-US" sz="1400" dirty="0" smtClean="0">
                <a:solidFill>
                  <a:schemeClr val="tx1"/>
                </a:solidFill>
                <a:latin typeface="游ゴシック" panose="020B0400000000000000" pitchFamily="50" charset="-128"/>
                <a:ea typeface="游ゴシック" panose="020B0400000000000000" pitchFamily="50" charset="-128"/>
              </a:rPr>
              <a:t>び非機能要件について、問題がないか利用部門を交えて確認します。</a:t>
            </a:r>
            <a:endParaRPr lang="en-US" altLang="ja-JP" sz="1400" dirty="0" smtClean="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機能改善等の要望があればヒアリングすることも可能ですが、現時点では、現行踏襲を原則とすることを想定しております。</a:t>
            </a:r>
            <a:endParaRPr lang="en-US" altLang="ja-JP" sz="1400" dirty="0" smtClean="0">
              <a:solidFill>
                <a:schemeClr val="tx1"/>
              </a:solidFill>
              <a:latin typeface="游ゴシック" panose="020B0400000000000000" pitchFamily="50" charset="-128"/>
              <a:ea typeface="游ゴシック" panose="020B0400000000000000" pitchFamily="50" charset="-128"/>
            </a:endParaRPr>
          </a:p>
        </p:txBody>
      </p:sp>
      <p:sp>
        <p:nvSpPr>
          <p:cNvPr id="9" name="正方形/長方形 8"/>
          <p:cNvSpPr/>
          <p:nvPr/>
        </p:nvSpPr>
        <p:spPr>
          <a:xfrm>
            <a:off x="6660000" y="3492000"/>
            <a:ext cx="2088000" cy="2448000"/>
          </a:xfrm>
          <a:prstGeom prst="rect">
            <a:avLst/>
          </a:prstGeom>
          <a:solidFill>
            <a:srgbClr val="E2F0D9">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検討結果をまとめ資料を更新し</a:t>
            </a:r>
            <a:r>
              <a:rPr kumimoji="1" lang="ja-JP" altLang="en-US" sz="1400" dirty="0" smtClean="0">
                <a:solidFill>
                  <a:schemeClr val="tx1"/>
                </a:solidFill>
                <a:latin typeface="游ゴシック" panose="020B0400000000000000" pitchFamily="50" charset="-128"/>
                <a:ea typeface="游ゴシック" panose="020B0400000000000000" pitchFamily="50" charset="-128"/>
              </a:rPr>
              <a:t>システム化方針として確定します。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kumimoji="1" lang="ja-JP" altLang="en-US" sz="1400" u="sng" dirty="0" smtClean="0">
                <a:solidFill>
                  <a:schemeClr val="tx1"/>
                </a:solidFill>
                <a:latin typeface="游ゴシック" panose="020B0400000000000000" pitchFamily="50" charset="-128"/>
                <a:ea typeface="游ゴシック" panose="020B0400000000000000" pitchFamily="50" charset="-128"/>
              </a:rPr>
              <a:t>成果物例</a:t>
            </a:r>
            <a:endParaRPr lang="en-US" altLang="ja-JP" sz="1400" u="sng" dirty="0" smtClean="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smtClean="0">
                <a:solidFill>
                  <a:schemeClr val="tx1"/>
                </a:solidFill>
                <a:latin typeface="游ゴシック" panose="020B0400000000000000" pitchFamily="50" charset="-128"/>
                <a:ea typeface="游ゴシック" panose="020B0400000000000000" pitchFamily="50" charset="-128"/>
              </a:rPr>
              <a:t>要求</a:t>
            </a:r>
            <a:r>
              <a:rPr lang="ja-JP" altLang="en-US" sz="1400" dirty="0">
                <a:solidFill>
                  <a:schemeClr val="tx1"/>
                </a:solidFill>
                <a:latin typeface="游ゴシック" panose="020B0400000000000000" pitchFamily="50" charset="-128"/>
                <a:ea typeface="游ゴシック" panose="020B0400000000000000" pitchFamily="50" charset="-128"/>
              </a:rPr>
              <a:t>仕様書</a:t>
            </a:r>
            <a:r>
              <a:rPr lang="ja-JP" altLang="en-US" sz="1400" dirty="0" smtClean="0">
                <a:solidFill>
                  <a:schemeClr val="tx1"/>
                </a:solidFill>
                <a:latin typeface="游ゴシック" panose="020B0400000000000000" pitchFamily="50" charset="-128"/>
                <a:ea typeface="游ゴシック" panose="020B0400000000000000" pitchFamily="50" charset="-128"/>
              </a:rPr>
              <a:t>、画面</a:t>
            </a:r>
            <a:r>
              <a:rPr lang="ja-JP" altLang="en-US" sz="1400" dirty="0">
                <a:solidFill>
                  <a:schemeClr val="tx1"/>
                </a:solidFill>
                <a:latin typeface="游ゴシック" panose="020B0400000000000000" pitchFamily="50" charset="-128"/>
                <a:ea typeface="游ゴシック" panose="020B0400000000000000" pitchFamily="50" charset="-128"/>
              </a:rPr>
              <a:t>一覧</a:t>
            </a:r>
            <a:r>
              <a:rPr lang="ja-JP" altLang="en-US" sz="1400" dirty="0" smtClean="0">
                <a:solidFill>
                  <a:schemeClr val="tx1"/>
                </a:solidFill>
                <a:latin typeface="游ゴシック" panose="020B0400000000000000" pitchFamily="50" charset="-128"/>
                <a:ea typeface="游ゴシック" panose="020B0400000000000000" pitchFamily="50" charset="-128"/>
              </a:rPr>
              <a:t>、帳票</a:t>
            </a:r>
            <a:r>
              <a:rPr lang="ja-JP" altLang="en-US" sz="1400" dirty="0">
                <a:solidFill>
                  <a:schemeClr val="tx1"/>
                </a:solidFill>
                <a:latin typeface="游ゴシック" panose="020B0400000000000000" pitchFamily="50" charset="-128"/>
                <a:ea typeface="游ゴシック" panose="020B0400000000000000" pitchFamily="50" charset="-128"/>
              </a:rPr>
              <a:t>一覧</a:t>
            </a:r>
            <a:r>
              <a:rPr lang="ja-JP" altLang="en-US" sz="1400" dirty="0" smtClean="0">
                <a:solidFill>
                  <a:schemeClr val="tx1"/>
                </a:solidFill>
                <a:latin typeface="游ゴシック" panose="020B0400000000000000" pitchFamily="50" charset="-128"/>
                <a:ea typeface="游ゴシック" panose="020B0400000000000000" pitchFamily="50" charset="-128"/>
              </a:rPr>
              <a:t>、外部</a:t>
            </a:r>
            <a:r>
              <a:rPr lang="ja-JP" altLang="en-US" sz="1400" dirty="0">
                <a:solidFill>
                  <a:schemeClr val="tx1"/>
                </a:solidFill>
                <a:latin typeface="游ゴシック" panose="020B0400000000000000" pitchFamily="50" charset="-128"/>
                <a:ea typeface="游ゴシック" panose="020B0400000000000000" pitchFamily="50" charset="-128"/>
              </a:rPr>
              <a:t>システムインターフェース概要</a:t>
            </a:r>
            <a:r>
              <a:rPr lang="ja-JP" altLang="en-US" sz="1400" dirty="0" smtClean="0">
                <a:solidFill>
                  <a:schemeClr val="tx1"/>
                </a:solidFill>
                <a:latin typeface="游ゴシック" panose="020B0400000000000000" pitchFamily="50" charset="-128"/>
                <a:ea typeface="游ゴシック" panose="020B0400000000000000" pitchFamily="50" charset="-128"/>
              </a:rPr>
              <a:t>、性能</a:t>
            </a:r>
            <a:r>
              <a:rPr lang="ja-JP" altLang="en-US" sz="1400" dirty="0">
                <a:solidFill>
                  <a:schemeClr val="tx1"/>
                </a:solidFill>
                <a:latin typeface="游ゴシック" panose="020B0400000000000000" pitchFamily="50" charset="-128"/>
                <a:ea typeface="游ゴシック" panose="020B0400000000000000" pitchFamily="50" charset="-128"/>
              </a:rPr>
              <a:t>／容量要件</a:t>
            </a:r>
            <a:r>
              <a:rPr lang="ja-JP" altLang="en-US" sz="1400" dirty="0" smtClean="0">
                <a:solidFill>
                  <a:schemeClr val="tx1"/>
                </a:solidFill>
                <a:latin typeface="游ゴシック" panose="020B0400000000000000" pitchFamily="50" charset="-128"/>
                <a:ea typeface="游ゴシック" panose="020B0400000000000000" pitchFamily="50" charset="-128"/>
              </a:rPr>
              <a:t>定義書など</a:t>
            </a:r>
            <a:endParaRPr kumimoji="1" lang="ja-JP" altLang="en-US" sz="1400" dirty="0" smtClean="0">
              <a:solidFill>
                <a:schemeClr val="tx1"/>
              </a:solidFill>
              <a:latin typeface="游ゴシック" panose="020B0400000000000000" pitchFamily="50" charset="-128"/>
              <a:ea typeface="游ゴシック" panose="020B0400000000000000" pitchFamily="50" charset="-128"/>
            </a:endParaRPr>
          </a:p>
        </p:txBody>
      </p:sp>
      <p:sp>
        <p:nvSpPr>
          <p:cNvPr id="10" name="円弧 9"/>
          <p:cNvSpPr/>
          <p:nvPr/>
        </p:nvSpPr>
        <p:spPr>
          <a:xfrm rot="20160000">
            <a:off x="3528000" y="1404000"/>
            <a:ext cx="2088000" cy="2088000"/>
          </a:xfrm>
          <a:prstGeom prst="arc">
            <a:avLst>
              <a:gd name="adj1" fmla="val 11527257"/>
              <a:gd name="adj2" fmla="val 53650"/>
            </a:avLst>
          </a:prstGeom>
          <a:ln w="152400" cap="rnd">
            <a:solidFill>
              <a:schemeClr val="accent1">
                <a:lumMod val="60000"/>
                <a:lumOff val="4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rot="9360000">
            <a:off x="3528000" y="1404000"/>
            <a:ext cx="2088000" cy="2088000"/>
          </a:xfrm>
          <a:prstGeom prst="arc">
            <a:avLst>
              <a:gd name="adj1" fmla="val 11527257"/>
              <a:gd name="adj2" fmla="val 53650"/>
            </a:avLst>
          </a:prstGeom>
          <a:ln w="152400" cap="rnd">
            <a:solidFill>
              <a:schemeClr val="accent1">
                <a:lumMod val="60000"/>
                <a:lumOff val="4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ホームベース 11"/>
          <p:cNvSpPr/>
          <p:nvPr/>
        </p:nvSpPr>
        <p:spPr>
          <a:xfrm>
            <a:off x="2484000" y="2052000"/>
            <a:ext cx="2088000" cy="792000"/>
          </a:xfrm>
          <a:prstGeom prst="homePlate">
            <a:avLst>
              <a:gd name="adj" fmla="val 18103"/>
            </a:avLst>
          </a:prstGeom>
          <a:solidFill>
            <a:schemeClr val="accent2"/>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機能概要定義</a:t>
            </a:r>
            <a:endParaRPr lang="en-US" altLang="ja-JP" sz="1600" b="1" dirty="0" smtClean="0">
              <a:latin typeface="游ゴシック" panose="020B0400000000000000" pitchFamily="50" charset="-128"/>
              <a:ea typeface="游ゴシック" panose="020B0400000000000000" pitchFamily="50" charset="-128"/>
            </a:endParaRPr>
          </a:p>
          <a:p>
            <a:pPr algn="ctr"/>
            <a:r>
              <a:rPr lang="ja-JP" altLang="en-US" sz="1600" b="1" dirty="0" smtClean="0">
                <a:latin typeface="游ゴシック" panose="020B0400000000000000" pitchFamily="50" charset="-128"/>
                <a:ea typeface="游ゴシック" panose="020B0400000000000000" pitchFamily="50" charset="-128"/>
              </a:rPr>
              <a:t>非機能要件定義</a:t>
            </a: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13" name="ホームベース 12"/>
          <p:cNvSpPr/>
          <p:nvPr/>
        </p:nvSpPr>
        <p:spPr>
          <a:xfrm>
            <a:off x="4572000" y="2052000"/>
            <a:ext cx="2088000" cy="792000"/>
          </a:xfrm>
          <a:prstGeom prst="homePlate">
            <a:avLst>
              <a:gd name="adj" fmla="val 18103"/>
            </a:avLst>
          </a:prstGeom>
          <a:solidFill>
            <a:schemeClr val="accent4"/>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利用部門への確認</a:t>
            </a:r>
            <a:endParaRPr kumimoji="1" lang="ja-JP" altLang="en-US" sz="1600" b="1" dirty="0" smtClean="0">
              <a:latin typeface="游ゴシック" panose="020B0400000000000000" pitchFamily="50" charset="-128"/>
              <a:ea typeface="游ゴシック" panose="020B0400000000000000" pitchFamily="50" charset="-128"/>
            </a:endParaRPr>
          </a:p>
        </p:txBody>
      </p:sp>
      <p:sp>
        <p:nvSpPr>
          <p:cNvPr id="14" name="ホームベース 13"/>
          <p:cNvSpPr/>
          <p:nvPr/>
        </p:nvSpPr>
        <p:spPr>
          <a:xfrm>
            <a:off x="6660000" y="2052000"/>
            <a:ext cx="2088000" cy="792000"/>
          </a:xfrm>
          <a:prstGeom prst="homePlate">
            <a:avLst>
              <a:gd name="adj" fmla="val 18103"/>
            </a:avLst>
          </a:prstGeom>
          <a:solidFill>
            <a:schemeClr val="accent6"/>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smtClean="0">
                <a:latin typeface="游ゴシック" panose="020B0400000000000000" pitchFamily="50" charset="-128"/>
                <a:ea typeface="游ゴシック" panose="020B0400000000000000" pitchFamily="50" charset="-128"/>
              </a:rPr>
              <a:t>システム化</a:t>
            </a:r>
            <a:endParaRPr kumimoji="1" lang="en-US" altLang="ja-JP" sz="1600" b="1" dirty="0" smtClean="0">
              <a:latin typeface="游ゴシック" panose="020B0400000000000000" pitchFamily="50" charset="-128"/>
              <a:ea typeface="游ゴシック" panose="020B0400000000000000" pitchFamily="50" charset="-128"/>
            </a:endParaRPr>
          </a:p>
          <a:p>
            <a:pPr algn="ctr"/>
            <a:r>
              <a:rPr lang="ja-JP" altLang="en-US" sz="1600" b="1" dirty="0" smtClean="0">
                <a:latin typeface="游ゴシック" panose="020B0400000000000000" pitchFamily="50" charset="-128"/>
                <a:ea typeface="游ゴシック" panose="020B0400000000000000" pitchFamily="50" charset="-128"/>
              </a:rPr>
              <a:t>方針の</a:t>
            </a:r>
            <a:r>
              <a:rPr kumimoji="1" lang="ja-JP" altLang="en-US" sz="1600" b="1" dirty="0" smtClean="0">
                <a:latin typeface="游ゴシック" panose="020B0400000000000000" pitchFamily="50" charset="-128"/>
                <a:ea typeface="游ゴシック" panose="020B0400000000000000" pitchFamily="50" charset="-128"/>
              </a:rPr>
              <a:t>決定</a:t>
            </a:r>
          </a:p>
        </p:txBody>
      </p:sp>
      <p:sp>
        <p:nvSpPr>
          <p:cNvPr id="15" name="ホームベース 14"/>
          <p:cNvSpPr/>
          <p:nvPr/>
        </p:nvSpPr>
        <p:spPr>
          <a:xfrm>
            <a:off x="396000" y="2052000"/>
            <a:ext cx="2088000" cy="792000"/>
          </a:xfrm>
          <a:prstGeom prst="homePlate">
            <a:avLst>
              <a:gd name="adj" fmla="val 18103"/>
            </a:avLst>
          </a:prstGeom>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smtClean="0">
                <a:latin typeface="游ゴシック" panose="020B0400000000000000" pitchFamily="50" charset="-128"/>
                <a:ea typeface="游ゴシック" panose="020B0400000000000000" pitchFamily="50" charset="-128"/>
              </a:rPr>
              <a:t>システム化</a:t>
            </a:r>
            <a:endParaRPr lang="en-US" altLang="ja-JP" sz="1600" b="1" dirty="0" smtClean="0">
              <a:latin typeface="游ゴシック" panose="020B0400000000000000" pitchFamily="50" charset="-128"/>
              <a:ea typeface="游ゴシック" panose="020B0400000000000000" pitchFamily="50" charset="-128"/>
            </a:endParaRPr>
          </a:p>
          <a:p>
            <a:pPr algn="ctr"/>
            <a:r>
              <a:rPr lang="ja-JP" altLang="en-US" sz="1600" b="1" dirty="0" smtClean="0">
                <a:latin typeface="游ゴシック" panose="020B0400000000000000" pitchFamily="50" charset="-128"/>
                <a:ea typeface="游ゴシック" panose="020B0400000000000000" pitchFamily="50" charset="-128"/>
              </a:rPr>
              <a:t>方針案の作成</a:t>
            </a:r>
            <a:endParaRPr kumimoji="1" lang="ja-JP" altLang="en-US" sz="1600" b="1" dirty="0" smtClean="0">
              <a:latin typeface="游ゴシック" panose="020B0400000000000000" pitchFamily="50" charset="-128"/>
              <a:ea typeface="游ゴシック" panose="020B0400000000000000" pitchFamily="50" charset="-128"/>
            </a:endParaRPr>
          </a:p>
        </p:txBody>
      </p:sp>
      <p:cxnSp>
        <p:nvCxnSpPr>
          <p:cNvPr id="16" name="直線コネクタ 15"/>
          <p:cNvCxnSpPr/>
          <p:nvPr/>
        </p:nvCxnSpPr>
        <p:spPr>
          <a:xfrm>
            <a:off x="864000" y="2844000"/>
            <a:ext cx="0" cy="648000"/>
          </a:xfrm>
          <a:prstGeom prst="line">
            <a:avLst/>
          </a:prstGeom>
          <a:ln w="28575">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2952000" y="2844000"/>
            <a:ext cx="0" cy="648000"/>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a:off x="6192000" y="2844000"/>
            <a:ext cx="0" cy="648000"/>
          </a:xfrm>
          <a:prstGeom prst="line">
            <a:avLst/>
          </a:prstGeom>
          <a:ln w="285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8280000" y="2844000"/>
            <a:ext cx="0" cy="64800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21" name="正方形/長方形 20"/>
          <p:cNvSpPr/>
          <p:nvPr/>
        </p:nvSpPr>
        <p:spPr>
          <a:xfrm>
            <a:off x="5760000" y="1008000"/>
            <a:ext cx="3168000" cy="7920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marL="285750" indent="-285750">
              <a:buFont typeface="游ゴシック" panose="020B0400000000000000" pitchFamily="50" charset="-128"/>
              <a:buChar char="※"/>
            </a:pPr>
            <a:r>
              <a:rPr kumimoji="1" lang="ja-JP" altLang="en-US" sz="1400" dirty="0" smtClean="0">
                <a:solidFill>
                  <a:schemeClr val="tx1"/>
                </a:solidFill>
                <a:latin typeface="游ゴシック" panose="020B0400000000000000" pitchFamily="50" charset="-128"/>
                <a:ea typeface="游ゴシック" panose="020B0400000000000000" pitchFamily="50" charset="-128"/>
              </a:rPr>
              <a:t>機能概要定義・非機能要件定義と利用部門への確認は数回繰り返し実施することを想定しています。</a:t>
            </a:r>
          </a:p>
        </p:txBody>
      </p:sp>
    </p:spTree>
    <p:extLst>
      <p:ext uri="{BB962C8B-B14F-4D97-AF65-F5344CB8AC3E}">
        <p14:creationId xmlns:p14="http://schemas.microsoft.com/office/powerpoint/2010/main" val="35919630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７．システム方式設計の進め方</a:t>
            </a:r>
            <a:r>
              <a:rPr lang="ja-JP" altLang="en-US" sz="1800" dirty="0" smtClean="0"/>
              <a:t>（</a:t>
            </a:r>
            <a:r>
              <a:rPr lang="en-US" altLang="ja-JP" sz="1800" dirty="0" smtClean="0"/>
              <a:t>1/2</a:t>
            </a:r>
            <a:r>
              <a:rPr lang="ja-JP" altLang="en-US" sz="1800" dirty="0" smtClean="0"/>
              <a:t>）</a:t>
            </a:r>
            <a:endParaRPr kumimoji="1" lang="ja-JP" altLang="en-US" sz="1800"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10</a:t>
            </a:fld>
            <a:endParaRPr kumimoji="1" lang="ja-JP" altLang="en-US"/>
          </a:p>
        </p:txBody>
      </p:sp>
      <p:sp>
        <p:nvSpPr>
          <p:cNvPr id="20" name="角丸四角形 19"/>
          <p:cNvSpPr/>
          <p:nvPr/>
        </p:nvSpPr>
        <p:spPr bwMode="auto">
          <a:xfrm>
            <a:off x="398429" y="1124744"/>
            <a:ext cx="1435142" cy="1152129"/>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業務フロー</a:t>
            </a:r>
            <a:endParaRPr lang="en-US" altLang="ja-JP" sz="1662" dirty="0">
              <a:solidFill>
                <a:sysClr val="windowText" lastClr="000000"/>
              </a:solidFill>
              <a:latin typeface="+mn-ea"/>
            </a:endParaRPr>
          </a:p>
        </p:txBody>
      </p:sp>
      <p:sp>
        <p:nvSpPr>
          <p:cNvPr id="22" name="角丸四角形 21"/>
          <p:cNvSpPr/>
          <p:nvPr/>
        </p:nvSpPr>
        <p:spPr bwMode="auto">
          <a:xfrm>
            <a:off x="398429" y="2466857"/>
            <a:ext cx="1435142" cy="1149602"/>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受領</a:t>
            </a:r>
            <a:r>
              <a:rPr lang="ja-JP" altLang="en-US" sz="1662" dirty="0">
                <a:solidFill>
                  <a:sysClr val="windowText" lastClr="000000"/>
                </a:solidFill>
                <a:latin typeface="+mn-ea"/>
              </a:rPr>
              <a:t>資料</a:t>
            </a:r>
            <a:endParaRPr lang="en-US" altLang="ja-JP" sz="1662" dirty="0">
              <a:solidFill>
                <a:sysClr val="windowText" lastClr="000000"/>
              </a:solidFill>
              <a:latin typeface="+mn-ea"/>
            </a:endParaRPr>
          </a:p>
        </p:txBody>
      </p:sp>
      <p:sp>
        <p:nvSpPr>
          <p:cNvPr id="23" name="角丸四角形 22"/>
          <p:cNvSpPr/>
          <p:nvPr/>
        </p:nvSpPr>
        <p:spPr bwMode="auto">
          <a:xfrm>
            <a:off x="398429" y="3900624"/>
            <a:ext cx="1435142" cy="1149602"/>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現行</a:t>
            </a:r>
            <a:endParaRPr lang="en-US" altLang="ja-JP" sz="1662" dirty="0" smtClean="0">
              <a:solidFill>
                <a:sysClr val="windowText" lastClr="000000"/>
              </a:solidFill>
              <a:latin typeface="+mn-ea"/>
            </a:endParaRPr>
          </a:p>
          <a:p>
            <a:pPr algn="ctr"/>
            <a:r>
              <a:rPr lang="ja-JP" altLang="en-US" sz="1662" dirty="0" smtClean="0">
                <a:solidFill>
                  <a:sysClr val="windowText" lastClr="000000"/>
                </a:solidFill>
                <a:latin typeface="+mn-ea"/>
              </a:rPr>
              <a:t>プログラム</a:t>
            </a:r>
            <a:endParaRPr lang="en-US" altLang="ja-JP" sz="1662" dirty="0">
              <a:solidFill>
                <a:sysClr val="windowText" lastClr="000000"/>
              </a:solidFill>
              <a:latin typeface="+mn-ea"/>
            </a:endParaRPr>
          </a:p>
        </p:txBody>
      </p:sp>
      <p:sp>
        <p:nvSpPr>
          <p:cNvPr id="24" name="角丸四角形 23"/>
          <p:cNvSpPr/>
          <p:nvPr/>
        </p:nvSpPr>
        <p:spPr bwMode="auto">
          <a:xfrm>
            <a:off x="3635896" y="1124744"/>
            <a:ext cx="1435142" cy="1152129"/>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業務フロー</a:t>
            </a:r>
            <a:endParaRPr lang="en-US" altLang="ja-JP" sz="1662" dirty="0">
              <a:solidFill>
                <a:sysClr val="windowText" lastClr="000000"/>
              </a:solidFill>
              <a:latin typeface="+mn-ea"/>
            </a:endParaRPr>
          </a:p>
        </p:txBody>
      </p:sp>
      <p:cxnSp>
        <p:nvCxnSpPr>
          <p:cNvPr id="25" name="直線矢印コネクタ 24"/>
          <p:cNvCxnSpPr>
            <a:stCxn id="20" idx="3"/>
            <a:endCxn id="24" idx="1"/>
          </p:cNvCxnSpPr>
          <p:nvPr/>
        </p:nvCxnSpPr>
        <p:spPr>
          <a:xfrm>
            <a:off x="1833571" y="1700809"/>
            <a:ext cx="1802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p:cNvCxnSpPr>
            <a:stCxn id="22" idx="3"/>
            <a:endCxn id="24" idx="2"/>
          </p:cNvCxnSpPr>
          <p:nvPr/>
        </p:nvCxnSpPr>
        <p:spPr>
          <a:xfrm flipV="1">
            <a:off x="1833571" y="2276873"/>
            <a:ext cx="2519896" cy="7647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a:stCxn id="23" idx="3"/>
            <a:endCxn id="24" idx="2"/>
          </p:cNvCxnSpPr>
          <p:nvPr/>
        </p:nvCxnSpPr>
        <p:spPr>
          <a:xfrm flipV="1">
            <a:off x="1833571" y="2276873"/>
            <a:ext cx="2519896" cy="21985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角丸四角形 36"/>
          <p:cNvSpPr/>
          <p:nvPr/>
        </p:nvSpPr>
        <p:spPr bwMode="auto">
          <a:xfrm>
            <a:off x="6444208" y="1124744"/>
            <a:ext cx="1435142" cy="1152129"/>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新業務フロー</a:t>
            </a:r>
            <a:endParaRPr lang="en-US" altLang="ja-JP" sz="1662" dirty="0">
              <a:solidFill>
                <a:sysClr val="windowText" lastClr="000000"/>
              </a:solidFill>
              <a:latin typeface="+mn-ea"/>
            </a:endParaRPr>
          </a:p>
        </p:txBody>
      </p:sp>
      <p:cxnSp>
        <p:nvCxnSpPr>
          <p:cNvPr id="38" name="直線矢印コネクタ 37"/>
          <p:cNvCxnSpPr>
            <a:stCxn id="24" idx="3"/>
            <a:endCxn id="37" idx="1"/>
          </p:cNvCxnSpPr>
          <p:nvPr/>
        </p:nvCxnSpPr>
        <p:spPr>
          <a:xfrm>
            <a:off x="5071038" y="1700809"/>
            <a:ext cx="13731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716015" y="2708920"/>
            <a:ext cx="4103984" cy="646331"/>
          </a:xfrm>
          <a:prstGeom prst="rect">
            <a:avLst/>
          </a:prstGeom>
          <a:noFill/>
        </p:spPr>
        <p:txBody>
          <a:bodyPr wrap="square" rtlCol="0">
            <a:spAutoFit/>
          </a:bodyPr>
          <a:lstStyle/>
          <a:p>
            <a:r>
              <a:rPr kumimoji="1" lang="ja-JP" altLang="en-US" dirty="0" smtClean="0"/>
              <a:t>① 業務と画面・帳票の紐づけ</a:t>
            </a:r>
            <a:endParaRPr kumimoji="1" lang="en-US" altLang="ja-JP" dirty="0" smtClean="0"/>
          </a:p>
          <a:p>
            <a:r>
              <a:rPr kumimoji="1" lang="ja-JP" altLang="en-US" dirty="0" smtClean="0"/>
              <a:t>② </a:t>
            </a:r>
            <a:endParaRPr kumimoji="1" lang="ja-JP" altLang="en-US" dirty="0"/>
          </a:p>
        </p:txBody>
      </p:sp>
    </p:spTree>
    <p:extLst>
      <p:ext uri="{BB962C8B-B14F-4D97-AF65-F5344CB8AC3E}">
        <p14:creationId xmlns:p14="http://schemas.microsoft.com/office/powerpoint/2010/main" val="21940147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７．システム方式設計の進め方</a:t>
            </a:r>
            <a:r>
              <a:rPr lang="ja-JP" altLang="en-US" sz="1800" dirty="0" smtClean="0"/>
              <a:t>（</a:t>
            </a:r>
            <a:r>
              <a:rPr lang="en-US" altLang="ja-JP" sz="1800" dirty="0" smtClean="0"/>
              <a:t>2/2</a:t>
            </a:r>
            <a:r>
              <a:rPr lang="ja-JP" altLang="en-US" sz="1800" dirty="0" smtClean="0"/>
              <a:t>）</a:t>
            </a:r>
            <a:endParaRPr kumimoji="1" lang="ja-JP" altLang="en-US" sz="1800"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11</a:t>
            </a:fld>
            <a:endParaRPr kumimoji="1" lang="ja-JP" altLang="en-US"/>
          </a:p>
        </p:txBody>
      </p:sp>
      <p:sp>
        <p:nvSpPr>
          <p:cNvPr id="20" name="ホームベース 19"/>
          <p:cNvSpPr/>
          <p:nvPr/>
        </p:nvSpPr>
        <p:spPr>
          <a:xfrm>
            <a:off x="312212" y="1462361"/>
            <a:ext cx="8570993" cy="381921"/>
          </a:xfrm>
          <a:prstGeom prst="homePlate">
            <a:avLst>
              <a:gd name="adj" fmla="val 27490"/>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62" dirty="0" smtClean="0">
                <a:latin typeface="+mn-ea"/>
              </a:rPr>
              <a:t>システム方式</a:t>
            </a:r>
            <a:r>
              <a:rPr kumimoji="1" lang="ja-JP" altLang="en-US" sz="1662" dirty="0">
                <a:latin typeface="+mn-ea"/>
              </a:rPr>
              <a:t>設計</a:t>
            </a:r>
            <a:r>
              <a:rPr kumimoji="1" lang="ja-JP" altLang="en-US" sz="1662" dirty="0" smtClean="0">
                <a:latin typeface="+mn-ea"/>
              </a:rPr>
              <a:t>工程</a:t>
            </a:r>
            <a:endParaRPr kumimoji="1" lang="ja-JP" altLang="en-US" sz="1662" dirty="0">
              <a:latin typeface="+mn-ea"/>
            </a:endParaRPr>
          </a:p>
        </p:txBody>
      </p:sp>
      <p:sp>
        <p:nvSpPr>
          <p:cNvPr id="22" name="ホームベース 21"/>
          <p:cNvSpPr/>
          <p:nvPr/>
        </p:nvSpPr>
        <p:spPr>
          <a:xfrm>
            <a:off x="900653" y="2555954"/>
            <a:ext cx="5619650" cy="381921"/>
          </a:xfrm>
          <a:prstGeom prst="homePlate">
            <a:avLst>
              <a:gd name="adj" fmla="val 27490"/>
            </a:avLst>
          </a:prstGeom>
          <a:solidFill>
            <a:schemeClr val="accent6">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62" dirty="0">
                <a:latin typeface="+mn-ea"/>
              </a:rPr>
              <a:t>要件検討（機能統合案 等）</a:t>
            </a:r>
          </a:p>
        </p:txBody>
      </p:sp>
      <p:sp>
        <p:nvSpPr>
          <p:cNvPr id="23" name="角丸四角形 22"/>
          <p:cNvSpPr/>
          <p:nvPr/>
        </p:nvSpPr>
        <p:spPr bwMode="auto">
          <a:xfrm>
            <a:off x="312212" y="1976716"/>
            <a:ext cx="465231" cy="3750388"/>
          </a:xfrm>
          <a:prstGeom prst="roundRect">
            <a:avLst>
              <a:gd name="adj" fmla="val 20979"/>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eaVert" wrap="none" lIns="83077" tIns="43200" rIns="83077" bIns="43200" numCol="1" rtlCol="0" anchor="ctr" anchorCtr="0" compatLnSpc="1">
            <a:prstTxWarp prst="textNoShape">
              <a:avLst/>
            </a:prstTxWarp>
          </a:bodyPr>
          <a:lstStyle/>
          <a:p>
            <a:pPr algn="ctr" defTabSz="844083" eaLnBrk="0" fontAlgn="base" hangingPunct="0">
              <a:spcBef>
                <a:spcPct val="0"/>
              </a:spcBef>
              <a:spcAft>
                <a:spcPct val="0"/>
              </a:spcAft>
            </a:pPr>
            <a:r>
              <a:rPr kumimoji="1" lang="ja-JP" altLang="en-US" sz="1662" dirty="0">
                <a:solidFill>
                  <a:sysClr val="windowText" lastClr="000000"/>
                </a:solidFill>
                <a:latin typeface="+mn-ea"/>
              </a:rPr>
              <a:t>キックオフ、機能統合・廃止案提示</a:t>
            </a:r>
          </a:p>
        </p:txBody>
      </p:sp>
      <p:sp>
        <p:nvSpPr>
          <p:cNvPr id="24" name="角丸四角形 23"/>
          <p:cNvSpPr/>
          <p:nvPr/>
        </p:nvSpPr>
        <p:spPr bwMode="auto">
          <a:xfrm>
            <a:off x="917370" y="2996951"/>
            <a:ext cx="1435142" cy="1620399"/>
          </a:xfrm>
          <a:prstGeom prst="roundRect">
            <a:avLst>
              <a:gd name="adj" fmla="val 7880"/>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a:solidFill>
                  <a:sysClr val="windowText" lastClr="000000"/>
                </a:solidFill>
                <a:latin typeface="+mn-ea"/>
              </a:rPr>
              <a:t>利用部門にて</a:t>
            </a:r>
            <a:endParaRPr lang="en-US" altLang="ja-JP" sz="1662" dirty="0">
              <a:solidFill>
                <a:sysClr val="windowText" lastClr="000000"/>
              </a:solidFill>
              <a:latin typeface="+mn-ea"/>
            </a:endParaRPr>
          </a:p>
          <a:p>
            <a:pPr algn="ctr"/>
            <a:r>
              <a:rPr lang="ja-JP" altLang="en-US" sz="1662" dirty="0">
                <a:solidFill>
                  <a:sysClr val="windowText" lastClr="000000"/>
                </a:solidFill>
                <a:latin typeface="+mn-ea"/>
              </a:rPr>
              <a:t>要望事項</a:t>
            </a:r>
            <a:endParaRPr lang="en-US" altLang="ja-JP" sz="1662" dirty="0">
              <a:solidFill>
                <a:sysClr val="windowText" lastClr="000000"/>
              </a:solidFill>
              <a:latin typeface="+mn-ea"/>
            </a:endParaRPr>
          </a:p>
          <a:p>
            <a:pPr algn="ctr"/>
            <a:r>
              <a:rPr lang="ja-JP" altLang="en-US" sz="1662" dirty="0">
                <a:solidFill>
                  <a:sysClr val="windowText" lastClr="000000"/>
                </a:solidFill>
                <a:latin typeface="+mn-ea"/>
              </a:rPr>
              <a:t>取り纏め</a:t>
            </a:r>
            <a:endParaRPr lang="en-US" altLang="ja-JP" sz="1662" dirty="0">
              <a:solidFill>
                <a:sysClr val="windowText" lastClr="000000"/>
              </a:solidFill>
              <a:latin typeface="+mn-ea"/>
            </a:endParaRPr>
          </a:p>
        </p:txBody>
      </p:sp>
      <p:sp>
        <p:nvSpPr>
          <p:cNvPr id="25" name="角丸四角形 24"/>
          <p:cNvSpPr/>
          <p:nvPr/>
        </p:nvSpPr>
        <p:spPr bwMode="auto">
          <a:xfrm>
            <a:off x="2523951" y="3008077"/>
            <a:ext cx="3996351" cy="1609273"/>
          </a:xfrm>
          <a:prstGeom prst="roundRect">
            <a:avLst>
              <a:gd name="adj" fmla="val 9718"/>
            </a:avLst>
          </a:prstGeom>
          <a:solidFill>
            <a:schemeClr val="accent1">
              <a:lumMod val="20000"/>
              <a:lumOff val="80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kumimoji="1" lang="ja-JP" altLang="en-US" sz="1662" dirty="0" smtClean="0">
                <a:solidFill>
                  <a:sysClr val="windowText" lastClr="000000"/>
                </a:solidFill>
                <a:latin typeface="+mn-ea"/>
              </a:rPr>
              <a:t>要望</a:t>
            </a:r>
            <a:r>
              <a:rPr kumimoji="1" lang="ja-JP" altLang="en-US" sz="1662" dirty="0">
                <a:solidFill>
                  <a:sysClr val="windowText" lastClr="000000"/>
                </a:solidFill>
                <a:latin typeface="+mn-ea"/>
              </a:rPr>
              <a:t>ヒアリング</a:t>
            </a:r>
            <a:endParaRPr kumimoji="1" lang="en-US" altLang="ja-JP" sz="1662" dirty="0">
              <a:solidFill>
                <a:sysClr val="windowText" lastClr="000000"/>
              </a:solidFill>
              <a:latin typeface="+mn-ea"/>
            </a:endParaRPr>
          </a:p>
          <a:p>
            <a:pPr algn="ctr"/>
            <a:r>
              <a:rPr lang="ja-JP" altLang="en-US" sz="1662" dirty="0" smtClean="0">
                <a:solidFill>
                  <a:sysClr val="windowText" lastClr="000000"/>
                </a:solidFill>
                <a:latin typeface="+mn-ea"/>
              </a:rPr>
              <a:t>新システム機能検討</a:t>
            </a:r>
            <a:endParaRPr lang="en-US" altLang="ja-JP" sz="1662" dirty="0" smtClean="0">
              <a:solidFill>
                <a:sysClr val="windowText" lastClr="000000"/>
              </a:solidFill>
              <a:latin typeface="+mn-ea"/>
            </a:endParaRPr>
          </a:p>
          <a:p>
            <a:pPr algn="ctr"/>
            <a:r>
              <a:rPr lang="ja-JP" altLang="en-US" sz="1662" dirty="0" smtClean="0">
                <a:solidFill>
                  <a:sysClr val="windowText" lastClr="000000"/>
                </a:solidFill>
                <a:latin typeface="+mn-ea"/>
              </a:rPr>
              <a:t>（</a:t>
            </a:r>
            <a:r>
              <a:rPr lang="en-US" altLang="ja-JP" sz="1662" dirty="0" smtClean="0">
                <a:solidFill>
                  <a:sysClr val="windowText" lastClr="000000"/>
                </a:solidFill>
                <a:latin typeface="+mn-ea"/>
              </a:rPr>
              <a:t>10</a:t>
            </a:r>
            <a:r>
              <a:rPr lang="ja-JP" altLang="en-US" sz="1662" dirty="0" smtClean="0">
                <a:solidFill>
                  <a:sysClr val="windowText" lastClr="000000"/>
                </a:solidFill>
                <a:latin typeface="+mn-ea"/>
              </a:rPr>
              <a:t>月より週</a:t>
            </a:r>
            <a:r>
              <a:rPr lang="en-US" altLang="ja-JP" sz="1662" dirty="0" smtClean="0">
                <a:solidFill>
                  <a:sysClr val="windowText" lastClr="000000"/>
                </a:solidFill>
                <a:latin typeface="+mn-ea"/>
              </a:rPr>
              <a:t>1</a:t>
            </a:r>
            <a:r>
              <a:rPr lang="ja-JP" altLang="en-US" sz="1662" dirty="0" smtClean="0">
                <a:solidFill>
                  <a:sysClr val="windowText" lastClr="000000"/>
                </a:solidFill>
                <a:latin typeface="+mn-ea"/>
              </a:rPr>
              <a:t>回程度）</a:t>
            </a:r>
            <a:endParaRPr lang="en-US" altLang="ja-JP" sz="1662" dirty="0">
              <a:solidFill>
                <a:sysClr val="windowText" lastClr="000000"/>
              </a:solidFill>
              <a:latin typeface="+mn-ea"/>
            </a:endParaRPr>
          </a:p>
        </p:txBody>
      </p:sp>
      <p:sp>
        <p:nvSpPr>
          <p:cNvPr id="27" name="角丸四角形 26"/>
          <p:cNvSpPr/>
          <p:nvPr/>
        </p:nvSpPr>
        <p:spPr bwMode="auto">
          <a:xfrm>
            <a:off x="6660231" y="1976716"/>
            <a:ext cx="1617815" cy="3750387"/>
          </a:xfrm>
          <a:prstGeom prst="roundRect">
            <a:avLst>
              <a:gd name="adj" fmla="val 6306"/>
            </a:avLst>
          </a:prstGeom>
          <a:solidFill>
            <a:schemeClr val="accent1">
              <a:lumMod val="20000"/>
              <a:lumOff val="80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kumimoji="1" lang="ja-JP" altLang="en-US" sz="1662" dirty="0" smtClean="0">
                <a:solidFill>
                  <a:sysClr val="windowText" lastClr="000000"/>
                </a:solidFill>
                <a:latin typeface="+mn-ea"/>
              </a:rPr>
              <a:t>ｼｽﾃﾑ方式</a:t>
            </a:r>
            <a:endParaRPr kumimoji="1" lang="en-US" altLang="ja-JP" sz="1662" dirty="0" smtClean="0">
              <a:solidFill>
                <a:sysClr val="windowText" lastClr="000000"/>
              </a:solidFill>
              <a:latin typeface="+mn-ea"/>
            </a:endParaRPr>
          </a:p>
          <a:p>
            <a:pPr algn="ctr"/>
            <a:r>
              <a:rPr kumimoji="1" lang="ja-JP" altLang="en-US" sz="1662" dirty="0" smtClean="0">
                <a:solidFill>
                  <a:sysClr val="windowText" lastClr="000000"/>
                </a:solidFill>
                <a:latin typeface="+mn-ea"/>
              </a:rPr>
              <a:t>設計書</a:t>
            </a:r>
            <a:endParaRPr kumimoji="1" lang="en-US" altLang="ja-JP" sz="1662" dirty="0" smtClean="0">
              <a:solidFill>
                <a:sysClr val="windowText" lastClr="000000"/>
              </a:solidFill>
              <a:latin typeface="+mn-ea"/>
            </a:endParaRPr>
          </a:p>
          <a:p>
            <a:pPr algn="ctr"/>
            <a:r>
              <a:rPr kumimoji="1" lang="ja-JP" altLang="en-US" sz="1662" dirty="0" smtClean="0">
                <a:solidFill>
                  <a:sysClr val="windowText" lastClr="000000"/>
                </a:solidFill>
                <a:latin typeface="+mn-ea"/>
              </a:rPr>
              <a:t>レビュー</a:t>
            </a:r>
            <a:endParaRPr kumimoji="1" lang="en-US" altLang="ja-JP" sz="1662" dirty="0">
              <a:solidFill>
                <a:sysClr val="windowText" lastClr="000000"/>
              </a:solidFill>
              <a:latin typeface="+mn-ea"/>
            </a:endParaRPr>
          </a:p>
          <a:p>
            <a:pPr algn="ctr"/>
            <a:r>
              <a:rPr kumimoji="1" lang="ja-JP" altLang="en-US" sz="1662" dirty="0">
                <a:solidFill>
                  <a:sysClr val="windowText" lastClr="000000"/>
                </a:solidFill>
                <a:latin typeface="+mn-ea"/>
              </a:rPr>
              <a:t>要件確定</a:t>
            </a:r>
          </a:p>
        </p:txBody>
      </p:sp>
      <p:sp>
        <p:nvSpPr>
          <p:cNvPr id="28" name="角丸四角形 27"/>
          <p:cNvSpPr/>
          <p:nvPr/>
        </p:nvSpPr>
        <p:spPr bwMode="auto">
          <a:xfrm>
            <a:off x="8417974" y="1976716"/>
            <a:ext cx="465231" cy="3750389"/>
          </a:xfrm>
          <a:prstGeom prst="roundRect">
            <a:avLst>
              <a:gd name="adj" fmla="val 20979"/>
            </a:avLst>
          </a:prstGeom>
          <a:solidFill>
            <a:schemeClr val="bg1">
              <a:lumMod val="85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eaVert" wrap="none" lIns="83077" tIns="43200" rIns="83077" bIns="43200" numCol="1" rtlCol="0" anchor="ctr" anchorCtr="0" compatLnSpc="1">
            <a:prstTxWarp prst="textNoShape">
              <a:avLst/>
            </a:prstTxWarp>
          </a:bodyPr>
          <a:lstStyle/>
          <a:p>
            <a:pPr algn="ctr"/>
            <a:r>
              <a:rPr kumimoji="1" lang="ja-JP" altLang="en-US" sz="1662" dirty="0">
                <a:solidFill>
                  <a:sysClr val="windowText" lastClr="000000"/>
                </a:solidFill>
                <a:latin typeface="+mn-ea"/>
              </a:rPr>
              <a:t>要件確定（承認）</a:t>
            </a:r>
          </a:p>
        </p:txBody>
      </p:sp>
      <p:sp>
        <p:nvSpPr>
          <p:cNvPr id="31" name="ホームベース 30"/>
          <p:cNvSpPr/>
          <p:nvPr/>
        </p:nvSpPr>
        <p:spPr>
          <a:xfrm>
            <a:off x="917371" y="4729635"/>
            <a:ext cx="5602932" cy="381921"/>
          </a:xfrm>
          <a:prstGeom prst="homePlate">
            <a:avLst>
              <a:gd name="adj" fmla="val 27490"/>
            </a:avLst>
          </a:prstGeom>
          <a:solidFill>
            <a:schemeClr val="accent6">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62" dirty="0">
                <a:latin typeface="+mn-ea"/>
              </a:rPr>
              <a:t>稼働環境、連携方式検討、課題検討 など</a:t>
            </a:r>
            <a:endParaRPr kumimoji="1" lang="ja-JP" altLang="en-US" sz="1662" dirty="0">
              <a:latin typeface="+mn-ea"/>
            </a:endParaRPr>
          </a:p>
        </p:txBody>
      </p:sp>
      <p:sp>
        <p:nvSpPr>
          <p:cNvPr id="32" name="角丸四角形 31"/>
          <p:cNvSpPr/>
          <p:nvPr/>
        </p:nvSpPr>
        <p:spPr bwMode="auto">
          <a:xfrm>
            <a:off x="900653" y="5229708"/>
            <a:ext cx="5619650" cy="497397"/>
          </a:xfrm>
          <a:prstGeom prst="roundRect">
            <a:avLst>
              <a:gd name="adj" fmla="val 9718"/>
            </a:avLst>
          </a:prstGeom>
          <a:solidFill>
            <a:schemeClr val="accent1">
              <a:lumMod val="20000"/>
              <a:lumOff val="80000"/>
            </a:schemeClr>
          </a:solidFill>
          <a:ln w="38100" cap="flat" cmpd="sng" algn="ctr">
            <a:solidFill>
              <a:schemeClr val="bg1"/>
            </a:solidFill>
            <a:prstDash val="solid"/>
            <a:round/>
            <a:headEnd type="none" w="med" len="med"/>
            <a:tailEnd type="none" w="med" len="med"/>
          </a:ln>
          <a:effectLst>
            <a:outerShdw blurRad="40005" dist="20320" dir="5400000" algn="ctr" rotWithShape="0">
              <a:schemeClr val="tx1">
                <a:alpha val="38000"/>
              </a:schemeClr>
            </a:outerShdw>
          </a:effectLst>
          <a:extLst/>
        </p:spPr>
        <p:txBody>
          <a:bodyPr vert="horz" wrap="none" lIns="83077" tIns="43200" rIns="83077" bIns="43200" numCol="1" rtlCol="0" anchor="ctr" anchorCtr="0" compatLnSpc="1">
            <a:prstTxWarp prst="textNoShape">
              <a:avLst/>
            </a:prstTxWarp>
          </a:bodyPr>
          <a:lstStyle/>
          <a:p>
            <a:pPr algn="ctr"/>
            <a:r>
              <a:rPr lang="ja-JP" altLang="en-US" sz="1662" dirty="0" smtClean="0">
                <a:solidFill>
                  <a:sysClr val="windowText" lastClr="000000"/>
                </a:solidFill>
                <a:latin typeface="+mn-ea"/>
              </a:rPr>
              <a:t>情報ｼｽﾃﾑ部と開発ﾍﾞﾝﾀﾞｰ間</a:t>
            </a:r>
            <a:r>
              <a:rPr lang="ja-JP" altLang="en-US" sz="1662" dirty="0">
                <a:solidFill>
                  <a:sysClr val="windowText" lastClr="000000"/>
                </a:solidFill>
                <a:latin typeface="+mn-ea"/>
              </a:rPr>
              <a:t>のお打合せにより</a:t>
            </a:r>
            <a:r>
              <a:rPr lang="ja-JP" altLang="en-US" sz="1662" dirty="0" smtClean="0">
                <a:solidFill>
                  <a:sysClr val="windowText" lastClr="000000"/>
                </a:solidFill>
                <a:latin typeface="+mn-ea"/>
              </a:rPr>
              <a:t>検討</a:t>
            </a:r>
            <a:endParaRPr lang="en-US" altLang="ja-JP" sz="1662" dirty="0">
              <a:solidFill>
                <a:sysClr val="windowText" lastClr="000000"/>
              </a:solidFill>
              <a:latin typeface="+mn-ea"/>
            </a:endParaRPr>
          </a:p>
        </p:txBody>
      </p:sp>
      <p:sp>
        <p:nvSpPr>
          <p:cNvPr id="33" name="ホームベース 32"/>
          <p:cNvSpPr/>
          <p:nvPr/>
        </p:nvSpPr>
        <p:spPr>
          <a:xfrm>
            <a:off x="900652" y="1976714"/>
            <a:ext cx="5619651" cy="381921"/>
          </a:xfrm>
          <a:prstGeom prst="homePlate">
            <a:avLst>
              <a:gd name="adj" fmla="val 27490"/>
            </a:avLst>
          </a:prstGeom>
          <a:solidFill>
            <a:schemeClr val="accent6">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62" dirty="0" smtClean="0">
                <a:latin typeface="+mn-ea"/>
              </a:rPr>
              <a:t>現行システム調査、業務フロー作成</a:t>
            </a:r>
            <a:endParaRPr kumimoji="1" lang="ja-JP" altLang="en-US" sz="1662" dirty="0">
              <a:latin typeface="+mn-ea"/>
            </a:endParaRPr>
          </a:p>
        </p:txBody>
      </p:sp>
    </p:spTree>
    <p:extLst>
      <p:ext uri="{BB962C8B-B14F-4D97-AF65-F5344CB8AC3E}">
        <p14:creationId xmlns:p14="http://schemas.microsoft.com/office/powerpoint/2010/main" val="19987488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８．システム方式設計スケジュール</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12</a:t>
            </a:fld>
            <a:endParaRPr kumimoji="1" lang="ja-JP" altLang="en-US"/>
          </a:p>
        </p:txBody>
      </p:sp>
      <p:graphicFrame>
        <p:nvGraphicFramePr>
          <p:cNvPr id="20" name="コンテンツ プレースホルダー 5"/>
          <p:cNvGraphicFramePr>
            <a:graphicFrameLocks/>
          </p:cNvGraphicFramePr>
          <p:nvPr>
            <p:extLst>
              <p:ext uri="{D42A27DB-BD31-4B8C-83A1-F6EECF244321}">
                <p14:modId xmlns:p14="http://schemas.microsoft.com/office/powerpoint/2010/main" val="1653368628"/>
              </p:ext>
            </p:extLst>
          </p:nvPr>
        </p:nvGraphicFramePr>
        <p:xfrm>
          <a:off x="319402" y="998091"/>
          <a:ext cx="8496000" cy="6374880"/>
        </p:xfrm>
        <a:graphic>
          <a:graphicData uri="http://schemas.openxmlformats.org/drawingml/2006/table">
            <a:tbl>
              <a:tblPr firstRow="1" bandRow="1">
                <a:tableStyleId>{5C22544A-7EE6-4342-B048-85BDC9FD1C3A}</a:tableStyleId>
              </a:tblPr>
              <a:tblGrid>
                <a:gridCol w="2448000">
                  <a:extLst>
                    <a:ext uri="{9D8B030D-6E8A-4147-A177-3AD203B41FA5}">
                      <a16:colId xmlns:a16="http://schemas.microsoft.com/office/drawing/2014/main" val="20000"/>
                    </a:ext>
                  </a:extLst>
                </a:gridCol>
                <a:gridCol w="756000">
                  <a:extLst>
                    <a:ext uri="{9D8B030D-6E8A-4147-A177-3AD203B41FA5}">
                      <a16:colId xmlns:a16="http://schemas.microsoft.com/office/drawing/2014/main" val="20003"/>
                    </a:ext>
                  </a:extLst>
                </a:gridCol>
                <a:gridCol w="756000">
                  <a:extLst>
                    <a:ext uri="{9D8B030D-6E8A-4147-A177-3AD203B41FA5}">
                      <a16:colId xmlns:a16="http://schemas.microsoft.com/office/drawing/2014/main" val="20004"/>
                    </a:ext>
                  </a:extLst>
                </a:gridCol>
                <a:gridCol w="756000">
                  <a:extLst>
                    <a:ext uri="{9D8B030D-6E8A-4147-A177-3AD203B41FA5}">
                      <a16:colId xmlns:a16="http://schemas.microsoft.com/office/drawing/2014/main" val="20005"/>
                    </a:ext>
                  </a:extLst>
                </a:gridCol>
                <a:gridCol w="756000">
                  <a:extLst>
                    <a:ext uri="{9D8B030D-6E8A-4147-A177-3AD203B41FA5}">
                      <a16:colId xmlns:a16="http://schemas.microsoft.com/office/drawing/2014/main" val="20006"/>
                    </a:ext>
                  </a:extLst>
                </a:gridCol>
                <a:gridCol w="756000">
                  <a:extLst>
                    <a:ext uri="{9D8B030D-6E8A-4147-A177-3AD203B41FA5}">
                      <a16:colId xmlns:a16="http://schemas.microsoft.com/office/drawing/2014/main" val="20007"/>
                    </a:ext>
                  </a:extLst>
                </a:gridCol>
                <a:gridCol w="756000">
                  <a:extLst>
                    <a:ext uri="{9D8B030D-6E8A-4147-A177-3AD203B41FA5}">
                      <a16:colId xmlns:a16="http://schemas.microsoft.com/office/drawing/2014/main" val="20008"/>
                    </a:ext>
                  </a:extLst>
                </a:gridCol>
                <a:gridCol w="756000">
                  <a:extLst>
                    <a:ext uri="{9D8B030D-6E8A-4147-A177-3AD203B41FA5}">
                      <a16:colId xmlns:a16="http://schemas.microsoft.com/office/drawing/2014/main" val="20009"/>
                    </a:ext>
                  </a:extLst>
                </a:gridCol>
                <a:gridCol w="756000">
                  <a:extLst>
                    <a:ext uri="{9D8B030D-6E8A-4147-A177-3AD203B41FA5}">
                      <a16:colId xmlns:a16="http://schemas.microsoft.com/office/drawing/2014/main" val="20010"/>
                    </a:ext>
                  </a:extLst>
                </a:gridCol>
              </a:tblGrid>
              <a:tr h="0">
                <a:tc>
                  <a:txBody>
                    <a:bodyPr/>
                    <a:lstStyle/>
                    <a:p>
                      <a:r>
                        <a:rPr kumimoji="1" lang="ja-JP" altLang="en-US" sz="1200" b="1" dirty="0" smtClean="0">
                          <a:solidFill>
                            <a:schemeClr val="bg1"/>
                          </a:solidFill>
                          <a:latin typeface="游ゴシック" panose="020B0400000000000000" pitchFamily="50" charset="-128"/>
                          <a:ea typeface="游ゴシック" panose="020B0400000000000000" pitchFamily="50" charset="-128"/>
                        </a:rPr>
                        <a:t>工程</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2">
                  <a:txBody>
                    <a:bodyPr/>
                    <a:lstStyle/>
                    <a:p>
                      <a:pPr algn="ctr"/>
                      <a:r>
                        <a:rPr kumimoji="1" lang="en-US" altLang="ja-JP" sz="1200" b="1" dirty="0" smtClean="0">
                          <a:solidFill>
                            <a:schemeClr val="bg1"/>
                          </a:solidFill>
                          <a:latin typeface="游ゴシック" panose="020B0400000000000000" pitchFamily="50" charset="-128"/>
                          <a:ea typeface="游ゴシック" panose="020B0400000000000000" pitchFamily="50" charset="-128"/>
                        </a:rPr>
                        <a:t>9</a:t>
                      </a:r>
                      <a:r>
                        <a:rPr kumimoji="1" lang="ja-JP" altLang="en-US" sz="1200" b="1" dirty="0" smtClean="0">
                          <a:solidFill>
                            <a:schemeClr val="bg1"/>
                          </a:solidFill>
                          <a:latin typeface="游ゴシック" panose="020B0400000000000000" pitchFamily="50" charset="-128"/>
                          <a:ea typeface="游ゴシック" panose="020B0400000000000000" pitchFamily="50" charset="-128"/>
                        </a:rPr>
                        <a:t>月</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2">
                  <a:txBody>
                    <a:bodyPr/>
                    <a:lstStyle/>
                    <a:p>
                      <a:pPr algn="ctr"/>
                      <a:r>
                        <a:rPr kumimoji="1" lang="en-US" altLang="ja-JP" sz="1200" b="1" dirty="0" smtClean="0">
                          <a:solidFill>
                            <a:schemeClr val="bg1"/>
                          </a:solidFill>
                          <a:latin typeface="游ゴシック" panose="020B0400000000000000" pitchFamily="50" charset="-128"/>
                          <a:ea typeface="游ゴシック" panose="020B0400000000000000" pitchFamily="50" charset="-128"/>
                        </a:rPr>
                        <a:t>10</a:t>
                      </a:r>
                      <a:r>
                        <a:rPr kumimoji="1" lang="ja-JP" altLang="en-US" sz="1200" b="1" dirty="0" smtClean="0">
                          <a:solidFill>
                            <a:schemeClr val="bg1"/>
                          </a:solidFill>
                          <a:latin typeface="游ゴシック" panose="020B0400000000000000" pitchFamily="50" charset="-128"/>
                          <a:ea typeface="游ゴシック" panose="020B0400000000000000" pitchFamily="50" charset="-128"/>
                        </a:rPr>
                        <a:t>月</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gridSpan="2">
                  <a:txBody>
                    <a:bodyPr/>
                    <a:lstStyle/>
                    <a:p>
                      <a:pPr algn="ctr"/>
                      <a:r>
                        <a:rPr kumimoji="1" lang="en-US" altLang="ja-JP" sz="1200" b="1" dirty="0" smtClean="0">
                          <a:solidFill>
                            <a:schemeClr val="bg1"/>
                          </a:solidFill>
                          <a:latin typeface="游ゴシック" panose="020B0400000000000000" pitchFamily="50" charset="-128"/>
                          <a:ea typeface="游ゴシック" panose="020B0400000000000000" pitchFamily="50" charset="-128"/>
                        </a:rPr>
                        <a:t>11</a:t>
                      </a:r>
                      <a:r>
                        <a:rPr kumimoji="1" lang="ja-JP" altLang="en-US" sz="1200" b="1" dirty="0" smtClean="0">
                          <a:solidFill>
                            <a:schemeClr val="bg1"/>
                          </a:solidFill>
                          <a:latin typeface="游ゴシック" panose="020B0400000000000000" pitchFamily="50" charset="-128"/>
                          <a:ea typeface="游ゴシック" panose="020B0400000000000000" pitchFamily="50" charset="-128"/>
                        </a:rPr>
                        <a:t>月</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2">
                  <a:txBody>
                    <a:bodyPr/>
                    <a:lstStyle/>
                    <a:p>
                      <a:pPr algn="ctr"/>
                      <a:r>
                        <a:rPr kumimoji="1" lang="en-US" altLang="ja-JP" sz="1200" b="1" dirty="0" smtClean="0">
                          <a:solidFill>
                            <a:schemeClr val="bg1"/>
                          </a:solidFill>
                          <a:latin typeface="游ゴシック" panose="020B0400000000000000" pitchFamily="50" charset="-128"/>
                          <a:ea typeface="游ゴシック" panose="020B0400000000000000" pitchFamily="50" charset="-128"/>
                        </a:rPr>
                        <a:t>12</a:t>
                      </a:r>
                      <a:r>
                        <a:rPr kumimoji="1" lang="ja-JP" altLang="en-US" sz="1200" b="1" dirty="0" smtClean="0">
                          <a:solidFill>
                            <a:schemeClr val="bg1"/>
                          </a:solidFill>
                          <a:latin typeface="游ゴシック" panose="020B0400000000000000" pitchFamily="50" charset="-128"/>
                          <a:ea typeface="游ゴシック" panose="020B0400000000000000" pitchFamily="50" charset="-128"/>
                        </a:rPr>
                        <a:t>月</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現行ｼｽﾃﾑ調査</a:t>
                      </a:r>
                      <a:endParaRPr kumimoji="1" lang="ja-JP" altLang="en-US" sz="12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業務ﾌﾛｰ作成</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a:t>
                      </a:r>
                      <a:r>
                        <a:rPr kumimoji="1" lang="en-US" altLang="ja-JP" sz="1200" b="0" dirty="0" smtClean="0">
                          <a:latin typeface="游ゴシック" panose="020B0400000000000000" pitchFamily="50" charset="-128"/>
                          <a:ea typeface="游ゴシック" panose="020B0400000000000000" pitchFamily="50" charset="-128"/>
                        </a:rPr>
                        <a:t>BO</a:t>
                      </a:r>
                      <a:r>
                        <a:rPr kumimoji="1" lang="ja-JP" altLang="en-US" sz="1200" b="0" dirty="0" smtClean="0">
                          <a:latin typeface="游ゴシック" panose="020B0400000000000000" pitchFamily="50" charset="-128"/>
                          <a:ea typeface="游ゴシック" panose="020B0400000000000000" pitchFamily="50" charset="-128"/>
                        </a:rPr>
                        <a:t>荷繰り</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46036101"/>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a:t>
                      </a:r>
                      <a:r>
                        <a:rPr kumimoji="1" lang="en-US" altLang="ja-JP" sz="1200" b="0" dirty="0" err="1" smtClean="0">
                          <a:latin typeface="游ゴシック" panose="020B0400000000000000" pitchFamily="50" charset="-128"/>
                          <a:ea typeface="游ゴシック" panose="020B0400000000000000" pitchFamily="50" charset="-128"/>
                        </a:rPr>
                        <a:t>OneSAP</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78727280"/>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受注入出荷</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22868605"/>
                  </a:ext>
                </a:extLst>
              </a:tr>
              <a:tr h="360000">
                <a:tc>
                  <a:txBody>
                    <a:bodyPr/>
                    <a:lstStyle/>
                    <a:p>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3290737"/>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新ｼｽﾃﾑ要件定義</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画面一覧作成</a:t>
                      </a:r>
                      <a:endParaRPr kumimoji="1" lang="en-US" altLang="ja-JP" sz="1200" b="0" dirty="0" smtClean="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帳票一覧作成</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外部ｼｽﾃﾑｲﾝﾀｰﾌｪｰｽ概要作成</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60000">
                <a:tc>
                  <a:txBody>
                    <a:bodyPr/>
                    <a:lstStyle/>
                    <a:p>
                      <a:r>
                        <a:rPr kumimoji="1" lang="ja-JP" altLang="en-US" sz="1200" b="0" dirty="0" smtClean="0">
                          <a:latin typeface="游ゴシック" panose="020B0400000000000000" pitchFamily="50" charset="-128"/>
                          <a:ea typeface="游ゴシック" panose="020B0400000000000000" pitchFamily="50" charset="-128"/>
                        </a:rPr>
                        <a:t>　性能</a:t>
                      </a:r>
                      <a:r>
                        <a:rPr kumimoji="1" lang="en-US" altLang="ja-JP" sz="1200" b="0" dirty="0" smtClean="0">
                          <a:latin typeface="游ゴシック" panose="020B0400000000000000" pitchFamily="50" charset="-128"/>
                          <a:ea typeface="游ゴシック" panose="020B0400000000000000" pitchFamily="50" charset="-128"/>
                        </a:rPr>
                        <a:t>/</a:t>
                      </a:r>
                      <a:r>
                        <a:rPr kumimoji="1" lang="ja-JP" altLang="en-US" sz="1200" b="0" dirty="0" smtClean="0">
                          <a:latin typeface="游ゴシック" panose="020B0400000000000000" pitchFamily="50" charset="-128"/>
                          <a:ea typeface="游ゴシック" panose="020B0400000000000000" pitchFamily="50" charset="-128"/>
                        </a:rPr>
                        <a:t>容量要件定義書作成</a:t>
                      </a:r>
                      <a:endParaRPr kumimoji="1" lang="ja-JP" altLang="en-US" sz="12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　信頼性要件定義書作成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　運用</a:t>
                      </a:r>
                      <a:r>
                        <a:rPr kumimoji="1" lang="en-US" altLang="ja-JP" sz="1200" b="0" dirty="0" smtClean="0">
                          <a:latin typeface="游ゴシック" panose="020B0400000000000000" pitchFamily="50" charset="-128"/>
                          <a:ea typeface="游ゴシック" panose="020B0400000000000000" pitchFamily="50" charset="-128"/>
                        </a:rPr>
                        <a:t>/</a:t>
                      </a:r>
                      <a:r>
                        <a:rPr kumimoji="1" lang="ja-JP" altLang="en-US" sz="1200" b="0" dirty="0" smtClean="0">
                          <a:latin typeface="游ゴシック" panose="020B0400000000000000" pitchFamily="50" charset="-128"/>
                          <a:ea typeface="游ゴシック" panose="020B0400000000000000" pitchFamily="50" charset="-128"/>
                        </a:rPr>
                        <a:t>保守要件定義書作成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9003122"/>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　ｾｷｭﾘﾃｨ要件定義書作成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45694569"/>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　移行要件定義書作成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3856795"/>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ｼｽﾃﾑ方式設計書ﾚﾋﾞｭｰ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0263783"/>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latin typeface="游ゴシック" panose="020B0400000000000000" pitchFamily="50" charset="-128"/>
                          <a:ea typeface="游ゴシック" panose="020B0400000000000000" pitchFamily="50" charset="-128"/>
                        </a:rPr>
                        <a:t>開発ﾌｪｰｽﾞ正式見積</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20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dot"/>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1353480"/>
                  </a:ext>
                </a:extLst>
              </a:tr>
            </a:tbl>
          </a:graphicData>
        </a:graphic>
      </p:graphicFrame>
      <p:sp>
        <p:nvSpPr>
          <p:cNvPr id="4" name="正方形/長方形 3"/>
          <p:cNvSpPr/>
          <p:nvPr/>
        </p:nvSpPr>
        <p:spPr>
          <a:xfrm>
            <a:off x="0" y="593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p:cNvSpPr/>
          <p:nvPr/>
        </p:nvSpPr>
        <p:spPr>
          <a:xfrm>
            <a:off x="0" y="557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p:cNvSpPr/>
          <p:nvPr/>
        </p:nvSpPr>
        <p:spPr>
          <a:xfrm>
            <a:off x="0" y="521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p:cNvSpPr/>
          <p:nvPr/>
        </p:nvSpPr>
        <p:spPr>
          <a:xfrm>
            <a:off x="0" y="485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p:cNvSpPr/>
          <p:nvPr/>
        </p:nvSpPr>
        <p:spPr>
          <a:xfrm>
            <a:off x="0" y="449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p:cNvSpPr/>
          <p:nvPr/>
        </p:nvSpPr>
        <p:spPr>
          <a:xfrm>
            <a:off x="0" y="413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p:cNvSpPr/>
          <p:nvPr/>
        </p:nvSpPr>
        <p:spPr>
          <a:xfrm>
            <a:off x="0" y="377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p:cNvSpPr/>
          <p:nvPr/>
        </p:nvSpPr>
        <p:spPr>
          <a:xfrm>
            <a:off x="0" y="341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p:cNvSpPr/>
          <p:nvPr/>
        </p:nvSpPr>
        <p:spPr>
          <a:xfrm>
            <a:off x="0" y="305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p:cNvSpPr/>
          <p:nvPr/>
        </p:nvSpPr>
        <p:spPr>
          <a:xfrm>
            <a:off x="0" y="269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p:cNvSpPr/>
          <p:nvPr/>
        </p:nvSpPr>
        <p:spPr>
          <a:xfrm>
            <a:off x="0" y="233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p:cNvSpPr/>
          <p:nvPr/>
        </p:nvSpPr>
        <p:spPr>
          <a:xfrm>
            <a:off x="0" y="197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p:cNvSpPr/>
          <p:nvPr/>
        </p:nvSpPr>
        <p:spPr>
          <a:xfrm>
            <a:off x="0" y="161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p:cNvSpPr/>
          <p:nvPr/>
        </p:nvSpPr>
        <p:spPr>
          <a:xfrm>
            <a:off x="0" y="1252971"/>
            <a:ext cx="179512" cy="360000"/>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p:cNvSpPr/>
          <p:nvPr/>
        </p:nvSpPr>
        <p:spPr>
          <a:xfrm>
            <a:off x="8059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p:cNvSpPr/>
          <p:nvPr/>
        </p:nvSpPr>
        <p:spPr>
          <a:xfrm>
            <a:off x="7303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p:cNvSpPr/>
          <p:nvPr/>
        </p:nvSpPr>
        <p:spPr>
          <a:xfrm>
            <a:off x="6547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p:cNvSpPr/>
          <p:nvPr/>
        </p:nvSpPr>
        <p:spPr>
          <a:xfrm>
            <a:off x="5791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正方形/長方形 69"/>
          <p:cNvSpPr/>
          <p:nvPr/>
        </p:nvSpPr>
        <p:spPr>
          <a:xfrm>
            <a:off x="5035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p:cNvSpPr/>
          <p:nvPr/>
        </p:nvSpPr>
        <p:spPr>
          <a:xfrm>
            <a:off x="4279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p:cNvSpPr/>
          <p:nvPr/>
        </p:nvSpPr>
        <p:spPr>
          <a:xfrm>
            <a:off x="3523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p:cNvSpPr/>
          <p:nvPr/>
        </p:nvSpPr>
        <p:spPr>
          <a:xfrm>
            <a:off x="2767402" y="840409"/>
            <a:ext cx="756000" cy="105121"/>
          </a:xfrm>
          <a:prstGeom prst="rect">
            <a:avLst/>
          </a:prstGeom>
          <a:solidFill>
            <a:schemeClr val="bg1">
              <a:lumMod val="9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線コネクタ 75"/>
          <p:cNvCxnSpPr/>
          <p:nvPr/>
        </p:nvCxnSpPr>
        <p:spPr>
          <a:xfrm>
            <a:off x="3203848" y="1772816"/>
            <a:ext cx="4099554"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77" name="直線コネクタ 76"/>
          <p:cNvCxnSpPr/>
          <p:nvPr/>
        </p:nvCxnSpPr>
        <p:spPr>
          <a:xfrm>
            <a:off x="4211960" y="2112741"/>
            <a:ext cx="823442"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4279402" y="2472781"/>
            <a:ext cx="756000"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a:off x="5076056" y="2852936"/>
            <a:ext cx="648072"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a:off x="6482949" y="3952971"/>
            <a:ext cx="820453"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2" name="直線コネクタ 81"/>
          <p:cNvCxnSpPr/>
          <p:nvPr/>
        </p:nvCxnSpPr>
        <p:spPr>
          <a:xfrm>
            <a:off x="5791402" y="4312971"/>
            <a:ext cx="1512000"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a:off x="5791402" y="4672971"/>
            <a:ext cx="1512000"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4" name="直線コネクタ 83"/>
          <p:cNvCxnSpPr/>
          <p:nvPr/>
        </p:nvCxnSpPr>
        <p:spPr>
          <a:xfrm>
            <a:off x="5791402" y="5032971"/>
            <a:ext cx="1512000"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5" name="直線コネクタ 84"/>
          <p:cNvCxnSpPr/>
          <p:nvPr/>
        </p:nvCxnSpPr>
        <p:spPr>
          <a:xfrm>
            <a:off x="5791402" y="5392971"/>
            <a:ext cx="1512000"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86" name="直線コネクタ 85"/>
          <p:cNvCxnSpPr>
            <a:endCxn id="87" idx="1"/>
          </p:cNvCxnSpPr>
          <p:nvPr/>
        </p:nvCxnSpPr>
        <p:spPr>
          <a:xfrm>
            <a:off x="5791402" y="6112971"/>
            <a:ext cx="1040383" cy="1"/>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87" name="テキスト ボックス 86"/>
          <p:cNvSpPr txBox="1"/>
          <p:nvPr/>
        </p:nvSpPr>
        <p:spPr>
          <a:xfrm>
            <a:off x="6831785" y="5974472"/>
            <a:ext cx="1983617" cy="276999"/>
          </a:xfrm>
          <a:prstGeom prst="rect">
            <a:avLst/>
          </a:prstGeom>
          <a:noFill/>
        </p:spPr>
        <p:txBody>
          <a:bodyPr wrap="square" rtlCol="0">
            <a:spAutoFit/>
          </a:bodyPr>
          <a:lstStyle/>
          <a:p>
            <a:r>
              <a:rPr lang="ja-JP" altLang="en-US" sz="1200" dirty="0" smtClean="0">
                <a:latin typeface="游ゴシック" panose="020B0400000000000000" pitchFamily="50" charset="-128"/>
                <a:ea typeface="游ゴシック" panose="020B0400000000000000" pitchFamily="50" charset="-128"/>
              </a:rPr>
              <a:t>★ お見積提示</a:t>
            </a:r>
            <a:endParaRPr kumimoji="1" lang="ja-JP" altLang="en-US" sz="1200" dirty="0" smtClean="0">
              <a:latin typeface="游ゴシック" panose="020B0400000000000000" pitchFamily="50" charset="-128"/>
              <a:ea typeface="游ゴシック" panose="020B0400000000000000" pitchFamily="50" charset="-128"/>
            </a:endParaRPr>
          </a:p>
        </p:txBody>
      </p:sp>
      <p:sp>
        <p:nvSpPr>
          <p:cNvPr id="90" name="テキスト ボックス 89"/>
          <p:cNvSpPr txBox="1"/>
          <p:nvPr/>
        </p:nvSpPr>
        <p:spPr>
          <a:xfrm>
            <a:off x="7137818" y="5614472"/>
            <a:ext cx="1682182" cy="276999"/>
          </a:xfrm>
          <a:prstGeom prst="rect">
            <a:avLst/>
          </a:prstGeom>
          <a:noFill/>
        </p:spPr>
        <p:txBody>
          <a:bodyPr wrap="square" rtlCol="0">
            <a:spAutoFit/>
          </a:bodyPr>
          <a:lstStyle/>
          <a:p>
            <a:r>
              <a:rPr lang="ja-JP" altLang="en-US" sz="1200" dirty="0" smtClean="0">
                <a:latin typeface="游ゴシック" panose="020B0400000000000000" pitchFamily="50" charset="-128"/>
                <a:ea typeface="游ゴシック" panose="020B0400000000000000" pitchFamily="50" charset="-128"/>
              </a:rPr>
              <a:t>★レビュー</a:t>
            </a:r>
            <a:endParaRPr kumimoji="1" lang="ja-JP" altLang="en-US" sz="1200" dirty="0" smtClean="0">
              <a:latin typeface="游ゴシック" panose="020B0400000000000000" pitchFamily="50" charset="-128"/>
              <a:ea typeface="游ゴシック" panose="020B0400000000000000" pitchFamily="50" charset="-128"/>
            </a:endParaRPr>
          </a:p>
        </p:txBody>
      </p:sp>
      <p:cxnSp>
        <p:nvCxnSpPr>
          <p:cNvPr id="45" name="直線コネクタ 44"/>
          <p:cNvCxnSpPr/>
          <p:nvPr/>
        </p:nvCxnSpPr>
        <p:spPr>
          <a:xfrm>
            <a:off x="5760132" y="3212976"/>
            <a:ext cx="648072" cy="0"/>
          </a:xfrm>
          <a:prstGeom prst="line">
            <a:avLst/>
          </a:prstGeom>
          <a:ln w="38100">
            <a:solidFill>
              <a:schemeClr val="accent2"/>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3527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９．システム方式設計工程の会議体</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13</a:t>
            </a:fld>
            <a:endParaRPr kumimoji="1" lang="ja-JP" altLang="en-US"/>
          </a:p>
        </p:txBody>
      </p:sp>
      <p:graphicFrame>
        <p:nvGraphicFramePr>
          <p:cNvPr id="40" name="コンテンツ プレースホルダー 6"/>
          <p:cNvGraphicFramePr>
            <a:graphicFrameLocks/>
          </p:cNvGraphicFramePr>
          <p:nvPr>
            <p:extLst>
              <p:ext uri="{D42A27DB-BD31-4B8C-83A1-F6EECF244321}">
                <p14:modId xmlns:p14="http://schemas.microsoft.com/office/powerpoint/2010/main" val="1541997994"/>
              </p:ext>
            </p:extLst>
          </p:nvPr>
        </p:nvGraphicFramePr>
        <p:xfrm>
          <a:off x="144000" y="1836000"/>
          <a:ext cx="8857581" cy="4513200"/>
        </p:xfrm>
        <a:graphic>
          <a:graphicData uri="http://schemas.openxmlformats.org/drawingml/2006/table">
            <a:tbl>
              <a:tblPr firstRow="1">
                <a:tableStyleId>{5C22544A-7EE6-4342-B048-85BDC9FD1C3A}</a:tableStyleId>
              </a:tblPr>
              <a:tblGrid>
                <a:gridCol w="1610908">
                  <a:extLst>
                    <a:ext uri="{9D8B030D-6E8A-4147-A177-3AD203B41FA5}">
                      <a16:colId xmlns:a16="http://schemas.microsoft.com/office/drawing/2014/main" val="20000"/>
                    </a:ext>
                  </a:extLst>
                </a:gridCol>
                <a:gridCol w="858983">
                  <a:extLst>
                    <a:ext uri="{9D8B030D-6E8A-4147-A177-3AD203B41FA5}">
                      <a16:colId xmlns:a16="http://schemas.microsoft.com/office/drawing/2014/main" val="20003"/>
                    </a:ext>
                  </a:extLst>
                </a:gridCol>
                <a:gridCol w="4011254">
                  <a:extLst>
                    <a:ext uri="{9D8B030D-6E8A-4147-A177-3AD203B41FA5}">
                      <a16:colId xmlns:a16="http://schemas.microsoft.com/office/drawing/2014/main" val="20001"/>
                    </a:ext>
                  </a:extLst>
                </a:gridCol>
                <a:gridCol w="804389">
                  <a:extLst>
                    <a:ext uri="{9D8B030D-6E8A-4147-A177-3AD203B41FA5}">
                      <a16:colId xmlns:a16="http://schemas.microsoft.com/office/drawing/2014/main" val="20002"/>
                    </a:ext>
                  </a:extLst>
                </a:gridCol>
                <a:gridCol w="767658">
                  <a:extLst>
                    <a:ext uri="{9D8B030D-6E8A-4147-A177-3AD203B41FA5}">
                      <a16:colId xmlns:a16="http://schemas.microsoft.com/office/drawing/2014/main" val="2879881064"/>
                    </a:ext>
                  </a:extLst>
                </a:gridCol>
                <a:gridCol w="804389">
                  <a:extLst>
                    <a:ext uri="{9D8B030D-6E8A-4147-A177-3AD203B41FA5}">
                      <a16:colId xmlns:a16="http://schemas.microsoft.com/office/drawing/2014/main" val="925084414"/>
                    </a:ext>
                  </a:extLst>
                </a:gridCol>
              </a:tblGrid>
              <a:tr h="469113">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会議名</a:t>
                      </a:r>
                      <a:endParaRPr kumimoji="1" lang="en-US" altLang="ja-JP" sz="1400" dirty="0" smtClean="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開催頻度</a:t>
                      </a:r>
                      <a:endParaRPr kumimoji="1" lang="en-US" altLang="ja-JP" sz="1400" dirty="0" smtClean="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内容</a:t>
                      </a:r>
                      <a:endParaRPr kumimoji="1" lang="en-US" altLang="ja-JP" sz="1400" dirty="0" smtClean="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利用</a:t>
                      </a:r>
                      <a:endParaRPr kumimoji="1" lang="en-US" altLang="ja-JP" sz="1400" dirty="0" smtClean="0">
                        <a:latin typeface="游ゴシック" panose="020B0400000000000000" pitchFamily="50" charset="-128"/>
                        <a:ea typeface="游ゴシック" panose="020B0400000000000000" pitchFamily="50" charset="-128"/>
                      </a:endParaRPr>
                    </a:p>
                    <a:p>
                      <a:pPr algn="ctr"/>
                      <a:r>
                        <a:rPr kumimoji="1" lang="ja-JP" altLang="en-US" sz="1400" dirty="0" smtClean="0">
                          <a:latin typeface="游ゴシック" panose="020B0400000000000000" pitchFamily="50" charset="-128"/>
                          <a:ea typeface="游ゴシック" panose="020B0400000000000000" pitchFamily="50" charset="-128"/>
                        </a:rPr>
                        <a:t>部門</a:t>
                      </a:r>
                      <a:endParaRPr kumimoji="1" lang="ja-JP" altLang="en-US" sz="1400" dirty="0">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情報</a:t>
                      </a:r>
                      <a:endParaRPr kumimoji="1" lang="en-US" altLang="ja-JP" sz="1400" dirty="0" smtClean="0">
                        <a:latin typeface="游ゴシック" panose="020B0400000000000000" pitchFamily="50" charset="-128"/>
                        <a:ea typeface="游ゴシック" panose="020B0400000000000000" pitchFamily="50" charset="-128"/>
                      </a:endParaRPr>
                    </a:p>
                    <a:p>
                      <a:pPr algn="ctr"/>
                      <a:r>
                        <a:rPr kumimoji="1" lang="ja-JP" altLang="en-US" sz="1400" dirty="0" smtClean="0">
                          <a:latin typeface="游ゴシック" panose="020B0400000000000000" pitchFamily="50" charset="-128"/>
                          <a:ea typeface="游ゴシック" panose="020B0400000000000000" pitchFamily="50" charset="-128"/>
                        </a:rPr>
                        <a:t>ｼｽﾃﾑ部</a:t>
                      </a:r>
                      <a:endParaRPr kumimoji="1" lang="ja-JP" altLang="en-US" sz="1400" dirty="0">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弊社</a:t>
                      </a:r>
                      <a:endParaRPr kumimoji="1" lang="en-US" altLang="ja-JP" sz="1400" dirty="0" smtClean="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進捗会議</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週次</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dirty="0" smtClean="0">
                          <a:latin typeface="游ゴシック" panose="020B0400000000000000" pitchFamily="50" charset="-128"/>
                          <a:ea typeface="游ゴシック" panose="020B0400000000000000" pitchFamily="50" charset="-128"/>
                        </a:rPr>
                        <a:t>プロジェクトでの進捗状況</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作業予定の確認、課題およびリスクの把握</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対応、連絡事項の周知</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要件検討会議</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週次</a:t>
                      </a:r>
                      <a:endParaRPr kumimoji="1" lang="en-US" altLang="ja-JP" sz="1400" dirty="0" smtClean="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latin typeface="游ゴシック" panose="020B0400000000000000" pitchFamily="50" charset="-128"/>
                          <a:ea typeface="+mn-ea"/>
                        </a:rPr>
                        <a:t>(10</a:t>
                      </a:r>
                      <a:r>
                        <a:rPr kumimoji="1" lang="ja-JP" altLang="en-US" sz="1400" dirty="0" smtClean="0">
                          <a:latin typeface="游ゴシック" panose="020B0400000000000000" pitchFamily="50" charset="-128"/>
                          <a:ea typeface="+mn-ea"/>
                        </a:rPr>
                        <a:t>月</a:t>
                      </a:r>
                      <a:r>
                        <a:rPr kumimoji="1" lang="en-US" altLang="ja-JP" sz="1400" dirty="0" smtClean="0">
                          <a:latin typeface="游ゴシック" panose="020B0400000000000000" pitchFamily="50" charset="-128"/>
                          <a:ea typeface="+mn-ea"/>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現行システム・業務要件・インターフェース・移行対象の確認、新システムでの方式検討</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90140181"/>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課題検討会議</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適時</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現行システム・業務要件・インターフェース・移行対象の確認、各種課題の検討</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解決</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レビュー会議</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工程</a:t>
                      </a:r>
                      <a:endParaRPr kumimoji="1" lang="en-US" altLang="ja-JP" sz="1400" dirty="0" smtClean="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完了時</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游ゴシック" panose="020B0400000000000000" pitchFamily="50" charset="-128"/>
                          <a:ea typeface="游ゴシック" panose="020B0400000000000000" pitchFamily="50" charset="-128"/>
                        </a:rPr>
                        <a:t>システム方式設計書の成果物に対するレビュー</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〇</a:t>
                      </a:r>
                      <a:endParaRPr kumimoji="1" lang="en-US" altLang="ja-JP" sz="1400" dirty="0" smtClean="0">
                        <a:latin typeface="游ゴシック" panose="020B0400000000000000" pitchFamily="50" charset="-128"/>
                        <a:ea typeface="游ゴシック" panose="020B0400000000000000" pitchFamily="50" charset="-128"/>
                      </a:endParaRPr>
                    </a:p>
                  </a:txBody>
                  <a:tcPr marL="0" marR="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6392115"/>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内部進捗会議</a:t>
                      </a:r>
                      <a:endParaRPr kumimoji="1" lang="en-US" altLang="ja-JP" sz="1400" b="0" dirty="0" smtClean="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週次</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smtClean="0">
                          <a:latin typeface="游ゴシック" panose="020B0400000000000000" pitchFamily="50" charset="-128"/>
                          <a:ea typeface="游ゴシック" panose="020B0400000000000000" pitchFamily="50" charset="-128"/>
                        </a:rPr>
                        <a:t>プロジェクトでの進捗状況</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作業予定の確認、課題およびリスクの把握</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対応、連絡事項の周知</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〇</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43259142"/>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内部課題検討会</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適時</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smtClean="0">
                          <a:latin typeface="游ゴシック" panose="020B0400000000000000" pitchFamily="50" charset="-128"/>
                          <a:ea typeface="游ゴシック" panose="020B0400000000000000" pitchFamily="50" charset="-128"/>
                        </a:rPr>
                        <a:t>要件</a:t>
                      </a:r>
                      <a:r>
                        <a:rPr kumimoji="1" lang="en-US" altLang="ja-JP" sz="1400" dirty="0" smtClean="0">
                          <a:latin typeface="游ゴシック" panose="020B0400000000000000" pitchFamily="50" charset="-128"/>
                          <a:ea typeface="游ゴシック" panose="020B0400000000000000" pitchFamily="50" charset="-128"/>
                        </a:rPr>
                        <a:t>/</a:t>
                      </a:r>
                      <a:r>
                        <a:rPr kumimoji="1" lang="ja-JP" altLang="en-US" sz="1400" dirty="0" smtClean="0">
                          <a:latin typeface="游ゴシック" panose="020B0400000000000000" pitchFamily="50" charset="-128"/>
                          <a:ea typeface="游ゴシック" panose="020B0400000000000000" pitchFamily="50" charset="-128"/>
                        </a:rPr>
                        <a:t>設計内容の確認、各種課題の解決、各チーム内での作成資料レビュー</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〇</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6751893"/>
                  </a:ext>
                </a:extLst>
              </a:tr>
              <a:tr h="516698">
                <a:tc>
                  <a:txBody>
                    <a:bodyPr/>
                    <a:lstStyle/>
                    <a:p>
                      <a:r>
                        <a:rPr kumimoji="1" lang="ja-JP" altLang="en-US" sz="1400" b="0" dirty="0" smtClean="0">
                          <a:latin typeface="游ゴシック" panose="020B0400000000000000" pitchFamily="50" charset="-128"/>
                          <a:ea typeface="游ゴシック" panose="020B0400000000000000" pitchFamily="50" charset="-128"/>
                        </a:rPr>
                        <a:t>内部レビュー会議</a:t>
                      </a:r>
                      <a:endParaRPr kumimoji="1" lang="ja-JP" altLang="en-US"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適時</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smtClean="0">
                          <a:latin typeface="游ゴシック" panose="020B0400000000000000" pitchFamily="50" charset="-128"/>
                          <a:ea typeface="游ゴシック" panose="020B0400000000000000" pitchFamily="50" charset="-128"/>
                        </a:rPr>
                        <a:t>要件定義、基本設計、テスト結果等の成果物に対しての内部レビュー</a:t>
                      </a:r>
                      <a:endParaRPr kumimoji="1" lang="en-US" altLang="ja-JP" sz="1400" dirty="0" smtClean="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smtClean="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smtClean="0">
                          <a:latin typeface="游ゴシック" panose="020B0400000000000000" pitchFamily="50" charset="-128"/>
                          <a:ea typeface="游ゴシック" panose="020B0400000000000000" pitchFamily="50" charset="-128"/>
                        </a:rPr>
                        <a:t>〇</a:t>
                      </a:r>
                      <a:endParaRPr kumimoji="1" lang="ja-JP" altLang="en-US"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5233655"/>
                  </a:ext>
                </a:extLst>
              </a:tr>
            </a:tbl>
          </a:graphicData>
        </a:graphic>
      </p:graphicFrame>
      <p:sp>
        <p:nvSpPr>
          <p:cNvPr id="41" name="テキスト ボックス 40"/>
          <p:cNvSpPr txBox="1"/>
          <p:nvPr/>
        </p:nvSpPr>
        <p:spPr>
          <a:xfrm>
            <a:off x="5400000" y="1548000"/>
            <a:ext cx="3600000" cy="288000"/>
          </a:xfrm>
          <a:prstGeom prst="rect">
            <a:avLst/>
          </a:prstGeom>
          <a:noFill/>
        </p:spPr>
        <p:txBody>
          <a:bodyPr wrap="square" rtlCol="0">
            <a:spAutoFit/>
          </a:bodyPr>
          <a:lstStyle/>
          <a:p>
            <a:r>
              <a:rPr lang="en-US" altLang="ja-JP" sz="1200" dirty="0" smtClean="0">
                <a:latin typeface="游ゴシック" panose="020B0400000000000000" pitchFamily="50" charset="-128"/>
                <a:ea typeface="游ゴシック" panose="020B0400000000000000" pitchFamily="50" charset="-128"/>
                <a:cs typeface="メイリオ" pitchFamily="50" charset="-128"/>
              </a:rPr>
              <a:t>※</a:t>
            </a:r>
            <a:r>
              <a:rPr lang="ja-JP" altLang="en-US" sz="1200" dirty="0" smtClean="0">
                <a:latin typeface="游ゴシック" panose="020B0400000000000000" pitchFamily="50" charset="-128"/>
                <a:ea typeface="游ゴシック" panose="020B0400000000000000" pitchFamily="50" charset="-128"/>
                <a:cs typeface="メイリオ" pitchFamily="50" charset="-128"/>
              </a:rPr>
              <a:t> 〇：参加　△：必要に応じて参加　</a:t>
            </a:r>
            <a:r>
              <a:rPr lang="en-US" altLang="ja-JP" sz="1200" dirty="0" smtClean="0">
                <a:latin typeface="游ゴシック" panose="020B0400000000000000" pitchFamily="50" charset="-128"/>
                <a:ea typeface="游ゴシック" panose="020B0400000000000000" pitchFamily="50" charset="-128"/>
                <a:cs typeface="メイリオ" pitchFamily="50" charset="-128"/>
              </a:rPr>
              <a:t>-</a:t>
            </a:r>
            <a:r>
              <a:rPr lang="ja-JP" altLang="en-US" sz="1200" dirty="0" smtClean="0">
                <a:latin typeface="游ゴシック" panose="020B0400000000000000" pitchFamily="50" charset="-128"/>
                <a:ea typeface="游ゴシック" panose="020B0400000000000000" pitchFamily="50" charset="-128"/>
                <a:cs typeface="メイリオ" pitchFamily="50" charset="-128"/>
              </a:rPr>
              <a:t>：不参加</a:t>
            </a:r>
            <a:endParaRPr lang="en-US" altLang="ja-JP" sz="1200" dirty="0" smtClean="0">
              <a:latin typeface="游ゴシック" panose="020B0400000000000000" pitchFamily="50" charset="-128"/>
              <a:ea typeface="游ゴシック" panose="020B0400000000000000" pitchFamily="50" charset="-128"/>
              <a:cs typeface="メイリオ" pitchFamily="50" charset="-128"/>
            </a:endParaRPr>
          </a:p>
        </p:txBody>
      </p:sp>
      <p:sp>
        <p:nvSpPr>
          <p:cNvPr id="42" name="テキスト ボックス 41"/>
          <p:cNvSpPr txBox="1">
            <a:spLocks/>
          </p:cNvSpPr>
          <p:nvPr/>
        </p:nvSpPr>
        <p:spPr>
          <a:xfrm>
            <a:off x="144000" y="864000"/>
            <a:ext cx="8856000" cy="540000"/>
          </a:xfrm>
          <a:prstGeom prst="rect">
            <a:avLst/>
          </a:prstGeom>
          <a:noFill/>
        </p:spPr>
        <p:txBody>
          <a:bodyPr wrap="square" rtlCol="0">
            <a:noAutofit/>
          </a:bodyPr>
          <a:lstStyle/>
          <a:p>
            <a:pPr algn="ctr"/>
            <a:r>
              <a:rPr lang="ja-JP" altLang="en-US" sz="1400" dirty="0" smtClean="0">
                <a:latin typeface="游ゴシック" panose="020B0400000000000000" pitchFamily="50" charset="-128"/>
                <a:ea typeface="游ゴシック" panose="020B0400000000000000" pitchFamily="50" charset="-128"/>
              </a:rPr>
              <a:t>会議体につきましては、以下</a:t>
            </a:r>
            <a:r>
              <a:rPr lang="ja-JP" altLang="en-US" sz="1400" dirty="0">
                <a:latin typeface="游ゴシック" panose="020B0400000000000000" pitchFamily="50" charset="-128"/>
                <a:ea typeface="游ゴシック" panose="020B0400000000000000" pitchFamily="50" charset="-128"/>
              </a:rPr>
              <a:t>の会議を</a:t>
            </a:r>
            <a:r>
              <a:rPr lang="ja-JP" altLang="en-US" sz="1400" dirty="0" smtClean="0">
                <a:latin typeface="游ゴシック" panose="020B0400000000000000" pitchFamily="50" charset="-128"/>
                <a:ea typeface="游ゴシック" panose="020B0400000000000000" pitchFamily="50" charset="-128"/>
              </a:rPr>
              <a:t>開催し、</a:t>
            </a:r>
            <a:r>
              <a:rPr lang="ja-JP" altLang="en-US" sz="1400" dirty="0">
                <a:latin typeface="游ゴシック" panose="020B0400000000000000" pitchFamily="50" charset="-128"/>
                <a:ea typeface="游ゴシック" panose="020B0400000000000000" pitchFamily="50" charset="-128"/>
              </a:rPr>
              <a:t>進捗</a:t>
            </a:r>
            <a:r>
              <a:rPr lang="ja-JP" altLang="en-US" sz="1400" dirty="0" smtClean="0">
                <a:latin typeface="游ゴシック" panose="020B0400000000000000" pitchFamily="50" charset="-128"/>
                <a:ea typeface="游ゴシック" panose="020B0400000000000000" pitchFamily="50" charset="-128"/>
              </a:rPr>
              <a:t>管理・各種</a:t>
            </a:r>
            <a:r>
              <a:rPr lang="ja-JP" altLang="en-US" sz="1400" dirty="0">
                <a:latin typeface="游ゴシック" panose="020B0400000000000000" pitchFamily="50" charset="-128"/>
                <a:ea typeface="游ゴシック" panose="020B0400000000000000" pitchFamily="50" charset="-128"/>
              </a:rPr>
              <a:t>調整</a:t>
            </a:r>
            <a:r>
              <a:rPr lang="ja-JP" altLang="en-US" sz="1400" dirty="0" smtClean="0">
                <a:latin typeface="游ゴシック" panose="020B0400000000000000" pitchFamily="50" charset="-128"/>
                <a:ea typeface="游ゴシック" panose="020B0400000000000000" pitchFamily="50" charset="-128"/>
              </a:rPr>
              <a:t>作業・課題解決等を実施します。</a:t>
            </a:r>
            <a:endParaRPr lang="en-US" altLang="ja-JP" sz="1400" dirty="0" smtClean="0">
              <a:latin typeface="游ゴシック" panose="020B0400000000000000" pitchFamily="50" charset="-128"/>
              <a:ea typeface="游ゴシック" panose="020B0400000000000000" pitchFamily="50" charset="-128"/>
            </a:endParaRPr>
          </a:p>
          <a:p>
            <a:pPr algn="ctr"/>
            <a:r>
              <a:rPr lang="ja-JP" altLang="en-US" sz="1400" dirty="0" smtClean="0">
                <a:latin typeface="游ゴシック" panose="020B0400000000000000" pitchFamily="50" charset="-128"/>
                <a:ea typeface="游ゴシック" panose="020B0400000000000000" pitchFamily="50" charset="-128"/>
              </a:rPr>
              <a:t>貴社との会議体は対面での会議を想定しておりますが状況に応じて</a:t>
            </a:r>
            <a:r>
              <a:rPr lang="en-US" altLang="ja-JP" sz="1400" dirty="0" smtClean="0">
                <a:latin typeface="游ゴシック" panose="020B0400000000000000" pitchFamily="50" charset="-128"/>
                <a:ea typeface="游ゴシック" panose="020B0400000000000000" pitchFamily="50" charset="-128"/>
              </a:rPr>
              <a:t>WEB</a:t>
            </a:r>
            <a:r>
              <a:rPr lang="ja-JP" altLang="en-US" sz="1400" dirty="0" smtClean="0">
                <a:latin typeface="游ゴシック" panose="020B0400000000000000" pitchFamily="50" charset="-128"/>
                <a:ea typeface="游ゴシック" panose="020B0400000000000000" pitchFamily="50" charset="-128"/>
              </a:rPr>
              <a:t>会議での開催も検討します。</a:t>
            </a:r>
            <a:endParaRPr kumimoji="1" lang="en-US" altLang="ja-JP" sz="1400" dirty="0" smtClean="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212820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１０．依頼事項</a:t>
            </a:r>
            <a:endParaRPr kumimoji="1" lang="ja-JP" altLang="en-US" dirty="0"/>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14</a:t>
            </a:fld>
            <a:endParaRPr kumimoji="1" lang="ja-JP" altLang="en-US"/>
          </a:p>
        </p:txBody>
      </p:sp>
      <p:sp>
        <p:nvSpPr>
          <p:cNvPr id="7" name="コンテンツ プレースホルダー 2"/>
          <p:cNvSpPr txBox="1">
            <a:spLocks/>
          </p:cNvSpPr>
          <p:nvPr/>
        </p:nvSpPr>
        <p:spPr>
          <a:xfrm>
            <a:off x="323528" y="1124744"/>
            <a:ext cx="8496471" cy="5349534"/>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buSzPct val="100000"/>
              <a:buFont typeface="+mj-lt"/>
              <a:buAutoNum type="arabicPeriod"/>
              <a:defRPr/>
            </a:pPr>
            <a:r>
              <a:rPr lang="ja-JP" altLang="en-US" sz="1800" dirty="0" smtClean="0">
                <a:cs typeface="Meiryo UI" panose="020B0604030504040204" pitchFamily="50" charset="-128"/>
              </a:rPr>
              <a:t>各種打ち合わせ・レビューの調整</a:t>
            </a:r>
            <a:r>
              <a:rPr lang="en-US" altLang="ja-JP" sz="1800" dirty="0" smtClean="0">
                <a:cs typeface="Meiryo UI" panose="020B0604030504040204" pitchFamily="50" charset="-128"/>
              </a:rPr>
              <a:t/>
            </a:r>
            <a:br>
              <a:rPr lang="en-US" altLang="ja-JP" sz="1800" dirty="0" smtClean="0">
                <a:cs typeface="Meiryo UI" panose="020B0604030504040204" pitchFamily="50" charset="-128"/>
              </a:rPr>
            </a:br>
            <a:r>
              <a:rPr lang="ja-JP" altLang="en-US" sz="1800" dirty="0" smtClean="0">
                <a:cs typeface="Meiryo UI" panose="020B0604030504040204" pitchFamily="50" charset="-128"/>
              </a:rPr>
              <a:t>打ち合わせ・レビューの日程調整、及び参加者の招集をお願いいたします。</a:t>
            </a:r>
            <a:endParaRPr lang="en-US" altLang="ja-JP" sz="1800" dirty="0" smtClean="0">
              <a:cs typeface="Meiryo UI" panose="020B0604030504040204" pitchFamily="50" charset="-128"/>
            </a:endParaRPr>
          </a:p>
          <a:p>
            <a:pPr marL="457200" indent="-457200">
              <a:buSzPct val="100000"/>
              <a:buFont typeface="+mj-lt"/>
              <a:buAutoNum type="arabicPeriod"/>
              <a:defRPr/>
            </a:pPr>
            <a:endParaRPr lang="en-US" altLang="ja-JP" sz="1800" dirty="0">
              <a:cs typeface="Meiryo UI" panose="020B0604030504040204" pitchFamily="50" charset="-128"/>
            </a:endParaRPr>
          </a:p>
          <a:p>
            <a:pPr marL="457200" indent="-457200">
              <a:buSzPct val="100000"/>
              <a:buFont typeface="+mj-lt"/>
              <a:buAutoNum type="arabicPeriod"/>
              <a:defRPr/>
            </a:pPr>
            <a:r>
              <a:rPr lang="ja-JP" altLang="en-US" sz="1800" dirty="0">
                <a:cs typeface="Meiryo UI" panose="020B0604030504040204" pitchFamily="50" charset="-128"/>
              </a:rPr>
              <a:t>要望事項の取り纏め</a:t>
            </a:r>
            <a:r>
              <a:rPr lang="en-US" altLang="ja-JP" sz="1800" dirty="0">
                <a:cs typeface="Meiryo UI" panose="020B0604030504040204" pitchFamily="50" charset="-128"/>
              </a:rPr>
              <a:t/>
            </a:r>
            <a:br>
              <a:rPr lang="en-US" altLang="ja-JP" sz="1800" dirty="0">
                <a:cs typeface="Meiryo UI" panose="020B0604030504040204" pitchFamily="50" charset="-128"/>
              </a:rPr>
            </a:br>
            <a:r>
              <a:rPr lang="ja-JP" altLang="en-US" sz="1800" dirty="0">
                <a:cs typeface="Meiryo UI" panose="020B0604030504040204" pitchFamily="50" charset="-128"/>
              </a:rPr>
              <a:t>本プロジェクトにて、高生産性が見込める機能を中心に、要望事項をヒアリングの上</a:t>
            </a:r>
            <a:r>
              <a:rPr lang="ja-JP" altLang="en-US" sz="1800" dirty="0" smtClean="0">
                <a:cs typeface="Meiryo UI" panose="020B0604030504040204" pitchFamily="50" charset="-128"/>
              </a:rPr>
              <a:t>、対応</a:t>
            </a:r>
            <a:r>
              <a:rPr lang="ja-JP" altLang="en-US" sz="1800" dirty="0">
                <a:cs typeface="Meiryo UI" panose="020B0604030504040204" pitchFamily="50" charset="-128"/>
              </a:rPr>
              <a:t>要否を検討致しますので、各利用者からの要望事項の取り纏めをお願い致します。</a:t>
            </a:r>
            <a:r>
              <a:rPr lang="en-US" altLang="ja-JP" sz="1800" dirty="0">
                <a:cs typeface="Meiryo UI" panose="020B0604030504040204" pitchFamily="50" charset="-128"/>
              </a:rPr>
              <a:t/>
            </a:r>
            <a:br>
              <a:rPr lang="en-US" altLang="ja-JP" sz="1800" dirty="0">
                <a:cs typeface="Meiryo UI" panose="020B0604030504040204" pitchFamily="50" charset="-128"/>
              </a:rPr>
            </a:br>
            <a:r>
              <a:rPr lang="ja-JP" altLang="en-US" sz="1800" dirty="0">
                <a:cs typeface="Meiryo UI" panose="020B0604030504040204" pitchFamily="50" charset="-128"/>
              </a:rPr>
              <a:t>実施予定：</a:t>
            </a:r>
            <a:r>
              <a:rPr lang="en-US" altLang="ja-JP" sz="1800" dirty="0" smtClean="0">
                <a:cs typeface="Meiryo UI" panose="020B0604030504040204" pitchFamily="50" charset="-128"/>
              </a:rPr>
              <a:t>2020</a:t>
            </a:r>
            <a:r>
              <a:rPr lang="ja-JP" altLang="en-US" sz="1800" dirty="0" smtClean="0">
                <a:cs typeface="Meiryo UI" panose="020B0604030504040204" pitchFamily="50" charset="-128"/>
              </a:rPr>
              <a:t>年</a:t>
            </a:r>
            <a:r>
              <a:rPr lang="en-US" altLang="ja-JP" sz="1800" dirty="0" smtClean="0">
                <a:cs typeface="Meiryo UI" panose="020B0604030504040204" pitchFamily="50" charset="-128"/>
              </a:rPr>
              <a:t>10</a:t>
            </a:r>
            <a:r>
              <a:rPr lang="ja-JP" altLang="en-US" sz="1800" dirty="0" smtClean="0">
                <a:cs typeface="Meiryo UI" panose="020B0604030504040204" pitchFamily="50" charset="-128"/>
              </a:rPr>
              <a:t>月中</a:t>
            </a:r>
            <a:endParaRPr lang="en-US" altLang="ja-JP" sz="1800" dirty="0">
              <a:cs typeface="Meiryo UI" panose="020B0604030504040204" pitchFamily="50" charset="-128"/>
            </a:endParaRPr>
          </a:p>
        </p:txBody>
      </p:sp>
    </p:spTree>
    <p:extLst>
      <p:ext uri="{BB962C8B-B14F-4D97-AF65-F5344CB8AC3E}">
        <p14:creationId xmlns:p14="http://schemas.microsoft.com/office/powerpoint/2010/main" val="37314039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573B0A87A215E4DAD75D4507C2B43C4" ma:contentTypeVersion="8" ma:contentTypeDescription="新しいドキュメントを作成します。" ma:contentTypeScope="" ma:versionID="ed5e8a4d2a2592bf32e626fa254e9b5e">
  <xsd:schema xmlns:xsd="http://www.w3.org/2001/XMLSchema" xmlns:xs="http://www.w3.org/2001/XMLSchema" xmlns:p="http://schemas.microsoft.com/office/2006/metadata/properties" xmlns:ns2="f99b6b14-1b60-421d-84ed-24ffa918fa62" targetNamespace="http://schemas.microsoft.com/office/2006/metadata/properties" ma:root="true" ma:fieldsID="465f989497b6c802edfc56a479ca21e4" ns2:_="">
    <xsd:import namespace="f99b6b14-1b60-421d-84ed-24ffa918fa6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9b6b14-1b60-421d-84ed-24ffa918fa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DAAFDD-9D4B-4107-8655-B47C02B610C1}">
  <ds:schemaRefs>
    <ds:schemaRef ds:uri="http://schemas.microsoft.com/sharepoint/v3/contenttype/forms"/>
  </ds:schemaRefs>
</ds:datastoreItem>
</file>

<file path=customXml/itemProps2.xml><?xml version="1.0" encoding="utf-8"?>
<ds:datastoreItem xmlns:ds="http://schemas.openxmlformats.org/officeDocument/2006/customXml" ds:itemID="{EA58265A-99CB-406C-8AF6-518ACCC49F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9b6b14-1b60-421d-84ed-24ffa918fa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3DB9AE-BF48-4304-A111-99867B20B0A1}">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2303</TotalTime>
  <Words>1938</Words>
  <Application>Microsoft Office PowerPoint</Application>
  <PresentationFormat>画面に合わせる (4:3)</PresentationFormat>
  <Paragraphs>377</Paragraphs>
  <Slides>14</Slides>
  <Notes>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14</vt:i4>
      </vt:variant>
    </vt:vector>
  </HeadingPairs>
  <TitlesOfParts>
    <vt:vector size="24" baseType="lpstr">
      <vt:lpstr>Meiryo UI</vt:lpstr>
      <vt:lpstr>メイリオ</vt:lpstr>
      <vt:lpstr>メイリオ</vt:lpstr>
      <vt:lpstr>游ゴシック</vt:lpstr>
      <vt:lpstr>游ゴシック Light</vt:lpstr>
      <vt:lpstr>Arial</vt:lpstr>
      <vt:lpstr>Calibri</vt:lpstr>
      <vt:lpstr>Calibri Light</vt:lpstr>
      <vt:lpstr>Wingdings</vt:lpstr>
      <vt:lpstr>Office テーマ</vt:lpstr>
      <vt:lpstr>千葉事業所 運転管理システム更新</vt:lpstr>
      <vt:lpstr>目次</vt:lpstr>
      <vt:lpstr>１．はじめに</vt:lpstr>
      <vt:lpstr>２．プロジェクトのスコープ</vt:lpstr>
      <vt:lpstr>３．全体スケジュール</vt:lpstr>
      <vt:lpstr>４．開発プロセス</vt:lpstr>
      <vt:lpstr>５．各工程の作業概要</vt:lpstr>
      <vt:lpstr>６．システム再構築方針</vt:lpstr>
      <vt:lpstr>７．システム方式設計の進め方（1/2）</vt:lpstr>
      <vt:lpstr>７．システム方式設計の進め方（1/2）</vt:lpstr>
      <vt:lpstr>７．システム方式設計の進め方（2/2）</vt:lpstr>
      <vt:lpstr>８．システム方式設計スケジュール</vt:lpstr>
      <vt:lpstr>９．システム方式設計工程の会議体</vt:lpstr>
      <vt:lpstr>１０．依頼事項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細川 光夫</dc:creator>
  <cp:lastModifiedBy>小林 紀昭</cp:lastModifiedBy>
  <cp:revision>117</cp:revision>
  <dcterms:created xsi:type="dcterms:W3CDTF">2020-06-11T12:09:45Z</dcterms:created>
  <dcterms:modified xsi:type="dcterms:W3CDTF">2020-08-24T03:40:07Z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0x0101006573B0A87A215E4DAD75D4507C2B43C4</vt:lpwstr>
  </property>
</Properties>
</file>